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0"/>
  </p:notesMasterIdLst>
  <p:sldIdLst>
    <p:sldId id="256" r:id="rId5"/>
    <p:sldId id="1171" r:id="rId6"/>
    <p:sldId id="1172" r:id="rId7"/>
    <p:sldId id="1317" r:id="rId8"/>
    <p:sldId id="1065" r:id="rId9"/>
    <p:sldId id="1066" r:id="rId10"/>
    <p:sldId id="1068" r:id="rId11"/>
    <p:sldId id="1071" r:id="rId12"/>
    <p:sldId id="1079" r:id="rId13"/>
    <p:sldId id="1081" r:id="rId14"/>
    <p:sldId id="1169" r:id="rId15"/>
    <p:sldId id="1084" r:id="rId16"/>
    <p:sldId id="1179" r:id="rId17"/>
    <p:sldId id="1180" r:id="rId18"/>
    <p:sldId id="1319" r:id="rId19"/>
    <p:sldId id="1089" r:id="rId20"/>
    <p:sldId id="1085" r:id="rId21"/>
    <p:sldId id="1087" r:id="rId22"/>
    <p:sldId id="1088" r:id="rId23"/>
    <p:sldId id="1091" r:id="rId24"/>
    <p:sldId id="1090" r:id="rId25"/>
    <p:sldId id="1092" r:id="rId26"/>
    <p:sldId id="1093" r:id="rId27"/>
    <p:sldId id="1083" r:id="rId28"/>
    <p:sldId id="1094" r:id="rId29"/>
    <p:sldId id="1151" r:id="rId30"/>
    <p:sldId id="1098" r:id="rId31"/>
    <p:sldId id="1099" r:id="rId32"/>
    <p:sldId id="1100" r:id="rId33"/>
    <p:sldId id="1101" r:id="rId34"/>
    <p:sldId id="1102" r:id="rId35"/>
    <p:sldId id="1103" r:id="rId36"/>
    <p:sldId id="1104" r:id="rId37"/>
    <p:sldId id="1315" r:id="rId38"/>
    <p:sldId id="1106" r:id="rId39"/>
    <p:sldId id="1174" r:id="rId40"/>
    <p:sldId id="1112" r:id="rId41"/>
    <p:sldId id="1113" r:id="rId42"/>
    <p:sldId id="1176" r:id="rId43"/>
    <p:sldId id="1316" r:id="rId44"/>
    <p:sldId id="1170" r:id="rId45"/>
    <p:sldId id="1120" r:id="rId46"/>
    <p:sldId id="1121" r:id="rId47"/>
    <p:sldId id="1122" r:id="rId48"/>
    <p:sldId id="1123" r:id="rId49"/>
    <p:sldId id="1167" r:id="rId50"/>
    <p:sldId id="1177" r:id="rId51"/>
    <p:sldId id="1313" r:id="rId52"/>
    <p:sldId id="1163" r:id="rId53"/>
    <p:sldId id="1165" r:id="rId54"/>
    <p:sldId id="1306" r:id="rId55"/>
    <p:sldId id="1307" r:id="rId56"/>
    <p:sldId id="1308" r:id="rId57"/>
    <p:sldId id="1166" r:id="rId58"/>
    <p:sldId id="1309" r:id="rId59"/>
    <p:sldId id="1310" r:id="rId60"/>
    <p:sldId id="1311" r:id="rId61"/>
    <p:sldId id="1086" r:id="rId62"/>
    <p:sldId id="1312" r:id="rId63"/>
    <p:sldId id="1314" r:id="rId64"/>
    <p:sldId id="1184" r:id="rId65"/>
    <p:sldId id="1185" r:id="rId66"/>
    <p:sldId id="1186" r:id="rId67"/>
    <p:sldId id="1187" r:id="rId68"/>
    <p:sldId id="1188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52"/>
  </p:normalViewPr>
  <p:slideViewPr>
    <p:cSldViewPr snapToGrid="0">
      <p:cViewPr varScale="1">
        <p:scale>
          <a:sx n="95" d="100"/>
          <a:sy n="95" d="100"/>
        </p:scale>
        <p:origin x="20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C1277-7ED1-4EFB-A219-A71FB723F6B8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293F1-6566-4E3B-81CE-C87B3F83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11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74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0xf000 + 0x8 =</a:t>
            </a:r>
            <a:r>
              <a:rPr lang="en-US" baseline="0" dirty="0"/>
              <a:t> 0xf008</a:t>
            </a:r>
          </a:p>
          <a:p>
            <a:r>
              <a:rPr lang="en-US" baseline="0" dirty="0"/>
              <a:t>0xf000 + 0x0100 = 0xf100</a:t>
            </a:r>
          </a:p>
          <a:p>
            <a:r>
              <a:rPr lang="en-US" baseline="0" dirty="0"/>
              <a:t>0xf000 + 4*0x0100 = 0xf400</a:t>
            </a:r>
          </a:p>
          <a:p>
            <a:r>
              <a:rPr lang="en-US" baseline="0" dirty="0"/>
              <a:t>2*0xf000 + 0x80 = 0x1d080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0xf000 + 0x8 =</a:t>
            </a:r>
            <a:r>
              <a:rPr lang="en-US" baseline="0"/>
              <a:t> 0xf008</a:t>
            </a:r>
          </a:p>
          <a:p>
            <a:r>
              <a:rPr lang="en-US" baseline="0"/>
              <a:t>0xf000 + 0x0100 = 0xf100</a:t>
            </a:r>
          </a:p>
          <a:p>
            <a:r>
              <a:rPr lang="en-US" baseline="0"/>
              <a:t>0xf000 + 4*0x0100 = 0xf400</a:t>
            </a:r>
          </a:p>
          <a:p>
            <a:r>
              <a:rPr lang="en-US" baseline="0"/>
              <a:t>2*0xf000 + 0x80 = 0x1d080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0xf000 + 0x8 =</a:t>
            </a:r>
            <a:r>
              <a:rPr lang="en-US" baseline="0"/>
              <a:t> 0xf008</a:t>
            </a:r>
          </a:p>
          <a:p>
            <a:r>
              <a:rPr lang="en-US" baseline="0"/>
              <a:t>0xf000 + 0x0100 = 0xf100</a:t>
            </a:r>
          </a:p>
          <a:p>
            <a:r>
              <a:rPr lang="en-US" baseline="0"/>
              <a:t>0xf000 + 4*0x0100 = 0xf400</a:t>
            </a:r>
          </a:p>
          <a:p>
            <a:r>
              <a:rPr lang="en-US" baseline="0"/>
              <a:t>2*0xf000 + 0x80 = 0x1d080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0xf000 + 0x8 =</a:t>
            </a:r>
            <a:r>
              <a:rPr lang="en-US" baseline="0"/>
              <a:t> 0xf008</a:t>
            </a:r>
          </a:p>
          <a:p>
            <a:r>
              <a:rPr lang="en-US" baseline="0"/>
              <a:t>0xf000 + 0x0100 = 0xf100</a:t>
            </a:r>
          </a:p>
          <a:p>
            <a:r>
              <a:rPr lang="en-US" baseline="0"/>
              <a:t>0xf000 + 4*0x0100 = 0xf400</a:t>
            </a:r>
          </a:p>
          <a:p>
            <a:r>
              <a:rPr lang="en-US" baseline="0"/>
              <a:t>2*0xf000 + 0x80 = 0x1d080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0xf000 + 0x8 =</a:t>
            </a:r>
            <a:r>
              <a:rPr lang="en-US" baseline="0"/>
              <a:t> 0xf008</a:t>
            </a:r>
          </a:p>
          <a:p>
            <a:r>
              <a:rPr lang="en-US" baseline="0"/>
              <a:t>0xf000 + 0x0100 = 0xf100</a:t>
            </a:r>
          </a:p>
          <a:p>
            <a:r>
              <a:rPr lang="en-US" baseline="0"/>
              <a:t>0xf000 + 4*0x0100 = 0xf400</a:t>
            </a:r>
          </a:p>
          <a:p>
            <a:r>
              <a:rPr lang="en-US" baseline="0"/>
              <a:t>2*0xf000 + 0x80 = 0x1d080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Times New Roman" pitchFamily="18" charset="0"/>
              </a:rPr>
              <a:t>long s = x+2*y;</a:t>
            </a:r>
          </a:p>
          <a:p>
            <a:r>
              <a:rPr lang="en-US" sz="1100">
                <a:latin typeface="Times New Roman" pitchFamily="18" charset="0"/>
              </a:rPr>
              <a:t>s *= 5;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42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Times New Roman" pitchFamily="18" charset="0"/>
              </a:rPr>
              <a:t>long s = x+2*y;</a:t>
            </a:r>
          </a:p>
          <a:p>
            <a:r>
              <a:rPr lang="en-US" sz="1100">
                <a:latin typeface="Times New Roman" pitchFamily="18" charset="0"/>
              </a:rPr>
              <a:t>s *= 5;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42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7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http://</a:t>
            </a:r>
            <a:r>
              <a:rPr kumimoji="1" lang="en-US" altLang="zh-CN" err="1"/>
              <a:t>teaching.idallen.com</a:t>
            </a:r>
            <a:r>
              <a:rPr kumimoji="1" lang="en-US" altLang="zh-CN"/>
              <a:t>/dat2343/10f/notes/040_overflow.txt</a:t>
            </a:r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4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3C7C-6BF5-4096-A519-7950A61F7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3333F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6D448-37BE-4F9B-88EB-DA45852F7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C7EF0-54F2-4C41-A242-5D715CF92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8C15-BDB5-4685-A130-CF5F50E5A6B0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69AF2-4A34-4048-B6CA-09BE03FF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EC2E-8567-4D27-AF74-6898BA24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1B4C-EC5A-46CE-8212-BEC24BD86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57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9F43-36FD-4517-AE1F-475950926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333F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A5F01-3710-4EBE-8C93-7F8CB7BCE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ABCBE-169D-48C0-B10E-45858EF7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8C15-BDB5-4685-A130-CF5F50E5A6B0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F4499-897E-4C4F-9B7A-B17AD00AC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4BF38-D050-4654-AC40-8F2F48C84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1B4C-EC5A-46CE-8212-BEC24BD86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35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202A-30CA-4897-8CF5-0DD87277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B714D-A52F-43CA-9F19-572479468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9BE88-FB1E-4EE7-97B9-BF675A97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8C15-BDB5-4685-A130-CF5F50E5A6B0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30B8C-FB20-4CD8-9281-1829D0D0B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DCBC4-AC74-407E-94AB-54A3A2A6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1B4C-EC5A-46CE-8212-BEC24BD86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43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6303-F5B2-422F-893D-51B151CA3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333F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BEF67-9301-4AFF-9130-A77E892C3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399C2-F79C-4625-AC9A-9EE0E58FB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D0AF9-EF9E-47D1-BB24-F4C7CC650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8C15-BDB5-4685-A130-CF5F50E5A6B0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0897D-C7D5-4645-A795-3FB53684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05D2A-5D36-4920-A569-A30D87FB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1B4C-EC5A-46CE-8212-BEC24BD86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49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76FCC-E786-46C4-B967-71F2E5BDB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95C9F-AFFF-48E4-834B-C270D5D2E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33C2-C2DE-4C77-9E0F-C52C73F08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8749D-06CE-4B1A-B1F8-89C32A786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C22142-FA04-47B4-A5DD-723EAFE49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A9C60F-4D1B-45A2-BE4B-A198621C2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8C15-BDB5-4685-A130-CF5F50E5A6B0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4A1D6-B9DB-436E-A6D2-1E487724B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345786-D177-40F0-9B39-7CECA4DB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1B4C-EC5A-46CE-8212-BEC24BD86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18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F0297-06A0-4713-9698-159ABF1B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221152-2EAC-4BAB-9AE4-2071E7FA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8C15-BDB5-4685-A130-CF5F50E5A6B0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97108-8D5E-439F-9D84-90784D93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D9924-0908-4916-8CF2-558CA301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1B4C-EC5A-46CE-8212-BEC24BD86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5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79791-75C7-43E6-B5D2-698FF5DF8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8C15-BDB5-4685-A130-CF5F50E5A6B0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5DC5A4-B33F-400C-A083-A487DF9BF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DD009-06F4-429C-B6CF-F66B5582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1B4C-EC5A-46CE-8212-BEC24BD86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2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7E44-E2E8-43A3-AAA0-085E157D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B1673-87E8-474C-8A99-4F461E2DB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457DC-6423-45B1-95BA-CEAB3E1DC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CB8C5-0F09-4A9C-A6AD-AFD3B8D4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8C15-BDB5-4685-A130-CF5F50E5A6B0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73133-992A-4816-ABB7-F69BC7429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BC6B7-D4C8-46C8-A259-E2E030C9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1B4C-EC5A-46CE-8212-BEC24BD86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7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5BEE-CD63-4BE9-9A34-848EDBBE1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F15B5-85AA-45E4-AE22-192B301D5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90C9E-A595-4FE6-8A60-9C471FDA9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40006-85DF-47AE-BA3C-279F8524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8C15-BDB5-4685-A130-CF5F50E5A6B0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FB359-461F-434F-BCC7-4C6CB9D5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A3285-5E19-4701-BE02-7FF5B5C28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1B4C-EC5A-46CE-8212-BEC24BD86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5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2CD9E-CC56-4E6C-8352-74C55A7A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10B72-D540-4F85-ACBF-6606B1399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7DBCF-EC52-497E-9437-D3CF4FA41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8C15-BDB5-4685-A130-CF5F50E5A6B0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A3DAE-450A-4797-8EF9-241698B6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24A23-EC12-408E-8170-A7F15BB0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1B4C-EC5A-46CE-8212-BEC24BD86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30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D1D3E-4E06-4487-8BB1-6963CA93F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7AD92-D06A-4F9E-8EE5-60B701B8E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48669-8929-452D-9AD2-91E13930F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8C15-BDB5-4685-A130-CF5F50E5A6B0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327AC-5E07-437E-9008-317BB4BB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9620F-D18F-47F2-85C2-D59F874E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1B4C-EC5A-46CE-8212-BEC24BD86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0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4C574-1986-4FCA-815E-787917F47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B14BF-7B53-44A5-9C9D-FE49E6E37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9D503-A9A7-4664-837B-3BA1041F7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B8C15-BDB5-4685-A130-CF5F50E5A6B0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8B70B-B84C-4A86-9C13-E5C15600D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953DA-CFB2-4E42-9142-009DB183B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31B4C-EC5A-46CE-8212-BEC24BD86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0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E533-974B-41C9-8CE2-D2AE49DA1B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Machine execution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0DD92-0062-44BA-B829-D5E2EC4C29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Jinyang Li</a:t>
            </a:r>
          </a:p>
        </p:txBody>
      </p:sp>
    </p:spTree>
    <p:extLst>
      <p:ext uri="{BB962C8B-B14F-4D97-AF65-F5344CB8AC3E}">
        <p14:creationId xmlns:p14="http://schemas.microsoft.com/office/powerpoint/2010/main" val="198969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9E41-A3EC-4C6E-80A0-2FAE8775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Plan: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DFB89-E47D-430B-AC10-6E7C2F173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h/w execution model: </a:t>
            </a:r>
          </a:p>
          <a:p>
            <a:pPr lvl="1"/>
            <a:r>
              <a:rPr lang="en-US" dirty="0"/>
              <a:t>CPU fetch the next instruction from memory according to PC</a:t>
            </a:r>
          </a:p>
          <a:p>
            <a:pPr lvl="1"/>
            <a:r>
              <a:rPr lang="en-US" dirty="0"/>
              <a:t>Decode and execute instruction (e.g. mov instruction)</a:t>
            </a:r>
          </a:p>
          <a:p>
            <a:pPr lvl="1"/>
            <a:r>
              <a:rPr lang="en-US" dirty="0"/>
              <a:t>CPU updates PC to point to next instruction</a:t>
            </a:r>
          </a:p>
          <a:p>
            <a:r>
              <a:rPr lang="en-US" dirty="0"/>
              <a:t>ISA (instruction set architecture): x86, ARM, RISC-V</a:t>
            </a:r>
          </a:p>
          <a:p>
            <a:r>
              <a:rPr lang="en-US" dirty="0"/>
              <a:t>X86 ISA</a:t>
            </a:r>
          </a:p>
          <a:p>
            <a:pPr lvl="1"/>
            <a:r>
              <a:rPr lang="en-US" dirty="0"/>
              <a:t>%rip (PC), 16 general purpose registers</a:t>
            </a:r>
          </a:p>
        </p:txBody>
      </p:sp>
    </p:spTree>
    <p:extLst>
      <p:ext uri="{BB962C8B-B14F-4D97-AF65-F5344CB8AC3E}">
        <p14:creationId xmlns:p14="http://schemas.microsoft.com/office/powerpoint/2010/main" val="372320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9E41-A3EC-4C6E-80A0-2FAE8775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Plan: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DFB89-E47D-430B-AC10-6E7C2F173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 </a:t>
            </a:r>
          </a:p>
          <a:p>
            <a:pPr lvl="1"/>
            <a:r>
              <a:rPr lang="en-US" dirty="0"/>
              <a:t>more memory addressing modes</a:t>
            </a:r>
          </a:p>
          <a:p>
            <a:r>
              <a:rPr lang="en-US" dirty="0"/>
              <a:t>lea</a:t>
            </a:r>
          </a:p>
          <a:p>
            <a:r>
              <a:rPr lang="en-US" dirty="0"/>
              <a:t>arithmetic instructions</a:t>
            </a:r>
          </a:p>
        </p:txBody>
      </p:sp>
    </p:spTree>
    <p:extLst>
      <p:ext uri="{BB962C8B-B14F-4D97-AF65-F5344CB8AC3E}">
        <p14:creationId xmlns:p14="http://schemas.microsoft.com/office/powerpoint/2010/main" val="2765008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065" y="247230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The x86 move (aka copy) instruction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b="1" dirty="0"/>
              <a:t>movq</a:t>
            </a:r>
            <a:r>
              <a:rPr kumimoji="1" lang="en-US" altLang="zh-CN" dirty="0"/>
              <a:t> </a:t>
            </a:r>
            <a:r>
              <a:rPr kumimoji="1" lang="en-US" altLang="zh-CN" i="1" dirty="0"/>
              <a:t>Source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Dest</a:t>
            </a:r>
          </a:p>
          <a:p>
            <a:pPr lvl="1"/>
            <a:r>
              <a:rPr kumimoji="1" lang="en-US" altLang="zh-CN" dirty="0"/>
              <a:t>Copy a quadword (64-bit) from the source operand (first operand) to the destination operand (second operand).</a:t>
            </a:r>
          </a:p>
          <a:p>
            <a:pPr lvl="3"/>
            <a:endParaRPr kumimoji="1" lang="zh-CN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D4E4E-1AC6-4997-A0D9-1C182BECB734}"/>
              </a:ext>
            </a:extLst>
          </p:cNvPr>
          <p:cNvSpPr txBox="1"/>
          <p:nvPr/>
        </p:nvSpPr>
        <p:spPr>
          <a:xfrm>
            <a:off x="838200" y="3198167"/>
            <a:ext cx="647382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We use AT&amp;T (instead of Intel) syntax for assembly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6EDC70-2C17-4149-ED76-F4ED81AE7929}"/>
              </a:ext>
            </a:extLst>
          </p:cNvPr>
          <p:cNvGrpSpPr/>
          <p:nvPr/>
        </p:nvGrpSpPr>
        <p:grpSpPr>
          <a:xfrm>
            <a:off x="1542362" y="1441180"/>
            <a:ext cx="1312094" cy="768890"/>
            <a:chOff x="1283657" y="901050"/>
            <a:chExt cx="1277603" cy="118187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38AA28-7E28-66CE-1D41-FD4E9FDE4F75}"/>
                </a:ext>
              </a:extLst>
            </p:cNvPr>
            <p:cNvSpPr/>
            <p:nvPr/>
          </p:nvSpPr>
          <p:spPr>
            <a:xfrm>
              <a:off x="1283657" y="1566332"/>
              <a:ext cx="284109" cy="516588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EAF0155-197E-69C9-E92F-813E68523143}"/>
                </a:ext>
              </a:extLst>
            </p:cNvPr>
            <p:cNvCxnSpPr/>
            <p:nvPr/>
          </p:nvCxnSpPr>
          <p:spPr>
            <a:xfrm flipH="1">
              <a:off x="1567767" y="1417638"/>
              <a:ext cx="203810" cy="18256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10B6843-99AF-8342-296C-14C5E68CC326}"/>
                </a:ext>
              </a:extLst>
            </p:cNvPr>
            <p:cNvSpPr txBox="1"/>
            <p:nvPr/>
          </p:nvSpPr>
          <p:spPr>
            <a:xfrm>
              <a:off x="1712650" y="901050"/>
              <a:ext cx="8486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suffix</a:t>
              </a:r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7987459-139D-D075-1E10-7E07AE509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500642"/>
              </p:ext>
            </p:extLst>
          </p:nvPr>
        </p:nvGraphicFramePr>
        <p:xfrm>
          <a:off x="901125" y="4001294"/>
          <a:ext cx="609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Size (byte)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Quadword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00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mov instruction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b="1" dirty="0"/>
              <a:t>movq</a:t>
            </a:r>
            <a:r>
              <a:rPr kumimoji="1" lang="en-US" altLang="zh-CN" dirty="0"/>
              <a:t> </a:t>
            </a:r>
            <a:r>
              <a:rPr kumimoji="1" lang="en-US" altLang="zh-CN" i="1" dirty="0"/>
              <a:t>Source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Dest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/>
              <a:t>Operand Types</a:t>
            </a:r>
          </a:p>
          <a:p>
            <a:pPr lvl="1"/>
            <a:r>
              <a:rPr lang="en-US" altLang="zh-CN" b="1" i="1" dirty="0">
                <a:solidFill>
                  <a:srgbClr val="C00000"/>
                </a:solidFill>
              </a:rPr>
              <a:t>Immediate:</a:t>
            </a:r>
            <a:r>
              <a:rPr lang="en-US" altLang="zh-CN" dirty="0"/>
              <a:t> Constant integer data</a:t>
            </a:r>
          </a:p>
          <a:p>
            <a:pPr lvl="2"/>
            <a:r>
              <a:rPr lang="en-US" altLang="zh-CN" dirty="0"/>
              <a:t>E.g.  </a:t>
            </a:r>
            <a:r>
              <a:rPr lang="en-US" altLang="zh-CN" b="1" dirty="0">
                <a:latin typeface="Courier New" pitchFamily="49" charset="0"/>
              </a:rPr>
              <a:t>$0x400</a:t>
            </a:r>
            <a:r>
              <a:rPr lang="en-US" altLang="zh-CN" b="1" dirty="0"/>
              <a:t>, </a:t>
            </a:r>
            <a:r>
              <a:rPr lang="en-US" altLang="zh-CN" b="1" dirty="0">
                <a:latin typeface="Courier New" pitchFamily="49" charset="0"/>
              </a:rPr>
              <a:t>$-533</a:t>
            </a:r>
          </a:p>
          <a:p>
            <a:pPr lvl="1"/>
            <a:r>
              <a:rPr lang="en-US" altLang="zh-CN" b="1" i="1" dirty="0">
                <a:solidFill>
                  <a:srgbClr val="C00000"/>
                </a:solidFill>
              </a:rPr>
              <a:t>Register: </a:t>
            </a:r>
            <a:r>
              <a:rPr lang="en-US" altLang="zh-CN" dirty="0"/>
              <a:t>One of 16 general purpose registers</a:t>
            </a:r>
          </a:p>
          <a:p>
            <a:pPr lvl="2"/>
            <a:r>
              <a:rPr lang="en-US" altLang="zh-CN" dirty="0" err="1"/>
              <a:t>E.g</a:t>
            </a:r>
            <a:r>
              <a:rPr lang="en-US" altLang="zh-CN" dirty="0"/>
              <a:t>: </a:t>
            </a:r>
            <a:r>
              <a:rPr lang="en-US" altLang="zh-CN" b="1" dirty="0">
                <a:latin typeface="Courier New" pitchFamily="49" charset="0"/>
              </a:rPr>
              <a:t>%</a:t>
            </a:r>
            <a:r>
              <a:rPr lang="en-US" altLang="zh-CN" b="1" dirty="0" err="1">
                <a:latin typeface="Courier New" pitchFamily="49" charset="0"/>
              </a:rPr>
              <a:t>rax</a:t>
            </a:r>
            <a:r>
              <a:rPr lang="en-US" altLang="zh-CN" b="1" dirty="0">
                <a:latin typeface="Courier New" pitchFamily="49" charset="0"/>
              </a:rPr>
              <a:t>, %</a:t>
            </a:r>
            <a:r>
              <a:rPr lang="en-US" altLang="zh-CN" b="1" dirty="0" err="1">
                <a:latin typeface="Courier New" pitchFamily="49" charset="0"/>
              </a:rPr>
              <a:t>rsi</a:t>
            </a:r>
            <a:endParaRPr lang="en-US" altLang="zh-CN" b="1" dirty="0">
              <a:latin typeface="Courier New" pitchFamily="49" charset="0"/>
            </a:endParaRPr>
          </a:p>
          <a:p>
            <a:pPr lvl="1"/>
            <a:r>
              <a:rPr lang="en-US" altLang="zh-CN" b="1" i="1" dirty="0">
                <a:solidFill>
                  <a:srgbClr val="C00000"/>
                </a:solidFill>
              </a:rPr>
              <a:t>Memory:</a:t>
            </a:r>
            <a:r>
              <a:rPr lang="en-US" altLang="zh-CN" dirty="0"/>
              <a:t> 1/2/4/8 consecutive bytes of memory </a:t>
            </a:r>
          </a:p>
          <a:p>
            <a:pPr lvl="2"/>
            <a:r>
              <a:rPr lang="en-US" altLang="zh-CN" dirty="0"/>
              <a:t>Direct addressing: Register’s content specifies the memory address</a:t>
            </a:r>
            <a:endParaRPr kumimoji="1" lang="en-US" altLang="zh-CN" dirty="0"/>
          </a:p>
          <a:p>
            <a:pPr lvl="2"/>
            <a:r>
              <a:rPr lang="en-US" altLang="zh-CN" dirty="0"/>
              <a:t>E.g. </a:t>
            </a:r>
            <a:r>
              <a:rPr lang="en-US" altLang="zh-CN" b="1" dirty="0">
                <a:latin typeface="Courier New" pitchFamily="49" charset="0"/>
              </a:rPr>
              <a:t>(%</a:t>
            </a:r>
            <a:r>
              <a:rPr lang="en-US" altLang="zh-CN" b="1" dirty="0" err="1">
                <a:latin typeface="Courier New" pitchFamily="49" charset="0"/>
              </a:rPr>
              <a:t>rax</a:t>
            </a:r>
            <a:r>
              <a:rPr lang="en-US" altLang="zh-CN" b="1" dirty="0">
                <a:latin typeface="Courier New" pitchFamily="49" charset="0"/>
              </a:rPr>
              <a:t>)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059184" y="122428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8362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cs typeface="Arial"/>
              </a:rPr>
              <a:t>mov</a:t>
            </a:r>
            <a:r>
              <a:rPr lang="en-US" altLang="zh-CN" dirty="0"/>
              <a:t> Operand combinations</a:t>
            </a:r>
            <a:endParaRPr kumimoji="1" lang="zh-CN" altLang="en-US" dirty="0"/>
          </a:p>
        </p:txBody>
      </p:sp>
      <p:grpSp>
        <p:nvGrpSpPr>
          <p:cNvPr id="4" name="组 3"/>
          <p:cNvGrpSpPr/>
          <p:nvPr/>
        </p:nvGrpSpPr>
        <p:grpSpPr>
          <a:xfrm>
            <a:off x="2808305" y="1463338"/>
            <a:ext cx="6268474" cy="3623965"/>
            <a:chOff x="228600" y="1752600"/>
            <a:chExt cx="6268474" cy="3623965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228600" y="3771900"/>
              <a:ext cx="861534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b="1" dirty="0" err="1">
                  <a:latin typeface="Consolas"/>
                  <a:cs typeface="Consolas"/>
                </a:rPr>
                <a:t>movq</a:t>
              </a:r>
              <a:endParaRPr lang="en-US" sz="2400" b="1" dirty="0">
                <a:latin typeface="Consolas"/>
                <a:cs typeface="Consolas"/>
              </a:endParaRPr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600200" y="2705100"/>
              <a:ext cx="782587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>
                  <a:latin typeface="Arial"/>
                  <a:cs typeface="Arial"/>
                </a:rPr>
                <a:t>Imm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600200" y="3771900"/>
              <a:ext cx="750526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>
                  <a:latin typeface="Arial"/>
                  <a:cs typeface="Arial"/>
                </a:rPr>
                <a:t>Reg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1600200" y="4914900"/>
              <a:ext cx="869149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 err="1">
                  <a:latin typeface="Arial"/>
                  <a:cs typeface="Arial"/>
                </a:rPr>
                <a:t>Mem</a:t>
              </a:r>
              <a:endParaRPr lang="en-US" sz="2400" i="1" dirty="0">
                <a:latin typeface="Arial"/>
                <a:cs typeface="Arial"/>
              </a:endParaRP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2819400" y="2476500"/>
              <a:ext cx="750526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>
                  <a:latin typeface="Arial"/>
                  <a:cs typeface="Arial"/>
                </a:rPr>
                <a:t>Reg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2819400" y="2933700"/>
              <a:ext cx="869149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 err="1">
                  <a:latin typeface="Arial"/>
                  <a:cs typeface="Arial"/>
                </a:rPr>
                <a:t>Mem</a:t>
              </a:r>
              <a:endParaRPr lang="en-US" sz="2400" i="1" dirty="0">
                <a:latin typeface="Arial"/>
                <a:cs typeface="Arial"/>
              </a:endParaRP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2819400" y="3619500"/>
              <a:ext cx="750526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>
                  <a:latin typeface="Arial"/>
                  <a:cs typeface="Arial"/>
                </a:rPr>
                <a:t>Reg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2819400" y="4065588"/>
              <a:ext cx="869149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 err="1">
                  <a:latin typeface="Arial"/>
                  <a:cs typeface="Arial"/>
                </a:rPr>
                <a:t>Mem</a:t>
              </a:r>
              <a:endParaRPr lang="en-US" sz="2400" i="1" dirty="0">
                <a:latin typeface="Arial"/>
                <a:cs typeface="Arial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2819400" y="4914900"/>
              <a:ext cx="750526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>
                  <a:latin typeface="Arial"/>
                  <a:cs typeface="Arial"/>
                </a:rPr>
                <a:t>Reg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1447800" y="1752600"/>
              <a:ext cx="1159843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dirty="0">
                  <a:latin typeface="Arial"/>
                  <a:cs typeface="Arial"/>
                </a:rPr>
                <a:t>Source</a:t>
              </a: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2819400" y="1752600"/>
              <a:ext cx="825867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dirty="0">
                  <a:latin typeface="Arial"/>
                  <a:cs typeface="Arial"/>
                </a:rPr>
                <a:t>Dest</a:t>
              </a:r>
            </a:p>
          </p:txBody>
        </p:sp>
        <p:sp>
          <p:nvSpPr>
            <p:cNvPr id="16" name="AutoShape 20"/>
            <p:cNvSpPr>
              <a:spLocks/>
            </p:cNvSpPr>
            <p:nvPr/>
          </p:nvSpPr>
          <p:spPr bwMode="auto">
            <a:xfrm>
              <a:off x="1295400" y="2628900"/>
              <a:ext cx="304800" cy="2743200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7" name="AutoShape 21"/>
            <p:cNvSpPr>
              <a:spLocks/>
            </p:cNvSpPr>
            <p:nvPr/>
          </p:nvSpPr>
          <p:spPr bwMode="auto">
            <a:xfrm>
              <a:off x="2514600" y="2552700"/>
              <a:ext cx="304800" cy="762000"/>
            </a:xfrm>
            <a:prstGeom prst="leftBrace">
              <a:avLst>
                <a:gd name="adj1" fmla="val 20833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8" name="AutoShape 22"/>
            <p:cNvSpPr>
              <a:spLocks/>
            </p:cNvSpPr>
            <p:nvPr/>
          </p:nvSpPr>
          <p:spPr bwMode="auto">
            <a:xfrm>
              <a:off x="2514600" y="3695700"/>
              <a:ext cx="304800" cy="762000"/>
            </a:xfrm>
            <a:prstGeom prst="leftBrace">
              <a:avLst>
                <a:gd name="adj1" fmla="val 20833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4056181" y="2476500"/>
              <a:ext cx="2158864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onsolas"/>
                  <a:cs typeface="Consolas"/>
                </a:rPr>
                <a:t>movq $0x4,%rax</a:t>
              </a:r>
            </a:p>
          </p:txBody>
        </p:sp>
        <p:sp>
          <p:nvSpPr>
            <p:cNvPr id="22" name="Text Box 16"/>
            <p:cNvSpPr txBox="1">
              <a:spLocks noChangeArrowheads="1"/>
            </p:cNvSpPr>
            <p:nvPr/>
          </p:nvSpPr>
          <p:spPr bwMode="auto">
            <a:xfrm>
              <a:off x="4056181" y="2933700"/>
              <a:ext cx="2440893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onsolas"/>
                  <a:cs typeface="Consolas"/>
                </a:rPr>
                <a:t>movq $0x4,(%</a:t>
              </a:r>
              <a:r>
                <a:rPr lang="en-US" sz="2000" dirty="0" err="1">
                  <a:latin typeface="Consolas"/>
                  <a:cs typeface="Consolas"/>
                </a:rPr>
                <a:t>rax</a:t>
              </a:r>
              <a:r>
                <a:rPr lang="en-US" sz="2000" dirty="0">
                  <a:latin typeface="Consolas"/>
                  <a:cs typeface="Consolas"/>
                </a:rPr>
                <a:t>)</a:t>
              </a:r>
            </a:p>
          </p:txBody>
        </p:sp>
        <p:sp>
          <p:nvSpPr>
            <p:cNvPr id="24" name="Text Box 17"/>
            <p:cNvSpPr txBox="1">
              <a:spLocks noChangeArrowheads="1"/>
            </p:cNvSpPr>
            <p:nvPr/>
          </p:nvSpPr>
          <p:spPr bwMode="auto">
            <a:xfrm>
              <a:off x="4056181" y="3619500"/>
              <a:ext cx="2158864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onsolas"/>
                  <a:cs typeface="Consolas"/>
                </a:rPr>
                <a:t>movq %</a:t>
              </a:r>
              <a:r>
                <a:rPr lang="en-US" sz="2000" dirty="0" err="1">
                  <a:latin typeface="Consolas"/>
                  <a:cs typeface="Consolas"/>
                </a:rPr>
                <a:t>rax</a:t>
              </a:r>
              <a:r>
                <a:rPr lang="en-US" sz="2000" dirty="0">
                  <a:latin typeface="Consolas"/>
                  <a:cs typeface="Consolas"/>
                </a:rPr>
                <a:t>,%</a:t>
              </a:r>
              <a:r>
                <a:rPr lang="en-US" sz="2000" dirty="0" err="1">
                  <a:latin typeface="Consolas"/>
                  <a:cs typeface="Consolas"/>
                </a:rPr>
                <a:t>rdx</a:t>
              </a:r>
              <a:endParaRPr lang="en-US" sz="2000" dirty="0">
                <a:latin typeface="Consolas"/>
                <a:cs typeface="Consolas"/>
              </a:endParaRPr>
            </a:p>
          </p:txBody>
        </p:sp>
        <p:sp>
          <p:nvSpPr>
            <p:cNvPr id="26" name="Text Box 18"/>
            <p:cNvSpPr txBox="1">
              <a:spLocks noChangeArrowheads="1"/>
            </p:cNvSpPr>
            <p:nvPr/>
          </p:nvSpPr>
          <p:spPr bwMode="auto">
            <a:xfrm>
              <a:off x="4056181" y="4065587"/>
              <a:ext cx="2440893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onsolas"/>
                  <a:cs typeface="Consolas"/>
                </a:rPr>
                <a:t>movq %</a:t>
              </a:r>
              <a:r>
                <a:rPr lang="en-US" sz="2000" dirty="0" err="1">
                  <a:latin typeface="Consolas"/>
                  <a:cs typeface="Consolas"/>
                </a:rPr>
                <a:t>rax</a:t>
              </a:r>
              <a:r>
                <a:rPr lang="en-US" sz="2000" dirty="0">
                  <a:latin typeface="Consolas"/>
                  <a:cs typeface="Consolas"/>
                </a:rPr>
                <a:t>,(%</a:t>
              </a:r>
              <a:r>
                <a:rPr lang="en-US" sz="2000" dirty="0" err="1">
                  <a:latin typeface="Consolas"/>
                  <a:cs typeface="Consolas"/>
                </a:rPr>
                <a:t>rdx</a:t>
              </a:r>
              <a:r>
                <a:rPr lang="en-US" sz="2000" dirty="0">
                  <a:latin typeface="Consolas"/>
                  <a:cs typeface="Consolas"/>
                </a:rPr>
                <a:t>)</a:t>
              </a:r>
            </a:p>
          </p:txBody>
        </p:sp>
        <p:sp>
          <p:nvSpPr>
            <p:cNvPr id="28" name="Text Box 19"/>
            <p:cNvSpPr txBox="1">
              <a:spLocks noChangeArrowheads="1"/>
            </p:cNvSpPr>
            <p:nvPr/>
          </p:nvSpPr>
          <p:spPr bwMode="auto">
            <a:xfrm>
              <a:off x="4056181" y="4914900"/>
              <a:ext cx="2440893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onsolas"/>
                  <a:cs typeface="Consolas"/>
                </a:rPr>
                <a:t>movq (%</a:t>
              </a:r>
              <a:r>
                <a:rPr lang="en-US" sz="2000" dirty="0" err="1">
                  <a:latin typeface="Consolas"/>
                  <a:cs typeface="Consolas"/>
                </a:rPr>
                <a:t>rax</a:t>
              </a:r>
              <a:r>
                <a:rPr lang="en-US" sz="2000" dirty="0">
                  <a:latin typeface="Consolas"/>
                  <a:cs typeface="Consolas"/>
                </a:rPr>
                <a:t>),%</a:t>
              </a:r>
              <a:r>
                <a:rPr lang="en-US" sz="2000" dirty="0" err="1">
                  <a:latin typeface="Consolas"/>
                  <a:cs typeface="Consolas"/>
                </a:rPr>
                <a:t>rdx</a:t>
              </a:r>
              <a:endParaRPr lang="en-US" sz="2000" dirty="0">
                <a:latin typeface="Consolas"/>
                <a:cs typeface="Consolas"/>
              </a:endParaRPr>
            </a:p>
          </p:txBody>
        </p:sp>
        <p:sp>
          <p:nvSpPr>
            <p:cNvPr id="30" name="Text Box 29"/>
            <p:cNvSpPr txBox="1">
              <a:spLocks noChangeArrowheads="1"/>
            </p:cNvSpPr>
            <p:nvPr/>
          </p:nvSpPr>
          <p:spPr bwMode="auto">
            <a:xfrm>
              <a:off x="4526236" y="1752600"/>
              <a:ext cx="1383712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dirty="0">
                  <a:latin typeface="Arial"/>
                  <a:cs typeface="Arial"/>
                </a:rPr>
                <a:t>Example</a:t>
              </a:r>
            </a:p>
          </p:txBody>
        </p:sp>
      </p:grp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1912554" y="5852064"/>
            <a:ext cx="8409362" cy="533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rgbClr val="C00000"/>
                </a:solidFill>
              </a:rPr>
              <a:t>2. No memory-memory </a:t>
            </a:r>
            <a:r>
              <a:rPr lang="en-US" sz="2400" dirty="0" err="1">
                <a:solidFill>
                  <a:srgbClr val="C00000"/>
                </a:solidFill>
              </a:rPr>
              <a:t>mov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273519" y="5300314"/>
            <a:ext cx="8140700" cy="533400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rgbClr val="C00000"/>
                </a:solidFill>
              </a:rPr>
              <a:t> 1. Immediate can only be </a:t>
            </a:r>
            <a:r>
              <a:rPr lang="en-US" sz="2400" i="1" dirty="0">
                <a:solidFill>
                  <a:srgbClr val="C00000"/>
                </a:solidFill>
              </a:rPr>
              <a:t>source</a:t>
            </a:r>
            <a:endParaRPr lang="en-US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41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cs typeface="Arial"/>
              </a:rPr>
              <a:t>movq  </a:t>
            </a:r>
            <a:r>
              <a:rPr lang="en-US" altLang="zh-CN" b="0" i="1" dirty="0">
                <a:latin typeface="Arial"/>
                <a:cs typeface="Arial"/>
              </a:rPr>
              <a:t>Imm, Reg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743690" y="5734789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34" name="矩形 33"/>
          <p:cNvSpPr/>
          <p:nvPr/>
        </p:nvSpPr>
        <p:spPr>
          <a:xfrm>
            <a:off x="3324360" y="281938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324360" y="24459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324360" y="207516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324360" y="17017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>
                <a:latin typeface="Consolas"/>
                <a:cs typeface="Consolas"/>
              </a:rPr>
              <a:t>movq</a:t>
            </a:r>
            <a:r>
              <a:rPr lang="en-US" altLang="zh-CN" dirty="0">
                <a:latin typeface="Consolas"/>
                <a:cs typeface="Consolas"/>
              </a:rPr>
              <a:t> %</a:t>
            </a:r>
            <a:r>
              <a:rPr lang="en-US" altLang="zh-CN" dirty="0" err="1">
                <a:latin typeface="Consolas"/>
                <a:cs typeface="Consolas"/>
              </a:rPr>
              <a:t>rax</a:t>
            </a:r>
            <a:r>
              <a:rPr lang="en-US" altLang="zh-CN" dirty="0">
                <a:latin typeface="Consolas"/>
                <a:cs typeface="Consolas"/>
              </a:rPr>
              <a:t>,%</a:t>
            </a:r>
            <a:r>
              <a:rPr lang="en-US" altLang="zh-CN" dirty="0" err="1">
                <a:latin typeface="Consolas"/>
                <a:cs typeface="Consolas"/>
              </a:rPr>
              <a:t>rbx</a:t>
            </a:r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324360" y="31924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328730" y="393993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333099" y="4313370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340680" y="467943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340680" y="504700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40680" y="541550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740295" y="538156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55" name="矩形 54"/>
          <p:cNvSpPr/>
          <p:nvPr/>
        </p:nvSpPr>
        <p:spPr>
          <a:xfrm>
            <a:off x="3324360" y="357547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7506898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7568726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8240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矩形 74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8251638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2" name="圆角矩形 81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87" name="矩形 86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9" name="Text Box 15"/>
          <p:cNvSpPr txBox="1">
            <a:spLocks noChangeArrowheads="1"/>
          </p:cNvSpPr>
          <p:nvPr/>
        </p:nvSpPr>
        <p:spPr bwMode="auto">
          <a:xfrm>
            <a:off x="3313120" y="2067527"/>
            <a:ext cx="196144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movq $0x4,%rax</a:t>
            </a:r>
          </a:p>
        </p:txBody>
      </p:sp>
      <p:sp>
        <p:nvSpPr>
          <p:cNvPr id="56" name="矩形 55"/>
          <p:cNvSpPr/>
          <p:nvPr/>
        </p:nvSpPr>
        <p:spPr>
          <a:xfrm>
            <a:off x="1894799" y="170173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1883560" y="206802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1883560" y="50528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1883560" y="46776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1883560" y="430154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1883560" y="394403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63" name="矩形 62"/>
          <p:cNvSpPr/>
          <p:nvPr/>
        </p:nvSpPr>
        <p:spPr>
          <a:xfrm>
            <a:off x="1894799" y="358722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1896448" y="31774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1900818" y="281524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1890288" y="245969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cxnSp>
        <p:nvCxnSpPr>
          <p:cNvPr id="52" name="直线箭头连接符 51"/>
          <p:cNvCxnSpPr/>
          <p:nvPr/>
        </p:nvCxnSpPr>
        <p:spPr>
          <a:xfrm flipH="1">
            <a:off x="5268435" y="2288097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5454821" y="2121830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D2936-17F1-4FCE-A359-EAC832361DC9}"/>
              </a:ext>
            </a:extLst>
          </p:cNvPr>
          <p:cNvSpPr txBox="1"/>
          <p:nvPr/>
        </p:nvSpPr>
        <p:spPr>
          <a:xfrm>
            <a:off x="8251638" y="2474291"/>
            <a:ext cx="157607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/>
                <a:cs typeface="Consolas"/>
              </a:rPr>
              <a:t>movq</a:t>
            </a:r>
            <a:r>
              <a:rPr lang="en-US" sz="1400" dirty="0">
                <a:latin typeface="Consolas"/>
                <a:cs typeface="Consolas"/>
              </a:rPr>
              <a:t> $0x4,%rax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B70A5B-6590-44AA-9CFA-57591BB39166}"/>
              </a:ext>
            </a:extLst>
          </p:cNvPr>
          <p:cNvSpPr txBox="1"/>
          <p:nvPr/>
        </p:nvSpPr>
        <p:spPr>
          <a:xfrm>
            <a:off x="8356861" y="2893710"/>
            <a:ext cx="119455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  <a:cs typeface="Arial"/>
              </a:rPr>
              <a:t>0x00</a:t>
            </a:r>
            <a:r>
              <a:rPr lang="mr-IN" altLang="zh-CN" sz="1600" dirty="0"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600" dirty="0">
                <a:latin typeface="Consolas" panose="020B0609020204030204" pitchFamily="49" charset="0"/>
                <a:cs typeface="Arial"/>
              </a:rPr>
              <a:t>0004</a:t>
            </a:r>
            <a:endParaRPr lang="zh-CN" altLang="en-US" sz="1600" dirty="0">
              <a:latin typeface="Consolas" panose="020B0609020204030204" pitchFamily="49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860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cs typeface="Arial"/>
              </a:rPr>
              <a:t>movq</a:t>
            </a:r>
            <a:r>
              <a:rPr lang="en-US" altLang="zh-CN" b="0" i="1" dirty="0">
                <a:latin typeface="Arial"/>
                <a:cs typeface="Arial"/>
              </a:rPr>
              <a:t> Reg, Reg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743690" y="5734789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34" name="矩形 33"/>
          <p:cNvSpPr/>
          <p:nvPr/>
        </p:nvSpPr>
        <p:spPr>
          <a:xfrm>
            <a:off x="3324360" y="281938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324360" y="24459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324360" y="207516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Consolas"/>
                <a:cs typeface="Consolas"/>
              </a:rPr>
              <a:t>movq $0x4,%rax</a:t>
            </a:r>
          </a:p>
        </p:txBody>
      </p:sp>
      <p:sp>
        <p:nvSpPr>
          <p:cNvPr id="37" name="矩形 36"/>
          <p:cNvSpPr/>
          <p:nvPr/>
        </p:nvSpPr>
        <p:spPr>
          <a:xfrm>
            <a:off x="3324360" y="17017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Consolas"/>
                <a:cs typeface="Consolas"/>
              </a:rPr>
              <a:t>movq %rax,%rbx</a:t>
            </a:r>
          </a:p>
        </p:txBody>
      </p:sp>
      <p:sp>
        <p:nvSpPr>
          <p:cNvPr id="38" name="矩形 37"/>
          <p:cNvSpPr/>
          <p:nvPr/>
        </p:nvSpPr>
        <p:spPr>
          <a:xfrm>
            <a:off x="3324360" y="31924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328730" y="393993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333099" y="4313370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340680" y="467943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340680" y="504700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40680" y="541550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740295" y="538156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55" name="矩形 54"/>
          <p:cNvSpPr/>
          <p:nvPr/>
        </p:nvSpPr>
        <p:spPr>
          <a:xfrm>
            <a:off x="3324360" y="357547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00FF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srgbClr val="0000FF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srgbClr val="0000FF"/>
                </a:solidFill>
                <a:latin typeface="Arial"/>
                <a:cs typeface="Arial"/>
              </a:rPr>
              <a:t>0058</a:t>
            </a:r>
            <a:endParaRPr lang="zh-CN" altLang="en-US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7506898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7568726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8240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8251638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0004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2" name="圆角矩形 81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87" name="矩形 86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24355" y="2449373"/>
            <a:ext cx="16114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$0x4,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894799" y="170173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883560" y="206802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1883560" y="50528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1883560" y="46776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1883560" y="430154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1883560" y="394403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1894799" y="358722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63" name="矩形 62"/>
          <p:cNvSpPr/>
          <p:nvPr/>
        </p:nvSpPr>
        <p:spPr>
          <a:xfrm>
            <a:off x="1896448" y="31774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1900818" y="281524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1890288" y="245969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cxnSp>
        <p:nvCxnSpPr>
          <p:cNvPr id="52" name="直线箭头连接符 51"/>
          <p:cNvCxnSpPr/>
          <p:nvPr/>
        </p:nvCxnSpPr>
        <p:spPr>
          <a:xfrm flipH="1">
            <a:off x="5268435" y="1887207"/>
            <a:ext cx="249222" cy="0"/>
          </a:xfrm>
          <a:prstGeom prst="straightConnector1">
            <a:avLst/>
          </a:prstGeom>
          <a:ln>
            <a:solidFill>
              <a:srgbClr val="0000FF"/>
            </a:solidFill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5454821" y="1720940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solidFill>
                  <a:srgbClr val="0000FF"/>
                </a:solidFill>
                <a:latin typeface="Verdana"/>
                <a:cs typeface="Verdana"/>
              </a:rPr>
              <a:t>%rip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CA786A4A-D802-4E5D-A6F3-99EB5B2218B4}"/>
              </a:ext>
            </a:extLst>
          </p:cNvPr>
          <p:cNvSpPr/>
          <p:nvPr/>
        </p:nvSpPr>
        <p:spPr>
          <a:xfrm>
            <a:off x="8240198" y="2458781"/>
            <a:ext cx="1628972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rbx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47C681-9C67-4220-B1C1-91A0A7A3268D}"/>
              </a:ext>
            </a:extLst>
          </p:cNvPr>
          <p:cNvSpPr txBox="1"/>
          <p:nvPr/>
        </p:nvSpPr>
        <p:spPr>
          <a:xfrm>
            <a:off x="8432279" y="3336537"/>
            <a:ext cx="132440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Arial"/>
              </a:rPr>
              <a:t>0x00</a:t>
            </a:r>
            <a:r>
              <a:rPr lang="mr-IN" altLang="zh-CN" dirty="0"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dirty="0">
                <a:latin typeface="Consolas" panose="020B0609020204030204" pitchFamily="49" charset="0"/>
                <a:cs typeface="Arial"/>
              </a:rPr>
              <a:t>0004</a:t>
            </a:r>
            <a:endParaRPr lang="zh-CN" altLang="en-US" dirty="0">
              <a:latin typeface="Consolas" panose="020B0609020204030204" pitchFamily="49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206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movq</a:t>
            </a:r>
            <a:r>
              <a:rPr kumimoji="1" lang="en-US" altLang="zh-CN" dirty="0"/>
              <a:t> </a:t>
            </a:r>
            <a:r>
              <a:rPr kumimoji="1" lang="en-US" altLang="zh-CN" b="0" i="1" dirty="0">
                <a:latin typeface="Arial"/>
                <a:cs typeface="Arial"/>
              </a:rPr>
              <a:t>(%rax), %rbx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24360" y="281938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24360" y="24459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24360" y="207516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24360" y="17017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>
                <a:latin typeface="Arial"/>
                <a:cs typeface="Arial"/>
              </a:rPr>
              <a:t>movq </a:t>
            </a:r>
            <a:r>
              <a:rPr lang="en-US" altLang="zh-CN" sz="1400" dirty="0">
                <a:latin typeface="Arial"/>
                <a:cs typeface="Arial"/>
              </a:rPr>
              <a:t>(%rax), %rbx</a:t>
            </a:r>
          </a:p>
        </p:txBody>
      </p:sp>
      <p:sp>
        <p:nvSpPr>
          <p:cNvPr id="11" name="矩形 10"/>
          <p:cNvSpPr/>
          <p:nvPr/>
        </p:nvSpPr>
        <p:spPr>
          <a:xfrm>
            <a:off x="3324360" y="31924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28730" y="393993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33099" y="4313370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40680" y="467943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prstClr val="black"/>
                </a:solidFill>
                <a:latin typeface="Arial"/>
                <a:cs typeface="Arial"/>
              </a:rPr>
              <a:t>0x10</a:t>
            </a:r>
            <a:endParaRPr lang="zh-CN" altLang="en-US" sz="2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40680" y="504700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340680" y="541550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40295" y="538156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3324360" y="357547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06898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68726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240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0x18</a:t>
            </a:r>
            <a:endParaRPr lang="zh-CN" altLang="en-US" dirty="0"/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894799" y="170173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1883560" y="206802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1883560" y="50528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56" name="矩形 55"/>
          <p:cNvSpPr/>
          <p:nvPr/>
        </p:nvSpPr>
        <p:spPr>
          <a:xfrm>
            <a:off x="1883560" y="46776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883560" y="430154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1883560" y="394403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1894799" y="358722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1896448" y="31774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1900818" y="281524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1890288" y="245969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cxnSp>
        <p:nvCxnSpPr>
          <p:cNvPr id="51" name="直线箭头连接符 50"/>
          <p:cNvCxnSpPr/>
          <p:nvPr/>
        </p:nvCxnSpPr>
        <p:spPr>
          <a:xfrm flipH="1">
            <a:off x="5268435" y="1867999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5454821" y="1701732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5BE13C-C2AD-4A50-B792-C3EA38994E81}"/>
              </a:ext>
            </a:extLst>
          </p:cNvPr>
          <p:cNvSpPr txBox="1"/>
          <p:nvPr/>
        </p:nvSpPr>
        <p:spPr>
          <a:xfrm>
            <a:off x="8142535" y="2475524"/>
            <a:ext cx="177484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b="1" dirty="0" err="1">
                <a:latin typeface="Consolas" panose="020B0609020204030204" pitchFamily="49" charset="0"/>
              </a:rPr>
              <a:t>movq</a:t>
            </a:r>
            <a:r>
              <a:rPr lang="en-US" sz="1400" dirty="0">
                <a:latin typeface="Consolas" panose="020B0609020204030204" pitchFamily="49" charset="0"/>
              </a:rPr>
              <a:t> (%</a:t>
            </a:r>
            <a:r>
              <a:rPr lang="en-US" sz="1400" dirty="0" err="1">
                <a:latin typeface="Consolas" panose="020B0609020204030204" pitchFamily="49" charset="0"/>
              </a:rPr>
              <a:t>rax</a:t>
            </a:r>
            <a:r>
              <a:rPr lang="en-US" sz="1400" dirty="0">
                <a:latin typeface="Consolas" panose="020B0609020204030204" pitchFamily="49" charset="0"/>
              </a:rPr>
              <a:t>),%</a:t>
            </a:r>
            <a:r>
              <a:rPr lang="en-US" sz="1400" dirty="0" err="1">
                <a:latin typeface="Consolas" panose="020B0609020204030204" pitchFamily="49" charset="0"/>
              </a:rPr>
              <a:t>rbx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4B579-35BC-40AF-A5F5-C792D8DB6EAB}"/>
              </a:ext>
            </a:extLst>
          </p:cNvPr>
          <p:cNvSpPr txBox="1"/>
          <p:nvPr/>
        </p:nvSpPr>
        <p:spPr>
          <a:xfrm>
            <a:off x="1772446" y="5999471"/>
            <a:ext cx="5448286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How many bytes are copied? Source? Destination?</a:t>
            </a:r>
          </a:p>
        </p:txBody>
      </p:sp>
    </p:spTree>
    <p:extLst>
      <p:ext uri="{BB962C8B-B14F-4D97-AF65-F5344CB8AC3E}">
        <p14:creationId xmlns:p14="http://schemas.microsoft.com/office/powerpoint/2010/main" val="281196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movq</a:t>
            </a:r>
            <a:r>
              <a:rPr kumimoji="1" lang="en-US" altLang="zh-CN" dirty="0"/>
              <a:t> </a:t>
            </a:r>
            <a:r>
              <a:rPr kumimoji="1" lang="en-US" altLang="zh-CN" b="0" i="1" dirty="0">
                <a:latin typeface="Arial"/>
                <a:cs typeface="Arial"/>
              </a:rPr>
              <a:t>(%rax), %rbx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43690" y="5734789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3324360" y="281938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24360" y="24459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24360" y="207516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24360" y="17017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>
                <a:latin typeface="Arial"/>
                <a:cs typeface="Arial"/>
              </a:rPr>
              <a:t>movq </a:t>
            </a:r>
            <a:r>
              <a:rPr lang="en-US" altLang="zh-CN" sz="1400" dirty="0">
                <a:latin typeface="Arial"/>
                <a:cs typeface="Arial"/>
              </a:rPr>
              <a:t>(%rax), %rbx</a:t>
            </a:r>
          </a:p>
        </p:txBody>
      </p:sp>
      <p:sp>
        <p:nvSpPr>
          <p:cNvPr id="11" name="矩形 10"/>
          <p:cNvSpPr/>
          <p:nvPr/>
        </p:nvSpPr>
        <p:spPr>
          <a:xfrm>
            <a:off x="3324360" y="31924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28730" y="393993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33099" y="4313370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40680" y="467943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prstClr val="black"/>
                </a:solidFill>
                <a:latin typeface="Arial"/>
                <a:cs typeface="Arial"/>
              </a:rPr>
              <a:t>0x10</a:t>
            </a:r>
            <a:endParaRPr lang="zh-CN" altLang="en-US" sz="2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40680" y="504700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340680" y="541550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40295" y="538156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3324360" y="357547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06898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68726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240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0x18</a:t>
            </a:r>
            <a:endParaRPr lang="zh-CN" altLang="en-US" dirty="0"/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167150" y="2460815"/>
            <a:ext cx="17507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(%rax), %rbx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55" name="直线箭头连接符 54"/>
          <p:cNvCxnSpPr>
            <a:endCxn id="14" idx="3"/>
          </p:cNvCxnSpPr>
          <p:nvPr/>
        </p:nvCxnSpPr>
        <p:spPr>
          <a:xfrm rot="10800000" flipV="1">
            <a:off x="5292178" y="2977821"/>
            <a:ext cx="2011614" cy="1888325"/>
          </a:xfrm>
          <a:prstGeom prst="bentConnector3">
            <a:avLst>
              <a:gd name="adj1" fmla="val 50000"/>
            </a:avLst>
          </a:prstGeom>
          <a:ln w="38100" cmpd="sng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5727088" y="250479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894799" y="170173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1883560" y="206802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1883560" y="50528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1883560" y="46776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1883560" y="430154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1883560" y="394403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63" name="矩形 62"/>
          <p:cNvSpPr/>
          <p:nvPr/>
        </p:nvSpPr>
        <p:spPr>
          <a:xfrm>
            <a:off x="1894799" y="358722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64" name="矩形 63"/>
          <p:cNvSpPr/>
          <p:nvPr/>
        </p:nvSpPr>
        <p:spPr>
          <a:xfrm>
            <a:off x="1896448" y="31774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65" name="矩形 64"/>
          <p:cNvSpPr/>
          <p:nvPr/>
        </p:nvSpPr>
        <p:spPr>
          <a:xfrm>
            <a:off x="1900818" y="281524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66" name="矩形 65"/>
          <p:cNvSpPr/>
          <p:nvPr/>
        </p:nvSpPr>
        <p:spPr>
          <a:xfrm>
            <a:off x="1890288" y="245969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cxnSp>
        <p:nvCxnSpPr>
          <p:cNvPr id="67" name="直线箭头连接符 66"/>
          <p:cNvCxnSpPr/>
          <p:nvPr/>
        </p:nvCxnSpPr>
        <p:spPr>
          <a:xfrm flipH="1">
            <a:off x="5268435" y="1867999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5454821" y="1701732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87531-C393-4476-8E69-9BDEBF172837}"/>
              </a:ext>
            </a:extLst>
          </p:cNvPr>
          <p:cNvSpPr txBox="1"/>
          <p:nvPr/>
        </p:nvSpPr>
        <p:spPr>
          <a:xfrm>
            <a:off x="8721625" y="330407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0x10</a:t>
            </a:r>
          </a:p>
        </p:txBody>
      </p:sp>
    </p:spTree>
    <p:extLst>
      <p:ext uri="{BB962C8B-B14F-4D97-AF65-F5344CB8AC3E}">
        <p14:creationId xmlns:p14="http://schemas.microsoft.com/office/powerpoint/2010/main" val="229291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swap function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853637" y="1531114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void </a:t>
            </a:r>
          </a:p>
          <a:p>
            <a:r>
              <a:rPr lang="en-US" altLang="zh-CN" sz="2000" b="1" dirty="0">
                <a:latin typeface="Consolas"/>
                <a:cs typeface="Consolas"/>
              </a:rPr>
              <a:t>swap</a:t>
            </a:r>
            <a:r>
              <a:rPr lang="en-US" altLang="zh-CN" sz="2000" dirty="0">
                <a:latin typeface="Consolas"/>
                <a:cs typeface="Consolas"/>
              </a:rPr>
              <a:t>(long *a, long* b) {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 long tmp = *a;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*a = *b;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*b = tmp;</a:t>
            </a:r>
          </a:p>
          <a:p>
            <a:endParaRPr lang="mr-IN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}</a:t>
            </a:r>
            <a:endParaRPr lang="zh-CN" altLang="en-US" sz="2000" dirty="0">
              <a:latin typeface="Consolas"/>
              <a:cs typeface="Consolas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5355690" y="2677410"/>
            <a:ext cx="1197510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029989" y="1750866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mr-IN" altLang="zh-CN" sz="2000" b="1" dirty="0">
                <a:latin typeface="Consolas"/>
                <a:cs typeface="Consolas"/>
              </a:rPr>
              <a:t>swap</a:t>
            </a:r>
            <a:r>
              <a:rPr lang="mr-IN" altLang="zh-CN" sz="2000" dirty="0">
                <a:latin typeface="Consolas"/>
                <a:cs typeface="Consolas"/>
              </a:rPr>
              <a:t>: 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</a:t>
            </a:r>
            <a:r>
              <a:rPr lang="mr-IN" altLang="zh-CN" sz="2000" dirty="0">
                <a:latin typeface="Consolas"/>
                <a:cs typeface="Consolas"/>
              </a:rPr>
              <a:t>    </a:t>
            </a:r>
          </a:p>
        </p:txBody>
      </p:sp>
      <p:sp>
        <p:nvSpPr>
          <p:cNvPr id="8" name="矩形 7"/>
          <p:cNvSpPr/>
          <p:nvPr/>
        </p:nvSpPr>
        <p:spPr>
          <a:xfrm>
            <a:off x="4833304" y="3081719"/>
            <a:ext cx="25843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Arial"/>
                <a:cs typeface="Arial"/>
              </a:rPr>
              <a:t>gcc</a:t>
            </a:r>
            <a:r>
              <a:rPr lang="en-US" altLang="zh-CN" dirty="0">
                <a:latin typeface="Arial"/>
                <a:cs typeface="Arial"/>
              </a:rPr>
              <a:t>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S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O3 </a:t>
            </a:r>
            <a:r>
              <a:rPr lang="en-US" altLang="zh-CN" dirty="0" err="1">
                <a:latin typeface="Arial"/>
                <a:cs typeface="Arial"/>
              </a:rPr>
              <a:t>swap.c</a:t>
            </a:r>
            <a:endParaRPr lang="zh-CN" altLang="en-US" dirty="0">
              <a:latin typeface="Arial"/>
              <a:cs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EE70F3-72FD-5A4E-BC45-04E0B6ED0FAE}"/>
              </a:ext>
            </a:extLst>
          </p:cNvPr>
          <p:cNvGrpSpPr/>
          <p:nvPr/>
        </p:nvGrpSpPr>
        <p:grpSpPr>
          <a:xfrm>
            <a:off x="4310063" y="3066434"/>
            <a:ext cx="3877215" cy="2165520"/>
            <a:chOff x="2786062" y="3066434"/>
            <a:chExt cx="3877215" cy="216552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2C33AD7C-71CC-A042-89DF-EAAC9E7D0ADB}"/>
                </a:ext>
              </a:extLst>
            </p:cNvPr>
            <p:cNvSpPr/>
            <p:nvPr/>
          </p:nvSpPr>
          <p:spPr>
            <a:xfrm>
              <a:off x="3831690" y="3066434"/>
              <a:ext cx="311685" cy="491154"/>
            </a:xfrm>
            <a:prstGeom prst="roundRect">
              <a:avLst/>
            </a:prstGeom>
            <a:noFill/>
            <a:ln w="38100">
              <a:solidFill>
                <a:srgbClr val="FF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F85C83-A9AE-D849-B93B-4B58A898B64C}"/>
                </a:ext>
              </a:extLst>
            </p:cNvPr>
            <p:cNvCxnSpPr/>
            <p:nvPr/>
          </p:nvCxnSpPr>
          <p:spPr>
            <a:xfrm flipV="1">
              <a:off x="4000502" y="3671888"/>
              <a:ext cx="0" cy="771525"/>
            </a:xfrm>
            <a:prstGeom prst="straightConnector1">
              <a:avLst/>
            </a:prstGeom>
            <a:ln>
              <a:solidFill>
                <a:srgbClr val="FF00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3E4A85-C846-2849-9CAB-D222582B206A}"/>
                </a:ext>
              </a:extLst>
            </p:cNvPr>
            <p:cNvSpPr txBox="1"/>
            <p:nvPr/>
          </p:nvSpPr>
          <p:spPr>
            <a:xfrm>
              <a:off x="2786062" y="4585623"/>
              <a:ext cx="387721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Makes </a:t>
              </a:r>
              <a:r>
                <a:rPr lang="en-US" dirty="0" err="1"/>
                <a:t>gcc</a:t>
              </a:r>
              <a:r>
                <a:rPr lang="en-US" dirty="0"/>
                <a:t> output assembly </a:t>
              </a:r>
            </a:p>
            <a:p>
              <a:r>
                <a:rPr lang="en-US" dirty="0"/>
                <a:t>(human readable machine instructions)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182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swap function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853637" y="1531114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void </a:t>
            </a:r>
          </a:p>
          <a:p>
            <a:r>
              <a:rPr lang="en-US" altLang="zh-CN" sz="2000" b="1" dirty="0">
                <a:latin typeface="Consolas"/>
                <a:cs typeface="Consolas"/>
              </a:rPr>
              <a:t>swap</a:t>
            </a:r>
            <a:r>
              <a:rPr lang="en-US" altLang="zh-CN" sz="2000" dirty="0">
                <a:latin typeface="Consolas"/>
                <a:cs typeface="Consolas"/>
              </a:rPr>
              <a:t>(long *a, long* b) {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 long tmp = *a;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*a = *b;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*b = tmp;</a:t>
            </a:r>
          </a:p>
          <a:p>
            <a:endParaRPr lang="mr-IN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}</a:t>
            </a:r>
            <a:endParaRPr lang="zh-CN" altLang="en-US" sz="2000" dirty="0">
              <a:latin typeface="Consolas"/>
              <a:cs typeface="Consolas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5355690" y="2677410"/>
            <a:ext cx="1197510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029989" y="1750867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mr-IN" altLang="zh-CN" sz="2000" b="1" dirty="0">
                <a:latin typeface="Consolas"/>
                <a:cs typeface="Consolas"/>
              </a:rPr>
              <a:t>swap</a:t>
            </a:r>
            <a:r>
              <a:rPr lang="mr-IN" altLang="zh-CN" sz="2000" dirty="0">
                <a:latin typeface="Consolas"/>
                <a:cs typeface="Consolas"/>
              </a:rPr>
              <a:t>: 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</a:t>
            </a:r>
            <a:r>
              <a:rPr lang="mr-IN" altLang="zh-CN" sz="2000" dirty="0">
                <a:latin typeface="Consolas"/>
                <a:cs typeface="Consolas"/>
              </a:rPr>
              <a:t>movq    (%rdi), %rax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movq    (%rsi), %rdx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movq   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%rdx, (%rdi)</a:t>
            </a:r>
            <a:endParaRPr lang="en-US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    movq   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%rax, (%rsi)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</a:t>
            </a:r>
          </a:p>
        </p:txBody>
      </p:sp>
      <p:sp>
        <p:nvSpPr>
          <p:cNvPr id="8" name="矩形 7"/>
          <p:cNvSpPr/>
          <p:nvPr/>
        </p:nvSpPr>
        <p:spPr>
          <a:xfrm>
            <a:off x="4833304" y="3081719"/>
            <a:ext cx="25843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Arial"/>
                <a:cs typeface="Arial"/>
              </a:rPr>
              <a:t>gcc</a:t>
            </a:r>
            <a:r>
              <a:rPr lang="en-US" altLang="zh-CN" dirty="0">
                <a:latin typeface="Arial"/>
                <a:cs typeface="Arial"/>
              </a:rPr>
              <a:t>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S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O3 </a:t>
            </a:r>
            <a:r>
              <a:rPr lang="en-US" altLang="zh-CN" dirty="0" err="1">
                <a:latin typeface="Arial"/>
                <a:cs typeface="Arial"/>
              </a:rPr>
              <a:t>swap.c</a:t>
            </a:r>
            <a:endParaRPr lang="zh-CN" altLang="en-US" dirty="0">
              <a:latin typeface="Arial"/>
              <a:cs typeface="Arial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7706331" y="1381534"/>
            <a:ext cx="1553937" cy="740832"/>
            <a:chOff x="6182330" y="1381534"/>
            <a:chExt cx="1553937" cy="740832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7118034" y="1750866"/>
              <a:ext cx="618233" cy="371500"/>
            </a:xfrm>
            <a:prstGeom prst="straightConnector1">
              <a:avLst/>
            </a:prstGeom>
            <a:ln>
              <a:solidFill>
                <a:srgbClr val="FF66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182330" y="1381534"/>
              <a:ext cx="1394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%</a:t>
              </a:r>
              <a:r>
                <a:rPr lang="en-US" dirty="0" err="1">
                  <a:solidFill>
                    <a:srgbClr val="FF6600"/>
                  </a:solidFill>
                </a:rPr>
                <a:t>rdi</a:t>
              </a:r>
              <a:r>
                <a:rPr lang="en-US" dirty="0">
                  <a:solidFill>
                    <a:srgbClr val="FF6600"/>
                  </a:solidFill>
                </a:rPr>
                <a:t> stores a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9289032" y="1381535"/>
            <a:ext cx="1373994" cy="1091775"/>
            <a:chOff x="7765032" y="1381534"/>
            <a:chExt cx="1373994" cy="1091775"/>
          </a:xfrm>
        </p:grpSpPr>
        <p:cxnSp>
          <p:nvCxnSpPr>
            <p:cNvPr id="10" name="Straight Arrow Connector 9"/>
            <p:cNvCxnSpPr/>
            <p:nvPr/>
          </p:nvCxnSpPr>
          <p:spPr>
            <a:xfrm flipH="1">
              <a:off x="8003611" y="1750866"/>
              <a:ext cx="467295" cy="722443"/>
            </a:xfrm>
            <a:prstGeom prst="straightConnector1">
              <a:avLst/>
            </a:prstGeom>
            <a:ln>
              <a:solidFill>
                <a:srgbClr val="FF66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7765032" y="1381534"/>
              <a:ext cx="1373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%</a:t>
              </a:r>
              <a:r>
                <a:rPr lang="en-US" dirty="0" err="1">
                  <a:solidFill>
                    <a:srgbClr val="FF6600"/>
                  </a:solidFill>
                </a:rPr>
                <a:t>rsi</a:t>
              </a:r>
              <a:r>
                <a:rPr lang="en-US" dirty="0">
                  <a:solidFill>
                    <a:srgbClr val="FF6600"/>
                  </a:solidFill>
                </a:rPr>
                <a:t> stores b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584474" y="2439886"/>
            <a:ext cx="2602636" cy="1645773"/>
            <a:chOff x="6060474" y="2439885"/>
            <a:chExt cx="2602636" cy="1645773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7920066" y="2439885"/>
              <a:ext cx="467295" cy="1169808"/>
            </a:xfrm>
            <a:prstGeom prst="straightConnector1">
              <a:avLst/>
            </a:prstGeom>
            <a:ln>
              <a:solidFill>
                <a:srgbClr val="FF66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6060474" y="3716326"/>
              <a:ext cx="2602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%</a:t>
              </a:r>
              <a:r>
                <a:rPr lang="en-US" dirty="0" err="1">
                  <a:solidFill>
                    <a:srgbClr val="FF6600"/>
                  </a:solidFill>
                </a:rPr>
                <a:t>rax</a:t>
              </a:r>
              <a:r>
                <a:rPr lang="en-US" dirty="0">
                  <a:solidFill>
                    <a:srgbClr val="FF6600"/>
                  </a:solidFill>
                </a:rPr>
                <a:t> is local variable </a:t>
              </a:r>
              <a:r>
                <a:rPr lang="en-US" dirty="0" err="1">
                  <a:solidFill>
                    <a:srgbClr val="FF6600"/>
                  </a:solidFill>
                </a:rPr>
                <a:t>tmp</a:t>
              </a:r>
              <a:r>
                <a:rPr lang="en-US" dirty="0">
                  <a:solidFill>
                    <a:srgbClr val="FF6600"/>
                  </a:solidFill>
                </a:rPr>
                <a:t> 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1981200" y="2439886"/>
            <a:ext cx="2383330" cy="417789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7611576" y="2075794"/>
            <a:ext cx="2901866" cy="417789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99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swap function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853637" y="1531114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void </a:t>
            </a:r>
          </a:p>
          <a:p>
            <a:r>
              <a:rPr lang="en-US" altLang="zh-CN" sz="2000" b="1" dirty="0">
                <a:latin typeface="Consolas"/>
                <a:cs typeface="Consolas"/>
              </a:rPr>
              <a:t>swap</a:t>
            </a:r>
            <a:r>
              <a:rPr lang="en-US" altLang="zh-CN" sz="2000" dirty="0">
                <a:latin typeface="Consolas"/>
                <a:cs typeface="Consolas"/>
              </a:rPr>
              <a:t>(long *a, long* b) {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 long tmp = *a;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*a = *b;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*b = tmp;</a:t>
            </a:r>
          </a:p>
          <a:p>
            <a:endParaRPr lang="mr-IN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}</a:t>
            </a:r>
            <a:endParaRPr lang="zh-CN" altLang="en-US" sz="2000" dirty="0">
              <a:latin typeface="Consolas"/>
              <a:cs typeface="Consolas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5355690" y="2677410"/>
            <a:ext cx="1197510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029989" y="1750867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mr-IN" altLang="zh-CN" sz="2000" b="1" dirty="0">
                <a:latin typeface="Consolas"/>
                <a:cs typeface="Consolas"/>
              </a:rPr>
              <a:t>swap</a:t>
            </a:r>
            <a:r>
              <a:rPr lang="mr-IN" altLang="zh-CN" sz="2000" dirty="0">
                <a:latin typeface="Consolas"/>
                <a:cs typeface="Consolas"/>
              </a:rPr>
              <a:t>: 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</a:t>
            </a:r>
            <a:r>
              <a:rPr lang="mr-IN" altLang="zh-CN" sz="2000" dirty="0">
                <a:latin typeface="Consolas"/>
                <a:cs typeface="Consolas"/>
              </a:rPr>
              <a:t>movq    (%rdi), %rax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movq    (%rsi), %rdx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movq   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%rdx, (%rdi)</a:t>
            </a:r>
            <a:endParaRPr lang="en-US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    movq   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%rax, (%rsi)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</a:t>
            </a:r>
          </a:p>
        </p:txBody>
      </p:sp>
      <p:sp>
        <p:nvSpPr>
          <p:cNvPr id="8" name="矩形 7"/>
          <p:cNvSpPr/>
          <p:nvPr/>
        </p:nvSpPr>
        <p:spPr>
          <a:xfrm>
            <a:off x="4833304" y="3081719"/>
            <a:ext cx="25843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Arial"/>
                <a:cs typeface="Arial"/>
              </a:rPr>
              <a:t>gcc</a:t>
            </a:r>
            <a:r>
              <a:rPr lang="en-US" altLang="zh-CN" dirty="0">
                <a:latin typeface="Arial"/>
                <a:cs typeface="Arial"/>
              </a:rPr>
              <a:t>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S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O3 </a:t>
            </a:r>
            <a:r>
              <a:rPr lang="en-US" altLang="zh-CN" dirty="0" err="1">
                <a:latin typeface="Arial"/>
                <a:cs typeface="Arial"/>
              </a:rPr>
              <a:t>swap.c</a:t>
            </a:r>
            <a:endParaRPr lang="zh-CN" altLang="en-US" dirty="0">
              <a:latin typeface="Arial"/>
              <a:cs typeface="Arial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6425638" y="3066434"/>
            <a:ext cx="4110733" cy="1922772"/>
            <a:chOff x="6060474" y="2439885"/>
            <a:chExt cx="4110733" cy="1922772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7920066" y="2439885"/>
              <a:ext cx="467295" cy="1169808"/>
            </a:xfrm>
            <a:prstGeom prst="straightConnector1">
              <a:avLst/>
            </a:prstGeom>
            <a:ln>
              <a:solidFill>
                <a:srgbClr val="FF66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6060474" y="3716326"/>
              <a:ext cx="41107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Use two instructions and %</a:t>
              </a:r>
              <a:r>
                <a:rPr lang="en-US" dirty="0" err="1">
                  <a:solidFill>
                    <a:srgbClr val="FF6600"/>
                  </a:solidFill>
                </a:rPr>
                <a:t>rdx</a:t>
              </a:r>
              <a:r>
                <a:rPr lang="en-US" dirty="0">
                  <a:solidFill>
                    <a:srgbClr val="FF6600"/>
                  </a:solidFill>
                </a:rPr>
                <a:t> to perform</a:t>
              </a:r>
            </a:p>
            <a:p>
              <a:r>
                <a:rPr lang="en-US" dirty="0">
                  <a:solidFill>
                    <a:srgbClr val="FF6600"/>
                  </a:solidFill>
                </a:rPr>
                <a:t>memory to memory move 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1981200" y="2811102"/>
            <a:ext cx="2383330" cy="417789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7676985" y="2393312"/>
            <a:ext cx="2901866" cy="673122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22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swap function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853637" y="1531114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void </a:t>
            </a:r>
          </a:p>
          <a:p>
            <a:r>
              <a:rPr lang="en-US" altLang="zh-CN" sz="2000" b="1" dirty="0">
                <a:latin typeface="Consolas"/>
                <a:cs typeface="Consolas"/>
              </a:rPr>
              <a:t>swap</a:t>
            </a:r>
            <a:r>
              <a:rPr lang="en-US" altLang="zh-CN" sz="2000" dirty="0">
                <a:latin typeface="Consolas"/>
                <a:cs typeface="Consolas"/>
              </a:rPr>
              <a:t>(long *a, long* b) {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 long tmp = *a;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*a = *b;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*b = tmp;</a:t>
            </a:r>
          </a:p>
          <a:p>
            <a:endParaRPr lang="mr-IN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}</a:t>
            </a:r>
            <a:endParaRPr lang="zh-CN" altLang="en-US" sz="2000" dirty="0">
              <a:latin typeface="Consolas"/>
              <a:cs typeface="Consolas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5355690" y="2677410"/>
            <a:ext cx="1197510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029989" y="1750867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mr-IN" altLang="zh-CN" sz="2000" b="1" dirty="0">
                <a:latin typeface="Consolas"/>
                <a:cs typeface="Consolas"/>
              </a:rPr>
              <a:t>swap</a:t>
            </a:r>
            <a:r>
              <a:rPr lang="mr-IN" altLang="zh-CN" sz="2000" dirty="0">
                <a:latin typeface="Consolas"/>
                <a:cs typeface="Consolas"/>
              </a:rPr>
              <a:t>: 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</a:t>
            </a:r>
            <a:r>
              <a:rPr lang="mr-IN" altLang="zh-CN" sz="2000" dirty="0">
                <a:latin typeface="Consolas"/>
                <a:cs typeface="Consolas"/>
              </a:rPr>
              <a:t>movq    (%rdi), %rax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movq    (%rsi), %rdx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movq   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%rdx, (%rdi)</a:t>
            </a:r>
            <a:endParaRPr lang="en-US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    movq   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%rax, (%rsi)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</a:t>
            </a:r>
          </a:p>
        </p:txBody>
      </p:sp>
      <p:sp>
        <p:nvSpPr>
          <p:cNvPr id="8" name="矩形 7"/>
          <p:cNvSpPr/>
          <p:nvPr/>
        </p:nvSpPr>
        <p:spPr>
          <a:xfrm>
            <a:off x="4833304" y="3081719"/>
            <a:ext cx="25843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Arial"/>
                <a:cs typeface="Arial"/>
              </a:rPr>
              <a:t>gcc</a:t>
            </a:r>
            <a:r>
              <a:rPr lang="en-US" altLang="zh-CN" dirty="0">
                <a:latin typeface="Arial"/>
                <a:cs typeface="Arial"/>
              </a:rPr>
              <a:t>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S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O3 </a:t>
            </a:r>
            <a:r>
              <a:rPr lang="en-US" altLang="zh-CN" dirty="0" err="1">
                <a:latin typeface="Arial"/>
                <a:cs typeface="Arial"/>
              </a:rPr>
              <a:t>swap.c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981200" y="3141754"/>
            <a:ext cx="2383330" cy="417789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7676985" y="3081719"/>
            <a:ext cx="2901866" cy="402504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256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srgbClr val="0000FF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0048</a:t>
            </a:r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55170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68726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240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7" name="矩形 5"/>
          <p:cNvSpPr/>
          <p:nvPr/>
        </p:nvSpPr>
        <p:spPr>
          <a:xfrm>
            <a:off x="4279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58" name="矩形 6"/>
          <p:cNvSpPr/>
          <p:nvPr/>
        </p:nvSpPr>
        <p:spPr>
          <a:xfrm>
            <a:off x="3859743" y="25042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2" name="矩形 7"/>
          <p:cNvSpPr/>
          <p:nvPr/>
        </p:nvSpPr>
        <p:spPr>
          <a:xfrm>
            <a:off x="3859743" y="21308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4" name="矩形 8"/>
          <p:cNvSpPr/>
          <p:nvPr/>
        </p:nvSpPr>
        <p:spPr>
          <a:xfrm>
            <a:off x="3859743" y="17600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5" name="矩形 10"/>
          <p:cNvSpPr/>
          <p:nvPr/>
        </p:nvSpPr>
        <p:spPr>
          <a:xfrm>
            <a:off x="3859743" y="28772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1"/>
          <p:cNvSpPr/>
          <p:nvPr/>
        </p:nvSpPr>
        <p:spPr>
          <a:xfrm>
            <a:off x="3864113" y="4301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2"/>
          <p:cNvSpPr/>
          <p:nvPr/>
        </p:nvSpPr>
        <p:spPr>
          <a:xfrm>
            <a:off x="3868482" y="46868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3"/>
          <p:cNvSpPr/>
          <p:nvPr/>
        </p:nvSpPr>
        <p:spPr>
          <a:xfrm>
            <a:off x="3876063" y="50528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14"/>
          <p:cNvSpPr/>
          <p:nvPr/>
        </p:nvSpPr>
        <p:spPr>
          <a:xfrm>
            <a:off x="3876063" y="54204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1" name="矩形 15"/>
          <p:cNvSpPr/>
          <p:nvPr/>
        </p:nvSpPr>
        <p:spPr>
          <a:xfrm>
            <a:off x="3876063" y="57889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2" name="矩形 18"/>
          <p:cNvSpPr/>
          <p:nvPr/>
        </p:nvSpPr>
        <p:spPr>
          <a:xfrm>
            <a:off x="3275678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3" name="矩形 24"/>
          <p:cNvSpPr/>
          <p:nvPr/>
        </p:nvSpPr>
        <p:spPr>
          <a:xfrm>
            <a:off x="3859743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4" name="直线箭头连接符 3"/>
          <p:cNvCxnSpPr/>
          <p:nvPr/>
        </p:nvCxnSpPr>
        <p:spPr>
          <a:xfrm flipH="1">
            <a:off x="5819983" y="305484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矩形 55"/>
          <p:cNvSpPr/>
          <p:nvPr/>
        </p:nvSpPr>
        <p:spPr>
          <a:xfrm>
            <a:off x="6006368" y="2888573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6" name="矩形 58"/>
          <p:cNvSpPr/>
          <p:nvPr/>
        </p:nvSpPr>
        <p:spPr>
          <a:xfrm>
            <a:off x="3854932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7" name="矩形 60"/>
          <p:cNvSpPr/>
          <p:nvPr/>
        </p:nvSpPr>
        <p:spPr>
          <a:xfrm>
            <a:off x="3859645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8" name="矩形 57"/>
          <p:cNvSpPr/>
          <p:nvPr/>
        </p:nvSpPr>
        <p:spPr>
          <a:xfrm>
            <a:off x="2446347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9" name="矩形 63"/>
          <p:cNvSpPr/>
          <p:nvPr/>
        </p:nvSpPr>
        <p:spPr>
          <a:xfrm>
            <a:off x="2435108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90" name="矩形 64"/>
          <p:cNvSpPr/>
          <p:nvPr/>
        </p:nvSpPr>
        <p:spPr>
          <a:xfrm>
            <a:off x="2435108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91" name="矩形 65"/>
          <p:cNvSpPr/>
          <p:nvPr/>
        </p:nvSpPr>
        <p:spPr>
          <a:xfrm>
            <a:off x="2435108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92" name="矩形 66"/>
          <p:cNvSpPr/>
          <p:nvPr/>
        </p:nvSpPr>
        <p:spPr>
          <a:xfrm>
            <a:off x="2435108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3" name="矩形 67"/>
          <p:cNvSpPr/>
          <p:nvPr/>
        </p:nvSpPr>
        <p:spPr>
          <a:xfrm>
            <a:off x="2435108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4" name="矩形 68"/>
          <p:cNvSpPr/>
          <p:nvPr/>
        </p:nvSpPr>
        <p:spPr>
          <a:xfrm>
            <a:off x="2446347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5" name="矩形 69"/>
          <p:cNvSpPr/>
          <p:nvPr/>
        </p:nvSpPr>
        <p:spPr>
          <a:xfrm>
            <a:off x="2447996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6" name="矩形 70"/>
          <p:cNvSpPr/>
          <p:nvPr/>
        </p:nvSpPr>
        <p:spPr>
          <a:xfrm>
            <a:off x="2452366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7" name="矩形 71"/>
          <p:cNvSpPr/>
          <p:nvPr/>
        </p:nvSpPr>
        <p:spPr>
          <a:xfrm>
            <a:off x="2441836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8" name="矩形 72"/>
          <p:cNvSpPr/>
          <p:nvPr/>
        </p:nvSpPr>
        <p:spPr>
          <a:xfrm>
            <a:off x="2465055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1561213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73963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15316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79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3859743" y="25042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59743" y="21308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59743" y="17600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59743" y="28772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64113" y="4301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868482" y="46868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76063" y="50528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76063" y="54204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76063" y="57889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275678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3859743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55170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68726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240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167149" y="2460815"/>
            <a:ext cx="1700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srgbClr val="0000FF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 (%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rdi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), 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rax</a:t>
            </a:r>
            <a:endParaRPr lang="zh-CN" altLang="en-US" sz="14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5819983" y="305484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6006368" y="2888573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59" name="矩形 58"/>
          <p:cNvSpPr/>
          <p:nvPr/>
        </p:nvSpPr>
        <p:spPr>
          <a:xfrm>
            <a:off x="3854932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859645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446347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64" name="矩形 63"/>
          <p:cNvSpPr/>
          <p:nvPr/>
        </p:nvSpPr>
        <p:spPr>
          <a:xfrm>
            <a:off x="2435108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65" name="矩形 64"/>
          <p:cNvSpPr/>
          <p:nvPr/>
        </p:nvSpPr>
        <p:spPr>
          <a:xfrm>
            <a:off x="2435108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66" name="矩形 65"/>
          <p:cNvSpPr/>
          <p:nvPr/>
        </p:nvSpPr>
        <p:spPr>
          <a:xfrm>
            <a:off x="2435108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67" name="矩形 66"/>
          <p:cNvSpPr/>
          <p:nvPr/>
        </p:nvSpPr>
        <p:spPr>
          <a:xfrm>
            <a:off x="2435108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2435108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2446347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2447996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2452366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2441836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2465055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61213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73963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02215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55170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68726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240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167149" y="2460815"/>
            <a:ext cx="1700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(%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),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68" name="直线箭头连接符 54"/>
          <p:cNvCxnSpPr>
            <a:stCxn id="33" idx="1"/>
          </p:cNvCxnSpPr>
          <p:nvPr/>
        </p:nvCxnSpPr>
        <p:spPr>
          <a:xfrm rot="10800000" flipV="1">
            <a:off x="5276013" y="3048424"/>
            <a:ext cx="2264314" cy="2558726"/>
          </a:xfrm>
          <a:prstGeom prst="bentConnector3">
            <a:avLst>
              <a:gd name="adj1" fmla="val 35979"/>
            </a:avLst>
          </a:prstGeom>
          <a:ln w="38100" cmpd="sng"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矩形 5"/>
          <p:cNvSpPr/>
          <p:nvPr/>
        </p:nvSpPr>
        <p:spPr>
          <a:xfrm>
            <a:off x="4279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57" name="矩形 6"/>
          <p:cNvSpPr/>
          <p:nvPr/>
        </p:nvSpPr>
        <p:spPr>
          <a:xfrm>
            <a:off x="3859743" y="25042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8" name="矩形 7"/>
          <p:cNvSpPr/>
          <p:nvPr/>
        </p:nvSpPr>
        <p:spPr>
          <a:xfrm>
            <a:off x="3859743" y="21308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0" name="矩形 8"/>
          <p:cNvSpPr/>
          <p:nvPr/>
        </p:nvSpPr>
        <p:spPr>
          <a:xfrm>
            <a:off x="3859743" y="17600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2" name="矩形 10"/>
          <p:cNvSpPr/>
          <p:nvPr/>
        </p:nvSpPr>
        <p:spPr>
          <a:xfrm>
            <a:off x="3859743" y="28772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11"/>
          <p:cNvSpPr/>
          <p:nvPr/>
        </p:nvSpPr>
        <p:spPr>
          <a:xfrm>
            <a:off x="3864113" y="4301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4" name="矩形 12"/>
          <p:cNvSpPr/>
          <p:nvPr/>
        </p:nvSpPr>
        <p:spPr>
          <a:xfrm>
            <a:off x="3868482" y="46868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5" name="矩形 13"/>
          <p:cNvSpPr/>
          <p:nvPr/>
        </p:nvSpPr>
        <p:spPr>
          <a:xfrm>
            <a:off x="3876063" y="50528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14"/>
          <p:cNvSpPr/>
          <p:nvPr/>
        </p:nvSpPr>
        <p:spPr>
          <a:xfrm>
            <a:off x="3876063" y="54204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7" name="矩形 15"/>
          <p:cNvSpPr/>
          <p:nvPr/>
        </p:nvSpPr>
        <p:spPr>
          <a:xfrm>
            <a:off x="3876063" y="57889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9" name="矩形 18"/>
          <p:cNvSpPr/>
          <p:nvPr/>
        </p:nvSpPr>
        <p:spPr>
          <a:xfrm>
            <a:off x="3275678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70" name="矩形 24"/>
          <p:cNvSpPr/>
          <p:nvPr/>
        </p:nvSpPr>
        <p:spPr>
          <a:xfrm>
            <a:off x="3859743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71" name="直线箭头连接符 3"/>
          <p:cNvCxnSpPr/>
          <p:nvPr/>
        </p:nvCxnSpPr>
        <p:spPr>
          <a:xfrm flipH="1">
            <a:off x="5819983" y="305484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矩形 55"/>
          <p:cNvSpPr/>
          <p:nvPr/>
        </p:nvSpPr>
        <p:spPr>
          <a:xfrm>
            <a:off x="6006368" y="2888573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73" name="矩形 58"/>
          <p:cNvSpPr/>
          <p:nvPr/>
        </p:nvSpPr>
        <p:spPr>
          <a:xfrm>
            <a:off x="3854932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4" name="矩形 60"/>
          <p:cNvSpPr/>
          <p:nvPr/>
        </p:nvSpPr>
        <p:spPr>
          <a:xfrm>
            <a:off x="3859645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5" name="矩形 57"/>
          <p:cNvSpPr/>
          <p:nvPr/>
        </p:nvSpPr>
        <p:spPr>
          <a:xfrm>
            <a:off x="2446347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76" name="矩形 63"/>
          <p:cNvSpPr/>
          <p:nvPr/>
        </p:nvSpPr>
        <p:spPr>
          <a:xfrm>
            <a:off x="2435108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77" name="矩形 64"/>
          <p:cNvSpPr/>
          <p:nvPr/>
        </p:nvSpPr>
        <p:spPr>
          <a:xfrm>
            <a:off x="2435108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78" name="矩形 65"/>
          <p:cNvSpPr/>
          <p:nvPr/>
        </p:nvSpPr>
        <p:spPr>
          <a:xfrm>
            <a:off x="2435108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79" name="矩形 66"/>
          <p:cNvSpPr/>
          <p:nvPr/>
        </p:nvSpPr>
        <p:spPr>
          <a:xfrm>
            <a:off x="2435108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80" name="矩形 67"/>
          <p:cNvSpPr/>
          <p:nvPr/>
        </p:nvSpPr>
        <p:spPr>
          <a:xfrm>
            <a:off x="2435108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81" name="矩形 68"/>
          <p:cNvSpPr/>
          <p:nvPr/>
        </p:nvSpPr>
        <p:spPr>
          <a:xfrm>
            <a:off x="2446347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82" name="矩形 69"/>
          <p:cNvSpPr/>
          <p:nvPr/>
        </p:nvSpPr>
        <p:spPr>
          <a:xfrm>
            <a:off x="2447996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83" name="矩形 70"/>
          <p:cNvSpPr/>
          <p:nvPr/>
        </p:nvSpPr>
        <p:spPr>
          <a:xfrm>
            <a:off x="2452366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84" name="矩形 71"/>
          <p:cNvSpPr/>
          <p:nvPr/>
        </p:nvSpPr>
        <p:spPr>
          <a:xfrm>
            <a:off x="2441836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85" name="矩形 72"/>
          <p:cNvSpPr/>
          <p:nvPr/>
        </p:nvSpPr>
        <p:spPr>
          <a:xfrm>
            <a:off x="2465055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1561213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73963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32628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srgbClr val="0000FF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0050</a:t>
            </a:r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55170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68726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240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	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167150" y="2460815"/>
            <a:ext cx="16908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srgbClr val="0000FF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 (%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rsi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), 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rdx</a:t>
            </a:r>
            <a:endParaRPr lang="zh-CN" altLang="en-US" sz="14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55" name="矩形 5"/>
          <p:cNvSpPr/>
          <p:nvPr/>
        </p:nvSpPr>
        <p:spPr>
          <a:xfrm>
            <a:off x="4279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57" name="矩形 6"/>
          <p:cNvSpPr/>
          <p:nvPr/>
        </p:nvSpPr>
        <p:spPr>
          <a:xfrm>
            <a:off x="3859743" y="25042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8" name="矩形 7"/>
          <p:cNvSpPr/>
          <p:nvPr/>
        </p:nvSpPr>
        <p:spPr>
          <a:xfrm>
            <a:off x="3859743" y="21308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2" name="矩形 8"/>
          <p:cNvSpPr/>
          <p:nvPr/>
        </p:nvSpPr>
        <p:spPr>
          <a:xfrm>
            <a:off x="3859743" y="17600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4" name="矩形 10"/>
          <p:cNvSpPr/>
          <p:nvPr/>
        </p:nvSpPr>
        <p:spPr>
          <a:xfrm>
            <a:off x="3859743" y="28772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5" name="矩形 11"/>
          <p:cNvSpPr/>
          <p:nvPr/>
        </p:nvSpPr>
        <p:spPr>
          <a:xfrm>
            <a:off x="3864113" y="4301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8" name="矩形 12"/>
          <p:cNvSpPr/>
          <p:nvPr/>
        </p:nvSpPr>
        <p:spPr>
          <a:xfrm>
            <a:off x="3868482" y="46868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2" name="矩形 13"/>
          <p:cNvSpPr/>
          <p:nvPr/>
        </p:nvSpPr>
        <p:spPr>
          <a:xfrm>
            <a:off x="3876063" y="50528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4"/>
          <p:cNvSpPr/>
          <p:nvPr/>
        </p:nvSpPr>
        <p:spPr>
          <a:xfrm>
            <a:off x="3876063" y="54204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5"/>
          <p:cNvSpPr/>
          <p:nvPr/>
        </p:nvSpPr>
        <p:spPr>
          <a:xfrm>
            <a:off x="3876063" y="57889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8"/>
          <p:cNvSpPr/>
          <p:nvPr/>
        </p:nvSpPr>
        <p:spPr>
          <a:xfrm>
            <a:off x="3275678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0" name="矩形 24"/>
          <p:cNvSpPr/>
          <p:nvPr/>
        </p:nvSpPr>
        <p:spPr>
          <a:xfrm>
            <a:off x="3859743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1" name="直线箭头连接符 3"/>
          <p:cNvCxnSpPr/>
          <p:nvPr/>
        </p:nvCxnSpPr>
        <p:spPr>
          <a:xfrm flipH="1">
            <a:off x="5819983" y="270388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矩形 55"/>
          <p:cNvSpPr/>
          <p:nvPr/>
        </p:nvSpPr>
        <p:spPr>
          <a:xfrm>
            <a:off x="6006368" y="2537621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3" name="矩形 58"/>
          <p:cNvSpPr/>
          <p:nvPr/>
        </p:nvSpPr>
        <p:spPr>
          <a:xfrm>
            <a:off x="3854932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4" name="矩形 60"/>
          <p:cNvSpPr/>
          <p:nvPr/>
        </p:nvSpPr>
        <p:spPr>
          <a:xfrm>
            <a:off x="3859645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5" name="矩形 57"/>
          <p:cNvSpPr/>
          <p:nvPr/>
        </p:nvSpPr>
        <p:spPr>
          <a:xfrm>
            <a:off x="2446347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6" name="矩形 63"/>
          <p:cNvSpPr/>
          <p:nvPr/>
        </p:nvSpPr>
        <p:spPr>
          <a:xfrm>
            <a:off x="2435108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7" name="矩形 64"/>
          <p:cNvSpPr/>
          <p:nvPr/>
        </p:nvSpPr>
        <p:spPr>
          <a:xfrm>
            <a:off x="2435108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8" name="矩形 65"/>
          <p:cNvSpPr/>
          <p:nvPr/>
        </p:nvSpPr>
        <p:spPr>
          <a:xfrm>
            <a:off x="2435108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89" name="矩形 66"/>
          <p:cNvSpPr/>
          <p:nvPr/>
        </p:nvSpPr>
        <p:spPr>
          <a:xfrm>
            <a:off x="2435108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0" name="矩形 67"/>
          <p:cNvSpPr/>
          <p:nvPr/>
        </p:nvSpPr>
        <p:spPr>
          <a:xfrm>
            <a:off x="2435108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1" name="矩形 68"/>
          <p:cNvSpPr/>
          <p:nvPr/>
        </p:nvSpPr>
        <p:spPr>
          <a:xfrm>
            <a:off x="2446347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2" name="矩形 69"/>
          <p:cNvSpPr/>
          <p:nvPr/>
        </p:nvSpPr>
        <p:spPr>
          <a:xfrm>
            <a:off x="2447996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3" name="矩形 70"/>
          <p:cNvSpPr/>
          <p:nvPr/>
        </p:nvSpPr>
        <p:spPr>
          <a:xfrm>
            <a:off x="2452366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4" name="矩形 71"/>
          <p:cNvSpPr/>
          <p:nvPr/>
        </p:nvSpPr>
        <p:spPr>
          <a:xfrm>
            <a:off x="2441836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5" name="矩形 72"/>
          <p:cNvSpPr/>
          <p:nvPr/>
        </p:nvSpPr>
        <p:spPr>
          <a:xfrm>
            <a:off x="2465055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1561213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573963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80736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600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55170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68726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240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srgbClr val="0000FF"/>
                </a:solidFill>
                <a:latin typeface="Arial"/>
                <a:cs typeface="Arial"/>
                <a:sym typeface="Courier New Bold" charset="0"/>
              </a:rPr>
              <a:t>0x2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167150" y="2460815"/>
            <a:ext cx="16908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(%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rsi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),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58" name="直线箭头连接符 54"/>
          <p:cNvCxnSpPr/>
          <p:nvPr/>
        </p:nvCxnSpPr>
        <p:spPr>
          <a:xfrm rot="10800000" flipV="1">
            <a:off x="5276013" y="4318552"/>
            <a:ext cx="2279156" cy="921027"/>
          </a:xfrm>
          <a:prstGeom prst="bentConnector3">
            <a:avLst>
              <a:gd name="adj1" fmla="val 50000"/>
            </a:avLst>
          </a:prstGeom>
          <a:ln w="38100" cmpd="sng"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矩形 5"/>
          <p:cNvSpPr/>
          <p:nvPr/>
        </p:nvSpPr>
        <p:spPr>
          <a:xfrm>
            <a:off x="4279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57" name="矩形 6"/>
          <p:cNvSpPr/>
          <p:nvPr/>
        </p:nvSpPr>
        <p:spPr>
          <a:xfrm>
            <a:off x="3859743" y="25042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0" name="矩形 7"/>
          <p:cNvSpPr/>
          <p:nvPr/>
        </p:nvSpPr>
        <p:spPr>
          <a:xfrm>
            <a:off x="3859743" y="21308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2" name="矩形 8"/>
          <p:cNvSpPr/>
          <p:nvPr/>
        </p:nvSpPr>
        <p:spPr>
          <a:xfrm>
            <a:off x="3859743" y="17600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4" name="矩形 10"/>
          <p:cNvSpPr/>
          <p:nvPr/>
        </p:nvSpPr>
        <p:spPr>
          <a:xfrm>
            <a:off x="3859743" y="28772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5" name="矩形 11"/>
          <p:cNvSpPr/>
          <p:nvPr/>
        </p:nvSpPr>
        <p:spPr>
          <a:xfrm>
            <a:off x="3864113" y="4301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6" name="矩形 12"/>
          <p:cNvSpPr/>
          <p:nvPr/>
        </p:nvSpPr>
        <p:spPr>
          <a:xfrm>
            <a:off x="3868482" y="46868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3"/>
          <p:cNvSpPr/>
          <p:nvPr/>
        </p:nvSpPr>
        <p:spPr>
          <a:xfrm>
            <a:off x="3876063" y="50528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4"/>
          <p:cNvSpPr/>
          <p:nvPr/>
        </p:nvSpPr>
        <p:spPr>
          <a:xfrm>
            <a:off x="3876063" y="54204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5"/>
          <p:cNvSpPr/>
          <p:nvPr/>
        </p:nvSpPr>
        <p:spPr>
          <a:xfrm>
            <a:off x="3876063" y="57889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18"/>
          <p:cNvSpPr/>
          <p:nvPr/>
        </p:nvSpPr>
        <p:spPr>
          <a:xfrm>
            <a:off x="3275678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1" name="矩形 24"/>
          <p:cNvSpPr/>
          <p:nvPr/>
        </p:nvSpPr>
        <p:spPr>
          <a:xfrm>
            <a:off x="3859743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2" name="直线箭头连接符 3"/>
          <p:cNvCxnSpPr/>
          <p:nvPr/>
        </p:nvCxnSpPr>
        <p:spPr>
          <a:xfrm flipH="1">
            <a:off x="5819983" y="2687176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矩形 55"/>
          <p:cNvSpPr/>
          <p:nvPr/>
        </p:nvSpPr>
        <p:spPr>
          <a:xfrm>
            <a:off x="6006368" y="2520909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4" name="矩形 58"/>
          <p:cNvSpPr/>
          <p:nvPr/>
        </p:nvSpPr>
        <p:spPr>
          <a:xfrm>
            <a:off x="3854932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5" name="矩形 60"/>
          <p:cNvSpPr/>
          <p:nvPr/>
        </p:nvSpPr>
        <p:spPr>
          <a:xfrm>
            <a:off x="3859645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6" name="矩形 57"/>
          <p:cNvSpPr/>
          <p:nvPr/>
        </p:nvSpPr>
        <p:spPr>
          <a:xfrm>
            <a:off x="2446347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7" name="矩形 63"/>
          <p:cNvSpPr/>
          <p:nvPr/>
        </p:nvSpPr>
        <p:spPr>
          <a:xfrm>
            <a:off x="2435108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8" name="矩形 64"/>
          <p:cNvSpPr/>
          <p:nvPr/>
        </p:nvSpPr>
        <p:spPr>
          <a:xfrm>
            <a:off x="2435108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9" name="矩形 65"/>
          <p:cNvSpPr/>
          <p:nvPr/>
        </p:nvSpPr>
        <p:spPr>
          <a:xfrm>
            <a:off x="2435108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90" name="矩形 66"/>
          <p:cNvSpPr/>
          <p:nvPr/>
        </p:nvSpPr>
        <p:spPr>
          <a:xfrm>
            <a:off x="2435108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1" name="矩形 67"/>
          <p:cNvSpPr/>
          <p:nvPr/>
        </p:nvSpPr>
        <p:spPr>
          <a:xfrm>
            <a:off x="2435108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2" name="矩形 68"/>
          <p:cNvSpPr/>
          <p:nvPr/>
        </p:nvSpPr>
        <p:spPr>
          <a:xfrm>
            <a:off x="2446347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3" name="矩形 69"/>
          <p:cNvSpPr/>
          <p:nvPr/>
        </p:nvSpPr>
        <p:spPr>
          <a:xfrm>
            <a:off x="2447996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4" name="矩形 70"/>
          <p:cNvSpPr/>
          <p:nvPr/>
        </p:nvSpPr>
        <p:spPr>
          <a:xfrm>
            <a:off x="2452366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5" name="矩形 71"/>
          <p:cNvSpPr/>
          <p:nvPr/>
        </p:nvSpPr>
        <p:spPr>
          <a:xfrm>
            <a:off x="2441836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6" name="矩形 72"/>
          <p:cNvSpPr/>
          <p:nvPr/>
        </p:nvSpPr>
        <p:spPr>
          <a:xfrm>
            <a:off x="2465055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1561213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73963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35165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srgbClr val="0000FF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0058</a:t>
            </a:r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55170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68726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240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0x2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167149" y="2460815"/>
            <a:ext cx="1700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srgbClr val="0000FF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 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rdx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, (%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rdi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lang="zh-CN" altLang="en-US" sz="14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58" name="矩形 5"/>
          <p:cNvSpPr/>
          <p:nvPr/>
        </p:nvSpPr>
        <p:spPr>
          <a:xfrm>
            <a:off x="4279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62" name="矩形 6"/>
          <p:cNvSpPr/>
          <p:nvPr/>
        </p:nvSpPr>
        <p:spPr>
          <a:xfrm>
            <a:off x="3859743" y="25042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1" name="矩形 7"/>
          <p:cNvSpPr/>
          <p:nvPr/>
        </p:nvSpPr>
        <p:spPr>
          <a:xfrm>
            <a:off x="3859743" y="21308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2" name="矩形 8"/>
          <p:cNvSpPr/>
          <p:nvPr/>
        </p:nvSpPr>
        <p:spPr>
          <a:xfrm>
            <a:off x="3859743" y="17600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3" name="矩形 10"/>
          <p:cNvSpPr/>
          <p:nvPr/>
        </p:nvSpPr>
        <p:spPr>
          <a:xfrm>
            <a:off x="3859743" y="28772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4" name="矩形 11"/>
          <p:cNvSpPr/>
          <p:nvPr/>
        </p:nvSpPr>
        <p:spPr>
          <a:xfrm>
            <a:off x="3864113" y="4301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5" name="矩形 12"/>
          <p:cNvSpPr/>
          <p:nvPr/>
        </p:nvSpPr>
        <p:spPr>
          <a:xfrm>
            <a:off x="3868482" y="46868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6" name="矩形 13"/>
          <p:cNvSpPr/>
          <p:nvPr/>
        </p:nvSpPr>
        <p:spPr>
          <a:xfrm>
            <a:off x="3876063" y="50528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4"/>
          <p:cNvSpPr/>
          <p:nvPr/>
        </p:nvSpPr>
        <p:spPr>
          <a:xfrm>
            <a:off x="3876063" y="54204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5"/>
          <p:cNvSpPr/>
          <p:nvPr/>
        </p:nvSpPr>
        <p:spPr>
          <a:xfrm>
            <a:off x="3876063" y="57889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8"/>
          <p:cNvSpPr/>
          <p:nvPr/>
        </p:nvSpPr>
        <p:spPr>
          <a:xfrm>
            <a:off x="3275678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0" name="矩形 24"/>
          <p:cNvSpPr/>
          <p:nvPr/>
        </p:nvSpPr>
        <p:spPr>
          <a:xfrm>
            <a:off x="3859743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1" name="直线箭头连接符 3"/>
          <p:cNvCxnSpPr/>
          <p:nvPr/>
        </p:nvCxnSpPr>
        <p:spPr>
          <a:xfrm flipH="1">
            <a:off x="5819983" y="233622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矩形 55"/>
          <p:cNvSpPr/>
          <p:nvPr/>
        </p:nvSpPr>
        <p:spPr>
          <a:xfrm>
            <a:off x="6006368" y="2169957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3" name="矩形 58"/>
          <p:cNvSpPr/>
          <p:nvPr/>
        </p:nvSpPr>
        <p:spPr>
          <a:xfrm>
            <a:off x="3854932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4" name="矩形 60"/>
          <p:cNvSpPr/>
          <p:nvPr/>
        </p:nvSpPr>
        <p:spPr>
          <a:xfrm>
            <a:off x="3859645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5" name="矩形 57"/>
          <p:cNvSpPr/>
          <p:nvPr/>
        </p:nvSpPr>
        <p:spPr>
          <a:xfrm>
            <a:off x="2446347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6" name="矩形 63"/>
          <p:cNvSpPr/>
          <p:nvPr/>
        </p:nvSpPr>
        <p:spPr>
          <a:xfrm>
            <a:off x="2435108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7" name="矩形 64"/>
          <p:cNvSpPr/>
          <p:nvPr/>
        </p:nvSpPr>
        <p:spPr>
          <a:xfrm>
            <a:off x="2435108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8" name="矩形 65"/>
          <p:cNvSpPr/>
          <p:nvPr/>
        </p:nvSpPr>
        <p:spPr>
          <a:xfrm>
            <a:off x="2435108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89" name="矩形 66"/>
          <p:cNvSpPr/>
          <p:nvPr/>
        </p:nvSpPr>
        <p:spPr>
          <a:xfrm>
            <a:off x="2435108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0" name="矩形 67"/>
          <p:cNvSpPr/>
          <p:nvPr/>
        </p:nvSpPr>
        <p:spPr>
          <a:xfrm>
            <a:off x="2435108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1" name="矩形 68"/>
          <p:cNvSpPr/>
          <p:nvPr/>
        </p:nvSpPr>
        <p:spPr>
          <a:xfrm>
            <a:off x="2446347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2" name="矩形 69"/>
          <p:cNvSpPr/>
          <p:nvPr/>
        </p:nvSpPr>
        <p:spPr>
          <a:xfrm>
            <a:off x="2447996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3" name="矩形 70"/>
          <p:cNvSpPr/>
          <p:nvPr/>
        </p:nvSpPr>
        <p:spPr>
          <a:xfrm>
            <a:off x="2452366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4" name="矩形 71"/>
          <p:cNvSpPr/>
          <p:nvPr/>
        </p:nvSpPr>
        <p:spPr>
          <a:xfrm>
            <a:off x="2441836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5" name="矩形 72"/>
          <p:cNvSpPr/>
          <p:nvPr/>
        </p:nvSpPr>
        <p:spPr>
          <a:xfrm>
            <a:off x="2465055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1561213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573963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07669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sz="1600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55170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68726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240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0x2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167150" y="2460815"/>
            <a:ext cx="16908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, (%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58" name="直线箭头连接符 54"/>
          <p:cNvCxnSpPr>
            <a:endCxn id="78" idx="3"/>
          </p:cNvCxnSpPr>
          <p:nvPr/>
        </p:nvCxnSpPr>
        <p:spPr>
          <a:xfrm rot="10800000" flipV="1">
            <a:off x="5827561" y="4318550"/>
            <a:ext cx="1727608" cy="1288600"/>
          </a:xfrm>
          <a:prstGeom prst="bentConnector3">
            <a:avLst>
              <a:gd name="adj1" fmla="val 50000"/>
            </a:avLst>
          </a:prstGeom>
          <a:ln w="38100" cmpd="sng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矩形 5"/>
          <p:cNvSpPr/>
          <p:nvPr/>
        </p:nvSpPr>
        <p:spPr>
          <a:xfrm>
            <a:off x="4279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62" name="矩形 6"/>
          <p:cNvSpPr/>
          <p:nvPr/>
        </p:nvSpPr>
        <p:spPr>
          <a:xfrm>
            <a:off x="3859743" y="25042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2" name="矩形 7"/>
          <p:cNvSpPr/>
          <p:nvPr/>
        </p:nvSpPr>
        <p:spPr>
          <a:xfrm>
            <a:off x="3859743" y="21308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3" name="矩形 8"/>
          <p:cNvSpPr/>
          <p:nvPr/>
        </p:nvSpPr>
        <p:spPr>
          <a:xfrm>
            <a:off x="3859743" y="17600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4" name="矩形 10"/>
          <p:cNvSpPr/>
          <p:nvPr/>
        </p:nvSpPr>
        <p:spPr>
          <a:xfrm>
            <a:off x="3859743" y="28772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5" name="矩形 11"/>
          <p:cNvSpPr/>
          <p:nvPr/>
        </p:nvSpPr>
        <p:spPr>
          <a:xfrm>
            <a:off x="3864113" y="4301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6" name="矩形 12"/>
          <p:cNvSpPr/>
          <p:nvPr/>
        </p:nvSpPr>
        <p:spPr>
          <a:xfrm>
            <a:off x="3868482" y="46868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3"/>
          <p:cNvSpPr/>
          <p:nvPr/>
        </p:nvSpPr>
        <p:spPr>
          <a:xfrm>
            <a:off x="3876063" y="50528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4"/>
          <p:cNvSpPr/>
          <p:nvPr/>
        </p:nvSpPr>
        <p:spPr>
          <a:xfrm>
            <a:off x="3876063" y="54204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5"/>
          <p:cNvSpPr/>
          <p:nvPr/>
        </p:nvSpPr>
        <p:spPr>
          <a:xfrm>
            <a:off x="3876063" y="57889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18"/>
          <p:cNvSpPr/>
          <p:nvPr/>
        </p:nvSpPr>
        <p:spPr>
          <a:xfrm>
            <a:off x="3275678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1" name="矩形 24"/>
          <p:cNvSpPr/>
          <p:nvPr/>
        </p:nvSpPr>
        <p:spPr>
          <a:xfrm>
            <a:off x="3859743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2" name="直线箭头连接符 3"/>
          <p:cNvCxnSpPr/>
          <p:nvPr/>
        </p:nvCxnSpPr>
        <p:spPr>
          <a:xfrm flipH="1">
            <a:off x="5819983" y="231951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矩形 55"/>
          <p:cNvSpPr/>
          <p:nvPr/>
        </p:nvSpPr>
        <p:spPr>
          <a:xfrm>
            <a:off x="6006368" y="2153245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4" name="矩形 58"/>
          <p:cNvSpPr/>
          <p:nvPr/>
        </p:nvSpPr>
        <p:spPr>
          <a:xfrm>
            <a:off x="3854932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5" name="矩形 60"/>
          <p:cNvSpPr/>
          <p:nvPr/>
        </p:nvSpPr>
        <p:spPr>
          <a:xfrm>
            <a:off x="3859645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6" name="矩形 57"/>
          <p:cNvSpPr/>
          <p:nvPr/>
        </p:nvSpPr>
        <p:spPr>
          <a:xfrm>
            <a:off x="2446347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7" name="矩形 63"/>
          <p:cNvSpPr/>
          <p:nvPr/>
        </p:nvSpPr>
        <p:spPr>
          <a:xfrm>
            <a:off x="2435108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8" name="矩形 64"/>
          <p:cNvSpPr/>
          <p:nvPr/>
        </p:nvSpPr>
        <p:spPr>
          <a:xfrm>
            <a:off x="2435108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9" name="矩形 65"/>
          <p:cNvSpPr/>
          <p:nvPr/>
        </p:nvSpPr>
        <p:spPr>
          <a:xfrm>
            <a:off x="2435108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90" name="矩形 66"/>
          <p:cNvSpPr/>
          <p:nvPr/>
        </p:nvSpPr>
        <p:spPr>
          <a:xfrm>
            <a:off x="2435108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1" name="矩形 67"/>
          <p:cNvSpPr/>
          <p:nvPr/>
        </p:nvSpPr>
        <p:spPr>
          <a:xfrm>
            <a:off x="2435108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2" name="矩形 68"/>
          <p:cNvSpPr/>
          <p:nvPr/>
        </p:nvSpPr>
        <p:spPr>
          <a:xfrm>
            <a:off x="2446347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3" name="矩形 69"/>
          <p:cNvSpPr/>
          <p:nvPr/>
        </p:nvSpPr>
        <p:spPr>
          <a:xfrm>
            <a:off x="2447996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4" name="矩形 70"/>
          <p:cNvSpPr/>
          <p:nvPr/>
        </p:nvSpPr>
        <p:spPr>
          <a:xfrm>
            <a:off x="2452366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5" name="矩形 71"/>
          <p:cNvSpPr/>
          <p:nvPr/>
        </p:nvSpPr>
        <p:spPr>
          <a:xfrm>
            <a:off x="2441836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6" name="矩形 72"/>
          <p:cNvSpPr/>
          <p:nvPr/>
        </p:nvSpPr>
        <p:spPr>
          <a:xfrm>
            <a:off x="2465055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1561213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73963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43028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srgbClr val="0000FF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0060</a:t>
            </a:r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55170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68726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240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0x2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167150" y="2460815"/>
            <a:ext cx="16908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srgbClr val="0000FF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 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rax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, (%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rsi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lang="zh-CN" altLang="en-US" sz="14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55" name="矩形 5"/>
          <p:cNvSpPr/>
          <p:nvPr/>
        </p:nvSpPr>
        <p:spPr>
          <a:xfrm>
            <a:off x="4279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58" name="矩形 6"/>
          <p:cNvSpPr/>
          <p:nvPr/>
        </p:nvSpPr>
        <p:spPr>
          <a:xfrm>
            <a:off x="3859743" y="25042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2" name="矩形 7"/>
          <p:cNvSpPr/>
          <p:nvPr/>
        </p:nvSpPr>
        <p:spPr>
          <a:xfrm>
            <a:off x="3859743" y="21308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2" name="矩形 8"/>
          <p:cNvSpPr/>
          <p:nvPr/>
        </p:nvSpPr>
        <p:spPr>
          <a:xfrm>
            <a:off x="3859743" y="17600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3" name="矩形 10"/>
          <p:cNvSpPr/>
          <p:nvPr/>
        </p:nvSpPr>
        <p:spPr>
          <a:xfrm>
            <a:off x="3859743" y="28772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4" name="矩形 11"/>
          <p:cNvSpPr/>
          <p:nvPr/>
        </p:nvSpPr>
        <p:spPr>
          <a:xfrm>
            <a:off x="3864113" y="4301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5" name="矩形 12"/>
          <p:cNvSpPr/>
          <p:nvPr/>
        </p:nvSpPr>
        <p:spPr>
          <a:xfrm>
            <a:off x="3868482" y="46868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6" name="矩形 13"/>
          <p:cNvSpPr/>
          <p:nvPr/>
        </p:nvSpPr>
        <p:spPr>
          <a:xfrm>
            <a:off x="3876063" y="50528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4"/>
          <p:cNvSpPr/>
          <p:nvPr/>
        </p:nvSpPr>
        <p:spPr>
          <a:xfrm>
            <a:off x="3876063" y="54204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5"/>
          <p:cNvSpPr/>
          <p:nvPr/>
        </p:nvSpPr>
        <p:spPr>
          <a:xfrm>
            <a:off x="3876063" y="57889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8"/>
          <p:cNvSpPr/>
          <p:nvPr/>
        </p:nvSpPr>
        <p:spPr>
          <a:xfrm>
            <a:off x="3275678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0" name="矩形 24"/>
          <p:cNvSpPr/>
          <p:nvPr/>
        </p:nvSpPr>
        <p:spPr>
          <a:xfrm>
            <a:off x="3859743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1" name="直线箭头连接符 3"/>
          <p:cNvCxnSpPr/>
          <p:nvPr/>
        </p:nvCxnSpPr>
        <p:spPr>
          <a:xfrm flipH="1">
            <a:off x="5819983" y="1935136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矩形 55"/>
          <p:cNvSpPr/>
          <p:nvPr/>
        </p:nvSpPr>
        <p:spPr>
          <a:xfrm>
            <a:off x="6006368" y="1768869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3" name="矩形 58"/>
          <p:cNvSpPr/>
          <p:nvPr/>
        </p:nvSpPr>
        <p:spPr>
          <a:xfrm>
            <a:off x="3854932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4" name="矩形 60"/>
          <p:cNvSpPr/>
          <p:nvPr/>
        </p:nvSpPr>
        <p:spPr>
          <a:xfrm>
            <a:off x="3859645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5" name="矩形 57"/>
          <p:cNvSpPr/>
          <p:nvPr/>
        </p:nvSpPr>
        <p:spPr>
          <a:xfrm>
            <a:off x="2446347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6" name="矩形 63"/>
          <p:cNvSpPr/>
          <p:nvPr/>
        </p:nvSpPr>
        <p:spPr>
          <a:xfrm>
            <a:off x="2435108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7" name="矩形 64"/>
          <p:cNvSpPr/>
          <p:nvPr/>
        </p:nvSpPr>
        <p:spPr>
          <a:xfrm>
            <a:off x="2435108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8" name="矩形 65"/>
          <p:cNvSpPr/>
          <p:nvPr/>
        </p:nvSpPr>
        <p:spPr>
          <a:xfrm>
            <a:off x="2435108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89" name="矩形 66"/>
          <p:cNvSpPr/>
          <p:nvPr/>
        </p:nvSpPr>
        <p:spPr>
          <a:xfrm>
            <a:off x="2435108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0" name="矩形 67"/>
          <p:cNvSpPr/>
          <p:nvPr/>
        </p:nvSpPr>
        <p:spPr>
          <a:xfrm>
            <a:off x="2435108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1" name="矩形 68"/>
          <p:cNvSpPr/>
          <p:nvPr/>
        </p:nvSpPr>
        <p:spPr>
          <a:xfrm>
            <a:off x="2446347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2" name="矩形 69"/>
          <p:cNvSpPr/>
          <p:nvPr/>
        </p:nvSpPr>
        <p:spPr>
          <a:xfrm>
            <a:off x="2447996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3" name="矩形 70"/>
          <p:cNvSpPr/>
          <p:nvPr/>
        </p:nvSpPr>
        <p:spPr>
          <a:xfrm>
            <a:off x="2452366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4" name="矩形 71"/>
          <p:cNvSpPr/>
          <p:nvPr/>
        </p:nvSpPr>
        <p:spPr>
          <a:xfrm>
            <a:off x="2441836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5" name="矩形 72"/>
          <p:cNvSpPr/>
          <p:nvPr/>
        </p:nvSpPr>
        <p:spPr>
          <a:xfrm>
            <a:off x="2465055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1561213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573963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36459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sz="1600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55170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68726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240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0x2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167150" y="2460815"/>
            <a:ext cx="16908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, (%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rsi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55" name="直线箭头连接符 54"/>
          <p:cNvCxnSpPr>
            <a:stCxn id="33" idx="1"/>
            <a:endCxn id="77" idx="3"/>
          </p:cNvCxnSpPr>
          <p:nvPr/>
        </p:nvCxnSpPr>
        <p:spPr>
          <a:xfrm rot="10800000" flipV="1">
            <a:off x="5827561" y="3048424"/>
            <a:ext cx="1712766" cy="2191155"/>
          </a:xfrm>
          <a:prstGeom prst="bentConnector3">
            <a:avLst>
              <a:gd name="adj1" fmla="val 50000"/>
            </a:avLst>
          </a:prstGeom>
          <a:ln w="38100" cmpd="sng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矩形 5"/>
          <p:cNvSpPr/>
          <p:nvPr/>
        </p:nvSpPr>
        <p:spPr>
          <a:xfrm>
            <a:off x="4279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62" name="矩形 6"/>
          <p:cNvSpPr/>
          <p:nvPr/>
        </p:nvSpPr>
        <p:spPr>
          <a:xfrm>
            <a:off x="3859743" y="25042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2" name="矩形 7"/>
          <p:cNvSpPr/>
          <p:nvPr/>
        </p:nvSpPr>
        <p:spPr>
          <a:xfrm>
            <a:off x="3859743" y="21308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3" name="矩形 8"/>
          <p:cNvSpPr/>
          <p:nvPr/>
        </p:nvSpPr>
        <p:spPr>
          <a:xfrm>
            <a:off x="3859743" y="17600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4" name="矩形 10"/>
          <p:cNvSpPr/>
          <p:nvPr/>
        </p:nvSpPr>
        <p:spPr>
          <a:xfrm>
            <a:off x="3859743" y="28772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5" name="矩形 11"/>
          <p:cNvSpPr/>
          <p:nvPr/>
        </p:nvSpPr>
        <p:spPr>
          <a:xfrm>
            <a:off x="3864113" y="4301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6" name="矩形 12"/>
          <p:cNvSpPr/>
          <p:nvPr/>
        </p:nvSpPr>
        <p:spPr>
          <a:xfrm>
            <a:off x="3868482" y="46868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3"/>
          <p:cNvSpPr/>
          <p:nvPr/>
        </p:nvSpPr>
        <p:spPr>
          <a:xfrm>
            <a:off x="3876063" y="50528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4"/>
          <p:cNvSpPr/>
          <p:nvPr/>
        </p:nvSpPr>
        <p:spPr>
          <a:xfrm>
            <a:off x="3876063" y="54204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5"/>
          <p:cNvSpPr/>
          <p:nvPr/>
        </p:nvSpPr>
        <p:spPr>
          <a:xfrm>
            <a:off x="3876063" y="57889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18"/>
          <p:cNvSpPr/>
          <p:nvPr/>
        </p:nvSpPr>
        <p:spPr>
          <a:xfrm>
            <a:off x="3275678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1" name="矩形 24"/>
          <p:cNvSpPr/>
          <p:nvPr/>
        </p:nvSpPr>
        <p:spPr>
          <a:xfrm>
            <a:off x="3859743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2" name="直线箭头连接符 3"/>
          <p:cNvCxnSpPr/>
          <p:nvPr/>
        </p:nvCxnSpPr>
        <p:spPr>
          <a:xfrm flipH="1">
            <a:off x="5819983" y="196856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矩形 55"/>
          <p:cNvSpPr/>
          <p:nvPr/>
        </p:nvSpPr>
        <p:spPr>
          <a:xfrm>
            <a:off x="6006368" y="1802293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4" name="矩形 58"/>
          <p:cNvSpPr/>
          <p:nvPr/>
        </p:nvSpPr>
        <p:spPr>
          <a:xfrm>
            <a:off x="3854932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5" name="矩形 60"/>
          <p:cNvSpPr/>
          <p:nvPr/>
        </p:nvSpPr>
        <p:spPr>
          <a:xfrm>
            <a:off x="3859645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6" name="矩形 57"/>
          <p:cNvSpPr/>
          <p:nvPr/>
        </p:nvSpPr>
        <p:spPr>
          <a:xfrm>
            <a:off x="2446347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7" name="矩形 63"/>
          <p:cNvSpPr/>
          <p:nvPr/>
        </p:nvSpPr>
        <p:spPr>
          <a:xfrm>
            <a:off x="2435108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8" name="矩形 64"/>
          <p:cNvSpPr/>
          <p:nvPr/>
        </p:nvSpPr>
        <p:spPr>
          <a:xfrm>
            <a:off x="2435108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9" name="矩形 65"/>
          <p:cNvSpPr/>
          <p:nvPr/>
        </p:nvSpPr>
        <p:spPr>
          <a:xfrm>
            <a:off x="2435108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90" name="矩形 66"/>
          <p:cNvSpPr/>
          <p:nvPr/>
        </p:nvSpPr>
        <p:spPr>
          <a:xfrm>
            <a:off x="2435108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1" name="矩形 67"/>
          <p:cNvSpPr/>
          <p:nvPr/>
        </p:nvSpPr>
        <p:spPr>
          <a:xfrm>
            <a:off x="2435108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2" name="矩形 68"/>
          <p:cNvSpPr/>
          <p:nvPr/>
        </p:nvSpPr>
        <p:spPr>
          <a:xfrm>
            <a:off x="2446347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3" name="矩形 69"/>
          <p:cNvSpPr/>
          <p:nvPr/>
        </p:nvSpPr>
        <p:spPr>
          <a:xfrm>
            <a:off x="2447996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4" name="矩形 70"/>
          <p:cNvSpPr/>
          <p:nvPr/>
        </p:nvSpPr>
        <p:spPr>
          <a:xfrm>
            <a:off x="2452366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5" name="矩形 71"/>
          <p:cNvSpPr/>
          <p:nvPr/>
        </p:nvSpPr>
        <p:spPr>
          <a:xfrm>
            <a:off x="2441836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6" name="矩形 72"/>
          <p:cNvSpPr/>
          <p:nvPr/>
        </p:nvSpPr>
        <p:spPr>
          <a:xfrm>
            <a:off x="2465055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1561213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73963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65699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>
                <a:latin typeface="Consolas" panose="020B0609020204030204" pitchFamily="49" charset="0"/>
              </a:rPr>
              <a:t>mov</a:t>
            </a:r>
            <a:r>
              <a:rPr kumimoji="1" lang="en-US" altLang="zh-CN"/>
              <a:t>: limitation of direct addressing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8905" y="1690687"/>
            <a:ext cx="9863889" cy="13087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zh-CN" sz="3200" b="1"/>
              <a:t>Direct addressing</a:t>
            </a:r>
            <a:endParaRPr kumimoji="1" lang="en-US" altLang="zh-CN" sz="3200"/>
          </a:p>
          <a:p>
            <a:pPr lvl="1"/>
            <a:r>
              <a:rPr kumimoji="1" lang="en-US" altLang="zh-CN" sz="2800"/>
              <a:t>The address must be calculated and stored in the register before each memory access.</a:t>
            </a:r>
            <a:endParaRPr kumimoji="1" lang="zh-CN" altLang="en-US" sz="2800"/>
          </a:p>
        </p:txBody>
      </p:sp>
      <p:sp>
        <p:nvSpPr>
          <p:cNvPr id="9" name="矩形 3">
            <a:extLst>
              <a:ext uri="{FF2B5EF4-FFF2-40B4-BE49-F238E27FC236}">
                <a16:creationId xmlns:a16="http://schemas.microsoft.com/office/drawing/2014/main" id="{08E8DF9E-D8E3-4527-AC1F-4EEB52911470}"/>
              </a:ext>
            </a:extLst>
          </p:cNvPr>
          <p:cNvSpPr/>
          <p:nvPr/>
        </p:nvSpPr>
        <p:spPr>
          <a:xfrm>
            <a:off x="207290" y="4006626"/>
            <a:ext cx="44977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Consolas"/>
                <a:cs typeface="Consolas"/>
              </a:rPr>
              <a:t> </a:t>
            </a:r>
            <a:r>
              <a:rPr lang="en-US" altLang="zh-CN" sz="2400">
                <a:latin typeface="Consolas"/>
                <a:cs typeface="Consolas"/>
              </a:rPr>
              <a:t>long a[3] = {1, 2, 3};</a:t>
            </a:r>
          </a:p>
          <a:p>
            <a:r>
              <a:rPr lang="en-US" altLang="zh-CN" sz="2400">
                <a:latin typeface="Consolas"/>
                <a:cs typeface="Consolas"/>
              </a:rPr>
              <a:t> a[2] = 0;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A4E4FBB-1417-4572-9ED1-3B1C3FAF6A58}"/>
              </a:ext>
            </a:extLst>
          </p:cNvPr>
          <p:cNvGrpSpPr/>
          <p:nvPr/>
        </p:nvGrpSpPr>
        <p:grpSpPr>
          <a:xfrm>
            <a:off x="4430331" y="4006626"/>
            <a:ext cx="7179786" cy="1200329"/>
            <a:chOff x="4560702" y="3858521"/>
            <a:chExt cx="7179786" cy="1200329"/>
          </a:xfrm>
        </p:grpSpPr>
        <p:sp>
          <p:nvSpPr>
            <p:cNvPr id="7" name="右箭头 4">
              <a:extLst>
                <a:ext uri="{FF2B5EF4-FFF2-40B4-BE49-F238E27FC236}">
                  <a16:creationId xmlns:a16="http://schemas.microsoft.com/office/drawing/2014/main" id="{94845E5A-ADDD-494E-A5C9-D489C3876B51}"/>
                </a:ext>
              </a:extLst>
            </p:cNvPr>
            <p:cNvSpPr/>
            <p:nvPr/>
          </p:nvSpPr>
          <p:spPr>
            <a:xfrm>
              <a:off x="4560702" y="4007366"/>
              <a:ext cx="1415849" cy="553500"/>
            </a:xfrm>
            <a:prstGeom prst="rightArrow">
              <a:avLst/>
            </a:prstGeom>
            <a:solidFill>
              <a:schemeClr val="accent1"/>
            </a:solidFill>
            <a:ln w="285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A93C2E-8A7C-4FF9-8C8D-4255202EE00C}"/>
                </a:ext>
              </a:extLst>
            </p:cNvPr>
            <p:cNvSpPr txBox="1"/>
            <p:nvPr/>
          </p:nvSpPr>
          <p:spPr>
            <a:xfrm>
              <a:off x="6215449" y="3858521"/>
              <a:ext cx="552503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AutoNum type="arabicPeriod"/>
              </a:pPr>
              <a:r>
                <a:rPr lang="en-US" sz="2400"/>
                <a:t>Calculate address of a[2]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US" sz="2400"/>
                <a:t>Store it in some register, e.g. %</a:t>
              </a:r>
              <a:r>
                <a:rPr lang="en-US" sz="2400" err="1"/>
                <a:t>rax</a:t>
              </a:r>
              <a:endParaRPr lang="en-US" sz="2400"/>
            </a:p>
            <a:p>
              <a:pPr marL="457200" indent="-457200">
                <a:buFont typeface="+mj-lt"/>
                <a:buAutoNum type="arabicPeriod"/>
              </a:pPr>
              <a:r>
                <a:rPr lang="en-US" sz="2400"/>
                <a:t>Do memory write, e.g. </a:t>
              </a:r>
              <a:r>
                <a:rPr lang="en-US" sz="2400" err="1"/>
                <a:t>movq</a:t>
              </a:r>
              <a:r>
                <a:rPr lang="en-US" sz="2400"/>
                <a:t> $0, (%</a:t>
              </a:r>
              <a:r>
                <a:rPr lang="en-US" sz="2400" err="1"/>
                <a:t>rax</a:t>
              </a:r>
              <a:r>
                <a:rPr lang="en-US" sz="2400"/>
                <a:t>)</a:t>
              </a:r>
            </a:p>
          </p:txBody>
        </p:sp>
      </p:grp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8499DEA3-B8D0-49AD-808E-4D911F1765B4}"/>
              </a:ext>
            </a:extLst>
          </p:cNvPr>
          <p:cNvSpPr/>
          <p:nvPr/>
        </p:nvSpPr>
        <p:spPr>
          <a:xfrm>
            <a:off x="9071298" y="2999478"/>
            <a:ext cx="2388974" cy="794045"/>
          </a:xfrm>
          <a:prstGeom prst="wedgeRectCallout">
            <a:avLst>
              <a:gd name="adj1" fmla="val -44549"/>
              <a:gd name="adj2" fmla="val 843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&amp;a[2] = address of a[0] + stride * 2 </a:t>
            </a:r>
          </a:p>
        </p:txBody>
      </p:sp>
    </p:spTree>
    <p:extLst>
      <p:ext uri="{BB962C8B-B14F-4D97-AF65-F5344CB8AC3E}">
        <p14:creationId xmlns:p14="http://schemas.microsoft.com/office/powerpoint/2010/main" val="42767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Address mode with displacement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None/>
            </a:pPr>
            <a:r>
              <a:rPr kumimoji="1" lang="en-US" altLang="zh-CN" sz="2800"/>
              <a:t>D(Register):  </a:t>
            </a:r>
            <a:r>
              <a:rPr lang="en-US" altLang="zh-CN" sz="2800" err="1"/>
              <a:t>val</a:t>
            </a:r>
            <a:r>
              <a:rPr lang="en-US" altLang="zh-CN" sz="2800"/>
              <a:t>(Register) + D</a:t>
            </a:r>
            <a:endParaRPr kumimoji="1" lang="en-US" altLang="zh-CN" sz="2800"/>
          </a:p>
          <a:p>
            <a:pPr lvl="1"/>
            <a:r>
              <a:rPr lang="en-US" altLang="zh-CN" sz="2800"/>
              <a:t>Register specifies the start of the memory region</a:t>
            </a:r>
          </a:p>
          <a:p>
            <a:pPr lvl="1"/>
            <a:r>
              <a:rPr lang="en-US" altLang="zh-CN" sz="2800"/>
              <a:t>Constant D specifies the offset</a:t>
            </a:r>
          </a:p>
          <a:p>
            <a:pPr marL="457200" lvl="1" indent="0">
              <a:buNone/>
            </a:pPr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110789" y="3515011"/>
            <a:ext cx="30115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/>
              <a:t>Memory Operand: 20(RAX)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3881656" y="4459374"/>
            <a:ext cx="1469861" cy="329231"/>
          </a:xfrm>
          <a:prstGeom prst="rect">
            <a:avLst/>
          </a:prstGeom>
          <a:noFill/>
          <a:ln w="38100" cmpd="sng"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0x10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777200" y="5516118"/>
            <a:ext cx="517391" cy="352748"/>
          </a:xfrm>
          <a:prstGeom prst="rect">
            <a:avLst/>
          </a:prstGeom>
          <a:noFill/>
          <a:ln w="38100" cmpd="sng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>
                <a:solidFill>
                  <a:srgbClr val="000000"/>
                </a:solidFill>
              </a:rPr>
              <a:t>20</a:t>
            </a:r>
            <a:endParaRPr kumimoji="1" lang="zh-CN" altLang="en-US" sz="2000">
              <a:solidFill>
                <a:srgbClr val="000000"/>
              </a:solidFill>
            </a:endParaRPr>
          </a:p>
        </p:txBody>
      </p:sp>
      <p:cxnSp>
        <p:nvCxnSpPr>
          <p:cNvPr id="13" name="肘形连接符 12"/>
          <p:cNvCxnSpPr>
            <a:stCxn id="7" idx="3"/>
            <a:endCxn id="17" idx="0"/>
          </p:cNvCxnSpPr>
          <p:nvPr/>
        </p:nvCxnSpPr>
        <p:spPr>
          <a:xfrm>
            <a:off x="5351516" y="4623990"/>
            <a:ext cx="284078" cy="339491"/>
          </a:xfrm>
          <a:prstGeom prst="bentConnector2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5447452" y="4963480"/>
            <a:ext cx="376284" cy="364506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800" b="1">
              <a:solidFill>
                <a:srgbClr val="000000"/>
              </a:solidFill>
            </a:endParaRPr>
          </a:p>
        </p:txBody>
      </p:sp>
      <p:cxnSp>
        <p:nvCxnSpPr>
          <p:cNvPr id="20" name="肘形连接符 19"/>
          <p:cNvCxnSpPr>
            <a:stCxn id="11" idx="3"/>
            <a:endCxn id="17" idx="4"/>
          </p:cNvCxnSpPr>
          <p:nvPr/>
        </p:nvCxnSpPr>
        <p:spPr>
          <a:xfrm flipV="1">
            <a:off x="5294590" y="5327986"/>
            <a:ext cx="341004" cy="364506"/>
          </a:xfrm>
          <a:prstGeom prst="bentConnector2">
            <a:avLst/>
          </a:prstGeom>
          <a:ln w="38100" cmpd="sng">
            <a:solidFill>
              <a:schemeClr val="accent4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447453" y="4816940"/>
            <a:ext cx="389049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000000"/>
                </a:solidFill>
              </a:rPr>
              <a:t>+</a:t>
            </a:r>
            <a:endParaRPr lang="zh-CN" altLang="en-US" sz="3200"/>
          </a:p>
        </p:txBody>
      </p:sp>
      <p:cxnSp>
        <p:nvCxnSpPr>
          <p:cNvPr id="33" name="直线连接符 32"/>
          <p:cNvCxnSpPr/>
          <p:nvPr/>
        </p:nvCxnSpPr>
        <p:spPr>
          <a:xfrm>
            <a:off x="5836501" y="5137340"/>
            <a:ext cx="328242" cy="0"/>
          </a:xfrm>
          <a:prstGeom prst="line">
            <a:avLst/>
          </a:prstGeom>
          <a:ln w="3810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3256515" y="4419272"/>
            <a:ext cx="62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RAX:</a:t>
            </a:r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6164744" y="4963481"/>
            <a:ext cx="1469861" cy="329231"/>
          </a:xfrm>
          <a:prstGeom prst="rect">
            <a:avLst/>
          </a:prstGeom>
          <a:noFill/>
          <a:ln w="38100" cmpd="sng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0x24</a:t>
            </a:r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838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Address mode with displacement</a:t>
            </a:r>
            <a:endParaRPr kumimoji="1" lang="zh-CN" altLang="en-US"/>
          </a:p>
        </p:txBody>
      </p:sp>
      <p:sp>
        <p:nvSpPr>
          <p:cNvPr id="5" name="右箭头 4"/>
          <p:cNvSpPr/>
          <p:nvPr/>
        </p:nvSpPr>
        <p:spPr>
          <a:xfrm>
            <a:off x="4551316" y="3967372"/>
            <a:ext cx="847543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669321" y="3429000"/>
            <a:ext cx="6003231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// Suppose register %</a:t>
            </a:r>
            <a:r>
              <a:rPr lang="en-US" altLang="zh-CN" sz="2000" err="1">
                <a:latin typeface="Calibri" panose="020F0502020204030204" pitchFamily="34" charset="0"/>
                <a:cs typeface="Calibri" panose="020F0502020204030204" pitchFamily="34" charset="0"/>
              </a:rPr>
              <a:t>rax</a:t>
            </a:r>
            <a:r>
              <a:rPr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 contains address of a[0]</a:t>
            </a:r>
          </a:p>
          <a:p>
            <a:endParaRPr lang="en-US" altLang="zh-CN" sz="11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mov $0, 16(%</a:t>
            </a:r>
            <a:r>
              <a:rPr lang="en-US" altLang="zh-CN" sz="2400" err="1">
                <a:latin typeface="Calibri" panose="020F0502020204030204" pitchFamily="34" charset="0"/>
                <a:cs typeface="Calibri" panose="020F0502020204030204" pitchFamily="34" charset="0"/>
              </a:rPr>
              <a:t>rax</a:t>
            </a:r>
            <a:r>
              <a:rPr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983672" y="1509720"/>
            <a:ext cx="8229600" cy="1380826"/>
          </a:xfrm>
        </p:spPr>
        <p:txBody>
          <a:bodyPr/>
          <a:lstStyle/>
          <a:p>
            <a:pPr marL="0" lvl="1" indent="0">
              <a:buNone/>
            </a:pPr>
            <a:r>
              <a:rPr kumimoji="1" lang="en-US" altLang="zh-CN" sz="2800"/>
              <a:t>D(Register):  </a:t>
            </a:r>
            <a:r>
              <a:rPr lang="en-US" altLang="zh-CN" sz="2800" err="1"/>
              <a:t>val</a:t>
            </a:r>
            <a:r>
              <a:rPr lang="en-US" altLang="zh-CN" sz="2800"/>
              <a:t>(Register) + D</a:t>
            </a:r>
            <a:endParaRPr kumimoji="1" lang="en-US" altLang="zh-CN" sz="2800"/>
          </a:p>
          <a:p>
            <a:pPr lvl="1"/>
            <a:r>
              <a:rPr lang="en-US" altLang="zh-CN" sz="2800"/>
              <a:t>Register specifies the start of the memory region</a:t>
            </a:r>
          </a:p>
          <a:p>
            <a:pPr lvl="1"/>
            <a:r>
              <a:rPr lang="en-US" altLang="zh-CN" sz="2800"/>
              <a:t>Constant D specifies the offset</a:t>
            </a:r>
          </a:p>
          <a:p>
            <a:pPr marL="457200" lvl="1" indent="0">
              <a:buNone/>
            </a:pPr>
            <a:endParaRPr kumimoji="1" lang="zh-CN" altLang="en-US"/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130AAADD-061D-F8FB-F272-40DE8974A373}"/>
              </a:ext>
            </a:extLst>
          </p:cNvPr>
          <p:cNvSpPr/>
          <p:nvPr/>
        </p:nvSpPr>
        <p:spPr>
          <a:xfrm>
            <a:off x="258750" y="5170676"/>
            <a:ext cx="4193047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>
                <a:latin typeface="Consolas"/>
                <a:cs typeface="Consolas"/>
              </a:rPr>
              <a:t> for (</a:t>
            </a:r>
            <a:r>
              <a:rPr lang="en-US" altLang="zh-CN" sz="2000" err="1">
                <a:latin typeface="Consolas"/>
                <a:cs typeface="Consolas"/>
              </a:rPr>
              <a:t>i</a:t>
            </a:r>
            <a:r>
              <a:rPr lang="en-US" altLang="zh-CN" sz="2000">
                <a:latin typeface="Consolas"/>
                <a:cs typeface="Consolas"/>
              </a:rPr>
              <a:t> = 0; </a:t>
            </a:r>
            <a:r>
              <a:rPr lang="en-US" altLang="zh-CN" sz="2000" err="1">
                <a:latin typeface="Consolas"/>
                <a:cs typeface="Consolas"/>
              </a:rPr>
              <a:t>i</a:t>
            </a:r>
            <a:r>
              <a:rPr lang="en-US" altLang="zh-CN" sz="2000">
                <a:latin typeface="Consolas"/>
                <a:cs typeface="Consolas"/>
              </a:rPr>
              <a:t> &lt; 3; </a:t>
            </a:r>
            <a:r>
              <a:rPr lang="en-US" altLang="zh-CN" sz="2000" err="1">
                <a:latin typeface="Consolas"/>
                <a:cs typeface="Consolas"/>
              </a:rPr>
              <a:t>i</a:t>
            </a:r>
            <a:r>
              <a:rPr lang="en-US" altLang="zh-CN" sz="2000">
                <a:latin typeface="Consolas"/>
                <a:cs typeface="Consolas"/>
              </a:rPr>
              <a:t>++)</a:t>
            </a:r>
          </a:p>
          <a:p>
            <a:r>
              <a:rPr lang="en-US" altLang="zh-CN" sz="2000">
                <a:latin typeface="Consolas"/>
                <a:cs typeface="Consolas"/>
              </a:rPr>
              <a:t>	a[</a:t>
            </a:r>
            <a:r>
              <a:rPr lang="en-US" altLang="zh-CN" sz="2000" err="1">
                <a:latin typeface="Consolas"/>
                <a:cs typeface="Consolas"/>
              </a:rPr>
              <a:t>i</a:t>
            </a:r>
            <a:r>
              <a:rPr lang="en-US" altLang="zh-CN" sz="2000">
                <a:latin typeface="Consolas"/>
                <a:cs typeface="Consolas"/>
              </a:rPr>
              <a:t>] = 1;</a:t>
            </a: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BDA37562-3C1F-54B6-E6A0-C8EB1EB5ADCD}"/>
              </a:ext>
            </a:extLst>
          </p:cNvPr>
          <p:cNvSpPr/>
          <p:nvPr/>
        </p:nvSpPr>
        <p:spPr>
          <a:xfrm>
            <a:off x="258750" y="3615112"/>
            <a:ext cx="44977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Consolas"/>
                <a:cs typeface="Consolas"/>
              </a:rPr>
              <a:t> </a:t>
            </a:r>
            <a:r>
              <a:rPr lang="en-US" altLang="zh-CN" sz="2400">
                <a:latin typeface="Consolas"/>
                <a:cs typeface="Consolas"/>
              </a:rPr>
              <a:t>long a[3] = {1, 2, 3};</a:t>
            </a:r>
          </a:p>
          <a:p>
            <a:r>
              <a:rPr lang="en-US" altLang="zh-CN" sz="2400">
                <a:latin typeface="Consolas"/>
                <a:cs typeface="Consolas"/>
              </a:rPr>
              <a:t> a[2] = 0;</a:t>
            </a:r>
          </a:p>
        </p:txBody>
      </p:sp>
      <p:sp>
        <p:nvSpPr>
          <p:cNvPr id="8" name="右箭头 4">
            <a:extLst>
              <a:ext uri="{FF2B5EF4-FFF2-40B4-BE49-F238E27FC236}">
                <a16:creationId xmlns:a16="http://schemas.microsoft.com/office/drawing/2014/main" id="{A0054CAA-8079-97E2-2215-3F771E83CC26}"/>
              </a:ext>
            </a:extLst>
          </p:cNvPr>
          <p:cNvSpPr/>
          <p:nvPr/>
        </p:nvSpPr>
        <p:spPr>
          <a:xfrm>
            <a:off x="4551315" y="5270285"/>
            <a:ext cx="847543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" name="Graphic 10" descr="Question Mark with solid fill">
            <a:extLst>
              <a:ext uri="{FF2B5EF4-FFF2-40B4-BE49-F238E27FC236}">
                <a16:creationId xmlns:a16="http://schemas.microsoft.com/office/drawing/2014/main" id="{3D9D4581-DE71-5098-0E0B-B50D7852E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04456" y="5147423"/>
            <a:ext cx="582339" cy="58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20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6855" y="15427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/>
              <a:t>X86’s Complete Memory Addressing Mode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96183" y="1280027"/>
            <a:ext cx="8229600" cy="237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dirty="0"/>
              <a:t>D(Rb, Ri, S):  </a:t>
            </a:r>
            <a:r>
              <a:rPr kumimoji="1" lang="en-US" altLang="zh-CN" dirty="0" err="1"/>
              <a:t>val</a:t>
            </a:r>
            <a:r>
              <a:rPr kumimoji="1" lang="en-US" altLang="zh-CN" dirty="0"/>
              <a:t>(Rb) + S * </a:t>
            </a:r>
            <a:r>
              <a:rPr kumimoji="1" lang="en-US" altLang="zh-CN" dirty="0" err="1"/>
              <a:t>val</a:t>
            </a:r>
            <a:r>
              <a:rPr kumimoji="1" lang="en-US" altLang="zh-CN" dirty="0"/>
              <a:t>(Ri) + D</a:t>
            </a:r>
          </a:p>
          <a:p>
            <a:pPr lvl="1"/>
            <a:r>
              <a:rPr lang="en-US" altLang="zh-CN" dirty="0"/>
              <a:t>Rb: Base register</a:t>
            </a:r>
          </a:p>
          <a:p>
            <a:pPr lvl="1"/>
            <a:r>
              <a:rPr lang="en-US" altLang="zh-CN" dirty="0"/>
              <a:t>D: Constant “displacement”</a:t>
            </a:r>
          </a:p>
          <a:p>
            <a:pPr lvl="1"/>
            <a:r>
              <a:rPr lang="en-US" altLang="zh-CN" dirty="0"/>
              <a:t>Ri: Index register (not</a:t>
            </a:r>
            <a:r>
              <a:rPr lang="en-US" altLang="zh-CN" dirty="0">
                <a:latin typeface="Consolas"/>
                <a:cs typeface="Consolas"/>
              </a:rPr>
              <a:t> </a:t>
            </a:r>
            <a:r>
              <a:rPr lang="en-US" altLang="zh-CN" b="1" dirty="0">
                <a:latin typeface="Consolas"/>
                <a:cs typeface="Consolas"/>
              </a:rPr>
              <a:t>%</a:t>
            </a:r>
            <a:r>
              <a:rPr lang="en-US" altLang="zh-CN" b="1" dirty="0" err="1">
                <a:latin typeface="Consolas"/>
                <a:cs typeface="Consolas"/>
              </a:rPr>
              <a:t>rsp</a:t>
            </a:r>
            <a:r>
              <a:rPr lang="en-US" altLang="zh-CN" dirty="0">
                <a:latin typeface="Consolas"/>
                <a:cs typeface="Consolas"/>
              </a:rPr>
              <a:t>)</a:t>
            </a:r>
          </a:p>
          <a:p>
            <a:pPr lvl="1"/>
            <a:r>
              <a:rPr lang="en-US" altLang="zh-CN" dirty="0"/>
              <a:t>S: Scale: 1, 2, 4, or 8 </a:t>
            </a:r>
          </a:p>
        </p:txBody>
      </p:sp>
      <p:sp>
        <p:nvSpPr>
          <p:cNvPr id="5" name="矩形 4"/>
          <p:cNvSpPr/>
          <p:nvPr/>
        </p:nvSpPr>
        <p:spPr>
          <a:xfrm>
            <a:off x="3693880" y="5396093"/>
            <a:ext cx="1469861" cy="329231"/>
          </a:xfrm>
          <a:prstGeom prst="rect">
            <a:avLst/>
          </a:prstGeom>
          <a:noFill/>
          <a:ln w="38100" cmpd="sng"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0x8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89424" y="6452837"/>
            <a:ext cx="517391" cy="352748"/>
          </a:xfrm>
          <a:prstGeom prst="rect">
            <a:avLst/>
          </a:prstGeom>
          <a:noFill/>
          <a:ln w="38100" cmpd="sng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>
                <a:solidFill>
                  <a:srgbClr val="000000"/>
                </a:solidFill>
              </a:rPr>
              <a:t>4</a:t>
            </a:r>
            <a:endParaRPr kumimoji="1" lang="zh-CN" altLang="en-US" sz="2000">
              <a:solidFill>
                <a:srgbClr val="000000"/>
              </a:solidFill>
            </a:endParaRPr>
          </a:p>
        </p:txBody>
      </p:sp>
      <p:cxnSp>
        <p:nvCxnSpPr>
          <p:cNvPr id="7" name="肘形连接符 6"/>
          <p:cNvCxnSpPr>
            <a:stCxn id="5" idx="3"/>
            <a:endCxn id="8" idx="0"/>
          </p:cNvCxnSpPr>
          <p:nvPr/>
        </p:nvCxnSpPr>
        <p:spPr>
          <a:xfrm>
            <a:off x="5163740" y="5560709"/>
            <a:ext cx="284078" cy="339491"/>
          </a:xfrm>
          <a:prstGeom prst="bentConnector2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5259676" y="5900199"/>
            <a:ext cx="376284" cy="364506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800" b="1">
              <a:solidFill>
                <a:srgbClr val="000000"/>
              </a:solidFill>
            </a:endParaRPr>
          </a:p>
        </p:txBody>
      </p:sp>
      <p:cxnSp>
        <p:nvCxnSpPr>
          <p:cNvPr id="9" name="肘形连接符 8"/>
          <p:cNvCxnSpPr>
            <a:stCxn id="6" idx="3"/>
            <a:endCxn id="8" idx="4"/>
          </p:cNvCxnSpPr>
          <p:nvPr/>
        </p:nvCxnSpPr>
        <p:spPr>
          <a:xfrm flipV="1">
            <a:off x="5106814" y="6264705"/>
            <a:ext cx="341004" cy="364506"/>
          </a:xfrm>
          <a:prstGeom prst="bentConnector2">
            <a:avLst/>
          </a:prstGeom>
          <a:ln w="38100" cmpd="sng">
            <a:solidFill>
              <a:schemeClr val="accent4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259677" y="5813569"/>
            <a:ext cx="389049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000000"/>
                </a:solidFill>
              </a:rPr>
              <a:t>*</a:t>
            </a:r>
            <a:endParaRPr lang="zh-CN" altLang="en-US" sz="3200"/>
          </a:p>
        </p:txBody>
      </p:sp>
      <p:sp>
        <p:nvSpPr>
          <p:cNvPr id="12" name="矩形 11"/>
          <p:cNvSpPr/>
          <p:nvPr/>
        </p:nvSpPr>
        <p:spPr>
          <a:xfrm>
            <a:off x="3128638" y="5355991"/>
            <a:ext cx="5885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err="1"/>
              <a:t>rbx</a:t>
            </a:r>
            <a:r>
              <a:rPr lang="en-US" altLang="zh-CN" sz="2000"/>
              <a:t>:</a:t>
            </a:r>
            <a:endParaRPr lang="zh-CN" altLang="en-US" sz="2000"/>
          </a:p>
        </p:txBody>
      </p:sp>
      <p:sp>
        <p:nvSpPr>
          <p:cNvPr id="13" name="矩形 12"/>
          <p:cNvSpPr/>
          <p:nvPr/>
        </p:nvSpPr>
        <p:spPr>
          <a:xfrm>
            <a:off x="6844261" y="4822652"/>
            <a:ext cx="1469861" cy="329231"/>
          </a:xfrm>
          <a:prstGeom prst="rect">
            <a:avLst/>
          </a:prstGeom>
          <a:noFill/>
          <a:ln w="38100" cmpd="sng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0x3a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72155" y="3922112"/>
            <a:ext cx="1469861" cy="329231"/>
          </a:xfrm>
          <a:prstGeom prst="rect">
            <a:avLst/>
          </a:prstGeom>
          <a:noFill/>
          <a:ln w="38100" cmpd="sng"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0x10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79110" y="3882010"/>
            <a:ext cx="5766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err="1"/>
              <a:t>rax</a:t>
            </a:r>
            <a:r>
              <a:rPr lang="en-US" altLang="zh-CN" sz="2000"/>
              <a:t>:</a:t>
            </a:r>
            <a:endParaRPr lang="zh-CN" altLang="en-US" sz="2000"/>
          </a:p>
        </p:txBody>
      </p:sp>
      <p:sp>
        <p:nvSpPr>
          <p:cNvPr id="17" name="矩形 16"/>
          <p:cNvSpPr/>
          <p:nvPr/>
        </p:nvSpPr>
        <p:spPr>
          <a:xfrm>
            <a:off x="4119661" y="6444545"/>
            <a:ext cx="371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/>
              <a:t>S:</a:t>
            </a:r>
            <a:endParaRPr lang="zh-CN" altLang="en-US" sz="2000"/>
          </a:p>
        </p:txBody>
      </p:sp>
      <p:cxnSp>
        <p:nvCxnSpPr>
          <p:cNvPr id="18" name="肘形连接符 17"/>
          <p:cNvCxnSpPr/>
          <p:nvPr/>
        </p:nvCxnSpPr>
        <p:spPr>
          <a:xfrm rot="16200000" flipH="1">
            <a:off x="5755971" y="4267639"/>
            <a:ext cx="741056" cy="368968"/>
          </a:xfrm>
          <a:prstGeom prst="bentConnector3">
            <a:avLst>
              <a:gd name="adj1" fmla="val 1495"/>
            </a:avLst>
          </a:prstGeom>
          <a:ln w="38100" cmpd="sng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>
            <a:off x="6122841" y="4822651"/>
            <a:ext cx="376284" cy="364506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800" b="1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122842" y="4676111"/>
            <a:ext cx="389049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000000"/>
                </a:solidFill>
              </a:rPr>
              <a:t>+</a:t>
            </a:r>
            <a:endParaRPr lang="zh-CN" altLang="en-US" sz="3200"/>
          </a:p>
        </p:txBody>
      </p:sp>
      <p:cxnSp>
        <p:nvCxnSpPr>
          <p:cNvPr id="26" name="直线连接符 25"/>
          <p:cNvCxnSpPr/>
          <p:nvPr/>
        </p:nvCxnSpPr>
        <p:spPr>
          <a:xfrm>
            <a:off x="6511890" y="4996511"/>
            <a:ext cx="328242" cy="0"/>
          </a:xfrm>
          <a:prstGeom prst="line">
            <a:avLst/>
          </a:prstGeom>
          <a:ln w="3810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线连接符 26"/>
          <p:cNvCxnSpPr>
            <a:stCxn id="10" idx="3"/>
            <a:endCxn id="24" idx="4"/>
          </p:cNvCxnSpPr>
          <p:nvPr/>
        </p:nvCxnSpPr>
        <p:spPr>
          <a:xfrm flipV="1">
            <a:off x="5648725" y="5187157"/>
            <a:ext cx="662258" cy="918800"/>
          </a:xfrm>
          <a:prstGeom prst="bentConnector2">
            <a:avLst/>
          </a:prstGeom>
          <a:ln w="3810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5675361" y="6161072"/>
            <a:ext cx="635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/>
              <a:t>0x20</a:t>
            </a:r>
            <a:endParaRPr kumimoji="1"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5377265" y="4826245"/>
            <a:ext cx="517391" cy="352748"/>
          </a:xfrm>
          <a:prstGeom prst="rect">
            <a:avLst/>
          </a:prstGeom>
          <a:noFill/>
          <a:ln w="38100" cmpd="sng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>
                <a:solidFill>
                  <a:srgbClr val="000000"/>
                </a:solidFill>
              </a:rPr>
              <a:t>10</a:t>
            </a:r>
            <a:endParaRPr kumimoji="1" lang="zh-CN" altLang="en-US" sz="2000">
              <a:solidFill>
                <a:srgbClr val="000000"/>
              </a:solidFill>
            </a:endParaRPr>
          </a:p>
        </p:txBody>
      </p:sp>
      <p:cxnSp>
        <p:nvCxnSpPr>
          <p:cNvPr id="39" name="肘形连接符 38"/>
          <p:cNvCxnSpPr>
            <a:stCxn id="38" idx="3"/>
            <a:endCxn id="24" idx="2"/>
          </p:cNvCxnSpPr>
          <p:nvPr/>
        </p:nvCxnSpPr>
        <p:spPr>
          <a:xfrm>
            <a:off x="5894655" y="5002620"/>
            <a:ext cx="228186" cy="2285"/>
          </a:xfrm>
          <a:prstGeom prst="bentConnector3">
            <a:avLst>
              <a:gd name="adj1" fmla="val 50000"/>
            </a:avLst>
          </a:prstGeom>
          <a:ln w="38100" cmpd="sng">
            <a:solidFill>
              <a:schemeClr val="accent4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921244" y="4766882"/>
            <a:ext cx="4110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/>
              <a:t>D:</a:t>
            </a:r>
            <a:endParaRPr lang="zh-CN" altLang="en-US" sz="2000"/>
          </a:p>
        </p:txBody>
      </p:sp>
      <p:sp>
        <p:nvSpPr>
          <p:cNvPr id="4" name="矩形 3"/>
          <p:cNvSpPr/>
          <p:nvPr/>
        </p:nvSpPr>
        <p:spPr>
          <a:xfrm>
            <a:off x="3211923" y="3387979"/>
            <a:ext cx="390363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kumimoji="1" lang="en-US" altLang="zh-CN">
                <a:latin typeface="Arial"/>
                <a:cs typeface="Arial"/>
              </a:rPr>
              <a:t>Memory operand: 10(%</a:t>
            </a:r>
            <a:r>
              <a:rPr kumimoji="1" lang="en-US" altLang="zh-CN" err="1">
                <a:latin typeface="Arial"/>
                <a:cs typeface="Arial"/>
              </a:rPr>
              <a:t>rax</a:t>
            </a:r>
            <a:r>
              <a:rPr kumimoji="1" lang="en-US" altLang="zh-CN">
                <a:latin typeface="Arial"/>
                <a:cs typeface="Arial"/>
              </a:rPr>
              <a:t>, %</a:t>
            </a:r>
            <a:r>
              <a:rPr kumimoji="1" lang="en-US" altLang="zh-CN" err="1">
                <a:latin typeface="Arial"/>
                <a:cs typeface="Arial"/>
              </a:rPr>
              <a:t>rbx</a:t>
            </a:r>
            <a:r>
              <a:rPr kumimoji="1" lang="en-US" altLang="zh-CN">
                <a:latin typeface="Arial"/>
                <a:cs typeface="Arial"/>
              </a:rPr>
              <a:t>, 4)</a:t>
            </a:r>
            <a:endParaRPr lang="zh-CN" altLang="en-US">
              <a:latin typeface="Arial"/>
              <a:cs typeface="Arial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024224C-9C81-E09E-3FAD-19BDE47A388D}"/>
              </a:ext>
            </a:extLst>
          </p:cNvPr>
          <p:cNvGrpSpPr/>
          <p:nvPr/>
        </p:nvGrpSpPr>
        <p:grpSpPr>
          <a:xfrm>
            <a:off x="381396" y="1684578"/>
            <a:ext cx="3176192" cy="1105678"/>
            <a:chOff x="381396" y="1684578"/>
            <a:chExt cx="3176192" cy="11056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63D415-470C-B5CE-2A34-F328529B11F2}"/>
                </a:ext>
              </a:extLst>
            </p:cNvPr>
            <p:cNvSpPr txBox="1"/>
            <p:nvPr/>
          </p:nvSpPr>
          <p:spPr>
            <a:xfrm>
              <a:off x="381396" y="2143925"/>
              <a:ext cx="2070247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If S is 1 or D is 0, </a:t>
              </a:r>
            </a:p>
            <a:p>
              <a:r>
                <a:rPr lang="en-US" altLang="zh-CN" dirty="0"/>
                <a:t>they can be omitted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20E4784-3E81-E208-45CB-7DB420AF6A72}"/>
                </a:ext>
              </a:extLst>
            </p:cNvPr>
            <p:cNvCxnSpPr>
              <a:stCxn id="11" idx="0"/>
            </p:cNvCxnSpPr>
            <p:nvPr/>
          </p:nvCxnSpPr>
          <p:spPr>
            <a:xfrm flipV="1">
              <a:off x="1416520" y="1685925"/>
              <a:ext cx="779663" cy="45800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FD14E4A-ECBF-E47D-6525-527334376D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16520" y="1684578"/>
              <a:ext cx="2141068" cy="48226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306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Complete Memory Addressing Mode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dirty="0"/>
              <a:t>D(Rb, Ri, S):  </a:t>
            </a:r>
            <a:r>
              <a:rPr kumimoji="1" lang="en-US" altLang="zh-CN" dirty="0" err="1"/>
              <a:t>val</a:t>
            </a:r>
            <a:r>
              <a:rPr kumimoji="1" lang="en-US" altLang="zh-CN" dirty="0"/>
              <a:t>(Rb) + S * </a:t>
            </a:r>
            <a:r>
              <a:rPr kumimoji="1" lang="en-US" altLang="zh-CN" dirty="0" err="1"/>
              <a:t>val</a:t>
            </a:r>
            <a:r>
              <a:rPr kumimoji="1" lang="en-US" altLang="zh-CN" dirty="0"/>
              <a:t>(Ri) + D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If S is 1 or D is 0, they can be omitted</a:t>
            </a:r>
          </a:p>
          <a:p>
            <a:pPr lvl="1"/>
            <a:r>
              <a:rPr lang="en-US" altLang="zh-CN" dirty="0"/>
              <a:t>(Rb, Ri): </a:t>
            </a:r>
            <a:r>
              <a:rPr lang="en-US" altLang="zh-CN" dirty="0" err="1"/>
              <a:t>val</a:t>
            </a:r>
            <a:r>
              <a:rPr lang="en-US" altLang="zh-CN" dirty="0"/>
              <a:t>(Rb) + </a:t>
            </a:r>
            <a:r>
              <a:rPr lang="en-US" altLang="zh-CN" dirty="0" err="1"/>
              <a:t>val</a:t>
            </a:r>
            <a:r>
              <a:rPr lang="en-US" altLang="zh-CN" dirty="0"/>
              <a:t>(Ri)</a:t>
            </a:r>
          </a:p>
          <a:p>
            <a:pPr lvl="1"/>
            <a:r>
              <a:rPr lang="en-US" altLang="zh-CN" dirty="0"/>
              <a:t>D(Rb, Ri): </a:t>
            </a:r>
            <a:r>
              <a:rPr lang="en-US" altLang="zh-CN" dirty="0" err="1"/>
              <a:t>val</a:t>
            </a:r>
            <a:r>
              <a:rPr lang="en-US" altLang="zh-CN" dirty="0"/>
              <a:t>(Rb) + </a:t>
            </a:r>
            <a:r>
              <a:rPr lang="en-US" altLang="zh-CN" dirty="0" err="1"/>
              <a:t>val</a:t>
            </a:r>
            <a:r>
              <a:rPr lang="en-US" altLang="zh-CN" dirty="0"/>
              <a:t>(Ri) + D</a:t>
            </a:r>
          </a:p>
          <a:p>
            <a:pPr lvl="1"/>
            <a:r>
              <a:rPr lang="en-US" altLang="zh-CN" dirty="0"/>
              <a:t>(Rb, Ri, S): </a:t>
            </a:r>
            <a:r>
              <a:rPr lang="en-US" altLang="zh-CN" dirty="0" err="1"/>
              <a:t>val</a:t>
            </a:r>
            <a:r>
              <a:rPr lang="en-US" altLang="zh-CN" dirty="0"/>
              <a:t>(Rb) + S * </a:t>
            </a:r>
            <a:r>
              <a:rPr lang="en-US" altLang="zh-CN" dirty="0" err="1"/>
              <a:t>val</a:t>
            </a:r>
            <a:r>
              <a:rPr lang="en-US" altLang="zh-CN" dirty="0"/>
              <a:t>(Ri)</a:t>
            </a:r>
          </a:p>
          <a:p>
            <a:pPr marL="457200" lvl="1" indent="0">
              <a:buNone/>
            </a:pPr>
            <a:r>
              <a:rPr lang="en-US" altLang="zh-CN" dirty="0"/>
              <a:t> 	</a:t>
            </a:r>
          </a:p>
        </p:txBody>
      </p:sp>
    </p:spTree>
    <p:extLst>
      <p:ext uri="{BB962C8B-B14F-4D97-AF65-F5344CB8AC3E}">
        <p14:creationId xmlns:p14="http://schemas.microsoft.com/office/powerpoint/2010/main" val="673148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/>
        </p:nvGraphicFramePr>
        <p:xfrm>
          <a:off x="2538911" y="304038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" name="Rectangle 2"/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/>
        </p:nvGraphicFramePr>
        <p:xfrm>
          <a:off x="2538911" y="304800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/>
        </p:nvGraphicFramePr>
        <p:xfrm>
          <a:off x="2590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908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/>
        </p:nvGraphicFramePr>
        <p:xfrm>
          <a:off x="2538911" y="304038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" name="Rectangle 2"/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/>
        </p:nvGraphicFramePr>
        <p:xfrm>
          <a:off x="2538911" y="304800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/>
        </p:nvGraphicFramePr>
        <p:xfrm>
          <a:off x="2590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173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/>
        </p:nvGraphicFramePr>
        <p:xfrm>
          <a:off x="2538911" y="304038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" name="Rectangle 2"/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/>
        </p:nvGraphicFramePr>
        <p:xfrm>
          <a:off x="2538911" y="304800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/>
        </p:nvGraphicFramePr>
        <p:xfrm>
          <a:off x="2590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8608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/>
        </p:nvGraphicFramePr>
        <p:xfrm>
          <a:off x="2538911" y="304038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" name="Rectangle 2"/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/>
        </p:nvGraphicFramePr>
        <p:xfrm>
          <a:off x="2538911" y="304800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+ 4*0x100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0xf400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/>
        </p:nvGraphicFramePr>
        <p:xfrm>
          <a:off x="2590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824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/>
        </p:nvGraphicFramePr>
        <p:xfrm>
          <a:off x="2538911" y="304038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" name="Rectangle 2"/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/>
        </p:nvGraphicFramePr>
        <p:xfrm>
          <a:off x="2538911" y="304800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+ 4*0x100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0xf400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2*0xf000 + 0x80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0x1e080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/>
        </p:nvGraphicFramePr>
        <p:xfrm>
          <a:off x="2590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6115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Complete addressing mode</a:t>
            </a:r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72891" y="3305652"/>
            <a:ext cx="43784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Consolas"/>
                <a:cs typeface="Consolas"/>
              </a:rPr>
              <a:t> long a[] = {1, 2, 3};</a:t>
            </a:r>
          </a:p>
          <a:p>
            <a:r>
              <a:rPr lang="en-US" altLang="zh-CN" sz="2000">
                <a:latin typeface="Consolas"/>
                <a:cs typeface="Consolas"/>
              </a:rPr>
              <a:t> for(int i = 0; i &lt; 3; i++) {</a:t>
            </a:r>
          </a:p>
          <a:p>
            <a:r>
              <a:rPr lang="en-US" altLang="zh-CN" sz="2000" b="1">
                <a:latin typeface="Consolas"/>
                <a:cs typeface="Consolas"/>
              </a:rPr>
              <a:t>     </a:t>
            </a:r>
            <a:r>
              <a:rPr lang="en-US" altLang="zh-CN" sz="2000" b="1">
                <a:highlight>
                  <a:srgbClr val="FFFF00"/>
                </a:highlight>
                <a:latin typeface="Consolas"/>
                <a:cs typeface="Consolas"/>
              </a:rPr>
              <a:t>a[i] = 0;</a:t>
            </a:r>
          </a:p>
          <a:p>
            <a:r>
              <a:rPr lang="en-US" altLang="zh-CN" sz="2000">
                <a:latin typeface="Consolas"/>
                <a:cs typeface="Consolas"/>
              </a:rPr>
              <a:t> }</a:t>
            </a:r>
            <a:endParaRPr lang="mr-IN" altLang="zh-CN" sz="2000">
              <a:latin typeface="Consolas"/>
              <a:cs typeface="Consolas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4551316" y="3967372"/>
            <a:ext cx="847543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497603" y="3346277"/>
            <a:ext cx="58561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Store address of a[0] in some register, say %</a:t>
            </a:r>
            <a:r>
              <a:rPr lang="en-US" altLang="zh-CN" sz="2000" err="1">
                <a:latin typeface="Calibri" panose="020F0502020204030204" pitchFamily="34" charset="0"/>
                <a:cs typeface="Calibri" panose="020F0502020204030204" pitchFamily="34" charset="0"/>
              </a:rPr>
              <a:t>rdi</a:t>
            </a:r>
            <a:r>
              <a:rPr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, store </a:t>
            </a:r>
            <a:r>
              <a:rPr lang="en-US" altLang="zh-CN" sz="200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 in another register, say %</a:t>
            </a:r>
            <a:r>
              <a:rPr lang="en-US" altLang="zh-CN" sz="2000" err="1">
                <a:latin typeface="Calibri" panose="020F0502020204030204" pitchFamily="34" charset="0"/>
                <a:cs typeface="Calibri" panose="020F0502020204030204" pitchFamily="34" charset="0"/>
              </a:rPr>
              <a:t>rax</a:t>
            </a:r>
            <a:endParaRPr lang="en-US" altLang="zh-CN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Do memory write: </a:t>
            </a:r>
            <a:r>
              <a:rPr lang="en-US" altLang="zh-CN" sz="200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mov $0, (%</a:t>
            </a:r>
            <a:r>
              <a:rPr lang="en-US" altLang="zh-CN" sz="200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rdi</a:t>
            </a:r>
            <a:r>
              <a:rPr lang="en-US" altLang="zh-CN" sz="200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, %</a:t>
            </a:r>
            <a:r>
              <a:rPr lang="en-US" altLang="zh-CN" sz="200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rax</a:t>
            </a:r>
            <a:r>
              <a:rPr lang="en-US" altLang="zh-CN" sz="200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? </a:t>
            </a:r>
            <a:r>
              <a:rPr lang="en-US" altLang="zh-CN" sz="200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983672" y="1509720"/>
            <a:ext cx="8229600" cy="1380826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/>
              <a:t>D(Rb, Ri, S):  </a:t>
            </a:r>
            <a:r>
              <a:rPr kumimoji="1" lang="en-US" altLang="zh-CN" err="1"/>
              <a:t>val</a:t>
            </a:r>
            <a:r>
              <a:rPr kumimoji="1" lang="en-US" altLang="zh-CN"/>
              <a:t>(Rb) + S * </a:t>
            </a:r>
            <a:r>
              <a:rPr kumimoji="1" lang="en-US" altLang="zh-CN" err="1"/>
              <a:t>val</a:t>
            </a:r>
            <a:r>
              <a:rPr kumimoji="1" lang="en-US" altLang="zh-CN"/>
              <a:t>(Ri) + D</a:t>
            </a:r>
          </a:p>
        </p:txBody>
      </p:sp>
    </p:spTree>
    <p:extLst>
      <p:ext uri="{BB962C8B-B14F-4D97-AF65-F5344CB8AC3E}">
        <p14:creationId xmlns:p14="http://schemas.microsoft.com/office/powerpoint/2010/main" val="1991363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Example</a:t>
            </a:r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27525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3308195" y="2516013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b="1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 $0, (%</a:t>
            </a:r>
            <a:r>
              <a:rPr lang="en-US" altLang="zh-CN" sz="120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2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, 8)</a:t>
            </a:r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08195" y="2142580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200" b="1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b="1" err="1">
                <a:solidFill>
                  <a:prstClr val="black"/>
                </a:solidFill>
                <a:latin typeface="Arial"/>
                <a:cs typeface="Arial"/>
              </a:rPr>
              <a:t>addq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 $1, %</a:t>
            </a:r>
            <a:r>
              <a:rPr lang="en-US" altLang="zh-CN" sz="12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08195" y="1771790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08195" y="2889053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12565" y="4313686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16934" y="4686803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24515" y="5052863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24515" y="5420434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324515" y="5788935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24130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3308195" y="3960662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60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06898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0001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5550651" y="270285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5737036" y="2524827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3303384" y="3611110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308097" y="3260371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894799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883560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883560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883560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1883560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883560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894799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896448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900818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890288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913507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31BC8-6D18-44D1-AAEB-96F3F6BA5AE6}"/>
              </a:ext>
            </a:extLst>
          </p:cNvPr>
          <p:cNvSpPr txBox="1"/>
          <p:nvPr/>
        </p:nvSpPr>
        <p:spPr>
          <a:xfrm>
            <a:off x="1015329" y="5492041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a[0]: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B059C5-006F-40FC-ACEF-14716C7EB45A}"/>
              </a:ext>
            </a:extLst>
          </p:cNvPr>
          <p:cNvSpPr txBox="1"/>
          <p:nvPr/>
        </p:nvSpPr>
        <p:spPr>
          <a:xfrm>
            <a:off x="1015329" y="5106420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a[1]: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D62B95-1815-4FC2-8EBB-EB1F83A59E31}"/>
              </a:ext>
            </a:extLst>
          </p:cNvPr>
          <p:cNvSpPr txBox="1"/>
          <p:nvPr/>
        </p:nvSpPr>
        <p:spPr>
          <a:xfrm>
            <a:off x="1036216" y="4690904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a[2]:</a:t>
            </a:r>
          </a:p>
        </p:txBody>
      </p:sp>
      <p:sp>
        <p:nvSpPr>
          <p:cNvPr id="24" name="矩形 18">
            <a:extLst>
              <a:ext uri="{FF2B5EF4-FFF2-40B4-BE49-F238E27FC236}">
                <a16:creationId xmlns:a16="http://schemas.microsoft.com/office/drawing/2014/main" id="{7FA7DA83-639F-491B-B6A6-77A8228843E7}"/>
              </a:ext>
            </a:extLst>
          </p:cNvPr>
          <p:cNvSpPr/>
          <p:nvPr/>
        </p:nvSpPr>
        <p:spPr>
          <a:xfrm>
            <a:off x="4091293" y="86925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6" name="矩形 7">
            <a:extLst>
              <a:ext uri="{FF2B5EF4-FFF2-40B4-BE49-F238E27FC236}">
                <a16:creationId xmlns:a16="http://schemas.microsoft.com/office/drawing/2014/main" id="{55381176-C2F4-40E2-8D95-B457C586FC68}"/>
              </a:ext>
            </a:extLst>
          </p:cNvPr>
          <p:cNvSpPr/>
          <p:nvPr/>
        </p:nvSpPr>
        <p:spPr>
          <a:xfrm>
            <a:off x="3303384" y="1400019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2" name="矩形 75">
            <a:extLst>
              <a:ext uri="{FF2B5EF4-FFF2-40B4-BE49-F238E27FC236}">
                <a16:creationId xmlns:a16="http://schemas.microsoft.com/office/drawing/2014/main" id="{618A9516-DD80-4298-99C6-9594269B0E3E}"/>
              </a:ext>
            </a:extLst>
          </p:cNvPr>
          <p:cNvSpPr/>
          <p:nvPr/>
        </p:nvSpPr>
        <p:spPr>
          <a:xfrm>
            <a:off x="1889413" y="1394979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752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Example</a:t>
            </a:r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27525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3308195" y="2516013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b="1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 $0, (%</a:t>
            </a:r>
            <a:r>
              <a:rPr lang="en-US" altLang="zh-CN" sz="120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2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, 8)</a:t>
            </a:r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08195" y="2142580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200" b="1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b="1" err="1">
                <a:solidFill>
                  <a:prstClr val="black"/>
                </a:solidFill>
                <a:latin typeface="Arial"/>
                <a:cs typeface="Arial"/>
              </a:rPr>
              <a:t>addq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 $1, %</a:t>
            </a:r>
            <a:r>
              <a:rPr lang="en-US" altLang="zh-CN" sz="12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08195" y="1771790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08195" y="2889053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12565" y="4313686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16934" y="4686803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24515" y="5052863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24515" y="5420434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324515" y="5788935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24130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3308195" y="3960662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60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06898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0001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5565610" y="232937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5751995" y="2151345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3303384" y="3611110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308097" y="3260371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894799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883560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883560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883560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1883560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883560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894799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896448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900818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890288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913507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31BC8-6D18-44D1-AAEB-96F3F6BA5AE6}"/>
              </a:ext>
            </a:extLst>
          </p:cNvPr>
          <p:cNvSpPr txBox="1"/>
          <p:nvPr/>
        </p:nvSpPr>
        <p:spPr>
          <a:xfrm>
            <a:off x="1015329" y="5492041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a[0]: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B059C5-006F-40FC-ACEF-14716C7EB45A}"/>
              </a:ext>
            </a:extLst>
          </p:cNvPr>
          <p:cNvSpPr txBox="1"/>
          <p:nvPr/>
        </p:nvSpPr>
        <p:spPr>
          <a:xfrm>
            <a:off x="1015329" y="5106420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a[1]: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D62B95-1815-4FC2-8EBB-EB1F83A59E31}"/>
              </a:ext>
            </a:extLst>
          </p:cNvPr>
          <p:cNvSpPr txBox="1"/>
          <p:nvPr/>
        </p:nvSpPr>
        <p:spPr>
          <a:xfrm>
            <a:off x="1036216" y="4690904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a[2]:</a:t>
            </a:r>
          </a:p>
        </p:txBody>
      </p:sp>
      <p:sp>
        <p:nvSpPr>
          <p:cNvPr id="18" name="矩形 18">
            <a:extLst>
              <a:ext uri="{FF2B5EF4-FFF2-40B4-BE49-F238E27FC236}">
                <a16:creationId xmlns:a16="http://schemas.microsoft.com/office/drawing/2014/main" id="{9CC21936-8086-49DC-BACA-F7519CE7FC11}"/>
              </a:ext>
            </a:extLst>
          </p:cNvPr>
          <p:cNvSpPr/>
          <p:nvPr/>
        </p:nvSpPr>
        <p:spPr>
          <a:xfrm>
            <a:off x="4091293" y="86925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0" name="矩形 7">
            <a:extLst>
              <a:ext uri="{FF2B5EF4-FFF2-40B4-BE49-F238E27FC236}">
                <a16:creationId xmlns:a16="http://schemas.microsoft.com/office/drawing/2014/main" id="{E34E57E1-1E9C-4F5E-AEF9-69196D8CF9E6}"/>
              </a:ext>
            </a:extLst>
          </p:cNvPr>
          <p:cNvSpPr/>
          <p:nvPr/>
        </p:nvSpPr>
        <p:spPr>
          <a:xfrm>
            <a:off x="3303384" y="1400019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2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1" name="矩形 75">
            <a:extLst>
              <a:ext uri="{FF2B5EF4-FFF2-40B4-BE49-F238E27FC236}">
                <a16:creationId xmlns:a16="http://schemas.microsoft.com/office/drawing/2014/main" id="{FBED93E3-7B92-4300-ADE5-2ACE07DEDD88}"/>
              </a:ext>
            </a:extLst>
          </p:cNvPr>
          <p:cNvSpPr/>
          <p:nvPr/>
        </p:nvSpPr>
        <p:spPr>
          <a:xfrm>
            <a:off x="1889413" y="1394979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8854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b="1"/>
              <a:t>lea</a:t>
            </a:r>
            <a:r>
              <a:rPr kumimoji="1" lang="en-US" altLang="zh-CN"/>
              <a:t> instruction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3200" b="1" err="1"/>
              <a:t>leaq</a:t>
            </a:r>
            <a:r>
              <a:rPr kumimoji="1" lang="en-US" altLang="zh-CN" sz="3200"/>
              <a:t> </a:t>
            </a:r>
            <a:r>
              <a:rPr kumimoji="1" lang="en-US" altLang="zh-CN" sz="3200" i="1"/>
              <a:t>Source, </a:t>
            </a:r>
            <a:r>
              <a:rPr kumimoji="1" lang="en-US" altLang="zh-CN" sz="3200" i="1" err="1"/>
              <a:t>Dest</a:t>
            </a:r>
            <a:r>
              <a:rPr kumimoji="1" lang="en-US" altLang="zh-CN" sz="3200"/>
              <a:t> </a:t>
            </a:r>
          </a:p>
          <a:p>
            <a:pPr lvl="1"/>
            <a:r>
              <a:rPr kumimoji="1" lang="en-US" altLang="zh-CN" sz="2800"/>
              <a:t>Short for </a:t>
            </a:r>
            <a:r>
              <a:rPr kumimoji="1" lang="en-US" altLang="zh-CN" sz="2800" b="1"/>
              <a:t>L</a:t>
            </a:r>
            <a:r>
              <a:rPr kumimoji="1" lang="en-US" altLang="zh-CN" sz="2800"/>
              <a:t>oad </a:t>
            </a:r>
            <a:r>
              <a:rPr kumimoji="1" lang="en-US" altLang="zh-CN" sz="2800" b="1"/>
              <a:t>E</a:t>
            </a:r>
            <a:r>
              <a:rPr kumimoji="1" lang="en-US" altLang="zh-CN" sz="2800"/>
              <a:t>ffective </a:t>
            </a:r>
            <a:r>
              <a:rPr kumimoji="1" lang="en-US" altLang="zh-CN" sz="2800" b="1"/>
              <a:t>A</a:t>
            </a:r>
            <a:r>
              <a:rPr kumimoji="1" lang="en-US" altLang="zh-CN" sz="2800"/>
              <a:t>ddress</a:t>
            </a:r>
          </a:p>
          <a:p>
            <a:pPr lvl="1"/>
            <a:r>
              <a:rPr kumimoji="1" lang="en-US" altLang="zh-CN" sz="2800"/>
              <a:t>Set </a:t>
            </a:r>
            <a:r>
              <a:rPr kumimoji="1" lang="en-US" altLang="zh-CN" sz="2800" i="1" err="1"/>
              <a:t>Dest</a:t>
            </a:r>
            <a:r>
              <a:rPr kumimoji="1" lang="en-US" altLang="zh-CN" sz="2800"/>
              <a:t> to the address denoted by </a:t>
            </a:r>
            <a:r>
              <a:rPr kumimoji="1" lang="en-US" altLang="zh-CN" sz="2800" i="1"/>
              <a:t>Source </a:t>
            </a:r>
            <a:r>
              <a:rPr kumimoji="1" lang="en-US" altLang="zh-CN" sz="2800"/>
              <a:t>address mode expression</a:t>
            </a:r>
          </a:p>
          <a:p>
            <a:pPr lvl="1"/>
            <a:r>
              <a:rPr kumimoji="1" lang="en-US" altLang="zh-CN" sz="2800"/>
              <a:t>Performs address calculation only; no memory access!</a:t>
            </a:r>
          </a:p>
          <a:p>
            <a:pPr marL="457200" lvl="1" indent="0">
              <a:buNone/>
            </a:pPr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pPr lvl="1"/>
            <a:endParaRPr kumimoji="1" lang="en-US" altLang="zh-CN"/>
          </a:p>
          <a:p>
            <a:endParaRPr kumimoji="1" lang="zh-CN" altLang="en-US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5135912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Example</a:t>
            </a:r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27525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3308195" y="25042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08195" y="21308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08195" y="17600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08195" y="28772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5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500" b="1" err="1">
                <a:solidFill>
                  <a:prstClr val="black"/>
                </a:solidFill>
                <a:latin typeface="Arial"/>
                <a:cs typeface="Arial"/>
              </a:rPr>
              <a:t>leaq</a:t>
            </a:r>
            <a:r>
              <a:rPr lang="en-US" altLang="zh-CN" sz="1500" b="1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500">
                <a:solidFill>
                  <a:prstClr val="black"/>
                </a:solidFill>
                <a:latin typeface="Arial"/>
                <a:cs typeface="Arial"/>
              </a:rPr>
              <a:t> 8</a:t>
            </a:r>
            <a:r>
              <a:rPr lang="mr-IN" altLang="zh-CN" sz="150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r>
              <a:rPr lang="en-US" altLang="zh-CN" sz="150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500" err="1">
                <a:solidFill>
                  <a:prstClr val="black"/>
                </a:solidFill>
                <a:latin typeface="Arial"/>
                <a:cs typeface="Arial"/>
              </a:rPr>
              <a:t>rbx</a:t>
            </a:r>
            <a:endParaRPr lang="zh-CN" altLang="en-US" sz="15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12565" y="4301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16934" y="46868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24515" y="50528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24515" y="54204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324515" y="57889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24130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3308195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06898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schemeClr val="tx1"/>
                </a:solidFill>
                <a:latin typeface="Arial"/>
                <a:cs typeface="Arial"/>
              </a:rPr>
              <a:t>0010</a:t>
            </a:r>
            <a:endParaRPr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5268435" y="305484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5454820" y="2888573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3303384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308097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894799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883560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883560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883560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1883560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883560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894799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896448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900818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890288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913507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1194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Example</a:t>
            </a:r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27525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3308195" y="25042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08195" y="21308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08195" y="17600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08195" y="28772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5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500" b="1" err="1">
                <a:solidFill>
                  <a:prstClr val="black"/>
                </a:solidFill>
                <a:latin typeface="Arial"/>
                <a:cs typeface="Arial"/>
              </a:rPr>
              <a:t>leaq</a:t>
            </a:r>
            <a:r>
              <a:rPr lang="en-US" altLang="zh-CN" sz="1500" b="1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500">
                <a:solidFill>
                  <a:prstClr val="black"/>
                </a:solidFill>
                <a:latin typeface="Arial"/>
                <a:cs typeface="Arial"/>
              </a:rPr>
              <a:t> 8</a:t>
            </a:r>
            <a:r>
              <a:rPr lang="mr-IN" altLang="zh-CN" sz="150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r>
              <a:rPr lang="en-US" altLang="zh-CN" sz="150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500" err="1">
                <a:solidFill>
                  <a:prstClr val="black"/>
                </a:solidFill>
                <a:latin typeface="Arial"/>
                <a:cs typeface="Arial"/>
              </a:rPr>
              <a:t>rbx</a:t>
            </a:r>
            <a:endParaRPr lang="zh-CN" altLang="en-US" sz="15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12565" y="4301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16934" y="46868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24515" y="50528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24515" y="54204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324515" y="57889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24130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3308195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06898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8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80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800"/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schemeClr val="tx1"/>
                </a:solidFill>
                <a:latin typeface="Arial"/>
                <a:cs typeface="Arial"/>
              </a:rPr>
              <a:t>0010</a:t>
            </a:r>
            <a:endParaRPr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5341097" y="274089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5527482" y="2574623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3303384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308097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894799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883560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883560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883560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1883560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883560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894799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896448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900818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890288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913507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9136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CA808-2573-ACDA-712D-B1EACF969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 case for lea: calculate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7ECFE-88B8-60E9-28DF-C80F43A1F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95057"/>
            <a:ext cx="10515600" cy="218190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9FAAD7A-B880-01DC-D77E-C528829AF26E}"/>
              </a:ext>
            </a:extLst>
          </p:cNvPr>
          <p:cNvSpPr>
            <a:spLocks/>
          </p:cNvSpPr>
          <p:nvPr/>
        </p:nvSpPr>
        <p:spPr bwMode="auto">
          <a:xfrm>
            <a:off x="1959429" y="3001267"/>
            <a:ext cx="3886200" cy="61589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dirty="0">
                <a:latin typeface="Consolas"/>
                <a:cs typeface="Consolas"/>
              </a:rPr>
              <a:t>long *p = &amp;a[i];</a:t>
            </a:r>
          </a:p>
        </p:txBody>
      </p:sp>
      <p:sp>
        <p:nvSpPr>
          <p:cNvPr id="5" name="右箭头 6">
            <a:extLst>
              <a:ext uri="{FF2B5EF4-FFF2-40B4-BE49-F238E27FC236}">
                <a16:creationId xmlns:a16="http://schemas.microsoft.com/office/drawing/2014/main" id="{B274C70D-7D5B-CED7-6934-31C8DA1C110F}"/>
              </a:ext>
            </a:extLst>
          </p:cNvPr>
          <p:cNvSpPr/>
          <p:nvPr/>
        </p:nvSpPr>
        <p:spPr>
          <a:xfrm>
            <a:off x="4855436" y="3030522"/>
            <a:ext cx="622806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7">
            <a:extLst>
              <a:ext uri="{FF2B5EF4-FFF2-40B4-BE49-F238E27FC236}">
                <a16:creationId xmlns:a16="http://schemas.microsoft.com/office/drawing/2014/main" id="{084D65C8-094F-DE5E-65A1-37463F1E5BF7}"/>
              </a:ext>
            </a:extLst>
          </p:cNvPr>
          <p:cNvSpPr/>
          <p:nvPr/>
        </p:nvSpPr>
        <p:spPr>
          <a:xfrm>
            <a:off x="6096000" y="2939880"/>
            <a:ext cx="36516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r-IN" altLang="zh-CN" b="1" dirty="0" err="1">
                <a:latin typeface="Consolas"/>
                <a:cs typeface="Consolas"/>
              </a:rPr>
              <a:t>leaq</a:t>
            </a:r>
            <a:r>
              <a:rPr lang="mr-IN" altLang="zh-CN" b="1" dirty="0">
                <a:latin typeface="Consolas"/>
                <a:cs typeface="Consolas"/>
              </a:rPr>
              <a:t> </a:t>
            </a:r>
            <a:r>
              <a:rPr lang="mr-IN" altLang="zh-CN" dirty="0">
                <a:latin typeface="Consolas"/>
                <a:cs typeface="Consolas"/>
              </a:rPr>
              <a:t>(%</a:t>
            </a:r>
            <a:r>
              <a:rPr lang="mr-IN" altLang="zh-CN" dirty="0" err="1">
                <a:latin typeface="Consolas"/>
                <a:cs typeface="Consolas"/>
              </a:rPr>
              <a:t>rdi</a:t>
            </a:r>
            <a:r>
              <a:rPr lang="mr-IN" altLang="zh-CN" dirty="0">
                <a:latin typeface="Consolas"/>
                <a:cs typeface="Consolas"/>
              </a:rPr>
              <a:t>, %</a:t>
            </a:r>
            <a:r>
              <a:rPr lang="mr-IN" altLang="zh-CN" dirty="0" err="1">
                <a:latin typeface="Consolas"/>
                <a:cs typeface="Consolas"/>
              </a:rPr>
              <a:t>r</a:t>
            </a:r>
            <a:r>
              <a:rPr lang="en-US" altLang="zh-CN" dirty="0">
                <a:latin typeface="Consolas"/>
                <a:cs typeface="Consolas"/>
              </a:rPr>
              <a:t>s</a:t>
            </a:r>
            <a:r>
              <a:rPr lang="mr-IN" altLang="zh-CN" dirty="0" err="1">
                <a:latin typeface="Consolas"/>
                <a:cs typeface="Consolas"/>
              </a:rPr>
              <a:t>i</a:t>
            </a:r>
            <a:r>
              <a:rPr lang="mr-IN" altLang="zh-CN" dirty="0">
                <a:latin typeface="Consolas"/>
                <a:cs typeface="Consolas"/>
              </a:rPr>
              <a:t>,</a:t>
            </a:r>
            <a:r>
              <a:rPr lang="en-US" altLang="zh-CN" dirty="0">
                <a:latin typeface="Consolas"/>
                <a:cs typeface="Consolas"/>
              </a:rPr>
              <a:t> 8</a:t>
            </a:r>
            <a:r>
              <a:rPr lang="mr-IN" altLang="zh-CN" dirty="0">
                <a:latin typeface="Consolas"/>
                <a:cs typeface="Consolas"/>
              </a:rPr>
              <a:t>), %</a:t>
            </a:r>
            <a:r>
              <a:rPr lang="mr-IN" altLang="zh-CN" dirty="0" err="1">
                <a:latin typeface="Consolas"/>
                <a:cs typeface="Consolas"/>
              </a:rPr>
              <a:t>rax</a:t>
            </a:r>
            <a:endParaRPr lang="mr-IN" altLang="zh-CN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65955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Another common use case for lea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Lea is used to compute certain simple arithmetic expression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81200" y="3012720"/>
            <a:ext cx="26895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latin typeface="Consolas"/>
                <a:cs typeface="Consolas"/>
              </a:rPr>
              <a:t>long m3(long x)</a:t>
            </a:r>
          </a:p>
          <a:p>
            <a:r>
              <a:rPr lang="en-US" altLang="zh-CN">
                <a:latin typeface="Consolas"/>
                <a:cs typeface="Consolas"/>
              </a:rPr>
              <a:t>{</a:t>
            </a:r>
          </a:p>
          <a:p>
            <a:r>
              <a:rPr lang="en-US" altLang="zh-CN">
                <a:latin typeface="Consolas"/>
                <a:cs typeface="Consolas"/>
              </a:rPr>
              <a:t>  return x*3;</a:t>
            </a:r>
          </a:p>
          <a:p>
            <a:r>
              <a:rPr lang="en-US" altLang="zh-CN">
                <a:latin typeface="Consolas"/>
                <a:cs typeface="Consolas"/>
              </a:rPr>
              <a:t>}</a:t>
            </a:r>
          </a:p>
        </p:txBody>
      </p:sp>
      <p:sp>
        <p:nvSpPr>
          <p:cNvPr id="7" name="右箭头 6"/>
          <p:cNvSpPr/>
          <p:nvPr/>
        </p:nvSpPr>
        <p:spPr>
          <a:xfrm>
            <a:off x="4855436" y="3030522"/>
            <a:ext cx="622806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05553" y="305021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mr-IN" altLang="zh-CN">
              <a:latin typeface="Consolas"/>
              <a:cs typeface="Consola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04535" y="4766005"/>
            <a:ext cx="48028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/>
                <a:cs typeface="Arial"/>
              </a:rPr>
              <a:t>Assume %</a:t>
            </a:r>
            <a:r>
              <a:rPr lang="en-US" altLang="zh-CN" sz="2400" b="1" err="1">
                <a:latin typeface="Arial"/>
                <a:cs typeface="Arial"/>
              </a:rPr>
              <a:t>rdi</a:t>
            </a:r>
            <a:r>
              <a:rPr lang="en-US" altLang="zh-CN" sz="2400" b="1">
                <a:latin typeface="Arial"/>
                <a:cs typeface="Arial"/>
              </a:rPr>
              <a:t> has the value of x</a:t>
            </a:r>
            <a:endParaRPr lang="zh-CN" altLang="en-US" sz="2400" b="1">
              <a:latin typeface="Arial"/>
              <a:cs typeface="Arial"/>
            </a:endParaRPr>
          </a:p>
        </p:txBody>
      </p:sp>
      <p:sp>
        <p:nvSpPr>
          <p:cNvPr id="9" name="矩形 7"/>
          <p:cNvSpPr/>
          <p:nvPr/>
        </p:nvSpPr>
        <p:spPr>
          <a:xfrm>
            <a:off x="6357954" y="3202614"/>
            <a:ext cx="36516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r-IN" altLang="zh-CN" b="1" dirty="0" err="1">
                <a:latin typeface="Consolas"/>
                <a:cs typeface="Consolas"/>
              </a:rPr>
              <a:t>leaq</a:t>
            </a:r>
            <a:r>
              <a:rPr lang="mr-IN" altLang="zh-CN" b="1" dirty="0">
                <a:latin typeface="Consolas"/>
                <a:cs typeface="Consolas"/>
              </a:rPr>
              <a:t> </a:t>
            </a:r>
            <a:r>
              <a:rPr lang="mr-IN" altLang="zh-CN" dirty="0">
                <a:latin typeface="Consolas"/>
                <a:cs typeface="Consolas"/>
              </a:rPr>
              <a:t>(%</a:t>
            </a:r>
            <a:r>
              <a:rPr lang="mr-IN" altLang="zh-CN" dirty="0" err="1">
                <a:latin typeface="Consolas"/>
                <a:cs typeface="Consolas"/>
              </a:rPr>
              <a:t>rdi</a:t>
            </a:r>
            <a:r>
              <a:rPr lang="mr-IN" altLang="zh-CN" dirty="0">
                <a:latin typeface="Consolas"/>
                <a:cs typeface="Consolas"/>
              </a:rPr>
              <a:t>, %rdi,2), %</a:t>
            </a:r>
            <a:r>
              <a:rPr lang="mr-IN" altLang="zh-CN" dirty="0" err="1">
                <a:latin typeface="Consolas"/>
                <a:cs typeface="Consolas"/>
              </a:rPr>
              <a:t>rax</a:t>
            </a:r>
            <a:endParaRPr lang="mr-IN" altLang="zh-CN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23268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Arithmetic Expression Puzzle</a:t>
            </a:r>
          </a:p>
        </p:txBody>
      </p:sp>
      <p:sp>
        <p:nvSpPr>
          <p:cNvPr id="17413" name="Rectangle 5"/>
          <p:cNvSpPr>
            <a:spLocks/>
          </p:cNvSpPr>
          <p:nvPr/>
        </p:nvSpPr>
        <p:spPr bwMode="auto">
          <a:xfrm>
            <a:off x="1240412" y="2872069"/>
            <a:ext cx="3886200" cy="1118333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dirty="0" err="1">
                <a:latin typeface="Consolas"/>
                <a:cs typeface="Consolas"/>
              </a:rPr>
              <a:t>leaq</a:t>
            </a:r>
            <a:r>
              <a:rPr lang="en-US" dirty="0">
                <a:latin typeface="Consolas"/>
                <a:cs typeface="Consolas"/>
              </a:rPr>
              <a:t>	(%rdi,%rsi,2), %</a:t>
            </a:r>
            <a:r>
              <a:rPr lang="en-US" dirty="0" err="1">
                <a:latin typeface="Consolas"/>
                <a:cs typeface="Consolas"/>
              </a:rPr>
              <a:t>rax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 err="1">
                <a:latin typeface="Consolas"/>
                <a:cs typeface="Consolas"/>
              </a:rPr>
              <a:t>leaq</a:t>
            </a:r>
            <a:r>
              <a:rPr lang="en-US" dirty="0">
                <a:latin typeface="Consolas"/>
                <a:cs typeface="Consolas"/>
              </a:rPr>
              <a:t>	(%rax,%rax,4), %</a:t>
            </a:r>
            <a:r>
              <a:rPr lang="en-US" dirty="0" err="1">
                <a:latin typeface="Consolas"/>
                <a:cs typeface="Consolas"/>
              </a:rPr>
              <a:t>rax</a:t>
            </a:r>
            <a:endParaRPr lang="en-US" dirty="0">
              <a:latin typeface="Consolas"/>
              <a:cs typeface="Consola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42984" y="1903185"/>
            <a:ext cx="815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Arial"/>
                <a:cs typeface="Arial"/>
              </a:rPr>
              <a:t>Suppose %</a:t>
            </a:r>
            <a:r>
              <a:rPr lang="en-US" sz="2000" err="1">
                <a:latin typeface="Arial"/>
                <a:cs typeface="Arial"/>
              </a:rPr>
              <a:t>rdi</a:t>
            </a:r>
            <a:r>
              <a:rPr lang="en-US" sz="2000">
                <a:latin typeface="Arial"/>
                <a:cs typeface="Arial"/>
              </a:rPr>
              <a:t>, %</a:t>
            </a:r>
            <a:r>
              <a:rPr lang="en-US" sz="2000" err="1">
                <a:latin typeface="Arial"/>
                <a:cs typeface="Arial"/>
              </a:rPr>
              <a:t>rsi</a:t>
            </a:r>
            <a:r>
              <a:rPr lang="en-US" sz="2000">
                <a:latin typeface="Arial"/>
                <a:cs typeface="Arial"/>
              </a:rPr>
              <a:t>, %</a:t>
            </a:r>
            <a:r>
              <a:rPr lang="en-US" sz="2000" err="1">
                <a:latin typeface="Arial"/>
                <a:cs typeface="Arial"/>
              </a:rPr>
              <a:t>rax</a:t>
            </a:r>
            <a:r>
              <a:rPr lang="en-US" sz="2000">
                <a:latin typeface="Arial"/>
                <a:cs typeface="Arial"/>
              </a:rPr>
              <a:t> corresponds to variables x, y, s, respectively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397495" y="2484994"/>
            <a:ext cx="404795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/>
                <a:cs typeface="Consolas"/>
              </a:rPr>
              <a:t>long f(long x, long y)</a:t>
            </a:r>
          </a:p>
          <a:p>
            <a:r>
              <a:rPr lang="en-US">
                <a:latin typeface="Consolas"/>
                <a:cs typeface="Consolas"/>
              </a:rPr>
              <a:t>{</a:t>
            </a:r>
          </a:p>
          <a:p>
            <a:r>
              <a:rPr lang="en-US">
                <a:latin typeface="Consolas"/>
                <a:cs typeface="Consolas"/>
              </a:rPr>
              <a:t>    long s = </a:t>
            </a:r>
            <a:r>
              <a:rPr lang="en-US" sz="2000">
                <a:solidFill>
                  <a:srgbClr val="FF0000"/>
                </a:solidFill>
                <a:latin typeface="Consolas"/>
                <a:cs typeface="Consolas"/>
              </a:rPr>
              <a:t>??</a:t>
            </a:r>
            <a:r>
              <a:rPr lang="en-US">
                <a:latin typeface="Consolas"/>
                <a:cs typeface="Consolas"/>
              </a:rPr>
              <a:t>;</a:t>
            </a:r>
          </a:p>
          <a:p>
            <a:r>
              <a:rPr lang="da-DK">
                <a:latin typeface="Consolas"/>
                <a:cs typeface="Consolas"/>
              </a:rPr>
              <a:t>    return s;</a:t>
            </a:r>
          </a:p>
          <a:p>
            <a:r>
              <a:rPr lang="da-DK">
                <a:latin typeface="Consolas"/>
                <a:cs typeface="Consolas"/>
              </a:rPr>
              <a:t>}</a:t>
            </a:r>
            <a:endParaRPr lang="en-US">
              <a:latin typeface="Consolas"/>
              <a:cs typeface="Consolas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5239893" y="2961993"/>
            <a:ext cx="622806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95020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Arithmetic Expression Puzzle</a:t>
            </a:r>
          </a:p>
        </p:txBody>
      </p:sp>
      <p:sp>
        <p:nvSpPr>
          <p:cNvPr id="17413" name="Rectangle 5"/>
          <p:cNvSpPr>
            <a:spLocks/>
          </p:cNvSpPr>
          <p:nvPr/>
        </p:nvSpPr>
        <p:spPr bwMode="auto">
          <a:xfrm>
            <a:off x="1516380" y="3205701"/>
            <a:ext cx="3886200" cy="1118333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err="1">
                <a:latin typeface="Consolas"/>
                <a:cs typeface="Consolas"/>
              </a:rPr>
              <a:t>leaq</a:t>
            </a:r>
            <a:r>
              <a:rPr lang="en-US">
                <a:latin typeface="Consolas"/>
                <a:cs typeface="Consolas"/>
              </a:rPr>
              <a:t>	(%rdi,%rsi,2), %</a:t>
            </a:r>
            <a:r>
              <a:rPr lang="en-US" err="1">
                <a:latin typeface="Consolas"/>
                <a:cs typeface="Consolas"/>
              </a:rPr>
              <a:t>rax</a:t>
            </a:r>
            <a:endParaRPr lang="en-US">
              <a:latin typeface="Consolas"/>
              <a:cs typeface="Consolas"/>
            </a:endParaRPr>
          </a:p>
          <a:p>
            <a:r>
              <a:rPr lang="en-US" err="1">
                <a:latin typeface="Consolas"/>
                <a:cs typeface="Consolas"/>
              </a:rPr>
              <a:t>leaq</a:t>
            </a:r>
            <a:r>
              <a:rPr lang="en-US">
                <a:latin typeface="Consolas"/>
                <a:cs typeface="Consolas"/>
              </a:rPr>
              <a:t>	(%rax,%rax,4), %</a:t>
            </a:r>
            <a:r>
              <a:rPr lang="en-US" err="1">
                <a:latin typeface="Consolas"/>
                <a:cs typeface="Consolas"/>
              </a:rPr>
              <a:t>rax</a:t>
            </a:r>
            <a:endParaRPr lang="en-US">
              <a:latin typeface="Consolas"/>
              <a:cs typeface="Consola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18952" y="2236817"/>
            <a:ext cx="742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Arial"/>
                <a:cs typeface="Arial"/>
              </a:rPr>
              <a:t>Suppose %</a:t>
            </a:r>
            <a:r>
              <a:rPr lang="en-US" sz="2000" err="1">
                <a:latin typeface="Arial"/>
                <a:cs typeface="Arial"/>
              </a:rPr>
              <a:t>rdi</a:t>
            </a:r>
            <a:r>
              <a:rPr lang="en-US" sz="2000">
                <a:latin typeface="Arial"/>
                <a:cs typeface="Arial"/>
              </a:rPr>
              <a:t>, %</a:t>
            </a:r>
            <a:r>
              <a:rPr lang="en-US" sz="2000" err="1">
                <a:latin typeface="Arial"/>
                <a:cs typeface="Arial"/>
              </a:rPr>
              <a:t>rsi</a:t>
            </a:r>
            <a:r>
              <a:rPr lang="en-US" sz="2000">
                <a:latin typeface="Arial"/>
                <a:cs typeface="Arial"/>
              </a:rPr>
              <a:t>, %</a:t>
            </a:r>
            <a:r>
              <a:rPr lang="en-US" sz="2000" err="1">
                <a:latin typeface="Arial"/>
                <a:cs typeface="Arial"/>
              </a:rPr>
              <a:t>rax</a:t>
            </a:r>
            <a:r>
              <a:rPr lang="en-US" sz="2000">
                <a:latin typeface="Arial"/>
                <a:cs typeface="Arial"/>
              </a:rPr>
              <a:t> contains variable x, y, s respectively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3463" y="2818626"/>
            <a:ext cx="404795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/>
                <a:cs typeface="Consolas"/>
              </a:rPr>
              <a:t>long f(long x, long y)</a:t>
            </a:r>
          </a:p>
          <a:p>
            <a:r>
              <a:rPr lang="en-US">
                <a:latin typeface="Consolas"/>
                <a:cs typeface="Consolas"/>
              </a:rPr>
              <a:t>{</a:t>
            </a:r>
          </a:p>
          <a:p>
            <a:r>
              <a:rPr lang="en-US">
                <a:latin typeface="Consolas"/>
                <a:cs typeface="Consolas"/>
              </a:rPr>
              <a:t>    long s = </a:t>
            </a:r>
            <a:r>
              <a:rPr lang="en-US" sz="2000">
                <a:solidFill>
                  <a:srgbClr val="FF0000"/>
                </a:solidFill>
                <a:latin typeface="Consolas"/>
                <a:cs typeface="Consolas"/>
              </a:rPr>
              <a:t>5(x + 2y)</a:t>
            </a:r>
            <a:r>
              <a:rPr lang="en-US">
                <a:latin typeface="Consolas"/>
                <a:cs typeface="Consolas"/>
              </a:rPr>
              <a:t>;</a:t>
            </a:r>
          </a:p>
          <a:p>
            <a:r>
              <a:rPr lang="da-DK">
                <a:latin typeface="Consolas"/>
                <a:cs typeface="Consolas"/>
              </a:rPr>
              <a:t>    return s;</a:t>
            </a:r>
          </a:p>
          <a:p>
            <a:r>
              <a:rPr lang="da-DK">
                <a:latin typeface="Consolas"/>
                <a:cs typeface="Consolas"/>
              </a:rPr>
              <a:t>}</a:t>
            </a:r>
            <a:endParaRPr lang="en-US">
              <a:latin typeface="Consolas"/>
              <a:cs typeface="Consolas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5515861" y="3295625"/>
            <a:ext cx="622806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15082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Basic Arithmetic Operations</a:t>
            </a: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1167114" y="1778086"/>
            <a:ext cx="7896225" cy="4972050"/>
          </a:xfrm>
          <a:prstGeom prst="rect">
            <a:avLst/>
          </a:prstGeom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err="1">
                <a:sym typeface="Courier New Bold" charset="0"/>
              </a:rPr>
              <a:t>addq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Src</a:t>
            </a:r>
            <a:r>
              <a:rPr lang="en-US">
                <a:ea typeface="Calibri Italic" charset="0"/>
                <a:sym typeface="Calibri Italic" charset="0"/>
              </a:rPr>
              <a:t>, 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r>
              <a:rPr lang="en-US"/>
              <a:t>	</a:t>
            </a:r>
            <a:r>
              <a:rPr lang="en-US" err="1"/>
              <a:t>Dest</a:t>
            </a:r>
            <a:r>
              <a:rPr lang="en-US"/>
              <a:t> = </a:t>
            </a:r>
            <a:r>
              <a:rPr lang="en-US" err="1"/>
              <a:t>Dest</a:t>
            </a:r>
            <a:r>
              <a:rPr lang="en-US"/>
              <a:t> + </a:t>
            </a:r>
            <a:r>
              <a:rPr lang="en-US" err="1"/>
              <a:t>Src</a:t>
            </a:r>
            <a:endParaRPr lang="en-US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err="1">
                <a:sym typeface="Courier New Bold" charset="0"/>
              </a:rPr>
              <a:t>subq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Src</a:t>
            </a:r>
            <a:r>
              <a:rPr lang="en-US">
                <a:ea typeface="Calibri Italic" charset="0"/>
                <a:sym typeface="Calibri Italic" charset="0"/>
              </a:rPr>
              <a:t>, 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r>
              <a:rPr lang="en-US"/>
              <a:t>	</a:t>
            </a:r>
            <a:r>
              <a:rPr lang="en-US" err="1"/>
              <a:t>Dest</a:t>
            </a:r>
            <a:r>
              <a:rPr lang="en-US"/>
              <a:t> = </a:t>
            </a:r>
            <a:r>
              <a:rPr lang="en-US" err="1"/>
              <a:t>Dest</a:t>
            </a:r>
            <a:r>
              <a:rPr lang="en-US"/>
              <a:t> </a:t>
            </a:r>
            <a:r>
              <a:rPr lang="en-US">
                <a:ea typeface="Calibri Italic" charset="0"/>
                <a:sym typeface="Symbol"/>
              </a:rPr>
              <a:t></a:t>
            </a:r>
            <a:r>
              <a:rPr lang="en-US"/>
              <a:t> </a:t>
            </a:r>
            <a:r>
              <a:rPr lang="en-US" err="1"/>
              <a:t>Src</a:t>
            </a:r>
            <a:endParaRPr lang="en-US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err="1">
                <a:sym typeface="Courier New Bold" charset="0"/>
              </a:rPr>
              <a:t>imulq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Src</a:t>
            </a:r>
            <a:r>
              <a:rPr lang="en-US">
                <a:ea typeface="Calibri Italic" charset="0"/>
                <a:sym typeface="Calibri Italic" charset="0"/>
              </a:rPr>
              <a:t>, 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r>
              <a:rPr lang="en-US"/>
              <a:t>	</a:t>
            </a:r>
            <a:r>
              <a:rPr lang="en-US" err="1"/>
              <a:t>Dest</a:t>
            </a:r>
            <a:r>
              <a:rPr lang="en-US"/>
              <a:t> = </a:t>
            </a:r>
            <a:r>
              <a:rPr lang="en-US" err="1"/>
              <a:t>Dest</a:t>
            </a:r>
            <a:r>
              <a:rPr lang="en-US"/>
              <a:t> * </a:t>
            </a:r>
            <a:r>
              <a:rPr lang="en-US" err="1"/>
              <a:t>Src</a:t>
            </a:r>
            <a:endParaRPr lang="en-US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endParaRPr lang="en-US" b="1">
              <a:sym typeface="Courier New Bold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b="1" err="1">
                <a:sym typeface="Courier New Bold" charset="0"/>
              </a:rPr>
              <a:t>incq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r>
              <a:rPr lang="en-US">
                <a:sym typeface="Calibri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r>
              <a:rPr lang="en-US">
                <a:ea typeface="Calibri Italic" charset="0"/>
                <a:sym typeface="Calibri Italic" charset="0"/>
              </a:rPr>
              <a:t> = 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r>
              <a:rPr lang="en-US">
                <a:ea typeface="Calibri Italic" charset="0"/>
                <a:sym typeface="Calibri Italic" charset="0"/>
              </a:rPr>
              <a:t> + 1</a:t>
            </a:r>
            <a:endParaRPr lang="en-US"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b="1" err="1">
                <a:sym typeface="Courier New Bold" charset="0"/>
              </a:rPr>
              <a:t>decq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r>
              <a:rPr lang="en-US">
                <a:sym typeface="Calibri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r>
              <a:rPr lang="en-US">
                <a:ea typeface="Calibri Italic" charset="0"/>
                <a:sym typeface="Calibri Italic" charset="0"/>
              </a:rPr>
              <a:t> = 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r>
              <a:rPr lang="en-US">
                <a:ea typeface="Calibri Italic" charset="0"/>
                <a:sym typeface="Calibri Italic" charset="0"/>
              </a:rPr>
              <a:t> </a:t>
            </a:r>
            <a:r>
              <a:rPr lang="en-US">
                <a:ea typeface="Calibri Italic" charset="0"/>
                <a:sym typeface="Symbol"/>
              </a:rPr>
              <a:t></a:t>
            </a:r>
            <a:r>
              <a:rPr lang="en-US">
                <a:ea typeface="Calibri Italic" charset="0"/>
                <a:sym typeface="Calibri Italic" charset="0"/>
              </a:rPr>
              <a:t> 1</a:t>
            </a:r>
            <a:endParaRPr lang="en-US"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b="1" err="1">
                <a:sym typeface="Courier New Bold" charset="0"/>
              </a:rPr>
              <a:t>negq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r>
              <a:rPr lang="en-US">
                <a:sym typeface="Calibri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r>
              <a:rPr lang="en-US">
                <a:ea typeface="Calibri Italic" charset="0"/>
                <a:sym typeface="Calibri Italic" charset="0"/>
              </a:rPr>
              <a:t> = </a:t>
            </a:r>
            <a:r>
              <a:rPr lang="en-US">
                <a:ea typeface="Calibri Italic" charset="0"/>
                <a:sym typeface="Symbol"/>
              </a:rPr>
              <a:t> 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endParaRPr lang="en-US"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endParaRPr lang="en-US" b="1"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21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Bitwise Operations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227438" y="2205682"/>
            <a:ext cx="8229600" cy="3368404"/>
          </a:xfrm>
          <a:ln/>
        </p:spPr>
        <p:txBody>
          <a:bodyPr/>
          <a:lstStyle/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err="1">
                <a:sym typeface="Courier New Bold" charset="0"/>
              </a:rPr>
              <a:t>salq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Src,Dest</a:t>
            </a:r>
            <a:r>
              <a:rPr lang="en-US"/>
              <a:t>	</a:t>
            </a:r>
            <a:r>
              <a:rPr lang="en-US" err="1"/>
              <a:t>Dest</a:t>
            </a:r>
            <a:r>
              <a:rPr lang="en-US"/>
              <a:t> = </a:t>
            </a:r>
            <a:r>
              <a:rPr lang="en-US" err="1"/>
              <a:t>Dest</a:t>
            </a:r>
            <a:r>
              <a:rPr lang="en-US"/>
              <a:t> &lt;&lt; </a:t>
            </a:r>
            <a:r>
              <a:rPr lang="en-US" err="1"/>
              <a:t>Src</a:t>
            </a:r>
            <a:r>
              <a:rPr lang="en-US"/>
              <a:t>	Arithmetic left shift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err="1">
                <a:sym typeface="Courier New Bold" charset="0"/>
              </a:rPr>
              <a:t>sarq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Src,Dest</a:t>
            </a:r>
            <a:r>
              <a:rPr lang="en-US"/>
              <a:t>	</a:t>
            </a:r>
            <a:r>
              <a:rPr lang="en-US" err="1"/>
              <a:t>Dest</a:t>
            </a:r>
            <a:r>
              <a:rPr lang="en-US"/>
              <a:t> = </a:t>
            </a:r>
            <a:r>
              <a:rPr lang="en-US" err="1"/>
              <a:t>Dest</a:t>
            </a:r>
            <a:r>
              <a:rPr lang="en-US"/>
              <a:t> &gt;&gt; </a:t>
            </a:r>
            <a:r>
              <a:rPr lang="en-US" err="1"/>
              <a:t>Src</a:t>
            </a:r>
            <a:r>
              <a:rPr lang="en-US"/>
              <a:t>        Arithmetic right shift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err="1">
                <a:sym typeface="Courier New Bold" charset="0"/>
              </a:rPr>
              <a:t>shlq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Src,Dest</a:t>
            </a:r>
            <a:r>
              <a:rPr lang="en-US"/>
              <a:t>	</a:t>
            </a:r>
            <a:r>
              <a:rPr lang="en-US" err="1"/>
              <a:t>Dest</a:t>
            </a:r>
            <a:r>
              <a:rPr lang="en-US"/>
              <a:t> = </a:t>
            </a:r>
            <a:r>
              <a:rPr lang="en-US" err="1"/>
              <a:t>Dest</a:t>
            </a:r>
            <a:r>
              <a:rPr lang="en-US"/>
              <a:t> &lt;&lt; </a:t>
            </a:r>
            <a:r>
              <a:rPr lang="en-US" err="1"/>
              <a:t>Src</a:t>
            </a:r>
            <a:r>
              <a:rPr lang="en-US"/>
              <a:t>	Logical left shift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err="1">
                <a:sym typeface="Courier New Bold" charset="0"/>
              </a:rPr>
              <a:t>shrq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Src,Dest</a:t>
            </a:r>
            <a:r>
              <a:rPr lang="en-US"/>
              <a:t>	</a:t>
            </a:r>
            <a:r>
              <a:rPr lang="en-US" err="1"/>
              <a:t>Dest</a:t>
            </a:r>
            <a:r>
              <a:rPr lang="en-US"/>
              <a:t> = </a:t>
            </a:r>
            <a:r>
              <a:rPr lang="en-US" err="1"/>
              <a:t>Dest</a:t>
            </a:r>
            <a:r>
              <a:rPr lang="en-US"/>
              <a:t> &gt;&gt; </a:t>
            </a:r>
            <a:r>
              <a:rPr lang="en-US" err="1"/>
              <a:t>Src</a:t>
            </a:r>
            <a:r>
              <a:rPr lang="en-US"/>
              <a:t>	Logical right shift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err="1">
                <a:sym typeface="Courier New Bold" charset="0"/>
              </a:rPr>
              <a:t>xorq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Src,Dest</a:t>
            </a:r>
            <a:r>
              <a:rPr lang="en-US"/>
              <a:t>	</a:t>
            </a:r>
            <a:r>
              <a:rPr lang="en-US" err="1"/>
              <a:t>Dest</a:t>
            </a:r>
            <a:r>
              <a:rPr lang="en-US"/>
              <a:t> = </a:t>
            </a:r>
            <a:r>
              <a:rPr lang="en-US" err="1"/>
              <a:t>Dest</a:t>
            </a:r>
            <a:r>
              <a:rPr lang="en-US"/>
              <a:t> ^ </a:t>
            </a:r>
            <a:r>
              <a:rPr lang="en-US" err="1"/>
              <a:t>Src</a:t>
            </a:r>
            <a:endParaRPr lang="en-US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err="1">
                <a:sym typeface="Courier New Bold" charset="0"/>
              </a:rPr>
              <a:t>andq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Src,Dest</a:t>
            </a:r>
            <a:r>
              <a:rPr lang="en-US"/>
              <a:t>	</a:t>
            </a:r>
            <a:r>
              <a:rPr lang="en-US" err="1"/>
              <a:t>Dest</a:t>
            </a:r>
            <a:r>
              <a:rPr lang="en-US"/>
              <a:t> = </a:t>
            </a:r>
            <a:r>
              <a:rPr lang="en-US" err="1"/>
              <a:t>Dest</a:t>
            </a:r>
            <a:r>
              <a:rPr lang="en-US"/>
              <a:t> &amp; </a:t>
            </a:r>
            <a:r>
              <a:rPr lang="en-US" err="1"/>
              <a:t>Src</a:t>
            </a:r>
            <a:endParaRPr lang="en-US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err="1">
                <a:sym typeface="Courier New Bold" charset="0"/>
              </a:rPr>
              <a:t>orq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Src,Dest</a:t>
            </a:r>
            <a:r>
              <a:rPr lang="en-US"/>
              <a:t>	</a:t>
            </a:r>
            <a:r>
              <a:rPr lang="en-US" err="1"/>
              <a:t>Dest</a:t>
            </a:r>
            <a:r>
              <a:rPr lang="en-US"/>
              <a:t> = </a:t>
            </a:r>
            <a:r>
              <a:rPr lang="en-US" err="1"/>
              <a:t>Dest</a:t>
            </a:r>
            <a:r>
              <a:rPr lang="en-US"/>
              <a:t> | </a:t>
            </a:r>
            <a:r>
              <a:rPr lang="en-US" err="1"/>
              <a:t>Src</a:t>
            </a:r>
            <a:endParaRPr lang="en-US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b="1" err="1">
                <a:sym typeface="Courier New Bold" charset="0"/>
              </a:rPr>
              <a:t>notq</a:t>
            </a:r>
            <a:r>
              <a:rPr lang="en-US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r>
              <a:rPr lang="en-US">
                <a:sym typeface="Calibri Italic" charset="0"/>
              </a:rPr>
              <a:t>	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r>
              <a:rPr lang="en-US">
                <a:ea typeface="Calibri Italic" charset="0"/>
                <a:sym typeface="Calibri Italic" charset="0"/>
              </a:rPr>
              <a:t> = ~</a:t>
            </a:r>
            <a:r>
              <a:rPr lang="en-US" err="1">
                <a:ea typeface="Calibri Italic" charset="0"/>
                <a:sym typeface="Calibri Italic" charset="0"/>
              </a:rPr>
              <a:t>Dest</a:t>
            </a:r>
            <a:endParaRPr lang="en-US">
              <a:sym typeface="Calibri Italic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8933955" y="2364032"/>
            <a:ext cx="1005783" cy="809492"/>
            <a:chOff x="8163716" y="1758551"/>
            <a:chExt cx="1005783" cy="809492"/>
          </a:xfrm>
        </p:grpSpPr>
        <p:sp>
          <p:nvSpPr>
            <p:cNvPr id="6" name="Freeform 5"/>
            <p:cNvSpPr/>
            <p:nvPr/>
          </p:nvSpPr>
          <p:spPr>
            <a:xfrm>
              <a:off x="8163716" y="1758551"/>
              <a:ext cx="321018" cy="809492"/>
            </a:xfrm>
            <a:custGeom>
              <a:avLst/>
              <a:gdLst>
                <a:gd name="connsiteX0" fmla="*/ 0 w 321018"/>
                <a:gd name="connsiteY0" fmla="*/ 0 h 809492"/>
                <a:gd name="connsiteX1" fmla="*/ 320965 w 321018"/>
                <a:gd name="connsiteY1" fmla="*/ 376832 h 809492"/>
                <a:gd name="connsiteX2" fmla="*/ 27910 w 321018"/>
                <a:gd name="connsiteY2" fmla="*/ 809492 h 809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1018" h="809492">
                  <a:moveTo>
                    <a:pt x="0" y="0"/>
                  </a:moveTo>
                  <a:cubicBezTo>
                    <a:pt x="158156" y="120958"/>
                    <a:pt x="316313" y="241917"/>
                    <a:pt x="320965" y="376832"/>
                  </a:cubicBezTo>
                  <a:cubicBezTo>
                    <a:pt x="325617" y="511747"/>
                    <a:pt x="27910" y="809492"/>
                    <a:pt x="27910" y="809492"/>
                  </a:cubicBezTo>
                </a:path>
              </a:pathLst>
            </a:cu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484734" y="2020501"/>
              <a:ext cx="6847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accent1"/>
                  </a:solidFill>
                </a:rPr>
                <a:t>same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610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Example</a:t>
            </a:r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27525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3308195" y="25042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08195" y="21308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b="1" err="1">
                <a:solidFill>
                  <a:prstClr val="black"/>
                </a:solidFill>
                <a:latin typeface="Arial"/>
                <a:cs typeface="Arial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Arial"/>
                <a:cs typeface="Arial"/>
              </a:rPr>
              <a:t> %</a:t>
            </a:r>
            <a:r>
              <a:rPr lang="en-US" altLang="zh-CN" sz="14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Arial"/>
                <a:cs typeface="Arial"/>
              </a:rPr>
              <a:t> , 8</a:t>
            </a:r>
            <a:r>
              <a:rPr lang="mr-IN" altLang="zh-CN" sz="140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40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lang="mr-IN" altLang="zh-CN" sz="140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lang="zh-CN" altLang="en-US"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08195" y="17600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08195" y="28772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5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12565" y="4301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16934" y="46868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24515" y="50528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24515" y="54204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324515" y="57889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24130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3308195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sz="160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06899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schemeClr val="tx1"/>
                </a:solidFill>
                <a:latin typeface="Arial"/>
                <a:cs typeface="Arial"/>
              </a:rPr>
              <a:t>0001</a:t>
            </a:r>
            <a:endParaRPr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schemeClr val="tx1"/>
                </a:solidFill>
                <a:latin typeface="Arial"/>
                <a:cs typeface="Arial"/>
              </a:rPr>
              <a:t>0010</a:t>
            </a:r>
            <a:endParaRPr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5268435" y="237260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5454820" y="2206341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3303384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308097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894799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883560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883560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883560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1883560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883560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894799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896448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900818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890288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913507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7083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Example</a:t>
            </a:r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303793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27525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3308195" y="25042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08195" y="21308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b="1" err="1">
                <a:solidFill>
                  <a:prstClr val="black"/>
                </a:solidFill>
                <a:latin typeface="Arial"/>
                <a:cs typeface="Arial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Arial"/>
                <a:cs typeface="Arial"/>
              </a:rPr>
              <a:t> %</a:t>
            </a:r>
            <a:r>
              <a:rPr lang="en-US" altLang="zh-CN" sz="14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Arial"/>
                <a:cs typeface="Arial"/>
              </a:rPr>
              <a:t> , 8</a:t>
            </a:r>
            <a:r>
              <a:rPr lang="mr-IN" altLang="zh-CN" sz="140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40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lang="mr-IN" altLang="zh-CN" sz="140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lang="zh-CN" altLang="en-US"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08195" y="17600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08195" y="28772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5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12565" y="4301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16934" y="46868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24515" y="50528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24515" y="54204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324515" y="57889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24130" y="57549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3308195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0199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40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sz="160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06899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0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40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schemeClr val="tx1"/>
                </a:solidFill>
                <a:latin typeface="Arial"/>
                <a:cs typeface="Arial"/>
              </a:rPr>
              <a:t>0001</a:t>
            </a:r>
            <a:endParaRPr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65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8265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60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61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63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schemeClr val="tx1"/>
                </a:solidFill>
                <a:latin typeface="Arial"/>
                <a:cs typeface="Arial"/>
              </a:rPr>
              <a:t>0010</a:t>
            </a:r>
            <a:endParaRPr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52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58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871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7537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22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26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3931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9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18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16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5341097" y="1932195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5527482" y="1765928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3303384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308097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894799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883560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883560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883560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1883560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883560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894799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896448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900818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890288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913507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7670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9E41-A3EC-4C6E-80A0-2FAE8775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Plan: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DFB89-E47D-430B-AC10-6E7C2F173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mov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lea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arithmetic instructions</a:t>
            </a:r>
          </a:p>
        </p:txBody>
      </p:sp>
    </p:spTree>
    <p:extLst>
      <p:ext uri="{BB962C8B-B14F-4D97-AF65-F5344CB8AC3E}">
        <p14:creationId xmlns:p14="http://schemas.microsoft.com/office/powerpoint/2010/main" val="39938376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How is control flow realized?</a:t>
            </a:r>
            <a:endParaRPr kumimoji="1" lang="zh-CN" altLang="en-US"/>
          </a:p>
        </p:txBody>
      </p:sp>
      <p:sp>
        <p:nvSpPr>
          <p:cNvPr id="5" name="Rectangle 5"/>
          <p:cNvSpPr>
            <a:spLocks/>
          </p:cNvSpPr>
          <p:nvPr/>
        </p:nvSpPr>
        <p:spPr bwMode="auto">
          <a:xfrm>
            <a:off x="6620044" y="2206572"/>
            <a:ext cx="1263961" cy="684065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4800">
                <a:solidFill>
                  <a:srgbClr val="FF0066"/>
                </a:solidFill>
                <a:latin typeface="Consolas"/>
                <a:cs typeface="Consolas"/>
              </a:rPr>
              <a:t>???</a:t>
            </a:r>
          </a:p>
        </p:txBody>
      </p:sp>
      <p:sp>
        <p:nvSpPr>
          <p:cNvPr id="6" name="Rectangle 2"/>
          <p:cNvSpPr/>
          <p:nvPr/>
        </p:nvSpPr>
        <p:spPr>
          <a:xfrm>
            <a:off x="2298764" y="2131680"/>
            <a:ext cx="2756607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mr-IN" sz="2000">
              <a:latin typeface="Consolas"/>
              <a:cs typeface="Consolas"/>
            </a:endParaRPr>
          </a:p>
          <a:p>
            <a:r>
              <a:rPr lang="mr-IN" sz="2000">
                <a:latin typeface="Consolas"/>
                <a:cs typeface="Consolas"/>
              </a:rPr>
              <a:t>  if </a:t>
            </a:r>
            <a:r>
              <a:rPr lang="en-US" sz="2000">
                <a:latin typeface="Consolas"/>
                <a:cs typeface="Consolas"/>
              </a:rPr>
              <a:t>… else</a:t>
            </a:r>
          </a:p>
          <a:p>
            <a:r>
              <a:rPr lang="en-US" sz="2000">
                <a:latin typeface="Consolas"/>
                <a:cs typeface="Consolas"/>
              </a:rPr>
              <a:t>  </a:t>
            </a:r>
          </a:p>
          <a:p>
            <a:r>
              <a:rPr lang="en-US" sz="2000">
                <a:latin typeface="Consolas"/>
                <a:cs typeface="Consolas"/>
              </a:rPr>
              <a:t>  for loop</a:t>
            </a:r>
          </a:p>
          <a:p>
            <a:r>
              <a:rPr lang="en-US" sz="2000">
                <a:latin typeface="Consolas"/>
                <a:cs typeface="Consolas"/>
              </a:rPr>
              <a:t>  </a:t>
            </a:r>
          </a:p>
          <a:p>
            <a:r>
              <a:rPr lang="en-US" sz="2000">
                <a:latin typeface="Consolas"/>
                <a:cs typeface="Consolas"/>
              </a:rPr>
              <a:t>  while loop</a:t>
            </a:r>
          </a:p>
          <a:p>
            <a:r>
              <a:rPr lang="en-US" sz="2000">
                <a:latin typeface="Consolas"/>
                <a:cs typeface="Consolas"/>
              </a:rPr>
              <a:t>  </a:t>
            </a:r>
          </a:p>
          <a:p>
            <a:r>
              <a:rPr lang="en-US" sz="2000">
                <a:latin typeface="Consolas"/>
                <a:cs typeface="Consolas"/>
              </a:rPr>
              <a:t>   … </a:t>
            </a:r>
          </a:p>
          <a:p>
            <a:endParaRPr lang="en-US">
              <a:latin typeface="Consolas"/>
              <a:cs typeface="Consolas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5323906" y="2451247"/>
            <a:ext cx="622806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4630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Control flow uses RFLAGS register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en-US" altLang="zh-CN">
                <a:solidFill>
                  <a:schemeClr val="bg1">
                    <a:lumMod val="65000"/>
                  </a:schemeClr>
                </a:solidFill>
              </a:rPr>
              <a:t>PC: Program counter</a:t>
            </a:r>
          </a:p>
          <a:p>
            <a:pPr lvl="1"/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Store memory address of next instruction</a:t>
            </a:r>
          </a:p>
          <a:p>
            <a:pPr lvl="1"/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Also called “RIP”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in x86_64</a:t>
            </a:r>
          </a:p>
          <a:p>
            <a:endParaRPr lang="en-US" altLang="zh-CN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IR: instruction register</a:t>
            </a:r>
          </a:p>
          <a:p>
            <a:pPr lvl="1"/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Store the fetched instruction</a:t>
            </a:r>
          </a:p>
          <a:p>
            <a:endParaRPr lang="en-US" altLang="zh-CN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General purpose registers:</a:t>
            </a:r>
          </a:p>
          <a:p>
            <a:pPr lvl="1"/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Store operands and pointers used by program</a:t>
            </a:r>
          </a:p>
          <a:p>
            <a:endParaRPr lang="en-US" altLang="zh-CN"/>
          </a:p>
          <a:p>
            <a:pPr marL="0" indent="0">
              <a:buNone/>
            </a:pPr>
            <a:r>
              <a:rPr lang="en-US" altLang="zh-CN"/>
              <a:t>Program status and control register:</a:t>
            </a:r>
          </a:p>
          <a:p>
            <a:pPr lvl="1"/>
            <a:r>
              <a:rPr lang="en-US" altLang="zh-CN"/>
              <a:t>Contain status of the instruction executed</a:t>
            </a:r>
          </a:p>
          <a:p>
            <a:pPr lvl="1"/>
            <a:r>
              <a:rPr lang="en-US" altLang="zh-CN"/>
              <a:t>All called “</a:t>
            </a:r>
            <a:r>
              <a:rPr lang="en-US" altLang="zh-CN" b="1"/>
              <a:t>RFLAGS</a:t>
            </a:r>
            <a:r>
              <a:rPr lang="en-US" altLang="zh-CN"/>
              <a:t>” in x86_64</a:t>
            </a:r>
          </a:p>
          <a:p>
            <a:pPr lvl="1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29197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control flow uses RFLAGS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925" y="1826741"/>
            <a:ext cx="8557084" cy="4525963"/>
          </a:xfrm>
        </p:spPr>
        <p:txBody>
          <a:bodyPr/>
          <a:lstStyle/>
          <a:p>
            <a:r>
              <a:rPr lang="en-US"/>
              <a:t>RFLAGS is a special purpose register</a:t>
            </a:r>
          </a:p>
          <a:p>
            <a:r>
              <a:rPr lang="en-US"/>
              <a:t>Different bits represent different status flags</a:t>
            </a:r>
          </a:p>
          <a:p>
            <a:r>
              <a:rPr lang="en-US"/>
              <a:t>Certain instructions set status flags</a:t>
            </a:r>
          </a:p>
          <a:p>
            <a:pPr lvl="1"/>
            <a:r>
              <a:rPr lang="en-US"/>
              <a:t>Regular arithmetic instructions</a:t>
            </a:r>
          </a:p>
          <a:p>
            <a:pPr lvl="1"/>
            <a:r>
              <a:rPr lang="en-US">
                <a:cs typeface="Consolas"/>
              </a:rPr>
              <a:t>Special flag-setting instructions:</a:t>
            </a:r>
            <a:r>
              <a:rPr lang="en-US">
                <a:latin typeface="Consolas"/>
                <a:cs typeface="Consolas"/>
              </a:rPr>
              <a:t> </a:t>
            </a:r>
            <a:r>
              <a:rPr lang="en-US" b="1" err="1">
                <a:latin typeface="Consolas"/>
                <a:cs typeface="Consolas"/>
              </a:rPr>
              <a:t>cmp</a:t>
            </a:r>
            <a:r>
              <a:rPr lang="en-US" b="1">
                <a:latin typeface="Consolas"/>
                <a:cs typeface="Consolas"/>
              </a:rPr>
              <a:t>, test, set</a:t>
            </a:r>
            <a:endParaRPr lang="en-US"/>
          </a:p>
          <a:p>
            <a:r>
              <a:rPr lang="en-US" b="1" err="1"/>
              <a:t>jmp</a:t>
            </a:r>
            <a:r>
              <a:rPr lang="en-US"/>
              <a:t> instructions use flags to determine value of %rip</a:t>
            </a:r>
          </a:p>
        </p:txBody>
      </p:sp>
    </p:spTree>
    <p:extLst>
      <p:ext uri="{BB962C8B-B14F-4D97-AF65-F5344CB8AC3E}">
        <p14:creationId xmlns:p14="http://schemas.microsoft.com/office/powerpoint/2010/main" val="5598284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EFLAGS register: ZF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88"/>
            <a:ext cx="8229600" cy="1433429"/>
          </a:xfrm>
        </p:spPr>
        <p:txBody>
          <a:bodyPr/>
          <a:lstStyle/>
          <a:p>
            <a:r>
              <a:rPr kumimoji="1" lang="en-US" altLang="zh-CN"/>
              <a:t>ZF (Zero Flag):</a:t>
            </a:r>
          </a:p>
          <a:p>
            <a:pPr lvl="1"/>
            <a:r>
              <a:rPr kumimoji="1" lang="en-US" altLang="zh-CN"/>
              <a:t>Set if the result of the instruction is zero; cleared otherwise. </a:t>
            </a:r>
          </a:p>
        </p:txBody>
      </p:sp>
      <p:sp>
        <p:nvSpPr>
          <p:cNvPr id="4" name="矩形 3"/>
          <p:cNvSpPr/>
          <p:nvPr/>
        </p:nvSpPr>
        <p:spPr>
          <a:xfrm>
            <a:off x="3617661" y="3681430"/>
            <a:ext cx="2599343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err="1">
                <a:latin typeface="Consolas"/>
                <a:cs typeface="Consolas"/>
              </a:rPr>
              <a:t>movq</a:t>
            </a:r>
            <a:r>
              <a:rPr lang="en-US" altLang="zh-CN" sz="2400">
                <a:latin typeface="Consolas"/>
                <a:cs typeface="Consolas"/>
              </a:rPr>
              <a:t> $2, %</a:t>
            </a:r>
            <a:r>
              <a:rPr lang="en-US" altLang="zh-CN" sz="2400" err="1">
                <a:latin typeface="Consolas"/>
                <a:cs typeface="Consolas"/>
              </a:rPr>
              <a:t>rax</a:t>
            </a:r>
            <a:endParaRPr lang="en-US" altLang="zh-CN" sz="2400">
              <a:latin typeface="Consolas"/>
              <a:cs typeface="Consolas"/>
            </a:endParaRPr>
          </a:p>
          <a:p>
            <a:r>
              <a:rPr lang="en-US" altLang="zh-CN" sz="2400" err="1">
                <a:latin typeface="Consolas"/>
                <a:cs typeface="Consolas"/>
              </a:rPr>
              <a:t>subq</a:t>
            </a:r>
            <a:r>
              <a:rPr lang="en-US" altLang="zh-CN" sz="2400">
                <a:latin typeface="Consolas"/>
                <a:cs typeface="Consolas"/>
              </a:rPr>
              <a:t> $2, %</a:t>
            </a:r>
            <a:r>
              <a:rPr lang="en-US" altLang="zh-CN" sz="2400" err="1">
                <a:latin typeface="Consolas"/>
                <a:cs typeface="Consolas"/>
              </a:rPr>
              <a:t>rax</a:t>
            </a:r>
            <a:endParaRPr lang="en-US" altLang="zh-CN" sz="24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549843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EFLAGS register: SF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88"/>
            <a:ext cx="8229600" cy="2268265"/>
          </a:xfrm>
        </p:spPr>
        <p:txBody>
          <a:bodyPr>
            <a:normAutofit/>
          </a:bodyPr>
          <a:lstStyle/>
          <a:p>
            <a:r>
              <a:rPr kumimoji="1" lang="en-US" altLang="zh-CN"/>
              <a:t>SF (Sign Flag):</a:t>
            </a:r>
          </a:p>
          <a:p>
            <a:pPr lvl="1"/>
            <a:r>
              <a:rPr kumimoji="1" lang="en-US" altLang="zh-CN"/>
              <a:t>Set to be the most-significant bit of the result.</a:t>
            </a:r>
          </a:p>
        </p:txBody>
      </p:sp>
      <p:sp>
        <p:nvSpPr>
          <p:cNvPr id="5" name="矩形 3"/>
          <p:cNvSpPr/>
          <p:nvPr/>
        </p:nvSpPr>
        <p:spPr>
          <a:xfrm>
            <a:off x="3016330" y="4159748"/>
            <a:ext cx="2599343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err="1">
                <a:latin typeface="Consolas"/>
                <a:cs typeface="Consolas"/>
              </a:rPr>
              <a:t>movq</a:t>
            </a:r>
            <a:r>
              <a:rPr lang="en-US" altLang="zh-CN" sz="2400">
                <a:latin typeface="Consolas"/>
                <a:cs typeface="Consolas"/>
              </a:rPr>
              <a:t> $2, %</a:t>
            </a:r>
            <a:r>
              <a:rPr lang="en-US" altLang="zh-CN" sz="2400" err="1">
                <a:latin typeface="Consolas"/>
                <a:cs typeface="Consolas"/>
              </a:rPr>
              <a:t>rax</a:t>
            </a:r>
            <a:endParaRPr lang="en-US" altLang="zh-CN" sz="2400">
              <a:latin typeface="Consolas"/>
              <a:cs typeface="Consolas"/>
            </a:endParaRPr>
          </a:p>
          <a:p>
            <a:r>
              <a:rPr lang="en-US" altLang="zh-CN" sz="2400" err="1">
                <a:latin typeface="Consolas"/>
                <a:cs typeface="Consolas"/>
              </a:rPr>
              <a:t>subq</a:t>
            </a:r>
            <a:r>
              <a:rPr lang="en-US" altLang="zh-CN" sz="2400">
                <a:latin typeface="Consolas"/>
                <a:cs typeface="Consolas"/>
              </a:rPr>
              <a:t> $10, %</a:t>
            </a:r>
            <a:r>
              <a:rPr lang="en-US" altLang="zh-CN" sz="2400" err="1">
                <a:latin typeface="Consolas"/>
                <a:cs typeface="Consolas"/>
              </a:rPr>
              <a:t>rax</a:t>
            </a:r>
            <a:endParaRPr lang="en-US" altLang="zh-CN" sz="24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2442866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EFLAGS register: CF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351" y="1833863"/>
            <a:ext cx="10515600" cy="1037023"/>
          </a:xfrm>
        </p:spPr>
        <p:txBody>
          <a:bodyPr>
            <a:normAutofit fontScale="92500"/>
          </a:bodyPr>
          <a:lstStyle/>
          <a:p>
            <a:r>
              <a:rPr kumimoji="1" lang="en-US" altLang="zh-CN" dirty="0"/>
              <a:t>CF (Carry Flag): </a:t>
            </a:r>
          </a:p>
          <a:p>
            <a:pPr marL="857250" lvl="1" indent="-342900"/>
            <a:r>
              <a:rPr kumimoji="1" lang="en-US" altLang="zh-CN" dirty="0"/>
              <a:t>Set if adding (or subtracting) two numbers carries out (or borrow out) of </a:t>
            </a:r>
            <a:r>
              <a:rPr kumimoji="1" lang="en-US" altLang="zh-CN" dirty="0" err="1"/>
              <a:t>msb</a:t>
            </a:r>
            <a:endParaRPr kumimoji="1" lang="en-US" altLang="zh-CN" dirty="0"/>
          </a:p>
        </p:txBody>
      </p:sp>
      <p:sp>
        <p:nvSpPr>
          <p:cNvPr id="6" name="矩形 3"/>
          <p:cNvSpPr/>
          <p:nvPr/>
        </p:nvSpPr>
        <p:spPr>
          <a:xfrm>
            <a:off x="2441576" y="4290154"/>
            <a:ext cx="5732715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err="1">
                <a:latin typeface="Consolas"/>
                <a:cs typeface="Consolas"/>
              </a:rPr>
              <a:t>movq</a:t>
            </a:r>
            <a:r>
              <a:rPr lang="en-US" altLang="zh-CN" sz="2400">
                <a:latin typeface="Consolas"/>
                <a:cs typeface="Consolas"/>
              </a:rPr>
              <a:t> $0xffffffffffffffff, %</a:t>
            </a:r>
            <a:r>
              <a:rPr lang="en-US" altLang="zh-CN" sz="2400" err="1">
                <a:latin typeface="Consolas"/>
                <a:cs typeface="Consolas"/>
              </a:rPr>
              <a:t>rax</a:t>
            </a:r>
            <a:endParaRPr lang="en-US" altLang="zh-CN" sz="2400">
              <a:latin typeface="Consolas"/>
              <a:cs typeface="Consolas"/>
            </a:endParaRPr>
          </a:p>
          <a:p>
            <a:r>
              <a:rPr lang="en-US" altLang="zh-CN" sz="2400" err="1">
                <a:latin typeface="Consolas"/>
                <a:cs typeface="Consolas"/>
              </a:rPr>
              <a:t>addq</a:t>
            </a:r>
            <a:r>
              <a:rPr lang="en-US" altLang="zh-CN" sz="2400">
                <a:latin typeface="Consolas"/>
                <a:cs typeface="Consolas"/>
              </a:rPr>
              <a:t> $2, %</a:t>
            </a:r>
            <a:r>
              <a:rPr lang="en-US" altLang="zh-CN" sz="2400" err="1">
                <a:latin typeface="Consolas"/>
                <a:cs typeface="Consolas"/>
              </a:rPr>
              <a:t>rax</a:t>
            </a:r>
            <a:endParaRPr lang="en-US" altLang="zh-CN" sz="2400">
              <a:latin typeface="Consolas"/>
              <a:cs typeface="Consolas"/>
            </a:endParaRPr>
          </a:p>
        </p:txBody>
      </p:sp>
      <p:sp>
        <p:nvSpPr>
          <p:cNvPr id="7" name="矩形 3"/>
          <p:cNvSpPr/>
          <p:nvPr/>
        </p:nvSpPr>
        <p:spPr>
          <a:xfrm>
            <a:off x="2441576" y="5495844"/>
            <a:ext cx="5732715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Consolas"/>
                <a:cs typeface="Consolas"/>
              </a:rPr>
              <a:t>movq</a:t>
            </a:r>
            <a:r>
              <a:rPr lang="en-US" altLang="zh-CN" sz="2400" dirty="0">
                <a:latin typeface="Consolas"/>
                <a:cs typeface="Consolas"/>
              </a:rPr>
              <a:t> $0, %</a:t>
            </a:r>
            <a:r>
              <a:rPr lang="en-US" altLang="zh-CN" sz="2400" dirty="0" err="1">
                <a:latin typeface="Consolas"/>
                <a:cs typeface="Consolas"/>
              </a:rPr>
              <a:t>rax</a:t>
            </a:r>
            <a:endParaRPr lang="en-US" altLang="zh-CN" sz="2400" dirty="0">
              <a:latin typeface="Consolas"/>
              <a:cs typeface="Consolas"/>
            </a:endParaRPr>
          </a:p>
          <a:p>
            <a:r>
              <a:rPr lang="en-US" altLang="zh-CN" sz="2400" dirty="0" err="1">
                <a:latin typeface="Consolas"/>
                <a:cs typeface="Consolas"/>
              </a:rPr>
              <a:t>subq</a:t>
            </a:r>
            <a:r>
              <a:rPr lang="en-US" altLang="zh-CN" sz="2400" dirty="0">
                <a:latin typeface="Consolas"/>
                <a:cs typeface="Consolas"/>
              </a:rPr>
              <a:t> $1, %</a:t>
            </a:r>
            <a:r>
              <a:rPr lang="en-US" altLang="zh-CN" sz="2400" dirty="0" err="1">
                <a:latin typeface="Consolas"/>
                <a:cs typeface="Consolas"/>
              </a:rPr>
              <a:t>rax</a:t>
            </a:r>
            <a:endParaRPr lang="en-US" altLang="zh-CN" sz="2400" dirty="0">
              <a:latin typeface="Consolas"/>
              <a:cs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0E03A-1A53-4E17-800C-CD8D5C4A63FE}"/>
              </a:ext>
            </a:extLst>
          </p:cNvPr>
          <p:cNvSpPr txBox="1"/>
          <p:nvPr/>
        </p:nvSpPr>
        <p:spPr>
          <a:xfrm>
            <a:off x="2318952" y="2818501"/>
            <a:ext cx="5480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chemeClr val="accent1">
                    <a:lumMod val="75000"/>
                  </a:schemeClr>
                </a:solidFill>
              </a:rPr>
              <a:t>i.e. Set if overflow for unsigned integer arithmetic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BBF9909-512A-48BD-B859-7F89EFC1229A}"/>
              </a:ext>
            </a:extLst>
          </p:cNvPr>
          <p:cNvSpPr/>
          <p:nvPr/>
        </p:nvSpPr>
        <p:spPr>
          <a:xfrm>
            <a:off x="1824681" y="2878914"/>
            <a:ext cx="383059" cy="3089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987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EFLAGS register: OF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4152" y="1690689"/>
            <a:ext cx="9283101" cy="1274933"/>
          </a:xfrm>
        </p:spPr>
        <p:txBody>
          <a:bodyPr>
            <a:normAutofit/>
          </a:bodyPr>
          <a:lstStyle/>
          <a:p>
            <a:r>
              <a:rPr kumimoji="1" lang="en-US" altLang="zh-CN"/>
              <a:t>OF (Overflow Flag):</a:t>
            </a:r>
          </a:p>
          <a:p>
            <a:pPr lvl="1"/>
            <a:r>
              <a:rPr lang="en-US" sz="2100" b="0" i="0">
                <a:solidFill>
                  <a:srgbClr val="000000"/>
                </a:solidFill>
                <a:effectLst/>
                <a:latin typeface="Roboto"/>
              </a:rPr>
              <a:t>Set if there is carry-in but no carry-out of MSB</a:t>
            </a:r>
          </a:p>
          <a:p>
            <a:pPr lvl="1"/>
            <a:r>
              <a:rPr lang="en-US" sz="2100" b="0" i="0">
                <a:solidFill>
                  <a:srgbClr val="000000"/>
                </a:solidFill>
                <a:effectLst/>
                <a:latin typeface="Roboto"/>
              </a:rPr>
              <a:t>or, there is no carry-in but there's carry-out of MSB</a:t>
            </a:r>
          </a:p>
        </p:txBody>
      </p:sp>
      <p:sp>
        <p:nvSpPr>
          <p:cNvPr id="6" name="矩形 3"/>
          <p:cNvSpPr/>
          <p:nvPr/>
        </p:nvSpPr>
        <p:spPr>
          <a:xfrm>
            <a:off x="2184705" y="4261712"/>
            <a:ext cx="5732715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err="1">
                <a:latin typeface="Consolas"/>
                <a:cs typeface="Consolas"/>
              </a:rPr>
              <a:t>movq</a:t>
            </a:r>
            <a:r>
              <a:rPr lang="en-US" altLang="zh-CN" sz="2400">
                <a:latin typeface="Consolas"/>
                <a:cs typeface="Consolas"/>
              </a:rPr>
              <a:t> $0x7fffffffffffffff, %</a:t>
            </a:r>
            <a:r>
              <a:rPr lang="en-US" altLang="zh-CN" sz="2400" err="1">
                <a:latin typeface="Consolas"/>
                <a:cs typeface="Consolas"/>
              </a:rPr>
              <a:t>rax</a:t>
            </a:r>
            <a:endParaRPr lang="en-US" altLang="zh-CN" sz="2400">
              <a:latin typeface="Consolas"/>
              <a:cs typeface="Consolas"/>
            </a:endParaRPr>
          </a:p>
          <a:p>
            <a:r>
              <a:rPr lang="en-US" altLang="zh-CN" sz="2400" err="1">
                <a:latin typeface="Consolas"/>
                <a:cs typeface="Consolas"/>
              </a:rPr>
              <a:t>addq</a:t>
            </a:r>
            <a:r>
              <a:rPr lang="en-US" altLang="zh-CN" sz="2400">
                <a:latin typeface="Consolas"/>
                <a:cs typeface="Consolas"/>
              </a:rPr>
              <a:t> $1, %</a:t>
            </a:r>
            <a:r>
              <a:rPr lang="en-US" altLang="zh-CN" sz="2400" err="1">
                <a:latin typeface="Consolas"/>
                <a:cs typeface="Consolas"/>
              </a:rPr>
              <a:t>rax</a:t>
            </a:r>
            <a:endParaRPr lang="en-US" altLang="zh-CN" sz="2400">
              <a:latin typeface="Consolas"/>
              <a:cs typeface="Consolas"/>
            </a:endParaRPr>
          </a:p>
        </p:txBody>
      </p:sp>
      <p:sp>
        <p:nvSpPr>
          <p:cNvPr id="7" name="矩形 3"/>
          <p:cNvSpPr/>
          <p:nvPr/>
        </p:nvSpPr>
        <p:spPr>
          <a:xfrm>
            <a:off x="2184705" y="5512613"/>
            <a:ext cx="5732715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err="1">
                <a:latin typeface="Consolas"/>
                <a:cs typeface="Consolas"/>
              </a:rPr>
              <a:t>movq</a:t>
            </a:r>
            <a:r>
              <a:rPr lang="en-US" altLang="zh-CN" sz="2400">
                <a:latin typeface="Consolas"/>
                <a:cs typeface="Consolas"/>
              </a:rPr>
              <a:t> $0x8000000000000000, %</a:t>
            </a:r>
            <a:r>
              <a:rPr lang="en-US" altLang="zh-CN" sz="2400" err="1">
                <a:latin typeface="Consolas"/>
                <a:cs typeface="Consolas"/>
              </a:rPr>
              <a:t>rax</a:t>
            </a:r>
            <a:endParaRPr lang="en-US" altLang="zh-CN" sz="2400">
              <a:latin typeface="Consolas"/>
              <a:cs typeface="Consolas"/>
            </a:endParaRPr>
          </a:p>
          <a:p>
            <a:r>
              <a:rPr lang="en-US" altLang="zh-CN" sz="2400" err="1">
                <a:latin typeface="Consolas"/>
                <a:cs typeface="Consolas"/>
              </a:rPr>
              <a:t>addq</a:t>
            </a:r>
            <a:r>
              <a:rPr lang="en-US" altLang="zh-CN" sz="2400">
                <a:latin typeface="Consolas"/>
                <a:cs typeface="Consolas"/>
              </a:rPr>
              <a:t> $0xffffffffffffffff, %</a:t>
            </a:r>
            <a:r>
              <a:rPr lang="en-US" altLang="zh-CN" sz="2400" err="1">
                <a:latin typeface="Consolas"/>
                <a:cs typeface="Consolas"/>
              </a:rPr>
              <a:t>rax</a:t>
            </a:r>
            <a:endParaRPr lang="en-US" altLang="zh-CN" sz="2400">
              <a:latin typeface="Consolas"/>
              <a:cs typeface="Consolas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60DD8BE-5A67-4F97-96D8-9EC4A6EB6BAB}"/>
              </a:ext>
            </a:extLst>
          </p:cNvPr>
          <p:cNvSpPr/>
          <p:nvPr/>
        </p:nvSpPr>
        <p:spPr>
          <a:xfrm>
            <a:off x="2055340" y="3065616"/>
            <a:ext cx="646671" cy="333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40A0C-79BB-40BF-B84B-ECA6123B50B9}"/>
              </a:ext>
            </a:extLst>
          </p:cNvPr>
          <p:cNvSpPr txBox="1"/>
          <p:nvPr/>
        </p:nvSpPr>
        <p:spPr>
          <a:xfrm>
            <a:off x="2837935" y="3059668"/>
            <a:ext cx="5984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>
                <a:solidFill>
                  <a:schemeClr val="accent1">
                    <a:lumMod val="75000"/>
                  </a:schemeClr>
                </a:solidFill>
              </a:rPr>
              <a:t>Set if overflow for signed integer (2’s complement) arithmetic.</a:t>
            </a:r>
          </a:p>
        </p:txBody>
      </p:sp>
    </p:spTree>
    <p:extLst>
      <p:ext uri="{BB962C8B-B14F-4D97-AF65-F5344CB8AC3E}">
        <p14:creationId xmlns:p14="http://schemas.microsoft.com/office/powerpoint/2010/main" val="133420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CF and OF are different flags</a:t>
            </a:r>
            <a:endParaRPr kumimoji="1"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704335" y="2182165"/>
            <a:ext cx="9613557" cy="384387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CPU does not care if data represents signed or unsigned integer:</a:t>
            </a:r>
          </a:p>
          <a:p>
            <a:pPr lvl="1"/>
            <a:r>
              <a:rPr kumimoji="1" lang="en-US" altLang="zh-CN" dirty="0"/>
              <a:t>Same underlying arithmetic hardware circuitry. </a:t>
            </a:r>
          </a:p>
          <a:p>
            <a:pPr lvl="1">
              <a:buFont typeface="Symbol" charset="2"/>
              <a:buChar char="-"/>
            </a:pPr>
            <a:r>
              <a:rPr kumimoji="1" lang="en-US" altLang="zh-CN" dirty="0"/>
              <a:t>OF and CF flags are set by examining various carry bits</a:t>
            </a:r>
          </a:p>
          <a:p>
            <a:r>
              <a:rPr kumimoji="1" lang="en-US" altLang="zh-CN" dirty="0"/>
              <a:t>Up to programmer/compiler to use either CF or OF flag</a:t>
            </a:r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478728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Status flags summary</a:t>
            </a:r>
            <a:endParaRPr kumimoji="1"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782696" y="2010661"/>
          <a:ext cx="8595743" cy="291604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931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4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6724">
                <a:tc>
                  <a:txBody>
                    <a:bodyPr/>
                    <a:lstStyle/>
                    <a:p>
                      <a:r>
                        <a:rPr lang="en-US" altLang="zh-CN" sz="2800">
                          <a:latin typeface="Arial"/>
                          <a:cs typeface="Arial"/>
                        </a:rPr>
                        <a:t>flag</a:t>
                      </a:r>
                      <a:endParaRPr lang="zh-CN" altLang="en-US" sz="280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>
                          <a:latin typeface="Arial"/>
                          <a:cs typeface="Arial"/>
                        </a:rPr>
                        <a:t>status</a:t>
                      </a:r>
                      <a:endParaRPr lang="zh-CN" altLang="en-US" sz="280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8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>
                          <a:latin typeface="Arial"/>
                          <a:cs typeface="Arial"/>
                        </a:rPr>
                        <a:t>ZF  (Zero Flag)</a:t>
                      </a:r>
                      <a:endParaRPr lang="zh-CN" altLang="en-US" sz="240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Arial"/>
                          <a:cs typeface="Arial"/>
                        </a:rPr>
                        <a:t>set if the result is zero.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830">
                <a:tc>
                  <a:txBody>
                    <a:bodyPr/>
                    <a:lstStyle/>
                    <a:p>
                      <a:r>
                        <a:rPr lang="en-US" altLang="zh-CN" sz="2400">
                          <a:latin typeface="Arial"/>
                          <a:cs typeface="Arial"/>
                        </a:rPr>
                        <a:t>SF (Sign Flag)</a:t>
                      </a:r>
                      <a:endParaRPr lang="zh-CN" altLang="en-US" sz="240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Arial"/>
                          <a:cs typeface="Arial"/>
                        </a:rPr>
                        <a:t>set if the result is negative.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830">
                <a:tc>
                  <a:txBody>
                    <a:bodyPr/>
                    <a:lstStyle/>
                    <a:p>
                      <a:r>
                        <a:rPr lang="en-US" altLang="zh-CN" sz="2400">
                          <a:latin typeface="Arial"/>
                          <a:cs typeface="Arial"/>
                        </a:rPr>
                        <a:t>CF (Carry</a:t>
                      </a:r>
                      <a:r>
                        <a:rPr lang="en-US" altLang="zh-CN" sz="2400" baseline="0">
                          <a:latin typeface="Arial"/>
                          <a:cs typeface="Arial"/>
                        </a:rPr>
                        <a:t> Flag</a:t>
                      </a:r>
                      <a:r>
                        <a:rPr lang="en-US" altLang="zh-CN" sz="2400">
                          <a:latin typeface="Arial"/>
                          <a:cs typeface="Arial"/>
                        </a:rPr>
                        <a:t>)</a:t>
                      </a:r>
                      <a:endParaRPr lang="zh-CN" altLang="en-US" sz="240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2000"/>
                        <a:t>Overflow for unsigned-integer arithmetic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830">
                <a:tc>
                  <a:txBody>
                    <a:bodyPr/>
                    <a:lstStyle/>
                    <a:p>
                      <a:r>
                        <a:rPr lang="en-US" altLang="zh-CN" sz="2400">
                          <a:latin typeface="Arial"/>
                          <a:cs typeface="Arial"/>
                        </a:rPr>
                        <a:t>OF (Overflow Flag)</a:t>
                      </a:r>
                      <a:endParaRPr lang="zh-CN" altLang="en-US" sz="240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2000"/>
                        <a:t>Overflow for signed-integer arithmetic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782695" y="5607744"/>
            <a:ext cx="69420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altLang="zh-CN" sz="2400"/>
              <a:t>Set by arithmetic instructions, e.g. add, </a:t>
            </a:r>
            <a:r>
              <a:rPr lang="en-US" altLang="zh-CN" sz="2400" err="1"/>
              <a:t>inc</a:t>
            </a:r>
            <a:r>
              <a:rPr lang="en-US" altLang="zh-CN" sz="2400"/>
              <a:t>, and, </a:t>
            </a:r>
            <a:r>
              <a:rPr lang="en-US" altLang="zh-CN" sz="2400" err="1"/>
              <a:t>sal</a:t>
            </a:r>
            <a:r>
              <a:rPr lang="en-US" altLang="zh-CN" sz="2400"/>
              <a:t> </a:t>
            </a:r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altLang="zh-CN" sz="2400">
                <a:solidFill>
                  <a:srgbClr val="FF0000"/>
                </a:solidFill>
              </a:rPr>
              <a:t>Not set by </a:t>
            </a:r>
            <a:r>
              <a:rPr lang="en-US" altLang="zh-CN" sz="2400" b="1">
                <a:solidFill>
                  <a:srgbClr val="FF0000"/>
                </a:solidFill>
                <a:latin typeface="Courier New Bold" charset="0"/>
                <a:cs typeface="Courier New Bold" charset="0"/>
                <a:sym typeface="Courier New Bold" charset="0"/>
              </a:rPr>
              <a:t>lea, </a:t>
            </a:r>
            <a:r>
              <a:rPr lang="en-US" altLang="zh-CN" sz="2400" b="1" err="1">
                <a:solidFill>
                  <a:srgbClr val="FF0000"/>
                </a:solidFill>
                <a:latin typeface="Courier New Bold" charset="0"/>
                <a:cs typeface="Courier New Bold" charset="0"/>
                <a:sym typeface="Courier New Bold" charset="0"/>
              </a:rPr>
              <a:t>mov</a:t>
            </a:r>
            <a:r>
              <a:rPr lang="en-US" altLang="zh-CN" sz="2400" b="1">
                <a:solidFill>
                  <a:srgbClr val="FF0000"/>
                </a:solidFill>
                <a:latin typeface="Courier New Bold" charset="0"/>
                <a:cs typeface="Courier New Bold" charset="0"/>
                <a:sym typeface="Courier New Bold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53854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294730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25693" y="5697931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3206363" y="209396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06363" y="17205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06363" y="134974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>
                <a:solidFill>
                  <a:prstClr val="black"/>
                </a:solidFill>
                <a:latin typeface="Arial"/>
                <a:cs typeface="Arial"/>
              </a:rPr>
              <a:t>add</a:t>
            </a:r>
            <a:r>
              <a:rPr lang="mr-IN" altLang="zh-CN" sz="1600" b="1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06363" y="246700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10733" y="389163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15102" y="427651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22683" y="464257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0xff</a:t>
            </a:r>
            <a:r>
              <a:rPr lang="mr-IN" altLang="zh-CN" sz="160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600" err="1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ffffff</a:t>
            </a:r>
            <a:endParaRPr lang="zh-CN" altLang="en-US" sz="1600">
              <a:solidFill>
                <a:prstClr val="black"/>
              </a:solidFill>
              <a:latin typeface="Consolas" panose="020B0609020204030204" pitchFamily="49" charset="0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22683" y="501014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22683" y="537864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622298" y="534470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3206363" y="353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31136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31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497836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31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31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</a:t>
            </a:r>
            <a:endParaRPr lang="zh-CN" altLang="en-US"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56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8256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51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52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54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43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49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595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7528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13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17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14868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0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09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07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5147980" y="1573383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5263553" y="1407116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3201552" y="318906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206265" y="283832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792967" y="173648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781728" y="21027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781728" y="50876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781728" y="471241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1781728" y="433629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781728" y="397878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792967" y="36219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794616" y="321218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798986" y="2849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788456" y="249444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811675" y="134302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7718820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8272123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8822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9381803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7701728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8267880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8804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9377560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7">
            <a:extLst>
              <a:ext uri="{FF2B5EF4-FFF2-40B4-BE49-F238E27FC236}">
                <a16:creationId xmlns:a16="http://schemas.microsoft.com/office/drawing/2014/main" id="{0EF9A9FE-A107-4C40-82C5-CF2186D21066}"/>
              </a:ext>
            </a:extLst>
          </p:cNvPr>
          <p:cNvSpPr/>
          <p:nvPr/>
        </p:nvSpPr>
        <p:spPr>
          <a:xfrm>
            <a:off x="3210732" y="983320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矩形 75">
            <a:extLst>
              <a:ext uri="{FF2B5EF4-FFF2-40B4-BE49-F238E27FC236}">
                <a16:creationId xmlns:a16="http://schemas.microsoft.com/office/drawing/2014/main" id="{AA4D9249-7AE1-40A4-BB54-A7A40EEE5859}"/>
              </a:ext>
            </a:extLst>
          </p:cNvPr>
          <p:cNvSpPr/>
          <p:nvPr/>
        </p:nvSpPr>
        <p:spPr>
          <a:xfrm>
            <a:off x="1799950" y="1018861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6772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294730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25693" y="5697931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3206363" y="209396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06363" y="17205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06363" y="134974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>
                <a:solidFill>
                  <a:prstClr val="black"/>
                </a:solidFill>
                <a:latin typeface="Arial"/>
                <a:cs typeface="Arial"/>
              </a:rPr>
              <a:t>add</a:t>
            </a:r>
            <a:r>
              <a:rPr lang="mr-IN" altLang="zh-CN" sz="1600" b="1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06363" y="246700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10733" y="389163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15102" y="427651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22683" y="464257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0x00..0000</a:t>
            </a:r>
            <a:endParaRPr lang="zh-CN" altLang="en-US" sz="1600">
              <a:solidFill>
                <a:prstClr val="black"/>
              </a:solidFill>
              <a:latin typeface="Consolas" panose="020B0609020204030204" pitchFamily="49" charset="0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22683" y="501014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22683" y="537864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622298" y="534470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3206363" y="353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31136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31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497836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31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231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</a:t>
            </a:r>
            <a:endParaRPr lang="zh-CN" altLang="en-US"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56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8256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51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252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8254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243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249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595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7528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513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17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14868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510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09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07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5147980" y="1573383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5263553" y="1407116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3201552" y="318906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206265" y="283832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792967" y="173648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781728" y="21027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781728" y="50876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781728" y="471241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1781728" y="433629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781728" y="397878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792967" y="36219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794616" y="321218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798986" y="2849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788456" y="249444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811675" y="134302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7718820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8272123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62" name="矩形 61"/>
          <p:cNvSpPr/>
          <p:nvPr/>
        </p:nvSpPr>
        <p:spPr>
          <a:xfrm>
            <a:off x="8822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9381803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7701728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8267880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78" name="矩形 77"/>
          <p:cNvSpPr/>
          <p:nvPr/>
        </p:nvSpPr>
        <p:spPr>
          <a:xfrm>
            <a:off x="8804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9377560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7">
            <a:extLst>
              <a:ext uri="{FF2B5EF4-FFF2-40B4-BE49-F238E27FC236}">
                <a16:creationId xmlns:a16="http://schemas.microsoft.com/office/drawing/2014/main" id="{0EF9A9FE-A107-4C40-82C5-CF2186D21066}"/>
              </a:ext>
            </a:extLst>
          </p:cNvPr>
          <p:cNvSpPr/>
          <p:nvPr/>
        </p:nvSpPr>
        <p:spPr>
          <a:xfrm>
            <a:off x="3210732" y="983320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矩形 75">
            <a:extLst>
              <a:ext uri="{FF2B5EF4-FFF2-40B4-BE49-F238E27FC236}">
                <a16:creationId xmlns:a16="http://schemas.microsoft.com/office/drawing/2014/main" id="{AA4D9249-7AE1-40A4-BB54-A7A40EEE5859}"/>
              </a:ext>
            </a:extLst>
          </p:cNvPr>
          <p:cNvSpPr/>
          <p:nvPr/>
        </p:nvSpPr>
        <p:spPr>
          <a:xfrm>
            <a:off x="1799950" y="1018861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4636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5B013-5E7B-4436-A2B6-EBCAC3689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DB1B3-E184-4BB5-8F9D-6690A26C3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X86 ISA</a:t>
            </a:r>
          </a:p>
          <a:p>
            <a:pPr lvl="1"/>
            <a:r>
              <a:rPr lang="en-US"/>
              <a:t>%rip, 16 general purpose registers</a:t>
            </a:r>
          </a:p>
          <a:p>
            <a:pPr lvl="1"/>
            <a:r>
              <a:rPr lang="en-US"/>
              <a:t>mov </a:t>
            </a:r>
          </a:p>
          <a:p>
            <a:pPr lvl="1"/>
            <a:r>
              <a:rPr lang="en-US"/>
              <a:t>Lea</a:t>
            </a:r>
          </a:p>
          <a:p>
            <a:pPr lvl="1"/>
            <a:r>
              <a:rPr lang="en-US"/>
              <a:t>Various arithmetic instructions</a:t>
            </a:r>
          </a:p>
          <a:p>
            <a:pPr lvl="1"/>
            <a:r>
              <a:rPr lang="en-US"/>
              <a:t>RFLAGS: ZF, SF, CF, OF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489CB-9240-ACC9-ECC5-984DF822494C}"/>
              </a:ext>
            </a:extLst>
          </p:cNvPr>
          <p:cNvSpPr txBox="1"/>
          <p:nvPr/>
        </p:nvSpPr>
        <p:spPr>
          <a:xfrm>
            <a:off x="9668435" y="55670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941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853251" y="1785021"/>
          <a:ext cx="8125385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9220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853251" y="1785021"/>
          <a:ext cx="8125385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066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853251" y="1785021"/>
          <a:ext cx="8125385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8241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853251" y="1785021"/>
          <a:ext cx="8125385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4809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853251" y="1785021"/>
          <a:ext cx="8125385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221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30F55FC4E86843A38ABC983CBD33D2" ma:contentTypeVersion="2" ma:contentTypeDescription="Create a new document." ma:contentTypeScope="" ma:versionID="ea51d48ed41b66d32eb63de817eecbcd">
  <xsd:schema xmlns:xsd="http://www.w3.org/2001/XMLSchema" xmlns:xs="http://www.w3.org/2001/XMLSchema" xmlns:p="http://schemas.microsoft.com/office/2006/metadata/properties" xmlns:ns3="74d6482f-e53c-4fa7-ac87-951f9f66bd4c" targetNamespace="http://schemas.microsoft.com/office/2006/metadata/properties" ma:root="true" ma:fieldsID="128b5480a780b9585a060f8329b1fff7" ns3:_="">
    <xsd:import namespace="74d6482f-e53c-4fa7-ac87-951f9f66bd4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6482f-e53c-4fa7-ac87-951f9f66bd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46F386-0DAB-4E39-B6A1-E1BB330588B0}">
  <ds:schemaRefs>
    <ds:schemaRef ds:uri="http://schemas.openxmlformats.org/package/2006/metadata/core-properties"/>
    <ds:schemaRef ds:uri="74d6482f-e53c-4fa7-ac87-951f9f66bd4c"/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EA46FE2-F22E-4D7A-A022-667865C4561E}">
  <ds:schemaRefs>
    <ds:schemaRef ds:uri="74d6482f-e53c-4fa7-ac87-951f9f66bd4c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85F9321-CC54-4A4C-BAEA-629D029C69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3006</TotalTime>
  <Words>4788</Words>
  <Application>Microsoft Macintosh PowerPoint</Application>
  <PresentationFormat>Widescreen</PresentationFormat>
  <Paragraphs>1449</Paragraphs>
  <Slides>65</Slides>
  <Notes>10</Notes>
  <HiddenSlides>21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81" baseType="lpstr">
      <vt:lpstr>Calibri Bold</vt:lpstr>
      <vt:lpstr>Calibri Italic</vt:lpstr>
      <vt:lpstr>ヒラギノ角ゴ ProN W6</vt:lpstr>
      <vt:lpstr>Arial</vt:lpstr>
      <vt:lpstr>Calibri</vt:lpstr>
      <vt:lpstr>Calibri Light</vt:lpstr>
      <vt:lpstr>Consolas</vt:lpstr>
      <vt:lpstr>Courier New</vt:lpstr>
      <vt:lpstr>Courier New Bold</vt:lpstr>
      <vt:lpstr>Gill Sans</vt:lpstr>
      <vt:lpstr>Roboto</vt:lpstr>
      <vt:lpstr>Symbol</vt:lpstr>
      <vt:lpstr>Times New Roman</vt:lpstr>
      <vt:lpstr>Verdana</vt:lpstr>
      <vt:lpstr>Wingdings 2</vt:lpstr>
      <vt:lpstr>Office Theme</vt:lpstr>
      <vt:lpstr>Machine execution</vt:lpstr>
      <vt:lpstr>Lesson Plan: last time</vt:lpstr>
      <vt:lpstr>Lesson Plan: today</vt:lpstr>
      <vt:lpstr>The x86 move (aka copy) instruction </vt:lpstr>
      <vt:lpstr>mov instruction</vt:lpstr>
      <vt:lpstr>mov Operand combinations</vt:lpstr>
      <vt:lpstr>movq  Imm, Reg</vt:lpstr>
      <vt:lpstr>movq Reg, Reg</vt:lpstr>
      <vt:lpstr>movq (%rax), %rbx</vt:lpstr>
      <vt:lpstr>movq (%rax), %rbx</vt:lpstr>
      <vt:lpstr>swap function</vt:lpstr>
      <vt:lpstr>swap function</vt:lpstr>
      <vt:lpstr>swap function</vt:lpstr>
      <vt:lpstr>swap function</vt:lpstr>
      <vt:lpstr>swap func</vt:lpstr>
      <vt:lpstr>swap func</vt:lpstr>
      <vt:lpstr>swap func</vt:lpstr>
      <vt:lpstr>swap func</vt:lpstr>
      <vt:lpstr>swap func</vt:lpstr>
      <vt:lpstr>swap func</vt:lpstr>
      <vt:lpstr>swap func</vt:lpstr>
      <vt:lpstr>swap func</vt:lpstr>
      <vt:lpstr>swap func</vt:lpstr>
      <vt:lpstr>mov: limitation of direct addressing</vt:lpstr>
      <vt:lpstr>Address mode with displacement</vt:lpstr>
      <vt:lpstr>Address mode with displacement</vt:lpstr>
      <vt:lpstr>X86’s Complete Memory Addressing Mode</vt:lpstr>
      <vt:lpstr>Complete Memory Addressing Mode</vt:lpstr>
      <vt:lpstr>Address Computation Examples</vt:lpstr>
      <vt:lpstr>Address Computation Examples</vt:lpstr>
      <vt:lpstr>Address Computation Examples</vt:lpstr>
      <vt:lpstr>Address Computation Examples</vt:lpstr>
      <vt:lpstr>Address Computation Examples</vt:lpstr>
      <vt:lpstr>Complete addressing mode</vt:lpstr>
      <vt:lpstr>Example</vt:lpstr>
      <vt:lpstr>Example</vt:lpstr>
      <vt:lpstr>lea instruction</vt:lpstr>
      <vt:lpstr>Example</vt:lpstr>
      <vt:lpstr>Example</vt:lpstr>
      <vt:lpstr>Common use case for lea: calculate address</vt:lpstr>
      <vt:lpstr>Another common use case for lea</vt:lpstr>
      <vt:lpstr>Arithmetic Expression Puzzle</vt:lpstr>
      <vt:lpstr>Arithmetic Expression Puzzle</vt:lpstr>
      <vt:lpstr>Basic Arithmetic Operations</vt:lpstr>
      <vt:lpstr>Bitwise Operations</vt:lpstr>
      <vt:lpstr>Example</vt:lpstr>
      <vt:lpstr>Example</vt:lpstr>
      <vt:lpstr>Lesson Plan: today</vt:lpstr>
      <vt:lpstr>How is control flow realized?</vt:lpstr>
      <vt:lpstr>Control flow uses RFLAGS register</vt:lpstr>
      <vt:lpstr>How control flow uses RFLAGS register</vt:lpstr>
      <vt:lpstr>EFLAGS register: ZF</vt:lpstr>
      <vt:lpstr>EFLAGS register: SF</vt:lpstr>
      <vt:lpstr>EFLAGS register: CF</vt:lpstr>
      <vt:lpstr>EFLAGS register: OF</vt:lpstr>
      <vt:lpstr>CF and OF are different flags</vt:lpstr>
      <vt:lpstr>Status flags summary</vt:lpstr>
      <vt:lpstr>PowerPoint Presentation</vt:lpstr>
      <vt:lpstr>PowerPoint Presentation</vt:lpstr>
      <vt:lpstr>Summary</vt:lpstr>
      <vt:lpstr>Exercises</vt:lpstr>
      <vt:lpstr>Exercises</vt:lpstr>
      <vt:lpstr>Exercises</vt:lpstr>
      <vt:lpstr>Exercises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Jinyang Li</dc:creator>
  <cp:lastModifiedBy>Jinyang Li</cp:lastModifiedBy>
  <cp:revision>14</cp:revision>
  <cp:lastPrinted>2026-02-23T18:54:03Z</cp:lastPrinted>
  <dcterms:created xsi:type="dcterms:W3CDTF">2020-10-19T14:29:37Z</dcterms:created>
  <dcterms:modified xsi:type="dcterms:W3CDTF">2026-10-07T21:26:56Z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0x010100F230F55FC4E86843A38ABC983CBD33D2</vt:lpwstr>
  </property>
</Properties>
</file>