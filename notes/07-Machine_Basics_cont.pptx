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2"/>
  </p:notesMasterIdLst>
  <p:sldIdLst>
    <p:sldId id="256" r:id="rId5"/>
    <p:sldId id="1171" r:id="rId6"/>
    <p:sldId id="1172" r:id="rId7"/>
    <p:sldId id="1083" r:id="rId8"/>
    <p:sldId id="1094" r:id="rId9"/>
    <p:sldId id="1151" r:id="rId10"/>
    <p:sldId id="1098" r:id="rId11"/>
    <p:sldId id="1099" r:id="rId12"/>
    <p:sldId id="1100" r:id="rId13"/>
    <p:sldId id="1101" r:id="rId14"/>
    <p:sldId id="1102" r:id="rId15"/>
    <p:sldId id="1103" r:id="rId16"/>
    <p:sldId id="1104" r:id="rId17"/>
    <p:sldId id="1315" r:id="rId18"/>
    <p:sldId id="1106" r:id="rId19"/>
    <p:sldId id="1174" r:id="rId20"/>
    <p:sldId id="1173" r:id="rId21"/>
    <p:sldId id="1175" r:id="rId22"/>
    <p:sldId id="1112" r:id="rId23"/>
    <p:sldId id="1113" r:id="rId24"/>
    <p:sldId id="1176" r:id="rId25"/>
    <p:sldId id="1316" r:id="rId26"/>
    <p:sldId id="1170" r:id="rId27"/>
    <p:sldId id="1120" r:id="rId28"/>
    <p:sldId id="1121" r:id="rId29"/>
    <p:sldId id="1122" r:id="rId30"/>
    <p:sldId id="1123" r:id="rId31"/>
    <p:sldId id="1167" r:id="rId32"/>
    <p:sldId id="1177" r:id="rId33"/>
    <p:sldId id="1313" r:id="rId34"/>
    <p:sldId id="1163" r:id="rId35"/>
    <p:sldId id="1165" r:id="rId36"/>
    <p:sldId id="1306" r:id="rId37"/>
    <p:sldId id="1307" r:id="rId38"/>
    <p:sldId id="1308" r:id="rId39"/>
    <p:sldId id="1166" r:id="rId40"/>
    <p:sldId id="1309" r:id="rId41"/>
    <p:sldId id="1310" r:id="rId42"/>
    <p:sldId id="1311" r:id="rId43"/>
    <p:sldId id="1086" r:id="rId44"/>
    <p:sldId id="1312" r:id="rId45"/>
    <p:sldId id="1314" r:id="rId46"/>
    <p:sldId id="1184" r:id="rId47"/>
    <p:sldId id="1185" r:id="rId48"/>
    <p:sldId id="1186" r:id="rId49"/>
    <p:sldId id="1187" r:id="rId50"/>
    <p:sldId id="1188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15925E-C54D-1B4F-AA03-E0C3D56AC111}" v="18" dt="2026-02-23T18:43:02.4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8"/>
  </p:normalViewPr>
  <p:slideViewPr>
    <p:cSldViewPr snapToGrid="0">
      <p:cViewPr varScale="1">
        <p:scale>
          <a:sx n="117" d="100"/>
          <a:sy n="117" d="100"/>
        </p:scale>
        <p:origin x="2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microsoft.com/office/2015/10/relationships/revisionInfo" Target="revisionInfo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C1277-7ED1-4EFB-A219-A71FB723F6B8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E293F1-6566-4E3B-81CE-C87B3F83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411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7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/>
              <a:t>http://</a:t>
            </a:r>
            <a:r>
              <a:rPr kumimoji="1" lang="en-US" altLang="zh-CN" err="1"/>
              <a:t>teaching.idallen.com</a:t>
            </a:r>
            <a:r>
              <a:rPr kumimoji="1" lang="en-US" altLang="zh-CN"/>
              <a:t>/dat2343/10f/notes/040_overflow.txt</a:t>
            </a:r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4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3C7C-6BF5-4096-A519-7950A61F74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96D448-37BE-4F9B-88EB-DA45852F72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C7EF0-54F2-4C41-A242-5D715CF92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69AF2-4A34-4048-B6CA-09BE03FF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BEC2E-8567-4D27-AF74-6898BA246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57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09F43-36FD-4517-AE1F-47595092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A5F01-3710-4EBE-8C93-7F8CB7BCE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ABCBE-169D-48C0-B10E-45858EF76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F4499-897E-4C4F-9B7A-B17AD00AC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4BF38-D050-4654-AC40-8F2F48C84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935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202A-30CA-4897-8CF5-0DD87277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B714D-A52F-43CA-9F19-572479468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9BE88-FB1E-4EE7-97B9-BF675A977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B30B8C-FB20-4CD8-9281-1829D0D0B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DCBC4-AC74-407E-94AB-54A3A2A6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743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C6303-F5B2-422F-893D-51B151CA3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BEF67-9301-4AFF-9130-A77E892C34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A399C2-F79C-4625-AC9A-9EE0E58FB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4D0AF9-EF9E-47D1-BB24-F4C7CC650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0897D-C7D5-4645-A795-3FB536847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05D2A-5D36-4920-A569-A30D87FB5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49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76FCC-E786-46C4-B967-71F2E5BDB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95C9F-AFFF-48E4-834B-C270D5D2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733C2-C2DE-4C77-9E0F-C52C73F085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38749D-06CE-4B1A-B1F8-89C32A7869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C22142-FA04-47B4-A5DD-723EAFE49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A9C60F-4D1B-45A2-BE4B-A198621C2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4A1D6-B9DB-436E-A6D2-1E487724B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345786-D177-40F0-9B39-7CECA4DB9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18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F0297-06A0-4713-9698-159ABF1B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21152-2EAC-4BAB-9AE4-2071E7FA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297108-8D5E-439F-9D84-90784D933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FD9924-0908-4916-8CF2-558CA3011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8539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D79791-75C7-43E6-B5D2-698FF5DF8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5DC5A4-B33F-400C-A083-A487DF9BF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DD009-06F4-429C-B6CF-F66B5582B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2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87E44-E2E8-43A3-AAA0-085E157D1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B1673-87E8-474C-8A99-4F461E2DB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457DC-6423-45B1-95BA-CEAB3E1DC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CB8C5-0F09-4A9C-A6AD-AFD3B8D4D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73133-992A-4816-ABB7-F69BC7429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DBC6B7-D4C8-46C8-A259-E2E030C96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76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85BEE-CD63-4BE9-9A34-848EDBBE1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EF15B5-85AA-45E4-AE22-192B301D56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490C9E-A595-4FE6-8A60-9C471FDA9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40006-85DF-47AE-BA3C-279F8524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FB359-461F-434F-BCC7-4C6CB9D5D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A3285-5E19-4701-BE02-7FF5B5C28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59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CD9E-CC56-4E6C-8352-74C55A7A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C10B72-D540-4F85-ACBF-6606B1399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7DBCF-EC52-497E-9437-D3CF4FA41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A3DAE-450A-4797-8EF9-241698B65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4A23-EC12-408E-8170-A7F15BB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307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FD1D3E-4E06-4487-8BB1-6963CA93F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C7AD92-D06A-4F9E-8EE5-60B701B8EA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48669-8929-452D-9AD2-91E13930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327AC-5E07-437E-9008-317BB4BBE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9620F-D18F-47F2-85C2-D59F874E6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0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C4C574-1986-4FCA-815E-787917F4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B14BF-7B53-44A5-9C9D-FE49E6E37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D503-A9A7-4664-837B-3BA1041F7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8B70B-B84C-4A86-9C13-E5C15600D4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953DA-CFB2-4E42-9142-009DB183B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700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E533-974B-41C9-8CE2-D2AE49DA1B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Machine execution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0DD92-0062-44BA-B829-D5E2EC4C29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198969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h/w execution model: </a:t>
            </a:r>
          </a:p>
          <a:p>
            <a:pPr lvl="1"/>
            <a:r>
              <a:rPr lang="en-US" dirty="0"/>
              <a:t>CPU fetch the next instruction from memory according to PC</a:t>
            </a:r>
          </a:p>
          <a:p>
            <a:pPr lvl="1"/>
            <a:r>
              <a:rPr lang="en-US" dirty="0"/>
              <a:t>Decode and execute instruction (e.g. mov instruction)</a:t>
            </a:r>
          </a:p>
          <a:p>
            <a:pPr lvl="1"/>
            <a:r>
              <a:rPr lang="en-US" dirty="0"/>
              <a:t>CPU updates PC to point to next instruction</a:t>
            </a:r>
          </a:p>
          <a:p>
            <a:r>
              <a:rPr lang="en-US" dirty="0"/>
              <a:t>ISA (instruction set architecture): x86, ARM, RISC-V</a:t>
            </a:r>
          </a:p>
          <a:p>
            <a:r>
              <a:rPr lang="en-US" dirty="0"/>
              <a:t>X86 ISA</a:t>
            </a:r>
          </a:p>
          <a:p>
            <a:pPr lvl="1"/>
            <a:r>
              <a:rPr lang="en-US" dirty="0"/>
              <a:t>%rip (PC), 16 general purpose registers</a:t>
            </a:r>
          </a:p>
          <a:p>
            <a:pPr lvl="1"/>
            <a:r>
              <a:rPr lang="en-US" dirty="0"/>
              <a:t>mov instruction</a:t>
            </a:r>
          </a:p>
        </p:txBody>
      </p:sp>
    </p:spTree>
    <p:extLst>
      <p:ext uri="{BB962C8B-B14F-4D97-AF65-F5344CB8AC3E}">
        <p14:creationId xmlns:p14="http://schemas.microsoft.com/office/powerpoint/2010/main" val="372320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mov </a:t>
            </a:r>
          </a:p>
          <a:p>
            <a:pPr lvl="1"/>
            <a:r>
              <a:rPr lang="en-US" dirty="0"/>
              <a:t>more memory addressing modes</a:t>
            </a:r>
          </a:p>
          <a:p>
            <a:r>
              <a:rPr lang="en-US" dirty="0"/>
              <a:t>lea</a:t>
            </a:r>
          </a:p>
          <a:p>
            <a:r>
              <a:rPr lang="en-US" dirty="0"/>
              <a:t>arithmetic instructions</a:t>
            </a:r>
          </a:p>
          <a:p>
            <a:r>
              <a:rPr lang="en-US" dirty="0"/>
              <a:t>How CPUs realize non-linear control flow</a:t>
            </a:r>
          </a:p>
        </p:txBody>
      </p:sp>
    </p:spTree>
    <p:extLst>
      <p:ext uri="{BB962C8B-B14F-4D97-AF65-F5344CB8AC3E}">
        <p14:creationId xmlns:p14="http://schemas.microsoft.com/office/powerpoint/2010/main" val="2765008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b="1">
                <a:latin typeface="Consolas" panose="020B0609020204030204" pitchFamily="49" charset="0"/>
              </a:rPr>
              <a:t>mov</a:t>
            </a:r>
            <a:r>
              <a:rPr kumimoji="1" lang="en-US" altLang="zh-CN"/>
              <a:t>: limitation of direct addressing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18905" y="1690687"/>
            <a:ext cx="9863889" cy="130879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CN" sz="3200" b="1"/>
              <a:t>Direct addressing</a:t>
            </a:r>
            <a:endParaRPr kumimoji="1" lang="en-US" altLang="zh-CN" sz="3200"/>
          </a:p>
          <a:p>
            <a:pPr lvl="1"/>
            <a:r>
              <a:rPr kumimoji="1" lang="en-US" altLang="zh-CN" sz="2800"/>
              <a:t>The address must be calculated and stored in the register before each memory access.</a:t>
            </a:r>
            <a:endParaRPr kumimoji="1" lang="zh-CN" altLang="en-US" sz="2800"/>
          </a:p>
        </p:txBody>
      </p:sp>
      <p:sp>
        <p:nvSpPr>
          <p:cNvPr id="9" name="矩形 3">
            <a:extLst>
              <a:ext uri="{FF2B5EF4-FFF2-40B4-BE49-F238E27FC236}">
                <a16:creationId xmlns:a16="http://schemas.microsoft.com/office/drawing/2014/main" id="{08E8DF9E-D8E3-4527-AC1F-4EEB52911470}"/>
              </a:ext>
            </a:extLst>
          </p:cNvPr>
          <p:cNvSpPr/>
          <p:nvPr/>
        </p:nvSpPr>
        <p:spPr>
          <a:xfrm>
            <a:off x="207290" y="4006626"/>
            <a:ext cx="44977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</a:t>
            </a:r>
            <a:r>
              <a:rPr lang="en-US" altLang="zh-CN" sz="2400">
                <a:latin typeface="Consolas"/>
                <a:cs typeface="Consolas"/>
              </a:rPr>
              <a:t>long a[3] = {1, 2, 3};</a:t>
            </a:r>
          </a:p>
          <a:p>
            <a:r>
              <a:rPr lang="en-US" altLang="zh-CN" sz="2400">
                <a:latin typeface="Consolas"/>
                <a:cs typeface="Consolas"/>
              </a:rPr>
              <a:t> a[2] = 0;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A4E4FBB-1417-4572-9ED1-3B1C3FAF6A58}"/>
              </a:ext>
            </a:extLst>
          </p:cNvPr>
          <p:cNvGrpSpPr/>
          <p:nvPr/>
        </p:nvGrpSpPr>
        <p:grpSpPr>
          <a:xfrm>
            <a:off x="4430331" y="4006626"/>
            <a:ext cx="7179786" cy="1200329"/>
            <a:chOff x="4560702" y="3858521"/>
            <a:chExt cx="7179786" cy="1200329"/>
          </a:xfrm>
        </p:grpSpPr>
        <p:sp>
          <p:nvSpPr>
            <p:cNvPr id="7" name="右箭头 4">
              <a:extLst>
                <a:ext uri="{FF2B5EF4-FFF2-40B4-BE49-F238E27FC236}">
                  <a16:creationId xmlns:a16="http://schemas.microsoft.com/office/drawing/2014/main" id="{94845E5A-ADDD-494E-A5C9-D489C3876B51}"/>
                </a:ext>
              </a:extLst>
            </p:cNvPr>
            <p:cNvSpPr/>
            <p:nvPr/>
          </p:nvSpPr>
          <p:spPr>
            <a:xfrm>
              <a:off x="4560702" y="4007366"/>
              <a:ext cx="1415849" cy="553500"/>
            </a:xfrm>
            <a:prstGeom prst="rightArrow">
              <a:avLst/>
            </a:prstGeom>
            <a:solidFill>
              <a:schemeClr val="accent1"/>
            </a:solidFill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A93C2E-8A7C-4FF9-8C8D-4255202EE00C}"/>
                </a:ext>
              </a:extLst>
            </p:cNvPr>
            <p:cNvSpPr txBox="1"/>
            <p:nvPr/>
          </p:nvSpPr>
          <p:spPr>
            <a:xfrm>
              <a:off x="6215449" y="3858521"/>
              <a:ext cx="55250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457200" indent="-457200">
                <a:buAutoNum type="arabicPeriod"/>
              </a:pPr>
              <a:r>
                <a:rPr lang="en-US" sz="2400"/>
                <a:t>Calculate address of a[2]</a:t>
              </a:r>
            </a:p>
            <a:p>
              <a:pPr marL="457200" indent="-457200">
                <a:buFont typeface="+mj-lt"/>
                <a:buAutoNum type="arabicPeriod"/>
              </a:pPr>
              <a:r>
                <a:rPr lang="en-US" sz="2400"/>
                <a:t>Store it in some register, e.g. %</a:t>
              </a:r>
              <a:r>
                <a:rPr lang="en-US" sz="2400" err="1"/>
                <a:t>rax</a:t>
              </a:r>
              <a:endParaRPr lang="en-US" sz="2400"/>
            </a:p>
            <a:p>
              <a:pPr marL="457200" indent="-457200">
                <a:buFont typeface="+mj-lt"/>
                <a:buAutoNum type="arabicPeriod"/>
              </a:pPr>
              <a:r>
                <a:rPr lang="en-US" sz="2400"/>
                <a:t>Do memory write, e.g. </a:t>
              </a:r>
              <a:r>
                <a:rPr lang="en-US" sz="2400" err="1"/>
                <a:t>movq</a:t>
              </a:r>
              <a:r>
                <a:rPr lang="en-US" sz="2400"/>
                <a:t> $0, (%</a:t>
              </a:r>
              <a:r>
                <a:rPr lang="en-US" sz="2400" err="1"/>
                <a:t>rax</a:t>
              </a:r>
              <a:r>
                <a:rPr lang="en-US" sz="2400"/>
                <a:t>)</a:t>
              </a:r>
            </a:p>
          </p:txBody>
        </p:sp>
      </p:grp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8499DEA3-B8D0-49AD-808E-4D911F1765B4}"/>
              </a:ext>
            </a:extLst>
          </p:cNvPr>
          <p:cNvSpPr/>
          <p:nvPr/>
        </p:nvSpPr>
        <p:spPr>
          <a:xfrm>
            <a:off x="9071298" y="2999478"/>
            <a:ext cx="2388974" cy="794045"/>
          </a:xfrm>
          <a:prstGeom prst="wedgeRectCallout">
            <a:avLst>
              <a:gd name="adj1" fmla="val -44549"/>
              <a:gd name="adj2" fmla="val 8430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&amp;a[2] = address of a[0] + stride * 2 </a:t>
            </a:r>
          </a:p>
        </p:txBody>
      </p:sp>
    </p:spTree>
    <p:extLst>
      <p:ext uri="{BB962C8B-B14F-4D97-AF65-F5344CB8AC3E}">
        <p14:creationId xmlns:p14="http://schemas.microsoft.com/office/powerpoint/2010/main" val="427679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Address mode with displacement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kumimoji="1" lang="en-US" altLang="zh-CN" sz="2800"/>
              <a:t>D(Register):  </a:t>
            </a:r>
            <a:r>
              <a:rPr lang="en-US" altLang="zh-CN" sz="2800" err="1"/>
              <a:t>val</a:t>
            </a:r>
            <a:r>
              <a:rPr lang="en-US" altLang="zh-CN" sz="2800"/>
              <a:t>(Register) + D</a:t>
            </a:r>
            <a:endParaRPr kumimoji="1" lang="en-US" altLang="zh-CN" sz="2800"/>
          </a:p>
          <a:p>
            <a:pPr lvl="1"/>
            <a:r>
              <a:rPr lang="en-US" altLang="zh-CN" sz="2800"/>
              <a:t>Register specifies the start of the memory region</a:t>
            </a:r>
          </a:p>
          <a:p>
            <a:pPr lvl="1"/>
            <a:r>
              <a:rPr lang="en-US" altLang="zh-CN" sz="280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3110789" y="3515011"/>
            <a:ext cx="30115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Memory Operand: 20(RAX)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881656" y="4459374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0x10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777200" y="5516118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20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13" name="肘形连接符 12"/>
          <p:cNvCxnSpPr>
            <a:stCxn id="7" idx="3"/>
            <a:endCxn id="17" idx="0"/>
          </p:cNvCxnSpPr>
          <p:nvPr/>
        </p:nvCxnSpPr>
        <p:spPr>
          <a:xfrm>
            <a:off x="5351516" y="4623990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/>
          <p:cNvSpPr/>
          <p:nvPr/>
        </p:nvSpPr>
        <p:spPr>
          <a:xfrm>
            <a:off x="5447452" y="4963480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cxnSp>
        <p:nvCxnSpPr>
          <p:cNvPr id="20" name="肘形连接符 19"/>
          <p:cNvCxnSpPr>
            <a:stCxn id="11" idx="3"/>
            <a:endCxn id="17" idx="4"/>
          </p:cNvCxnSpPr>
          <p:nvPr/>
        </p:nvCxnSpPr>
        <p:spPr>
          <a:xfrm flipV="1">
            <a:off x="5294590" y="5327986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5447453" y="4816940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+</a:t>
            </a:r>
            <a:endParaRPr lang="zh-CN" altLang="en-US" sz="3200"/>
          </a:p>
        </p:txBody>
      </p:sp>
      <p:cxnSp>
        <p:nvCxnSpPr>
          <p:cNvPr id="33" name="直线连接符 32"/>
          <p:cNvCxnSpPr/>
          <p:nvPr/>
        </p:nvCxnSpPr>
        <p:spPr>
          <a:xfrm>
            <a:off x="5836501" y="5137340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矩形 35"/>
          <p:cNvSpPr/>
          <p:nvPr/>
        </p:nvSpPr>
        <p:spPr>
          <a:xfrm>
            <a:off x="3256515" y="4419272"/>
            <a:ext cx="6251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/>
              <a:t>RAX:</a:t>
            </a:r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6164744" y="4963481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0x24</a:t>
            </a:r>
            <a:endParaRPr kumimoji="1"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838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Address mode with displacement</a:t>
            </a:r>
            <a:endParaRPr kumimoji="1" lang="zh-CN" altLang="en-US"/>
          </a:p>
        </p:txBody>
      </p:sp>
      <p:sp>
        <p:nvSpPr>
          <p:cNvPr id="5" name="右箭头 4"/>
          <p:cNvSpPr/>
          <p:nvPr/>
        </p:nvSpPr>
        <p:spPr>
          <a:xfrm>
            <a:off x="4551316" y="3967372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669321" y="3429000"/>
            <a:ext cx="600323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// Suppose register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 contains address of a[0]</a:t>
            </a:r>
          </a:p>
          <a:p>
            <a:endParaRPr lang="en-US" altLang="zh-CN" sz="11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2400">
                <a:latin typeface="Calibri" panose="020F0502020204030204" pitchFamily="34" charset="0"/>
                <a:cs typeface="Calibri" panose="020F0502020204030204" pitchFamily="34" charset="0"/>
              </a:rPr>
              <a:t>mov $0, 16(%</a:t>
            </a:r>
            <a:r>
              <a:rPr lang="en-US" altLang="zh-CN" sz="24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400">
                <a:latin typeface="Calibri" panose="020F0502020204030204" pitchFamily="34" charset="0"/>
                <a:cs typeface="Calibri" panose="020F0502020204030204" pitchFamily="34" charset="0"/>
              </a:rPr>
              <a:t>) 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983672" y="1509720"/>
            <a:ext cx="8229600" cy="1380826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sz="2800"/>
              <a:t>D(Register):  </a:t>
            </a:r>
            <a:r>
              <a:rPr lang="en-US" altLang="zh-CN" sz="2800" err="1"/>
              <a:t>val</a:t>
            </a:r>
            <a:r>
              <a:rPr lang="en-US" altLang="zh-CN" sz="2800"/>
              <a:t>(Register) + D</a:t>
            </a:r>
            <a:endParaRPr kumimoji="1" lang="en-US" altLang="zh-CN" sz="2800"/>
          </a:p>
          <a:p>
            <a:pPr lvl="1"/>
            <a:r>
              <a:rPr lang="en-US" altLang="zh-CN" sz="2800"/>
              <a:t>Register specifies the start of the memory region</a:t>
            </a:r>
          </a:p>
          <a:p>
            <a:pPr lvl="1"/>
            <a:r>
              <a:rPr lang="en-US" altLang="zh-CN" sz="280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/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130AAADD-061D-F8FB-F272-40DE8974A373}"/>
              </a:ext>
            </a:extLst>
          </p:cNvPr>
          <p:cNvSpPr/>
          <p:nvPr/>
        </p:nvSpPr>
        <p:spPr>
          <a:xfrm>
            <a:off x="258750" y="5170676"/>
            <a:ext cx="4193047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for (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 = 0; 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 &lt; 3; 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++)</a:t>
            </a:r>
          </a:p>
          <a:p>
            <a:r>
              <a:rPr lang="en-US" altLang="zh-CN" sz="2000">
                <a:latin typeface="Consolas"/>
                <a:cs typeface="Consolas"/>
              </a:rPr>
              <a:t>	a[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] = 1;</a:t>
            </a:r>
          </a:p>
        </p:txBody>
      </p:sp>
      <p:sp>
        <p:nvSpPr>
          <p:cNvPr id="7" name="矩形 3">
            <a:extLst>
              <a:ext uri="{FF2B5EF4-FFF2-40B4-BE49-F238E27FC236}">
                <a16:creationId xmlns:a16="http://schemas.microsoft.com/office/drawing/2014/main" id="{BDA37562-3C1F-54B6-E6A0-C8EB1EB5ADCD}"/>
              </a:ext>
            </a:extLst>
          </p:cNvPr>
          <p:cNvSpPr/>
          <p:nvPr/>
        </p:nvSpPr>
        <p:spPr>
          <a:xfrm>
            <a:off x="258750" y="3615112"/>
            <a:ext cx="44977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</a:t>
            </a:r>
            <a:r>
              <a:rPr lang="en-US" altLang="zh-CN" sz="2400">
                <a:latin typeface="Consolas"/>
                <a:cs typeface="Consolas"/>
              </a:rPr>
              <a:t>long a[3] = {1, 2, 3};</a:t>
            </a:r>
          </a:p>
          <a:p>
            <a:r>
              <a:rPr lang="en-US" altLang="zh-CN" sz="2400">
                <a:latin typeface="Consolas"/>
                <a:cs typeface="Consolas"/>
              </a:rPr>
              <a:t> a[2] = 0;</a:t>
            </a:r>
          </a:p>
        </p:txBody>
      </p:sp>
      <p:sp>
        <p:nvSpPr>
          <p:cNvPr id="8" name="右箭头 4">
            <a:extLst>
              <a:ext uri="{FF2B5EF4-FFF2-40B4-BE49-F238E27FC236}">
                <a16:creationId xmlns:a16="http://schemas.microsoft.com/office/drawing/2014/main" id="{A0054CAA-8079-97E2-2215-3F771E83CC26}"/>
              </a:ext>
            </a:extLst>
          </p:cNvPr>
          <p:cNvSpPr/>
          <p:nvPr/>
        </p:nvSpPr>
        <p:spPr>
          <a:xfrm>
            <a:off x="4551315" y="5270285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1" name="Graphic 10" descr="Question Mark with solid fill">
            <a:extLst>
              <a:ext uri="{FF2B5EF4-FFF2-40B4-BE49-F238E27FC236}">
                <a16:creationId xmlns:a16="http://schemas.microsoft.com/office/drawing/2014/main" id="{3D9D4581-DE71-5098-0E0B-B50D7852E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04456" y="5147423"/>
            <a:ext cx="582339" cy="58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920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6855" y="154275"/>
            <a:ext cx="10515600" cy="1325563"/>
          </a:xfrm>
        </p:spPr>
        <p:txBody>
          <a:bodyPr>
            <a:normAutofit/>
          </a:bodyPr>
          <a:lstStyle/>
          <a:p>
            <a:r>
              <a:rPr kumimoji="1" lang="en-US" altLang="zh-CN"/>
              <a:t>X86’s Complete Memory Addressing Mode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48940" y="1235743"/>
            <a:ext cx="8229600" cy="2377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/>
              <a:t>D(</a:t>
            </a:r>
            <a:r>
              <a:rPr kumimoji="1" lang="en-US" altLang="zh-CN" err="1"/>
              <a:t>Rb</a:t>
            </a:r>
            <a:r>
              <a:rPr kumimoji="1" lang="en-US" altLang="zh-CN"/>
              <a:t>, </a:t>
            </a:r>
            <a:r>
              <a:rPr kumimoji="1" lang="en-US" altLang="zh-CN" err="1"/>
              <a:t>Ri</a:t>
            </a:r>
            <a:r>
              <a:rPr kumimoji="1" lang="en-US" altLang="zh-CN"/>
              <a:t>, S): 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Rb</a:t>
            </a:r>
            <a:r>
              <a:rPr kumimoji="1" lang="en-US" altLang="zh-CN"/>
              <a:t>) + S *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Ri</a:t>
            </a:r>
            <a:r>
              <a:rPr kumimoji="1" lang="en-US" altLang="zh-CN"/>
              <a:t>) + D</a:t>
            </a:r>
          </a:p>
          <a:p>
            <a:pPr lvl="1"/>
            <a:r>
              <a:rPr lang="en-US" altLang="zh-CN" err="1"/>
              <a:t>Rb</a:t>
            </a:r>
            <a:r>
              <a:rPr lang="en-US" altLang="zh-CN"/>
              <a:t>: Base register</a:t>
            </a:r>
          </a:p>
          <a:p>
            <a:pPr lvl="1"/>
            <a:r>
              <a:rPr lang="en-US" altLang="zh-CN"/>
              <a:t>D: Constant “displacement”</a:t>
            </a:r>
          </a:p>
          <a:p>
            <a:pPr lvl="1"/>
            <a:r>
              <a:rPr lang="en-US" altLang="zh-CN" err="1"/>
              <a:t>Ri</a:t>
            </a:r>
            <a:r>
              <a:rPr lang="en-US" altLang="zh-CN"/>
              <a:t>: Index register (not</a:t>
            </a:r>
            <a:r>
              <a:rPr lang="en-US" altLang="zh-CN">
                <a:latin typeface="Consolas"/>
                <a:cs typeface="Consolas"/>
              </a:rPr>
              <a:t> </a:t>
            </a:r>
            <a:r>
              <a:rPr lang="en-US" altLang="zh-CN" b="1">
                <a:latin typeface="Consolas"/>
                <a:cs typeface="Consolas"/>
              </a:rPr>
              <a:t>%</a:t>
            </a:r>
            <a:r>
              <a:rPr lang="en-US" altLang="zh-CN" b="1" err="1">
                <a:latin typeface="Consolas"/>
                <a:cs typeface="Consolas"/>
              </a:rPr>
              <a:t>rsp</a:t>
            </a:r>
            <a:r>
              <a:rPr lang="en-US" altLang="zh-CN">
                <a:latin typeface="Consolas"/>
                <a:cs typeface="Consolas"/>
              </a:rPr>
              <a:t>)</a:t>
            </a:r>
          </a:p>
          <a:p>
            <a:pPr lvl="1"/>
            <a:r>
              <a:rPr lang="en-US" altLang="zh-CN"/>
              <a:t>S: Scale: 1, 2, 4, or 8 </a:t>
            </a:r>
          </a:p>
        </p:txBody>
      </p:sp>
      <p:sp>
        <p:nvSpPr>
          <p:cNvPr id="5" name="矩形 4"/>
          <p:cNvSpPr/>
          <p:nvPr/>
        </p:nvSpPr>
        <p:spPr>
          <a:xfrm>
            <a:off x="3693880" y="5396093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0x8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4589424" y="6452837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4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7" name="肘形连接符 6"/>
          <p:cNvCxnSpPr>
            <a:stCxn id="5" idx="3"/>
            <a:endCxn id="8" idx="0"/>
          </p:cNvCxnSpPr>
          <p:nvPr/>
        </p:nvCxnSpPr>
        <p:spPr>
          <a:xfrm>
            <a:off x="5163740" y="5560709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/>
          <p:cNvSpPr/>
          <p:nvPr/>
        </p:nvSpPr>
        <p:spPr>
          <a:xfrm>
            <a:off x="5259676" y="5900199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cxnSp>
        <p:nvCxnSpPr>
          <p:cNvPr id="9" name="肘形连接符 8"/>
          <p:cNvCxnSpPr>
            <a:stCxn id="6" idx="3"/>
            <a:endCxn id="8" idx="4"/>
          </p:cNvCxnSpPr>
          <p:nvPr/>
        </p:nvCxnSpPr>
        <p:spPr>
          <a:xfrm flipV="1">
            <a:off x="5106814" y="6264705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5259677" y="5813569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*</a:t>
            </a:r>
            <a:endParaRPr lang="zh-CN" altLang="en-US" sz="3200"/>
          </a:p>
        </p:txBody>
      </p:sp>
      <p:sp>
        <p:nvSpPr>
          <p:cNvPr id="12" name="矩形 11"/>
          <p:cNvSpPr/>
          <p:nvPr/>
        </p:nvSpPr>
        <p:spPr>
          <a:xfrm>
            <a:off x="3128638" y="5355991"/>
            <a:ext cx="588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err="1"/>
              <a:t>rbx</a:t>
            </a:r>
            <a:r>
              <a:rPr lang="en-US" altLang="zh-CN" sz="2000"/>
              <a:t>:</a:t>
            </a:r>
            <a:endParaRPr lang="zh-CN" altLang="en-US" sz="2000"/>
          </a:p>
        </p:txBody>
      </p:sp>
      <p:sp>
        <p:nvSpPr>
          <p:cNvPr id="13" name="矩形 12"/>
          <p:cNvSpPr/>
          <p:nvPr/>
        </p:nvSpPr>
        <p:spPr>
          <a:xfrm>
            <a:off x="6844261" y="4822652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0x3a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472155" y="3922112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0x10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979110" y="3882010"/>
            <a:ext cx="5766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err="1"/>
              <a:t>rax</a:t>
            </a:r>
            <a:r>
              <a:rPr lang="en-US" altLang="zh-CN" sz="2000"/>
              <a:t>:</a:t>
            </a:r>
            <a:endParaRPr lang="zh-CN" altLang="en-US" sz="2000"/>
          </a:p>
        </p:txBody>
      </p:sp>
      <p:sp>
        <p:nvSpPr>
          <p:cNvPr id="17" name="矩形 16"/>
          <p:cNvSpPr/>
          <p:nvPr/>
        </p:nvSpPr>
        <p:spPr>
          <a:xfrm>
            <a:off x="4119661" y="6444545"/>
            <a:ext cx="37114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S:</a:t>
            </a:r>
            <a:endParaRPr lang="zh-CN" altLang="en-US" sz="2000"/>
          </a:p>
        </p:txBody>
      </p:sp>
      <p:cxnSp>
        <p:nvCxnSpPr>
          <p:cNvPr id="18" name="肘形连接符 17"/>
          <p:cNvCxnSpPr/>
          <p:nvPr/>
        </p:nvCxnSpPr>
        <p:spPr>
          <a:xfrm rot="16200000" flipH="1">
            <a:off x="5755971" y="4267639"/>
            <a:ext cx="741056" cy="368968"/>
          </a:xfrm>
          <a:prstGeom prst="bentConnector3">
            <a:avLst>
              <a:gd name="adj1" fmla="val 1495"/>
            </a:avLst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椭圆 23"/>
          <p:cNvSpPr/>
          <p:nvPr/>
        </p:nvSpPr>
        <p:spPr>
          <a:xfrm>
            <a:off x="6122841" y="4822651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6122842" y="4676111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+</a:t>
            </a:r>
            <a:endParaRPr lang="zh-CN" altLang="en-US" sz="3200"/>
          </a:p>
        </p:txBody>
      </p:sp>
      <p:cxnSp>
        <p:nvCxnSpPr>
          <p:cNvPr id="26" name="直线连接符 25"/>
          <p:cNvCxnSpPr/>
          <p:nvPr/>
        </p:nvCxnSpPr>
        <p:spPr>
          <a:xfrm>
            <a:off x="6511890" y="4996511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/>
          <p:cNvCxnSpPr>
            <a:stCxn id="10" idx="3"/>
            <a:endCxn id="24" idx="4"/>
          </p:cNvCxnSpPr>
          <p:nvPr/>
        </p:nvCxnSpPr>
        <p:spPr>
          <a:xfrm flipV="1">
            <a:off x="5648725" y="5187157"/>
            <a:ext cx="662258" cy="918800"/>
          </a:xfrm>
          <a:prstGeom prst="bentConnector2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矩形 36"/>
          <p:cNvSpPr/>
          <p:nvPr/>
        </p:nvSpPr>
        <p:spPr>
          <a:xfrm>
            <a:off x="5675361" y="6161072"/>
            <a:ext cx="635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/>
              <a:t>0x20</a:t>
            </a:r>
            <a:endParaRPr kumimoji="1"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5377265" y="4826245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10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39" name="肘形连接符 38"/>
          <p:cNvCxnSpPr>
            <a:stCxn id="38" idx="3"/>
            <a:endCxn id="24" idx="2"/>
          </p:cNvCxnSpPr>
          <p:nvPr/>
        </p:nvCxnSpPr>
        <p:spPr>
          <a:xfrm>
            <a:off x="5894655" y="5002620"/>
            <a:ext cx="228186" cy="228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4921244" y="4766882"/>
            <a:ext cx="41109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D:</a:t>
            </a:r>
            <a:endParaRPr lang="zh-CN" altLang="en-US" sz="2000"/>
          </a:p>
        </p:txBody>
      </p:sp>
      <p:sp>
        <p:nvSpPr>
          <p:cNvPr id="4" name="矩形 3"/>
          <p:cNvSpPr/>
          <p:nvPr/>
        </p:nvSpPr>
        <p:spPr>
          <a:xfrm>
            <a:off x="3211923" y="3387979"/>
            <a:ext cx="3903633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>
            <a:spAutoFit/>
          </a:bodyPr>
          <a:lstStyle/>
          <a:p>
            <a:r>
              <a:rPr kumimoji="1" lang="en-US" altLang="zh-CN">
                <a:latin typeface="Arial"/>
                <a:cs typeface="Arial"/>
              </a:rPr>
              <a:t>Memory operand: 10(%</a:t>
            </a:r>
            <a:r>
              <a:rPr kumimoji="1" lang="en-US" altLang="zh-CN" err="1">
                <a:latin typeface="Arial"/>
                <a:cs typeface="Arial"/>
              </a:rPr>
              <a:t>rax</a:t>
            </a:r>
            <a:r>
              <a:rPr kumimoji="1" lang="en-US" altLang="zh-CN">
                <a:latin typeface="Arial"/>
                <a:cs typeface="Arial"/>
              </a:rPr>
              <a:t>, %</a:t>
            </a:r>
            <a:r>
              <a:rPr kumimoji="1" lang="en-US" altLang="zh-CN" err="1">
                <a:latin typeface="Arial"/>
                <a:cs typeface="Arial"/>
              </a:rPr>
              <a:t>rbx</a:t>
            </a:r>
            <a:r>
              <a:rPr kumimoji="1" lang="en-US" altLang="zh-CN">
                <a:latin typeface="Arial"/>
                <a:cs typeface="Arial"/>
              </a:rPr>
              <a:t>, 4)</a:t>
            </a:r>
            <a:endParaRPr lang="zh-CN" altLang="en-US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3067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Complete Memory Addressing Mode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/>
              <a:t>D(</a:t>
            </a:r>
            <a:r>
              <a:rPr kumimoji="1" lang="en-US" altLang="zh-CN" err="1"/>
              <a:t>Rb</a:t>
            </a:r>
            <a:r>
              <a:rPr kumimoji="1" lang="en-US" altLang="zh-CN"/>
              <a:t>, </a:t>
            </a:r>
            <a:r>
              <a:rPr kumimoji="1" lang="en-US" altLang="zh-CN" err="1"/>
              <a:t>Ri</a:t>
            </a:r>
            <a:r>
              <a:rPr kumimoji="1" lang="en-US" altLang="zh-CN"/>
              <a:t>, S): 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Rb</a:t>
            </a:r>
            <a:r>
              <a:rPr kumimoji="1" lang="en-US" altLang="zh-CN"/>
              <a:t>) + S *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Ri</a:t>
            </a:r>
            <a:r>
              <a:rPr kumimoji="1" lang="en-US" altLang="zh-CN"/>
              <a:t>) + D</a:t>
            </a:r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en-US" altLang="zh-CN"/>
              <a:t>If S is 1 or D is 0, they can be omitted</a:t>
            </a:r>
          </a:p>
          <a:p>
            <a:pPr lvl="1"/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</a:t>
            </a:r>
          </a:p>
          <a:p>
            <a:pPr lvl="1"/>
            <a:r>
              <a:rPr lang="en-US" altLang="zh-CN"/>
              <a:t>D(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 + D</a:t>
            </a:r>
          </a:p>
          <a:p>
            <a:pPr lvl="1"/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, S):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S *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</a:t>
            </a:r>
          </a:p>
          <a:p>
            <a:pPr marL="457200" lvl="1" indent="0">
              <a:buNone/>
            </a:pPr>
            <a:r>
              <a:rPr lang="en-US" altLang="zh-CN"/>
              <a:t> 	</a:t>
            </a:r>
          </a:p>
        </p:txBody>
      </p:sp>
    </p:spTree>
    <p:extLst>
      <p:ext uri="{BB962C8B-B14F-4D97-AF65-F5344CB8AC3E}">
        <p14:creationId xmlns:p14="http://schemas.microsoft.com/office/powerpoint/2010/main" val="673148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8908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173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860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824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2*0xf000 + 0x80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0x1e080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9611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Complete addressing mode</a:t>
            </a:r>
            <a:endParaRPr kumimoji="1"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172891" y="3305652"/>
            <a:ext cx="43784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long a[] = {1, 2, 3};</a:t>
            </a:r>
          </a:p>
          <a:p>
            <a:r>
              <a:rPr lang="en-US" altLang="zh-CN" sz="200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b="1">
                <a:latin typeface="Consolas"/>
                <a:cs typeface="Consolas"/>
              </a:rPr>
              <a:t>     </a:t>
            </a:r>
            <a:r>
              <a:rPr lang="en-US" altLang="zh-CN" sz="2000" b="1">
                <a:highlight>
                  <a:srgbClr val="FFFF00"/>
                </a:highlight>
                <a:latin typeface="Consolas"/>
                <a:cs typeface="Consolas"/>
              </a:rPr>
              <a:t>a[i] = 0;</a:t>
            </a:r>
          </a:p>
          <a:p>
            <a:r>
              <a:rPr lang="en-US" altLang="zh-CN" sz="2000">
                <a:latin typeface="Consolas"/>
                <a:cs typeface="Consolas"/>
              </a:rPr>
              <a:t> }</a:t>
            </a:r>
            <a:endParaRPr lang="mr-IN" altLang="zh-CN" sz="200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4551316" y="3967372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497603" y="3346277"/>
            <a:ext cx="585619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Store address of a[0] in some register, say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rdi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, store 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 in another register, say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endParaRPr lang="en-US" altLang="zh-CN" sz="2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Do memory write: 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mov $0, (%</a:t>
            </a:r>
            <a:r>
              <a:rPr lang="en-US" altLang="zh-CN" sz="2000" err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rdi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, %</a:t>
            </a:r>
            <a:r>
              <a:rPr lang="en-US" altLang="zh-CN" sz="2000" err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2000">
                <a:solidFill>
                  <a:srgbClr val="FF0000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? 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983672" y="1509720"/>
            <a:ext cx="8229600" cy="1380826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/>
              <a:t>D(Rb, Ri, S):  </a:t>
            </a:r>
            <a:r>
              <a:rPr kumimoji="1" lang="en-US" altLang="zh-CN" err="1"/>
              <a:t>val</a:t>
            </a:r>
            <a:r>
              <a:rPr kumimoji="1" lang="en-US" altLang="zh-CN"/>
              <a:t>(Rb) + S * </a:t>
            </a:r>
            <a:r>
              <a:rPr kumimoji="1" lang="en-US" altLang="zh-CN" err="1"/>
              <a:t>val</a:t>
            </a:r>
            <a:r>
              <a:rPr kumimoji="1" lang="en-US" altLang="zh-CN"/>
              <a:t>(Ri) + D</a:t>
            </a:r>
          </a:p>
        </p:txBody>
      </p:sp>
    </p:spTree>
    <p:extLst>
      <p:ext uri="{BB962C8B-B14F-4D97-AF65-F5344CB8AC3E}">
        <p14:creationId xmlns:p14="http://schemas.microsoft.com/office/powerpoint/2010/main" val="19913634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50651" y="270285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37036" y="2524827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24" name="矩形 18">
            <a:extLst>
              <a:ext uri="{FF2B5EF4-FFF2-40B4-BE49-F238E27FC236}">
                <a16:creationId xmlns:a16="http://schemas.microsoft.com/office/drawing/2014/main" id="{7FA7DA83-639F-491B-B6A6-77A8228843E7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6" name="矩形 7">
            <a:extLst>
              <a:ext uri="{FF2B5EF4-FFF2-40B4-BE49-F238E27FC236}">
                <a16:creationId xmlns:a16="http://schemas.microsoft.com/office/drawing/2014/main" id="{55381176-C2F4-40E2-8D95-B457C586FC68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2" name="矩形 75">
            <a:extLst>
              <a:ext uri="{FF2B5EF4-FFF2-40B4-BE49-F238E27FC236}">
                <a16:creationId xmlns:a16="http://schemas.microsoft.com/office/drawing/2014/main" id="{618A9516-DD80-4298-99C6-9594269B0E3E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8752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65610" y="232937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51995" y="2151345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18" name="矩形 18">
            <a:extLst>
              <a:ext uri="{FF2B5EF4-FFF2-40B4-BE49-F238E27FC236}">
                <a16:creationId xmlns:a16="http://schemas.microsoft.com/office/drawing/2014/main" id="{9CC21936-8086-49DC-BACA-F7519CE7FC11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0" name="矩形 7">
            <a:extLst>
              <a:ext uri="{FF2B5EF4-FFF2-40B4-BE49-F238E27FC236}">
                <a16:creationId xmlns:a16="http://schemas.microsoft.com/office/drawing/2014/main" id="{E34E57E1-1E9C-4F5E-AEF9-69196D8CF9E6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75">
            <a:extLst>
              <a:ext uri="{FF2B5EF4-FFF2-40B4-BE49-F238E27FC236}">
                <a16:creationId xmlns:a16="http://schemas.microsoft.com/office/drawing/2014/main" id="{FBED93E3-7B92-4300-ADE5-2ACE07DEDD88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885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12971" y="194981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699356" y="1771790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18" name="矩形 18">
            <a:extLst>
              <a:ext uri="{FF2B5EF4-FFF2-40B4-BE49-F238E27FC236}">
                <a16:creationId xmlns:a16="http://schemas.microsoft.com/office/drawing/2014/main" id="{2918BDB5-07F3-4E84-8057-FBAE1D302B3C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0" name="矩形 7">
            <a:extLst>
              <a:ext uri="{FF2B5EF4-FFF2-40B4-BE49-F238E27FC236}">
                <a16:creationId xmlns:a16="http://schemas.microsoft.com/office/drawing/2014/main" id="{6B7C4456-091A-48EF-BAFD-F8166E4252B1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75">
            <a:extLst>
              <a:ext uri="{FF2B5EF4-FFF2-40B4-BE49-F238E27FC236}">
                <a16:creationId xmlns:a16="http://schemas.microsoft.com/office/drawing/2014/main" id="{C74FCABF-6812-49AC-86D0-E1BB9F3F7418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3096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8634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33565" y="1574621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19950" y="139659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23" name="矩形 18">
            <a:extLst>
              <a:ext uri="{FF2B5EF4-FFF2-40B4-BE49-F238E27FC236}">
                <a16:creationId xmlns:a16="http://schemas.microsoft.com/office/drawing/2014/main" id="{7955FB51-49BF-49F5-94D9-C1EE7BF51426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18" name="矩形 7">
            <a:extLst>
              <a:ext uri="{FF2B5EF4-FFF2-40B4-BE49-F238E27FC236}">
                <a16:creationId xmlns:a16="http://schemas.microsoft.com/office/drawing/2014/main" id="{D9604A5D-63C9-4FE1-84D4-9C2C26EBAE0B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75">
            <a:extLst>
              <a:ext uri="{FF2B5EF4-FFF2-40B4-BE49-F238E27FC236}">
                <a16:creationId xmlns:a16="http://schemas.microsoft.com/office/drawing/2014/main" id="{30AFC5D8-647A-4598-BBB9-0D94EACB14A3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755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b="1"/>
              <a:t>lea</a:t>
            </a:r>
            <a:r>
              <a:rPr kumimoji="1" lang="en-US" altLang="zh-CN"/>
              <a:t> instruction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3200" b="1" err="1"/>
              <a:t>leaq</a:t>
            </a:r>
            <a:r>
              <a:rPr kumimoji="1" lang="en-US" altLang="zh-CN" sz="3200"/>
              <a:t> </a:t>
            </a:r>
            <a:r>
              <a:rPr kumimoji="1" lang="en-US" altLang="zh-CN" sz="3200" i="1"/>
              <a:t>Source, </a:t>
            </a:r>
            <a:r>
              <a:rPr kumimoji="1" lang="en-US" altLang="zh-CN" sz="3200" i="1" err="1"/>
              <a:t>Dest</a:t>
            </a:r>
            <a:r>
              <a:rPr kumimoji="1" lang="en-US" altLang="zh-CN" sz="3200"/>
              <a:t> </a:t>
            </a:r>
          </a:p>
          <a:p>
            <a:pPr lvl="1"/>
            <a:r>
              <a:rPr kumimoji="1" lang="en-US" altLang="zh-CN" sz="2800"/>
              <a:t>Short for </a:t>
            </a:r>
            <a:r>
              <a:rPr kumimoji="1" lang="en-US" altLang="zh-CN" sz="2800" b="1"/>
              <a:t>L</a:t>
            </a:r>
            <a:r>
              <a:rPr kumimoji="1" lang="en-US" altLang="zh-CN" sz="2800"/>
              <a:t>oad </a:t>
            </a:r>
            <a:r>
              <a:rPr kumimoji="1" lang="en-US" altLang="zh-CN" sz="2800" b="1"/>
              <a:t>E</a:t>
            </a:r>
            <a:r>
              <a:rPr kumimoji="1" lang="en-US" altLang="zh-CN" sz="2800"/>
              <a:t>ffective </a:t>
            </a:r>
            <a:r>
              <a:rPr kumimoji="1" lang="en-US" altLang="zh-CN" sz="2800" b="1"/>
              <a:t>A</a:t>
            </a:r>
            <a:r>
              <a:rPr kumimoji="1" lang="en-US" altLang="zh-CN" sz="2800"/>
              <a:t>ddress</a:t>
            </a:r>
          </a:p>
          <a:p>
            <a:pPr lvl="1"/>
            <a:r>
              <a:rPr kumimoji="1" lang="en-US" altLang="zh-CN" sz="2800"/>
              <a:t>Set </a:t>
            </a:r>
            <a:r>
              <a:rPr kumimoji="1" lang="en-US" altLang="zh-CN" sz="2800" i="1" err="1"/>
              <a:t>Dest</a:t>
            </a:r>
            <a:r>
              <a:rPr kumimoji="1" lang="en-US" altLang="zh-CN" sz="2800"/>
              <a:t> to the address denoted by </a:t>
            </a:r>
            <a:r>
              <a:rPr kumimoji="1" lang="en-US" altLang="zh-CN" sz="2800" i="1"/>
              <a:t>Source </a:t>
            </a:r>
            <a:r>
              <a:rPr kumimoji="1" lang="en-US" altLang="zh-CN" sz="2800"/>
              <a:t>address mode expression</a:t>
            </a:r>
          </a:p>
          <a:p>
            <a:pPr lvl="1"/>
            <a:r>
              <a:rPr kumimoji="1" lang="en-US" altLang="zh-CN" sz="2800"/>
              <a:t>Performs address calculation only; no memory access!</a:t>
            </a:r>
          </a:p>
          <a:p>
            <a:pPr marL="457200" lvl="1" indent="0">
              <a:buNone/>
            </a:pPr>
            <a:endParaRPr kumimoji="1" lang="en-US" altLang="zh-CN"/>
          </a:p>
          <a:p>
            <a:endParaRPr kumimoji="1" lang="en-US" altLang="zh-CN"/>
          </a:p>
          <a:p>
            <a:endParaRPr kumimoji="1" lang="en-US" altLang="zh-CN"/>
          </a:p>
          <a:p>
            <a:pPr lvl="1"/>
            <a:endParaRPr kumimoji="1" lang="en-US" altLang="zh-CN"/>
          </a:p>
          <a:p>
            <a:endParaRPr kumimoji="1" lang="zh-CN" altLang="en-US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135912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268435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454820" y="288857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0119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8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8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80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341097" y="274089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527482" y="257462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913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CA808-2573-ACDA-712D-B1EACF969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 case for lea: calculate address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7ECFE-88B8-60E9-28DF-C80F43A1F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95057"/>
            <a:ext cx="10515600" cy="21819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9FAAD7A-B880-01DC-D77E-C528829AF26E}"/>
              </a:ext>
            </a:extLst>
          </p:cNvPr>
          <p:cNvSpPr>
            <a:spLocks/>
          </p:cNvSpPr>
          <p:nvPr/>
        </p:nvSpPr>
        <p:spPr bwMode="auto">
          <a:xfrm>
            <a:off x="1959429" y="3001267"/>
            <a:ext cx="3886200" cy="61589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>
                <a:latin typeface="Consolas"/>
                <a:cs typeface="Consolas"/>
              </a:rPr>
              <a:t>long *p = &amp;a[i];</a:t>
            </a:r>
          </a:p>
        </p:txBody>
      </p:sp>
      <p:sp>
        <p:nvSpPr>
          <p:cNvPr id="5" name="右箭头 6">
            <a:extLst>
              <a:ext uri="{FF2B5EF4-FFF2-40B4-BE49-F238E27FC236}">
                <a16:creationId xmlns:a16="http://schemas.microsoft.com/office/drawing/2014/main" id="{B274C70D-7D5B-CED7-6934-31C8DA1C110F}"/>
              </a:ext>
            </a:extLst>
          </p:cNvPr>
          <p:cNvSpPr/>
          <p:nvPr/>
        </p:nvSpPr>
        <p:spPr>
          <a:xfrm>
            <a:off x="4855436" y="3030522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7">
            <a:extLst>
              <a:ext uri="{FF2B5EF4-FFF2-40B4-BE49-F238E27FC236}">
                <a16:creationId xmlns:a16="http://schemas.microsoft.com/office/drawing/2014/main" id="{084D65C8-094F-DE5E-65A1-37463F1E5BF7}"/>
              </a:ext>
            </a:extLst>
          </p:cNvPr>
          <p:cNvSpPr/>
          <p:nvPr/>
        </p:nvSpPr>
        <p:spPr>
          <a:xfrm>
            <a:off x="6096000" y="2939880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 err="1">
                <a:latin typeface="Consolas"/>
                <a:cs typeface="Consolas"/>
              </a:rPr>
              <a:t>leaq</a:t>
            </a:r>
            <a:r>
              <a:rPr lang="mr-IN" altLang="zh-CN" b="1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(%</a:t>
            </a:r>
            <a:r>
              <a:rPr lang="mr-IN" altLang="zh-CN" dirty="0" err="1">
                <a:latin typeface="Consolas"/>
                <a:cs typeface="Consolas"/>
              </a:rPr>
              <a:t>rdi</a:t>
            </a:r>
            <a:r>
              <a:rPr lang="mr-IN" altLang="zh-CN" dirty="0">
                <a:latin typeface="Consolas"/>
                <a:cs typeface="Consolas"/>
              </a:rPr>
              <a:t>, %</a:t>
            </a:r>
            <a:r>
              <a:rPr lang="mr-IN" altLang="zh-CN" dirty="0" err="1">
                <a:latin typeface="Consolas"/>
                <a:cs typeface="Consolas"/>
              </a:rPr>
              <a:t>r</a:t>
            </a:r>
            <a:r>
              <a:rPr lang="en-US" altLang="zh-CN" dirty="0">
                <a:latin typeface="Consolas"/>
                <a:cs typeface="Consolas"/>
              </a:rPr>
              <a:t>s</a:t>
            </a:r>
            <a:r>
              <a:rPr lang="mr-IN" altLang="zh-CN" dirty="0" err="1">
                <a:latin typeface="Consolas"/>
                <a:cs typeface="Consolas"/>
              </a:rPr>
              <a:t>i</a:t>
            </a:r>
            <a:r>
              <a:rPr lang="mr-IN" altLang="zh-CN" dirty="0">
                <a:latin typeface="Consolas"/>
                <a:cs typeface="Consolas"/>
              </a:rPr>
              <a:t>,</a:t>
            </a:r>
            <a:r>
              <a:rPr lang="en-US" altLang="zh-CN" dirty="0">
                <a:latin typeface="Consolas"/>
                <a:cs typeface="Consolas"/>
              </a:rPr>
              <a:t> 8</a:t>
            </a:r>
            <a:r>
              <a:rPr lang="mr-IN" altLang="zh-CN" dirty="0">
                <a:latin typeface="Consolas"/>
                <a:cs typeface="Consolas"/>
              </a:rPr>
              <a:t>), %</a:t>
            </a:r>
            <a:r>
              <a:rPr lang="mr-IN" altLang="zh-CN" dirty="0" err="1">
                <a:latin typeface="Consolas"/>
                <a:cs typeface="Consolas"/>
              </a:rPr>
              <a:t>rax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5955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Another common use case for lea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Lea is used to compute certain simple arithmetic expression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981200" y="3012720"/>
            <a:ext cx="26895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>
                <a:latin typeface="Consolas"/>
                <a:cs typeface="Consolas"/>
              </a:rPr>
              <a:t>long m3(long x)</a:t>
            </a:r>
          </a:p>
          <a:p>
            <a:r>
              <a:rPr lang="en-US" altLang="zh-CN">
                <a:latin typeface="Consolas"/>
                <a:cs typeface="Consolas"/>
              </a:rPr>
              <a:t>{</a:t>
            </a:r>
          </a:p>
          <a:p>
            <a:r>
              <a:rPr lang="en-US" altLang="zh-CN">
                <a:latin typeface="Consolas"/>
                <a:cs typeface="Consolas"/>
              </a:rPr>
              <a:t>  return x*3;</a:t>
            </a:r>
          </a:p>
          <a:p>
            <a:r>
              <a:rPr lang="en-US" altLang="zh-CN">
                <a:latin typeface="Consolas"/>
                <a:cs typeface="Consolas"/>
              </a:rPr>
              <a:t>}</a:t>
            </a:r>
          </a:p>
        </p:txBody>
      </p:sp>
      <p:sp>
        <p:nvSpPr>
          <p:cNvPr id="7" name="右箭头 6"/>
          <p:cNvSpPr/>
          <p:nvPr/>
        </p:nvSpPr>
        <p:spPr>
          <a:xfrm>
            <a:off x="4855436" y="3030522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205553" y="3050214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mr-IN" altLang="zh-CN">
              <a:latin typeface="Consolas"/>
              <a:cs typeface="Consolas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304535" y="4766005"/>
            <a:ext cx="480281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>
                <a:latin typeface="Arial"/>
                <a:cs typeface="Arial"/>
              </a:rPr>
              <a:t>Assume %</a:t>
            </a:r>
            <a:r>
              <a:rPr lang="en-US" altLang="zh-CN" sz="2400" b="1" err="1">
                <a:latin typeface="Arial"/>
                <a:cs typeface="Arial"/>
              </a:rPr>
              <a:t>rdi</a:t>
            </a:r>
            <a:r>
              <a:rPr lang="en-US" altLang="zh-CN" sz="2400" b="1">
                <a:latin typeface="Arial"/>
                <a:cs typeface="Arial"/>
              </a:rPr>
              <a:t> has the value of x</a:t>
            </a:r>
            <a:endParaRPr lang="zh-CN" altLang="en-US" sz="2400" b="1">
              <a:latin typeface="Arial"/>
              <a:cs typeface="Arial"/>
            </a:endParaRPr>
          </a:p>
        </p:txBody>
      </p:sp>
      <p:sp>
        <p:nvSpPr>
          <p:cNvPr id="9" name="矩形 7"/>
          <p:cNvSpPr/>
          <p:nvPr/>
        </p:nvSpPr>
        <p:spPr>
          <a:xfrm>
            <a:off x="6357954" y="3202614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 err="1">
                <a:latin typeface="Consolas"/>
                <a:cs typeface="Consolas"/>
              </a:rPr>
              <a:t>leaq</a:t>
            </a:r>
            <a:r>
              <a:rPr lang="mr-IN" altLang="zh-CN" b="1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(%</a:t>
            </a:r>
            <a:r>
              <a:rPr lang="mr-IN" altLang="zh-CN" dirty="0" err="1">
                <a:latin typeface="Consolas"/>
                <a:cs typeface="Consolas"/>
              </a:rPr>
              <a:t>rdi</a:t>
            </a:r>
            <a:r>
              <a:rPr lang="mr-IN" altLang="zh-CN" dirty="0">
                <a:latin typeface="Consolas"/>
                <a:cs typeface="Consolas"/>
              </a:rPr>
              <a:t>, %rdi,2), %</a:t>
            </a:r>
            <a:r>
              <a:rPr lang="mr-IN" altLang="zh-CN" dirty="0" err="1">
                <a:latin typeface="Consolas"/>
                <a:cs typeface="Consolas"/>
              </a:rPr>
              <a:t>rax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2686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240412" y="2872069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 err="1">
                <a:latin typeface="Consolas"/>
                <a:cs typeface="Consolas"/>
              </a:rPr>
              <a:t>leaq</a:t>
            </a:r>
            <a:r>
              <a:rPr lang="en-US" dirty="0">
                <a:latin typeface="Consolas"/>
                <a:cs typeface="Consolas"/>
              </a:rPr>
              <a:t>	(%rdi,%rsi,2), %</a:t>
            </a:r>
            <a:r>
              <a:rPr lang="en-US" dirty="0" err="1">
                <a:latin typeface="Consolas"/>
                <a:cs typeface="Consolas"/>
              </a:rPr>
              <a:t>rax</a:t>
            </a:r>
            <a:endParaRPr lang="en-US" dirty="0">
              <a:latin typeface="Consolas"/>
              <a:cs typeface="Consolas"/>
            </a:endParaRPr>
          </a:p>
          <a:p>
            <a:r>
              <a:rPr lang="en-US" dirty="0" err="1">
                <a:latin typeface="Consolas"/>
                <a:cs typeface="Consolas"/>
              </a:rPr>
              <a:t>leaq</a:t>
            </a:r>
            <a:r>
              <a:rPr lang="en-US" dirty="0">
                <a:latin typeface="Consolas"/>
                <a:cs typeface="Consolas"/>
              </a:rPr>
              <a:t>	(%rax,%rax,4), %</a:t>
            </a:r>
            <a:r>
              <a:rPr lang="en-US" dirty="0" err="1">
                <a:latin typeface="Consolas"/>
                <a:cs typeface="Consolas"/>
              </a:rPr>
              <a:t>rax</a:t>
            </a:r>
            <a:endParaRPr lang="en-US" dirty="0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042984" y="1903185"/>
            <a:ext cx="815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Arial"/>
                <a:cs typeface="Arial"/>
              </a:rPr>
              <a:t>Suppose %</a:t>
            </a:r>
            <a:r>
              <a:rPr lang="en-US" sz="2000" err="1">
                <a:latin typeface="Arial"/>
                <a:cs typeface="Arial"/>
              </a:rPr>
              <a:t>rdi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rsi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rax</a:t>
            </a:r>
            <a:r>
              <a:rPr lang="en-US" sz="2000">
                <a:latin typeface="Arial"/>
                <a:cs typeface="Arial"/>
              </a:rPr>
              <a:t> corresponds to variables x, y, s,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397495" y="2484994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/>
                <a:cs typeface="Consolas"/>
              </a:rPr>
              <a:t>long f(long x, long y)</a:t>
            </a:r>
          </a:p>
          <a:p>
            <a:r>
              <a:rPr lang="en-US">
                <a:latin typeface="Consolas"/>
                <a:cs typeface="Consolas"/>
              </a:rPr>
              <a:t>{</a:t>
            </a:r>
          </a:p>
          <a:p>
            <a:r>
              <a:rPr lang="en-US">
                <a:latin typeface="Consolas"/>
                <a:cs typeface="Consolas"/>
              </a:rPr>
              <a:t>    long s = </a:t>
            </a:r>
            <a:r>
              <a:rPr lang="en-US" sz="2000">
                <a:solidFill>
                  <a:srgbClr val="FF0000"/>
                </a:solidFill>
                <a:latin typeface="Consolas"/>
                <a:cs typeface="Consolas"/>
              </a:rPr>
              <a:t>??</a:t>
            </a:r>
            <a:r>
              <a:rPr lang="en-US">
                <a:latin typeface="Consolas"/>
                <a:cs typeface="Consolas"/>
              </a:rPr>
              <a:t>;</a:t>
            </a:r>
          </a:p>
          <a:p>
            <a:r>
              <a:rPr lang="da-DK">
                <a:latin typeface="Consolas"/>
                <a:cs typeface="Consolas"/>
              </a:rPr>
              <a:t>    return s;</a:t>
            </a:r>
          </a:p>
          <a:p>
            <a:r>
              <a:rPr lang="da-DK">
                <a:latin typeface="Consolas"/>
                <a:cs typeface="Consolas"/>
              </a:rPr>
              <a:t>}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239893" y="2961993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9502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516380" y="3205701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err="1">
                <a:latin typeface="Consolas"/>
                <a:cs typeface="Consolas"/>
              </a:rPr>
              <a:t>leaq</a:t>
            </a:r>
            <a:r>
              <a:rPr lang="en-US">
                <a:latin typeface="Consolas"/>
                <a:cs typeface="Consolas"/>
              </a:rPr>
              <a:t>	(%rdi,%rsi,2), %</a:t>
            </a:r>
            <a:r>
              <a:rPr lang="en-US" err="1">
                <a:latin typeface="Consolas"/>
                <a:cs typeface="Consolas"/>
              </a:rPr>
              <a:t>rax</a:t>
            </a:r>
            <a:endParaRPr lang="en-US">
              <a:latin typeface="Consolas"/>
              <a:cs typeface="Consolas"/>
            </a:endParaRPr>
          </a:p>
          <a:p>
            <a:r>
              <a:rPr lang="en-US" err="1">
                <a:latin typeface="Consolas"/>
                <a:cs typeface="Consolas"/>
              </a:rPr>
              <a:t>leaq</a:t>
            </a:r>
            <a:r>
              <a:rPr lang="en-US">
                <a:latin typeface="Consolas"/>
                <a:cs typeface="Consolas"/>
              </a:rPr>
              <a:t>	(%rax,%rax,4), %</a:t>
            </a:r>
            <a:r>
              <a:rPr lang="en-US" err="1">
                <a:latin typeface="Consolas"/>
                <a:cs typeface="Consolas"/>
              </a:rPr>
              <a:t>rax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318952" y="2236817"/>
            <a:ext cx="742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Arial"/>
                <a:cs typeface="Arial"/>
              </a:rPr>
              <a:t>Suppose %</a:t>
            </a:r>
            <a:r>
              <a:rPr lang="en-US" sz="2000" err="1">
                <a:latin typeface="Arial"/>
                <a:cs typeface="Arial"/>
              </a:rPr>
              <a:t>rdi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rsi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rax</a:t>
            </a:r>
            <a:r>
              <a:rPr lang="en-US" sz="2000">
                <a:latin typeface="Arial"/>
                <a:cs typeface="Arial"/>
              </a:rPr>
              <a:t> contains variable x, y, s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3463" y="2818626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/>
                <a:cs typeface="Consolas"/>
              </a:rPr>
              <a:t>long f(long x, long y)</a:t>
            </a:r>
          </a:p>
          <a:p>
            <a:r>
              <a:rPr lang="en-US">
                <a:latin typeface="Consolas"/>
                <a:cs typeface="Consolas"/>
              </a:rPr>
              <a:t>{</a:t>
            </a:r>
          </a:p>
          <a:p>
            <a:r>
              <a:rPr lang="en-US">
                <a:latin typeface="Consolas"/>
                <a:cs typeface="Consolas"/>
              </a:rPr>
              <a:t>    long s = </a:t>
            </a:r>
            <a:r>
              <a:rPr lang="en-US" sz="2000">
                <a:solidFill>
                  <a:srgbClr val="FF0000"/>
                </a:solidFill>
                <a:latin typeface="Consolas"/>
                <a:cs typeface="Consolas"/>
              </a:rPr>
              <a:t>5(x + 2y)</a:t>
            </a:r>
            <a:r>
              <a:rPr lang="en-US">
                <a:latin typeface="Consolas"/>
                <a:cs typeface="Consolas"/>
              </a:rPr>
              <a:t>;</a:t>
            </a:r>
          </a:p>
          <a:p>
            <a:r>
              <a:rPr lang="da-DK">
                <a:latin typeface="Consolas"/>
                <a:cs typeface="Consolas"/>
              </a:rPr>
              <a:t>    return s;</a:t>
            </a:r>
          </a:p>
          <a:p>
            <a:r>
              <a:rPr lang="da-DK">
                <a:latin typeface="Consolas"/>
                <a:cs typeface="Consolas"/>
              </a:rPr>
              <a:t>}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515861" y="3295625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31508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Basic Arithmetic Operations</a:t>
            </a:r>
          </a:p>
        </p:txBody>
      </p:sp>
      <p:sp>
        <p:nvSpPr>
          <p:cNvPr id="8" name="Rectangle 4"/>
          <p:cNvSpPr txBox="1">
            <a:spLocks noChangeArrowheads="1"/>
          </p:cNvSpPr>
          <p:nvPr/>
        </p:nvSpPr>
        <p:spPr>
          <a:xfrm>
            <a:off x="1167114" y="1778086"/>
            <a:ext cx="7896225" cy="4972050"/>
          </a:xfrm>
          <a:prstGeom prst="rect">
            <a:avLst/>
          </a:prstGeom>
          <a:ln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addq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+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subq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</a:t>
            </a:r>
            <a:r>
              <a:rPr lang="en-US">
                <a:ea typeface="Calibri Italic" charset="0"/>
                <a:sym typeface="Symbol"/>
              </a:rPr>
              <a:t></a:t>
            </a:r>
            <a:r>
              <a:rPr lang="en-US"/>
              <a:t>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imulq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*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>
              <a:sym typeface="Courier New Bold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incq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+ 1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decq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</a:t>
            </a:r>
            <a:r>
              <a:rPr lang="en-US">
                <a:ea typeface="Calibri Italic" charset="0"/>
                <a:sym typeface="Symbol"/>
              </a:rPr>
              <a:t></a:t>
            </a:r>
            <a:r>
              <a:rPr lang="en-US">
                <a:ea typeface="Calibri Italic" charset="0"/>
                <a:sym typeface="Calibri Italic" charset="0"/>
              </a:rPr>
              <a:t> 1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negq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>
                <a:ea typeface="Calibri Italic" charset="0"/>
                <a:sym typeface="Symbol"/>
              </a:rPr>
              <a:t>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>
              <a:sym typeface="Courier New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2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Bitwise Operations</a:t>
            </a:r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227438" y="2205682"/>
            <a:ext cx="8229600" cy="3368404"/>
          </a:xfrm>
          <a:ln/>
        </p:spPr>
        <p:txBody>
          <a:bodyPr/>
          <a:lstStyle/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salq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&lt;&lt; </a:t>
            </a:r>
            <a:r>
              <a:rPr lang="en-US" err="1"/>
              <a:t>Src</a:t>
            </a:r>
            <a:r>
              <a:rPr lang="en-US"/>
              <a:t>	Arithmetic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sarq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&gt;&gt; </a:t>
            </a:r>
            <a:r>
              <a:rPr lang="en-US" err="1"/>
              <a:t>Src</a:t>
            </a:r>
            <a:r>
              <a:rPr lang="en-US"/>
              <a:t>        Arithmetic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shlq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&lt;&lt; </a:t>
            </a:r>
            <a:r>
              <a:rPr lang="en-US" err="1"/>
              <a:t>Src</a:t>
            </a:r>
            <a:r>
              <a:rPr lang="en-US"/>
              <a:t>	Logical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shrq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&gt;&gt; </a:t>
            </a:r>
            <a:r>
              <a:rPr lang="en-US" err="1"/>
              <a:t>Src</a:t>
            </a:r>
            <a:r>
              <a:rPr lang="en-US"/>
              <a:t>	Logical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xorq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^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andq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&amp;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orq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|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notq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~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endParaRPr lang="en-US">
              <a:sym typeface="Calibri Italic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933955" y="2364032"/>
            <a:ext cx="1005783" cy="809492"/>
            <a:chOff x="8163716" y="1758551"/>
            <a:chExt cx="1005783" cy="809492"/>
          </a:xfrm>
        </p:grpSpPr>
        <p:sp>
          <p:nvSpPr>
            <p:cNvPr id="6" name="Freeform 5"/>
            <p:cNvSpPr/>
            <p:nvPr/>
          </p:nvSpPr>
          <p:spPr>
            <a:xfrm>
              <a:off x="8163716" y="1758551"/>
              <a:ext cx="321018" cy="809492"/>
            </a:xfrm>
            <a:custGeom>
              <a:avLst/>
              <a:gdLst>
                <a:gd name="connsiteX0" fmla="*/ 0 w 321018"/>
                <a:gd name="connsiteY0" fmla="*/ 0 h 809492"/>
                <a:gd name="connsiteX1" fmla="*/ 320965 w 321018"/>
                <a:gd name="connsiteY1" fmla="*/ 376832 h 809492"/>
                <a:gd name="connsiteX2" fmla="*/ 27910 w 321018"/>
                <a:gd name="connsiteY2" fmla="*/ 809492 h 809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1018" h="809492">
                  <a:moveTo>
                    <a:pt x="0" y="0"/>
                  </a:moveTo>
                  <a:cubicBezTo>
                    <a:pt x="158156" y="120958"/>
                    <a:pt x="316313" y="241917"/>
                    <a:pt x="320965" y="376832"/>
                  </a:cubicBezTo>
                  <a:cubicBezTo>
                    <a:pt x="325617" y="511747"/>
                    <a:pt x="27910" y="809492"/>
                    <a:pt x="27910" y="809492"/>
                  </a:cubicBezTo>
                </a:path>
              </a:pathLst>
            </a:cu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484734" y="2020501"/>
              <a:ext cx="6847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chemeClr val="accent1"/>
                  </a:solidFill>
                </a:rPr>
                <a:t>same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610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9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268435" y="237260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454820" y="220634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7083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9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341097" y="193219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527482" y="1765928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7670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65000"/>
                  </a:schemeClr>
                </a:solidFill>
              </a:rPr>
              <a:t>mov </a:t>
            </a:r>
          </a:p>
          <a:p>
            <a:pPr lvl="1"/>
            <a:r>
              <a:rPr lang="en-US">
                <a:solidFill>
                  <a:schemeClr val="bg1">
                    <a:lumMod val="65000"/>
                  </a:schemeClr>
                </a:solidFill>
              </a:rPr>
              <a:t>complete memory addressing</a:t>
            </a:r>
          </a:p>
          <a:p>
            <a:r>
              <a:rPr lang="en-US">
                <a:solidFill>
                  <a:schemeClr val="bg1">
                    <a:lumMod val="65000"/>
                  </a:schemeClr>
                </a:solidFill>
              </a:rPr>
              <a:t>lea</a:t>
            </a:r>
          </a:p>
          <a:p>
            <a:r>
              <a:rPr lang="en-US">
                <a:solidFill>
                  <a:schemeClr val="bg1">
                    <a:lumMod val="65000"/>
                  </a:schemeClr>
                </a:solidFill>
              </a:rPr>
              <a:t>arithmetic instructions</a:t>
            </a:r>
          </a:p>
          <a:p>
            <a:r>
              <a:rPr lang="en-US"/>
              <a:t>How CPUs realize non-linear control flow</a:t>
            </a:r>
          </a:p>
        </p:txBody>
      </p:sp>
    </p:spTree>
    <p:extLst>
      <p:ext uri="{BB962C8B-B14F-4D97-AF65-F5344CB8AC3E}">
        <p14:creationId xmlns:p14="http://schemas.microsoft.com/office/powerpoint/2010/main" val="39938376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How is control flow realized?</a:t>
            </a:r>
            <a:endParaRPr kumimoji="1" lang="zh-CN" altLang="en-US"/>
          </a:p>
        </p:txBody>
      </p:sp>
      <p:sp>
        <p:nvSpPr>
          <p:cNvPr id="5" name="Rectangle 5"/>
          <p:cNvSpPr>
            <a:spLocks/>
          </p:cNvSpPr>
          <p:nvPr/>
        </p:nvSpPr>
        <p:spPr bwMode="auto">
          <a:xfrm>
            <a:off x="6620044" y="2206572"/>
            <a:ext cx="1263961" cy="684065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sz="4800">
                <a:solidFill>
                  <a:srgbClr val="FF0066"/>
                </a:solidFill>
                <a:latin typeface="Consolas"/>
                <a:cs typeface="Consolas"/>
              </a:rPr>
              <a:t>???</a:t>
            </a:r>
          </a:p>
        </p:txBody>
      </p:sp>
      <p:sp>
        <p:nvSpPr>
          <p:cNvPr id="6" name="Rectangle 2"/>
          <p:cNvSpPr/>
          <p:nvPr/>
        </p:nvSpPr>
        <p:spPr>
          <a:xfrm>
            <a:off x="2298764" y="2131680"/>
            <a:ext cx="2756607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mr-IN" sz="2000">
              <a:latin typeface="Consolas"/>
              <a:cs typeface="Consolas"/>
            </a:endParaRPr>
          </a:p>
          <a:p>
            <a:r>
              <a:rPr lang="mr-IN" sz="2000">
                <a:latin typeface="Consolas"/>
                <a:cs typeface="Consolas"/>
              </a:rPr>
              <a:t>  if </a:t>
            </a:r>
            <a:r>
              <a:rPr lang="en-US" sz="2000">
                <a:latin typeface="Consolas"/>
                <a:cs typeface="Consolas"/>
              </a:rPr>
              <a:t>… else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for loop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while loop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 … </a:t>
            </a:r>
          </a:p>
          <a:p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323906" y="2451247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4630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Control flow uses RFLAGS register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kumimoji="1" lang="en-US" altLang="zh-CN">
                <a:solidFill>
                  <a:schemeClr val="bg1">
                    <a:lumMod val="65000"/>
                  </a:schemeClr>
                </a:solidFill>
              </a:rPr>
              <a:t>PC: Program counter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memory address of next instruction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Also called “RIP”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in x86_64</a:t>
            </a:r>
          </a:p>
          <a:p>
            <a:endParaRPr lang="en-US" altLang="zh-CN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IR: instruction register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the fetched instruction</a:t>
            </a:r>
          </a:p>
          <a:p>
            <a:endParaRPr lang="en-US" altLang="zh-CN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General purpose registers: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operands and pointers used by program</a:t>
            </a:r>
          </a:p>
          <a:p>
            <a:endParaRPr lang="en-US" altLang="zh-CN"/>
          </a:p>
          <a:p>
            <a:pPr marL="0" indent="0">
              <a:buNone/>
            </a:pPr>
            <a:r>
              <a:rPr lang="en-US" altLang="zh-CN"/>
              <a:t>Program status and control register:</a:t>
            </a:r>
          </a:p>
          <a:p>
            <a:pPr lvl="1"/>
            <a:r>
              <a:rPr lang="en-US" altLang="zh-CN"/>
              <a:t>Contain status of the instruction executed</a:t>
            </a:r>
          </a:p>
          <a:p>
            <a:pPr lvl="1"/>
            <a:r>
              <a:rPr lang="en-US" altLang="zh-CN"/>
              <a:t>All called “</a:t>
            </a:r>
            <a:r>
              <a:rPr lang="en-US" altLang="zh-CN" b="1"/>
              <a:t>RFLAGS</a:t>
            </a:r>
            <a:r>
              <a:rPr lang="en-US" altLang="zh-CN"/>
              <a:t>” in x86_64</a:t>
            </a:r>
          </a:p>
          <a:p>
            <a:pPr lvl="1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29197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control flow uses RFLAGS register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925" y="1826741"/>
            <a:ext cx="8557084" cy="4525963"/>
          </a:xfrm>
        </p:spPr>
        <p:txBody>
          <a:bodyPr/>
          <a:lstStyle/>
          <a:p>
            <a:r>
              <a:rPr lang="en-US"/>
              <a:t>RFLAGS is a special purpose register</a:t>
            </a:r>
          </a:p>
          <a:p>
            <a:r>
              <a:rPr lang="en-US"/>
              <a:t>Different bits represent different status flags</a:t>
            </a:r>
          </a:p>
          <a:p>
            <a:r>
              <a:rPr lang="en-US"/>
              <a:t>Certain instructions set status flags</a:t>
            </a:r>
          </a:p>
          <a:p>
            <a:pPr lvl="1"/>
            <a:r>
              <a:rPr lang="en-US"/>
              <a:t>Regular arithmetic instructions</a:t>
            </a:r>
          </a:p>
          <a:p>
            <a:pPr lvl="1"/>
            <a:r>
              <a:rPr lang="en-US">
                <a:cs typeface="Consolas"/>
              </a:rPr>
              <a:t>Special flag-setting instructions:</a:t>
            </a:r>
            <a:r>
              <a:rPr lang="en-US">
                <a:latin typeface="Consolas"/>
                <a:cs typeface="Consolas"/>
              </a:rPr>
              <a:t> </a:t>
            </a:r>
            <a:r>
              <a:rPr lang="en-US" b="1" err="1">
                <a:latin typeface="Consolas"/>
                <a:cs typeface="Consolas"/>
              </a:rPr>
              <a:t>cmp</a:t>
            </a:r>
            <a:r>
              <a:rPr lang="en-US" b="1">
                <a:latin typeface="Consolas"/>
                <a:cs typeface="Consolas"/>
              </a:rPr>
              <a:t>, test, set</a:t>
            </a:r>
            <a:endParaRPr lang="en-US"/>
          </a:p>
          <a:p>
            <a:r>
              <a:rPr lang="en-US" b="1" err="1"/>
              <a:t>jmp</a:t>
            </a:r>
            <a:r>
              <a:rPr lang="en-US"/>
              <a:t> instructions use flags to determine value of %rip</a:t>
            </a:r>
          </a:p>
        </p:txBody>
      </p:sp>
    </p:spTree>
    <p:extLst>
      <p:ext uri="{BB962C8B-B14F-4D97-AF65-F5344CB8AC3E}">
        <p14:creationId xmlns:p14="http://schemas.microsoft.com/office/powerpoint/2010/main" val="5598284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ZF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8229600" cy="1433429"/>
          </a:xfrm>
        </p:spPr>
        <p:txBody>
          <a:bodyPr/>
          <a:lstStyle/>
          <a:p>
            <a:r>
              <a:rPr kumimoji="1" lang="en-US" altLang="zh-CN"/>
              <a:t>ZF (Zero Flag):</a:t>
            </a:r>
          </a:p>
          <a:p>
            <a:pPr lvl="1"/>
            <a:r>
              <a:rPr kumimoji="1" lang="en-US" altLang="zh-CN"/>
              <a:t>Set if the result of the instruction is zero; cleared otherwise. </a:t>
            </a:r>
          </a:p>
        </p:txBody>
      </p:sp>
      <p:sp>
        <p:nvSpPr>
          <p:cNvPr id="4" name="矩形 3"/>
          <p:cNvSpPr/>
          <p:nvPr/>
        </p:nvSpPr>
        <p:spPr>
          <a:xfrm>
            <a:off x="3617661" y="3681430"/>
            <a:ext cx="259934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54984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SF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8229600" cy="2268265"/>
          </a:xfrm>
        </p:spPr>
        <p:txBody>
          <a:bodyPr>
            <a:normAutofit/>
          </a:bodyPr>
          <a:lstStyle/>
          <a:p>
            <a:r>
              <a:rPr kumimoji="1" lang="en-US" altLang="zh-CN"/>
              <a:t>SF (Sign Flag):</a:t>
            </a:r>
          </a:p>
          <a:p>
            <a:pPr lvl="1"/>
            <a:r>
              <a:rPr kumimoji="1" lang="en-US" altLang="zh-CN"/>
              <a:t>Set to be the most-significant bit of the result.</a:t>
            </a:r>
          </a:p>
        </p:txBody>
      </p:sp>
      <p:sp>
        <p:nvSpPr>
          <p:cNvPr id="5" name="矩形 3"/>
          <p:cNvSpPr/>
          <p:nvPr/>
        </p:nvSpPr>
        <p:spPr>
          <a:xfrm>
            <a:off x="3016330" y="4159748"/>
            <a:ext cx="259934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$10,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442866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CF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66351" y="1833863"/>
            <a:ext cx="10515600" cy="1037023"/>
          </a:xfrm>
        </p:spPr>
        <p:txBody>
          <a:bodyPr/>
          <a:lstStyle/>
          <a:p>
            <a:r>
              <a:rPr kumimoji="1" lang="en-US" altLang="zh-CN"/>
              <a:t>CF (Carry Flag): </a:t>
            </a:r>
          </a:p>
          <a:p>
            <a:pPr marL="857250" lvl="1" indent="-342900"/>
            <a:r>
              <a:rPr kumimoji="1" lang="en-US" altLang="zh-CN"/>
              <a:t>Set if adding/subtracting two numbers carries out of MSB</a:t>
            </a:r>
          </a:p>
        </p:txBody>
      </p:sp>
      <p:sp>
        <p:nvSpPr>
          <p:cNvPr id="6" name="矩形 3"/>
          <p:cNvSpPr/>
          <p:nvPr/>
        </p:nvSpPr>
        <p:spPr>
          <a:xfrm>
            <a:off x="2441576" y="4290154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$0xffffffffffffffff,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7" name="矩形 3"/>
          <p:cNvSpPr/>
          <p:nvPr/>
        </p:nvSpPr>
        <p:spPr>
          <a:xfrm>
            <a:off x="2441576" y="5495844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$1,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80E03A-1A53-4E17-800C-CD8D5C4A63FE}"/>
              </a:ext>
            </a:extLst>
          </p:cNvPr>
          <p:cNvSpPr txBox="1"/>
          <p:nvPr/>
        </p:nvSpPr>
        <p:spPr>
          <a:xfrm>
            <a:off x="2318952" y="2818501"/>
            <a:ext cx="5480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chemeClr val="accent1">
                    <a:lumMod val="75000"/>
                  </a:schemeClr>
                </a:solidFill>
              </a:rPr>
              <a:t>i.e. Set if overflow for unsigned integer arithmetic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BBF9909-512A-48BD-B859-7F89EFC1229A}"/>
              </a:ext>
            </a:extLst>
          </p:cNvPr>
          <p:cNvSpPr/>
          <p:nvPr/>
        </p:nvSpPr>
        <p:spPr>
          <a:xfrm>
            <a:off x="1824681" y="2878914"/>
            <a:ext cx="383059" cy="3089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1987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OF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74152" y="1690689"/>
            <a:ext cx="9283101" cy="1274933"/>
          </a:xfrm>
        </p:spPr>
        <p:txBody>
          <a:bodyPr>
            <a:normAutofit/>
          </a:bodyPr>
          <a:lstStyle/>
          <a:p>
            <a:r>
              <a:rPr kumimoji="1" lang="en-US" altLang="zh-CN"/>
              <a:t>OF (Overflow Flag):</a:t>
            </a:r>
          </a:p>
          <a:p>
            <a:pPr lvl="1"/>
            <a:r>
              <a:rPr lang="en-US" sz="2100" b="0" i="0">
                <a:solidFill>
                  <a:srgbClr val="000000"/>
                </a:solidFill>
                <a:effectLst/>
                <a:latin typeface="Roboto"/>
              </a:rPr>
              <a:t>Set if there is carry-in but no carry-out of MSB</a:t>
            </a:r>
          </a:p>
          <a:p>
            <a:pPr lvl="1"/>
            <a:r>
              <a:rPr lang="en-US" sz="2100" b="0" i="0">
                <a:solidFill>
                  <a:srgbClr val="000000"/>
                </a:solidFill>
                <a:effectLst/>
                <a:latin typeface="Roboto"/>
              </a:rPr>
              <a:t>or, there is no carry-in but there's carry-out of MSB</a:t>
            </a:r>
          </a:p>
        </p:txBody>
      </p:sp>
      <p:sp>
        <p:nvSpPr>
          <p:cNvPr id="6" name="矩形 3"/>
          <p:cNvSpPr/>
          <p:nvPr/>
        </p:nvSpPr>
        <p:spPr>
          <a:xfrm>
            <a:off x="2184705" y="4261712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$0x7fffffffffffffff,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$1,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7" name="矩形 3"/>
          <p:cNvSpPr/>
          <p:nvPr/>
        </p:nvSpPr>
        <p:spPr>
          <a:xfrm>
            <a:off x="2184705" y="5512613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$0x8000000000000000,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$0xffffffffffffffff,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60DD8BE-5A67-4F97-96D8-9EC4A6EB6BAB}"/>
              </a:ext>
            </a:extLst>
          </p:cNvPr>
          <p:cNvSpPr/>
          <p:nvPr/>
        </p:nvSpPr>
        <p:spPr>
          <a:xfrm>
            <a:off x="2055340" y="3065616"/>
            <a:ext cx="646671" cy="333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940A0C-79BB-40BF-B84B-ECA6123B50B9}"/>
              </a:ext>
            </a:extLst>
          </p:cNvPr>
          <p:cNvSpPr txBox="1"/>
          <p:nvPr/>
        </p:nvSpPr>
        <p:spPr>
          <a:xfrm>
            <a:off x="2837935" y="3059668"/>
            <a:ext cx="5984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>
                <a:solidFill>
                  <a:schemeClr val="accent1">
                    <a:lumMod val="75000"/>
                  </a:schemeClr>
                </a:solidFill>
              </a:rPr>
              <a:t>Set if overflow for signed integer (2’s complement) arithmetic.</a:t>
            </a:r>
          </a:p>
        </p:txBody>
      </p:sp>
    </p:spTree>
    <p:extLst>
      <p:ext uri="{BB962C8B-B14F-4D97-AF65-F5344CB8AC3E}">
        <p14:creationId xmlns:p14="http://schemas.microsoft.com/office/powerpoint/2010/main" val="133420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CF and OF are different flags</a:t>
            </a:r>
            <a:endParaRPr kumimoji="1" lang="zh-CN" altLang="en-US"/>
          </a:p>
        </p:txBody>
      </p:sp>
      <p:sp>
        <p:nvSpPr>
          <p:cNvPr id="4" name="内容占位符 2"/>
          <p:cNvSpPr>
            <a:spLocks noGrp="1"/>
          </p:cNvSpPr>
          <p:nvPr>
            <p:ph idx="1"/>
          </p:nvPr>
        </p:nvSpPr>
        <p:spPr>
          <a:xfrm>
            <a:off x="704335" y="2182165"/>
            <a:ext cx="9613557" cy="384387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CPU does not care if data represents signed or unsigned integer:</a:t>
            </a:r>
          </a:p>
          <a:p>
            <a:pPr lvl="1"/>
            <a:r>
              <a:rPr kumimoji="1" lang="en-US" altLang="zh-CN" dirty="0"/>
              <a:t>Same underlying arithmetic hardware circuitry. </a:t>
            </a:r>
          </a:p>
          <a:p>
            <a:pPr lvl="1">
              <a:buFont typeface="Symbol" charset="2"/>
              <a:buChar char="-"/>
            </a:pPr>
            <a:r>
              <a:rPr kumimoji="1" lang="en-US" altLang="zh-CN" dirty="0"/>
              <a:t>OF and CF flags are set by examining various carry bits</a:t>
            </a:r>
          </a:p>
          <a:p>
            <a:r>
              <a:rPr kumimoji="1" lang="en-US" altLang="zh-CN" dirty="0"/>
              <a:t>Up to programmer/compiler to use either CF or OF flag</a:t>
            </a:r>
          </a:p>
          <a:p>
            <a:pPr lvl="1"/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478728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Status flags summary</a:t>
            </a:r>
            <a:endParaRPr kumimoji="1" lang="zh-CN" altLang="en-US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782696" y="2010661"/>
          <a:ext cx="8595743" cy="29160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931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4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6724"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flag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status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>
                          <a:latin typeface="Arial"/>
                          <a:cs typeface="Arial"/>
                        </a:rPr>
                        <a:t>ZF  (Zero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zero.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SF (Sign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negative.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CF (Carry</a:t>
                      </a:r>
                      <a:r>
                        <a:rPr lang="en-US" altLang="zh-CN" sz="2400" baseline="0">
                          <a:latin typeface="Arial"/>
                          <a:cs typeface="Arial"/>
                        </a:rPr>
                        <a:t> Flag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unsigned-integer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OF (Overflow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1782695" y="5607744"/>
            <a:ext cx="694207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/>
              <a:t>Set by arithmetic instructions, e.g. add, </a:t>
            </a:r>
            <a:r>
              <a:rPr lang="en-US" altLang="zh-CN" sz="2400" err="1"/>
              <a:t>inc</a:t>
            </a:r>
            <a:r>
              <a:rPr lang="en-US" altLang="zh-CN" sz="2400"/>
              <a:t>, and, </a:t>
            </a:r>
            <a:r>
              <a:rPr lang="en-US" altLang="zh-CN" sz="2400" err="1"/>
              <a:t>sal</a:t>
            </a:r>
            <a:r>
              <a:rPr lang="en-US" altLang="zh-CN" sz="2400"/>
              <a:t> </a:t>
            </a:r>
          </a:p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>
                <a:solidFill>
                  <a:srgbClr val="FF0000"/>
                </a:solidFill>
              </a:rPr>
              <a:t>Not set by </a:t>
            </a:r>
            <a:r>
              <a:rPr lang="en-US" altLang="zh-CN" sz="2400" b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lea, </a:t>
            </a:r>
            <a:r>
              <a:rPr lang="en-US" altLang="zh-CN" sz="2400" b="1" err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mov</a:t>
            </a:r>
            <a:r>
              <a:rPr lang="en-US" altLang="zh-CN" sz="2400" b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5385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294730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25693" y="5697931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206363" y="20939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206363" y="17205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06363" y="13497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>
                <a:solidFill>
                  <a:prstClr val="black"/>
                </a:solidFill>
                <a:latin typeface="Arial"/>
                <a:cs typeface="Arial"/>
              </a:rPr>
              <a:t>add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06363" y="246700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210733" y="38916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215102" y="427651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22683" y="464257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0xff</a:t>
            </a:r>
            <a:r>
              <a:rPr lang="mr-IN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600" err="1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ffffff</a:t>
            </a:r>
            <a:endParaRPr lang="zh-CN" altLang="en-US" sz="1600">
              <a:solidFill>
                <a:prstClr val="black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222683" y="501014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22683" y="53786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622298" y="534470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06363" y="353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31136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31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497836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31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31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56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56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51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52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54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43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49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595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28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13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17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14868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0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09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07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147980" y="157338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263553" y="14071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201552" y="318906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206265" y="283832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792967" y="17364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781728" y="21027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781728" y="50876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781728" y="471241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781728" y="43362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781728" y="39787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792967" y="36219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794616" y="321218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798986" y="2849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788456" y="24944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811675" y="13430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7718820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272123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8822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9381803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7701728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7880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8804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9377560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0EF9A9FE-A107-4C40-82C5-CF2186D21066}"/>
              </a:ext>
            </a:extLst>
          </p:cNvPr>
          <p:cNvSpPr/>
          <p:nvPr/>
        </p:nvSpPr>
        <p:spPr>
          <a:xfrm>
            <a:off x="3210732" y="98332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75">
            <a:extLst>
              <a:ext uri="{FF2B5EF4-FFF2-40B4-BE49-F238E27FC236}">
                <a16:creationId xmlns:a16="http://schemas.microsoft.com/office/drawing/2014/main" id="{AA4D9249-7AE1-40A4-BB54-A7A40EEE5859}"/>
              </a:ext>
            </a:extLst>
          </p:cNvPr>
          <p:cNvSpPr/>
          <p:nvPr/>
        </p:nvSpPr>
        <p:spPr>
          <a:xfrm>
            <a:off x="1799950" y="101886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76772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294730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25693" y="5697931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206363" y="20939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206363" y="17205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06363" y="13497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>
                <a:solidFill>
                  <a:prstClr val="black"/>
                </a:solidFill>
                <a:latin typeface="Arial"/>
                <a:cs typeface="Arial"/>
              </a:rPr>
              <a:t>add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06363" y="246700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210733" y="38916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215102" y="427651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22683" y="464257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0x00..0000</a:t>
            </a:r>
            <a:endParaRPr lang="zh-CN" altLang="en-US" sz="1600">
              <a:solidFill>
                <a:prstClr val="black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222683" y="501014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22683" y="53786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622298" y="534470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06363" y="353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31136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31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497836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31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31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56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56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51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52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54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43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49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595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28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13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17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14868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0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09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07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147980" y="157338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263553" y="14071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201552" y="318906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206265" y="283832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792967" y="17364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781728" y="21027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781728" y="50876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781728" y="471241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781728" y="43362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781728" y="39787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792967" y="36219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794616" y="321218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798986" y="2849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788456" y="24944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811675" y="13430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7718820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272123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8822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9381803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7701728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7880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8804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9377560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0EF9A9FE-A107-4C40-82C5-CF2186D21066}"/>
              </a:ext>
            </a:extLst>
          </p:cNvPr>
          <p:cNvSpPr/>
          <p:nvPr/>
        </p:nvSpPr>
        <p:spPr>
          <a:xfrm>
            <a:off x="3210732" y="98332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75">
            <a:extLst>
              <a:ext uri="{FF2B5EF4-FFF2-40B4-BE49-F238E27FC236}">
                <a16:creationId xmlns:a16="http://schemas.microsoft.com/office/drawing/2014/main" id="{AA4D9249-7AE1-40A4-BB54-A7A40EEE5859}"/>
              </a:ext>
            </a:extLst>
          </p:cNvPr>
          <p:cNvSpPr/>
          <p:nvPr/>
        </p:nvSpPr>
        <p:spPr>
          <a:xfrm>
            <a:off x="1799950" y="101886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74636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5B013-5E7B-4436-A2B6-EBCAC3689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DB1B3-E184-4BB5-8F9D-6690A26C3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X86 ISA</a:t>
            </a:r>
          </a:p>
          <a:p>
            <a:pPr lvl="1"/>
            <a:r>
              <a:rPr lang="en-US"/>
              <a:t>%rip, 16 general purpose registers</a:t>
            </a:r>
          </a:p>
          <a:p>
            <a:pPr lvl="1"/>
            <a:r>
              <a:rPr lang="en-US"/>
              <a:t>mov </a:t>
            </a:r>
          </a:p>
          <a:p>
            <a:pPr lvl="1"/>
            <a:r>
              <a:rPr lang="en-US"/>
              <a:t>Lea</a:t>
            </a:r>
          </a:p>
          <a:p>
            <a:pPr lvl="1"/>
            <a:r>
              <a:rPr lang="en-US"/>
              <a:t>Various arithmetic instructions</a:t>
            </a:r>
          </a:p>
          <a:p>
            <a:pPr lvl="1"/>
            <a:r>
              <a:rPr lang="en-US"/>
              <a:t>RFLAGS: ZF, SF, CF, OF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941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9220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4066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6824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24809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221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85F9321-CC54-4A4C-BAEA-629D029C699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E46F386-0DAB-4E39-B6A1-E1BB330588B0}">
  <ds:schemaRefs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purl.org/dc/terms/"/>
    <ds:schemaRef ds:uri="http://www.w3.org/XML/1998/namespace"/>
    <ds:schemaRef ds:uri="74d6482f-e53c-4fa7-ac87-951f9f66bd4c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BEA46FE2-F22E-4D7A-A022-667865C4561E}">
  <ds:schemaRefs>
    <ds:schemaRef ds:uri="74d6482f-e53c-4fa7-ac87-951f9f66bd4c"/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3136</Words>
  <Application>Microsoft Macintosh PowerPoint</Application>
  <PresentationFormat>Widescreen</PresentationFormat>
  <Paragraphs>910</Paragraphs>
  <Slides>47</Slides>
  <Notes>9</Notes>
  <HiddenSlides>5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63" baseType="lpstr">
      <vt:lpstr>Calibri Bold</vt:lpstr>
      <vt:lpstr>Calibri Italic</vt:lpstr>
      <vt:lpstr>ヒラギノ角ゴ ProN W6</vt:lpstr>
      <vt:lpstr>Arial</vt:lpstr>
      <vt:lpstr>Calibri</vt:lpstr>
      <vt:lpstr>Calibri Light</vt:lpstr>
      <vt:lpstr>Consolas</vt:lpstr>
      <vt:lpstr>Courier New</vt:lpstr>
      <vt:lpstr>Courier New Bold</vt:lpstr>
      <vt:lpstr>Gill Sans</vt:lpstr>
      <vt:lpstr>Roboto</vt:lpstr>
      <vt:lpstr>Symbol</vt:lpstr>
      <vt:lpstr>Times New Roman</vt:lpstr>
      <vt:lpstr>Verdana</vt:lpstr>
      <vt:lpstr>Wingdings 2</vt:lpstr>
      <vt:lpstr>Office Theme</vt:lpstr>
      <vt:lpstr>Machine execution</vt:lpstr>
      <vt:lpstr>Lesson Plan: last time</vt:lpstr>
      <vt:lpstr>Lesson Plan: today</vt:lpstr>
      <vt:lpstr>mov: limitation of direct addressing</vt:lpstr>
      <vt:lpstr>Address mode with displacement</vt:lpstr>
      <vt:lpstr>Address mode with displacement</vt:lpstr>
      <vt:lpstr>X86’s Complete Memory Addressing Mode</vt:lpstr>
      <vt:lpstr>Complete Memory Addressing Mode</vt:lpstr>
      <vt:lpstr>Address Computation Examples</vt:lpstr>
      <vt:lpstr>Address Computation Examples</vt:lpstr>
      <vt:lpstr>Address Computation Examples</vt:lpstr>
      <vt:lpstr>Address Computation Examples</vt:lpstr>
      <vt:lpstr>Address Computation Examples</vt:lpstr>
      <vt:lpstr>Complete addressing mode</vt:lpstr>
      <vt:lpstr>Example</vt:lpstr>
      <vt:lpstr>Example</vt:lpstr>
      <vt:lpstr>Example</vt:lpstr>
      <vt:lpstr>Example</vt:lpstr>
      <vt:lpstr>lea instruction</vt:lpstr>
      <vt:lpstr>Example</vt:lpstr>
      <vt:lpstr>Example</vt:lpstr>
      <vt:lpstr>Common use case for lea: calculate address</vt:lpstr>
      <vt:lpstr>Another common use case for lea</vt:lpstr>
      <vt:lpstr>Arithmetic Expression Puzzle</vt:lpstr>
      <vt:lpstr>Arithmetic Expression Puzzle</vt:lpstr>
      <vt:lpstr>Basic Arithmetic Operations</vt:lpstr>
      <vt:lpstr>Bitwise Operations</vt:lpstr>
      <vt:lpstr>Example</vt:lpstr>
      <vt:lpstr>Example</vt:lpstr>
      <vt:lpstr>Lesson Plan: today</vt:lpstr>
      <vt:lpstr>How is control flow realized?</vt:lpstr>
      <vt:lpstr>Control flow uses RFLAGS register</vt:lpstr>
      <vt:lpstr>How control flow uses RFLAGS register</vt:lpstr>
      <vt:lpstr>EFLAGS register: ZF</vt:lpstr>
      <vt:lpstr>EFLAGS register: SF</vt:lpstr>
      <vt:lpstr>EFLAGS register: CF</vt:lpstr>
      <vt:lpstr>EFLAGS register: OF</vt:lpstr>
      <vt:lpstr>CF and OF are different flags</vt:lpstr>
      <vt:lpstr>Status flags summary</vt:lpstr>
      <vt:lpstr>PowerPoint Presentation</vt:lpstr>
      <vt:lpstr>PowerPoint Presentation</vt:lpstr>
      <vt:lpstr>Summary</vt:lpstr>
      <vt:lpstr>Exercises</vt:lpstr>
      <vt:lpstr>Exercises</vt:lpstr>
      <vt:lpstr>Exercises</vt:lpstr>
      <vt:lpstr>Exercises</vt:lpstr>
      <vt:lpstr>Exercises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Jinyang Li</dc:creator>
  <cp:lastModifiedBy>Jinyang Li</cp:lastModifiedBy>
  <cp:revision>2</cp:revision>
  <dcterms:created xsi:type="dcterms:W3CDTF">2020-10-19T14:29:37Z</dcterms:created>
  <dcterms:modified xsi:type="dcterms:W3CDTF">2026-02-23T18:53:51Z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