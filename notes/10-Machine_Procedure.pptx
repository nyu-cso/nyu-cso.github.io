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ink/ink1.xml" ContentType="application/inkml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4" r:id="rId1"/>
  </p:sldMasterIdLst>
  <p:notesMasterIdLst>
    <p:notesMasterId r:id="rId43"/>
  </p:notesMasterIdLst>
  <p:handoutMasterIdLst>
    <p:handoutMasterId r:id="rId44"/>
  </p:handoutMasterIdLst>
  <p:sldIdLst>
    <p:sldId id="256" r:id="rId2"/>
    <p:sldId id="304" r:id="rId3"/>
    <p:sldId id="334" r:id="rId4"/>
    <p:sldId id="258" r:id="rId5"/>
    <p:sldId id="259" r:id="rId6"/>
    <p:sldId id="260" r:id="rId7"/>
    <p:sldId id="261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5" r:id="rId18"/>
    <p:sldId id="307" r:id="rId19"/>
    <p:sldId id="276" r:id="rId20"/>
    <p:sldId id="309" r:id="rId21"/>
    <p:sldId id="311" r:id="rId22"/>
    <p:sldId id="323" r:id="rId23"/>
    <p:sldId id="280" r:id="rId24"/>
    <p:sldId id="312" r:id="rId25"/>
    <p:sldId id="327" r:id="rId26"/>
    <p:sldId id="328" r:id="rId27"/>
    <p:sldId id="329" r:id="rId28"/>
    <p:sldId id="330" r:id="rId29"/>
    <p:sldId id="331" r:id="rId30"/>
    <p:sldId id="332" r:id="rId31"/>
    <p:sldId id="306" r:id="rId32"/>
    <p:sldId id="305" r:id="rId33"/>
    <p:sldId id="295" r:id="rId34"/>
    <p:sldId id="297" r:id="rId35"/>
    <p:sldId id="298" r:id="rId36"/>
    <p:sldId id="299" r:id="rId37"/>
    <p:sldId id="300" r:id="rId38"/>
    <p:sldId id="301" r:id="rId39"/>
    <p:sldId id="302" r:id="rId40"/>
    <p:sldId id="303" r:id="rId41"/>
    <p:sldId id="333" r:id="rId4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/>
  <p:showPr showNarration="1" useTimings="0">
    <p:present/>
    <p:sldAll/>
    <p:penClr>
      <a:srgbClr val="FF0000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7933C"/>
    <a:srgbClr val="00B0F0"/>
    <a:srgbClr val="FF0066"/>
    <a:srgbClr val="FCD5B5"/>
    <a:srgbClr val="0000FF"/>
    <a:srgbClr val="F2F2F2"/>
    <a:srgbClr val="3366FF"/>
    <a:srgbClr val="3F9335"/>
    <a:srgbClr val="125B32"/>
    <a:srgbClr val="21C5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9312B10-9591-D048-B92D-F76F18D2945B}" v="5" dt="2026-03-02T15:23:38.620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2D5ABB26-0587-4C30-8999-92F81FD0307C}" styleName="无样式，无网格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无样式，网格型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793D81CF-94F2-401A-BA57-92F5A7B2D0C5}" styleName="中度样式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69012ECD-51FC-41F1-AA8D-1B2483CD663E}" styleName="浅色样式 2 - 强调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7526" autoAdjust="0"/>
    <p:restoredTop sz="90070" autoAdjust="0"/>
  </p:normalViewPr>
  <p:slideViewPr>
    <p:cSldViewPr snapToGrid="0" snapToObjects="1">
      <p:cViewPr varScale="1">
        <p:scale>
          <a:sx n="110" d="100"/>
          <a:sy n="110" d="100"/>
        </p:scale>
        <p:origin x="1000" y="184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21112"/>
    </p:cViewPr>
  </p:outlineViewPr>
  <p:notesTextViewPr>
    <p:cViewPr>
      <p:scale>
        <a:sx n="150" d="100"/>
        <a:sy n="150" d="100"/>
      </p:scale>
      <p:origin x="0" y="0"/>
    </p:cViewPr>
  </p:notesTextViewPr>
  <p:sorterViewPr>
    <p:cViewPr varScale="1">
      <p:scale>
        <a:sx n="1" d="1"/>
        <a:sy n="1" d="1"/>
      </p:scale>
      <p:origin x="0" y="-279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microsoft.com/office/2015/10/relationships/revisionInfo" Target="revisionInfo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handoutMaster" Target="handoutMasters/handout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notesMaster" Target="notesMasters/notesMaster1.xml"/><Relationship Id="rId48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viewProps" Target="view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9615FF3-9FA2-1C4A-AAEA-4750F890D655}" type="datetimeFigureOut">
              <a:rPr lang="en-US" smtClean="0"/>
              <a:t>3/2/26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594E59E-8276-2140-BA34-7EF057B926C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2316141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10-26T17:54:23.25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4929,'0'0'1635,"17"0"-2150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180D89-5C43-EF4A-AA48-38E879565468}" type="datetimeFigureOut">
              <a:rPr lang="en-US" smtClean="0"/>
              <a:t>3/2/26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556610F-FCBD-844B-B814-9F48A27EB7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6828965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556610F-FCBD-844B-B814-9F48A27EB77F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249021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幻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556610F-FCBD-844B-B814-9F48A27EB77F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934339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幻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556610F-FCBD-844B-B814-9F48A27EB77F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934339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幻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556610F-FCBD-844B-B814-9F48A27EB77F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934339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幻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556610F-FCBD-844B-B814-9F48A27EB77F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934339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幻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556610F-FCBD-844B-B814-9F48A27EB77F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934339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幻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556610F-FCBD-844B-B814-9F48A27EB77F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934339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幻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556610F-FCBD-844B-B814-9F48A27EB77F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934339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幻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556610F-FCBD-844B-B814-9F48A27EB77F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934339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2D147F-079F-4846-994D-0DB4A1A045D4}" type="datetime1">
              <a:rPr lang="zh-CN" altLang="en-US" smtClean="0"/>
              <a:t>2026/3/2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E625D3-B44C-8840-A520-1CC9BA577CA1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latin typeface="+mj-lt"/>
              </a:defRPr>
            </a:lvl1pPr>
            <a:lvl2pPr>
              <a:defRPr>
                <a:latin typeface="+mj-lt"/>
              </a:defRPr>
            </a:lvl2pPr>
            <a:lvl3pPr>
              <a:defRPr>
                <a:latin typeface="+mj-lt"/>
              </a:defRPr>
            </a:lvl3pPr>
            <a:lvl4pPr>
              <a:defRPr>
                <a:latin typeface="+mj-lt"/>
              </a:defRPr>
            </a:lvl4pPr>
            <a:lvl5pPr>
              <a:defRPr>
                <a:latin typeface="+mj-lt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880671-2720-6742-BF3B-130F38BFD6C2}" type="datetime1">
              <a:rPr lang="zh-CN" altLang="en-US" smtClean="0"/>
              <a:t>2026/3/2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E625D3-B44C-8840-A520-1CC9BA577CA1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2FF912-C460-F747-A5A7-E580342BDBD8}" type="datetime1">
              <a:rPr lang="zh-CN" altLang="en-US" smtClean="0"/>
              <a:t>2026/3/2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E625D3-B44C-8840-A520-1CC9BA577CA1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EB1225-B413-9941-B6FE-722B9F1A3838}" type="datetime1">
              <a:rPr lang="zh-CN" altLang="en-US" smtClean="0"/>
              <a:t>2026/3/2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E625D3-B44C-8840-A520-1CC9BA577CA1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4F182-DE75-D141-B72A-8599E29248A5}" type="datetime1">
              <a:rPr lang="zh-CN" altLang="en-US" smtClean="0"/>
              <a:t>2026/3/2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E625D3-B44C-8840-A520-1CC9BA577CA1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8C2D7A-8A1B-DA48-9B0B-0DEE102746F0}" type="datetime1">
              <a:rPr lang="zh-CN" altLang="en-US" smtClean="0"/>
              <a:t>2026/3/2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E625D3-B44C-8840-A520-1CC9BA577CA1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53C787-59C9-0445-8F38-642A8469076F}" type="datetime1">
              <a:rPr lang="zh-CN" altLang="en-US" smtClean="0"/>
              <a:t>2026/3/2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E625D3-B44C-8840-A520-1CC9BA577CA1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D50209-807A-E542-A52E-D898C2D2B27F}" type="datetime1">
              <a:rPr lang="zh-CN" altLang="en-US" smtClean="0"/>
              <a:t>2026/3/2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E625D3-B44C-8840-A520-1CC9BA577CA1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Drag picture to placeholder or click icon to add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C27158-6770-8C48-8082-76913598A291}" type="datetime1">
              <a:rPr lang="zh-CN" altLang="en-US" smtClean="0"/>
              <a:t>2026/3/2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E625D3-B44C-8840-A520-1CC9BA577CA1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491736-879B-FE48-95EC-EDE8A01D99DB}" type="datetime1">
              <a:rPr lang="zh-CN" altLang="en-US" smtClean="0"/>
              <a:t>2026/3/2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E625D3-B44C-8840-A520-1CC9BA577CA1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77160F-44E5-DA43-A440-B77513F80BF6}" type="datetime1">
              <a:rPr lang="zh-CN" altLang="en-US" smtClean="0"/>
              <a:t>2026/3/2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E625D3-B44C-8840-A520-1CC9BA577CA1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619FEBD-E571-1443-AA22-BB9E67C15179}" type="datetime1">
              <a:rPr lang="zh-CN" altLang="en-US" smtClean="0"/>
              <a:t>2026/3/2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AE625D3-B44C-8840-A520-1CC9BA577CA1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000" b="1" i="0" kern="1200">
          <a:solidFill>
            <a:srgbClr val="3366FF"/>
          </a:solidFill>
          <a:latin typeface="Tahoma"/>
          <a:ea typeface="+mj-ea"/>
          <a:cs typeface="Tahoma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2800" kern="1200">
          <a:solidFill>
            <a:schemeClr val="tx1"/>
          </a:solidFill>
          <a:latin typeface="Arial"/>
          <a:ea typeface="+mn-ea"/>
          <a:cs typeface="Arial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400" kern="1200">
          <a:solidFill>
            <a:schemeClr val="tx1"/>
          </a:solidFill>
          <a:latin typeface="Arial"/>
          <a:ea typeface="+mn-ea"/>
          <a:cs typeface="Arial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Arial"/>
          <a:ea typeface="+mn-ea"/>
          <a:cs typeface="Arial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1800" kern="1200">
          <a:solidFill>
            <a:schemeClr val="tx1"/>
          </a:solidFill>
          <a:latin typeface="Arial"/>
          <a:ea typeface="+mn-ea"/>
          <a:cs typeface="Arial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1800" kern="1200">
          <a:solidFill>
            <a:schemeClr val="tx1"/>
          </a:solidFill>
          <a:latin typeface="Arial"/>
          <a:ea typeface="+mn-ea"/>
          <a:cs typeface="Arial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customXml" Target="../ink/ink1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2007578"/>
            <a:ext cx="9144000" cy="1788655"/>
          </a:xfrm>
        </p:spPr>
        <p:txBody>
          <a:bodyPr>
            <a:noAutofit/>
          </a:bodyPr>
          <a:lstStyle/>
          <a:p>
            <a:r>
              <a:rPr lang="en-US" sz="4800" b="0" dirty="0">
                <a:solidFill>
                  <a:schemeClr val="tx1"/>
                </a:solidFill>
                <a:latin typeface="+mj-lt"/>
                <a:ea typeface="Verdana" pitchFamily="34" charset="0"/>
                <a:cs typeface="Consolas" pitchFamily="49" charset="0"/>
              </a:rPr>
              <a:t>Machine Program</a:t>
            </a:r>
            <a:r>
              <a:rPr lang="en-US" sz="4800" b="0">
                <a:solidFill>
                  <a:schemeClr val="tx1"/>
                </a:solidFill>
                <a:latin typeface="+mj-lt"/>
                <a:ea typeface="Verdana" pitchFamily="34" charset="0"/>
                <a:cs typeface="Consolas" pitchFamily="49" charset="0"/>
              </a:rPr>
              <a:t>: Procedure</a:t>
            </a:r>
            <a:endParaRPr lang="en-US" sz="4800" b="0" dirty="0">
              <a:solidFill>
                <a:schemeClr val="tx1"/>
              </a:solidFill>
              <a:latin typeface="+mj-lt"/>
              <a:ea typeface="Verdana" pitchFamily="34" charset="0"/>
              <a:cs typeface="Consolas" pitchFamily="49" charset="0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/>
          <a:p>
            <a:r>
              <a:rPr lang="en-US" dirty="0"/>
              <a:t>Jinyang Li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536095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3831"/>
    </mc:Choice>
    <mc:Fallback xmlns="">
      <p:transition xmlns:p14="http://schemas.microsoft.com/office/powerpoint/2010/main" spd="slow" advTm="383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462225"/>
            <a:ext cx="8229600" cy="1143000"/>
          </a:xfrm>
        </p:spPr>
        <p:txBody>
          <a:bodyPr>
            <a:normAutofit fontScale="90000"/>
          </a:bodyPr>
          <a:lstStyle/>
          <a:p>
            <a:r>
              <a:rPr lang="en-US" dirty="0"/>
              <a:t>What we’ve learnt about </a:t>
            </a:r>
            <a:br>
              <a:rPr lang="en-US" dirty="0"/>
            </a:br>
            <a:r>
              <a:rPr lang="en-US" dirty="0"/>
              <a:t>how hardware runs a program?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27319" y="1749528"/>
            <a:ext cx="8686800" cy="4441071"/>
          </a:xfrm>
        </p:spPr>
        <p:txBody>
          <a:bodyPr>
            <a:normAutofit/>
          </a:bodyPr>
          <a:lstStyle/>
          <a:p>
            <a:r>
              <a:rPr lang="en-US" dirty="0"/>
              <a:t>Basic hardware execution:</a:t>
            </a:r>
          </a:p>
          <a:p>
            <a:pPr lvl="1"/>
            <a:r>
              <a:rPr lang="en-US" dirty="0"/>
              <a:t>CPU fetch next instructions from memory according to %rip </a:t>
            </a:r>
          </a:p>
          <a:p>
            <a:pPr lvl="1"/>
            <a:r>
              <a:rPr lang="en-US" dirty="0"/>
              <a:t>Decode and execute instruction (e.g. mov, add)</a:t>
            </a:r>
          </a:p>
          <a:p>
            <a:pPr lvl="1"/>
            <a:r>
              <a:rPr lang="en-US" dirty="0"/>
              <a:t>CPU updates %rip to point to next instruction</a:t>
            </a:r>
          </a:p>
          <a:p>
            <a:r>
              <a:rPr lang="en-US" dirty="0"/>
              <a:t>Modes of execution:</a:t>
            </a:r>
          </a:p>
          <a:p>
            <a:pPr lvl="1"/>
            <a:r>
              <a:rPr lang="en-US" dirty="0"/>
              <a:t>Sequential: </a:t>
            </a:r>
          </a:p>
          <a:p>
            <a:pPr lvl="2"/>
            <a:r>
              <a:rPr lang="en-US" dirty="0"/>
              <a:t>PC (%rip) is changed to point to the next instruction</a:t>
            </a:r>
          </a:p>
          <a:p>
            <a:pPr lvl="1"/>
            <a:r>
              <a:rPr lang="en-US" dirty="0"/>
              <a:t>Control flow: </a:t>
            </a:r>
            <a:r>
              <a:rPr lang="en-US" dirty="0" err="1"/>
              <a:t>jmp</a:t>
            </a:r>
            <a:r>
              <a:rPr lang="en-US" dirty="0"/>
              <a:t>, conditional </a:t>
            </a:r>
            <a:r>
              <a:rPr lang="en-US" dirty="0" err="1"/>
              <a:t>jmp</a:t>
            </a:r>
            <a:endParaRPr lang="en-US" dirty="0"/>
          </a:p>
          <a:p>
            <a:pPr lvl="2"/>
            <a:r>
              <a:rPr lang="en-US" dirty="0"/>
              <a:t>PC (%rip) is changed to point to the jump target address</a:t>
            </a:r>
          </a:p>
        </p:txBody>
      </p:sp>
    </p:spTree>
    <p:extLst>
      <p:ext uri="{BB962C8B-B14F-4D97-AF65-F5344CB8AC3E}">
        <p14:creationId xmlns:p14="http://schemas.microsoft.com/office/powerpoint/2010/main" val="348346000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4A29E9-2710-4838-877E-D430DA5A88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Today’s lesson plan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0C6FEF-3C23-4348-84D7-9BA32AC5D4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How x86 supports function call</a:t>
            </a:r>
          </a:p>
          <a:p>
            <a:pPr lvl="1"/>
            <a:r>
              <a:rPr lang="en-US" dirty="0"/>
              <a:t>Role of stack</a:t>
            </a:r>
          </a:p>
          <a:p>
            <a:pPr lvl="1"/>
            <a:r>
              <a:rPr lang="en-US" dirty="0"/>
              <a:t>Call / ret</a:t>
            </a:r>
          </a:p>
          <a:p>
            <a:pPr lvl="1"/>
            <a:r>
              <a:rPr lang="en-US" dirty="0"/>
              <a:t>Calling convention (where </a:t>
            </a:r>
            <a:r>
              <a:rPr lang="en-US" dirty="0" err="1"/>
              <a:t>args</a:t>
            </a:r>
            <a:r>
              <a:rPr lang="en-US" dirty="0"/>
              <a:t>/ret-</a:t>
            </a:r>
            <a:r>
              <a:rPr lang="en-US" dirty="0" err="1"/>
              <a:t>vals</a:t>
            </a:r>
            <a:r>
              <a:rPr lang="en-US" dirty="0"/>
              <a:t> are stored)</a:t>
            </a:r>
          </a:p>
        </p:txBody>
      </p:sp>
    </p:spTree>
    <p:extLst>
      <p:ext uri="{BB962C8B-B14F-4D97-AF65-F5344CB8AC3E}">
        <p14:creationId xmlns:p14="http://schemas.microsoft.com/office/powerpoint/2010/main" val="57707568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en-US" altLang="zh-CN" dirty="0"/>
              <a:t>Requirements of procedure calls?</a:t>
            </a:r>
            <a:endParaRPr kumimoji="1" lang="zh-CN" altLang="en-US" dirty="0"/>
          </a:p>
        </p:txBody>
      </p:sp>
      <p:sp>
        <p:nvSpPr>
          <p:cNvPr id="4" name="Rectangle 4"/>
          <p:cNvSpPr>
            <a:spLocks/>
          </p:cNvSpPr>
          <p:nvPr/>
        </p:nvSpPr>
        <p:spPr bwMode="auto">
          <a:xfrm>
            <a:off x="899987" y="1578039"/>
            <a:ext cx="1841500" cy="1232035"/>
          </a:xfrm>
          <a:prstGeom prst="rect">
            <a:avLst/>
          </a:prstGeom>
          <a:solidFill>
            <a:srgbClr val="F6F5BD"/>
          </a:solidFill>
          <a:ln w="12700" cap="flat">
            <a:solidFill>
              <a:schemeClr val="tx1"/>
            </a:solidFill>
            <a:prstDash val="solid"/>
            <a:miter lim="800000"/>
            <a:headEnd type="none" w="med" len="med"/>
            <a:tailEnd type="none" w="med" len="med"/>
          </a:ln>
          <a:effectLst>
            <a:outerShdw dist="76199" dir="2700000" algn="ctr" rotWithShape="0">
              <a:schemeClr val="bg2">
                <a:alpha val="75000"/>
              </a:schemeClr>
            </a:outerShdw>
          </a:effectLst>
        </p:spPr>
        <p:txBody>
          <a:bodyPr lIns="38100" tIns="38100" rIns="38100" bIns="38100"/>
          <a:lstStyle/>
          <a:p>
            <a:pPr algn="l"/>
            <a:r>
              <a:rPr lang="en-US" sz="1800" dirty="0">
                <a:solidFill>
                  <a:schemeClr val="tx1"/>
                </a:solidFill>
                <a:latin typeface="Consolas"/>
                <a:cs typeface="Consolas"/>
                <a:sym typeface="Courier New Bold" charset="0"/>
              </a:rPr>
              <a:t>P(…) {</a:t>
            </a:r>
          </a:p>
          <a:p>
            <a:pPr algn="l"/>
            <a:r>
              <a:rPr lang="en-US" sz="1800" dirty="0">
                <a:solidFill>
                  <a:schemeClr val="tx1"/>
                </a:solidFill>
                <a:latin typeface="Consolas"/>
                <a:cs typeface="Consolas"/>
                <a:sym typeface="Courier New Bold" charset="0"/>
              </a:rPr>
              <a:t>  y = Q(x);</a:t>
            </a:r>
          </a:p>
          <a:p>
            <a:pPr algn="l"/>
            <a:r>
              <a:rPr lang="en-US" sz="1800" dirty="0">
                <a:solidFill>
                  <a:schemeClr val="tx1"/>
                </a:solidFill>
                <a:latin typeface="Consolas"/>
                <a:cs typeface="Consolas"/>
                <a:sym typeface="Courier New Bold" charset="0"/>
              </a:rPr>
              <a:t>  y++;</a:t>
            </a:r>
          </a:p>
          <a:p>
            <a:pPr algn="l"/>
            <a:r>
              <a:rPr lang="en-US" sz="1800" dirty="0">
                <a:solidFill>
                  <a:schemeClr val="tx1"/>
                </a:solidFill>
                <a:latin typeface="Consolas"/>
                <a:cs typeface="Consolas"/>
                <a:sym typeface="Courier New Bold" charset="0"/>
              </a:rPr>
              <a:t>}  </a:t>
            </a:r>
          </a:p>
        </p:txBody>
      </p:sp>
      <p:sp>
        <p:nvSpPr>
          <p:cNvPr id="5" name="Rectangle 5"/>
          <p:cNvSpPr>
            <a:spLocks/>
          </p:cNvSpPr>
          <p:nvPr/>
        </p:nvSpPr>
        <p:spPr bwMode="auto">
          <a:xfrm>
            <a:off x="899987" y="3263671"/>
            <a:ext cx="2133600" cy="1613429"/>
          </a:xfrm>
          <a:prstGeom prst="rect">
            <a:avLst/>
          </a:prstGeom>
          <a:solidFill>
            <a:srgbClr val="D5F1CF"/>
          </a:solidFill>
          <a:ln w="12700" cap="flat">
            <a:solidFill>
              <a:schemeClr val="tx1"/>
            </a:solidFill>
            <a:prstDash val="solid"/>
            <a:miter lim="800000"/>
            <a:headEnd type="none" w="med" len="med"/>
            <a:tailEnd type="none" w="med" len="med"/>
          </a:ln>
          <a:effectLst>
            <a:outerShdw dist="76199" dir="2700000" algn="ctr" rotWithShape="0">
              <a:schemeClr val="bg2">
                <a:alpha val="75000"/>
              </a:schemeClr>
            </a:outerShdw>
          </a:effectLst>
        </p:spPr>
        <p:txBody>
          <a:bodyPr lIns="38100" tIns="38100" rIns="38100" bIns="38100"/>
          <a:lstStyle/>
          <a:p>
            <a:pPr algn="l"/>
            <a:r>
              <a:rPr lang="en-US" sz="1800" dirty="0">
                <a:solidFill>
                  <a:schemeClr val="tx1"/>
                </a:solidFill>
                <a:latin typeface="Consolas"/>
                <a:cs typeface="Consolas"/>
                <a:sym typeface="Courier New Bold" charset="0"/>
              </a:rPr>
              <a:t>int Q(int i)</a:t>
            </a:r>
          </a:p>
          <a:p>
            <a:pPr algn="l"/>
            <a:r>
              <a:rPr lang="en-US" sz="1800" dirty="0">
                <a:solidFill>
                  <a:schemeClr val="tx1"/>
                </a:solidFill>
                <a:latin typeface="Consolas"/>
                <a:cs typeface="Consolas"/>
                <a:sym typeface="Courier New Bold" charset="0"/>
              </a:rPr>
              <a:t>{</a:t>
            </a:r>
          </a:p>
          <a:p>
            <a:pPr algn="l"/>
            <a:r>
              <a:rPr lang="en-US" sz="1800" dirty="0">
                <a:solidFill>
                  <a:schemeClr val="tx1"/>
                </a:solidFill>
                <a:latin typeface="Consolas"/>
                <a:cs typeface="Consolas"/>
                <a:sym typeface="Courier New Bold" charset="0"/>
              </a:rPr>
              <a:t>  int t, z;</a:t>
            </a:r>
          </a:p>
          <a:p>
            <a:pPr algn="l"/>
            <a:r>
              <a:rPr lang="en-US" dirty="0">
                <a:latin typeface="Consolas"/>
                <a:cs typeface="Consolas"/>
                <a:sym typeface="Courier New Bold" charset="0"/>
              </a:rPr>
              <a:t>  ...</a:t>
            </a:r>
            <a:r>
              <a:rPr lang="en-US" sz="1800" dirty="0">
                <a:solidFill>
                  <a:schemeClr val="tx1"/>
                </a:solidFill>
                <a:latin typeface="Consolas"/>
                <a:cs typeface="Consolas"/>
                <a:sym typeface="Courier New Bold" charset="0"/>
              </a:rPr>
              <a:t>  </a:t>
            </a:r>
          </a:p>
          <a:p>
            <a:pPr algn="l"/>
            <a:r>
              <a:rPr lang="en-US" sz="1800" dirty="0">
                <a:solidFill>
                  <a:schemeClr val="tx1"/>
                </a:solidFill>
                <a:latin typeface="Consolas"/>
                <a:cs typeface="Consolas"/>
                <a:sym typeface="Courier New Bold" charset="0"/>
              </a:rPr>
              <a:t>  return z;</a:t>
            </a:r>
          </a:p>
          <a:p>
            <a:pPr algn="l"/>
            <a:r>
              <a:rPr lang="en-US" sz="1800" dirty="0">
                <a:solidFill>
                  <a:schemeClr val="tx1"/>
                </a:solidFill>
                <a:latin typeface="Consolas"/>
                <a:cs typeface="Consolas"/>
                <a:sym typeface="Courier New Bold" charset="0"/>
              </a:rPr>
              <a:t>}</a:t>
            </a:r>
          </a:p>
        </p:txBody>
      </p:sp>
      <p:sp>
        <p:nvSpPr>
          <p:cNvPr id="6" name="Content Placeholder 6"/>
          <p:cNvSpPr>
            <a:spLocks noGrp="1"/>
          </p:cNvSpPr>
          <p:nvPr>
            <p:ph idx="1"/>
          </p:nvPr>
        </p:nvSpPr>
        <p:spPr>
          <a:xfrm>
            <a:off x="3623793" y="1570552"/>
            <a:ext cx="5257800" cy="5054600"/>
          </a:xfrm>
        </p:spPr>
        <p:txBody>
          <a:bodyPr/>
          <a:lstStyle/>
          <a:p>
            <a:pPr marL="514350" indent="-514350">
              <a:buAutoNum type="arabicPeriod"/>
            </a:pPr>
            <a:r>
              <a:rPr lang="en-US" dirty="0"/>
              <a:t>Passing control</a:t>
            </a:r>
          </a:p>
        </p:txBody>
      </p:sp>
      <p:sp>
        <p:nvSpPr>
          <p:cNvPr id="9" name="Arc 9"/>
          <p:cNvSpPr/>
          <p:nvPr/>
        </p:nvSpPr>
        <p:spPr bwMode="auto">
          <a:xfrm>
            <a:off x="1234485" y="2037144"/>
            <a:ext cx="2207330" cy="2010783"/>
          </a:xfrm>
          <a:prstGeom prst="arc">
            <a:avLst>
              <a:gd name="adj1" fmla="val 16200000"/>
              <a:gd name="adj2" fmla="val 4768750"/>
            </a:avLst>
          </a:prstGeom>
          <a:noFill/>
          <a:ln w="254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4200" b="0" i="0" u="none" strike="noStrike" cap="none" normalizeH="0" baseline="0">
              <a:ln>
                <a:noFill/>
              </a:ln>
              <a:solidFill>
                <a:srgbClr val="000000"/>
              </a:solidFill>
              <a:effectLst/>
              <a:latin typeface="Gill Sans" charset="0"/>
              <a:ea typeface="ヒラギノ角ゴ ProN W3" charset="0"/>
              <a:cs typeface="ヒラギノ角ゴ ProN W3" charset="0"/>
              <a:sym typeface="Gill Sans" charset="0"/>
            </a:endParaRPr>
          </a:p>
        </p:txBody>
      </p:sp>
      <p:sp>
        <p:nvSpPr>
          <p:cNvPr id="3" name="Freeform 2">
            <a:extLst>
              <a:ext uri="{FF2B5EF4-FFF2-40B4-BE49-F238E27FC236}">
                <a16:creationId xmlns:a16="http://schemas.microsoft.com/office/drawing/2014/main" id="{534402E3-A0AF-CBBA-5A5D-BEA75D69CACC}"/>
              </a:ext>
            </a:extLst>
          </p:cNvPr>
          <p:cNvSpPr/>
          <p:nvPr/>
        </p:nvSpPr>
        <p:spPr>
          <a:xfrm>
            <a:off x="199659" y="2314937"/>
            <a:ext cx="923085" cy="2233914"/>
          </a:xfrm>
          <a:custGeom>
            <a:avLst/>
            <a:gdLst>
              <a:gd name="csX0" fmla="*/ 899936 w 923085"/>
              <a:gd name="csY0" fmla="*/ 2233914 h 2233914"/>
              <a:gd name="csX1" fmla="*/ 101283 w 923085"/>
              <a:gd name="csY1" fmla="*/ 1435260 h 2233914"/>
              <a:gd name="csX2" fmla="*/ 101283 w 923085"/>
              <a:gd name="csY2" fmla="*/ 439838 h 2233914"/>
              <a:gd name="csX3" fmla="*/ 923085 w 923085"/>
              <a:gd name="csY3" fmla="*/ 0 h 223391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923085" h="2233914">
                <a:moveTo>
                  <a:pt x="899936" y="2233914"/>
                </a:moveTo>
                <a:cubicBezTo>
                  <a:pt x="567164" y="1984093"/>
                  <a:pt x="234392" y="1734273"/>
                  <a:pt x="101283" y="1435260"/>
                </a:cubicBezTo>
                <a:cubicBezTo>
                  <a:pt x="-31826" y="1136247"/>
                  <a:pt x="-35684" y="679048"/>
                  <a:pt x="101283" y="439838"/>
                </a:cubicBezTo>
                <a:cubicBezTo>
                  <a:pt x="238250" y="200628"/>
                  <a:pt x="580667" y="100314"/>
                  <a:pt x="923085" y="0"/>
                </a:cubicBezTo>
              </a:path>
            </a:pathLst>
          </a:custGeom>
          <a:noFill/>
          <a:ln w="28575">
            <a:solidFill>
              <a:srgbClr val="FF0000"/>
            </a:solidFill>
            <a:headEnd type="none" w="med" len="med"/>
            <a:tailEnd type="arrow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284402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en-US" altLang="zh-CN" dirty="0"/>
              <a:t>Requirements of procedure calls?</a:t>
            </a:r>
            <a:endParaRPr kumimoji="1" lang="zh-CN" altLang="en-US" dirty="0"/>
          </a:p>
        </p:txBody>
      </p:sp>
      <p:sp>
        <p:nvSpPr>
          <p:cNvPr id="4" name="Rectangle 4"/>
          <p:cNvSpPr>
            <a:spLocks/>
          </p:cNvSpPr>
          <p:nvPr/>
        </p:nvSpPr>
        <p:spPr bwMode="auto">
          <a:xfrm>
            <a:off x="899987" y="1578039"/>
            <a:ext cx="1841500" cy="1232035"/>
          </a:xfrm>
          <a:prstGeom prst="rect">
            <a:avLst/>
          </a:prstGeom>
          <a:solidFill>
            <a:srgbClr val="F6F5BD"/>
          </a:solidFill>
          <a:ln w="12700" cap="flat">
            <a:solidFill>
              <a:schemeClr val="tx1"/>
            </a:solidFill>
            <a:prstDash val="solid"/>
            <a:miter lim="800000"/>
            <a:headEnd type="none" w="med" len="med"/>
            <a:tailEnd type="none" w="med" len="med"/>
          </a:ln>
          <a:effectLst>
            <a:outerShdw dist="76199" dir="2700000" algn="ctr" rotWithShape="0">
              <a:schemeClr val="bg2">
                <a:alpha val="75000"/>
              </a:schemeClr>
            </a:outerShdw>
          </a:effectLst>
        </p:spPr>
        <p:txBody>
          <a:bodyPr lIns="38100" tIns="38100" rIns="38100" bIns="38100"/>
          <a:lstStyle/>
          <a:p>
            <a:pPr algn="l"/>
            <a:r>
              <a:rPr lang="en-US" sz="1800" dirty="0">
                <a:solidFill>
                  <a:schemeClr val="tx1"/>
                </a:solidFill>
                <a:latin typeface="Consolas"/>
                <a:cs typeface="Consolas"/>
                <a:sym typeface="Courier New Bold" charset="0"/>
              </a:rPr>
              <a:t>P(…) {</a:t>
            </a:r>
          </a:p>
          <a:p>
            <a:pPr algn="l"/>
            <a:r>
              <a:rPr lang="en-US" sz="1800" dirty="0">
                <a:solidFill>
                  <a:schemeClr val="tx1"/>
                </a:solidFill>
                <a:latin typeface="Consolas"/>
                <a:cs typeface="Consolas"/>
                <a:sym typeface="Courier New Bold" charset="0"/>
              </a:rPr>
              <a:t>  y = Q(x);</a:t>
            </a:r>
          </a:p>
          <a:p>
            <a:pPr algn="l"/>
            <a:r>
              <a:rPr lang="en-US" sz="1800" dirty="0">
                <a:solidFill>
                  <a:schemeClr val="tx1"/>
                </a:solidFill>
                <a:latin typeface="Consolas"/>
                <a:cs typeface="Consolas"/>
                <a:sym typeface="Courier New Bold" charset="0"/>
              </a:rPr>
              <a:t>  y++;</a:t>
            </a:r>
          </a:p>
          <a:p>
            <a:pPr algn="l"/>
            <a:r>
              <a:rPr lang="en-US" sz="1800" dirty="0">
                <a:solidFill>
                  <a:schemeClr val="tx1"/>
                </a:solidFill>
                <a:latin typeface="Consolas"/>
                <a:cs typeface="Consolas"/>
                <a:sym typeface="Courier New Bold" charset="0"/>
              </a:rPr>
              <a:t>}  </a:t>
            </a:r>
          </a:p>
        </p:txBody>
      </p:sp>
      <p:sp>
        <p:nvSpPr>
          <p:cNvPr id="5" name="Rectangle 5"/>
          <p:cNvSpPr>
            <a:spLocks/>
          </p:cNvSpPr>
          <p:nvPr/>
        </p:nvSpPr>
        <p:spPr bwMode="auto">
          <a:xfrm>
            <a:off x="899987" y="3263671"/>
            <a:ext cx="2133600" cy="1613429"/>
          </a:xfrm>
          <a:prstGeom prst="rect">
            <a:avLst/>
          </a:prstGeom>
          <a:solidFill>
            <a:srgbClr val="D5F1CF"/>
          </a:solidFill>
          <a:ln w="12700" cap="flat">
            <a:solidFill>
              <a:schemeClr val="tx1"/>
            </a:solidFill>
            <a:prstDash val="solid"/>
            <a:miter lim="800000"/>
            <a:headEnd type="none" w="med" len="med"/>
            <a:tailEnd type="none" w="med" len="med"/>
          </a:ln>
          <a:effectLst>
            <a:outerShdw dist="76199" dir="2700000" algn="ctr" rotWithShape="0">
              <a:schemeClr val="bg2">
                <a:alpha val="75000"/>
              </a:schemeClr>
            </a:outerShdw>
          </a:effectLst>
        </p:spPr>
        <p:txBody>
          <a:bodyPr lIns="38100" tIns="38100" rIns="38100" bIns="38100"/>
          <a:lstStyle/>
          <a:p>
            <a:pPr algn="l"/>
            <a:r>
              <a:rPr lang="en-US" sz="1800" dirty="0">
                <a:solidFill>
                  <a:schemeClr val="tx1"/>
                </a:solidFill>
                <a:latin typeface="Consolas"/>
                <a:cs typeface="Consolas"/>
                <a:sym typeface="Courier New Bold" charset="0"/>
              </a:rPr>
              <a:t>int Q(int i)</a:t>
            </a:r>
          </a:p>
          <a:p>
            <a:pPr algn="l"/>
            <a:r>
              <a:rPr lang="en-US" sz="1800" dirty="0">
                <a:solidFill>
                  <a:schemeClr val="tx1"/>
                </a:solidFill>
                <a:latin typeface="Consolas"/>
                <a:cs typeface="Consolas"/>
                <a:sym typeface="Courier New Bold" charset="0"/>
              </a:rPr>
              <a:t>{</a:t>
            </a:r>
          </a:p>
          <a:p>
            <a:pPr algn="l"/>
            <a:r>
              <a:rPr lang="en-US" sz="1800" dirty="0">
                <a:solidFill>
                  <a:schemeClr val="tx1"/>
                </a:solidFill>
                <a:latin typeface="Consolas"/>
                <a:cs typeface="Consolas"/>
                <a:sym typeface="Courier New Bold" charset="0"/>
              </a:rPr>
              <a:t>  int t, z;</a:t>
            </a:r>
          </a:p>
          <a:p>
            <a:pPr algn="l"/>
            <a:r>
              <a:rPr lang="en-US" dirty="0">
                <a:latin typeface="Consolas"/>
                <a:cs typeface="Consolas"/>
                <a:sym typeface="Courier New Bold" charset="0"/>
              </a:rPr>
              <a:t>  ...</a:t>
            </a:r>
            <a:r>
              <a:rPr lang="en-US" sz="1800" dirty="0">
                <a:solidFill>
                  <a:schemeClr val="tx1"/>
                </a:solidFill>
                <a:latin typeface="Consolas"/>
                <a:cs typeface="Consolas"/>
                <a:sym typeface="Courier New Bold" charset="0"/>
              </a:rPr>
              <a:t>  </a:t>
            </a:r>
          </a:p>
          <a:p>
            <a:pPr algn="l"/>
            <a:r>
              <a:rPr lang="en-US" sz="1800" dirty="0">
                <a:solidFill>
                  <a:schemeClr val="tx1"/>
                </a:solidFill>
                <a:latin typeface="Consolas"/>
                <a:cs typeface="Consolas"/>
                <a:sym typeface="Courier New Bold" charset="0"/>
              </a:rPr>
              <a:t>  return z;</a:t>
            </a:r>
          </a:p>
          <a:p>
            <a:pPr algn="l"/>
            <a:r>
              <a:rPr lang="en-US" sz="1800" dirty="0">
                <a:solidFill>
                  <a:schemeClr val="tx1"/>
                </a:solidFill>
                <a:latin typeface="Consolas"/>
                <a:cs typeface="Consolas"/>
                <a:sym typeface="Courier New Bold" charset="0"/>
              </a:rPr>
              <a:t>}</a:t>
            </a:r>
          </a:p>
        </p:txBody>
      </p:sp>
      <p:sp>
        <p:nvSpPr>
          <p:cNvPr id="6" name="Content Placeholder 6"/>
          <p:cNvSpPr>
            <a:spLocks noGrp="1"/>
          </p:cNvSpPr>
          <p:nvPr>
            <p:ph idx="1"/>
          </p:nvPr>
        </p:nvSpPr>
        <p:spPr>
          <a:xfrm>
            <a:off x="3623793" y="1570552"/>
            <a:ext cx="5257800" cy="5054600"/>
          </a:xfrm>
        </p:spPr>
        <p:txBody>
          <a:bodyPr/>
          <a:lstStyle/>
          <a:p>
            <a:pPr marL="514350" indent="-514350">
              <a:buAutoNum type="arabicPeriod"/>
            </a:pPr>
            <a:r>
              <a:rPr lang="en-US" dirty="0"/>
              <a:t>Passing control</a:t>
            </a:r>
          </a:p>
          <a:p>
            <a:pPr marL="514350" indent="-514350">
              <a:buAutoNum type="arabicPeriod"/>
            </a:pPr>
            <a:r>
              <a:rPr lang="en-US" dirty="0"/>
              <a:t>Passing Arguments &amp; return value</a:t>
            </a:r>
          </a:p>
        </p:txBody>
      </p:sp>
      <p:sp>
        <p:nvSpPr>
          <p:cNvPr id="7" name="Arc 9"/>
          <p:cNvSpPr/>
          <p:nvPr/>
        </p:nvSpPr>
        <p:spPr bwMode="auto">
          <a:xfrm>
            <a:off x="1396897" y="2034657"/>
            <a:ext cx="1799102" cy="1310862"/>
          </a:xfrm>
          <a:prstGeom prst="arc">
            <a:avLst>
              <a:gd name="adj1" fmla="val 15662857"/>
              <a:gd name="adj2" fmla="val 4768750"/>
            </a:avLst>
          </a:prstGeom>
          <a:noFill/>
          <a:ln w="25400" cap="flat" cmpd="sng" algn="ctr">
            <a:solidFill>
              <a:srgbClr val="0000FF"/>
            </a:solidFill>
            <a:prstDash val="solid"/>
            <a:round/>
            <a:headEnd type="none" w="med" len="med"/>
            <a:tailEnd type="arrow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4200" b="0" i="0" u="none" strike="noStrike" cap="none" normalizeH="0" baseline="0" dirty="0">
              <a:ln>
                <a:noFill/>
              </a:ln>
              <a:solidFill>
                <a:srgbClr val="000000"/>
              </a:solidFill>
              <a:effectLst/>
              <a:latin typeface="Gill Sans" charset="0"/>
              <a:ea typeface="ヒラギノ角ゴ ProN W3" charset="0"/>
              <a:cs typeface="ヒラギノ角ゴ ProN W3" charset="0"/>
              <a:sym typeface="Gill Sans" charset="0"/>
            </a:endParaRP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6BA0F74A-9385-A908-0031-3F58617F364C}"/>
              </a:ext>
            </a:extLst>
          </p:cNvPr>
          <p:cNvSpPr/>
          <p:nvPr/>
        </p:nvSpPr>
        <p:spPr>
          <a:xfrm>
            <a:off x="1860007" y="1871235"/>
            <a:ext cx="306954" cy="365256"/>
          </a:xfrm>
          <a:prstGeom prst="ellipse">
            <a:avLst/>
          </a:prstGeom>
          <a:solidFill>
            <a:srgbClr val="00B0F0">
              <a:alpha val="69804"/>
            </a:srgb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CA825CD1-1231-9DED-A427-51755B32B5B5}"/>
              </a:ext>
            </a:extLst>
          </p:cNvPr>
          <p:cNvSpPr/>
          <p:nvPr/>
        </p:nvSpPr>
        <p:spPr>
          <a:xfrm>
            <a:off x="2095061" y="3263671"/>
            <a:ext cx="306954" cy="365256"/>
          </a:xfrm>
          <a:prstGeom prst="ellipse">
            <a:avLst/>
          </a:prstGeom>
          <a:solidFill>
            <a:srgbClr val="00B0F0">
              <a:alpha val="69804"/>
            </a:srgb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263D5A9A-DCDF-51C7-C081-C5679EB648FF}"/>
              </a:ext>
            </a:extLst>
          </p:cNvPr>
          <p:cNvSpPr/>
          <p:nvPr/>
        </p:nvSpPr>
        <p:spPr>
          <a:xfrm>
            <a:off x="1089943" y="1871235"/>
            <a:ext cx="306954" cy="365256"/>
          </a:xfrm>
          <a:prstGeom prst="ellipse">
            <a:avLst/>
          </a:prstGeom>
          <a:solidFill>
            <a:schemeClr val="accent6">
              <a:alpha val="69804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D0756114-0DCB-534A-DFA2-7B0E341937CD}"/>
              </a:ext>
            </a:extLst>
          </p:cNvPr>
          <p:cNvSpPr/>
          <p:nvPr/>
        </p:nvSpPr>
        <p:spPr>
          <a:xfrm>
            <a:off x="1980021" y="4391905"/>
            <a:ext cx="306954" cy="365256"/>
          </a:xfrm>
          <a:prstGeom prst="ellipse">
            <a:avLst/>
          </a:prstGeom>
          <a:solidFill>
            <a:schemeClr val="accent6">
              <a:alpha val="69804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 11">
            <a:extLst>
              <a:ext uri="{FF2B5EF4-FFF2-40B4-BE49-F238E27FC236}">
                <a16:creationId xmlns:a16="http://schemas.microsoft.com/office/drawing/2014/main" id="{F64432F5-B48A-CC3C-E899-EF89E8E41266}"/>
              </a:ext>
            </a:extLst>
          </p:cNvPr>
          <p:cNvSpPr/>
          <p:nvPr/>
        </p:nvSpPr>
        <p:spPr>
          <a:xfrm>
            <a:off x="503427" y="2187615"/>
            <a:ext cx="1545292" cy="2541402"/>
          </a:xfrm>
          <a:custGeom>
            <a:avLst/>
            <a:gdLst>
              <a:gd name="csX0" fmla="*/ 1545292 w 1545292"/>
              <a:gd name="csY0" fmla="*/ 2523281 h 2541402"/>
              <a:gd name="csX1" fmla="*/ 272077 w 1545292"/>
              <a:gd name="csY1" fmla="*/ 2314937 h 2541402"/>
              <a:gd name="csX2" fmla="*/ 17434 w 1545292"/>
              <a:gd name="csY2" fmla="*/ 925975 h 2541402"/>
              <a:gd name="csX3" fmla="*/ 573019 w 1545292"/>
              <a:gd name="csY3" fmla="*/ 0 h 254140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545292" h="2541402">
                <a:moveTo>
                  <a:pt x="1545292" y="2523281"/>
                </a:moveTo>
                <a:cubicBezTo>
                  <a:pt x="1036006" y="2552218"/>
                  <a:pt x="526720" y="2581155"/>
                  <a:pt x="272077" y="2314937"/>
                </a:cubicBezTo>
                <a:cubicBezTo>
                  <a:pt x="17434" y="2048719"/>
                  <a:pt x="-32723" y="1311798"/>
                  <a:pt x="17434" y="925975"/>
                </a:cubicBezTo>
                <a:cubicBezTo>
                  <a:pt x="67591" y="540152"/>
                  <a:pt x="320305" y="270076"/>
                  <a:pt x="573019" y="0"/>
                </a:cubicBezTo>
              </a:path>
            </a:pathLst>
          </a:custGeom>
          <a:noFill/>
          <a:ln w="28575">
            <a:solidFill>
              <a:schemeClr val="accent6">
                <a:lumMod val="75000"/>
              </a:schemeClr>
            </a:solidFill>
            <a:headEnd type="none" w="med" len="med"/>
            <a:tailEnd type="arrow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241361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en-US" altLang="zh-CN" dirty="0"/>
              <a:t>Requirements of procedure calls?</a:t>
            </a:r>
            <a:endParaRPr kumimoji="1" lang="zh-CN" altLang="en-US" dirty="0"/>
          </a:p>
        </p:txBody>
      </p:sp>
      <p:sp>
        <p:nvSpPr>
          <p:cNvPr id="4" name="Rectangle 4"/>
          <p:cNvSpPr>
            <a:spLocks/>
          </p:cNvSpPr>
          <p:nvPr/>
        </p:nvSpPr>
        <p:spPr bwMode="auto">
          <a:xfrm>
            <a:off x="899987" y="1578039"/>
            <a:ext cx="1841500" cy="1232035"/>
          </a:xfrm>
          <a:prstGeom prst="rect">
            <a:avLst/>
          </a:prstGeom>
          <a:solidFill>
            <a:srgbClr val="F6F5BD"/>
          </a:solidFill>
          <a:ln w="12700" cap="flat">
            <a:solidFill>
              <a:schemeClr val="tx1"/>
            </a:solidFill>
            <a:prstDash val="solid"/>
            <a:miter lim="800000"/>
            <a:headEnd type="none" w="med" len="med"/>
            <a:tailEnd type="none" w="med" len="med"/>
          </a:ln>
          <a:effectLst>
            <a:outerShdw dist="76199" dir="2700000" algn="ctr" rotWithShape="0">
              <a:schemeClr val="bg2">
                <a:alpha val="75000"/>
              </a:schemeClr>
            </a:outerShdw>
          </a:effectLst>
        </p:spPr>
        <p:txBody>
          <a:bodyPr lIns="38100" tIns="38100" rIns="38100" bIns="38100"/>
          <a:lstStyle/>
          <a:p>
            <a:pPr algn="l"/>
            <a:r>
              <a:rPr lang="en-US" sz="1800" dirty="0">
                <a:solidFill>
                  <a:schemeClr val="tx1"/>
                </a:solidFill>
                <a:latin typeface="Consolas"/>
                <a:cs typeface="Consolas"/>
                <a:sym typeface="Courier New Bold" charset="0"/>
              </a:rPr>
              <a:t>P(…) {</a:t>
            </a:r>
          </a:p>
          <a:p>
            <a:pPr algn="l"/>
            <a:r>
              <a:rPr lang="en-US" sz="1800" dirty="0">
                <a:solidFill>
                  <a:schemeClr val="tx1"/>
                </a:solidFill>
                <a:latin typeface="Consolas"/>
                <a:cs typeface="Consolas"/>
                <a:sym typeface="Courier New Bold" charset="0"/>
              </a:rPr>
              <a:t>  y = Q(x);</a:t>
            </a:r>
          </a:p>
          <a:p>
            <a:pPr algn="l"/>
            <a:r>
              <a:rPr lang="en-US" sz="1800" dirty="0">
                <a:solidFill>
                  <a:schemeClr val="tx1"/>
                </a:solidFill>
                <a:latin typeface="Consolas"/>
                <a:cs typeface="Consolas"/>
                <a:sym typeface="Courier New Bold" charset="0"/>
              </a:rPr>
              <a:t>  y++;</a:t>
            </a:r>
          </a:p>
          <a:p>
            <a:pPr algn="l"/>
            <a:r>
              <a:rPr lang="en-US" sz="1800" dirty="0">
                <a:solidFill>
                  <a:schemeClr val="tx1"/>
                </a:solidFill>
                <a:latin typeface="Consolas"/>
                <a:cs typeface="Consolas"/>
                <a:sym typeface="Courier New Bold" charset="0"/>
              </a:rPr>
              <a:t>}  </a:t>
            </a:r>
          </a:p>
        </p:txBody>
      </p:sp>
      <p:sp>
        <p:nvSpPr>
          <p:cNvPr id="5" name="Rectangle 5"/>
          <p:cNvSpPr>
            <a:spLocks/>
          </p:cNvSpPr>
          <p:nvPr/>
        </p:nvSpPr>
        <p:spPr bwMode="auto">
          <a:xfrm>
            <a:off x="899987" y="3263671"/>
            <a:ext cx="2133600" cy="1613429"/>
          </a:xfrm>
          <a:prstGeom prst="rect">
            <a:avLst/>
          </a:prstGeom>
          <a:solidFill>
            <a:srgbClr val="D5F1CF"/>
          </a:solidFill>
          <a:ln w="12700" cap="flat">
            <a:solidFill>
              <a:schemeClr val="tx1"/>
            </a:solidFill>
            <a:prstDash val="solid"/>
            <a:miter lim="800000"/>
            <a:headEnd type="none" w="med" len="med"/>
            <a:tailEnd type="none" w="med" len="med"/>
          </a:ln>
          <a:effectLst>
            <a:outerShdw dist="76199" dir="2700000" algn="ctr" rotWithShape="0">
              <a:schemeClr val="bg2">
                <a:alpha val="75000"/>
              </a:schemeClr>
            </a:outerShdw>
          </a:effectLst>
        </p:spPr>
        <p:txBody>
          <a:bodyPr lIns="38100" tIns="38100" rIns="38100" bIns="38100"/>
          <a:lstStyle/>
          <a:p>
            <a:pPr algn="l"/>
            <a:r>
              <a:rPr lang="en-US" sz="1800" dirty="0">
                <a:solidFill>
                  <a:schemeClr val="tx1"/>
                </a:solidFill>
                <a:latin typeface="Consolas"/>
                <a:cs typeface="Consolas"/>
                <a:sym typeface="Courier New Bold" charset="0"/>
              </a:rPr>
              <a:t>int Q(int i)</a:t>
            </a:r>
          </a:p>
          <a:p>
            <a:pPr algn="l"/>
            <a:r>
              <a:rPr lang="en-US" sz="1800" dirty="0">
                <a:solidFill>
                  <a:schemeClr val="tx1"/>
                </a:solidFill>
                <a:latin typeface="Consolas"/>
                <a:cs typeface="Consolas"/>
                <a:sym typeface="Courier New Bold" charset="0"/>
              </a:rPr>
              <a:t>{</a:t>
            </a:r>
          </a:p>
          <a:p>
            <a:pPr algn="l"/>
            <a:r>
              <a:rPr lang="en-US" sz="1800" b="1" dirty="0">
                <a:solidFill>
                  <a:schemeClr val="tx1"/>
                </a:solidFill>
                <a:latin typeface="Consolas"/>
                <a:cs typeface="Consolas"/>
                <a:sym typeface="Courier New Bold" charset="0"/>
              </a:rPr>
              <a:t>  int t, z;</a:t>
            </a:r>
          </a:p>
          <a:p>
            <a:pPr algn="l"/>
            <a:r>
              <a:rPr lang="en-US" dirty="0">
                <a:latin typeface="Consolas"/>
                <a:cs typeface="Consolas"/>
                <a:sym typeface="Courier New Bold" charset="0"/>
              </a:rPr>
              <a:t>  ...</a:t>
            </a:r>
            <a:r>
              <a:rPr lang="en-US" sz="1800" dirty="0">
                <a:solidFill>
                  <a:schemeClr val="tx1"/>
                </a:solidFill>
                <a:latin typeface="Consolas"/>
                <a:cs typeface="Consolas"/>
                <a:sym typeface="Courier New Bold" charset="0"/>
              </a:rPr>
              <a:t>  </a:t>
            </a:r>
          </a:p>
          <a:p>
            <a:pPr algn="l"/>
            <a:r>
              <a:rPr lang="en-US" sz="1800" dirty="0">
                <a:solidFill>
                  <a:schemeClr val="tx1"/>
                </a:solidFill>
                <a:latin typeface="Consolas"/>
                <a:cs typeface="Consolas"/>
                <a:sym typeface="Courier New Bold" charset="0"/>
              </a:rPr>
              <a:t>  return z;</a:t>
            </a:r>
          </a:p>
          <a:p>
            <a:pPr algn="l"/>
            <a:r>
              <a:rPr lang="en-US" sz="1800" dirty="0">
                <a:solidFill>
                  <a:schemeClr val="tx1"/>
                </a:solidFill>
                <a:latin typeface="Consolas"/>
                <a:cs typeface="Consolas"/>
                <a:sym typeface="Courier New Bold" charset="0"/>
              </a:rPr>
              <a:t>}</a:t>
            </a:r>
          </a:p>
        </p:txBody>
      </p:sp>
      <p:sp>
        <p:nvSpPr>
          <p:cNvPr id="6" name="Content Placeholder 6"/>
          <p:cNvSpPr>
            <a:spLocks noGrp="1"/>
          </p:cNvSpPr>
          <p:nvPr>
            <p:ph idx="1"/>
          </p:nvPr>
        </p:nvSpPr>
        <p:spPr>
          <a:xfrm>
            <a:off x="3623793" y="1570552"/>
            <a:ext cx="5257800" cy="5054600"/>
          </a:xfrm>
        </p:spPr>
        <p:txBody>
          <a:bodyPr/>
          <a:lstStyle/>
          <a:p>
            <a:pPr marL="514350" indent="-514350">
              <a:buAutoNum type="arabicPeriod"/>
            </a:pPr>
            <a:r>
              <a:rPr lang="en-US" dirty="0"/>
              <a:t>Passing control</a:t>
            </a:r>
          </a:p>
          <a:p>
            <a:pPr marL="514350" indent="-514350">
              <a:buAutoNum type="arabicPeriod"/>
            </a:pPr>
            <a:r>
              <a:rPr lang="en-US" dirty="0"/>
              <a:t>Passing Arguments &amp; return value</a:t>
            </a:r>
          </a:p>
          <a:p>
            <a:pPr marL="514350" indent="-514350">
              <a:buAutoNum type="arabicPeriod"/>
            </a:pPr>
            <a:r>
              <a:rPr lang="en-US" dirty="0"/>
              <a:t>Allocate / </a:t>
            </a:r>
            <a:r>
              <a:rPr lang="en-US" dirty="0" err="1"/>
              <a:t>deallocate</a:t>
            </a:r>
            <a:r>
              <a:rPr lang="en-US" dirty="0"/>
              <a:t> local variables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BCEAC468-A096-EB64-0FBA-8FDF7CECDD73}"/>
              </a:ext>
            </a:extLst>
          </p:cNvPr>
          <p:cNvSpPr/>
          <p:nvPr/>
        </p:nvSpPr>
        <p:spPr>
          <a:xfrm>
            <a:off x="1111170" y="3808071"/>
            <a:ext cx="1261640" cy="370390"/>
          </a:xfrm>
          <a:prstGeom prst="roundRect">
            <a:avLst/>
          </a:prstGeom>
          <a:solidFill>
            <a:srgbClr val="77933C">
              <a:alpha val="69804"/>
            </a:srgb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693781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Rectangle 2"/>
          <p:cNvSpPr>
            <a:spLocks/>
          </p:cNvSpPr>
          <p:nvPr/>
        </p:nvSpPr>
        <p:spPr bwMode="auto">
          <a:xfrm>
            <a:off x="8062913" y="22225"/>
            <a:ext cx="1320800" cy="177800"/>
          </a:xfrm>
          <a:prstGeom prst="rect">
            <a:avLst/>
          </a:prstGeom>
          <a:noFill/>
          <a:ln w="25400" cap="flat">
            <a:noFill/>
            <a:miter lim="800000"/>
            <a:headEnd type="none" w="med" len="med"/>
            <a:tailEnd type="none" w="med" len="med"/>
          </a:ln>
        </p:spPr>
        <p:txBody>
          <a:bodyPr lIns="0" tIns="0" rIns="0" bIns="0"/>
          <a:lstStyle/>
          <a:p>
            <a:pPr algn="l"/>
            <a:r>
              <a:rPr lang="en-US" sz="1200">
                <a:solidFill>
                  <a:srgbClr val="FFFFFF"/>
                </a:solidFill>
                <a:ea typeface="Gill Sans" charset="0"/>
                <a:cs typeface="Gill Sans" charset="0"/>
              </a:rPr>
              <a:t>Carnegie Mellon</a:t>
            </a:r>
          </a:p>
        </p:txBody>
      </p:sp>
      <p:sp>
        <p:nvSpPr>
          <p:cNvPr id="12291" name="Rectangle 3"/>
          <p:cNvSpPr>
            <a:spLocks noGrp="1" noChangeArrowheads="1"/>
          </p:cNvSpPr>
          <p:nvPr>
            <p:ph type="title"/>
          </p:nvPr>
        </p:nvSpPr>
        <p:spPr>
          <a:xfrm>
            <a:off x="381000" y="254000"/>
            <a:ext cx="8610600" cy="1143000"/>
          </a:xfrm>
          <a:ln/>
        </p:spPr>
        <p:txBody>
          <a:bodyPr>
            <a:normAutofit fontScale="90000"/>
          </a:bodyPr>
          <a:lstStyle/>
          <a:p>
            <a:pPr marL="119063" indent="-119063"/>
            <a:r>
              <a:rPr lang="en-US" dirty="0"/>
              <a:t>How to transfer control for procedure calls?</a:t>
            </a:r>
          </a:p>
        </p:txBody>
      </p:sp>
      <p:sp>
        <p:nvSpPr>
          <p:cNvPr id="7" name="Rectangle 4"/>
          <p:cNvSpPr>
            <a:spLocks/>
          </p:cNvSpPr>
          <p:nvPr/>
        </p:nvSpPr>
        <p:spPr bwMode="auto">
          <a:xfrm>
            <a:off x="1447800" y="1295400"/>
            <a:ext cx="1841500" cy="1371600"/>
          </a:xfrm>
          <a:prstGeom prst="rect">
            <a:avLst/>
          </a:prstGeom>
          <a:solidFill>
            <a:srgbClr val="F6F5BD"/>
          </a:solidFill>
          <a:ln w="12700" cap="flat">
            <a:solidFill>
              <a:schemeClr val="tx1"/>
            </a:solidFill>
            <a:prstDash val="solid"/>
            <a:miter lim="800000"/>
            <a:headEnd type="none" w="med" len="med"/>
            <a:tailEnd type="none" w="med" len="med"/>
          </a:ln>
          <a:effectLst>
            <a:outerShdw dist="76199" dir="2700000" algn="ctr" rotWithShape="0">
              <a:schemeClr val="bg2">
                <a:alpha val="75000"/>
              </a:schemeClr>
            </a:outerShdw>
          </a:effectLst>
        </p:spPr>
        <p:txBody>
          <a:bodyPr lIns="38100" tIns="38100" rIns="38100" bIns="38100"/>
          <a:lstStyle/>
          <a:p>
            <a:pPr algn="l"/>
            <a:r>
              <a:rPr lang="en-US" sz="1800" dirty="0">
                <a:solidFill>
                  <a:schemeClr val="tx1"/>
                </a:solidFill>
                <a:latin typeface="Consolas"/>
                <a:cs typeface="Consolas"/>
                <a:sym typeface="Courier New Bold" charset="0"/>
              </a:rPr>
              <a:t>void main(){</a:t>
            </a:r>
          </a:p>
          <a:p>
            <a:pPr algn="l"/>
            <a:r>
              <a:rPr lang="en-US" sz="1800" dirty="0">
                <a:solidFill>
                  <a:schemeClr val="tx1"/>
                </a:solidFill>
                <a:latin typeface="Consolas"/>
                <a:cs typeface="Consolas"/>
                <a:sym typeface="Courier New Bold" charset="0"/>
              </a:rPr>
              <a:t>    ..</a:t>
            </a:r>
          </a:p>
          <a:p>
            <a:pPr algn="l"/>
            <a:r>
              <a:rPr lang="en-US" sz="1800" dirty="0">
                <a:solidFill>
                  <a:schemeClr val="tx1"/>
                </a:solidFill>
                <a:latin typeface="Consolas"/>
                <a:cs typeface="Consolas"/>
                <a:sym typeface="Courier New Bold" charset="0"/>
              </a:rPr>
              <a:t>    f(..)</a:t>
            </a:r>
          </a:p>
          <a:p>
            <a:pPr algn="l"/>
            <a:r>
              <a:rPr lang="en-US" sz="1800" dirty="0">
                <a:solidFill>
                  <a:schemeClr val="tx1"/>
                </a:solidFill>
                <a:latin typeface="Consolas"/>
                <a:cs typeface="Consolas"/>
                <a:sym typeface="Courier New Bold" charset="0"/>
              </a:rPr>
              <a:t>L1: ..</a:t>
            </a:r>
          </a:p>
          <a:p>
            <a:pPr algn="l"/>
            <a:r>
              <a:rPr lang="en-US" sz="1800" dirty="0">
                <a:solidFill>
                  <a:schemeClr val="tx1"/>
                </a:solidFill>
                <a:latin typeface="Consolas"/>
                <a:cs typeface="Consolas"/>
                <a:sym typeface="Courier New Bold" charset="0"/>
              </a:rPr>
              <a:t>} </a:t>
            </a:r>
          </a:p>
        </p:txBody>
      </p:sp>
      <p:sp>
        <p:nvSpPr>
          <p:cNvPr id="8" name="Rectangle 4"/>
          <p:cNvSpPr>
            <a:spLocks/>
          </p:cNvSpPr>
          <p:nvPr/>
        </p:nvSpPr>
        <p:spPr bwMode="auto">
          <a:xfrm>
            <a:off x="1447800" y="2819400"/>
            <a:ext cx="1841500" cy="1371600"/>
          </a:xfrm>
          <a:prstGeom prst="rect">
            <a:avLst/>
          </a:prstGeom>
          <a:solidFill>
            <a:srgbClr val="F6F5BD"/>
          </a:solidFill>
          <a:ln w="12700" cap="flat">
            <a:solidFill>
              <a:schemeClr val="tx1"/>
            </a:solidFill>
            <a:prstDash val="solid"/>
            <a:miter lim="800000"/>
            <a:headEnd type="none" w="med" len="med"/>
            <a:tailEnd type="none" w="med" len="med"/>
          </a:ln>
          <a:effectLst>
            <a:outerShdw dist="76199" dir="2700000" algn="ctr" rotWithShape="0">
              <a:schemeClr val="bg2">
                <a:alpha val="75000"/>
              </a:schemeClr>
            </a:outerShdw>
          </a:effectLst>
        </p:spPr>
        <p:txBody>
          <a:bodyPr lIns="38100" tIns="38100" rIns="38100" bIns="38100"/>
          <a:lstStyle/>
          <a:p>
            <a:pPr algn="l"/>
            <a:r>
              <a:rPr lang="en-US" sz="1800" dirty="0">
                <a:solidFill>
                  <a:schemeClr val="tx1"/>
                </a:solidFill>
                <a:latin typeface="Consolas"/>
                <a:cs typeface="Consolas"/>
                <a:sym typeface="Courier New Bold" charset="0"/>
              </a:rPr>
              <a:t>void f(){</a:t>
            </a:r>
          </a:p>
          <a:p>
            <a:pPr algn="l"/>
            <a:r>
              <a:rPr lang="en-US" sz="1800" dirty="0">
                <a:solidFill>
                  <a:schemeClr val="tx1"/>
                </a:solidFill>
                <a:latin typeface="Consolas"/>
                <a:cs typeface="Consolas"/>
                <a:sym typeface="Courier New Bold" charset="0"/>
              </a:rPr>
              <a:t>    ..</a:t>
            </a:r>
          </a:p>
          <a:p>
            <a:pPr algn="l"/>
            <a:r>
              <a:rPr lang="en-US" sz="1800" dirty="0">
                <a:solidFill>
                  <a:schemeClr val="tx1"/>
                </a:solidFill>
                <a:latin typeface="Consolas"/>
                <a:cs typeface="Consolas"/>
                <a:sym typeface="Courier New Bold" charset="0"/>
              </a:rPr>
              <a:t>    g(..)</a:t>
            </a:r>
          </a:p>
          <a:p>
            <a:pPr algn="l"/>
            <a:r>
              <a:rPr lang="en-US" sz="1800" dirty="0">
                <a:solidFill>
                  <a:schemeClr val="tx1"/>
                </a:solidFill>
                <a:latin typeface="Consolas"/>
                <a:cs typeface="Consolas"/>
                <a:sym typeface="Courier New Bold" charset="0"/>
              </a:rPr>
              <a:t>L2: ..</a:t>
            </a:r>
          </a:p>
          <a:p>
            <a:pPr algn="l"/>
            <a:r>
              <a:rPr lang="en-US" sz="1800" dirty="0">
                <a:solidFill>
                  <a:schemeClr val="tx1"/>
                </a:solidFill>
                <a:latin typeface="Consolas"/>
                <a:cs typeface="Consolas"/>
                <a:sym typeface="Courier New Bold" charset="0"/>
              </a:rPr>
              <a:t>} </a:t>
            </a:r>
          </a:p>
        </p:txBody>
      </p:sp>
      <p:sp>
        <p:nvSpPr>
          <p:cNvPr id="9" name="Rectangle 4"/>
          <p:cNvSpPr>
            <a:spLocks/>
          </p:cNvSpPr>
          <p:nvPr/>
        </p:nvSpPr>
        <p:spPr bwMode="auto">
          <a:xfrm>
            <a:off x="1447800" y="4419600"/>
            <a:ext cx="1841500" cy="1371600"/>
          </a:xfrm>
          <a:prstGeom prst="rect">
            <a:avLst/>
          </a:prstGeom>
          <a:solidFill>
            <a:srgbClr val="F6F5BD"/>
          </a:solidFill>
          <a:ln w="12700" cap="flat">
            <a:solidFill>
              <a:schemeClr val="tx1"/>
            </a:solidFill>
            <a:prstDash val="solid"/>
            <a:miter lim="800000"/>
            <a:headEnd type="none" w="med" len="med"/>
            <a:tailEnd type="none" w="med" len="med"/>
          </a:ln>
          <a:effectLst>
            <a:outerShdw dist="76199" dir="2700000" algn="ctr" rotWithShape="0">
              <a:schemeClr val="bg2">
                <a:alpha val="75000"/>
              </a:schemeClr>
            </a:outerShdw>
          </a:effectLst>
        </p:spPr>
        <p:txBody>
          <a:bodyPr lIns="38100" tIns="38100" rIns="38100" bIns="38100"/>
          <a:lstStyle/>
          <a:p>
            <a:pPr algn="l"/>
            <a:r>
              <a:rPr lang="en-US" sz="1800" dirty="0">
                <a:solidFill>
                  <a:schemeClr val="tx1"/>
                </a:solidFill>
                <a:latin typeface="Consolas"/>
                <a:cs typeface="Consolas"/>
                <a:sym typeface="Courier New Bold" charset="0"/>
              </a:rPr>
              <a:t>void g(){</a:t>
            </a:r>
          </a:p>
          <a:p>
            <a:pPr algn="l"/>
            <a:r>
              <a:rPr lang="en-US" sz="1800" dirty="0">
                <a:solidFill>
                  <a:schemeClr val="tx1"/>
                </a:solidFill>
                <a:latin typeface="Consolas"/>
                <a:cs typeface="Consolas"/>
                <a:sym typeface="Courier New Bold" charset="0"/>
              </a:rPr>
              <a:t>    ..</a:t>
            </a:r>
          </a:p>
          <a:p>
            <a:pPr algn="l"/>
            <a:r>
              <a:rPr lang="en-US" sz="1800" dirty="0">
                <a:solidFill>
                  <a:schemeClr val="tx1"/>
                </a:solidFill>
                <a:latin typeface="Consolas"/>
                <a:cs typeface="Consolas"/>
                <a:sym typeface="Courier New Bold" charset="0"/>
              </a:rPr>
              <a:t>    h(..)</a:t>
            </a:r>
          </a:p>
          <a:p>
            <a:pPr algn="l"/>
            <a:r>
              <a:rPr lang="en-US" sz="1800" dirty="0">
                <a:solidFill>
                  <a:schemeClr val="tx1"/>
                </a:solidFill>
                <a:latin typeface="Consolas"/>
                <a:cs typeface="Consolas"/>
                <a:sym typeface="Courier New Bold" charset="0"/>
              </a:rPr>
              <a:t>L3: ..</a:t>
            </a:r>
          </a:p>
          <a:p>
            <a:pPr algn="l"/>
            <a:r>
              <a:rPr lang="en-US" sz="1800" dirty="0">
                <a:solidFill>
                  <a:schemeClr val="tx1"/>
                </a:solidFill>
                <a:latin typeface="Consolas"/>
                <a:cs typeface="Consolas"/>
                <a:sym typeface="Courier New Bold" charset="0"/>
              </a:rPr>
              <a:t>} </a:t>
            </a:r>
          </a:p>
        </p:txBody>
      </p:sp>
      <p:sp>
        <p:nvSpPr>
          <p:cNvPr id="10" name="Freeform 9"/>
          <p:cNvSpPr/>
          <p:nvPr/>
        </p:nvSpPr>
        <p:spPr>
          <a:xfrm>
            <a:off x="2763337" y="2045936"/>
            <a:ext cx="0" cy="0"/>
          </a:xfrm>
          <a:custGeom>
            <a:avLst/>
            <a:gdLst>
              <a:gd name="connsiteX0" fmla="*/ 0 w 0"/>
              <a:gd name="connsiteY0" fmla="*/ 0 h 0"/>
              <a:gd name="connsiteX1" fmla="*/ 0 w 0"/>
              <a:gd name="connsiteY1" fmla="*/ 0 h 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>
                <a:moveTo>
                  <a:pt x="0" y="0"/>
                </a:moveTo>
                <a:lnTo>
                  <a:pt x="0" y="0"/>
                </a:lnTo>
              </a:path>
            </a:pathLst>
          </a:custGeom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4200" b="0" i="0" u="none" strike="noStrike" cap="none" normalizeH="0" baseline="0">
              <a:ln>
                <a:noFill/>
              </a:ln>
              <a:solidFill>
                <a:srgbClr val="000000"/>
              </a:solidFill>
              <a:effectLst/>
              <a:latin typeface="Gill Sans" charset="0"/>
              <a:ea typeface="ヒラギノ角ゴ ProN W3" charset="0"/>
              <a:cs typeface="ヒラギノ角ゴ ProN W3" charset="0"/>
              <a:sym typeface="Gill Sans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9444153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Rectangle 2"/>
          <p:cNvSpPr>
            <a:spLocks/>
          </p:cNvSpPr>
          <p:nvPr/>
        </p:nvSpPr>
        <p:spPr bwMode="auto">
          <a:xfrm>
            <a:off x="8062913" y="22225"/>
            <a:ext cx="1320800" cy="177800"/>
          </a:xfrm>
          <a:prstGeom prst="rect">
            <a:avLst/>
          </a:prstGeom>
          <a:noFill/>
          <a:ln w="25400" cap="flat">
            <a:noFill/>
            <a:miter lim="800000"/>
            <a:headEnd type="none" w="med" len="med"/>
            <a:tailEnd type="none" w="med" len="med"/>
          </a:ln>
        </p:spPr>
        <p:txBody>
          <a:bodyPr lIns="0" tIns="0" rIns="0" bIns="0"/>
          <a:lstStyle/>
          <a:p>
            <a:pPr algn="l"/>
            <a:r>
              <a:rPr lang="en-US" sz="1200">
                <a:solidFill>
                  <a:srgbClr val="FFFFFF"/>
                </a:solidFill>
                <a:ea typeface="Gill Sans" charset="0"/>
                <a:cs typeface="Gill Sans" charset="0"/>
              </a:rPr>
              <a:t>Carnegie Mellon</a:t>
            </a:r>
          </a:p>
        </p:txBody>
      </p:sp>
      <p:sp>
        <p:nvSpPr>
          <p:cNvPr id="12291" name="Rectangle 3"/>
          <p:cNvSpPr>
            <a:spLocks noGrp="1" noChangeArrowheads="1"/>
          </p:cNvSpPr>
          <p:nvPr>
            <p:ph type="title"/>
          </p:nvPr>
        </p:nvSpPr>
        <p:spPr>
          <a:xfrm>
            <a:off x="381000" y="254000"/>
            <a:ext cx="8610600" cy="1143000"/>
          </a:xfrm>
          <a:ln/>
        </p:spPr>
        <p:txBody>
          <a:bodyPr>
            <a:normAutofit fontScale="90000"/>
          </a:bodyPr>
          <a:lstStyle/>
          <a:p>
            <a:pPr marL="119063" indent="-119063"/>
            <a:r>
              <a:rPr lang="en-US" dirty="0"/>
              <a:t>How to transfer control for procedure calls?</a:t>
            </a:r>
          </a:p>
        </p:txBody>
      </p:sp>
      <p:sp>
        <p:nvSpPr>
          <p:cNvPr id="7" name="Rectangle 4"/>
          <p:cNvSpPr>
            <a:spLocks/>
          </p:cNvSpPr>
          <p:nvPr/>
        </p:nvSpPr>
        <p:spPr bwMode="auto">
          <a:xfrm>
            <a:off x="1447800" y="1295400"/>
            <a:ext cx="1841500" cy="1371600"/>
          </a:xfrm>
          <a:prstGeom prst="rect">
            <a:avLst/>
          </a:prstGeom>
          <a:solidFill>
            <a:srgbClr val="F6F5BD"/>
          </a:solidFill>
          <a:ln w="12700" cap="flat">
            <a:solidFill>
              <a:schemeClr val="tx1"/>
            </a:solidFill>
            <a:prstDash val="solid"/>
            <a:miter lim="800000"/>
            <a:headEnd type="none" w="med" len="med"/>
            <a:tailEnd type="none" w="med" len="med"/>
          </a:ln>
          <a:effectLst>
            <a:outerShdw dist="76199" dir="2700000" algn="ctr" rotWithShape="0">
              <a:schemeClr val="bg2">
                <a:alpha val="75000"/>
              </a:schemeClr>
            </a:outerShdw>
          </a:effectLst>
        </p:spPr>
        <p:txBody>
          <a:bodyPr lIns="38100" tIns="38100" rIns="38100" bIns="38100"/>
          <a:lstStyle/>
          <a:p>
            <a:pPr algn="l"/>
            <a:r>
              <a:rPr lang="en-US" sz="1800" dirty="0">
                <a:solidFill>
                  <a:schemeClr val="tx1"/>
                </a:solidFill>
                <a:latin typeface="Consolas"/>
                <a:cs typeface="Consolas"/>
                <a:sym typeface="Courier New Bold" charset="0"/>
              </a:rPr>
              <a:t>void main(){</a:t>
            </a:r>
          </a:p>
          <a:p>
            <a:pPr algn="l"/>
            <a:r>
              <a:rPr lang="en-US" sz="1800" dirty="0">
                <a:solidFill>
                  <a:schemeClr val="tx1"/>
                </a:solidFill>
                <a:latin typeface="Consolas"/>
                <a:cs typeface="Consolas"/>
                <a:sym typeface="Courier New Bold" charset="0"/>
              </a:rPr>
              <a:t>    ..</a:t>
            </a:r>
          </a:p>
          <a:p>
            <a:pPr algn="l"/>
            <a:r>
              <a:rPr lang="en-US" sz="1800" dirty="0">
                <a:solidFill>
                  <a:schemeClr val="tx1"/>
                </a:solidFill>
                <a:latin typeface="Consolas"/>
                <a:cs typeface="Consolas"/>
                <a:sym typeface="Courier New Bold" charset="0"/>
              </a:rPr>
              <a:t>    f(..)</a:t>
            </a:r>
          </a:p>
          <a:p>
            <a:pPr algn="l"/>
            <a:r>
              <a:rPr lang="en-US" sz="1800" dirty="0">
                <a:solidFill>
                  <a:schemeClr val="tx1"/>
                </a:solidFill>
                <a:latin typeface="Consolas"/>
                <a:cs typeface="Consolas"/>
                <a:sym typeface="Courier New Bold" charset="0"/>
              </a:rPr>
              <a:t>L1: ..</a:t>
            </a:r>
          </a:p>
          <a:p>
            <a:pPr algn="l"/>
            <a:r>
              <a:rPr lang="en-US" sz="1800" dirty="0">
                <a:solidFill>
                  <a:schemeClr val="tx1"/>
                </a:solidFill>
                <a:latin typeface="Consolas"/>
                <a:cs typeface="Consolas"/>
                <a:sym typeface="Courier New Bold" charset="0"/>
              </a:rPr>
              <a:t>} </a:t>
            </a:r>
          </a:p>
        </p:txBody>
      </p:sp>
      <p:sp>
        <p:nvSpPr>
          <p:cNvPr id="8" name="Rectangle 4"/>
          <p:cNvSpPr>
            <a:spLocks/>
          </p:cNvSpPr>
          <p:nvPr/>
        </p:nvSpPr>
        <p:spPr bwMode="auto">
          <a:xfrm>
            <a:off x="1447800" y="2819400"/>
            <a:ext cx="1841500" cy="1371600"/>
          </a:xfrm>
          <a:prstGeom prst="rect">
            <a:avLst/>
          </a:prstGeom>
          <a:solidFill>
            <a:srgbClr val="F6F5BD"/>
          </a:solidFill>
          <a:ln w="12700" cap="flat">
            <a:solidFill>
              <a:schemeClr val="tx1"/>
            </a:solidFill>
            <a:prstDash val="solid"/>
            <a:miter lim="800000"/>
            <a:headEnd type="none" w="med" len="med"/>
            <a:tailEnd type="none" w="med" len="med"/>
          </a:ln>
          <a:effectLst>
            <a:outerShdw dist="76199" dir="2700000" algn="ctr" rotWithShape="0">
              <a:schemeClr val="bg2">
                <a:alpha val="75000"/>
              </a:schemeClr>
            </a:outerShdw>
          </a:effectLst>
        </p:spPr>
        <p:txBody>
          <a:bodyPr lIns="38100" tIns="38100" rIns="38100" bIns="38100"/>
          <a:lstStyle/>
          <a:p>
            <a:pPr algn="l"/>
            <a:r>
              <a:rPr lang="en-US" sz="1800" dirty="0">
                <a:solidFill>
                  <a:schemeClr val="tx1"/>
                </a:solidFill>
                <a:latin typeface="Consolas"/>
                <a:cs typeface="Consolas"/>
                <a:sym typeface="Courier New Bold" charset="0"/>
              </a:rPr>
              <a:t>void f(){</a:t>
            </a:r>
          </a:p>
          <a:p>
            <a:pPr algn="l"/>
            <a:r>
              <a:rPr lang="en-US" sz="1800" dirty="0">
                <a:solidFill>
                  <a:schemeClr val="tx1"/>
                </a:solidFill>
                <a:latin typeface="Consolas"/>
                <a:cs typeface="Consolas"/>
                <a:sym typeface="Courier New Bold" charset="0"/>
              </a:rPr>
              <a:t>    ..</a:t>
            </a:r>
          </a:p>
          <a:p>
            <a:pPr algn="l"/>
            <a:r>
              <a:rPr lang="en-US" sz="1800" dirty="0">
                <a:solidFill>
                  <a:schemeClr val="tx1"/>
                </a:solidFill>
                <a:latin typeface="Consolas"/>
                <a:cs typeface="Consolas"/>
                <a:sym typeface="Courier New Bold" charset="0"/>
              </a:rPr>
              <a:t>    g(..)</a:t>
            </a:r>
          </a:p>
          <a:p>
            <a:pPr algn="l"/>
            <a:r>
              <a:rPr lang="en-US" sz="1800" dirty="0">
                <a:solidFill>
                  <a:schemeClr val="tx1"/>
                </a:solidFill>
                <a:latin typeface="Consolas"/>
                <a:cs typeface="Consolas"/>
                <a:sym typeface="Courier New Bold" charset="0"/>
              </a:rPr>
              <a:t>L2: ..</a:t>
            </a:r>
          </a:p>
          <a:p>
            <a:pPr algn="l"/>
            <a:r>
              <a:rPr lang="en-US" sz="1800" dirty="0">
                <a:solidFill>
                  <a:schemeClr val="tx1"/>
                </a:solidFill>
                <a:latin typeface="Consolas"/>
                <a:cs typeface="Consolas"/>
                <a:sym typeface="Courier New Bold" charset="0"/>
              </a:rPr>
              <a:t>} </a:t>
            </a:r>
          </a:p>
        </p:txBody>
      </p:sp>
      <p:sp>
        <p:nvSpPr>
          <p:cNvPr id="9" name="Rectangle 4"/>
          <p:cNvSpPr>
            <a:spLocks/>
          </p:cNvSpPr>
          <p:nvPr/>
        </p:nvSpPr>
        <p:spPr bwMode="auto">
          <a:xfrm>
            <a:off x="1447800" y="4419600"/>
            <a:ext cx="1841500" cy="1371600"/>
          </a:xfrm>
          <a:prstGeom prst="rect">
            <a:avLst/>
          </a:prstGeom>
          <a:solidFill>
            <a:srgbClr val="F6F5BD"/>
          </a:solidFill>
          <a:ln w="12700" cap="flat">
            <a:solidFill>
              <a:schemeClr val="tx1"/>
            </a:solidFill>
            <a:prstDash val="solid"/>
            <a:miter lim="800000"/>
            <a:headEnd type="none" w="med" len="med"/>
            <a:tailEnd type="none" w="med" len="med"/>
          </a:ln>
          <a:effectLst>
            <a:outerShdw dist="76199" dir="2700000" algn="ctr" rotWithShape="0">
              <a:schemeClr val="bg2">
                <a:alpha val="75000"/>
              </a:schemeClr>
            </a:outerShdw>
          </a:effectLst>
        </p:spPr>
        <p:txBody>
          <a:bodyPr lIns="38100" tIns="38100" rIns="38100" bIns="38100"/>
          <a:lstStyle/>
          <a:p>
            <a:pPr algn="l"/>
            <a:r>
              <a:rPr lang="en-US" sz="1800" dirty="0">
                <a:solidFill>
                  <a:schemeClr val="tx1"/>
                </a:solidFill>
                <a:latin typeface="Consolas"/>
                <a:cs typeface="Consolas"/>
                <a:sym typeface="Courier New Bold" charset="0"/>
              </a:rPr>
              <a:t>void g(){</a:t>
            </a:r>
          </a:p>
          <a:p>
            <a:pPr algn="l"/>
            <a:r>
              <a:rPr lang="en-US" sz="1800" dirty="0">
                <a:solidFill>
                  <a:schemeClr val="tx1"/>
                </a:solidFill>
                <a:latin typeface="Consolas"/>
                <a:cs typeface="Consolas"/>
                <a:sym typeface="Courier New Bold" charset="0"/>
              </a:rPr>
              <a:t>    ..</a:t>
            </a:r>
          </a:p>
          <a:p>
            <a:pPr algn="l"/>
            <a:r>
              <a:rPr lang="en-US" sz="1800" dirty="0">
                <a:solidFill>
                  <a:schemeClr val="tx1"/>
                </a:solidFill>
                <a:latin typeface="Consolas"/>
                <a:cs typeface="Consolas"/>
                <a:sym typeface="Courier New Bold" charset="0"/>
              </a:rPr>
              <a:t>    h(..)</a:t>
            </a:r>
          </a:p>
          <a:p>
            <a:pPr algn="l"/>
            <a:r>
              <a:rPr lang="en-US" sz="1800" dirty="0">
                <a:solidFill>
                  <a:schemeClr val="tx1"/>
                </a:solidFill>
                <a:latin typeface="Consolas"/>
                <a:cs typeface="Consolas"/>
                <a:sym typeface="Courier New Bold" charset="0"/>
              </a:rPr>
              <a:t>L3: ..</a:t>
            </a:r>
          </a:p>
          <a:p>
            <a:pPr algn="l"/>
            <a:r>
              <a:rPr lang="en-US" sz="1800" dirty="0">
                <a:solidFill>
                  <a:schemeClr val="tx1"/>
                </a:solidFill>
                <a:latin typeface="Consolas"/>
                <a:cs typeface="Consolas"/>
                <a:sym typeface="Courier New Bold" charset="0"/>
              </a:rPr>
              <a:t>} </a:t>
            </a:r>
          </a:p>
        </p:txBody>
      </p:sp>
      <p:sp>
        <p:nvSpPr>
          <p:cNvPr id="10" name="Freeform 9"/>
          <p:cNvSpPr/>
          <p:nvPr/>
        </p:nvSpPr>
        <p:spPr>
          <a:xfrm>
            <a:off x="2763337" y="2045936"/>
            <a:ext cx="0" cy="0"/>
          </a:xfrm>
          <a:custGeom>
            <a:avLst/>
            <a:gdLst>
              <a:gd name="connsiteX0" fmla="*/ 0 w 0"/>
              <a:gd name="connsiteY0" fmla="*/ 0 h 0"/>
              <a:gd name="connsiteX1" fmla="*/ 0 w 0"/>
              <a:gd name="connsiteY1" fmla="*/ 0 h 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>
                <a:moveTo>
                  <a:pt x="0" y="0"/>
                </a:moveTo>
                <a:lnTo>
                  <a:pt x="0" y="0"/>
                </a:lnTo>
              </a:path>
            </a:pathLst>
          </a:custGeom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4200" b="0" i="0" u="none" strike="noStrike" cap="none" normalizeH="0" baseline="0">
              <a:ln>
                <a:noFill/>
              </a:ln>
              <a:solidFill>
                <a:srgbClr val="000000"/>
              </a:solidFill>
              <a:effectLst/>
              <a:latin typeface="Gill Sans" charset="0"/>
              <a:ea typeface="ヒラギノ角ゴ ProN W3" charset="0"/>
              <a:cs typeface="ヒラギノ角ゴ ProN W3" charset="0"/>
              <a:sym typeface="Gill Sans" charset="0"/>
            </a:endParaRPr>
          </a:p>
        </p:txBody>
      </p:sp>
      <p:sp>
        <p:nvSpPr>
          <p:cNvPr id="12334" name="Freeform 12333"/>
          <p:cNvSpPr/>
          <p:nvPr/>
        </p:nvSpPr>
        <p:spPr>
          <a:xfrm>
            <a:off x="2836065" y="2013521"/>
            <a:ext cx="1949847" cy="1302306"/>
          </a:xfrm>
          <a:custGeom>
            <a:avLst/>
            <a:gdLst>
              <a:gd name="connsiteX0" fmla="*/ 21343 w 1949847"/>
              <a:gd name="connsiteY0" fmla="*/ 20656 h 1302306"/>
              <a:gd name="connsiteX1" fmla="*/ 221244 w 1949847"/>
              <a:gd name="connsiteY1" fmla="*/ 32415 h 1302306"/>
              <a:gd name="connsiteX2" fmla="*/ 1608792 w 1949847"/>
              <a:gd name="connsiteY2" fmla="*/ 326371 h 1302306"/>
              <a:gd name="connsiteX3" fmla="*/ 1843970 w 1949847"/>
              <a:gd name="connsiteY3" fmla="*/ 949558 h 1302306"/>
              <a:gd name="connsiteX4" fmla="*/ 174209 w 1949847"/>
              <a:gd name="connsiteY4" fmla="*/ 1302306 h 13023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49847" h="1302306">
                <a:moveTo>
                  <a:pt x="21343" y="20656"/>
                </a:moveTo>
                <a:cubicBezTo>
                  <a:pt x="-10994" y="1059"/>
                  <a:pt x="-43331" y="-18538"/>
                  <a:pt x="221244" y="32415"/>
                </a:cubicBezTo>
                <a:cubicBezTo>
                  <a:pt x="485819" y="83368"/>
                  <a:pt x="1338338" y="173514"/>
                  <a:pt x="1608792" y="326371"/>
                </a:cubicBezTo>
                <a:cubicBezTo>
                  <a:pt x="1879246" y="479228"/>
                  <a:pt x="2083067" y="786902"/>
                  <a:pt x="1843970" y="949558"/>
                </a:cubicBezTo>
                <a:cubicBezTo>
                  <a:pt x="1604873" y="1112214"/>
                  <a:pt x="456422" y="1243515"/>
                  <a:pt x="174209" y="1302306"/>
                </a:cubicBezTo>
              </a:path>
            </a:pathLst>
          </a:custGeom>
          <a:ln w="38100" cmpd="sng">
            <a:solidFill>
              <a:srgbClr val="000000"/>
            </a:solidFill>
            <a:headEnd type="none"/>
            <a:tailEnd type="arrow"/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4200" b="0" i="0" u="none" strike="noStrike" cap="none" normalizeH="0" baseline="0">
              <a:ln w="76200" cmpd="sng">
                <a:solidFill>
                  <a:schemeClr val="tx1"/>
                </a:solidFill>
              </a:ln>
              <a:solidFill>
                <a:srgbClr val="000000"/>
              </a:solidFill>
              <a:effectLst/>
              <a:latin typeface="Gill Sans" charset="0"/>
              <a:ea typeface="ヒラギノ角ゴ ProN W3" charset="0"/>
              <a:cs typeface="ヒラギノ角ゴ ProN W3" charset="0"/>
              <a:sym typeface="Gill Sans" charset="0"/>
            </a:endParaRPr>
          </a:p>
        </p:txBody>
      </p:sp>
      <p:sp>
        <p:nvSpPr>
          <p:cNvPr id="12335" name="TextBox 12334"/>
          <p:cNvSpPr txBox="1"/>
          <p:nvPr/>
        </p:nvSpPr>
        <p:spPr>
          <a:xfrm>
            <a:off x="4648200" y="1905000"/>
            <a:ext cx="39624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2000" dirty="0">
                <a:latin typeface="Arial"/>
                <a:cs typeface="Arial"/>
              </a:rPr>
              <a:t>Jump to f()</a:t>
            </a:r>
          </a:p>
          <a:p>
            <a:pPr algn="l"/>
            <a:r>
              <a:rPr lang="en-US" sz="2000" dirty="0">
                <a:latin typeface="Arial"/>
                <a:cs typeface="Arial"/>
              </a:rPr>
              <a:t>Remember where to come back</a:t>
            </a:r>
          </a:p>
        </p:txBody>
      </p:sp>
      <p:sp>
        <p:nvSpPr>
          <p:cNvPr id="91" name="Rectangle 90"/>
          <p:cNvSpPr/>
          <p:nvPr/>
        </p:nvSpPr>
        <p:spPr bwMode="auto">
          <a:xfrm>
            <a:off x="8354477" y="3866967"/>
            <a:ext cx="457200" cy="381000"/>
          </a:xfrm>
          <a:prstGeom prst="rect">
            <a:avLst/>
          </a:prstGeom>
          <a:solidFill>
            <a:srgbClr val="FFFF00"/>
          </a:solidFill>
          <a:ln w="25400" cap="flat" cmpd="sng" algn="ctr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/>
                <a:ea typeface="ヒラギノ角ゴ ProN W3" charset="0"/>
                <a:cs typeface="Arial"/>
                <a:sym typeface="Gill Sans" charset="0"/>
              </a:rPr>
              <a:t>L1</a:t>
            </a:r>
          </a:p>
        </p:txBody>
      </p:sp>
    </p:spTree>
    <p:extLst>
      <p:ext uri="{BB962C8B-B14F-4D97-AF65-F5344CB8AC3E}">
        <p14:creationId xmlns:p14="http://schemas.microsoft.com/office/powerpoint/2010/main" val="220392268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Rectangle 2"/>
          <p:cNvSpPr>
            <a:spLocks/>
          </p:cNvSpPr>
          <p:nvPr/>
        </p:nvSpPr>
        <p:spPr bwMode="auto">
          <a:xfrm>
            <a:off x="8062913" y="22225"/>
            <a:ext cx="1320800" cy="177800"/>
          </a:xfrm>
          <a:prstGeom prst="rect">
            <a:avLst/>
          </a:prstGeom>
          <a:noFill/>
          <a:ln w="25400" cap="flat">
            <a:noFill/>
            <a:miter lim="800000"/>
            <a:headEnd type="none" w="med" len="med"/>
            <a:tailEnd type="none" w="med" len="med"/>
          </a:ln>
        </p:spPr>
        <p:txBody>
          <a:bodyPr lIns="0" tIns="0" rIns="0" bIns="0"/>
          <a:lstStyle/>
          <a:p>
            <a:pPr algn="l"/>
            <a:r>
              <a:rPr lang="en-US" sz="1200">
                <a:solidFill>
                  <a:srgbClr val="FFFFFF"/>
                </a:solidFill>
                <a:ea typeface="Gill Sans" charset="0"/>
                <a:cs typeface="Gill Sans" charset="0"/>
              </a:rPr>
              <a:t>Carnegie Mellon</a:t>
            </a:r>
          </a:p>
        </p:txBody>
      </p:sp>
      <p:sp>
        <p:nvSpPr>
          <p:cNvPr id="12291" name="Rectangle 3"/>
          <p:cNvSpPr>
            <a:spLocks noGrp="1" noChangeArrowheads="1"/>
          </p:cNvSpPr>
          <p:nvPr>
            <p:ph type="title"/>
          </p:nvPr>
        </p:nvSpPr>
        <p:spPr>
          <a:xfrm>
            <a:off x="381000" y="254000"/>
            <a:ext cx="8610600" cy="1143000"/>
          </a:xfrm>
          <a:ln/>
        </p:spPr>
        <p:txBody>
          <a:bodyPr>
            <a:normAutofit fontScale="90000"/>
          </a:bodyPr>
          <a:lstStyle/>
          <a:p>
            <a:pPr marL="119063" indent="-119063"/>
            <a:r>
              <a:rPr lang="en-US" dirty="0"/>
              <a:t>How to transfer control for procedure calls?</a:t>
            </a:r>
          </a:p>
        </p:txBody>
      </p:sp>
      <p:sp>
        <p:nvSpPr>
          <p:cNvPr id="7" name="Rectangle 4"/>
          <p:cNvSpPr>
            <a:spLocks/>
          </p:cNvSpPr>
          <p:nvPr/>
        </p:nvSpPr>
        <p:spPr bwMode="auto">
          <a:xfrm>
            <a:off x="1447800" y="1295400"/>
            <a:ext cx="1841500" cy="1371600"/>
          </a:xfrm>
          <a:prstGeom prst="rect">
            <a:avLst/>
          </a:prstGeom>
          <a:solidFill>
            <a:srgbClr val="F6F5BD"/>
          </a:solidFill>
          <a:ln w="12700" cap="flat">
            <a:solidFill>
              <a:schemeClr val="tx1"/>
            </a:solidFill>
            <a:prstDash val="solid"/>
            <a:miter lim="800000"/>
            <a:headEnd type="none" w="med" len="med"/>
            <a:tailEnd type="none" w="med" len="med"/>
          </a:ln>
          <a:effectLst>
            <a:outerShdw dist="76199" dir="2700000" algn="ctr" rotWithShape="0">
              <a:schemeClr val="bg2">
                <a:alpha val="75000"/>
              </a:schemeClr>
            </a:outerShdw>
          </a:effectLst>
        </p:spPr>
        <p:txBody>
          <a:bodyPr lIns="38100" tIns="38100" rIns="38100" bIns="38100"/>
          <a:lstStyle/>
          <a:p>
            <a:pPr algn="l"/>
            <a:r>
              <a:rPr lang="en-US" sz="1800" dirty="0">
                <a:solidFill>
                  <a:schemeClr val="tx1"/>
                </a:solidFill>
                <a:latin typeface="Consolas"/>
                <a:cs typeface="Consolas"/>
                <a:sym typeface="Courier New Bold" charset="0"/>
              </a:rPr>
              <a:t>void main(){</a:t>
            </a:r>
          </a:p>
          <a:p>
            <a:pPr algn="l"/>
            <a:r>
              <a:rPr lang="en-US" sz="1800" dirty="0">
                <a:solidFill>
                  <a:schemeClr val="tx1"/>
                </a:solidFill>
                <a:latin typeface="Consolas"/>
                <a:cs typeface="Consolas"/>
                <a:sym typeface="Courier New Bold" charset="0"/>
              </a:rPr>
              <a:t>    ..</a:t>
            </a:r>
          </a:p>
          <a:p>
            <a:pPr algn="l"/>
            <a:r>
              <a:rPr lang="en-US" sz="1800" dirty="0">
                <a:solidFill>
                  <a:schemeClr val="tx1"/>
                </a:solidFill>
                <a:latin typeface="Consolas"/>
                <a:cs typeface="Consolas"/>
                <a:sym typeface="Courier New Bold" charset="0"/>
              </a:rPr>
              <a:t>    f(..)</a:t>
            </a:r>
          </a:p>
          <a:p>
            <a:pPr algn="l"/>
            <a:r>
              <a:rPr lang="en-US" sz="1800" dirty="0">
                <a:solidFill>
                  <a:schemeClr val="tx1"/>
                </a:solidFill>
                <a:latin typeface="Consolas"/>
                <a:cs typeface="Consolas"/>
                <a:sym typeface="Courier New Bold" charset="0"/>
              </a:rPr>
              <a:t>L1: ..</a:t>
            </a:r>
          </a:p>
          <a:p>
            <a:pPr algn="l"/>
            <a:r>
              <a:rPr lang="en-US" sz="1800" dirty="0">
                <a:solidFill>
                  <a:schemeClr val="tx1"/>
                </a:solidFill>
                <a:latin typeface="Consolas"/>
                <a:cs typeface="Consolas"/>
                <a:sym typeface="Courier New Bold" charset="0"/>
              </a:rPr>
              <a:t>} </a:t>
            </a:r>
          </a:p>
        </p:txBody>
      </p:sp>
      <p:sp>
        <p:nvSpPr>
          <p:cNvPr id="8" name="Rectangle 4"/>
          <p:cNvSpPr>
            <a:spLocks/>
          </p:cNvSpPr>
          <p:nvPr/>
        </p:nvSpPr>
        <p:spPr bwMode="auto">
          <a:xfrm>
            <a:off x="1447800" y="2819400"/>
            <a:ext cx="1841500" cy="1371600"/>
          </a:xfrm>
          <a:prstGeom prst="rect">
            <a:avLst/>
          </a:prstGeom>
          <a:solidFill>
            <a:srgbClr val="F6F5BD"/>
          </a:solidFill>
          <a:ln w="12700" cap="flat">
            <a:solidFill>
              <a:schemeClr val="tx1"/>
            </a:solidFill>
            <a:prstDash val="solid"/>
            <a:miter lim="800000"/>
            <a:headEnd type="none" w="med" len="med"/>
            <a:tailEnd type="none" w="med" len="med"/>
          </a:ln>
          <a:effectLst>
            <a:outerShdw dist="76199" dir="2700000" algn="ctr" rotWithShape="0">
              <a:schemeClr val="bg2">
                <a:alpha val="75000"/>
              </a:schemeClr>
            </a:outerShdw>
          </a:effectLst>
        </p:spPr>
        <p:txBody>
          <a:bodyPr lIns="38100" tIns="38100" rIns="38100" bIns="38100"/>
          <a:lstStyle/>
          <a:p>
            <a:pPr algn="l"/>
            <a:r>
              <a:rPr lang="en-US" sz="1800" dirty="0">
                <a:solidFill>
                  <a:schemeClr val="tx1"/>
                </a:solidFill>
                <a:latin typeface="Consolas"/>
                <a:cs typeface="Consolas"/>
                <a:sym typeface="Courier New Bold" charset="0"/>
              </a:rPr>
              <a:t>void f(){</a:t>
            </a:r>
          </a:p>
          <a:p>
            <a:pPr algn="l"/>
            <a:r>
              <a:rPr lang="en-US" sz="1800" dirty="0">
                <a:solidFill>
                  <a:schemeClr val="tx1"/>
                </a:solidFill>
                <a:latin typeface="Consolas"/>
                <a:cs typeface="Consolas"/>
                <a:sym typeface="Courier New Bold" charset="0"/>
              </a:rPr>
              <a:t>    ..</a:t>
            </a:r>
          </a:p>
          <a:p>
            <a:pPr algn="l"/>
            <a:r>
              <a:rPr lang="en-US" sz="1800" dirty="0">
                <a:solidFill>
                  <a:schemeClr val="tx1"/>
                </a:solidFill>
                <a:latin typeface="Consolas"/>
                <a:cs typeface="Consolas"/>
                <a:sym typeface="Courier New Bold" charset="0"/>
              </a:rPr>
              <a:t>    g(..)</a:t>
            </a:r>
          </a:p>
          <a:p>
            <a:pPr algn="l"/>
            <a:r>
              <a:rPr lang="en-US" sz="1800" dirty="0">
                <a:solidFill>
                  <a:schemeClr val="tx1"/>
                </a:solidFill>
                <a:latin typeface="Consolas"/>
                <a:cs typeface="Consolas"/>
                <a:sym typeface="Courier New Bold" charset="0"/>
              </a:rPr>
              <a:t>L2: ..</a:t>
            </a:r>
          </a:p>
          <a:p>
            <a:pPr algn="l"/>
            <a:r>
              <a:rPr lang="en-US" sz="1800" dirty="0">
                <a:solidFill>
                  <a:schemeClr val="tx1"/>
                </a:solidFill>
                <a:latin typeface="Consolas"/>
                <a:cs typeface="Consolas"/>
                <a:sym typeface="Courier New Bold" charset="0"/>
              </a:rPr>
              <a:t>} </a:t>
            </a:r>
          </a:p>
        </p:txBody>
      </p:sp>
      <p:sp>
        <p:nvSpPr>
          <p:cNvPr id="9" name="Rectangle 4"/>
          <p:cNvSpPr>
            <a:spLocks/>
          </p:cNvSpPr>
          <p:nvPr/>
        </p:nvSpPr>
        <p:spPr bwMode="auto">
          <a:xfrm>
            <a:off x="1447800" y="4419600"/>
            <a:ext cx="1841500" cy="1371600"/>
          </a:xfrm>
          <a:prstGeom prst="rect">
            <a:avLst/>
          </a:prstGeom>
          <a:solidFill>
            <a:srgbClr val="F6F5BD"/>
          </a:solidFill>
          <a:ln w="12700" cap="flat">
            <a:solidFill>
              <a:schemeClr val="tx1"/>
            </a:solidFill>
            <a:prstDash val="solid"/>
            <a:miter lim="800000"/>
            <a:headEnd type="none" w="med" len="med"/>
            <a:tailEnd type="none" w="med" len="med"/>
          </a:ln>
          <a:effectLst>
            <a:outerShdw dist="76199" dir="2700000" algn="ctr" rotWithShape="0">
              <a:schemeClr val="bg2">
                <a:alpha val="75000"/>
              </a:schemeClr>
            </a:outerShdw>
          </a:effectLst>
        </p:spPr>
        <p:txBody>
          <a:bodyPr lIns="38100" tIns="38100" rIns="38100" bIns="38100"/>
          <a:lstStyle/>
          <a:p>
            <a:pPr algn="l"/>
            <a:r>
              <a:rPr lang="en-US" sz="1800" dirty="0">
                <a:solidFill>
                  <a:schemeClr val="tx1"/>
                </a:solidFill>
                <a:latin typeface="Consolas"/>
                <a:cs typeface="Consolas"/>
                <a:sym typeface="Courier New Bold" charset="0"/>
              </a:rPr>
              <a:t>void g(){</a:t>
            </a:r>
          </a:p>
          <a:p>
            <a:pPr algn="l"/>
            <a:r>
              <a:rPr lang="en-US" sz="1800" dirty="0">
                <a:solidFill>
                  <a:schemeClr val="tx1"/>
                </a:solidFill>
                <a:latin typeface="Consolas"/>
                <a:cs typeface="Consolas"/>
                <a:sym typeface="Courier New Bold" charset="0"/>
              </a:rPr>
              <a:t>    ..</a:t>
            </a:r>
          </a:p>
          <a:p>
            <a:pPr algn="l"/>
            <a:r>
              <a:rPr lang="en-US" sz="1800" dirty="0">
                <a:solidFill>
                  <a:schemeClr val="tx1"/>
                </a:solidFill>
                <a:latin typeface="Consolas"/>
                <a:cs typeface="Consolas"/>
                <a:sym typeface="Courier New Bold" charset="0"/>
              </a:rPr>
              <a:t>    h(..)</a:t>
            </a:r>
          </a:p>
          <a:p>
            <a:pPr algn="l"/>
            <a:r>
              <a:rPr lang="en-US" sz="1800" dirty="0">
                <a:solidFill>
                  <a:schemeClr val="tx1"/>
                </a:solidFill>
                <a:latin typeface="Consolas"/>
                <a:cs typeface="Consolas"/>
                <a:sym typeface="Courier New Bold" charset="0"/>
              </a:rPr>
              <a:t>L3: ..</a:t>
            </a:r>
          </a:p>
          <a:p>
            <a:pPr algn="l"/>
            <a:r>
              <a:rPr lang="en-US" sz="1800" dirty="0">
                <a:solidFill>
                  <a:schemeClr val="tx1"/>
                </a:solidFill>
                <a:latin typeface="Consolas"/>
                <a:cs typeface="Consolas"/>
                <a:sym typeface="Courier New Bold" charset="0"/>
              </a:rPr>
              <a:t>} </a:t>
            </a:r>
          </a:p>
        </p:txBody>
      </p:sp>
      <p:sp>
        <p:nvSpPr>
          <p:cNvPr id="10" name="Freeform 9"/>
          <p:cNvSpPr/>
          <p:nvPr/>
        </p:nvSpPr>
        <p:spPr>
          <a:xfrm>
            <a:off x="2763337" y="2045936"/>
            <a:ext cx="0" cy="0"/>
          </a:xfrm>
          <a:custGeom>
            <a:avLst/>
            <a:gdLst>
              <a:gd name="connsiteX0" fmla="*/ 0 w 0"/>
              <a:gd name="connsiteY0" fmla="*/ 0 h 0"/>
              <a:gd name="connsiteX1" fmla="*/ 0 w 0"/>
              <a:gd name="connsiteY1" fmla="*/ 0 h 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>
                <a:moveTo>
                  <a:pt x="0" y="0"/>
                </a:moveTo>
                <a:lnTo>
                  <a:pt x="0" y="0"/>
                </a:lnTo>
              </a:path>
            </a:pathLst>
          </a:custGeom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4200" b="0" i="0" u="none" strike="noStrike" cap="none" normalizeH="0" baseline="0">
              <a:ln>
                <a:noFill/>
              </a:ln>
              <a:solidFill>
                <a:srgbClr val="000000"/>
              </a:solidFill>
              <a:effectLst/>
              <a:latin typeface="Gill Sans" charset="0"/>
              <a:ea typeface="ヒラギノ角ゴ ProN W3" charset="0"/>
              <a:cs typeface="ヒラギノ角ゴ ProN W3" charset="0"/>
              <a:sym typeface="Gill Sans" charset="0"/>
            </a:endParaRPr>
          </a:p>
        </p:txBody>
      </p:sp>
      <p:sp>
        <p:nvSpPr>
          <p:cNvPr id="12334" name="Freeform 12333"/>
          <p:cNvSpPr/>
          <p:nvPr/>
        </p:nvSpPr>
        <p:spPr>
          <a:xfrm>
            <a:off x="2836065" y="2013521"/>
            <a:ext cx="1949847" cy="1302306"/>
          </a:xfrm>
          <a:custGeom>
            <a:avLst/>
            <a:gdLst>
              <a:gd name="connsiteX0" fmla="*/ 21343 w 1949847"/>
              <a:gd name="connsiteY0" fmla="*/ 20656 h 1302306"/>
              <a:gd name="connsiteX1" fmla="*/ 221244 w 1949847"/>
              <a:gd name="connsiteY1" fmla="*/ 32415 h 1302306"/>
              <a:gd name="connsiteX2" fmla="*/ 1608792 w 1949847"/>
              <a:gd name="connsiteY2" fmla="*/ 326371 h 1302306"/>
              <a:gd name="connsiteX3" fmla="*/ 1843970 w 1949847"/>
              <a:gd name="connsiteY3" fmla="*/ 949558 h 1302306"/>
              <a:gd name="connsiteX4" fmla="*/ 174209 w 1949847"/>
              <a:gd name="connsiteY4" fmla="*/ 1302306 h 13023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49847" h="1302306">
                <a:moveTo>
                  <a:pt x="21343" y="20656"/>
                </a:moveTo>
                <a:cubicBezTo>
                  <a:pt x="-10994" y="1059"/>
                  <a:pt x="-43331" y="-18538"/>
                  <a:pt x="221244" y="32415"/>
                </a:cubicBezTo>
                <a:cubicBezTo>
                  <a:pt x="485819" y="83368"/>
                  <a:pt x="1338338" y="173514"/>
                  <a:pt x="1608792" y="326371"/>
                </a:cubicBezTo>
                <a:cubicBezTo>
                  <a:pt x="1879246" y="479228"/>
                  <a:pt x="2083067" y="786902"/>
                  <a:pt x="1843970" y="949558"/>
                </a:cubicBezTo>
                <a:cubicBezTo>
                  <a:pt x="1604873" y="1112214"/>
                  <a:pt x="456422" y="1243515"/>
                  <a:pt x="174209" y="1302306"/>
                </a:cubicBezTo>
              </a:path>
            </a:pathLst>
          </a:custGeom>
          <a:ln w="38100" cmpd="sng">
            <a:solidFill>
              <a:srgbClr val="000000"/>
            </a:solidFill>
            <a:headEnd type="none"/>
            <a:tailEnd type="arrow"/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4200" b="0" i="0" u="none" strike="noStrike" cap="none" normalizeH="0" baseline="0">
              <a:ln>
                <a:noFill/>
              </a:ln>
              <a:solidFill>
                <a:srgbClr val="000000"/>
              </a:solidFill>
              <a:effectLst/>
              <a:latin typeface="Gill Sans" charset="0"/>
              <a:ea typeface="ヒラギノ角ゴ ProN W3" charset="0"/>
              <a:cs typeface="ヒラギノ角ゴ ProN W3" charset="0"/>
              <a:sym typeface="Gill Sans" charset="0"/>
            </a:endParaRPr>
          </a:p>
        </p:txBody>
      </p:sp>
      <p:sp>
        <p:nvSpPr>
          <p:cNvPr id="12335" name="TextBox 12334"/>
          <p:cNvSpPr txBox="1"/>
          <p:nvPr/>
        </p:nvSpPr>
        <p:spPr>
          <a:xfrm>
            <a:off x="4648200" y="1905000"/>
            <a:ext cx="39624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2000" dirty="0">
                <a:latin typeface="Arial"/>
                <a:cs typeface="Arial"/>
              </a:rPr>
              <a:t>Jump to f()</a:t>
            </a:r>
          </a:p>
          <a:p>
            <a:pPr algn="l"/>
            <a:r>
              <a:rPr lang="en-US" sz="2000" dirty="0">
                <a:latin typeface="Arial"/>
                <a:cs typeface="Arial"/>
              </a:rPr>
              <a:t>Remember where to come back</a:t>
            </a:r>
          </a:p>
        </p:txBody>
      </p:sp>
      <p:sp>
        <p:nvSpPr>
          <p:cNvPr id="80" name="Freeform 79"/>
          <p:cNvSpPr/>
          <p:nvPr/>
        </p:nvSpPr>
        <p:spPr>
          <a:xfrm>
            <a:off x="3124200" y="3657600"/>
            <a:ext cx="1949847" cy="1302306"/>
          </a:xfrm>
          <a:custGeom>
            <a:avLst/>
            <a:gdLst>
              <a:gd name="connsiteX0" fmla="*/ 21343 w 1949847"/>
              <a:gd name="connsiteY0" fmla="*/ 20656 h 1302306"/>
              <a:gd name="connsiteX1" fmla="*/ 221244 w 1949847"/>
              <a:gd name="connsiteY1" fmla="*/ 32415 h 1302306"/>
              <a:gd name="connsiteX2" fmla="*/ 1608792 w 1949847"/>
              <a:gd name="connsiteY2" fmla="*/ 326371 h 1302306"/>
              <a:gd name="connsiteX3" fmla="*/ 1843970 w 1949847"/>
              <a:gd name="connsiteY3" fmla="*/ 949558 h 1302306"/>
              <a:gd name="connsiteX4" fmla="*/ 174209 w 1949847"/>
              <a:gd name="connsiteY4" fmla="*/ 1302306 h 13023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49847" h="1302306">
                <a:moveTo>
                  <a:pt x="21343" y="20656"/>
                </a:moveTo>
                <a:cubicBezTo>
                  <a:pt x="-10994" y="1059"/>
                  <a:pt x="-43331" y="-18538"/>
                  <a:pt x="221244" y="32415"/>
                </a:cubicBezTo>
                <a:cubicBezTo>
                  <a:pt x="485819" y="83368"/>
                  <a:pt x="1338338" y="173514"/>
                  <a:pt x="1608792" y="326371"/>
                </a:cubicBezTo>
                <a:cubicBezTo>
                  <a:pt x="1879246" y="479228"/>
                  <a:pt x="2083067" y="786902"/>
                  <a:pt x="1843970" y="949558"/>
                </a:cubicBezTo>
                <a:cubicBezTo>
                  <a:pt x="1604873" y="1112214"/>
                  <a:pt x="456422" y="1243515"/>
                  <a:pt x="174209" y="1302306"/>
                </a:cubicBezTo>
              </a:path>
            </a:pathLst>
          </a:custGeom>
          <a:ln w="38100" cmpd="sng">
            <a:solidFill>
              <a:srgbClr val="000000"/>
            </a:solidFill>
            <a:headEnd type="none"/>
            <a:tailEnd type="arrow"/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4200" b="0" i="0" u="none" strike="noStrike" cap="none" normalizeH="0" baseline="0">
              <a:ln>
                <a:noFill/>
              </a:ln>
              <a:solidFill>
                <a:srgbClr val="000000"/>
              </a:solidFill>
              <a:effectLst/>
              <a:latin typeface="Gill Sans" charset="0"/>
              <a:ea typeface="ヒラギノ角ゴ ProN W3" charset="0"/>
              <a:cs typeface="ヒラギノ角ゴ ProN W3" charset="0"/>
              <a:sym typeface="Gill Sans" charset="0"/>
            </a:endParaRPr>
          </a:p>
        </p:txBody>
      </p:sp>
      <p:sp>
        <p:nvSpPr>
          <p:cNvPr id="85" name="TextBox 84"/>
          <p:cNvSpPr txBox="1"/>
          <p:nvPr/>
        </p:nvSpPr>
        <p:spPr>
          <a:xfrm>
            <a:off x="4572000" y="3581400"/>
            <a:ext cx="39624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2000" dirty="0">
                <a:latin typeface="Arial"/>
                <a:cs typeface="Arial"/>
              </a:rPr>
              <a:t>Jump to g()</a:t>
            </a:r>
          </a:p>
          <a:p>
            <a:pPr algn="l"/>
            <a:r>
              <a:rPr lang="en-US" sz="2000" dirty="0">
                <a:latin typeface="Arial"/>
                <a:cs typeface="Arial"/>
              </a:rPr>
              <a:t>Remember where to come back</a:t>
            </a:r>
          </a:p>
        </p:txBody>
      </p:sp>
      <p:sp>
        <p:nvSpPr>
          <p:cNvPr id="90" name="Rectangle 89"/>
          <p:cNvSpPr/>
          <p:nvPr/>
        </p:nvSpPr>
        <p:spPr bwMode="auto">
          <a:xfrm>
            <a:off x="8352197" y="3482457"/>
            <a:ext cx="457200" cy="381000"/>
          </a:xfrm>
          <a:prstGeom prst="rect">
            <a:avLst/>
          </a:prstGeom>
          <a:solidFill>
            <a:srgbClr val="FFFF00"/>
          </a:solidFill>
          <a:ln w="25400" cap="flat" cmpd="sng" algn="ctr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/>
                <a:ea typeface="ヒラギノ角ゴ ProN W3" charset="0"/>
                <a:cs typeface="Arial"/>
                <a:sym typeface="Gill Sans" charset="0"/>
              </a:rPr>
              <a:t>L2</a:t>
            </a:r>
          </a:p>
        </p:txBody>
      </p:sp>
      <p:sp>
        <p:nvSpPr>
          <p:cNvPr id="91" name="Rectangle 90"/>
          <p:cNvSpPr/>
          <p:nvPr/>
        </p:nvSpPr>
        <p:spPr bwMode="auto">
          <a:xfrm>
            <a:off x="8354477" y="3866967"/>
            <a:ext cx="457200" cy="381000"/>
          </a:xfrm>
          <a:prstGeom prst="rect">
            <a:avLst/>
          </a:prstGeom>
          <a:solidFill>
            <a:srgbClr val="FFFF00"/>
          </a:solidFill>
          <a:ln w="25400" cap="flat" cmpd="sng" algn="ctr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/>
                <a:ea typeface="ヒラギノ角ゴ ProN W3" charset="0"/>
                <a:cs typeface="Arial"/>
                <a:sym typeface="Gill Sans" charset="0"/>
              </a:rPr>
              <a:t>L1</a:t>
            </a:r>
          </a:p>
        </p:txBody>
      </p:sp>
    </p:spTree>
    <p:extLst>
      <p:ext uri="{BB962C8B-B14F-4D97-AF65-F5344CB8AC3E}">
        <p14:creationId xmlns:p14="http://schemas.microsoft.com/office/powerpoint/2010/main" val="220392268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Rectangle 2"/>
          <p:cNvSpPr>
            <a:spLocks/>
          </p:cNvSpPr>
          <p:nvPr/>
        </p:nvSpPr>
        <p:spPr bwMode="auto">
          <a:xfrm>
            <a:off x="8062913" y="22225"/>
            <a:ext cx="1320800" cy="177800"/>
          </a:xfrm>
          <a:prstGeom prst="rect">
            <a:avLst/>
          </a:prstGeom>
          <a:noFill/>
          <a:ln w="25400" cap="flat">
            <a:noFill/>
            <a:miter lim="800000"/>
            <a:headEnd type="none" w="med" len="med"/>
            <a:tailEnd type="none" w="med" len="med"/>
          </a:ln>
        </p:spPr>
        <p:txBody>
          <a:bodyPr lIns="0" tIns="0" rIns="0" bIns="0"/>
          <a:lstStyle/>
          <a:p>
            <a:pPr algn="l"/>
            <a:r>
              <a:rPr lang="en-US" sz="1200">
                <a:solidFill>
                  <a:srgbClr val="FFFFFF"/>
                </a:solidFill>
                <a:ea typeface="Gill Sans" charset="0"/>
                <a:cs typeface="Gill Sans" charset="0"/>
              </a:rPr>
              <a:t>Carnegie Mellon</a:t>
            </a:r>
          </a:p>
        </p:txBody>
      </p:sp>
      <p:sp>
        <p:nvSpPr>
          <p:cNvPr id="12291" name="Rectangle 3"/>
          <p:cNvSpPr>
            <a:spLocks noGrp="1" noChangeArrowheads="1"/>
          </p:cNvSpPr>
          <p:nvPr>
            <p:ph type="title"/>
          </p:nvPr>
        </p:nvSpPr>
        <p:spPr>
          <a:xfrm>
            <a:off x="381000" y="254000"/>
            <a:ext cx="8610600" cy="1143000"/>
          </a:xfrm>
          <a:ln/>
        </p:spPr>
        <p:txBody>
          <a:bodyPr>
            <a:normAutofit fontScale="90000"/>
          </a:bodyPr>
          <a:lstStyle/>
          <a:p>
            <a:pPr marL="119063" indent="-119063"/>
            <a:r>
              <a:rPr lang="en-US" dirty="0"/>
              <a:t>How to transfer control for procedure calls?</a:t>
            </a:r>
          </a:p>
        </p:txBody>
      </p:sp>
      <p:sp>
        <p:nvSpPr>
          <p:cNvPr id="7" name="Rectangle 4"/>
          <p:cNvSpPr>
            <a:spLocks/>
          </p:cNvSpPr>
          <p:nvPr/>
        </p:nvSpPr>
        <p:spPr bwMode="auto">
          <a:xfrm>
            <a:off x="1447800" y="1295400"/>
            <a:ext cx="1841500" cy="1371600"/>
          </a:xfrm>
          <a:prstGeom prst="rect">
            <a:avLst/>
          </a:prstGeom>
          <a:solidFill>
            <a:srgbClr val="F6F5BD"/>
          </a:solidFill>
          <a:ln w="12700" cap="flat">
            <a:solidFill>
              <a:schemeClr val="tx1"/>
            </a:solidFill>
            <a:prstDash val="solid"/>
            <a:miter lim="800000"/>
            <a:headEnd type="none" w="med" len="med"/>
            <a:tailEnd type="none" w="med" len="med"/>
          </a:ln>
          <a:effectLst>
            <a:outerShdw dist="76199" dir="2700000" algn="ctr" rotWithShape="0">
              <a:schemeClr val="bg2">
                <a:alpha val="75000"/>
              </a:schemeClr>
            </a:outerShdw>
          </a:effectLst>
        </p:spPr>
        <p:txBody>
          <a:bodyPr lIns="38100" tIns="38100" rIns="38100" bIns="38100"/>
          <a:lstStyle/>
          <a:p>
            <a:pPr algn="l"/>
            <a:r>
              <a:rPr lang="en-US" sz="1800" dirty="0">
                <a:solidFill>
                  <a:schemeClr val="tx1"/>
                </a:solidFill>
                <a:latin typeface="Consolas"/>
                <a:cs typeface="Consolas"/>
                <a:sym typeface="Courier New Bold" charset="0"/>
              </a:rPr>
              <a:t>void main(){</a:t>
            </a:r>
          </a:p>
          <a:p>
            <a:pPr algn="l"/>
            <a:r>
              <a:rPr lang="en-US" sz="1800" dirty="0">
                <a:solidFill>
                  <a:schemeClr val="tx1"/>
                </a:solidFill>
                <a:latin typeface="Consolas"/>
                <a:cs typeface="Consolas"/>
                <a:sym typeface="Courier New Bold" charset="0"/>
              </a:rPr>
              <a:t>    ..</a:t>
            </a:r>
          </a:p>
          <a:p>
            <a:pPr algn="l"/>
            <a:r>
              <a:rPr lang="en-US" sz="1800" dirty="0">
                <a:solidFill>
                  <a:schemeClr val="tx1"/>
                </a:solidFill>
                <a:latin typeface="Consolas"/>
                <a:cs typeface="Consolas"/>
                <a:sym typeface="Courier New Bold" charset="0"/>
              </a:rPr>
              <a:t>    f(..)</a:t>
            </a:r>
          </a:p>
          <a:p>
            <a:pPr algn="l"/>
            <a:r>
              <a:rPr lang="en-US" sz="1800" dirty="0">
                <a:solidFill>
                  <a:schemeClr val="tx1"/>
                </a:solidFill>
                <a:latin typeface="Consolas"/>
                <a:cs typeface="Consolas"/>
                <a:sym typeface="Courier New Bold" charset="0"/>
              </a:rPr>
              <a:t>L1: ..</a:t>
            </a:r>
          </a:p>
          <a:p>
            <a:pPr algn="l"/>
            <a:r>
              <a:rPr lang="en-US" sz="1800" dirty="0">
                <a:solidFill>
                  <a:schemeClr val="tx1"/>
                </a:solidFill>
                <a:latin typeface="Consolas"/>
                <a:cs typeface="Consolas"/>
                <a:sym typeface="Courier New Bold" charset="0"/>
              </a:rPr>
              <a:t>} </a:t>
            </a:r>
          </a:p>
        </p:txBody>
      </p:sp>
      <p:sp>
        <p:nvSpPr>
          <p:cNvPr id="8" name="Rectangle 4"/>
          <p:cNvSpPr>
            <a:spLocks/>
          </p:cNvSpPr>
          <p:nvPr/>
        </p:nvSpPr>
        <p:spPr bwMode="auto">
          <a:xfrm>
            <a:off x="1447800" y="2819400"/>
            <a:ext cx="1841500" cy="1371600"/>
          </a:xfrm>
          <a:prstGeom prst="rect">
            <a:avLst/>
          </a:prstGeom>
          <a:solidFill>
            <a:srgbClr val="F6F5BD"/>
          </a:solidFill>
          <a:ln w="12700" cap="flat">
            <a:solidFill>
              <a:schemeClr val="tx1"/>
            </a:solidFill>
            <a:prstDash val="solid"/>
            <a:miter lim="800000"/>
            <a:headEnd type="none" w="med" len="med"/>
            <a:tailEnd type="none" w="med" len="med"/>
          </a:ln>
          <a:effectLst>
            <a:outerShdw dist="76199" dir="2700000" algn="ctr" rotWithShape="0">
              <a:schemeClr val="bg2">
                <a:alpha val="75000"/>
              </a:schemeClr>
            </a:outerShdw>
          </a:effectLst>
        </p:spPr>
        <p:txBody>
          <a:bodyPr lIns="38100" tIns="38100" rIns="38100" bIns="38100"/>
          <a:lstStyle/>
          <a:p>
            <a:pPr algn="l"/>
            <a:r>
              <a:rPr lang="en-US" sz="1800" dirty="0">
                <a:solidFill>
                  <a:schemeClr val="tx1"/>
                </a:solidFill>
                <a:latin typeface="Consolas"/>
                <a:cs typeface="Consolas"/>
                <a:sym typeface="Courier New Bold" charset="0"/>
              </a:rPr>
              <a:t>void f(){</a:t>
            </a:r>
          </a:p>
          <a:p>
            <a:pPr algn="l"/>
            <a:r>
              <a:rPr lang="en-US" sz="1800" dirty="0">
                <a:solidFill>
                  <a:schemeClr val="tx1"/>
                </a:solidFill>
                <a:latin typeface="Consolas"/>
                <a:cs typeface="Consolas"/>
                <a:sym typeface="Courier New Bold" charset="0"/>
              </a:rPr>
              <a:t>    ..</a:t>
            </a:r>
          </a:p>
          <a:p>
            <a:pPr algn="l"/>
            <a:r>
              <a:rPr lang="en-US" sz="1800" dirty="0">
                <a:solidFill>
                  <a:schemeClr val="tx1"/>
                </a:solidFill>
                <a:latin typeface="Consolas"/>
                <a:cs typeface="Consolas"/>
                <a:sym typeface="Courier New Bold" charset="0"/>
              </a:rPr>
              <a:t>    g(..)</a:t>
            </a:r>
          </a:p>
          <a:p>
            <a:pPr algn="l"/>
            <a:r>
              <a:rPr lang="en-US" sz="1800" dirty="0">
                <a:solidFill>
                  <a:schemeClr val="tx1"/>
                </a:solidFill>
                <a:latin typeface="Consolas"/>
                <a:cs typeface="Consolas"/>
                <a:sym typeface="Courier New Bold" charset="0"/>
              </a:rPr>
              <a:t>L2: ..</a:t>
            </a:r>
          </a:p>
          <a:p>
            <a:pPr algn="l"/>
            <a:r>
              <a:rPr lang="en-US" sz="1800" dirty="0">
                <a:solidFill>
                  <a:schemeClr val="tx1"/>
                </a:solidFill>
                <a:latin typeface="Consolas"/>
                <a:cs typeface="Consolas"/>
                <a:sym typeface="Courier New Bold" charset="0"/>
              </a:rPr>
              <a:t>} </a:t>
            </a:r>
          </a:p>
        </p:txBody>
      </p:sp>
      <p:sp>
        <p:nvSpPr>
          <p:cNvPr id="9" name="Rectangle 4"/>
          <p:cNvSpPr>
            <a:spLocks/>
          </p:cNvSpPr>
          <p:nvPr/>
        </p:nvSpPr>
        <p:spPr bwMode="auto">
          <a:xfrm>
            <a:off x="1447800" y="4419600"/>
            <a:ext cx="1841500" cy="1371600"/>
          </a:xfrm>
          <a:prstGeom prst="rect">
            <a:avLst/>
          </a:prstGeom>
          <a:solidFill>
            <a:srgbClr val="F6F5BD"/>
          </a:solidFill>
          <a:ln w="12700" cap="flat">
            <a:solidFill>
              <a:schemeClr val="tx1"/>
            </a:solidFill>
            <a:prstDash val="solid"/>
            <a:miter lim="800000"/>
            <a:headEnd type="none" w="med" len="med"/>
            <a:tailEnd type="none" w="med" len="med"/>
          </a:ln>
          <a:effectLst>
            <a:outerShdw dist="76199" dir="2700000" algn="ctr" rotWithShape="0">
              <a:schemeClr val="bg2">
                <a:alpha val="75000"/>
              </a:schemeClr>
            </a:outerShdw>
          </a:effectLst>
        </p:spPr>
        <p:txBody>
          <a:bodyPr lIns="38100" tIns="38100" rIns="38100" bIns="38100"/>
          <a:lstStyle/>
          <a:p>
            <a:pPr algn="l"/>
            <a:r>
              <a:rPr lang="en-US" sz="1800" dirty="0">
                <a:solidFill>
                  <a:schemeClr val="tx1"/>
                </a:solidFill>
                <a:latin typeface="Consolas"/>
                <a:cs typeface="Consolas"/>
                <a:sym typeface="Courier New Bold" charset="0"/>
              </a:rPr>
              <a:t>void g(){</a:t>
            </a:r>
          </a:p>
          <a:p>
            <a:pPr algn="l"/>
            <a:r>
              <a:rPr lang="en-US" sz="1800" dirty="0">
                <a:solidFill>
                  <a:schemeClr val="tx1"/>
                </a:solidFill>
                <a:latin typeface="Consolas"/>
                <a:cs typeface="Consolas"/>
                <a:sym typeface="Courier New Bold" charset="0"/>
              </a:rPr>
              <a:t>    ..</a:t>
            </a:r>
          </a:p>
          <a:p>
            <a:pPr algn="l"/>
            <a:r>
              <a:rPr lang="en-US" sz="1800" dirty="0">
                <a:solidFill>
                  <a:schemeClr val="tx1"/>
                </a:solidFill>
                <a:latin typeface="Consolas"/>
                <a:cs typeface="Consolas"/>
                <a:sym typeface="Courier New Bold" charset="0"/>
              </a:rPr>
              <a:t>    h(..)</a:t>
            </a:r>
          </a:p>
          <a:p>
            <a:pPr algn="l"/>
            <a:r>
              <a:rPr lang="en-US" sz="1800" dirty="0">
                <a:solidFill>
                  <a:schemeClr val="tx1"/>
                </a:solidFill>
                <a:latin typeface="Consolas"/>
                <a:cs typeface="Consolas"/>
                <a:sym typeface="Courier New Bold" charset="0"/>
              </a:rPr>
              <a:t>L3: ..</a:t>
            </a:r>
          </a:p>
          <a:p>
            <a:pPr algn="l"/>
            <a:r>
              <a:rPr lang="en-US" sz="1800" dirty="0">
                <a:solidFill>
                  <a:schemeClr val="tx1"/>
                </a:solidFill>
                <a:latin typeface="Consolas"/>
                <a:cs typeface="Consolas"/>
                <a:sym typeface="Courier New Bold" charset="0"/>
              </a:rPr>
              <a:t>} </a:t>
            </a:r>
          </a:p>
        </p:txBody>
      </p:sp>
      <p:sp>
        <p:nvSpPr>
          <p:cNvPr id="10" name="Freeform 9"/>
          <p:cNvSpPr/>
          <p:nvPr/>
        </p:nvSpPr>
        <p:spPr>
          <a:xfrm>
            <a:off x="2763337" y="2045936"/>
            <a:ext cx="0" cy="0"/>
          </a:xfrm>
          <a:custGeom>
            <a:avLst/>
            <a:gdLst>
              <a:gd name="connsiteX0" fmla="*/ 0 w 0"/>
              <a:gd name="connsiteY0" fmla="*/ 0 h 0"/>
              <a:gd name="connsiteX1" fmla="*/ 0 w 0"/>
              <a:gd name="connsiteY1" fmla="*/ 0 h 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>
                <a:moveTo>
                  <a:pt x="0" y="0"/>
                </a:moveTo>
                <a:lnTo>
                  <a:pt x="0" y="0"/>
                </a:lnTo>
              </a:path>
            </a:pathLst>
          </a:custGeom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4200" b="0" i="0" u="none" strike="noStrike" cap="none" normalizeH="0" baseline="0">
              <a:ln>
                <a:noFill/>
              </a:ln>
              <a:solidFill>
                <a:srgbClr val="000000"/>
              </a:solidFill>
              <a:effectLst/>
              <a:latin typeface="Gill Sans" charset="0"/>
              <a:ea typeface="ヒラギノ角ゴ ProN W3" charset="0"/>
              <a:cs typeface="ヒラギノ角ゴ ProN W3" charset="0"/>
              <a:sym typeface="Gill Sans" charset="0"/>
            </a:endParaRPr>
          </a:p>
        </p:txBody>
      </p:sp>
      <p:sp>
        <p:nvSpPr>
          <p:cNvPr id="12334" name="Freeform 12333"/>
          <p:cNvSpPr/>
          <p:nvPr/>
        </p:nvSpPr>
        <p:spPr>
          <a:xfrm>
            <a:off x="2836065" y="2013521"/>
            <a:ext cx="1949847" cy="1302306"/>
          </a:xfrm>
          <a:custGeom>
            <a:avLst/>
            <a:gdLst>
              <a:gd name="connsiteX0" fmla="*/ 21343 w 1949847"/>
              <a:gd name="connsiteY0" fmla="*/ 20656 h 1302306"/>
              <a:gd name="connsiteX1" fmla="*/ 221244 w 1949847"/>
              <a:gd name="connsiteY1" fmla="*/ 32415 h 1302306"/>
              <a:gd name="connsiteX2" fmla="*/ 1608792 w 1949847"/>
              <a:gd name="connsiteY2" fmla="*/ 326371 h 1302306"/>
              <a:gd name="connsiteX3" fmla="*/ 1843970 w 1949847"/>
              <a:gd name="connsiteY3" fmla="*/ 949558 h 1302306"/>
              <a:gd name="connsiteX4" fmla="*/ 174209 w 1949847"/>
              <a:gd name="connsiteY4" fmla="*/ 1302306 h 13023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49847" h="1302306">
                <a:moveTo>
                  <a:pt x="21343" y="20656"/>
                </a:moveTo>
                <a:cubicBezTo>
                  <a:pt x="-10994" y="1059"/>
                  <a:pt x="-43331" y="-18538"/>
                  <a:pt x="221244" y="32415"/>
                </a:cubicBezTo>
                <a:cubicBezTo>
                  <a:pt x="485819" y="83368"/>
                  <a:pt x="1338338" y="173514"/>
                  <a:pt x="1608792" y="326371"/>
                </a:cubicBezTo>
                <a:cubicBezTo>
                  <a:pt x="1879246" y="479228"/>
                  <a:pt x="2083067" y="786902"/>
                  <a:pt x="1843970" y="949558"/>
                </a:cubicBezTo>
                <a:cubicBezTo>
                  <a:pt x="1604873" y="1112214"/>
                  <a:pt x="456422" y="1243515"/>
                  <a:pt x="174209" y="1302306"/>
                </a:cubicBezTo>
              </a:path>
            </a:pathLst>
          </a:custGeom>
          <a:ln w="38100" cmpd="sng">
            <a:solidFill>
              <a:srgbClr val="000000"/>
            </a:solidFill>
            <a:headEnd type="none"/>
            <a:tailEnd type="arrow"/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4200" b="0" i="0" u="none" strike="noStrike" cap="none" normalizeH="0" baseline="0">
              <a:ln>
                <a:noFill/>
              </a:ln>
              <a:solidFill>
                <a:srgbClr val="000000"/>
              </a:solidFill>
              <a:effectLst/>
              <a:latin typeface="Gill Sans" charset="0"/>
              <a:ea typeface="ヒラギノ角ゴ ProN W3" charset="0"/>
              <a:cs typeface="ヒラギノ角ゴ ProN W3" charset="0"/>
              <a:sym typeface="Gill Sans" charset="0"/>
            </a:endParaRPr>
          </a:p>
        </p:txBody>
      </p:sp>
      <p:sp>
        <p:nvSpPr>
          <p:cNvPr id="12335" name="TextBox 12334"/>
          <p:cNvSpPr txBox="1"/>
          <p:nvPr/>
        </p:nvSpPr>
        <p:spPr>
          <a:xfrm>
            <a:off x="4648200" y="1905000"/>
            <a:ext cx="39624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2000" dirty="0">
                <a:latin typeface="Arial"/>
                <a:cs typeface="Arial"/>
              </a:rPr>
              <a:t>Jump to f()</a:t>
            </a:r>
          </a:p>
          <a:p>
            <a:pPr algn="l"/>
            <a:r>
              <a:rPr lang="en-US" sz="2000" dirty="0">
                <a:latin typeface="Arial"/>
                <a:cs typeface="Arial"/>
              </a:rPr>
              <a:t>Remember where to come back</a:t>
            </a:r>
          </a:p>
        </p:txBody>
      </p:sp>
      <p:sp>
        <p:nvSpPr>
          <p:cNvPr id="80" name="Freeform 79"/>
          <p:cNvSpPr/>
          <p:nvPr/>
        </p:nvSpPr>
        <p:spPr>
          <a:xfrm>
            <a:off x="3124200" y="3657600"/>
            <a:ext cx="1949847" cy="1302306"/>
          </a:xfrm>
          <a:custGeom>
            <a:avLst/>
            <a:gdLst>
              <a:gd name="connsiteX0" fmla="*/ 21343 w 1949847"/>
              <a:gd name="connsiteY0" fmla="*/ 20656 h 1302306"/>
              <a:gd name="connsiteX1" fmla="*/ 221244 w 1949847"/>
              <a:gd name="connsiteY1" fmla="*/ 32415 h 1302306"/>
              <a:gd name="connsiteX2" fmla="*/ 1608792 w 1949847"/>
              <a:gd name="connsiteY2" fmla="*/ 326371 h 1302306"/>
              <a:gd name="connsiteX3" fmla="*/ 1843970 w 1949847"/>
              <a:gd name="connsiteY3" fmla="*/ 949558 h 1302306"/>
              <a:gd name="connsiteX4" fmla="*/ 174209 w 1949847"/>
              <a:gd name="connsiteY4" fmla="*/ 1302306 h 13023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49847" h="1302306">
                <a:moveTo>
                  <a:pt x="21343" y="20656"/>
                </a:moveTo>
                <a:cubicBezTo>
                  <a:pt x="-10994" y="1059"/>
                  <a:pt x="-43331" y="-18538"/>
                  <a:pt x="221244" y="32415"/>
                </a:cubicBezTo>
                <a:cubicBezTo>
                  <a:pt x="485819" y="83368"/>
                  <a:pt x="1338338" y="173514"/>
                  <a:pt x="1608792" y="326371"/>
                </a:cubicBezTo>
                <a:cubicBezTo>
                  <a:pt x="1879246" y="479228"/>
                  <a:pt x="2083067" y="786902"/>
                  <a:pt x="1843970" y="949558"/>
                </a:cubicBezTo>
                <a:cubicBezTo>
                  <a:pt x="1604873" y="1112214"/>
                  <a:pt x="456422" y="1243515"/>
                  <a:pt x="174209" y="1302306"/>
                </a:cubicBezTo>
              </a:path>
            </a:pathLst>
          </a:custGeom>
          <a:ln w="38100" cmpd="sng">
            <a:solidFill>
              <a:srgbClr val="000000"/>
            </a:solidFill>
            <a:headEnd type="none"/>
            <a:tailEnd type="arrow"/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4200" b="0" i="0" u="none" strike="noStrike" cap="none" normalizeH="0" baseline="0">
              <a:ln>
                <a:noFill/>
              </a:ln>
              <a:solidFill>
                <a:srgbClr val="000000"/>
              </a:solidFill>
              <a:effectLst/>
              <a:latin typeface="Gill Sans" charset="0"/>
              <a:ea typeface="ヒラギノ角ゴ ProN W3" charset="0"/>
              <a:cs typeface="ヒラギノ角ゴ ProN W3" charset="0"/>
              <a:sym typeface="Gill Sans" charset="0"/>
            </a:endParaRPr>
          </a:p>
        </p:txBody>
      </p:sp>
      <p:sp>
        <p:nvSpPr>
          <p:cNvPr id="82" name="Freeform 81"/>
          <p:cNvSpPr/>
          <p:nvPr/>
        </p:nvSpPr>
        <p:spPr>
          <a:xfrm>
            <a:off x="3200400" y="5181600"/>
            <a:ext cx="1949847" cy="1302306"/>
          </a:xfrm>
          <a:custGeom>
            <a:avLst/>
            <a:gdLst>
              <a:gd name="connsiteX0" fmla="*/ 21343 w 1949847"/>
              <a:gd name="connsiteY0" fmla="*/ 20656 h 1302306"/>
              <a:gd name="connsiteX1" fmla="*/ 221244 w 1949847"/>
              <a:gd name="connsiteY1" fmla="*/ 32415 h 1302306"/>
              <a:gd name="connsiteX2" fmla="*/ 1608792 w 1949847"/>
              <a:gd name="connsiteY2" fmla="*/ 326371 h 1302306"/>
              <a:gd name="connsiteX3" fmla="*/ 1843970 w 1949847"/>
              <a:gd name="connsiteY3" fmla="*/ 949558 h 1302306"/>
              <a:gd name="connsiteX4" fmla="*/ 174209 w 1949847"/>
              <a:gd name="connsiteY4" fmla="*/ 1302306 h 13023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49847" h="1302306">
                <a:moveTo>
                  <a:pt x="21343" y="20656"/>
                </a:moveTo>
                <a:cubicBezTo>
                  <a:pt x="-10994" y="1059"/>
                  <a:pt x="-43331" y="-18538"/>
                  <a:pt x="221244" y="32415"/>
                </a:cubicBezTo>
                <a:cubicBezTo>
                  <a:pt x="485819" y="83368"/>
                  <a:pt x="1338338" y="173514"/>
                  <a:pt x="1608792" y="326371"/>
                </a:cubicBezTo>
                <a:cubicBezTo>
                  <a:pt x="1879246" y="479228"/>
                  <a:pt x="2083067" y="786902"/>
                  <a:pt x="1843970" y="949558"/>
                </a:cubicBezTo>
                <a:cubicBezTo>
                  <a:pt x="1604873" y="1112214"/>
                  <a:pt x="456422" y="1243515"/>
                  <a:pt x="174209" y="1302306"/>
                </a:cubicBezTo>
              </a:path>
            </a:pathLst>
          </a:custGeom>
          <a:ln w="38100" cmpd="sng">
            <a:solidFill>
              <a:srgbClr val="000000"/>
            </a:solidFill>
            <a:headEnd type="none"/>
            <a:tailEnd type="arrow"/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4200" b="0" i="0" u="none" strike="noStrike" cap="none" normalizeH="0" baseline="0">
              <a:ln>
                <a:noFill/>
              </a:ln>
              <a:solidFill>
                <a:srgbClr val="000000"/>
              </a:solidFill>
              <a:effectLst/>
              <a:latin typeface="Gill Sans" charset="0"/>
              <a:ea typeface="ヒラギノ角ゴ ProN W3" charset="0"/>
              <a:cs typeface="ヒラギノ角ゴ ProN W3" charset="0"/>
              <a:sym typeface="Gill Sans" charset="0"/>
            </a:endParaRPr>
          </a:p>
        </p:txBody>
      </p:sp>
      <p:sp>
        <p:nvSpPr>
          <p:cNvPr id="85" name="TextBox 84"/>
          <p:cNvSpPr txBox="1"/>
          <p:nvPr/>
        </p:nvSpPr>
        <p:spPr>
          <a:xfrm>
            <a:off x="4572000" y="3581400"/>
            <a:ext cx="39624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2000" dirty="0">
                <a:latin typeface="Arial"/>
                <a:cs typeface="Arial"/>
              </a:rPr>
              <a:t>Jump to g()</a:t>
            </a:r>
          </a:p>
          <a:p>
            <a:pPr algn="l"/>
            <a:r>
              <a:rPr lang="en-US" sz="2000" dirty="0">
                <a:latin typeface="Arial"/>
                <a:cs typeface="Arial"/>
              </a:rPr>
              <a:t>Remember where to come back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724400" y="4982740"/>
            <a:ext cx="39624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2000" dirty="0">
                <a:latin typeface="Arial"/>
                <a:cs typeface="Arial"/>
              </a:rPr>
              <a:t>Jump to h()</a:t>
            </a:r>
          </a:p>
          <a:p>
            <a:pPr algn="l"/>
            <a:r>
              <a:rPr lang="en-US" sz="2000" dirty="0">
                <a:latin typeface="Arial"/>
                <a:cs typeface="Arial"/>
              </a:rPr>
              <a:t>Remember where to come back</a:t>
            </a:r>
          </a:p>
        </p:txBody>
      </p:sp>
      <p:sp>
        <p:nvSpPr>
          <p:cNvPr id="90" name="Rectangle 89"/>
          <p:cNvSpPr/>
          <p:nvPr/>
        </p:nvSpPr>
        <p:spPr bwMode="auto">
          <a:xfrm>
            <a:off x="8352197" y="3482457"/>
            <a:ext cx="457200" cy="381000"/>
          </a:xfrm>
          <a:prstGeom prst="rect">
            <a:avLst/>
          </a:prstGeom>
          <a:solidFill>
            <a:srgbClr val="FFFF00"/>
          </a:solidFill>
          <a:ln w="25400" cap="flat" cmpd="sng" algn="ctr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/>
                <a:ea typeface="ヒラギノ角ゴ ProN W3" charset="0"/>
                <a:cs typeface="Arial"/>
                <a:sym typeface="Gill Sans" charset="0"/>
              </a:rPr>
              <a:t>L2</a:t>
            </a:r>
          </a:p>
        </p:txBody>
      </p:sp>
      <p:sp>
        <p:nvSpPr>
          <p:cNvPr id="91" name="Rectangle 90"/>
          <p:cNvSpPr/>
          <p:nvPr/>
        </p:nvSpPr>
        <p:spPr bwMode="auto">
          <a:xfrm>
            <a:off x="8354477" y="3866967"/>
            <a:ext cx="457200" cy="381000"/>
          </a:xfrm>
          <a:prstGeom prst="rect">
            <a:avLst/>
          </a:prstGeom>
          <a:solidFill>
            <a:srgbClr val="FFFF00"/>
          </a:solidFill>
          <a:ln w="25400" cap="flat" cmpd="sng" algn="ctr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/>
                <a:ea typeface="ヒラギノ角ゴ ProN W3" charset="0"/>
                <a:cs typeface="Arial"/>
                <a:sym typeface="Gill Sans" charset="0"/>
              </a:rPr>
              <a:t>L1</a:t>
            </a:r>
          </a:p>
        </p:txBody>
      </p:sp>
      <p:sp>
        <p:nvSpPr>
          <p:cNvPr id="21" name="Rectangle 88"/>
          <p:cNvSpPr/>
          <p:nvPr/>
        </p:nvSpPr>
        <p:spPr bwMode="auto">
          <a:xfrm>
            <a:off x="8354477" y="3121197"/>
            <a:ext cx="457200" cy="381000"/>
          </a:xfrm>
          <a:prstGeom prst="rect">
            <a:avLst/>
          </a:prstGeom>
          <a:solidFill>
            <a:srgbClr val="FFFF00"/>
          </a:solidFill>
          <a:ln w="25400" cap="flat" cmpd="sng" algn="ctr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Gill Sans" charset="0"/>
                <a:ea typeface="ヒラギノ角ゴ ProN W3" charset="0"/>
                <a:cs typeface="ヒラギノ角ゴ ProN W3" charset="0"/>
                <a:sym typeface="Gill Sans" charset="0"/>
              </a:rPr>
              <a:t>L3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0DDA0E34-EB48-46A1-A36D-E295BF091986}"/>
                  </a:ext>
                </a:extLst>
              </p14:cNvPr>
              <p14:cNvContentPartPr/>
              <p14:nvPr/>
            </p14:nvContentPartPr>
            <p14:xfrm>
              <a:off x="1663485" y="6255553"/>
              <a:ext cx="6120" cy="360"/>
            </p14:xfrm>
          </p:contentPart>
        </mc:Choice>
        <mc:Fallback xmlns=""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0DDA0E34-EB48-46A1-A36D-E295BF091986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654485" y="6246913"/>
                <a:ext cx="23760" cy="180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20392268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Rectangle 2"/>
          <p:cNvSpPr>
            <a:spLocks/>
          </p:cNvSpPr>
          <p:nvPr/>
        </p:nvSpPr>
        <p:spPr bwMode="auto">
          <a:xfrm>
            <a:off x="8062913" y="22225"/>
            <a:ext cx="1320800" cy="177800"/>
          </a:xfrm>
          <a:prstGeom prst="rect">
            <a:avLst/>
          </a:prstGeom>
          <a:noFill/>
          <a:ln w="25400" cap="flat">
            <a:noFill/>
            <a:miter lim="800000"/>
            <a:headEnd type="none" w="med" len="med"/>
            <a:tailEnd type="none" w="med" len="med"/>
          </a:ln>
        </p:spPr>
        <p:txBody>
          <a:bodyPr lIns="0" tIns="0" rIns="0" bIns="0"/>
          <a:lstStyle/>
          <a:p>
            <a:pPr algn="l"/>
            <a:r>
              <a:rPr lang="en-US" sz="1200">
                <a:solidFill>
                  <a:srgbClr val="FFFFFF"/>
                </a:solidFill>
                <a:ea typeface="Gill Sans" charset="0"/>
                <a:cs typeface="Gill Sans" charset="0"/>
              </a:rPr>
              <a:t>Carnegie Mellon</a:t>
            </a:r>
          </a:p>
        </p:txBody>
      </p:sp>
      <p:sp>
        <p:nvSpPr>
          <p:cNvPr id="12291" name="Rectangle 3"/>
          <p:cNvSpPr>
            <a:spLocks noGrp="1" noChangeArrowheads="1"/>
          </p:cNvSpPr>
          <p:nvPr>
            <p:ph type="title"/>
          </p:nvPr>
        </p:nvSpPr>
        <p:spPr>
          <a:xfrm>
            <a:off x="381000" y="254000"/>
            <a:ext cx="8610600" cy="1143000"/>
          </a:xfrm>
          <a:ln/>
        </p:spPr>
        <p:txBody>
          <a:bodyPr>
            <a:normAutofit fontScale="90000"/>
          </a:bodyPr>
          <a:lstStyle/>
          <a:p>
            <a:pPr marL="119063" indent="-119063"/>
            <a:r>
              <a:rPr lang="en-US" dirty="0"/>
              <a:t>How to transfer control for procedure calls?</a:t>
            </a:r>
          </a:p>
        </p:txBody>
      </p:sp>
      <p:sp>
        <p:nvSpPr>
          <p:cNvPr id="7" name="Rectangle 4"/>
          <p:cNvSpPr>
            <a:spLocks/>
          </p:cNvSpPr>
          <p:nvPr/>
        </p:nvSpPr>
        <p:spPr bwMode="auto">
          <a:xfrm>
            <a:off x="1447800" y="1295400"/>
            <a:ext cx="1841500" cy="1371600"/>
          </a:xfrm>
          <a:prstGeom prst="rect">
            <a:avLst/>
          </a:prstGeom>
          <a:solidFill>
            <a:srgbClr val="F6F5BD"/>
          </a:solidFill>
          <a:ln w="12700" cap="flat">
            <a:solidFill>
              <a:schemeClr val="tx1"/>
            </a:solidFill>
            <a:prstDash val="solid"/>
            <a:miter lim="800000"/>
            <a:headEnd type="none" w="med" len="med"/>
            <a:tailEnd type="none" w="med" len="med"/>
          </a:ln>
          <a:effectLst>
            <a:outerShdw dist="76199" dir="2700000" algn="ctr" rotWithShape="0">
              <a:schemeClr val="bg2">
                <a:alpha val="75000"/>
              </a:schemeClr>
            </a:outerShdw>
          </a:effectLst>
        </p:spPr>
        <p:txBody>
          <a:bodyPr lIns="38100" tIns="38100" rIns="38100" bIns="38100"/>
          <a:lstStyle/>
          <a:p>
            <a:pPr algn="l"/>
            <a:r>
              <a:rPr lang="en-US" sz="1800" dirty="0">
                <a:solidFill>
                  <a:schemeClr val="tx1"/>
                </a:solidFill>
                <a:latin typeface="Consolas"/>
                <a:cs typeface="Consolas"/>
                <a:sym typeface="Courier New Bold" charset="0"/>
              </a:rPr>
              <a:t>void main(){</a:t>
            </a:r>
          </a:p>
          <a:p>
            <a:pPr algn="l"/>
            <a:r>
              <a:rPr lang="en-US" sz="1800" dirty="0">
                <a:solidFill>
                  <a:schemeClr val="tx1"/>
                </a:solidFill>
                <a:latin typeface="Consolas"/>
                <a:cs typeface="Consolas"/>
                <a:sym typeface="Courier New Bold" charset="0"/>
              </a:rPr>
              <a:t>    ..</a:t>
            </a:r>
          </a:p>
          <a:p>
            <a:pPr algn="l"/>
            <a:r>
              <a:rPr lang="en-US" sz="1800" dirty="0">
                <a:solidFill>
                  <a:schemeClr val="tx1"/>
                </a:solidFill>
                <a:latin typeface="Consolas"/>
                <a:cs typeface="Consolas"/>
                <a:sym typeface="Courier New Bold" charset="0"/>
              </a:rPr>
              <a:t>    f(..)</a:t>
            </a:r>
          </a:p>
          <a:p>
            <a:pPr algn="l"/>
            <a:r>
              <a:rPr lang="en-US" sz="1800" dirty="0">
                <a:solidFill>
                  <a:schemeClr val="tx1"/>
                </a:solidFill>
                <a:latin typeface="Consolas"/>
                <a:cs typeface="Consolas"/>
                <a:sym typeface="Courier New Bold" charset="0"/>
              </a:rPr>
              <a:t>L1: ..</a:t>
            </a:r>
          </a:p>
          <a:p>
            <a:pPr algn="l"/>
            <a:r>
              <a:rPr lang="en-US" sz="1800" dirty="0">
                <a:solidFill>
                  <a:schemeClr val="tx1"/>
                </a:solidFill>
                <a:latin typeface="Consolas"/>
                <a:cs typeface="Consolas"/>
                <a:sym typeface="Courier New Bold" charset="0"/>
              </a:rPr>
              <a:t>} </a:t>
            </a:r>
          </a:p>
        </p:txBody>
      </p:sp>
      <p:sp>
        <p:nvSpPr>
          <p:cNvPr id="8" name="Rectangle 4"/>
          <p:cNvSpPr>
            <a:spLocks/>
          </p:cNvSpPr>
          <p:nvPr/>
        </p:nvSpPr>
        <p:spPr bwMode="auto">
          <a:xfrm>
            <a:off x="1447800" y="2819400"/>
            <a:ext cx="1841500" cy="1371600"/>
          </a:xfrm>
          <a:prstGeom prst="rect">
            <a:avLst/>
          </a:prstGeom>
          <a:solidFill>
            <a:srgbClr val="F6F5BD"/>
          </a:solidFill>
          <a:ln w="12700" cap="flat">
            <a:solidFill>
              <a:schemeClr val="tx1"/>
            </a:solidFill>
            <a:prstDash val="solid"/>
            <a:miter lim="800000"/>
            <a:headEnd type="none" w="med" len="med"/>
            <a:tailEnd type="none" w="med" len="med"/>
          </a:ln>
          <a:effectLst>
            <a:outerShdw dist="76199" dir="2700000" algn="ctr" rotWithShape="0">
              <a:schemeClr val="bg2">
                <a:alpha val="75000"/>
              </a:schemeClr>
            </a:outerShdw>
          </a:effectLst>
        </p:spPr>
        <p:txBody>
          <a:bodyPr lIns="38100" tIns="38100" rIns="38100" bIns="38100"/>
          <a:lstStyle/>
          <a:p>
            <a:pPr algn="l"/>
            <a:r>
              <a:rPr lang="en-US" sz="1800" dirty="0">
                <a:solidFill>
                  <a:schemeClr val="tx1"/>
                </a:solidFill>
                <a:latin typeface="Consolas"/>
                <a:cs typeface="Consolas"/>
                <a:sym typeface="Courier New Bold" charset="0"/>
              </a:rPr>
              <a:t>void f(){</a:t>
            </a:r>
          </a:p>
          <a:p>
            <a:pPr algn="l"/>
            <a:r>
              <a:rPr lang="en-US" sz="1800" dirty="0">
                <a:solidFill>
                  <a:schemeClr val="tx1"/>
                </a:solidFill>
                <a:latin typeface="Consolas"/>
                <a:cs typeface="Consolas"/>
                <a:sym typeface="Courier New Bold" charset="0"/>
              </a:rPr>
              <a:t>    ..</a:t>
            </a:r>
          </a:p>
          <a:p>
            <a:pPr algn="l"/>
            <a:r>
              <a:rPr lang="en-US" sz="1800" dirty="0">
                <a:solidFill>
                  <a:schemeClr val="tx1"/>
                </a:solidFill>
                <a:latin typeface="Consolas"/>
                <a:cs typeface="Consolas"/>
                <a:sym typeface="Courier New Bold" charset="0"/>
              </a:rPr>
              <a:t>    g(..)</a:t>
            </a:r>
          </a:p>
          <a:p>
            <a:pPr algn="l"/>
            <a:r>
              <a:rPr lang="en-US" sz="1800" dirty="0">
                <a:solidFill>
                  <a:schemeClr val="tx1"/>
                </a:solidFill>
                <a:latin typeface="Consolas"/>
                <a:cs typeface="Consolas"/>
                <a:sym typeface="Courier New Bold" charset="0"/>
              </a:rPr>
              <a:t>L2: ..</a:t>
            </a:r>
          </a:p>
          <a:p>
            <a:pPr algn="l"/>
            <a:r>
              <a:rPr lang="en-US" sz="1800" dirty="0">
                <a:solidFill>
                  <a:schemeClr val="tx1"/>
                </a:solidFill>
                <a:latin typeface="Consolas"/>
                <a:cs typeface="Consolas"/>
                <a:sym typeface="Courier New Bold" charset="0"/>
              </a:rPr>
              <a:t>} </a:t>
            </a:r>
          </a:p>
        </p:txBody>
      </p:sp>
      <p:sp>
        <p:nvSpPr>
          <p:cNvPr id="9" name="Rectangle 4"/>
          <p:cNvSpPr>
            <a:spLocks/>
          </p:cNvSpPr>
          <p:nvPr/>
        </p:nvSpPr>
        <p:spPr bwMode="auto">
          <a:xfrm>
            <a:off x="1447800" y="4419600"/>
            <a:ext cx="1841500" cy="1371600"/>
          </a:xfrm>
          <a:prstGeom prst="rect">
            <a:avLst/>
          </a:prstGeom>
          <a:solidFill>
            <a:srgbClr val="F6F5BD"/>
          </a:solidFill>
          <a:ln w="12700" cap="flat">
            <a:solidFill>
              <a:schemeClr val="tx1"/>
            </a:solidFill>
            <a:prstDash val="solid"/>
            <a:miter lim="800000"/>
            <a:headEnd type="none" w="med" len="med"/>
            <a:tailEnd type="none" w="med" len="med"/>
          </a:ln>
          <a:effectLst>
            <a:outerShdw dist="76199" dir="2700000" algn="ctr" rotWithShape="0">
              <a:schemeClr val="bg2">
                <a:alpha val="75000"/>
              </a:schemeClr>
            </a:outerShdw>
          </a:effectLst>
        </p:spPr>
        <p:txBody>
          <a:bodyPr lIns="38100" tIns="38100" rIns="38100" bIns="38100"/>
          <a:lstStyle/>
          <a:p>
            <a:pPr algn="l"/>
            <a:r>
              <a:rPr lang="en-US" sz="1800" dirty="0">
                <a:solidFill>
                  <a:schemeClr val="tx1"/>
                </a:solidFill>
                <a:latin typeface="Consolas"/>
                <a:cs typeface="Consolas"/>
                <a:sym typeface="Courier New Bold" charset="0"/>
              </a:rPr>
              <a:t>void g(){</a:t>
            </a:r>
          </a:p>
          <a:p>
            <a:pPr algn="l"/>
            <a:r>
              <a:rPr lang="en-US" sz="1800" dirty="0">
                <a:solidFill>
                  <a:schemeClr val="tx1"/>
                </a:solidFill>
                <a:latin typeface="Consolas"/>
                <a:cs typeface="Consolas"/>
                <a:sym typeface="Courier New Bold" charset="0"/>
              </a:rPr>
              <a:t>    ..</a:t>
            </a:r>
          </a:p>
          <a:p>
            <a:pPr algn="l"/>
            <a:r>
              <a:rPr lang="en-US" sz="1800" dirty="0">
                <a:solidFill>
                  <a:schemeClr val="tx1"/>
                </a:solidFill>
                <a:latin typeface="Consolas"/>
                <a:cs typeface="Consolas"/>
                <a:sym typeface="Courier New Bold" charset="0"/>
              </a:rPr>
              <a:t>    h(..)</a:t>
            </a:r>
          </a:p>
          <a:p>
            <a:pPr algn="l"/>
            <a:r>
              <a:rPr lang="en-US" sz="1800" dirty="0">
                <a:solidFill>
                  <a:schemeClr val="tx1"/>
                </a:solidFill>
                <a:latin typeface="Consolas"/>
                <a:cs typeface="Consolas"/>
                <a:sym typeface="Courier New Bold" charset="0"/>
              </a:rPr>
              <a:t>L3: ..</a:t>
            </a:r>
          </a:p>
          <a:p>
            <a:pPr algn="l"/>
            <a:r>
              <a:rPr lang="en-US" sz="1800" dirty="0">
                <a:solidFill>
                  <a:schemeClr val="tx1"/>
                </a:solidFill>
                <a:latin typeface="Consolas"/>
                <a:cs typeface="Consolas"/>
                <a:sym typeface="Courier New Bold" charset="0"/>
              </a:rPr>
              <a:t>} </a:t>
            </a:r>
          </a:p>
        </p:txBody>
      </p:sp>
      <p:sp>
        <p:nvSpPr>
          <p:cNvPr id="10" name="Freeform 9"/>
          <p:cNvSpPr/>
          <p:nvPr/>
        </p:nvSpPr>
        <p:spPr>
          <a:xfrm>
            <a:off x="2763337" y="2045936"/>
            <a:ext cx="0" cy="0"/>
          </a:xfrm>
          <a:custGeom>
            <a:avLst/>
            <a:gdLst>
              <a:gd name="connsiteX0" fmla="*/ 0 w 0"/>
              <a:gd name="connsiteY0" fmla="*/ 0 h 0"/>
              <a:gd name="connsiteX1" fmla="*/ 0 w 0"/>
              <a:gd name="connsiteY1" fmla="*/ 0 h 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>
                <a:moveTo>
                  <a:pt x="0" y="0"/>
                </a:moveTo>
                <a:lnTo>
                  <a:pt x="0" y="0"/>
                </a:lnTo>
              </a:path>
            </a:pathLst>
          </a:custGeom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4200" b="0" i="0" u="none" strike="noStrike" cap="none" normalizeH="0" baseline="0">
              <a:ln>
                <a:noFill/>
              </a:ln>
              <a:solidFill>
                <a:srgbClr val="000000"/>
              </a:solidFill>
              <a:effectLst/>
              <a:latin typeface="Gill Sans" charset="0"/>
              <a:ea typeface="ヒラギノ角ゴ ProN W3" charset="0"/>
              <a:cs typeface="ヒラギノ角ゴ ProN W3" charset="0"/>
              <a:sym typeface="Gill Sans" charset="0"/>
            </a:endParaRPr>
          </a:p>
        </p:txBody>
      </p:sp>
      <p:sp>
        <p:nvSpPr>
          <p:cNvPr id="12334" name="Freeform 12333"/>
          <p:cNvSpPr/>
          <p:nvPr/>
        </p:nvSpPr>
        <p:spPr>
          <a:xfrm>
            <a:off x="2836065" y="2013521"/>
            <a:ext cx="1949847" cy="1302306"/>
          </a:xfrm>
          <a:custGeom>
            <a:avLst/>
            <a:gdLst>
              <a:gd name="connsiteX0" fmla="*/ 21343 w 1949847"/>
              <a:gd name="connsiteY0" fmla="*/ 20656 h 1302306"/>
              <a:gd name="connsiteX1" fmla="*/ 221244 w 1949847"/>
              <a:gd name="connsiteY1" fmla="*/ 32415 h 1302306"/>
              <a:gd name="connsiteX2" fmla="*/ 1608792 w 1949847"/>
              <a:gd name="connsiteY2" fmla="*/ 326371 h 1302306"/>
              <a:gd name="connsiteX3" fmla="*/ 1843970 w 1949847"/>
              <a:gd name="connsiteY3" fmla="*/ 949558 h 1302306"/>
              <a:gd name="connsiteX4" fmla="*/ 174209 w 1949847"/>
              <a:gd name="connsiteY4" fmla="*/ 1302306 h 13023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49847" h="1302306">
                <a:moveTo>
                  <a:pt x="21343" y="20656"/>
                </a:moveTo>
                <a:cubicBezTo>
                  <a:pt x="-10994" y="1059"/>
                  <a:pt x="-43331" y="-18538"/>
                  <a:pt x="221244" y="32415"/>
                </a:cubicBezTo>
                <a:cubicBezTo>
                  <a:pt x="485819" y="83368"/>
                  <a:pt x="1338338" y="173514"/>
                  <a:pt x="1608792" y="326371"/>
                </a:cubicBezTo>
                <a:cubicBezTo>
                  <a:pt x="1879246" y="479228"/>
                  <a:pt x="2083067" y="786902"/>
                  <a:pt x="1843970" y="949558"/>
                </a:cubicBezTo>
                <a:cubicBezTo>
                  <a:pt x="1604873" y="1112214"/>
                  <a:pt x="456422" y="1243515"/>
                  <a:pt x="174209" y="1302306"/>
                </a:cubicBezTo>
              </a:path>
            </a:pathLst>
          </a:custGeom>
          <a:ln w="38100" cmpd="sng">
            <a:solidFill>
              <a:srgbClr val="000000"/>
            </a:solidFill>
            <a:headEnd type="none"/>
            <a:tailEnd type="arrow"/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4200" b="0" i="0" u="none" strike="noStrike" cap="none" normalizeH="0" baseline="0">
              <a:ln>
                <a:noFill/>
              </a:ln>
              <a:solidFill>
                <a:srgbClr val="000000"/>
              </a:solidFill>
              <a:effectLst/>
              <a:latin typeface="Gill Sans" charset="0"/>
              <a:ea typeface="ヒラギノ角ゴ ProN W3" charset="0"/>
              <a:cs typeface="ヒラギノ角ゴ ProN W3" charset="0"/>
              <a:sym typeface="Gill Sans" charset="0"/>
            </a:endParaRPr>
          </a:p>
        </p:txBody>
      </p:sp>
      <p:sp>
        <p:nvSpPr>
          <p:cNvPr id="12335" name="TextBox 12334"/>
          <p:cNvSpPr txBox="1"/>
          <p:nvPr/>
        </p:nvSpPr>
        <p:spPr>
          <a:xfrm>
            <a:off x="4648200" y="1905000"/>
            <a:ext cx="39624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2000" dirty="0">
                <a:latin typeface="Arial"/>
                <a:cs typeface="Arial"/>
              </a:rPr>
              <a:t>Jump to f()</a:t>
            </a:r>
          </a:p>
          <a:p>
            <a:pPr algn="l"/>
            <a:r>
              <a:rPr lang="en-US" sz="2000" dirty="0">
                <a:latin typeface="Arial"/>
                <a:cs typeface="Arial"/>
              </a:rPr>
              <a:t>Remember where to come back</a:t>
            </a:r>
          </a:p>
        </p:txBody>
      </p:sp>
      <p:sp>
        <p:nvSpPr>
          <p:cNvPr id="80" name="Freeform 79"/>
          <p:cNvSpPr/>
          <p:nvPr/>
        </p:nvSpPr>
        <p:spPr>
          <a:xfrm>
            <a:off x="3124200" y="3657600"/>
            <a:ext cx="1949847" cy="1302306"/>
          </a:xfrm>
          <a:custGeom>
            <a:avLst/>
            <a:gdLst>
              <a:gd name="connsiteX0" fmla="*/ 21343 w 1949847"/>
              <a:gd name="connsiteY0" fmla="*/ 20656 h 1302306"/>
              <a:gd name="connsiteX1" fmla="*/ 221244 w 1949847"/>
              <a:gd name="connsiteY1" fmla="*/ 32415 h 1302306"/>
              <a:gd name="connsiteX2" fmla="*/ 1608792 w 1949847"/>
              <a:gd name="connsiteY2" fmla="*/ 326371 h 1302306"/>
              <a:gd name="connsiteX3" fmla="*/ 1843970 w 1949847"/>
              <a:gd name="connsiteY3" fmla="*/ 949558 h 1302306"/>
              <a:gd name="connsiteX4" fmla="*/ 174209 w 1949847"/>
              <a:gd name="connsiteY4" fmla="*/ 1302306 h 13023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49847" h="1302306">
                <a:moveTo>
                  <a:pt x="21343" y="20656"/>
                </a:moveTo>
                <a:cubicBezTo>
                  <a:pt x="-10994" y="1059"/>
                  <a:pt x="-43331" y="-18538"/>
                  <a:pt x="221244" y="32415"/>
                </a:cubicBezTo>
                <a:cubicBezTo>
                  <a:pt x="485819" y="83368"/>
                  <a:pt x="1338338" y="173514"/>
                  <a:pt x="1608792" y="326371"/>
                </a:cubicBezTo>
                <a:cubicBezTo>
                  <a:pt x="1879246" y="479228"/>
                  <a:pt x="2083067" y="786902"/>
                  <a:pt x="1843970" y="949558"/>
                </a:cubicBezTo>
                <a:cubicBezTo>
                  <a:pt x="1604873" y="1112214"/>
                  <a:pt x="456422" y="1243515"/>
                  <a:pt x="174209" y="1302306"/>
                </a:cubicBezTo>
              </a:path>
            </a:pathLst>
          </a:custGeom>
          <a:ln w="38100" cmpd="sng">
            <a:solidFill>
              <a:srgbClr val="000000"/>
            </a:solidFill>
            <a:headEnd type="none"/>
            <a:tailEnd type="arrow"/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4200" b="0" i="0" u="none" strike="noStrike" cap="none" normalizeH="0" baseline="0">
              <a:ln>
                <a:noFill/>
              </a:ln>
              <a:solidFill>
                <a:srgbClr val="000000"/>
              </a:solidFill>
              <a:effectLst/>
              <a:latin typeface="Gill Sans" charset="0"/>
              <a:ea typeface="ヒラギノ角ゴ ProN W3" charset="0"/>
              <a:cs typeface="ヒラギノ角ゴ ProN W3" charset="0"/>
              <a:sym typeface="Gill Sans" charset="0"/>
            </a:endParaRPr>
          </a:p>
        </p:txBody>
      </p:sp>
      <p:sp>
        <p:nvSpPr>
          <p:cNvPr id="82" name="Freeform 81"/>
          <p:cNvSpPr/>
          <p:nvPr/>
        </p:nvSpPr>
        <p:spPr>
          <a:xfrm>
            <a:off x="3200400" y="5181600"/>
            <a:ext cx="1949847" cy="1302306"/>
          </a:xfrm>
          <a:custGeom>
            <a:avLst/>
            <a:gdLst>
              <a:gd name="connsiteX0" fmla="*/ 21343 w 1949847"/>
              <a:gd name="connsiteY0" fmla="*/ 20656 h 1302306"/>
              <a:gd name="connsiteX1" fmla="*/ 221244 w 1949847"/>
              <a:gd name="connsiteY1" fmla="*/ 32415 h 1302306"/>
              <a:gd name="connsiteX2" fmla="*/ 1608792 w 1949847"/>
              <a:gd name="connsiteY2" fmla="*/ 326371 h 1302306"/>
              <a:gd name="connsiteX3" fmla="*/ 1843970 w 1949847"/>
              <a:gd name="connsiteY3" fmla="*/ 949558 h 1302306"/>
              <a:gd name="connsiteX4" fmla="*/ 174209 w 1949847"/>
              <a:gd name="connsiteY4" fmla="*/ 1302306 h 13023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49847" h="1302306">
                <a:moveTo>
                  <a:pt x="21343" y="20656"/>
                </a:moveTo>
                <a:cubicBezTo>
                  <a:pt x="-10994" y="1059"/>
                  <a:pt x="-43331" y="-18538"/>
                  <a:pt x="221244" y="32415"/>
                </a:cubicBezTo>
                <a:cubicBezTo>
                  <a:pt x="485819" y="83368"/>
                  <a:pt x="1338338" y="173514"/>
                  <a:pt x="1608792" y="326371"/>
                </a:cubicBezTo>
                <a:cubicBezTo>
                  <a:pt x="1879246" y="479228"/>
                  <a:pt x="2083067" y="786902"/>
                  <a:pt x="1843970" y="949558"/>
                </a:cubicBezTo>
                <a:cubicBezTo>
                  <a:pt x="1604873" y="1112214"/>
                  <a:pt x="456422" y="1243515"/>
                  <a:pt x="174209" y="1302306"/>
                </a:cubicBezTo>
              </a:path>
            </a:pathLst>
          </a:custGeom>
          <a:ln w="38100" cmpd="sng">
            <a:solidFill>
              <a:srgbClr val="FF0000"/>
            </a:solidFill>
            <a:headEnd type="arrow"/>
            <a:tailEnd type="none"/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4200" b="0" i="0" u="none" strike="noStrike" cap="none" normalizeH="0" baseline="0">
              <a:ln>
                <a:noFill/>
              </a:ln>
              <a:solidFill>
                <a:srgbClr val="000000"/>
              </a:solidFill>
              <a:effectLst/>
              <a:latin typeface="Gill Sans" charset="0"/>
              <a:ea typeface="ヒラギノ角ゴ ProN W3" charset="0"/>
              <a:cs typeface="ヒラギノ角ゴ ProN W3" charset="0"/>
              <a:sym typeface="Gill Sans" charset="0"/>
            </a:endParaRPr>
          </a:p>
        </p:txBody>
      </p:sp>
      <p:sp>
        <p:nvSpPr>
          <p:cNvPr id="85" name="TextBox 84"/>
          <p:cNvSpPr txBox="1"/>
          <p:nvPr/>
        </p:nvSpPr>
        <p:spPr>
          <a:xfrm>
            <a:off x="4572000" y="3581400"/>
            <a:ext cx="39624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2000" dirty="0">
                <a:latin typeface="Arial"/>
                <a:cs typeface="Arial"/>
              </a:rPr>
              <a:t>Jump to g()</a:t>
            </a:r>
          </a:p>
          <a:p>
            <a:pPr algn="l"/>
            <a:r>
              <a:rPr lang="en-US" sz="2000" dirty="0">
                <a:latin typeface="Arial"/>
                <a:cs typeface="Arial"/>
              </a:rPr>
              <a:t>Remember where to come back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724400" y="4982740"/>
            <a:ext cx="39624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2000" dirty="0">
                <a:latin typeface="Arial"/>
                <a:cs typeface="Arial"/>
              </a:rPr>
              <a:t>Jump to L3</a:t>
            </a:r>
          </a:p>
          <a:p>
            <a:pPr algn="l"/>
            <a:r>
              <a:rPr lang="en-US" sz="2000" dirty="0">
                <a:latin typeface="Arial"/>
                <a:cs typeface="Arial"/>
              </a:rPr>
              <a:t>Forget L3</a:t>
            </a:r>
          </a:p>
        </p:txBody>
      </p:sp>
      <p:sp>
        <p:nvSpPr>
          <p:cNvPr id="90" name="Rectangle 89"/>
          <p:cNvSpPr/>
          <p:nvPr/>
        </p:nvSpPr>
        <p:spPr bwMode="auto">
          <a:xfrm>
            <a:off x="8352197" y="3482457"/>
            <a:ext cx="457200" cy="381000"/>
          </a:xfrm>
          <a:prstGeom prst="rect">
            <a:avLst/>
          </a:prstGeom>
          <a:solidFill>
            <a:srgbClr val="FFFF00"/>
          </a:solidFill>
          <a:ln w="25400" cap="flat" cmpd="sng" algn="ctr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/>
                <a:ea typeface="ヒラギノ角ゴ ProN W3" charset="0"/>
                <a:cs typeface="Arial"/>
                <a:sym typeface="Gill Sans" charset="0"/>
              </a:rPr>
              <a:t>L2</a:t>
            </a:r>
          </a:p>
        </p:txBody>
      </p:sp>
      <p:sp>
        <p:nvSpPr>
          <p:cNvPr id="91" name="Rectangle 90"/>
          <p:cNvSpPr/>
          <p:nvPr/>
        </p:nvSpPr>
        <p:spPr bwMode="auto">
          <a:xfrm>
            <a:off x="8354477" y="3866967"/>
            <a:ext cx="457200" cy="381000"/>
          </a:xfrm>
          <a:prstGeom prst="rect">
            <a:avLst/>
          </a:prstGeom>
          <a:solidFill>
            <a:srgbClr val="FFFF00"/>
          </a:solidFill>
          <a:ln w="25400" cap="flat" cmpd="sng" algn="ctr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/>
                <a:ea typeface="ヒラギノ角ゴ ProN W3" charset="0"/>
                <a:cs typeface="Arial"/>
                <a:sym typeface="Gill Sans" charset="0"/>
              </a:rPr>
              <a:t>L1</a:t>
            </a:r>
          </a:p>
        </p:txBody>
      </p:sp>
      <p:sp>
        <p:nvSpPr>
          <p:cNvPr id="21" name="Rectangle 88"/>
          <p:cNvSpPr/>
          <p:nvPr/>
        </p:nvSpPr>
        <p:spPr bwMode="auto">
          <a:xfrm>
            <a:off x="8354477" y="3121197"/>
            <a:ext cx="457200" cy="381000"/>
          </a:xfrm>
          <a:prstGeom prst="rect">
            <a:avLst/>
          </a:prstGeom>
          <a:solidFill>
            <a:srgbClr val="FFFF00"/>
          </a:solidFill>
          <a:ln w="25400" cap="flat" cmpd="sng" algn="ctr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Gill Sans" charset="0"/>
                <a:ea typeface="ヒラギノ角ゴ ProN W3" charset="0"/>
                <a:cs typeface="ヒラギノ角ゴ ProN W3" charset="0"/>
                <a:sym typeface="Gill Sans" charset="0"/>
              </a:rPr>
              <a:t>L3</a:t>
            </a:r>
          </a:p>
        </p:txBody>
      </p:sp>
      <p:cxnSp>
        <p:nvCxnSpPr>
          <p:cNvPr id="17" name="Straight Connector 2"/>
          <p:cNvCxnSpPr/>
          <p:nvPr/>
        </p:nvCxnSpPr>
        <p:spPr bwMode="auto">
          <a:xfrm flipV="1">
            <a:off x="8153400" y="3201527"/>
            <a:ext cx="838200" cy="228600"/>
          </a:xfrm>
          <a:prstGeom prst="line">
            <a:avLst/>
          </a:prstGeom>
          <a:solidFill>
            <a:schemeClr val="accent1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</p:spTree>
    <p:extLst>
      <p:ext uri="{BB962C8B-B14F-4D97-AF65-F5344CB8AC3E}">
        <p14:creationId xmlns:p14="http://schemas.microsoft.com/office/powerpoint/2010/main" val="404656445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Rectangle 2"/>
          <p:cNvSpPr>
            <a:spLocks/>
          </p:cNvSpPr>
          <p:nvPr/>
        </p:nvSpPr>
        <p:spPr bwMode="auto">
          <a:xfrm>
            <a:off x="8062913" y="22225"/>
            <a:ext cx="1320800" cy="177800"/>
          </a:xfrm>
          <a:prstGeom prst="rect">
            <a:avLst/>
          </a:prstGeom>
          <a:noFill/>
          <a:ln w="25400" cap="flat">
            <a:noFill/>
            <a:miter lim="800000"/>
            <a:headEnd type="none" w="med" len="med"/>
            <a:tailEnd type="none" w="med" len="med"/>
          </a:ln>
        </p:spPr>
        <p:txBody>
          <a:bodyPr lIns="0" tIns="0" rIns="0" bIns="0"/>
          <a:lstStyle/>
          <a:p>
            <a:pPr algn="l"/>
            <a:r>
              <a:rPr lang="en-US" sz="1200">
                <a:solidFill>
                  <a:srgbClr val="FFFFFF"/>
                </a:solidFill>
                <a:ea typeface="Gill Sans" charset="0"/>
                <a:cs typeface="Gill Sans" charset="0"/>
              </a:rPr>
              <a:t>Carnegie Mellon</a:t>
            </a:r>
          </a:p>
        </p:txBody>
      </p:sp>
      <p:sp>
        <p:nvSpPr>
          <p:cNvPr id="12291" name="Rectangle 3"/>
          <p:cNvSpPr>
            <a:spLocks noGrp="1" noChangeArrowheads="1"/>
          </p:cNvSpPr>
          <p:nvPr>
            <p:ph type="title"/>
          </p:nvPr>
        </p:nvSpPr>
        <p:spPr>
          <a:xfrm>
            <a:off x="381000" y="254000"/>
            <a:ext cx="8610600" cy="1143000"/>
          </a:xfrm>
          <a:ln/>
        </p:spPr>
        <p:txBody>
          <a:bodyPr>
            <a:normAutofit fontScale="90000"/>
          </a:bodyPr>
          <a:lstStyle/>
          <a:p>
            <a:pPr marL="119063" indent="-119063"/>
            <a:r>
              <a:rPr lang="en-US" dirty="0"/>
              <a:t>How to transfer control for procedure calls?</a:t>
            </a:r>
          </a:p>
        </p:txBody>
      </p:sp>
      <p:sp>
        <p:nvSpPr>
          <p:cNvPr id="7" name="Rectangle 4"/>
          <p:cNvSpPr>
            <a:spLocks/>
          </p:cNvSpPr>
          <p:nvPr/>
        </p:nvSpPr>
        <p:spPr bwMode="auto">
          <a:xfrm>
            <a:off x="1447800" y="1295400"/>
            <a:ext cx="1841500" cy="1371600"/>
          </a:xfrm>
          <a:prstGeom prst="rect">
            <a:avLst/>
          </a:prstGeom>
          <a:solidFill>
            <a:srgbClr val="F6F5BD"/>
          </a:solidFill>
          <a:ln w="12700" cap="flat">
            <a:solidFill>
              <a:schemeClr val="tx1"/>
            </a:solidFill>
            <a:prstDash val="solid"/>
            <a:miter lim="800000"/>
            <a:headEnd type="none" w="med" len="med"/>
            <a:tailEnd type="none" w="med" len="med"/>
          </a:ln>
          <a:effectLst>
            <a:outerShdw dist="76199" dir="2700000" algn="ctr" rotWithShape="0">
              <a:schemeClr val="bg2">
                <a:alpha val="75000"/>
              </a:schemeClr>
            </a:outerShdw>
          </a:effectLst>
        </p:spPr>
        <p:txBody>
          <a:bodyPr lIns="38100" tIns="38100" rIns="38100" bIns="38100"/>
          <a:lstStyle/>
          <a:p>
            <a:pPr algn="l"/>
            <a:r>
              <a:rPr lang="en-US" sz="1800" dirty="0">
                <a:solidFill>
                  <a:schemeClr val="tx1"/>
                </a:solidFill>
                <a:latin typeface="Consolas"/>
                <a:cs typeface="Consolas"/>
                <a:sym typeface="Courier New Bold" charset="0"/>
              </a:rPr>
              <a:t>void main(){</a:t>
            </a:r>
          </a:p>
          <a:p>
            <a:pPr algn="l"/>
            <a:r>
              <a:rPr lang="en-US" sz="1800" dirty="0">
                <a:solidFill>
                  <a:schemeClr val="tx1"/>
                </a:solidFill>
                <a:latin typeface="Consolas"/>
                <a:cs typeface="Consolas"/>
                <a:sym typeface="Courier New Bold" charset="0"/>
              </a:rPr>
              <a:t>    ..</a:t>
            </a:r>
          </a:p>
          <a:p>
            <a:pPr algn="l"/>
            <a:r>
              <a:rPr lang="en-US" sz="1800" dirty="0">
                <a:solidFill>
                  <a:schemeClr val="tx1"/>
                </a:solidFill>
                <a:latin typeface="Consolas"/>
                <a:cs typeface="Consolas"/>
                <a:sym typeface="Courier New Bold" charset="0"/>
              </a:rPr>
              <a:t>    f(..)</a:t>
            </a:r>
          </a:p>
          <a:p>
            <a:pPr algn="l"/>
            <a:r>
              <a:rPr lang="en-US" sz="1800" dirty="0">
                <a:solidFill>
                  <a:schemeClr val="tx1"/>
                </a:solidFill>
                <a:latin typeface="Consolas"/>
                <a:cs typeface="Consolas"/>
                <a:sym typeface="Courier New Bold" charset="0"/>
              </a:rPr>
              <a:t>L1: ..</a:t>
            </a:r>
          </a:p>
          <a:p>
            <a:pPr algn="l"/>
            <a:r>
              <a:rPr lang="en-US" sz="1800" dirty="0">
                <a:solidFill>
                  <a:schemeClr val="tx1"/>
                </a:solidFill>
                <a:latin typeface="Consolas"/>
                <a:cs typeface="Consolas"/>
                <a:sym typeface="Courier New Bold" charset="0"/>
              </a:rPr>
              <a:t>} </a:t>
            </a:r>
          </a:p>
        </p:txBody>
      </p:sp>
      <p:sp>
        <p:nvSpPr>
          <p:cNvPr id="8" name="Rectangle 4"/>
          <p:cNvSpPr>
            <a:spLocks/>
          </p:cNvSpPr>
          <p:nvPr/>
        </p:nvSpPr>
        <p:spPr bwMode="auto">
          <a:xfrm>
            <a:off x="1447800" y="2819400"/>
            <a:ext cx="1841500" cy="1371600"/>
          </a:xfrm>
          <a:prstGeom prst="rect">
            <a:avLst/>
          </a:prstGeom>
          <a:solidFill>
            <a:srgbClr val="F6F5BD"/>
          </a:solidFill>
          <a:ln w="12700" cap="flat">
            <a:solidFill>
              <a:schemeClr val="tx1"/>
            </a:solidFill>
            <a:prstDash val="solid"/>
            <a:miter lim="800000"/>
            <a:headEnd type="none" w="med" len="med"/>
            <a:tailEnd type="none" w="med" len="med"/>
          </a:ln>
          <a:effectLst>
            <a:outerShdw dist="76199" dir="2700000" algn="ctr" rotWithShape="0">
              <a:schemeClr val="bg2">
                <a:alpha val="75000"/>
              </a:schemeClr>
            </a:outerShdw>
          </a:effectLst>
        </p:spPr>
        <p:txBody>
          <a:bodyPr lIns="38100" tIns="38100" rIns="38100" bIns="38100"/>
          <a:lstStyle/>
          <a:p>
            <a:pPr algn="l"/>
            <a:r>
              <a:rPr lang="en-US" sz="1800" dirty="0">
                <a:solidFill>
                  <a:schemeClr val="tx1"/>
                </a:solidFill>
                <a:latin typeface="Consolas"/>
                <a:cs typeface="Consolas"/>
                <a:sym typeface="Courier New Bold" charset="0"/>
              </a:rPr>
              <a:t>void f(){</a:t>
            </a:r>
          </a:p>
          <a:p>
            <a:pPr algn="l"/>
            <a:r>
              <a:rPr lang="en-US" sz="1800" dirty="0">
                <a:solidFill>
                  <a:schemeClr val="tx1"/>
                </a:solidFill>
                <a:latin typeface="Consolas"/>
                <a:cs typeface="Consolas"/>
                <a:sym typeface="Courier New Bold" charset="0"/>
              </a:rPr>
              <a:t>    ..</a:t>
            </a:r>
          </a:p>
          <a:p>
            <a:pPr algn="l"/>
            <a:r>
              <a:rPr lang="en-US" sz="1800" dirty="0">
                <a:solidFill>
                  <a:schemeClr val="tx1"/>
                </a:solidFill>
                <a:latin typeface="Consolas"/>
                <a:cs typeface="Consolas"/>
                <a:sym typeface="Courier New Bold" charset="0"/>
              </a:rPr>
              <a:t>    g(..)</a:t>
            </a:r>
          </a:p>
          <a:p>
            <a:pPr algn="l"/>
            <a:r>
              <a:rPr lang="en-US" sz="1800" dirty="0">
                <a:solidFill>
                  <a:schemeClr val="tx1"/>
                </a:solidFill>
                <a:latin typeface="Consolas"/>
                <a:cs typeface="Consolas"/>
                <a:sym typeface="Courier New Bold" charset="0"/>
              </a:rPr>
              <a:t>L2: ..</a:t>
            </a:r>
          </a:p>
          <a:p>
            <a:pPr algn="l"/>
            <a:r>
              <a:rPr lang="en-US" sz="1800" dirty="0">
                <a:solidFill>
                  <a:schemeClr val="tx1"/>
                </a:solidFill>
                <a:latin typeface="Consolas"/>
                <a:cs typeface="Consolas"/>
                <a:sym typeface="Courier New Bold" charset="0"/>
              </a:rPr>
              <a:t>} </a:t>
            </a:r>
          </a:p>
        </p:txBody>
      </p:sp>
      <p:sp>
        <p:nvSpPr>
          <p:cNvPr id="9" name="Rectangle 4"/>
          <p:cNvSpPr>
            <a:spLocks/>
          </p:cNvSpPr>
          <p:nvPr/>
        </p:nvSpPr>
        <p:spPr bwMode="auto">
          <a:xfrm>
            <a:off x="1447800" y="4419600"/>
            <a:ext cx="1841500" cy="1371600"/>
          </a:xfrm>
          <a:prstGeom prst="rect">
            <a:avLst/>
          </a:prstGeom>
          <a:solidFill>
            <a:srgbClr val="F6F5BD"/>
          </a:solidFill>
          <a:ln w="12700" cap="flat">
            <a:solidFill>
              <a:schemeClr val="tx1"/>
            </a:solidFill>
            <a:prstDash val="solid"/>
            <a:miter lim="800000"/>
            <a:headEnd type="none" w="med" len="med"/>
            <a:tailEnd type="none" w="med" len="med"/>
          </a:ln>
          <a:effectLst>
            <a:outerShdw dist="76199" dir="2700000" algn="ctr" rotWithShape="0">
              <a:schemeClr val="bg2">
                <a:alpha val="75000"/>
              </a:schemeClr>
            </a:outerShdw>
          </a:effectLst>
        </p:spPr>
        <p:txBody>
          <a:bodyPr lIns="38100" tIns="38100" rIns="38100" bIns="38100"/>
          <a:lstStyle/>
          <a:p>
            <a:pPr algn="l"/>
            <a:r>
              <a:rPr lang="en-US" sz="1800" dirty="0">
                <a:solidFill>
                  <a:schemeClr val="tx1"/>
                </a:solidFill>
                <a:latin typeface="Consolas"/>
                <a:cs typeface="Consolas"/>
                <a:sym typeface="Courier New Bold" charset="0"/>
              </a:rPr>
              <a:t>void g(){</a:t>
            </a:r>
          </a:p>
          <a:p>
            <a:pPr algn="l"/>
            <a:r>
              <a:rPr lang="en-US" sz="1800" dirty="0">
                <a:solidFill>
                  <a:schemeClr val="tx1"/>
                </a:solidFill>
                <a:latin typeface="Consolas"/>
                <a:cs typeface="Consolas"/>
                <a:sym typeface="Courier New Bold" charset="0"/>
              </a:rPr>
              <a:t>    ..</a:t>
            </a:r>
          </a:p>
          <a:p>
            <a:pPr algn="l"/>
            <a:r>
              <a:rPr lang="en-US" sz="1800" dirty="0">
                <a:solidFill>
                  <a:schemeClr val="tx1"/>
                </a:solidFill>
                <a:latin typeface="Consolas"/>
                <a:cs typeface="Consolas"/>
                <a:sym typeface="Courier New Bold" charset="0"/>
              </a:rPr>
              <a:t>    h(..)</a:t>
            </a:r>
          </a:p>
          <a:p>
            <a:pPr algn="l"/>
            <a:r>
              <a:rPr lang="en-US" sz="1800" dirty="0">
                <a:solidFill>
                  <a:schemeClr val="tx1"/>
                </a:solidFill>
                <a:latin typeface="Consolas"/>
                <a:cs typeface="Consolas"/>
                <a:sym typeface="Courier New Bold" charset="0"/>
              </a:rPr>
              <a:t>L3: ..</a:t>
            </a:r>
          </a:p>
          <a:p>
            <a:pPr algn="l"/>
            <a:r>
              <a:rPr lang="en-US" sz="1800" dirty="0">
                <a:solidFill>
                  <a:schemeClr val="tx1"/>
                </a:solidFill>
                <a:latin typeface="Consolas"/>
                <a:cs typeface="Consolas"/>
                <a:sym typeface="Courier New Bold" charset="0"/>
              </a:rPr>
              <a:t>} </a:t>
            </a:r>
          </a:p>
        </p:txBody>
      </p:sp>
      <p:sp>
        <p:nvSpPr>
          <p:cNvPr id="10" name="Freeform 9"/>
          <p:cNvSpPr/>
          <p:nvPr/>
        </p:nvSpPr>
        <p:spPr>
          <a:xfrm>
            <a:off x="2763337" y="2045936"/>
            <a:ext cx="0" cy="0"/>
          </a:xfrm>
          <a:custGeom>
            <a:avLst/>
            <a:gdLst>
              <a:gd name="connsiteX0" fmla="*/ 0 w 0"/>
              <a:gd name="connsiteY0" fmla="*/ 0 h 0"/>
              <a:gd name="connsiteX1" fmla="*/ 0 w 0"/>
              <a:gd name="connsiteY1" fmla="*/ 0 h 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>
                <a:moveTo>
                  <a:pt x="0" y="0"/>
                </a:moveTo>
                <a:lnTo>
                  <a:pt x="0" y="0"/>
                </a:lnTo>
              </a:path>
            </a:pathLst>
          </a:custGeom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4200" b="0" i="0" u="none" strike="noStrike" cap="none" normalizeH="0" baseline="0">
              <a:ln>
                <a:noFill/>
              </a:ln>
              <a:solidFill>
                <a:srgbClr val="000000"/>
              </a:solidFill>
              <a:effectLst/>
              <a:latin typeface="Gill Sans" charset="0"/>
              <a:ea typeface="ヒラギノ角ゴ ProN W3" charset="0"/>
              <a:cs typeface="ヒラギノ角ゴ ProN W3" charset="0"/>
              <a:sym typeface="Gill Sans" charset="0"/>
            </a:endParaRPr>
          </a:p>
        </p:txBody>
      </p:sp>
      <p:sp>
        <p:nvSpPr>
          <p:cNvPr id="12334" name="Freeform 12333"/>
          <p:cNvSpPr/>
          <p:nvPr/>
        </p:nvSpPr>
        <p:spPr>
          <a:xfrm>
            <a:off x="2836065" y="2013521"/>
            <a:ext cx="1949847" cy="1302306"/>
          </a:xfrm>
          <a:custGeom>
            <a:avLst/>
            <a:gdLst>
              <a:gd name="connsiteX0" fmla="*/ 21343 w 1949847"/>
              <a:gd name="connsiteY0" fmla="*/ 20656 h 1302306"/>
              <a:gd name="connsiteX1" fmla="*/ 221244 w 1949847"/>
              <a:gd name="connsiteY1" fmla="*/ 32415 h 1302306"/>
              <a:gd name="connsiteX2" fmla="*/ 1608792 w 1949847"/>
              <a:gd name="connsiteY2" fmla="*/ 326371 h 1302306"/>
              <a:gd name="connsiteX3" fmla="*/ 1843970 w 1949847"/>
              <a:gd name="connsiteY3" fmla="*/ 949558 h 1302306"/>
              <a:gd name="connsiteX4" fmla="*/ 174209 w 1949847"/>
              <a:gd name="connsiteY4" fmla="*/ 1302306 h 13023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49847" h="1302306">
                <a:moveTo>
                  <a:pt x="21343" y="20656"/>
                </a:moveTo>
                <a:cubicBezTo>
                  <a:pt x="-10994" y="1059"/>
                  <a:pt x="-43331" y="-18538"/>
                  <a:pt x="221244" y="32415"/>
                </a:cubicBezTo>
                <a:cubicBezTo>
                  <a:pt x="485819" y="83368"/>
                  <a:pt x="1338338" y="173514"/>
                  <a:pt x="1608792" y="326371"/>
                </a:cubicBezTo>
                <a:cubicBezTo>
                  <a:pt x="1879246" y="479228"/>
                  <a:pt x="2083067" y="786902"/>
                  <a:pt x="1843970" y="949558"/>
                </a:cubicBezTo>
                <a:cubicBezTo>
                  <a:pt x="1604873" y="1112214"/>
                  <a:pt x="456422" y="1243515"/>
                  <a:pt x="174209" y="1302306"/>
                </a:cubicBezTo>
              </a:path>
            </a:pathLst>
          </a:custGeom>
          <a:ln w="38100" cmpd="sng">
            <a:solidFill>
              <a:srgbClr val="000000"/>
            </a:solidFill>
            <a:headEnd type="none"/>
            <a:tailEnd type="arrow"/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4200" b="0" i="0" u="none" strike="noStrike" cap="none" normalizeH="0" baseline="0">
              <a:ln>
                <a:noFill/>
              </a:ln>
              <a:solidFill>
                <a:srgbClr val="000000"/>
              </a:solidFill>
              <a:effectLst/>
              <a:latin typeface="Gill Sans" charset="0"/>
              <a:ea typeface="ヒラギノ角ゴ ProN W3" charset="0"/>
              <a:cs typeface="ヒラギノ角ゴ ProN W3" charset="0"/>
              <a:sym typeface="Gill Sans" charset="0"/>
            </a:endParaRPr>
          </a:p>
        </p:txBody>
      </p:sp>
      <p:sp>
        <p:nvSpPr>
          <p:cNvPr id="12335" name="TextBox 12334"/>
          <p:cNvSpPr txBox="1"/>
          <p:nvPr/>
        </p:nvSpPr>
        <p:spPr>
          <a:xfrm>
            <a:off x="4648200" y="1905000"/>
            <a:ext cx="39624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2000" dirty="0">
                <a:latin typeface="Arial"/>
                <a:cs typeface="Arial"/>
              </a:rPr>
              <a:t>Jump to f()</a:t>
            </a:r>
          </a:p>
          <a:p>
            <a:pPr algn="l"/>
            <a:r>
              <a:rPr lang="en-US" sz="2000" dirty="0">
                <a:latin typeface="Arial"/>
                <a:cs typeface="Arial"/>
              </a:rPr>
              <a:t>Remember where to come back</a:t>
            </a:r>
          </a:p>
        </p:txBody>
      </p:sp>
      <p:sp>
        <p:nvSpPr>
          <p:cNvPr id="80" name="Freeform 79"/>
          <p:cNvSpPr/>
          <p:nvPr/>
        </p:nvSpPr>
        <p:spPr>
          <a:xfrm>
            <a:off x="3124200" y="3657600"/>
            <a:ext cx="1949847" cy="1302306"/>
          </a:xfrm>
          <a:custGeom>
            <a:avLst/>
            <a:gdLst>
              <a:gd name="connsiteX0" fmla="*/ 21343 w 1949847"/>
              <a:gd name="connsiteY0" fmla="*/ 20656 h 1302306"/>
              <a:gd name="connsiteX1" fmla="*/ 221244 w 1949847"/>
              <a:gd name="connsiteY1" fmla="*/ 32415 h 1302306"/>
              <a:gd name="connsiteX2" fmla="*/ 1608792 w 1949847"/>
              <a:gd name="connsiteY2" fmla="*/ 326371 h 1302306"/>
              <a:gd name="connsiteX3" fmla="*/ 1843970 w 1949847"/>
              <a:gd name="connsiteY3" fmla="*/ 949558 h 1302306"/>
              <a:gd name="connsiteX4" fmla="*/ 174209 w 1949847"/>
              <a:gd name="connsiteY4" fmla="*/ 1302306 h 13023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49847" h="1302306">
                <a:moveTo>
                  <a:pt x="21343" y="20656"/>
                </a:moveTo>
                <a:cubicBezTo>
                  <a:pt x="-10994" y="1059"/>
                  <a:pt x="-43331" y="-18538"/>
                  <a:pt x="221244" y="32415"/>
                </a:cubicBezTo>
                <a:cubicBezTo>
                  <a:pt x="485819" y="83368"/>
                  <a:pt x="1338338" y="173514"/>
                  <a:pt x="1608792" y="326371"/>
                </a:cubicBezTo>
                <a:cubicBezTo>
                  <a:pt x="1879246" y="479228"/>
                  <a:pt x="2083067" y="786902"/>
                  <a:pt x="1843970" y="949558"/>
                </a:cubicBezTo>
                <a:cubicBezTo>
                  <a:pt x="1604873" y="1112214"/>
                  <a:pt x="456422" y="1243515"/>
                  <a:pt x="174209" y="1302306"/>
                </a:cubicBezTo>
              </a:path>
            </a:pathLst>
          </a:custGeom>
          <a:ln w="38100" cmpd="sng">
            <a:solidFill>
              <a:srgbClr val="FF0000"/>
            </a:solidFill>
            <a:headEnd type="arrow"/>
            <a:tailEnd type="none"/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4200" b="0" i="0" u="none" strike="noStrike" cap="none" normalizeH="0" baseline="0">
              <a:ln>
                <a:noFill/>
              </a:ln>
              <a:solidFill>
                <a:srgbClr val="000000"/>
              </a:solidFill>
              <a:effectLst/>
              <a:latin typeface="Gill Sans" charset="0"/>
              <a:ea typeface="ヒラギノ角ゴ ProN W3" charset="0"/>
              <a:cs typeface="ヒラギノ角ゴ ProN W3" charset="0"/>
              <a:sym typeface="Gill Sans" charset="0"/>
            </a:endParaRPr>
          </a:p>
        </p:txBody>
      </p:sp>
      <p:sp>
        <p:nvSpPr>
          <p:cNvPr id="82" name="Freeform 81"/>
          <p:cNvSpPr/>
          <p:nvPr/>
        </p:nvSpPr>
        <p:spPr>
          <a:xfrm>
            <a:off x="3200400" y="5181600"/>
            <a:ext cx="1949847" cy="1302306"/>
          </a:xfrm>
          <a:custGeom>
            <a:avLst/>
            <a:gdLst>
              <a:gd name="connsiteX0" fmla="*/ 21343 w 1949847"/>
              <a:gd name="connsiteY0" fmla="*/ 20656 h 1302306"/>
              <a:gd name="connsiteX1" fmla="*/ 221244 w 1949847"/>
              <a:gd name="connsiteY1" fmla="*/ 32415 h 1302306"/>
              <a:gd name="connsiteX2" fmla="*/ 1608792 w 1949847"/>
              <a:gd name="connsiteY2" fmla="*/ 326371 h 1302306"/>
              <a:gd name="connsiteX3" fmla="*/ 1843970 w 1949847"/>
              <a:gd name="connsiteY3" fmla="*/ 949558 h 1302306"/>
              <a:gd name="connsiteX4" fmla="*/ 174209 w 1949847"/>
              <a:gd name="connsiteY4" fmla="*/ 1302306 h 13023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49847" h="1302306">
                <a:moveTo>
                  <a:pt x="21343" y="20656"/>
                </a:moveTo>
                <a:cubicBezTo>
                  <a:pt x="-10994" y="1059"/>
                  <a:pt x="-43331" y="-18538"/>
                  <a:pt x="221244" y="32415"/>
                </a:cubicBezTo>
                <a:cubicBezTo>
                  <a:pt x="485819" y="83368"/>
                  <a:pt x="1338338" y="173514"/>
                  <a:pt x="1608792" y="326371"/>
                </a:cubicBezTo>
                <a:cubicBezTo>
                  <a:pt x="1879246" y="479228"/>
                  <a:pt x="2083067" y="786902"/>
                  <a:pt x="1843970" y="949558"/>
                </a:cubicBezTo>
                <a:cubicBezTo>
                  <a:pt x="1604873" y="1112214"/>
                  <a:pt x="456422" y="1243515"/>
                  <a:pt x="174209" y="1302306"/>
                </a:cubicBezTo>
              </a:path>
            </a:pathLst>
          </a:custGeom>
          <a:ln w="38100" cmpd="sng">
            <a:solidFill>
              <a:srgbClr val="FF0000"/>
            </a:solidFill>
            <a:headEnd type="arrow"/>
            <a:tailEnd type="none"/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4200" b="0" i="0" u="none" strike="noStrike" cap="none" normalizeH="0" baseline="0">
              <a:ln>
                <a:noFill/>
              </a:ln>
              <a:solidFill>
                <a:srgbClr val="000000"/>
              </a:solidFill>
              <a:effectLst/>
              <a:latin typeface="Gill Sans" charset="0"/>
              <a:ea typeface="ヒラギノ角ゴ ProN W3" charset="0"/>
              <a:cs typeface="ヒラギノ角ゴ ProN W3" charset="0"/>
              <a:sym typeface="Gill Sans" charset="0"/>
            </a:endParaRPr>
          </a:p>
        </p:txBody>
      </p:sp>
      <p:sp>
        <p:nvSpPr>
          <p:cNvPr id="85" name="TextBox 84"/>
          <p:cNvSpPr txBox="1"/>
          <p:nvPr/>
        </p:nvSpPr>
        <p:spPr>
          <a:xfrm>
            <a:off x="4572000" y="3581400"/>
            <a:ext cx="39624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dirty="0">
                <a:latin typeface="Arial"/>
                <a:cs typeface="Arial"/>
              </a:rPr>
              <a:t>Jump to L2</a:t>
            </a:r>
          </a:p>
          <a:p>
            <a:r>
              <a:rPr lang="en-US" altLang="zh-CN" sz="2000" dirty="0">
                <a:latin typeface="Arial"/>
                <a:cs typeface="Arial"/>
              </a:rPr>
              <a:t>Forget L2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724400" y="4982740"/>
            <a:ext cx="39624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2000" dirty="0">
                <a:latin typeface="Arial"/>
                <a:cs typeface="Arial"/>
              </a:rPr>
              <a:t>Jump to L3</a:t>
            </a:r>
          </a:p>
          <a:p>
            <a:pPr algn="l"/>
            <a:r>
              <a:rPr lang="en-US" sz="2000" dirty="0">
                <a:latin typeface="Arial"/>
                <a:cs typeface="Arial"/>
              </a:rPr>
              <a:t>Forget L3</a:t>
            </a:r>
          </a:p>
        </p:txBody>
      </p:sp>
      <p:sp>
        <p:nvSpPr>
          <p:cNvPr id="90" name="Rectangle 89"/>
          <p:cNvSpPr/>
          <p:nvPr/>
        </p:nvSpPr>
        <p:spPr bwMode="auto">
          <a:xfrm>
            <a:off x="8352197" y="3482457"/>
            <a:ext cx="457200" cy="381000"/>
          </a:xfrm>
          <a:prstGeom prst="rect">
            <a:avLst/>
          </a:prstGeom>
          <a:solidFill>
            <a:srgbClr val="FFFF00"/>
          </a:solidFill>
          <a:ln w="25400" cap="flat" cmpd="sng" algn="ctr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/>
                <a:ea typeface="ヒラギノ角ゴ ProN W3" charset="0"/>
                <a:cs typeface="Arial"/>
                <a:sym typeface="Gill Sans" charset="0"/>
              </a:rPr>
              <a:t>L2</a:t>
            </a:r>
          </a:p>
        </p:txBody>
      </p:sp>
      <p:sp>
        <p:nvSpPr>
          <p:cNvPr id="91" name="Rectangle 90"/>
          <p:cNvSpPr/>
          <p:nvPr/>
        </p:nvSpPr>
        <p:spPr bwMode="auto">
          <a:xfrm>
            <a:off x="8354477" y="3866967"/>
            <a:ext cx="457200" cy="381000"/>
          </a:xfrm>
          <a:prstGeom prst="rect">
            <a:avLst/>
          </a:prstGeom>
          <a:solidFill>
            <a:srgbClr val="FFFF00"/>
          </a:solidFill>
          <a:ln w="25400" cap="flat" cmpd="sng" algn="ctr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/>
                <a:ea typeface="ヒラギノ角ゴ ProN W3" charset="0"/>
                <a:cs typeface="Arial"/>
                <a:sym typeface="Gill Sans" charset="0"/>
              </a:rPr>
              <a:t>L1</a:t>
            </a:r>
          </a:p>
        </p:txBody>
      </p:sp>
      <p:sp>
        <p:nvSpPr>
          <p:cNvPr id="21" name="Rectangle 88"/>
          <p:cNvSpPr/>
          <p:nvPr/>
        </p:nvSpPr>
        <p:spPr bwMode="auto">
          <a:xfrm>
            <a:off x="8354477" y="3121197"/>
            <a:ext cx="457200" cy="381000"/>
          </a:xfrm>
          <a:prstGeom prst="rect">
            <a:avLst/>
          </a:prstGeom>
          <a:solidFill>
            <a:srgbClr val="FFFF00"/>
          </a:solidFill>
          <a:ln w="25400" cap="flat" cmpd="sng" algn="ctr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Gill Sans" charset="0"/>
                <a:ea typeface="ヒラギノ角ゴ ProN W3" charset="0"/>
                <a:cs typeface="ヒラギノ角ゴ ProN W3" charset="0"/>
                <a:sym typeface="Gill Sans" charset="0"/>
              </a:rPr>
              <a:t>L3</a:t>
            </a:r>
          </a:p>
        </p:txBody>
      </p:sp>
      <p:cxnSp>
        <p:nvCxnSpPr>
          <p:cNvPr id="17" name="Straight Connector 2"/>
          <p:cNvCxnSpPr/>
          <p:nvPr/>
        </p:nvCxnSpPr>
        <p:spPr bwMode="auto">
          <a:xfrm flipV="1">
            <a:off x="8153400" y="3201527"/>
            <a:ext cx="838200" cy="228600"/>
          </a:xfrm>
          <a:prstGeom prst="line">
            <a:avLst/>
          </a:prstGeom>
          <a:solidFill>
            <a:schemeClr val="accent1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18" name="Straight Connector 2"/>
          <p:cNvCxnSpPr/>
          <p:nvPr/>
        </p:nvCxnSpPr>
        <p:spPr bwMode="auto">
          <a:xfrm flipV="1">
            <a:off x="8213808" y="3582527"/>
            <a:ext cx="838200" cy="228600"/>
          </a:xfrm>
          <a:prstGeom prst="line">
            <a:avLst/>
          </a:prstGeom>
          <a:solidFill>
            <a:schemeClr val="accent1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</p:spTree>
    <p:extLst>
      <p:ext uri="{BB962C8B-B14F-4D97-AF65-F5344CB8AC3E}">
        <p14:creationId xmlns:p14="http://schemas.microsoft.com/office/powerpoint/2010/main" val="399766934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Rectangle 2"/>
          <p:cNvSpPr>
            <a:spLocks/>
          </p:cNvSpPr>
          <p:nvPr/>
        </p:nvSpPr>
        <p:spPr bwMode="auto">
          <a:xfrm>
            <a:off x="8062913" y="22225"/>
            <a:ext cx="1320800" cy="177800"/>
          </a:xfrm>
          <a:prstGeom prst="rect">
            <a:avLst/>
          </a:prstGeom>
          <a:noFill/>
          <a:ln w="25400" cap="flat">
            <a:noFill/>
            <a:miter lim="800000"/>
            <a:headEnd type="none" w="med" len="med"/>
            <a:tailEnd type="none" w="med" len="med"/>
          </a:ln>
        </p:spPr>
        <p:txBody>
          <a:bodyPr lIns="0" tIns="0" rIns="0" bIns="0"/>
          <a:lstStyle/>
          <a:p>
            <a:pPr algn="l"/>
            <a:r>
              <a:rPr lang="en-US" sz="1200">
                <a:solidFill>
                  <a:srgbClr val="FFFFFF"/>
                </a:solidFill>
                <a:ea typeface="Gill Sans" charset="0"/>
                <a:cs typeface="Gill Sans" charset="0"/>
              </a:rPr>
              <a:t>Carnegie Mellon</a:t>
            </a:r>
          </a:p>
        </p:txBody>
      </p:sp>
      <p:sp>
        <p:nvSpPr>
          <p:cNvPr id="12291" name="Rectangle 3"/>
          <p:cNvSpPr>
            <a:spLocks noGrp="1" noChangeArrowheads="1"/>
          </p:cNvSpPr>
          <p:nvPr>
            <p:ph type="title"/>
          </p:nvPr>
        </p:nvSpPr>
        <p:spPr>
          <a:xfrm>
            <a:off x="381000" y="254000"/>
            <a:ext cx="8610600" cy="1143000"/>
          </a:xfrm>
          <a:ln/>
        </p:spPr>
        <p:txBody>
          <a:bodyPr>
            <a:normAutofit fontScale="90000"/>
          </a:bodyPr>
          <a:lstStyle/>
          <a:p>
            <a:pPr marL="119063" indent="-119063"/>
            <a:r>
              <a:rPr lang="en-US" dirty="0"/>
              <a:t>How to transfer control for procedure calls?</a:t>
            </a:r>
          </a:p>
        </p:txBody>
      </p:sp>
      <p:sp>
        <p:nvSpPr>
          <p:cNvPr id="7" name="Rectangle 4"/>
          <p:cNvSpPr>
            <a:spLocks/>
          </p:cNvSpPr>
          <p:nvPr/>
        </p:nvSpPr>
        <p:spPr bwMode="auto">
          <a:xfrm>
            <a:off x="1447800" y="1295400"/>
            <a:ext cx="1841500" cy="1371600"/>
          </a:xfrm>
          <a:prstGeom prst="rect">
            <a:avLst/>
          </a:prstGeom>
          <a:solidFill>
            <a:srgbClr val="F6F5BD"/>
          </a:solidFill>
          <a:ln w="12700" cap="flat">
            <a:solidFill>
              <a:schemeClr val="tx1"/>
            </a:solidFill>
            <a:prstDash val="solid"/>
            <a:miter lim="800000"/>
            <a:headEnd type="none" w="med" len="med"/>
            <a:tailEnd type="none" w="med" len="med"/>
          </a:ln>
          <a:effectLst>
            <a:outerShdw dist="76199" dir="2700000" algn="ctr" rotWithShape="0">
              <a:schemeClr val="bg2">
                <a:alpha val="75000"/>
              </a:schemeClr>
            </a:outerShdw>
          </a:effectLst>
        </p:spPr>
        <p:txBody>
          <a:bodyPr lIns="38100" tIns="38100" rIns="38100" bIns="38100"/>
          <a:lstStyle/>
          <a:p>
            <a:pPr algn="l"/>
            <a:r>
              <a:rPr lang="en-US" sz="1800" dirty="0">
                <a:solidFill>
                  <a:schemeClr val="tx1"/>
                </a:solidFill>
                <a:latin typeface="Consolas"/>
                <a:cs typeface="Consolas"/>
                <a:sym typeface="Courier New Bold" charset="0"/>
              </a:rPr>
              <a:t>void main(){</a:t>
            </a:r>
          </a:p>
          <a:p>
            <a:pPr algn="l"/>
            <a:r>
              <a:rPr lang="en-US" sz="1800" dirty="0">
                <a:solidFill>
                  <a:schemeClr val="tx1"/>
                </a:solidFill>
                <a:latin typeface="Consolas"/>
                <a:cs typeface="Consolas"/>
                <a:sym typeface="Courier New Bold" charset="0"/>
              </a:rPr>
              <a:t>    ..</a:t>
            </a:r>
          </a:p>
          <a:p>
            <a:pPr algn="l"/>
            <a:r>
              <a:rPr lang="en-US" sz="1800" dirty="0">
                <a:solidFill>
                  <a:schemeClr val="tx1"/>
                </a:solidFill>
                <a:latin typeface="Consolas"/>
                <a:cs typeface="Consolas"/>
                <a:sym typeface="Courier New Bold" charset="0"/>
              </a:rPr>
              <a:t>    f(..)</a:t>
            </a:r>
          </a:p>
          <a:p>
            <a:pPr algn="l"/>
            <a:r>
              <a:rPr lang="en-US" sz="1800" dirty="0">
                <a:solidFill>
                  <a:schemeClr val="tx1"/>
                </a:solidFill>
                <a:latin typeface="Consolas"/>
                <a:cs typeface="Consolas"/>
                <a:sym typeface="Courier New Bold" charset="0"/>
              </a:rPr>
              <a:t>L1: ..</a:t>
            </a:r>
          </a:p>
          <a:p>
            <a:pPr algn="l"/>
            <a:r>
              <a:rPr lang="en-US" sz="1800" dirty="0">
                <a:solidFill>
                  <a:schemeClr val="tx1"/>
                </a:solidFill>
                <a:latin typeface="Consolas"/>
                <a:cs typeface="Consolas"/>
                <a:sym typeface="Courier New Bold" charset="0"/>
              </a:rPr>
              <a:t>} </a:t>
            </a:r>
          </a:p>
        </p:txBody>
      </p:sp>
      <p:sp>
        <p:nvSpPr>
          <p:cNvPr id="8" name="Rectangle 4"/>
          <p:cNvSpPr>
            <a:spLocks/>
          </p:cNvSpPr>
          <p:nvPr/>
        </p:nvSpPr>
        <p:spPr bwMode="auto">
          <a:xfrm>
            <a:off x="1447800" y="2819400"/>
            <a:ext cx="1841500" cy="1371600"/>
          </a:xfrm>
          <a:prstGeom prst="rect">
            <a:avLst/>
          </a:prstGeom>
          <a:solidFill>
            <a:srgbClr val="F6F5BD"/>
          </a:solidFill>
          <a:ln w="12700" cap="flat">
            <a:solidFill>
              <a:schemeClr val="tx1"/>
            </a:solidFill>
            <a:prstDash val="solid"/>
            <a:miter lim="800000"/>
            <a:headEnd type="none" w="med" len="med"/>
            <a:tailEnd type="none" w="med" len="med"/>
          </a:ln>
          <a:effectLst>
            <a:outerShdw dist="76199" dir="2700000" algn="ctr" rotWithShape="0">
              <a:schemeClr val="bg2">
                <a:alpha val="75000"/>
              </a:schemeClr>
            </a:outerShdw>
          </a:effectLst>
        </p:spPr>
        <p:txBody>
          <a:bodyPr lIns="38100" tIns="38100" rIns="38100" bIns="38100"/>
          <a:lstStyle/>
          <a:p>
            <a:pPr algn="l"/>
            <a:r>
              <a:rPr lang="en-US" sz="1800" dirty="0">
                <a:solidFill>
                  <a:schemeClr val="tx1"/>
                </a:solidFill>
                <a:latin typeface="Consolas"/>
                <a:cs typeface="Consolas"/>
                <a:sym typeface="Courier New Bold" charset="0"/>
              </a:rPr>
              <a:t>void f(){</a:t>
            </a:r>
          </a:p>
          <a:p>
            <a:pPr algn="l"/>
            <a:r>
              <a:rPr lang="en-US" sz="1800" dirty="0">
                <a:solidFill>
                  <a:schemeClr val="tx1"/>
                </a:solidFill>
                <a:latin typeface="Consolas"/>
                <a:cs typeface="Consolas"/>
                <a:sym typeface="Courier New Bold" charset="0"/>
              </a:rPr>
              <a:t>    ..</a:t>
            </a:r>
          </a:p>
          <a:p>
            <a:pPr algn="l"/>
            <a:r>
              <a:rPr lang="en-US" sz="1800" dirty="0">
                <a:solidFill>
                  <a:schemeClr val="tx1"/>
                </a:solidFill>
                <a:latin typeface="Consolas"/>
                <a:cs typeface="Consolas"/>
                <a:sym typeface="Courier New Bold" charset="0"/>
              </a:rPr>
              <a:t>    g(..)</a:t>
            </a:r>
          </a:p>
          <a:p>
            <a:pPr algn="l"/>
            <a:r>
              <a:rPr lang="en-US" sz="1800" dirty="0">
                <a:solidFill>
                  <a:schemeClr val="tx1"/>
                </a:solidFill>
                <a:latin typeface="Consolas"/>
                <a:cs typeface="Consolas"/>
                <a:sym typeface="Courier New Bold" charset="0"/>
              </a:rPr>
              <a:t>L2: ..</a:t>
            </a:r>
          </a:p>
          <a:p>
            <a:pPr algn="l"/>
            <a:r>
              <a:rPr lang="en-US" sz="1800" dirty="0">
                <a:solidFill>
                  <a:schemeClr val="tx1"/>
                </a:solidFill>
                <a:latin typeface="Consolas"/>
                <a:cs typeface="Consolas"/>
                <a:sym typeface="Courier New Bold" charset="0"/>
              </a:rPr>
              <a:t>} </a:t>
            </a:r>
          </a:p>
        </p:txBody>
      </p:sp>
      <p:sp>
        <p:nvSpPr>
          <p:cNvPr id="9" name="Rectangle 4"/>
          <p:cNvSpPr>
            <a:spLocks/>
          </p:cNvSpPr>
          <p:nvPr/>
        </p:nvSpPr>
        <p:spPr bwMode="auto">
          <a:xfrm>
            <a:off x="1447800" y="4419600"/>
            <a:ext cx="1841500" cy="1371600"/>
          </a:xfrm>
          <a:prstGeom prst="rect">
            <a:avLst/>
          </a:prstGeom>
          <a:solidFill>
            <a:srgbClr val="F6F5BD"/>
          </a:solidFill>
          <a:ln w="12700" cap="flat">
            <a:solidFill>
              <a:schemeClr val="tx1"/>
            </a:solidFill>
            <a:prstDash val="solid"/>
            <a:miter lim="800000"/>
            <a:headEnd type="none" w="med" len="med"/>
            <a:tailEnd type="none" w="med" len="med"/>
          </a:ln>
          <a:effectLst>
            <a:outerShdw dist="76199" dir="2700000" algn="ctr" rotWithShape="0">
              <a:schemeClr val="bg2">
                <a:alpha val="75000"/>
              </a:schemeClr>
            </a:outerShdw>
          </a:effectLst>
        </p:spPr>
        <p:txBody>
          <a:bodyPr lIns="38100" tIns="38100" rIns="38100" bIns="38100"/>
          <a:lstStyle/>
          <a:p>
            <a:pPr algn="l"/>
            <a:r>
              <a:rPr lang="en-US" sz="1800" dirty="0">
                <a:solidFill>
                  <a:schemeClr val="tx1"/>
                </a:solidFill>
                <a:latin typeface="Consolas"/>
                <a:cs typeface="Consolas"/>
                <a:sym typeface="Courier New Bold" charset="0"/>
              </a:rPr>
              <a:t>void g(){</a:t>
            </a:r>
          </a:p>
          <a:p>
            <a:pPr algn="l"/>
            <a:r>
              <a:rPr lang="en-US" sz="1800" dirty="0">
                <a:solidFill>
                  <a:schemeClr val="tx1"/>
                </a:solidFill>
                <a:latin typeface="Consolas"/>
                <a:cs typeface="Consolas"/>
                <a:sym typeface="Courier New Bold" charset="0"/>
              </a:rPr>
              <a:t>    ..</a:t>
            </a:r>
          </a:p>
          <a:p>
            <a:pPr algn="l"/>
            <a:r>
              <a:rPr lang="en-US" sz="1800" dirty="0">
                <a:solidFill>
                  <a:schemeClr val="tx1"/>
                </a:solidFill>
                <a:latin typeface="Consolas"/>
                <a:cs typeface="Consolas"/>
                <a:sym typeface="Courier New Bold" charset="0"/>
              </a:rPr>
              <a:t>    h(..)</a:t>
            </a:r>
          </a:p>
          <a:p>
            <a:pPr algn="l"/>
            <a:r>
              <a:rPr lang="en-US" sz="1800" dirty="0">
                <a:solidFill>
                  <a:schemeClr val="tx1"/>
                </a:solidFill>
                <a:latin typeface="Consolas"/>
                <a:cs typeface="Consolas"/>
                <a:sym typeface="Courier New Bold" charset="0"/>
              </a:rPr>
              <a:t>L3: ..</a:t>
            </a:r>
          </a:p>
          <a:p>
            <a:pPr algn="l"/>
            <a:r>
              <a:rPr lang="en-US" sz="1800" dirty="0">
                <a:solidFill>
                  <a:schemeClr val="tx1"/>
                </a:solidFill>
                <a:latin typeface="Consolas"/>
                <a:cs typeface="Consolas"/>
                <a:sym typeface="Courier New Bold" charset="0"/>
              </a:rPr>
              <a:t>} </a:t>
            </a:r>
          </a:p>
        </p:txBody>
      </p:sp>
      <p:sp>
        <p:nvSpPr>
          <p:cNvPr id="10" name="Freeform 9"/>
          <p:cNvSpPr/>
          <p:nvPr/>
        </p:nvSpPr>
        <p:spPr>
          <a:xfrm>
            <a:off x="2763337" y="2045936"/>
            <a:ext cx="0" cy="0"/>
          </a:xfrm>
          <a:custGeom>
            <a:avLst/>
            <a:gdLst>
              <a:gd name="connsiteX0" fmla="*/ 0 w 0"/>
              <a:gd name="connsiteY0" fmla="*/ 0 h 0"/>
              <a:gd name="connsiteX1" fmla="*/ 0 w 0"/>
              <a:gd name="connsiteY1" fmla="*/ 0 h 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>
                <a:moveTo>
                  <a:pt x="0" y="0"/>
                </a:moveTo>
                <a:lnTo>
                  <a:pt x="0" y="0"/>
                </a:lnTo>
              </a:path>
            </a:pathLst>
          </a:custGeom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4200" b="0" i="0" u="none" strike="noStrike" cap="none" normalizeH="0" baseline="0">
              <a:ln>
                <a:noFill/>
              </a:ln>
              <a:solidFill>
                <a:srgbClr val="000000"/>
              </a:solidFill>
              <a:effectLst/>
              <a:latin typeface="Gill Sans" charset="0"/>
              <a:ea typeface="ヒラギノ角ゴ ProN W3" charset="0"/>
              <a:cs typeface="ヒラギノ角ゴ ProN W3" charset="0"/>
              <a:sym typeface="Gill Sans" charset="0"/>
            </a:endParaRPr>
          </a:p>
        </p:txBody>
      </p:sp>
      <p:sp>
        <p:nvSpPr>
          <p:cNvPr id="12334" name="Freeform 12333"/>
          <p:cNvSpPr/>
          <p:nvPr/>
        </p:nvSpPr>
        <p:spPr>
          <a:xfrm>
            <a:off x="2836065" y="2013521"/>
            <a:ext cx="1949847" cy="1302306"/>
          </a:xfrm>
          <a:custGeom>
            <a:avLst/>
            <a:gdLst>
              <a:gd name="connsiteX0" fmla="*/ 21343 w 1949847"/>
              <a:gd name="connsiteY0" fmla="*/ 20656 h 1302306"/>
              <a:gd name="connsiteX1" fmla="*/ 221244 w 1949847"/>
              <a:gd name="connsiteY1" fmla="*/ 32415 h 1302306"/>
              <a:gd name="connsiteX2" fmla="*/ 1608792 w 1949847"/>
              <a:gd name="connsiteY2" fmla="*/ 326371 h 1302306"/>
              <a:gd name="connsiteX3" fmla="*/ 1843970 w 1949847"/>
              <a:gd name="connsiteY3" fmla="*/ 949558 h 1302306"/>
              <a:gd name="connsiteX4" fmla="*/ 174209 w 1949847"/>
              <a:gd name="connsiteY4" fmla="*/ 1302306 h 13023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49847" h="1302306">
                <a:moveTo>
                  <a:pt x="21343" y="20656"/>
                </a:moveTo>
                <a:cubicBezTo>
                  <a:pt x="-10994" y="1059"/>
                  <a:pt x="-43331" y="-18538"/>
                  <a:pt x="221244" y="32415"/>
                </a:cubicBezTo>
                <a:cubicBezTo>
                  <a:pt x="485819" y="83368"/>
                  <a:pt x="1338338" y="173514"/>
                  <a:pt x="1608792" y="326371"/>
                </a:cubicBezTo>
                <a:cubicBezTo>
                  <a:pt x="1879246" y="479228"/>
                  <a:pt x="2083067" y="786902"/>
                  <a:pt x="1843970" y="949558"/>
                </a:cubicBezTo>
                <a:cubicBezTo>
                  <a:pt x="1604873" y="1112214"/>
                  <a:pt x="456422" y="1243515"/>
                  <a:pt x="174209" y="1302306"/>
                </a:cubicBezTo>
              </a:path>
            </a:pathLst>
          </a:custGeom>
          <a:ln w="38100" cmpd="sng">
            <a:solidFill>
              <a:srgbClr val="FF0000"/>
            </a:solidFill>
            <a:headEnd type="arrow"/>
            <a:tailEnd type="none"/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4200" b="0" i="0" u="none" strike="noStrike" cap="none" normalizeH="0" baseline="0">
              <a:ln>
                <a:noFill/>
              </a:ln>
              <a:solidFill>
                <a:srgbClr val="000000"/>
              </a:solidFill>
              <a:effectLst/>
              <a:latin typeface="Gill Sans" charset="0"/>
              <a:ea typeface="ヒラギノ角ゴ ProN W3" charset="0"/>
              <a:cs typeface="ヒラギノ角ゴ ProN W3" charset="0"/>
              <a:sym typeface="Gill Sans" charset="0"/>
            </a:endParaRPr>
          </a:p>
        </p:txBody>
      </p:sp>
      <p:sp>
        <p:nvSpPr>
          <p:cNvPr id="12335" name="TextBox 12334"/>
          <p:cNvSpPr txBox="1"/>
          <p:nvPr/>
        </p:nvSpPr>
        <p:spPr>
          <a:xfrm>
            <a:off x="4648200" y="1905000"/>
            <a:ext cx="39624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2000" dirty="0">
                <a:latin typeface="Arial"/>
                <a:cs typeface="Arial"/>
              </a:rPr>
              <a:t>Jump to L1</a:t>
            </a:r>
          </a:p>
          <a:p>
            <a:pPr algn="l"/>
            <a:r>
              <a:rPr lang="en-US" sz="2000" dirty="0">
                <a:latin typeface="Arial"/>
                <a:cs typeface="Arial"/>
              </a:rPr>
              <a:t>Forget L1</a:t>
            </a:r>
          </a:p>
        </p:txBody>
      </p:sp>
      <p:sp>
        <p:nvSpPr>
          <p:cNvPr id="80" name="Freeform 79"/>
          <p:cNvSpPr/>
          <p:nvPr/>
        </p:nvSpPr>
        <p:spPr>
          <a:xfrm>
            <a:off x="3124200" y="3657600"/>
            <a:ext cx="1949847" cy="1302306"/>
          </a:xfrm>
          <a:custGeom>
            <a:avLst/>
            <a:gdLst>
              <a:gd name="connsiteX0" fmla="*/ 21343 w 1949847"/>
              <a:gd name="connsiteY0" fmla="*/ 20656 h 1302306"/>
              <a:gd name="connsiteX1" fmla="*/ 221244 w 1949847"/>
              <a:gd name="connsiteY1" fmla="*/ 32415 h 1302306"/>
              <a:gd name="connsiteX2" fmla="*/ 1608792 w 1949847"/>
              <a:gd name="connsiteY2" fmla="*/ 326371 h 1302306"/>
              <a:gd name="connsiteX3" fmla="*/ 1843970 w 1949847"/>
              <a:gd name="connsiteY3" fmla="*/ 949558 h 1302306"/>
              <a:gd name="connsiteX4" fmla="*/ 174209 w 1949847"/>
              <a:gd name="connsiteY4" fmla="*/ 1302306 h 13023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49847" h="1302306">
                <a:moveTo>
                  <a:pt x="21343" y="20656"/>
                </a:moveTo>
                <a:cubicBezTo>
                  <a:pt x="-10994" y="1059"/>
                  <a:pt x="-43331" y="-18538"/>
                  <a:pt x="221244" y="32415"/>
                </a:cubicBezTo>
                <a:cubicBezTo>
                  <a:pt x="485819" y="83368"/>
                  <a:pt x="1338338" y="173514"/>
                  <a:pt x="1608792" y="326371"/>
                </a:cubicBezTo>
                <a:cubicBezTo>
                  <a:pt x="1879246" y="479228"/>
                  <a:pt x="2083067" y="786902"/>
                  <a:pt x="1843970" y="949558"/>
                </a:cubicBezTo>
                <a:cubicBezTo>
                  <a:pt x="1604873" y="1112214"/>
                  <a:pt x="456422" y="1243515"/>
                  <a:pt x="174209" y="1302306"/>
                </a:cubicBezTo>
              </a:path>
            </a:pathLst>
          </a:custGeom>
          <a:ln w="38100" cmpd="sng">
            <a:solidFill>
              <a:srgbClr val="FF0000"/>
            </a:solidFill>
            <a:headEnd type="arrow"/>
            <a:tailEnd type="none"/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4200" b="0" i="0" u="none" strike="noStrike" cap="none" normalizeH="0" baseline="0">
              <a:ln>
                <a:noFill/>
              </a:ln>
              <a:solidFill>
                <a:srgbClr val="000000"/>
              </a:solidFill>
              <a:effectLst/>
              <a:latin typeface="Gill Sans" charset="0"/>
              <a:ea typeface="ヒラギノ角ゴ ProN W3" charset="0"/>
              <a:cs typeface="ヒラギノ角ゴ ProN W3" charset="0"/>
              <a:sym typeface="Gill Sans" charset="0"/>
            </a:endParaRPr>
          </a:p>
        </p:txBody>
      </p:sp>
      <p:sp>
        <p:nvSpPr>
          <p:cNvPr id="82" name="Freeform 81"/>
          <p:cNvSpPr/>
          <p:nvPr/>
        </p:nvSpPr>
        <p:spPr>
          <a:xfrm>
            <a:off x="3200400" y="5181600"/>
            <a:ext cx="1949847" cy="1302306"/>
          </a:xfrm>
          <a:custGeom>
            <a:avLst/>
            <a:gdLst>
              <a:gd name="connsiteX0" fmla="*/ 21343 w 1949847"/>
              <a:gd name="connsiteY0" fmla="*/ 20656 h 1302306"/>
              <a:gd name="connsiteX1" fmla="*/ 221244 w 1949847"/>
              <a:gd name="connsiteY1" fmla="*/ 32415 h 1302306"/>
              <a:gd name="connsiteX2" fmla="*/ 1608792 w 1949847"/>
              <a:gd name="connsiteY2" fmla="*/ 326371 h 1302306"/>
              <a:gd name="connsiteX3" fmla="*/ 1843970 w 1949847"/>
              <a:gd name="connsiteY3" fmla="*/ 949558 h 1302306"/>
              <a:gd name="connsiteX4" fmla="*/ 174209 w 1949847"/>
              <a:gd name="connsiteY4" fmla="*/ 1302306 h 13023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49847" h="1302306">
                <a:moveTo>
                  <a:pt x="21343" y="20656"/>
                </a:moveTo>
                <a:cubicBezTo>
                  <a:pt x="-10994" y="1059"/>
                  <a:pt x="-43331" y="-18538"/>
                  <a:pt x="221244" y="32415"/>
                </a:cubicBezTo>
                <a:cubicBezTo>
                  <a:pt x="485819" y="83368"/>
                  <a:pt x="1338338" y="173514"/>
                  <a:pt x="1608792" y="326371"/>
                </a:cubicBezTo>
                <a:cubicBezTo>
                  <a:pt x="1879246" y="479228"/>
                  <a:pt x="2083067" y="786902"/>
                  <a:pt x="1843970" y="949558"/>
                </a:cubicBezTo>
                <a:cubicBezTo>
                  <a:pt x="1604873" y="1112214"/>
                  <a:pt x="456422" y="1243515"/>
                  <a:pt x="174209" y="1302306"/>
                </a:cubicBezTo>
              </a:path>
            </a:pathLst>
          </a:custGeom>
          <a:ln w="38100" cmpd="sng">
            <a:solidFill>
              <a:srgbClr val="FF0000"/>
            </a:solidFill>
            <a:headEnd type="arrow"/>
            <a:tailEnd type="none"/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4200" b="0" i="0" u="none" strike="noStrike" cap="none" normalizeH="0" baseline="0">
              <a:ln>
                <a:noFill/>
              </a:ln>
              <a:solidFill>
                <a:srgbClr val="000000"/>
              </a:solidFill>
              <a:effectLst/>
              <a:latin typeface="Gill Sans" charset="0"/>
              <a:ea typeface="ヒラギノ角ゴ ProN W3" charset="0"/>
              <a:cs typeface="ヒラギノ角ゴ ProN W3" charset="0"/>
              <a:sym typeface="Gill Sans" charset="0"/>
            </a:endParaRPr>
          </a:p>
        </p:txBody>
      </p:sp>
      <p:sp>
        <p:nvSpPr>
          <p:cNvPr id="85" name="TextBox 84"/>
          <p:cNvSpPr txBox="1"/>
          <p:nvPr/>
        </p:nvSpPr>
        <p:spPr>
          <a:xfrm>
            <a:off x="4572000" y="3581400"/>
            <a:ext cx="39624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dirty="0">
                <a:latin typeface="Arial"/>
                <a:cs typeface="Arial"/>
              </a:rPr>
              <a:t>Jump to L2</a:t>
            </a:r>
          </a:p>
          <a:p>
            <a:r>
              <a:rPr lang="en-US" altLang="zh-CN" sz="2000" dirty="0">
                <a:latin typeface="Arial"/>
                <a:cs typeface="Arial"/>
              </a:rPr>
              <a:t>Forget L2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724400" y="4982740"/>
            <a:ext cx="39624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2000" dirty="0">
                <a:latin typeface="Arial"/>
                <a:cs typeface="Arial"/>
              </a:rPr>
              <a:t>Jump to L3</a:t>
            </a:r>
          </a:p>
          <a:p>
            <a:pPr algn="l"/>
            <a:r>
              <a:rPr lang="en-US" sz="2000" dirty="0">
                <a:latin typeface="Arial"/>
                <a:cs typeface="Arial"/>
              </a:rPr>
              <a:t>Forget L3</a:t>
            </a:r>
          </a:p>
        </p:txBody>
      </p:sp>
      <p:sp>
        <p:nvSpPr>
          <p:cNvPr id="90" name="Rectangle 89"/>
          <p:cNvSpPr/>
          <p:nvPr/>
        </p:nvSpPr>
        <p:spPr bwMode="auto">
          <a:xfrm>
            <a:off x="8352197" y="3482457"/>
            <a:ext cx="457200" cy="381000"/>
          </a:xfrm>
          <a:prstGeom prst="rect">
            <a:avLst/>
          </a:prstGeom>
          <a:solidFill>
            <a:srgbClr val="FFFF00"/>
          </a:solidFill>
          <a:ln w="25400" cap="flat" cmpd="sng" algn="ctr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/>
                <a:ea typeface="ヒラギノ角ゴ ProN W3" charset="0"/>
                <a:cs typeface="Arial"/>
                <a:sym typeface="Gill Sans" charset="0"/>
              </a:rPr>
              <a:t>L2</a:t>
            </a:r>
          </a:p>
        </p:txBody>
      </p:sp>
      <p:sp>
        <p:nvSpPr>
          <p:cNvPr id="91" name="Rectangle 90"/>
          <p:cNvSpPr/>
          <p:nvPr/>
        </p:nvSpPr>
        <p:spPr bwMode="auto">
          <a:xfrm>
            <a:off x="8354477" y="3866967"/>
            <a:ext cx="457200" cy="381000"/>
          </a:xfrm>
          <a:prstGeom prst="rect">
            <a:avLst/>
          </a:prstGeom>
          <a:solidFill>
            <a:srgbClr val="FFFF00"/>
          </a:solidFill>
          <a:ln w="25400" cap="flat" cmpd="sng" algn="ctr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/>
                <a:ea typeface="ヒラギノ角ゴ ProN W3" charset="0"/>
                <a:cs typeface="Arial"/>
                <a:sym typeface="Gill Sans" charset="0"/>
              </a:rPr>
              <a:t>L1</a:t>
            </a:r>
          </a:p>
        </p:txBody>
      </p:sp>
      <p:sp>
        <p:nvSpPr>
          <p:cNvPr id="21" name="Rectangle 88"/>
          <p:cNvSpPr/>
          <p:nvPr/>
        </p:nvSpPr>
        <p:spPr bwMode="auto">
          <a:xfrm>
            <a:off x="8354477" y="3121197"/>
            <a:ext cx="457200" cy="381000"/>
          </a:xfrm>
          <a:prstGeom prst="rect">
            <a:avLst/>
          </a:prstGeom>
          <a:solidFill>
            <a:srgbClr val="FFFF00"/>
          </a:solidFill>
          <a:ln w="25400" cap="flat" cmpd="sng" algn="ctr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Gill Sans" charset="0"/>
                <a:ea typeface="ヒラギノ角ゴ ProN W3" charset="0"/>
                <a:cs typeface="ヒラギノ角ゴ ProN W3" charset="0"/>
                <a:sym typeface="Gill Sans" charset="0"/>
              </a:rPr>
              <a:t>L3</a:t>
            </a:r>
          </a:p>
        </p:txBody>
      </p:sp>
      <p:cxnSp>
        <p:nvCxnSpPr>
          <p:cNvPr id="17" name="Straight Connector 2"/>
          <p:cNvCxnSpPr/>
          <p:nvPr/>
        </p:nvCxnSpPr>
        <p:spPr bwMode="auto">
          <a:xfrm flipV="1">
            <a:off x="8153400" y="3201527"/>
            <a:ext cx="838200" cy="228600"/>
          </a:xfrm>
          <a:prstGeom prst="line">
            <a:avLst/>
          </a:prstGeom>
          <a:solidFill>
            <a:schemeClr val="accent1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18" name="Straight Connector 2"/>
          <p:cNvCxnSpPr/>
          <p:nvPr/>
        </p:nvCxnSpPr>
        <p:spPr bwMode="auto">
          <a:xfrm flipV="1">
            <a:off x="8213808" y="3582527"/>
            <a:ext cx="838200" cy="228600"/>
          </a:xfrm>
          <a:prstGeom prst="line">
            <a:avLst/>
          </a:prstGeom>
          <a:solidFill>
            <a:schemeClr val="accent1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19" name="Straight Connector 2"/>
          <p:cNvCxnSpPr/>
          <p:nvPr/>
        </p:nvCxnSpPr>
        <p:spPr bwMode="auto">
          <a:xfrm flipV="1">
            <a:off x="8188875" y="3992347"/>
            <a:ext cx="838200" cy="228600"/>
          </a:xfrm>
          <a:prstGeom prst="line">
            <a:avLst/>
          </a:prstGeom>
          <a:solidFill>
            <a:schemeClr val="accent1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</p:spTree>
    <p:extLst>
      <p:ext uri="{BB962C8B-B14F-4D97-AF65-F5344CB8AC3E}">
        <p14:creationId xmlns:p14="http://schemas.microsoft.com/office/powerpoint/2010/main" val="249131652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Rectangle 2"/>
          <p:cNvSpPr>
            <a:spLocks/>
          </p:cNvSpPr>
          <p:nvPr/>
        </p:nvSpPr>
        <p:spPr bwMode="auto">
          <a:xfrm>
            <a:off x="8062913" y="22225"/>
            <a:ext cx="1320800" cy="177800"/>
          </a:xfrm>
          <a:prstGeom prst="rect">
            <a:avLst/>
          </a:prstGeom>
          <a:noFill/>
          <a:ln w="25400" cap="flat">
            <a:noFill/>
            <a:miter lim="800000"/>
            <a:headEnd type="none" w="med" len="med"/>
            <a:tailEnd type="none" w="med" len="med"/>
          </a:ln>
        </p:spPr>
        <p:txBody>
          <a:bodyPr lIns="0" tIns="0" rIns="0" bIns="0"/>
          <a:lstStyle/>
          <a:p>
            <a:pPr algn="l"/>
            <a:r>
              <a:rPr lang="en-US" sz="1200">
                <a:solidFill>
                  <a:srgbClr val="FFFFFF"/>
                </a:solidFill>
                <a:ea typeface="Gill Sans" charset="0"/>
                <a:cs typeface="Gill Sans" charset="0"/>
              </a:rPr>
              <a:t>Carnegie Mellon</a:t>
            </a:r>
          </a:p>
        </p:txBody>
      </p:sp>
      <p:sp>
        <p:nvSpPr>
          <p:cNvPr id="12291" name="Rectangle 3"/>
          <p:cNvSpPr>
            <a:spLocks noGrp="1" noChangeArrowheads="1"/>
          </p:cNvSpPr>
          <p:nvPr>
            <p:ph type="title"/>
          </p:nvPr>
        </p:nvSpPr>
        <p:spPr>
          <a:xfrm>
            <a:off x="381000" y="254000"/>
            <a:ext cx="8610600" cy="1143000"/>
          </a:xfrm>
          <a:ln/>
        </p:spPr>
        <p:txBody>
          <a:bodyPr>
            <a:normAutofit fontScale="90000"/>
          </a:bodyPr>
          <a:lstStyle/>
          <a:p>
            <a:pPr marL="119063" indent="-119063"/>
            <a:r>
              <a:rPr lang="en-US" dirty="0"/>
              <a:t>How to transfer control for procedure calls?</a:t>
            </a:r>
          </a:p>
        </p:txBody>
      </p:sp>
      <p:sp>
        <p:nvSpPr>
          <p:cNvPr id="7" name="Rectangle 4"/>
          <p:cNvSpPr>
            <a:spLocks/>
          </p:cNvSpPr>
          <p:nvPr/>
        </p:nvSpPr>
        <p:spPr bwMode="auto">
          <a:xfrm>
            <a:off x="1447800" y="1295400"/>
            <a:ext cx="1841500" cy="1371600"/>
          </a:xfrm>
          <a:prstGeom prst="rect">
            <a:avLst/>
          </a:prstGeom>
          <a:solidFill>
            <a:srgbClr val="F6F5BD"/>
          </a:solidFill>
          <a:ln w="12700" cap="flat">
            <a:solidFill>
              <a:schemeClr val="tx1"/>
            </a:solidFill>
            <a:prstDash val="solid"/>
            <a:miter lim="800000"/>
            <a:headEnd type="none" w="med" len="med"/>
            <a:tailEnd type="none" w="med" len="med"/>
          </a:ln>
          <a:effectLst>
            <a:outerShdw dist="76199" dir="2700000" algn="ctr" rotWithShape="0">
              <a:schemeClr val="bg2">
                <a:alpha val="75000"/>
              </a:schemeClr>
            </a:outerShdw>
          </a:effectLst>
        </p:spPr>
        <p:txBody>
          <a:bodyPr lIns="38100" tIns="38100" rIns="38100" bIns="38100"/>
          <a:lstStyle/>
          <a:p>
            <a:pPr algn="l"/>
            <a:r>
              <a:rPr lang="en-US" sz="1800" dirty="0">
                <a:solidFill>
                  <a:schemeClr val="tx1"/>
                </a:solidFill>
                <a:latin typeface="Consolas"/>
                <a:cs typeface="Consolas"/>
                <a:sym typeface="Courier New Bold" charset="0"/>
              </a:rPr>
              <a:t>void main(){</a:t>
            </a:r>
          </a:p>
          <a:p>
            <a:pPr algn="l"/>
            <a:r>
              <a:rPr lang="en-US" sz="1800" dirty="0">
                <a:solidFill>
                  <a:schemeClr val="tx1"/>
                </a:solidFill>
                <a:latin typeface="Consolas"/>
                <a:cs typeface="Consolas"/>
                <a:sym typeface="Courier New Bold" charset="0"/>
              </a:rPr>
              <a:t>    ..</a:t>
            </a:r>
          </a:p>
          <a:p>
            <a:pPr algn="l"/>
            <a:r>
              <a:rPr lang="en-US" sz="1800" dirty="0">
                <a:solidFill>
                  <a:schemeClr val="tx1"/>
                </a:solidFill>
                <a:latin typeface="Consolas"/>
                <a:cs typeface="Consolas"/>
                <a:sym typeface="Courier New Bold" charset="0"/>
              </a:rPr>
              <a:t>    f(..)</a:t>
            </a:r>
          </a:p>
          <a:p>
            <a:pPr algn="l"/>
            <a:r>
              <a:rPr lang="en-US" sz="1800" dirty="0">
                <a:solidFill>
                  <a:schemeClr val="tx1"/>
                </a:solidFill>
                <a:latin typeface="Consolas"/>
                <a:cs typeface="Consolas"/>
                <a:sym typeface="Courier New Bold" charset="0"/>
              </a:rPr>
              <a:t>L1: ..</a:t>
            </a:r>
          </a:p>
          <a:p>
            <a:pPr algn="l"/>
            <a:r>
              <a:rPr lang="en-US" sz="1800" dirty="0">
                <a:solidFill>
                  <a:schemeClr val="tx1"/>
                </a:solidFill>
                <a:latin typeface="Consolas"/>
                <a:cs typeface="Consolas"/>
                <a:sym typeface="Courier New Bold" charset="0"/>
              </a:rPr>
              <a:t>} </a:t>
            </a:r>
          </a:p>
        </p:txBody>
      </p:sp>
      <p:sp>
        <p:nvSpPr>
          <p:cNvPr id="8" name="Rectangle 4"/>
          <p:cNvSpPr>
            <a:spLocks/>
          </p:cNvSpPr>
          <p:nvPr/>
        </p:nvSpPr>
        <p:spPr bwMode="auto">
          <a:xfrm>
            <a:off x="1447800" y="2819400"/>
            <a:ext cx="1841500" cy="1371600"/>
          </a:xfrm>
          <a:prstGeom prst="rect">
            <a:avLst/>
          </a:prstGeom>
          <a:solidFill>
            <a:srgbClr val="F6F5BD"/>
          </a:solidFill>
          <a:ln w="12700" cap="flat">
            <a:solidFill>
              <a:schemeClr val="tx1"/>
            </a:solidFill>
            <a:prstDash val="solid"/>
            <a:miter lim="800000"/>
            <a:headEnd type="none" w="med" len="med"/>
            <a:tailEnd type="none" w="med" len="med"/>
          </a:ln>
          <a:effectLst>
            <a:outerShdw dist="76199" dir="2700000" algn="ctr" rotWithShape="0">
              <a:schemeClr val="bg2">
                <a:alpha val="75000"/>
              </a:schemeClr>
            </a:outerShdw>
          </a:effectLst>
        </p:spPr>
        <p:txBody>
          <a:bodyPr lIns="38100" tIns="38100" rIns="38100" bIns="38100"/>
          <a:lstStyle/>
          <a:p>
            <a:pPr algn="l"/>
            <a:r>
              <a:rPr lang="en-US" sz="1800" dirty="0">
                <a:solidFill>
                  <a:schemeClr val="tx1"/>
                </a:solidFill>
                <a:latin typeface="Consolas"/>
                <a:cs typeface="Consolas"/>
                <a:sym typeface="Courier New Bold" charset="0"/>
              </a:rPr>
              <a:t>void f(){</a:t>
            </a:r>
          </a:p>
          <a:p>
            <a:pPr algn="l"/>
            <a:r>
              <a:rPr lang="en-US" sz="1800" dirty="0">
                <a:solidFill>
                  <a:schemeClr val="tx1"/>
                </a:solidFill>
                <a:latin typeface="Consolas"/>
                <a:cs typeface="Consolas"/>
                <a:sym typeface="Courier New Bold" charset="0"/>
              </a:rPr>
              <a:t>    ..</a:t>
            </a:r>
          </a:p>
          <a:p>
            <a:pPr algn="l"/>
            <a:r>
              <a:rPr lang="en-US" sz="1800" dirty="0">
                <a:solidFill>
                  <a:schemeClr val="tx1"/>
                </a:solidFill>
                <a:latin typeface="Consolas"/>
                <a:cs typeface="Consolas"/>
                <a:sym typeface="Courier New Bold" charset="0"/>
              </a:rPr>
              <a:t>    g(..)</a:t>
            </a:r>
          </a:p>
          <a:p>
            <a:pPr algn="l"/>
            <a:r>
              <a:rPr lang="en-US" sz="1800" dirty="0">
                <a:solidFill>
                  <a:schemeClr val="tx1"/>
                </a:solidFill>
                <a:latin typeface="Consolas"/>
                <a:cs typeface="Consolas"/>
                <a:sym typeface="Courier New Bold" charset="0"/>
              </a:rPr>
              <a:t>L2: ..</a:t>
            </a:r>
          </a:p>
          <a:p>
            <a:pPr algn="l"/>
            <a:r>
              <a:rPr lang="en-US" sz="1800" dirty="0">
                <a:solidFill>
                  <a:schemeClr val="tx1"/>
                </a:solidFill>
                <a:latin typeface="Consolas"/>
                <a:cs typeface="Consolas"/>
                <a:sym typeface="Courier New Bold" charset="0"/>
              </a:rPr>
              <a:t>} </a:t>
            </a:r>
          </a:p>
        </p:txBody>
      </p:sp>
      <p:sp>
        <p:nvSpPr>
          <p:cNvPr id="9" name="Rectangle 4"/>
          <p:cNvSpPr>
            <a:spLocks/>
          </p:cNvSpPr>
          <p:nvPr/>
        </p:nvSpPr>
        <p:spPr bwMode="auto">
          <a:xfrm>
            <a:off x="1447800" y="4419600"/>
            <a:ext cx="1841500" cy="1371600"/>
          </a:xfrm>
          <a:prstGeom prst="rect">
            <a:avLst/>
          </a:prstGeom>
          <a:solidFill>
            <a:srgbClr val="F6F5BD"/>
          </a:solidFill>
          <a:ln w="12700" cap="flat">
            <a:solidFill>
              <a:schemeClr val="tx1"/>
            </a:solidFill>
            <a:prstDash val="solid"/>
            <a:miter lim="800000"/>
            <a:headEnd type="none" w="med" len="med"/>
            <a:tailEnd type="none" w="med" len="med"/>
          </a:ln>
          <a:effectLst>
            <a:outerShdw dist="76199" dir="2700000" algn="ctr" rotWithShape="0">
              <a:schemeClr val="bg2">
                <a:alpha val="75000"/>
              </a:schemeClr>
            </a:outerShdw>
          </a:effectLst>
        </p:spPr>
        <p:txBody>
          <a:bodyPr lIns="38100" tIns="38100" rIns="38100" bIns="38100"/>
          <a:lstStyle/>
          <a:p>
            <a:pPr algn="l"/>
            <a:r>
              <a:rPr lang="en-US" sz="1800" dirty="0">
                <a:solidFill>
                  <a:schemeClr val="tx1"/>
                </a:solidFill>
                <a:latin typeface="Consolas"/>
                <a:cs typeface="Consolas"/>
                <a:sym typeface="Courier New Bold" charset="0"/>
              </a:rPr>
              <a:t>void g(){</a:t>
            </a:r>
          </a:p>
          <a:p>
            <a:pPr algn="l"/>
            <a:r>
              <a:rPr lang="en-US" sz="1800" dirty="0">
                <a:solidFill>
                  <a:schemeClr val="tx1"/>
                </a:solidFill>
                <a:latin typeface="Consolas"/>
                <a:cs typeface="Consolas"/>
                <a:sym typeface="Courier New Bold" charset="0"/>
              </a:rPr>
              <a:t>    ..</a:t>
            </a:r>
          </a:p>
          <a:p>
            <a:pPr algn="l"/>
            <a:r>
              <a:rPr lang="en-US" sz="1800" dirty="0">
                <a:solidFill>
                  <a:schemeClr val="tx1"/>
                </a:solidFill>
                <a:latin typeface="Consolas"/>
                <a:cs typeface="Consolas"/>
                <a:sym typeface="Courier New Bold" charset="0"/>
              </a:rPr>
              <a:t>    h(..)</a:t>
            </a:r>
          </a:p>
          <a:p>
            <a:pPr algn="l"/>
            <a:r>
              <a:rPr lang="en-US" sz="1800" dirty="0">
                <a:solidFill>
                  <a:schemeClr val="tx1"/>
                </a:solidFill>
                <a:latin typeface="Consolas"/>
                <a:cs typeface="Consolas"/>
                <a:sym typeface="Courier New Bold" charset="0"/>
              </a:rPr>
              <a:t>L3: ..</a:t>
            </a:r>
          </a:p>
          <a:p>
            <a:pPr algn="l"/>
            <a:r>
              <a:rPr lang="en-US" sz="1800" dirty="0">
                <a:solidFill>
                  <a:schemeClr val="tx1"/>
                </a:solidFill>
                <a:latin typeface="Consolas"/>
                <a:cs typeface="Consolas"/>
                <a:sym typeface="Courier New Bold" charset="0"/>
              </a:rPr>
              <a:t>} </a:t>
            </a:r>
          </a:p>
        </p:txBody>
      </p:sp>
      <p:sp>
        <p:nvSpPr>
          <p:cNvPr id="10" name="Freeform 9"/>
          <p:cNvSpPr/>
          <p:nvPr/>
        </p:nvSpPr>
        <p:spPr>
          <a:xfrm>
            <a:off x="2763337" y="2045936"/>
            <a:ext cx="0" cy="0"/>
          </a:xfrm>
          <a:custGeom>
            <a:avLst/>
            <a:gdLst>
              <a:gd name="connsiteX0" fmla="*/ 0 w 0"/>
              <a:gd name="connsiteY0" fmla="*/ 0 h 0"/>
              <a:gd name="connsiteX1" fmla="*/ 0 w 0"/>
              <a:gd name="connsiteY1" fmla="*/ 0 h 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>
                <a:moveTo>
                  <a:pt x="0" y="0"/>
                </a:moveTo>
                <a:lnTo>
                  <a:pt x="0" y="0"/>
                </a:lnTo>
              </a:path>
            </a:pathLst>
          </a:custGeom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4200" b="0" i="0" u="none" strike="noStrike" cap="none" normalizeH="0" baseline="0">
              <a:ln>
                <a:noFill/>
              </a:ln>
              <a:solidFill>
                <a:srgbClr val="000000"/>
              </a:solidFill>
              <a:effectLst/>
              <a:latin typeface="Gill Sans" charset="0"/>
              <a:ea typeface="ヒラギノ角ゴ ProN W3" charset="0"/>
              <a:cs typeface="ヒラギノ角ゴ ProN W3" charset="0"/>
              <a:sym typeface="Gill Sans" charset="0"/>
            </a:endParaRPr>
          </a:p>
        </p:txBody>
      </p:sp>
      <p:sp>
        <p:nvSpPr>
          <p:cNvPr id="12334" name="Freeform 12333"/>
          <p:cNvSpPr/>
          <p:nvPr/>
        </p:nvSpPr>
        <p:spPr>
          <a:xfrm>
            <a:off x="2836065" y="2013521"/>
            <a:ext cx="1949847" cy="1302306"/>
          </a:xfrm>
          <a:custGeom>
            <a:avLst/>
            <a:gdLst>
              <a:gd name="connsiteX0" fmla="*/ 21343 w 1949847"/>
              <a:gd name="connsiteY0" fmla="*/ 20656 h 1302306"/>
              <a:gd name="connsiteX1" fmla="*/ 221244 w 1949847"/>
              <a:gd name="connsiteY1" fmla="*/ 32415 h 1302306"/>
              <a:gd name="connsiteX2" fmla="*/ 1608792 w 1949847"/>
              <a:gd name="connsiteY2" fmla="*/ 326371 h 1302306"/>
              <a:gd name="connsiteX3" fmla="*/ 1843970 w 1949847"/>
              <a:gd name="connsiteY3" fmla="*/ 949558 h 1302306"/>
              <a:gd name="connsiteX4" fmla="*/ 174209 w 1949847"/>
              <a:gd name="connsiteY4" fmla="*/ 1302306 h 13023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49847" h="1302306">
                <a:moveTo>
                  <a:pt x="21343" y="20656"/>
                </a:moveTo>
                <a:cubicBezTo>
                  <a:pt x="-10994" y="1059"/>
                  <a:pt x="-43331" y="-18538"/>
                  <a:pt x="221244" y="32415"/>
                </a:cubicBezTo>
                <a:cubicBezTo>
                  <a:pt x="485819" y="83368"/>
                  <a:pt x="1338338" y="173514"/>
                  <a:pt x="1608792" y="326371"/>
                </a:cubicBezTo>
                <a:cubicBezTo>
                  <a:pt x="1879246" y="479228"/>
                  <a:pt x="2083067" y="786902"/>
                  <a:pt x="1843970" y="949558"/>
                </a:cubicBezTo>
                <a:cubicBezTo>
                  <a:pt x="1604873" y="1112214"/>
                  <a:pt x="456422" y="1243515"/>
                  <a:pt x="174209" y="1302306"/>
                </a:cubicBezTo>
              </a:path>
            </a:pathLst>
          </a:custGeom>
          <a:ln w="38100" cmpd="sng">
            <a:solidFill>
              <a:srgbClr val="FF0000"/>
            </a:solidFill>
            <a:headEnd type="arrow"/>
            <a:tailEnd type="none"/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4200" b="0" i="0" u="none" strike="noStrike" cap="none" normalizeH="0" baseline="0">
              <a:ln>
                <a:noFill/>
              </a:ln>
              <a:solidFill>
                <a:srgbClr val="000000"/>
              </a:solidFill>
              <a:effectLst/>
              <a:latin typeface="Gill Sans" charset="0"/>
              <a:ea typeface="ヒラギノ角ゴ ProN W3" charset="0"/>
              <a:cs typeface="ヒラギノ角ゴ ProN W3" charset="0"/>
              <a:sym typeface="Gill Sans" charset="0"/>
            </a:endParaRPr>
          </a:p>
        </p:txBody>
      </p:sp>
      <p:sp>
        <p:nvSpPr>
          <p:cNvPr id="12335" name="TextBox 12334"/>
          <p:cNvSpPr txBox="1"/>
          <p:nvPr/>
        </p:nvSpPr>
        <p:spPr>
          <a:xfrm>
            <a:off x="4648200" y="1905000"/>
            <a:ext cx="39624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2000" dirty="0">
                <a:latin typeface="Arial"/>
                <a:cs typeface="Arial"/>
              </a:rPr>
              <a:t>Jump to L1</a:t>
            </a:r>
          </a:p>
          <a:p>
            <a:pPr algn="l"/>
            <a:r>
              <a:rPr lang="en-US" sz="2000" dirty="0">
                <a:latin typeface="Arial"/>
                <a:cs typeface="Arial"/>
              </a:rPr>
              <a:t>Forget L1</a:t>
            </a:r>
          </a:p>
        </p:txBody>
      </p:sp>
      <p:sp>
        <p:nvSpPr>
          <p:cNvPr id="80" name="Freeform 79"/>
          <p:cNvSpPr/>
          <p:nvPr/>
        </p:nvSpPr>
        <p:spPr>
          <a:xfrm>
            <a:off x="3124200" y="3657600"/>
            <a:ext cx="1949847" cy="1302306"/>
          </a:xfrm>
          <a:custGeom>
            <a:avLst/>
            <a:gdLst>
              <a:gd name="connsiteX0" fmla="*/ 21343 w 1949847"/>
              <a:gd name="connsiteY0" fmla="*/ 20656 h 1302306"/>
              <a:gd name="connsiteX1" fmla="*/ 221244 w 1949847"/>
              <a:gd name="connsiteY1" fmla="*/ 32415 h 1302306"/>
              <a:gd name="connsiteX2" fmla="*/ 1608792 w 1949847"/>
              <a:gd name="connsiteY2" fmla="*/ 326371 h 1302306"/>
              <a:gd name="connsiteX3" fmla="*/ 1843970 w 1949847"/>
              <a:gd name="connsiteY3" fmla="*/ 949558 h 1302306"/>
              <a:gd name="connsiteX4" fmla="*/ 174209 w 1949847"/>
              <a:gd name="connsiteY4" fmla="*/ 1302306 h 13023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49847" h="1302306">
                <a:moveTo>
                  <a:pt x="21343" y="20656"/>
                </a:moveTo>
                <a:cubicBezTo>
                  <a:pt x="-10994" y="1059"/>
                  <a:pt x="-43331" y="-18538"/>
                  <a:pt x="221244" y="32415"/>
                </a:cubicBezTo>
                <a:cubicBezTo>
                  <a:pt x="485819" y="83368"/>
                  <a:pt x="1338338" y="173514"/>
                  <a:pt x="1608792" y="326371"/>
                </a:cubicBezTo>
                <a:cubicBezTo>
                  <a:pt x="1879246" y="479228"/>
                  <a:pt x="2083067" y="786902"/>
                  <a:pt x="1843970" y="949558"/>
                </a:cubicBezTo>
                <a:cubicBezTo>
                  <a:pt x="1604873" y="1112214"/>
                  <a:pt x="456422" y="1243515"/>
                  <a:pt x="174209" y="1302306"/>
                </a:cubicBezTo>
              </a:path>
            </a:pathLst>
          </a:custGeom>
          <a:ln w="38100" cmpd="sng">
            <a:solidFill>
              <a:srgbClr val="FF0000"/>
            </a:solidFill>
            <a:headEnd type="arrow"/>
            <a:tailEnd type="none"/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4200" b="0" i="0" u="none" strike="noStrike" cap="none" normalizeH="0" baseline="0">
              <a:ln>
                <a:noFill/>
              </a:ln>
              <a:solidFill>
                <a:srgbClr val="000000"/>
              </a:solidFill>
              <a:effectLst/>
              <a:latin typeface="Gill Sans" charset="0"/>
              <a:ea typeface="ヒラギノ角ゴ ProN W3" charset="0"/>
              <a:cs typeface="ヒラギノ角ゴ ProN W3" charset="0"/>
              <a:sym typeface="Gill Sans" charset="0"/>
            </a:endParaRPr>
          </a:p>
        </p:txBody>
      </p:sp>
      <p:sp>
        <p:nvSpPr>
          <p:cNvPr id="82" name="Freeform 81"/>
          <p:cNvSpPr/>
          <p:nvPr/>
        </p:nvSpPr>
        <p:spPr>
          <a:xfrm>
            <a:off x="3200400" y="5181600"/>
            <a:ext cx="1949847" cy="1302306"/>
          </a:xfrm>
          <a:custGeom>
            <a:avLst/>
            <a:gdLst>
              <a:gd name="connsiteX0" fmla="*/ 21343 w 1949847"/>
              <a:gd name="connsiteY0" fmla="*/ 20656 h 1302306"/>
              <a:gd name="connsiteX1" fmla="*/ 221244 w 1949847"/>
              <a:gd name="connsiteY1" fmla="*/ 32415 h 1302306"/>
              <a:gd name="connsiteX2" fmla="*/ 1608792 w 1949847"/>
              <a:gd name="connsiteY2" fmla="*/ 326371 h 1302306"/>
              <a:gd name="connsiteX3" fmla="*/ 1843970 w 1949847"/>
              <a:gd name="connsiteY3" fmla="*/ 949558 h 1302306"/>
              <a:gd name="connsiteX4" fmla="*/ 174209 w 1949847"/>
              <a:gd name="connsiteY4" fmla="*/ 1302306 h 13023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49847" h="1302306">
                <a:moveTo>
                  <a:pt x="21343" y="20656"/>
                </a:moveTo>
                <a:cubicBezTo>
                  <a:pt x="-10994" y="1059"/>
                  <a:pt x="-43331" y="-18538"/>
                  <a:pt x="221244" y="32415"/>
                </a:cubicBezTo>
                <a:cubicBezTo>
                  <a:pt x="485819" y="83368"/>
                  <a:pt x="1338338" y="173514"/>
                  <a:pt x="1608792" y="326371"/>
                </a:cubicBezTo>
                <a:cubicBezTo>
                  <a:pt x="1879246" y="479228"/>
                  <a:pt x="2083067" y="786902"/>
                  <a:pt x="1843970" y="949558"/>
                </a:cubicBezTo>
                <a:cubicBezTo>
                  <a:pt x="1604873" y="1112214"/>
                  <a:pt x="456422" y="1243515"/>
                  <a:pt x="174209" y="1302306"/>
                </a:cubicBezTo>
              </a:path>
            </a:pathLst>
          </a:custGeom>
          <a:ln w="38100" cmpd="sng">
            <a:solidFill>
              <a:srgbClr val="FF0000"/>
            </a:solidFill>
            <a:headEnd type="arrow"/>
            <a:tailEnd type="none"/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4200" b="0" i="0" u="none" strike="noStrike" cap="none" normalizeH="0" baseline="0">
              <a:ln>
                <a:noFill/>
              </a:ln>
              <a:solidFill>
                <a:srgbClr val="000000"/>
              </a:solidFill>
              <a:effectLst/>
              <a:latin typeface="Gill Sans" charset="0"/>
              <a:ea typeface="ヒラギノ角ゴ ProN W3" charset="0"/>
              <a:cs typeface="ヒラギノ角ゴ ProN W3" charset="0"/>
              <a:sym typeface="Gill Sans" charset="0"/>
            </a:endParaRPr>
          </a:p>
        </p:txBody>
      </p:sp>
      <p:sp>
        <p:nvSpPr>
          <p:cNvPr id="85" name="TextBox 84"/>
          <p:cNvSpPr txBox="1"/>
          <p:nvPr/>
        </p:nvSpPr>
        <p:spPr>
          <a:xfrm>
            <a:off x="4572000" y="3581400"/>
            <a:ext cx="39624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dirty="0">
                <a:latin typeface="Arial"/>
                <a:cs typeface="Arial"/>
              </a:rPr>
              <a:t>Jump to L2</a:t>
            </a:r>
          </a:p>
          <a:p>
            <a:r>
              <a:rPr lang="en-US" altLang="zh-CN" sz="2000" dirty="0">
                <a:latin typeface="Arial"/>
                <a:cs typeface="Arial"/>
              </a:rPr>
              <a:t>Forget L2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724400" y="4982740"/>
            <a:ext cx="39624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2000" dirty="0">
                <a:latin typeface="Arial"/>
                <a:cs typeface="Arial"/>
              </a:rPr>
              <a:t>Jump to L3</a:t>
            </a:r>
          </a:p>
          <a:p>
            <a:pPr algn="l"/>
            <a:r>
              <a:rPr lang="en-US" sz="2000" dirty="0">
                <a:latin typeface="Arial"/>
                <a:cs typeface="Arial"/>
              </a:rPr>
              <a:t>Forget L3</a:t>
            </a:r>
          </a:p>
        </p:txBody>
      </p:sp>
      <p:sp>
        <p:nvSpPr>
          <p:cNvPr id="90" name="Rectangle 89"/>
          <p:cNvSpPr/>
          <p:nvPr/>
        </p:nvSpPr>
        <p:spPr bwMode="auto">
          <a:xfrm>
            <a:off x="8352197" y="3482457"/>
            <a:ext cx="457200" cy="381000"/>
          </a:xfrm>
          <a:prstGeom prst="rect">
            <a:avLst/>
          </a:prstGeom>
          <a:solidFill>
            <a:srgbClr val="FFFF00"/>
          </a:solidFill>
          <a:ln w="25400" cap="flat" cmpd="sng" algn="ctr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/>
                <a:ea typeface="ヒラギノ角ゴ ProN W3" charset="0"/>
                <a:cs typeface="Arial"/>
                <a:sym typeface="Gill Sans" charset="0"/>
              </a:rPr>
              <a:t>L2</a:t>
            </a:r>
          </a:p>
        </p:txBody>
      </p:sp>
      <p:sp>
        <p:nvSpPr>
          <p:cNvPr id="91" name="Rectangle 90"/>
          <p:cNvSpPr/>
          <p:nvPr/>
        </p:nvSpPr>
        <p:spPr bwMode="auto">
          <a:xfrm>
            <a:off x="8354477" y="3866967"/>
            <a:ext cx="457200" cy="381000"/>
          </a:xfrm>
          <a:prstGeom prst="rect">
            <a:avLst/>
          </a:prstGeom>
          <a:solidFill>
            <a:srgbClr val="FFFF00"/>
          </a:solidFill>
          <a:ln w="25400" cap="flat" cmpd="sng" algn="ctr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/>
                <a:ea typeface="ヒラギノ角ゴ ProN W3" charset="0"/>
                <a:cs typeface="Arial"/>
                <a:sym typeface="Gill Sans" charset="0"/>
              </a:rPr>
              <a:t>L1</a:t>
            </a:r>
          </a:p>
        </p:txBody>
      </p:sp>
      <p:sp>
        <p:nvSpPr>
          <p:cNvPr id="21" name="Rectangle 88"/>
          <p:cNvSpPr/>
          <p:nvPr/>
        </p:nvSpPr>
        <p:spPr bwMode="auto">
          <a:xfrm>
            <a:off x="8354477" y="3121197"/>
            <a:ext cx="457200" cy="381000"/>
          </a:xfrm>
          <a:prstGeom prst="rect">
            <a:avLst/>
          </a:prstGeom>
          <a:solidFill>
            <a:srgbClr val="FFFF00"/>
          </a:solidFill>
          <a:ln w="25400" cap="flat" cmpd="sng" algn="ctr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Gill Sans" charset="0"/>
                <a:ea typeface="ヒラギノ角ゴ ProN W3" charset="0"/>
                <a:cs typeface="ヒラギノ角ゴ ProN W3" charset="0"/>
                <a:sym typeface="Gill Sans" charset="0"/>
              </a:rPr>
              <a:t>L3</a:t>
            </a:r>
          </a:p>
        </p:txBody>
      </p:sp>
      <p:cxnSp>
        <p:nvCxnSpPr>
          <p:cNvPr id="17" name="Straight Connector 2"/>
          <p:cNvCxnSpPr/>
          <p:nvPr/>
        </p:nvCxnSpPr>
        <p:spPr bwMode="auto">
          <a:xfrm flipV="1">
            <a:off x="8153400" y="3201527"/>
            <a:ext cx="838200" cy="228600"/>
          </a:xfrm>
          <a:prstGeom prst="line">
            <a:avLst/>
          </a:prstGeom>
          <a:solidFill>
            <a:schemeClr val="accent1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18" name="Straight Connector 2"/>
          <p:cNvCxnSpPr/>
          <p:nvPr/>
        </p:nvCxnSpPr>
        <p:spPr bwMode="auto">
          <a:xfrm flipV="1">
            <a:off x="8213808" y="3582527"/>
            <a:ext cx="838200" cy="228600"/>
          </a:xfrm>
          <a:prstGeom prst="line">
            <a:avLst/>
          </a:prstGeom>
          <a:solidFill>
            <a:schemeClr val="accent1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19" name="Straight Connector 2"/>
          <p:cNvCxnSpPr/>
          <p:nvPr/>
        </p:nvCxnSpPr>
        <p:spPr bwMode="auto">
          <a:xfrm flipV="1">
            <a:off x="8188875" y="3992347"/>
            <a:ext cx="838200" cy="228600"/>
          </a:xfrm>
          <a:prstGeom prst="line">
            <a:avLst/>
          </a:prstGeom>
          <a:solidFill>
            <a:schemeClr val="accent1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2" name="矩形 1"/>
          <p:cNvSpPr/>
          <p:nvPr/>
        </p:nvSpPr>
        <p:spPr>
          <a:xfrm>
            <a:off x="8213809" y="4420081"/>
            <a:ext cx="838200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dirty="0">
                <a:latin typeface="Arial"/>
                <a:cs typeface="Arial"/>
              </a:rPr>
              <a:t>Stack</a:t>
            </a:r>
          </a:p>
        </p:txBody>
      </p:sp>
    </p:spTree>
    <p:extLst>
      <p:ext uri="{BB962C8B-B14F-4D97-AF65-F5344CB8AC3E}">
        <p14:creationId xmlns:p14="http://schemas.microsoft.com/office/powerpoint/2010/main" val="40689136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/>
          <p:cNvSpPr/>
          <p:nvPr/>
        </p:nvSpPr>
        <p:spPr>
          <a:xfrm>
            <a:off x="5770729" y="420774"/>
            <a:ext cx="2617701" cy="6087558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 w="381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kumimoji="1" lang="zh-CN" altLang="en-US" dirty="0">
              <a:solidFill>
                <a:schemeClr val="tx1"/>
              </a:solidFill>
              <a:latin typeface="Verdana"/>
              <a:cs typeface="Verdana"/>
            </a:endParaRPr>
          </a:p>
        </p:txBody>
      </p:sp>
      <p:sp>
        <p:nvSpPr>
          <p:cNvPr id="6" name="矩形 5"/>
          <p:cNvSpPr/>
          <p:nvPr/>
        </p:nvSpPr>
        <p:spPr>
          <a:xfrm>
            <a:off x="2628224" y="6479537"/>
            <a:ext cx="1219980" cy="400110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kumimoji="1" lang="en-US" altLang="zh-CN" sz="2000" dirty="0">
                <a:latin typeface="Verdana"/>
                <a:cs typeface="Verdana"/>
              </a:rPr>
              <a:t>Memory</a:t>
            </a:r>
            <a:endParaRPr lang="zh-CN" altLang="en-US" sz="2000" dirty="0"/>
          </a:p>
        </p:txBody>
      </p:sp>
      <p:sp>
        <p:nvSpPr>
          <p:cNvPr id="27" name="矩形 26"/>
          <p:cNvSpPr/>
          <p:nvPr/>
        </p:nvSpPr>
        <p:spPr>
          <a:xfrm>
            <a:off x="6707135" y="402971"/>
            <a:ext cx="65399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 dirty="0">
                <a:latin typeface="Verdana"/>
                <a:cs typeface="Verdana"/>
              </a:rPr>
              <a:t>CPU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28" name="圆角矩形 27"/>
          <p:cNvSpPr/>
          <p:nvPr/>
        </p:nvSpPr>
        <p:spPr>
          <a:xfrm>
            <a:off x="6707135" y="829513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latin typeface="Arial"/>
              <a:cs typeface="Arial"/>
            </a:endParaRPr>
          </a:p>
        </p:txBody>
      </p:sp>
      <p:sp>
        <p:nvSpPr>
          <p:cNvPr id="29" name="矩形 28"/>
          <p:cNvSpPr/>
          <p:nvPr/>
        </p:nvSpPr>
        <p:spPr>
          <a:xfrm>
            <a:off x="5973834" y="849437"/>
            <a:ext cx="68640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 dirty="0">
                <a:latin typeface="Verdana"/>
                <a:cs typeface="Verdana"/>
              </a:rPr>
              <a:t>RIP: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33" name="矩形 32"/>
          <p:cNvSpPr/>
          <p:nvPr/>
        </p:nvSpPr>
        <p:spPr>
          <a:xfrm>
            <a:off x="6007264" y="1716244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RAX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34" name="圆角矩形 33"/>
          <p:cNvSpPr/>
          <p:nvPr/>
        </p:nvSpPr>
        <p:spPr>
          <a:xfrm>
            <a:off x="6707134" y="1726615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5" name="圆角矩形 34"/>
          <p:cNvSpPr/>
          <p:nvPr/>
        </p:nvSpPr>
        <p:spPr>
          <a:xfrm>
            <a:off x="6732381" y="2156558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6" name="圆角矩形 35"/>
          <p:cNvSpPr/>
          <p:nvPr/>
        </p:nvSpPr>
        <p:spPr>
          <a:xfrm>
            <a:off x="6732381" y="2585832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 dirty="0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37" name="圆角矩形 36"/>
          <p:cNvSpPr/>
          <p:nvPr/>
        </p:nvSpPr>
        <p:spPr>
          <a:xfrm>
            <a:off x="6727649" y="3016507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 dirty="0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38" name="圆角矩形 37"/>
          <p:cNvSpPr/>
          <p:nvPr/>
        </p:nvSpPr>
        <p:spPr>
          <a:xfrm>
            <a:off x="6728204" y="3454928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9" name="圆角矩形 38"/>
          <p:cNvSpPr/>
          <p:nvPr/>
        </p:nvSpPr>
        <p:spPr>
          <a:xfrm>
            <a:off x="6730569" y="3884871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40" name="圆角矩形 39"/>
          <p:cNvSpPr/>
          <p:nvPr/>
        </p:nvSpPr>
        <p:spPr>
          <a:xfrm>
            <a:off x="6719128" y="4314145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is-IS" altLang="zh-CN" dirty="0">
                <a:solidFill>
                  <a:prstClr val="black"/>
                </a:solidFill>
                <a:latin typeface="Arial"/>
                <a:cs typeface="Arial"/>
                <a:sym typeface="Courier New Bold" charset="0"/>
              </a:rPr>
              <a:t>0x7f…0080</a:t>
            </a:r>
          </a:p>
        </p:txBody>
      </p:sp>
      <p:sp>
        <p:nvSpPr>
          <p:cNvPr id="41" name="圆角矩形 40"/>
          <p:cNvSpPr/>
          <p:nvPr/>
        </p:nvSpPr>
        <p:spPr>
          <a:xfrm>
            <a:off x="6725837" y="4744820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 dirty="0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42" name="矩形 41"/>
          <p:cNvSpPr/>
          <p:nvPr/>
        </p:nvSpPr>
        <p:spPr>
          <a:xfrm>
            <a:off x="7071077" y="6098041"/>
            <a:ext cx="441146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mr-IN" altLang="zh-CN" sz="2000" b="1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sz="2000" b="1" dirty="0"/>
          </a:p>
        </p:txBody>
      </p:sp>
      <p:sp>
        <p:nvSpPr>
          <p:cNvPr id="43" name="矩形 42"/>
          <p:cNvSpPr/>
          <p:nvPr/>
        </p:nvSpPr>
        <p:spPr>
          <a:xfrm>
            <a:off x="6004115" y="2168000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RBX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44" name="矩形 43"/>
          <p:cNvSpPr/>
          <p:nvPr/>
        </p:nvSpPr>
        <p:spPr>
          <a:xfrm>
            <a:off x="5989455" y="2585832"/>
            <a:ext cx="77685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RCX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45" name="矩形 44"/>
          <p:cNvSpPr/>
          <p:nvPr/>
        </p:nvSpPr>
        <p:spPr>
          <a:xfrm>
            <a:off x="5993122" y="3024282"/>
            <a:ext cx="77685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RDX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46" name="矩形 45"/>
          <p:cNvSpPr/>
          <p:nvPr/>
        </p:nvSpPr>
        <p:spPr>
          <a:xfrm>
            <a:off x="5990867" y="3451290"/>
            <a:ext cx="67428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RSI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47" name="矩形 46"/>
          <p:cNvSpPr/>
          <p:nvPr/>
        </p:nvSpPr>
        <p:spPr>
          <a:xfrm>
            <a:off x="5986305" y="3882159"/>
            <a:ext cx="68702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RDI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48" name="矩形 47"/>
          <p:cNvSpPr/>
          <p:nvPr/>
        </p:nvSpPr>
        <p:spPr>
          <a:xfrm>
            <a:off x="5985749" y="4320609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RSP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49" name="矩形 48"/>
          <p:cNvSpPr/>
          <p:nvPr/>
        </p:nvSpPr>
        <p:spPr>
          <a:xfrm>
            <a:off x="5983157" y="4718557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RBP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56" name="矩形 55"/>
          <p:cNvSpPr/>
          <p:nvPr/>
        </p:nvSpPr>
        <p:spPr>
          <a:xfrm>
            <a:off x="4527616" y="1189053"/>
            <a:ext cx="591253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kumimoji="1" lang="en-US" altLang="zh-CN" sz="1400" b="1" dirty="0">
                <a:latin typeface="Verdana"/>
                <a:cs typeface="Verdana"/>
              </a:rPr>
              <a:t>TOP</a:t>
            </a:r>
            <a:endParaRPr lang="zh-CN" altLang="en-US" sz="1400" b="1" dirty="0"/>
          </a:p>
        </p:txBody>
      </p:sp>
      <p:sp>
        <p:nvSpPr>
          <p:cNvPr id="57" name="矩形 56"/>
          <p:cNvSpPr/>
          <p:nvPr/>
        </p:nvSpPr>
        <p:spPr>
          <a:xfrm>
            <a:off x="6194819" y="5220252"/>
            <a:ext cx="57149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ZF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58" name="圆角矩形 57"/>
          <p:cNvSpPr/>
          <p:nvPr/>
        </p:nvSpPr>
        <p:spPr>
          <a:xfrm>
            <a:off x="6748122" y="5211806"/>
            <a:ext cx="439253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  <a:sym typeface="Courier New Bold" charset="0"/>
              </a:rPr>
              <a:t>0</a:t>
            </a:r>
          </a:p>
        </p:txBody>
      </p:sp>
      <p:sp>
        <p:nvSpPr>
          <p:cNvPr id="62" name="矩形 61"/>
          <p:cNvSpPr/>
          <p:nvPr/>
        </p:nvSpPr>
        <p:spPr>
          <a:xfrm>
            <a:off x="7298019" y="5198018"/>
            <a:ext cx="58445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SF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64" name="圆角矩形 63"/>
          <p:cNvSpPr/>
          <p:nvPr/>
        </p:nvSpPr>
        <p:spPr>
          <a:xfrm>
            <a:off x="7857802" y="5189572"/>
            <a:ext cx="439253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  <a:sym typeface="Courier New Bold" charset="0"/>
              </a:rPr>
              <a:t>0</a:t>
            </a:r>
          </a:p>
        </p:txBody>
      </p:sp>
      <p:sp>
        <p:nvSpPr>
          <p:cNvPr id="65" name="矩形 64"/>
          <p:cNvSpPr/>
          <p:nvPr/>
        </p:nvSpPr>
        <p:spPr>
          <a:xfrm>
            <a:off x="6177727" y="5675034"/>
            <a:ext cx="59718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CF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77" name="圆角矩形 76"/>
          <p:cNvSpPr/>
          <p:nvPr/>
        </p:nvSpPr>
        <p:spPr>
          <a:xfrm>
            <a:off x="6743879" y="5666588"/>
            <a:ext cx="439253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  <a:sym typeface="Courier New Bold" charset="0"/>
              </a:rPr>
              <a:t>0</a:t>
            </a:r>
          </a:p>
        </p:txBody>
      </p:sp>
      <p:sp>
        <p:nvSpPr>
          <p:cNvPr id="78" name="矩形 77"/>
          <p:cNvSpPr/>
          <p:nvPr/>
        </p:nvSpPr>
        <p:spPr>
          <a:xfrm>
            <a:off x="7280983" y="5652800"/>
            <a:ext cx="61003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OF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79" name="圆角矩形 78"/>
          <p:cNvSpPr/>
          <p:nvPr/>
        </p:nvSpPr>
        <p:spPr>
          <a:xfrm>
            <a:off x="7853559" y="5644354"/>
            <a:ext cx="439253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  <a:sym typeface="Courier New Bold" charset="0"/>
              </a:rPr>
              <a:t>0</a:t>
            </a:r>
          </a:p>
        </p:txBody>
      </p:sp>
      <p:sp>
        <p:nvSpPr>
          <p:cNvPr id="7" name="矩形 6"/>
          <p:cNvSpPr/>
          <p:nvPr/>
        </p:nvSpPr>
        <p:spPr>
          <a:xfrm>
            <a:off x="2188232" y="848230"/>
            <a:ext cx="1951499" cy="33916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cs-CZ" altLang="zh-CN" sz="1600" b="1" dirty="0">
              <a:latin typeface="Consolas"/>
              <a:cs typeface="Consolas"/>
              <a:sym typeface="Courier New Bold" charset="0"/>
            </a:endParaRPr>
          </a:p>
        </p:txBody>
      </p:sp>
      <p:sp>
        <p:nvSpPr>
          <p:cNvPr id="8" name="矩形 7"/>
          <p:cNvSpPr/>
          <p:nvPr/>
        </p:nvSpPr>
        <p:spPr>
          <a:xfrm>
            <a:off x="2188232" y="509066"/>
            <a:ext cx="1951499" cy="33916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endParaRPr lang="en-US" altLang="zh-CN" sz="1600" dirty="0">
              <a:solidFill>
                <a:prstClr val="black"/>
              </a:solidFill>
              <a:latin typeface="Consolas"/>
              <a:cs typeface="Consolas"/>
            </a:endParaRPr>
          </a:p>
        </p:txBody>
      </p:sp>
      <p:sp>
        <p:nvSpPr>
          <p:cNvPr id="9" name="矩形 8"/>
          <p:cNvSpPr/>
          <p:nvPr/>
        </p:nvSpPr>
        <p:spPr>
          <a:xfrm>
            <a:off x="2188232" y="172303"/>
            <a:ext cx="1951499" cy="33916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tabLst>
                <a:tab pos="514350" algn="l"/>
                <a:tab pos="2801938" algn="l"/>
                <a:tab pos="3086100" algn="l"/>
                <a:tab pos="3086100" algn="l"/>
                <a:tab pos="3086100" algn="l"/>
                <a:tab pos="3086100" algn="l"/>
              </a:tabLst>
            </a:pPr>
            <a:endParaRPr lang="cs-CZ" altLang="zh-CN" sz="1600" dirty="0">
              <a:latin typeface="Consolas"/>
              <a:cs typeface="Consolas"/>
              <a:sym typeface="Courier New Bold" charset="0"/>
            </a:endParaRPr>
          </a:p>
        </p:txBody>
      </p:sp>
      <p:sp>
        <p:nvSpPr>
          <p:cNvPr id="11" name="矩形 10"/>
          <p:cNvSpPr/>
          <p:nvPr/>
        </p:nvSpPr>
        <p:spPr>
          <a:xfrm>
            <a:off x="2188232" y="1187037"/>
            <a:ext cx="1951499" cy="33916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zh-CN" altLang="en-US" sz="1600" dirty="0">
              <a:solidFill>
                <a:prstClr val="black"/>
              </a:solidFill>
              <a:latin typeface="Consolas"/>
              <a:cs typeface="Consolas"/>
            </a:endParaRPr>
          </a:p>
        </p:txBody>
      </p:sp>
      <p:sp>
        <p:nvSpPr>
          <p:cNvPr id="12" name="矩形 11"/>
          <p:cNvSpPr/>
          <p:nvPr/>
        </p:nvSpPr>
        <p:spPr>
          <a:xfrm>
            <a:off x="2192602" y="2480935"/>
            <a:ext cx="1951499" cy="3391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3" name="矩形 12"/>
          <p:cNvSpPr/>
          <p:nvPr/>
        </p:nvSpPr>
        <p:spPr>
          <a:xfrm>
            <a:off x="2196971" y="2830491"/>
            <a:ext cx="1951499" cy="3391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4" name="矩形 13"/>
          <p:cNvSpPr/>
          <p:nvPr/>
        </p:nvSpPr>
        <p:spPr>
          <a:xfrm>
            <a:off x="2204552" y="3162959"/>
            <a:ext cx="1951499" cy="339164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5" name="矩形 14"/>
          <p:cNvSpPr/>
          <p:nvPr/>
        </p:nvSpPr>
        <p:spPr>
          <a:xfrm>
            <a:off x="2204552" y="3496799"/>
            <a:ext cx="1951499" cy="339164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6" name="矩形 15"/>
          <p:cNvSpPr/>
          <p:nvPr/>
        </p:nvSpPr>
        <p:spPr>
          <a:xfrm>
            <a:off x="2204552" y="3831483"/>
            <a:ext cx="1951499" cy="339164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24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25" name="矩形 24"/>
          <p:cNvSpPr/>
          <p:nvPr/>
        </p:nvSpPr>
        <p:spPr>
          <a:xfrm>
            <a:off x="2188232" y="2160308"/>
            <a:ext cx="1951499" cy="319756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24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cxnSp>
        <p:nvCxnSpPr>
          <p:cNvPr id="4" name="直线箭头连接符 3"/>
          <p:cNvCxnSpPr/>
          <p:nvPr/>
        </p:nvCxnSpPr>
        <p:spPr>
          <a:xfrm flipH="1">
            <a:off x="4160649" y="1331216"/>
            <a:ext cx="249222" cy="0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59" name="矩形 58"/>
          <p:cNvSpPr/>
          <p:nvPr/>
        </p:nvSpPr>
        <p:spPr>
          <a:xfrm>
            <a:off x="2183421" y="1842833"/>
            <a:ext cx="1951499" cy="319756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24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61" name="矩形 60"/>
          <p:cNvSpPr/>
          <p:nvPr/>
        </p:nvSpPr>
        <p:spPr>
          <a:xfrm>
            <a:off x="2188134" y="1524281"/>
            <a:ext cx="1951499" cy="319756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24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63" name="矩形 62"/>
          <p:cNvSpPr/>
          <p:nvPr/>
        </p:nvSpPr>
        <p:spPr>
          <a:xfrm>
            <a:off x="2206261" y="4170647"/>
            <a:ext cx="1951499" cy="339164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24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80" name="矩形 79"/>
          <p:cNvSpPr/>
          <p:nvPr/>
        </p:nvSpPr>
        <p:spPr>
          <a:xfrm>
            <a:off x="2209150" y="4496474"/>
            <a:ext cx="1951499" cy="339164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24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81" name="矩形 80"/>
          <p:cNvSpPr/>
          <p:nvPr/>
        </p:nvSpPr>
        <p:spPr>
          <a:xfrm>
            <a:off x="2207113" y="4836078"/>
            <a:ext cx="1951499" cy="339164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24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82" name="矩形 81"/>
          <p:cNvSpPr/>
          <p:nvPr/>
        </p:nvSpPr>
        <p:spPr>
          <a:xfrm>
            <a:off x="2206557" y="5167118"/>
            <a:ext cx="1951499" cy="339164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24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83" name="矩形 82"/>
          <p:cNvSpPr/>
          <p:nvPr/>
        </p:nvSpPr>
        <p:spPr>
          <a:xfrm>
            <a:off x="2209150" y="5503532"/>
            <a:ext cx="1951499" cy="339164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24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84" name="矩形 83"/>
          <p:cNvSpPr/>
          <p:nvPr/>
        </p:nvSpPr>
        <p:spPr>
          <a:xfrm>
            <a:off x="1607980" y="6097204"/>
            <a:ext cx="492443" cy="427994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mr-IN" altLang="zh-CN" sz="2400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sz="2400" dirty="0"/>
          </a:p>
        </p:txBody>
      </p:sp>
      <p:sp>
        <p:nvSpPr>
          <p:cNvPr id="85" name="矩形 84"/>
          <p:cNvSpPr/>
          <p:nvPr/>
        </p:nvSpPr>
        <p:spPr>
          <a:xfrm>
            <a:off x="829345" y="2831664"/>
            <a:ext cx="1365315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0x7f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0058</a:t>
            </a:r>
            <a:endParaRPr lang="zh-CN" altLang="en-US" dirty="0"/>
          </a:p>
        </p:txBody>
      </p:sp>
      <p:sp>
        <p:nvSpPr>
          <p:cNvPr id="86" name="矩形 85"/>
          <p:cNvSpPr/>
          <p:nvPr/>
        </p:nvSpPr>
        <p:spPr>
          <a:xfrm>
            <a:off x="818106" y="3158305"/>
            <a:ext cx="1365315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0x7f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0050</a:t>
            </a:r>
            <a:endParaRPr lang="zh-CN" altLang="en-US" dirty="0"/>
          </a:p>
        </p:txBody>
      </p:sp>
      <p:sp>
        <p:nvSpPr>
          <p:cNvPr id="87" name="矩形 86"/>
          <p:cNvSpPr/>
          <p:nvPr/>
        </p:nvSpPr>
        <p:spPr>
          <a:xfrm>
            <a:off x="753860" y="5847810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0010</a:t>
            </a:r>
            <a:endParaRPr lang="zh-CN" altLang="en-US" dirty="0"/>
          </a:p>
        </p:txBody>
      </p:sp>
      <p:sp>
        <p:nvSpPr>
          <p:cNvPr id="88" name="矩形 87"/>
          <p:cNvSpPr/>
          <p:nvPr/>
        </p:nvSpPr>
        <p:spPr>
          <a:xfrm>
            <a:off x="753860" y="5499980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0018</a:t>
            </a:r>
            <a:endParaRPr lang="zh-CN" altLang="en-US" dirty="0"/>
          </a:p>
        </p:txBody>
      </p:sp>
      <p:sp>
        <p:nvSpPr>
          <p:cNvPr id="89" name="矩形 88"/>
          <p:cNvSpPr/>
          <p:nvPr/>
        </p:nvSpPr>
        <p:spPr>
          <a:xfrm>
            <a:off x="753860" y="5164228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0020</a:t>
            </a:r>
            <a:endParaRPr lang="zh-CN" altLang="en-US" dirty="0"/>
          </a:p>
        </p:txBody>
      </p:sp>
      <p:sp>
        <p:nvSpPr>
          <p:cNvPr id="90" name="矩形 89"/>
          <p:cNvSpPr/>
          <p:nvPr/>
        </p:nvSpPr>
        <p:spPr>
          <a:xfrm>
            <a:off x="753860" y="4832795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0028</a:t>
            </a:r>
            <a:endParaRPr lang="zh-CN" altLang="en-US" dirty="0"/>
          </a:p>
        </p:txBody>
      </p:sp>
      <p:sp>
        <p:nvSpPr>
          <p:cNvPr id="91" name="矩形 90"/>
          <p:cNvSpPr/>
          <p:nvPr/>
        </p:nvSpPr>
        <p:spPr>
          <a:xfrm>
            <a:off x="765099" y="4489071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0030</a:t>
            </a:r>
            <a:endParaRPr lang="zh-CN" altLang="en-US" dirty="0"/>
          </a:p>
        </p:txBody>
      </p:sp>
      <p:sp>
        <p:nvSpPr>
          <p:cNvPr id="92" name="矩形 91"/>
          <p:cNvSpPr/>
          <p:nvPr/>
        </p:nvSpPr>
        <p:spPr>
          <a:xfrm>
            <a:off x="1819245" y="4160924"/>
            <a:ext cx="377064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...</a:t>
            </a:r>
            <a:endParaRPr lang="zh-CN" altLang="en-US" dirty="0"/>
          </a:p>
        </p:txBody>
      </p:sp>
      <p:sp>
        <p:nvSpPr>
          <p:cNvPr id="93" name="矩形 92"/>
          <p:cNvSpPr/>
          <p:nvPr/>
        </p:nvSpPr>
        <p:spPr>
          <a:xfrm>
            <a:off x="1823615" y="3838090"/>
            <a:ext cx="377064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...</a:t>
            </a:r>
            <a:endParaRPr lang="zh-CN" altLang="en-US" dirty="0"/>
          </a:p>
        </p:txBody>
      </p:sp>
      <p:sp>
        <p:nvSpPr>
          <p:cNvPr id="94" name="矩形 93"/>
          <p:cNvSpPr/>
          <p:nvPr/>
        </p:nvSpPr>
        <p:spPr>
          <a:xfrm>
            <a:off x="1813085" y="3508465"/>
            <a:ext cx="377064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...</a:t>
            </a:r>
            <a:endParaRPr lang="zh-CN" altLang="en-US" dirty="0"/>
          </a:p>
        </p:txBody>
      </p:sp>
      <p:sp>
        <p:nvSpPr>
          <p:cNvPr id="95" name="矩形 94"/>
          <p:cNvSpPr/>
          <p:nvPr/>
        </p:nvSpPr>
        <p:spPr>
          <a:xfrm>
            <a:off x="848053" y="2492778"/>
            <a:ext cx="1365315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0x7f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0060</a:t>
            </a:r>
            <a:endParaRPr lang="zh-CN" altLang="en-US" dirty="0"/>
          </a:p>
        </p:txBody>
      </p:sp>
      <p:sp>
        <p:nvSpPr>
          <p:cNvPr id="97" name="矩形 96"/>
          <p:cNvSpPr/>
          <p:nvPr/>
        </p:nvSpPr>
        <p:spPr>
          <a:xfrm>
            <a:off x="841668" y="846658"/>
            <a:ext cx="1365315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0x7f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0088</a:t>
            </a:r>
            <a:endParaRPr lang="zh-CN" altLang="en-US" dirty="0"/>
          </a:p>
        </p:txBody>
      </p:sp>
      <p:sp>
        <p:nvSpPr>
          <p:cNvPr id="98" name="矩形 97"/>
          <p:cNvSpPr/>
          <p:nvPr/>
        </p:nvSpPr>
        <p:spPr>
          <a:xfrm>
            <a:off x="830429" y="1173299"/>
            <a:ext cx="1365315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0x7f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0080</a:t>
            </a:r>
            <a:endParaRPr lang="zh-CN" altLang="en-US" dirty="0"/>
          </a:p>
        </p:txBody>
      </p:sp>
      <p:sp>
        <p:nvSpPr>
          <p:cNvPr id="99" name="矩形 98"/>
          <p:cNvSpPr/>
          <p:nvPr/>
        </p:nvSpPr>
        <p:spPr>
          <a:xfrm>
            <a:off x="843317" y="2175918"/>
            <a:ext cx="1365315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0x7f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0068</a:t>
            </a:r>
            <a:endParaRPr lang="zh-CN" altLang="en-US" dirty="0"/>
          </a:p>
        </p:txBody>
      </p:sp>
      <p:sp>
        <p:nvSpPr>
          <p:cNvPr id="100" name="矩形 99"/>
          <p:cNvSpPr/>
          <p:nvPr/>
        </p:nvSpPr>
        <p:spPr>
          <a:xfrm>
            <a:off x="847687" y="1853084"/>
            <a:ext cx="1365315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0x7f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0070</a:t>
            </a:r>
            <a:endParaRPr lang="zh-CN" altLang="en-US" dirty="0"/>
          </a:p>
        </p:txBody>
      </p:sp>
      <p:sp>
        <p:nvSpPr>
          <p:cNvPr id="101" name="矩形 100"/>
          <p:cNvSpPr/>
          <p:nvPr/>
        </p:nvSpPr>
        <p:spPr>
          <a:xfrm>
            <a:off x="837157" y="1523459"/>
            <a:ext cx="1365315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0x7f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0078</a:t>
            </a:r>
            <a:endParaRPr lang="zh-CN" altLang="en-US" dirty="0"/>
          </a:p>
        </p:txBody>
      </p:sp>
      <p:sp>
        <p:nvSpPr>
          <p:cNvPr id="103" name="矩形 102"/>
          <p:cNvSpPr/>
          <p:nvPr/>
        </p:nvSpPr>
        <p:spPr>
          <a:xfrm>
            <a:off x="2208210" y="5846870"/>
            <a:ext cx="1951499" cy="339164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24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04" name="矩形 103"/>
          <p:cNvSpPr/>
          <p:nvPr/>
        </p:nvSpPr>
        <p:spPr>
          <a:xfrm>
            <a:off x="2207113" y="6186034"/>
            <a:ext cx="1951499" cy="339164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24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05" name="矩形 104"/>
          <p:cNvSpPr/>
          <p:nvPr/>
        </p:nvSpPr>
        <p:spPr>
          <a:xfrm>
            <a:off x="854901" y="487118"/>
            <a:ext cx="1365315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0x7f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0090</a:t>
            </a:r>
            <a:endParaRPr lang="zh-CN" altLang="en-US" dirty="0"/>
          </a:p>
        </p:txBody>
      </p:sp>
      <p:sp>
        <p:nvSpPr>
          <p:cNvPr id="106" name="矩形 105"/>
          <p:cNvSpPr/>
          <p:nvPr/>
        </p:nvSpPr>
        <p:spPr>
          <a:xfrm>
            <a:off x="852744" y="144389"/>
            <a:ext cx="1365315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0x7f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0098</a:t>
            </a:r>
            <a:endParaRPr lang="zh-CN" altLang="en-US" dirty="0"/>
          </a:p>
        </p:txBody>
      </p:sp>
      <p:sp>
        <p:nvSpPr>
          <p:cNvPr id="107" name="矩形 106"/>
          <p:cNvSpPr/>
          <p:nvPr/>
        </p:nvSpPr>
        <p:spPr>
          <a:xfrm>
            <a:off x="4555526" y="144389"/>
            <a:ext cx="1041584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kumimoji="1" lang="en-US" altLang="zh-CN" sz="1400" b="1" dirty="0">
                <a:latin typeface="Verdana"/>
                <a:cs typeface="Verdana"/>
              </a:rPr>
              <a:t>BOTTOM</a:t>
            </a:r>
            <a:endParaRPr lang="zh-CN" altLang="en-US" sz="1400" b="1" dirty="0"/>
          </a:p>
        </p:txBody>
      </p:sp>
      <p:cxnSp>
        <p:nvCxnSpPr>
          <p:cNvPr id="108" name="直线箭头连接符 107"/>
          <p:cNvCxnSpPr/>
          <p:nvPr/>
        </p:nvCxnSpPr>
        <p:spPr>
          <a:xfrm flipH="1">
            <a:off x="4202514" y="314466"/>
            <a:ext cx="249222" cy="0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8" name="矩形 17"/>
          <p:cNvSpPr/>
          <p:nvPr/>
        </p:nvSpPr>
        <p:spPr>
          <a:xfrm>
            <a:off x="4148470" y="390396"/>
            <a:ext cx="184666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endParaRPr lang="zh-CN" altLang="en-US" sz="1400" b="1" dirty="0">
              <a:latin typeface="Arial"/>
              <a:cs typeface="Arial"/>
            </a:endParaRPr>
          </a:p>
        </p:txBody>
      </p:sp>
      <p:sp>
        <p:nvSpPr>
          <p:cNvPr id="109" name="Line 9"/>
          <p:cNvSpPr>
            <a:spLocks noChangeShapeType="1"/>
          </p:cNvSpPr>
          <p:nvPr/>
        </p:nvSpPr>
        <p:spPr bwMode="auto">
          <a:xfrm>
            <a:off x="614310" y="172303"/>
            <a:ext cx="0" cy="1864492"/>
          </a:xfrm>
          <a:prstGeom prst="line">
            <a:avLst/>
          </a:prstGeom>
          <a:noFill/>
          <a:ln w="38100" cap="flat">
            <a:solidFill>
              <a:schemeClr val="tx1"/>
            </a:solidFill>
            <a:prstDash val="solid"/>
            <a:round/>
            <a:headEnd type="none" w="med" len="med"/>
            <a:tailEnd type="triangle" w="med" len="med"/>
          </a:ln>
        </p:spPr>
        <p:txBody>
          <a:bodyPr lIns="0" tIns="0" rIns="0" bIns="0"/>
          <a:lstStyle/>
          <a:p>
            <a:endParaRPr lang="en-US"/>
          </a:p>
        </p:txBody>
      </p:sp>
      <p:sp>
        <p:nvSpPr>
          <p:cNvPr id="110" name="Rectangle 10"/>
          <p:cNvSpPr>
            <a:spLocks/>
          </p:cNvSpPr>
          <p:nvPr/>
        </p:nvSpPr>
        <p:spPr bwMode="auto">
          <a:xfrm rot="16200000">
            <a:off x="-638512" y="809286"/>
            <a:ext cx="2000760" cy="454257"/>
          </a:xfrm>
          <a:prstGeom prst="rect">
            <a:avLst/>
          </a:prstGeom>
          <a:solidFill>
            <a:srgbClr val="FFFFFF"/>
          </a:solidFill>
          <a:ln w="25400" cap="flat">
            <a:noFill/>
            <a:miter lim="800000"/>
            <a:headEnd type="none" w="med" len="med"/>
            <a:tailEnd type="none" w="med" len="med"/>
          </a:ln>
        </p:spPr>
        <p:txBody>
          <a:bodyPr lIns="38100" tIns="38100" rIns="38100" bIns="38100"/>
          <a:lstStyle/>
          <a:p>
            <a:r>
              <a:rPr lang="en-US" dirty="0">
                <a:solidFill>
                  <a:schemeClr val="tx1"/>
                </a:solidFill>
                <a:latin typeface="Calibri" charset="0"/>
                <a:ea typeface="Calibri" charset="0"/>
                <a:cs typeface="Calibri" charset="0"/>
                <a:sym typeface="Calibri" charset="0"/>
              </a:rPr>
              <a:t>Stack Grows</a:t>
            </a:r>
            <a:r>
              <a:rPr lang="en-US" dirty="0">
                <a:latin typeface="Arial Narrow" charset="0"/>
                <a:ea typeface="Lucida Grande" charset="0"/>
                <a:cs typeface="Lucida Grande" charset="0"/>
                <a:sym typeface="Arial Narrow" charset="0"/>
              </a:rPr>
              <a:t>  </a:t>
            </a:r>
            <a:r>
              <a:rPr lang="en-US" dirty="0">
                <a:solidFill>
                  <a:schemeClr val="tx1"/>
                </a:solidFill>
                <a:latin typeface="Calibri" charset="0"/>
                <a:ea typeface="Calibri" charset="0"/>
                <a:cs typeface="Calibri" charset="0"/>
                <a:sym typeface="Calibri" charset="0"/>
              </a:rPr>
              <a:t>Down</a:t>
            </a:r>
          </a:p>
        </p:txBody>
      </p:sp>
    </p:spTree>
    <p:extLst>
      <p:ext uri="{BB962C8B-B14F-4D97-AF65-F5344CB8AC3E}">
        <p14:creationId xmlns:p14="http://schemas.microsoft.com/office/powerpoint/2010/main" val="419931790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en-US" altLang="zh-CN" dirty="0"/>
              <a:t>Stack </a:t>
            </a:r>
            <a:r>
              <a:rPr kumimoji="1" lang="mr-IN" altLang="zh-CN" dirty="0"/>
              <a:t>–</a:t>
            </a:r>
            <a:r>
              <a:rPr kumimoji="1" lang="en-US" altLang="zh-CN" dirty="0"/>
              <a:t> push Instruction</a:t>
            </a:r>
            <a:endParaRPr kumimoji="1"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kumimoji="1" lang="en-US" altLang="zh-CN" b="1" dirty="0" err="1">
                <a:latin typeface="Consolas"/>
                <a:cs typeface="Consolas"/>
              </a:rPr>
              <a:t>pushq</a:t>
            </a:r>
            <a:r>
              <a:rPr kumimoji="1" lang="en-US" altLang="zh-CN" dirty="0">
                <a:latin typeface="Consolas"/>
                <a:cs typeface="Consolas"/>
              </a:rPr>
              <a:t> </a:t>
            </a:r>
            <a:r>
              <a:rPr kumimoji="1" lang="en-US" altLang="zh-CN" dirty="0" err="1">
                <a:latin typeface="Consolas"/>
                <a:cs typeface="Consolas"/>
              </a:rPr>
              <a:t>src</a:t>
            </a:r>
            <a:endParaRPr kumimoji="1" lang="en-US" altLang="zh-CN" dirty="0">
              <a:latin typeface="Consolas"/>
              <a:cs typeface="Consolas"/>
            </a:endParaRPr>
          </a:p>
          <a:p>
            <a:pPr lvl="1"/>
            <a:r>
              <a:rPr kumimoji="1" lang="en-US" altLang="zh-CN" dirty="0"/>
              <a:t>Decrement %</a:t>
            </a:r>
            <a:r>
              <a:rPr kumimoji="1" lang="en-US" altLang="zh-CN" dirty="0" err="1"/>
              <a:t>rsp</a:t>
            </a:r>
            <a:r>
              <a:rPr kumimoji="1" lang="en-US" altLang="zh-CN" dirty="0"/>
              <a:t> by 8 </a:t>
            </a:r>
          </a:p>
          <a:p>
            <a:pPr lvl="1"/>
            <a:r>
              <a:rPr lang="en-US" altLang="zh-CN" dirty="0"/>
              <a:t>Write operand at address given by </a:t>
            </a:r>
            <a:r>
              <a:rPr lang="en-US" altLang="zh-CN" dirty="0">
                <a:latin typeface="Consolas"/>
                <a:cs typeface="Consolas"/>
                <a:sym typeface="Courier New Bold" charset="0"/>
              </a:rPr>
              <a:t>%</a:t>
            </a:r>
            <a:r>
              <a:rPr lang="en-US" altLang="zh-CN" dirty="0" err="1">
                <a:latin typeface="Consolas"/>
                <a:cs typeface="Consolas"/>
                <a:sym typeface="Courier New Bold" charset="0"/>
              </a:rPr>
              <a:t>rsp</a:t>
            </a:r>
            <a:endParaRPr lang="en-US" altLang="zh-CN" dirty="0">
              <a:latin typeface="Consolas"/>
              <a:cs typeface="Consolas"/>
              <a:sym typeface="Courier New Bold" charset="0"/>
            </a:endParaRPr>
          </a:p>
          <a:p>
            <a:pPr marL="457200" lvl="1" indent="0">
              <a:buNone/>
            </a:pPr>
            <a:endParaRPr kumimoji="1"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27652781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/>
          <p:cNvSpPr/>
          <p:nvPr/>
        </p:nvSpPr>
        <p:spPr>
          <a:xfrm>
            <a:off x="5770729" y="420774"/>
            <a:ext cx="2617701" cy="6087558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 w="381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kumimoji="1" lang="zh-CN" altLang="en-US" dirty="0">
              <a:solidFill>
                <a:schemeClr val="tx1"/>
              </a:solidFill>
              <a:latin typeface="Verdana"/>
              <a:cs typeface="Verdana"/>
            </a:endParaRPr>
          </a:p>
        </p:txBody>
      </p:sp>
      <p:sp>
        <p:nvSpPr>
          <p:cNvPr id="6" name="矩形 5"/>
          <p:cNvSpPr/>
          <p:nvPr/>
        </p:nvSpPr>
        <p:spPr>
          <a:xfrm>
            <a:off x="2027994" y="6450704"/>
            <a:ext cx="1219980" cy="400110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kumimoji="1" lang="en-US" altLang="zh-CN" sz="2000" dirty="0">
                <a:latin typeface="Verdana"/>
                <a:cs typeface="Verdana"/>
              </a:rPr>
              <a:t>Memory</a:t>
            </a:r>
            <a:endParaRPr lang="zh-CN" altLang="en-US" sz="2000" dirty="0"/>
          </a:p>
        </p:txBody>
      </p:sp>
      <p:sp>
        <p:nvSpPr>
          <p:cNvPr id="27" name="矩形 26"/>
          <p:cNvSpPr/>
          <p:nvPr/>
        </p:nvSpPr>
        <p:spPr>
          <a:xfrm>
            <a:off x="6707135" y="402971"/>
            <a:ext cx="65399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 dirty="0">
                <a:latin typeface="Verdana"/>
                <a:cs typeface="Verdana"/>
              </a:rPr>
              <a:t>CPU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28" name="圆角矩形 27"/>
          <p:cNvSpPr/>
          <p:nvPr/>
        </p:nvSpPr>
        <p:spPr>
          <a:xfrm>
            <a:off x="6707135" y="829513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s-IS" altLang="zh-CN" sz="1600" dirty="0">
                <a:solidFill>
                  <a:srgbClr val="000000"/>
                </a:solidFill>
                <a:latin typeface="Arial"/>
                <a:cs typeface="Arial"/>
              </a:rPr>
              <a:t>0x00…0028</a:t>
            </a:r>
          </a:p>
        </p:txBody>
      </p:sp>
      <p:sp>
        <p:nvSpPr>
          <p:cNvPr id="29" name="矩形 28"/>
          <p:cNvSpPr/>
          <p:nvPr/>
        </p:nvSpPr>
        <p:spPr>
          <a:xfrm>
            <a:off x="5973834" y="849437"/>
            <a:ext cx="68640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 dirty="0">
                <a:latin typeface="Verdana"/>
                <a:cs typeface="Verdana"/>
              </a:rPr>
              <a:t>RIP: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33" name="矩形 32"/>
          <p:cNvSpPr/>
          <p:nvPr/>
        </p:nvSpPr>
        <p:spPr>
          <a:xfrm>
            <a:off x="6007264" y="1716244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RAX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34" name="圆角矩形 33"/>
          <p:cNvSpPr/>
          <p:nvPr/>
        </p:nvSpPr>
        <p:spPr>
          <a:xfrm>
            <a:off x="6707134" y="1726615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5" name="圆角矩形 34"/>
          <p:cNvSpPr/>
          <p:nvPr/>
        </p:nvSpPr>
        <p:spPr>
          <a:xfrm>
            <a:off x="6732381" y="2156558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6" name="圆角矩形 35"/>
          <p:cNvSpPr/>
          <p:nvPr/>
        </p:nvSpPr>
        <p:spPr>
          <a:xfrm>
            <a:off x="6732381" y="2585832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 dirty="0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37" name="圆角矩形 36"/>
          <p:cNvSpPr/>
          <p:nvPr/>
        </p:nvSpPr>
        <p:spPr>
          <a:xfrm>
            <a:off x="6727649" y="3016507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 dirty="0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38" name="圆角矩形 37"/>
          <p:cNvSpPr/>
          <p:nvPr/>
        </p:nvSpPr>
        <p:spPr>
          <a:xfrm>
            <a:off x="6728204" y="3454928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9" name="圆角矩形 38"/>
          <p:cNvSpPr/>
          <p:nvPr/>
        </p:nvSpPr>
        <p:spPr>
          <a:xfrm>
            <a:off x="6730569" y="3884871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0x5</a:t>
            </a:r>
            <a:endParaRPr lang="zh-CN" altLang="en-US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40" name="圆角矩形 39"/>
          <p:cNvSpPr/>
          <p:nvPr/>
        </p:nvSpPr>
        <p:spPr>
          <a:xfrm>
            <a:off x="6719128" y="4314145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is-IS" altLang="zh-CN" dirty="0">
                <a:solidFill>
                  <a:prstClr val="black"/>
                </a:solidFill>
                <a:latin typeface="Arial"/>
                <a:cs typeface="Arial"/>
                <a:sym typeface="Courier New Bold" charset="0"/>
              </a:rPr>
              <a:t>0x7f…0080</a:t>
            </a:r>
          </a:p>
        </p:txBody>
      </p:sp>
      <p:sp>
        <p:nvSpPr>
          <p:cNvPr id="41" name="圆角矩形 40"/>
          <p:cNvSpPr/>
          <p:nvPr/>
        </p:nvSpPr>
        <p:spPr>
          <a:xfrm>
            <a:off x="6725837" y="4744820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 dirty="0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42" name="矩形 41"/>
          <p:cNvSpPr/>
          <p:nvPr/>
        </p:nvSpPr>
        <p:spPr>
          <a:xfrm>
            <a:off x="7071077" y="6098041"/>
            <a:ext cx="441146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mr-IN" altLang="zh-CN" sz="2000" b="1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sz="2000" b="1" dirty="0"/>
          </a:p>
        </p:txBody>
      </p:sp>
      <p:sp>
        <p:nvSpPr>
          <p:cNvPr id="43" name="矩形 42"/>
          <p:cNvSpPr/>
          <p:nvPr/>
        </p:nvSpPr>
        <p:spPr>
          <a:xfrm>
            <a:off x="6004115" y="2168000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RBX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44" name="矩形 43"/>
          <p:cNvSpPr/>
          <p:nvPr/>
        </p:nvSpPr>
        <p:spPr>
          <a:xfrm>
            <a:off x="5989455" y="2585832"/>
            <a:ext cx="77685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RCX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45" name="矩形 44"/>
          <p:cNvSpPr/>
          <p:nvPr/>
        </p:nvSpPr>
        <p:spPr>
          <a:xfrm>
            <a:off x="5993122" y="3024282"/>
            <a:ext cx="77685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RDX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46" name="矩形 45"/>
          <p:cNvSpPr/>
          <p:nvPr/>
        </p:nvSpPr>
        <p:spPr>
          <a:xfrm>
            <a:off x="5990867" y="3451290"/>
            <a:ext cx="67428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RSI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47" name="矩形 46"/>
          <p:cNvSpPr/>
          <p:nvPr/>
        </p:nvSpPr>
        <p:spPr>
          <a:xfrm>
            <a:off x="5986305" y="3882159"/>
            <a:ext cx="68702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RDI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48" name="矩形 47"/>
          <p:cNvSpPr/>
          <p:nvPr/>
        </p:nvSpPr>
        <p:spPr>
          <a:xfrm>
            <a:off x="5985749" y="4320609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RSP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49" name="矩形 48"/>
          <p:cNvSpPr/>
          <p:nvPr/>
        </p:nvSpPr>
        <p:spPr>
          <a:xfrm>
            <a:off x="5983157" y="4718557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RBP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56" name="矩形 55"/>
          <p:cNvSpPr/>
          <p:nvPr/>
        </p:nvSpPr>
        <p:spPr>
          <a:xfrm>
            <a:off x="3927386" y="1202091"/>
            <a:ext cx="732893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kumimoji="1" lang="en-US" altLang="zh-CN" sz="1400" b="1" dirty="0">
                <a:latin typeface="Verdana"/>
                <a:cs typeface="Verdana"/>
              </a:rPr>
              <a:t>%</a:t>
            </a:r>
            <a:r>
              <a:rPr kumimoji="1" lang="en-US" altLang="zh-CN" sz="1400" b="1" dirty="0" err="1">
                <a:latin typeface="Verdana"/>
                <a:cs typeface="Verdana"/>
              </a:rPr>
              <a:t>rsp</a:t>
            </a:r>
            <a:endParaRPr lang="zh-CN" altLang="en-US" sz="1400" b="1" dirty="0"/>
          </a:p>
        </p:txBody>
      </p:sp>
      <p:sp>
        <p:nvSpPr>
          <p:cNvPr id="57" name="矩形 56"/>
          <p:cNvSpPr/>
          <p:nvPr/>
        </p:nvSpPr>
        <p:spPr>
          <a:xfrm>
            <a:off x="6194819" y="5220252"/>
            <a:ext cx="57149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ZF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58" name="圆角矩形 57"/>
          <p:cNvSpPr/>
          <p:nvPr/>
        </p:nvSpPr>
        <p:spPr>
          <a:xfrm>
            <a:off x="6748122" y="5211806"/>
            <a:ext cx="439253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  <a:sym typeface="Courier New Bold" charset="0"/>
              </a:rPr>
              <a:t>0</a:t>
            </a:r>
          </a:p>
        </p:txBody>
      </p:sp>
      <p:sp>
        <p:nvSpPr>
          <p:cNvPr id="62" name="矩形 61"/>
          <p:cNvSpPr/>
          <p:nvPr/>
        </p:nvSpPr>
        <p:spPr>
          <a:xfrm>
            <a:off x="7298019" y="5198018"/>
            <a:ext cx="58445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SF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64" name="圆角矩形 63"/>
          <p:cNvSpPr/>
          <p:nvPr/>
        </p:nvSpPr>
        <p:spPr>
          <a:xfrm>
            <a:off x="7857802" y="5189572"/>
            <a:ext cx="439253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  <a:sym typeface="Courier New Bold" charset="0"/>
              </a:rPr>
              <a:t>0</a:t>
            </a:r>
          </a:p>
        </p:txBody>
      </p:sp>
      <p:sp>
        <p:nvSpPr>
          <p:cNvPr id="65" name="矩形 64"/>
          <p:cNvSpPr/>
          <p:nvPr/>
        </p:nvSpPr>
        <p:spPr>
          <a:xfrm>
            <a:off x="6177727" y="5675034"/>
            <a:ext cx="59718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CF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77" name="圆角矩形 76"/>
          <p:cNvSpPr/>
          <p:nvPr/>
        </p:nvSpPr>
        <p:spPr>
          <a:xfrm>
            <a:off x="6743879" y="5666588"/>
            <a:ext cx="439253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  <a:sym typeface="Courier New Bold" charset="0"/>
              </a:rPr>
              <a:t>0</a:t>
            </a:r>
          </a:p>
        </p:txBody>
      </p:sp>
      <p:sp>
        <p:nvSpPr>
          <p:cNvPr id="78" name="矩形 77"/>
          <p:cNvSpPr/>
          <p:nvPr/>
        </p:nvSpPr>
        <p:spPr>
          <a:xfrm>
            <a:off x="7280983" y="5652800"/>
            <a:ext cx="61003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OF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79" name="圆角矩形 78"/>
          <p:cNvSpPr/>
          <p:nvPr/>
        </p:nvSpPr>
        <p:spPr>
          <a:xfrm>
            <a:off x="7853559" y="5644354"/>
            <a:ext cx="439253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  <a:sym typeface="Courier New Bold" charset="0"/>
              </a:rPr>
              <a:t>0</a:t>
            </a:r>
          </a:p>
        </p:txBody>
      </p:sp>
      <p:sp>
        <p:nvSpPr>
          <p:cNvPr id="7" name="矩形 6"/>
          <p:cNvSpPr/>
          <p:nvPr/>
        </p:nvSpPr>
        <p:spPr>
          <a:xfrm>
            <a:off x="1588002" y="819397"/>
            <a:ext cx="1951499" cy="33916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cs-CZ" altLang="zh-CN" sz="1600" dirty="0">
                <a:latin typeface="Consolas"/>
                <a:cs typeface="Consolas"/>
                <a:sym typeface="Courier New Bold" charset="0"/>
              </a:rPr>
              <a:t>0x3</a:t>
            </a:r>
          </a:p>
        </p:txBody>
      </p:sp>
      <p:sp>
        <p:nvSpPr>
          <p:cNvPr id="8" name="矩形 7"/>
          <p:cNvSpPr/>
          <p:nvPr/>
        </p:nvSpPr>
        <p:spPr>
          <a:xfrm>
            <a:off x="1588002" y="480233"/>
            <a:ext cx="1951499" cy="33916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US" altLang="zh-CN" sz="1600" dirty="0">
                <a:solidFill>
                  <a:prstClr val="black"/>
                </a:solidFill>
                <a:latin typeface="Consolas"/>
                <a:cs typeface="Consolas"/>
              </a:rPr>
              <a:t>0x2</a:t>
            </a:r>
          </a:p>
        </p:txBody>
      </p:sp>
      <p:sp>
        <p:nvSpPr>
          <p:cNvPr id="9" name="矩形 8"/>
          <p:cNvSpPr/>
          <p:nvPr/>
        </p:nvSpPr>
        <p:spPr>
          <a:xfrm>
            <a:off x="1588002" y="143470"/>
            <a:ext cx="1951499" cy="33916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tabLst>
                <a:tab pos="514350" algn="l"/>
                <a:tab pos="2801938" algn="l"/>
                <a:tab pos="3086100" algn="l"/>
                <a:tab pos="3086100" algn="l"/>
                <a:tab pos="3086100" algn="l"/>
                <a:tab pos="3086100" algn="l"/>
              </a:tabLst>
            </a:pPr>
            <a:r>
              <a:rPr lang="cs-CZ" altLang="zh-CN" sz="1600" dirty="0">
                <a:latin typeface="Consolas"/>
                <a:cs typeface="Consolas"/>
                <a:sym typeface="Courier New Bold" charset="0"/>
              </a:rPr>
              <a:t>0x1</a:t>
            </a:r>
          </a:p>
        </p:txBody>
      </p:sp>
      <p:sp>
        <p:nvSpPr>
          <p:cNvPr id="11" name="矩形 10"/>
          <p:cNvSpPr/>
          <p:nvPr/>
        </p:nvSpPr>
        <p:spPr>
          <a:xfrm>
            <a:off x="1588002" y="1158204"/>
            <a:ext cx="1951499" cy="33916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1600" dirty="0">
                <a:solidFill>
                  <a:prstClr val="black"/>
                </a:solidFill>
                <a:latin typeface="Consolas"/>
                <a:cs typeface="Consolas"/>
              </a:rPr>
              <a:t>0x4</a:t>
            </a:r>
            <a:endParaRPr lang="zh-CN" altLang="en-US" sz="1600" dirty="0">
              <a:solidFill>
                <a:prstClr val="black"/>
              </a:solidFill>
              <a:latin typeface="Consolas"/>
              <a:cs typeface="Consolas"/>
            </a:endParaRPr>
          </a:p>
        </p:txBody>
      </p:sp>
      <p:sp>
        <p:nvSpPr>
          <p:cNvPr id="12" name="矩形 11"/>
          <p:cNvSpPr/>
          <p:nvPr/>
        </p:nvSpPr>
        <p:spPr>
          <a:xfrm>
            <a:off x="1592372" y="2452102"/>
            <a:ext cx="1951499" cy="3391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3" name="矩形 12"/>
          <p:cNvSpPr/>
          <p:nvPr/>
        </p:nvSpPr>
        <p:spPr>
          <a:xfrm>
            <a:off x="1596741" y="2801658"/>
            <a:ext cx="1951499" cy="3391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4" name="矩形 13"/>
          <p:cNvSpPr/>
          <p:nvPr/>
        </p:nvSpPr>
        <p:spPr>
          <a:xfrm>
            <a:off x="1604322" y="3134126"/>
            <a:ext cx="1951499" cy="339164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5" name="矩形 14"/>
          <p:cNvSpPr/>
          <p:nvPr/>
        </p:nvSpPr>
        <p:spPr>
          <a:xfrm>
            <a:off x="1604322" y="3467966"/>
            <a:ext cx="1951499" cy="339164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6" name="矩形 15"/>
          <p:cNvSpPr/>
          <p:nvPr/>
        </p:nvSpPr>
        <p:spPr>
          <a:xfrm>
            <a:off x="1604322" y="3802650"/>
            <a:ext cx="1951499" cy="339164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24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25" name="矩形 24"/>
          <p:cNvSpPr/>
          <p:nvPr/>
        </p:nvSpPr>
        <p:spPr>
          <a:xfrm>
            <a:off x="1588002" y="2131475"/>
            <a:ext cx="1951499" cy="319756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24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cxnSp>
        <p:nvCxnSpPr>
          <p:cNvPr id="4" name="直线箭头连接符 3"/>
          <p:cNvCxnSpPr/>
          <p:nvPr/>
        </p:nvCxnSpPr>
        <p:spPr>
          <a:xfrm flipH="1">
            <a:off x="3560419" y="1344254"/>
            <a:ext cx="249222" cy="0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59" name="矩形 58"/>
          <p:cNvSpPr/>
          <p:nvPr/>
        </p:nvSpPr>
        <p:spPr>
          <a:xfrm>
            <a:off x="1583191" y="1814000"/>
            <a:ext cx="1951499" cy="319756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24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61" name="矩形 60"/>
          <p:cNvSpPr/>
          <p:nvPr/>
        </p:nvSpPr>
        <p:spPr>
          <a:xfrm>
            <a:off x="1587904" y="1495448"/>
            <a:ext cx="1951499" cy="319756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24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63" name="矩形 62"/>
          <p:cNvSpPr/>
          <p:nvPr/>
        </p:nvSpPr>
        <p:spPr>
          <a:xfrm>
            <a:off x="1606031" y="4141814"/>
            <a:ext cx="1951499" cy="339164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24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80" name="矩形 79"/>
          <p:cNvSpPr/>
          <p:nvPr/>
        </p:nvSpPr>
        <p:spPr>
          <a:xfrm>
            <a:off x="1608920" y="4467641"/>
            <a:ext cx="1951499" cy="339164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24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81" name="矩形 80"/>
          <p:cNvSpPr/>
          <p:nvPr/>
        </p:nvSpPr>
        <p:spPr>
          <a:xfrm>
            <a:off x="1606883" y="4807245"/>
            <a:ext cx="1951499" cy="339164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1600" dirty="0" err="1">
                <a:solidFill>
                  <a:prstClr val="black"/>
                </a:solidFill>
                <a:latin typeface="Consolas"/>
                <a:cs typeface="Consolas"/>
              </a:rPr>
              <a:t>pushq</a:t>
            </a:r>
            <a:r>
              <a:rPr lang="en-US" altLang="zh-CN" sz="1600" dirty="0">
                <a:solidFill>
                  <a:prstClr val="black"/>
                </a:solidFill>
                <a:latin typeface="Consolas"/>
                <a:cs typeface="Consolas"/>
              </a:rPr>
              <a:t> %rdi</a:t>
            </a:r>
            <a:endParaRPr lang="zh-CN" altLang="en-US" sz="1600" dirty="0">
              <a:solidFill>
                <a:prstClr val="black"/>
              </a:solidFill>
              <a:latin typeface="Consolas"/>
              <a:cs typeface="Consolas"/>
            </a:endParaRPr>
          </a:p>
        </p:txBody>
      </p:sp>
      <p:sp>
        <p:nvSpPr>
          <p:cNvPr id="82" name="矩形 81"/>
          <p:cNvSpPr/>
          <p:nvPr/>
        </p:nvSpPr>
        <p:spPr>
          <a:xfrm>
            <a:off x="1606327" y="5138285"/>
            <a:ext cx="1951499" cy="339164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24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83" name="矩形 82"/>
          <p:cNvSpPr/>
          <p:nvPr/>
        </p:nvSpPr>
        <p:spPr>
          <a:xfrm>
            <a:off x="1608920" y="5474699"/>
            <a:ext cx="1951499" cy="339164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zh-CN" altLang="en-US" sz="1600" dirty="0">
              <a:solidFill>
                <a:prstClr val="black"/>
              </a:solidFill>
              <a:latin typeface="Consolas"/>
              <a:cs typeface="Consolas"/>
            </a:endParaRPr>
          </a:p>
        </p:txBody>
      </p:sp>
      <p:sp>
        <p:nvSpPr>
          <p:cNvPr id="84" name="矩形 83"/>
          <p:cNvSpPr/>
          <p:nvPr/>
        </p:nvSpPr>
        <p:spPr>
          <a:xfrm>
            <a:off x="1007750" y="6068371"/>
            <a:ext cx="492443" cy="427994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mr-IN" altLang="zh-CN" sz="2400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sz="2400" dirty="0"/>
          </a:p>
        </p:txBody>
      </p:sp>
      <p:sp>
        <p:nvSpPr>
          <p:cNvPr id="85" name="矩形 84"/>
          <p:cNvSpPr/>
          <p:nvPr/>
        </p:nvSpPr>
        <p:spPr>
          <a:xfrm>
            <a:off x="229115" y="2802831"/>
            <a:ext cx="1365315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0x7f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0058</a:t>
            </a:r>
            <a:endParaRPr lang="zh-CN" altLang="en-US" dirty="0"/>
          </a:p>
        </p:txBody>
      </p:sp>
      <p:sp>
        <p:nvSpPr>
          <p:cNvPr id="86" name="矩形 85"/>
          <p:cNvSpPr/>
          <p:nvPr/>
        </p:nvSpPr>
        <p:spPr>
          <a:xfrm>
            <a:off x="217876" y="3129472"/>
            <a:ext cx="1365315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0x7f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0050</a:t>
            </a:r>
            <a:endParaRPr lang="zh-CN" altLang="en-US" dirty="0"/>
          </a:p>
        </p:txBody>
      </p:sp>
      <p:sp>
        <p:nvSpPr>
          <p:cNvPr id="87" name="矩形 86"/>
          <p:cNvSpPr/>
          <p:nvPr/>
        </p:nvSpPr>
        <p:spPr>
          <a:xfrm>
            <a:off x="153630" y="5818977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0010</a:t>
            </a:r>
            <a:endParaRPr lang="zh-CN" altLang="en-US" dirty="0"/>
          </a:p>
        </p:txBody>
      </p:sp>
      <p:sp>
        <p:nvSpPr>
          <p:cNvPr id="88" name="矩形 87"/>
          <p:cNvSpPr/>
          <p:nvPr/>
        </p:nvSpPr>
        <p:spPr>
          <a:xfrm>
            <a:off x="153630" y="5471147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0018</a:t>
            </a:r>
            <a:endParaRPr lang="zh-CN" altLang="en-US" dirty="0"/>
          </a:p>
        </p:txBody>
      </p:sp>
      <p:sp>
        <p:nvSpPr>
          <p:cNvPr id="89" name="矩形 88"/>
          <p:cNvSpPr/>
          <p:nvPr/>
        </p:nvSpPr>
        <p:spPr>
          <a:xfrm>
            <a:off x="153630" y="5135395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0020</a:t>
            </a:r>
            <a:endParaRPr lang="zh-CN" altLang="en-US" dirty="0"/>
          </a:p>
        </p:txBody>
      </p:sp>
      <p:sp>
        <p:nvSpPr>
          <p:cNvPr id="90" name="矩形 89"/>
          <p:cNvSpPr/>
          <p:nvPr/>
        </p:nvSpPr>
        <p:spPr>
          <a:xfrm>
            <a:off x="153630" y="4803962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0028</a:t>
            </a:r>
            <a:endParaRPr lang="zh-CN" altLang="en-US" dirty="0"/>
          </a:p>
        </p:txBody>
      </p:sp>
      <p:sp>
        <p:nvSpPr>
          <p:cNvPr id="91" name="矩形 90"/>
          <p:cNvSpPr/>
          <p:nvPr/>
        </p:nvSpPr>
        <p:spPr>
          <a:xfrm>
            <a:off x="164869" y="4460238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0030</a:t>
            </a:r>
            <a:endParaRPr lang="zh-CN" altLang="en-US" dirty="0"/>
          </a:p>
        </p:txBody>
      </p:sp>
      <p:sp>
        <p:nvSpPr>
          <p:cNvPr id="92" name="矩形 91"/>
          <p:cNvSpPr/>
          <p:nvPr/>
        </p:nvSpPr>
        <p:spPr>
          <a:xfrm>
            <a:off x="1219015" y="4132091"/>
            <a:ext cx="377064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...</a:t>
            </a:r>
            <a:endParaRPr lang="zh-CN" altLang="en-US" dirty="0"/>
          </a:p>
        </p:txBody>
      </p:sp>
      <p:sp>
        <p:nvSpPr>
          <p:cNvPr id="93" name="矩形 92"/>
          <p:cNvSpPr/>
          <p:nvPr/>
        </p:nvSpPr>
        <p:spPr>
          <a:xfrm>
            <a:off x="1223385" y="3809257"/>
            <a:ext cx="377064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...</a:t>
            </a:r>
            <a:endParaRPr lang="zh-CN" altLang="en-US" dirty="0"/>
          </a:p>
        </p:txBody>
      </p:sp>
      <p:sp>
        <p:nvSpPr>
          <p:cNvPr id="94" name="矩形 93"/>
          <p:cNvSpPr/>
          <p:nvPr/>
        </p:nvSpPr>
        <p:spPr>
          <a:xfrm>
            <a:off x="1212855" y="3479632"/>
            <a:ext cx="377064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...</a:t>
            </a:r>
            <a:endParaRPr lang="zh-CN" altLang="en-US" dirty="0"/>
          </a:p>
        </p:txBody>
      </p:sp>
      <p:sp>
        <p:nvSpPr>
          <p:cNvPr id="95" name="矩形 94"/>
          <p:cNvSpPr/>
          <p:nvPr/>
        </p:nvSpPr>
        <p:spPr>
          <a:xfrm>
            <a:off x="247823" y="2463945"/>
            <a:ext cx="1365315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0x7f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0060</a:t>
            </a:r>
            <a:endParaRPr lang="zh-CN" altLang="en-US" dirty="0"/>
          </a:p>
        </p:txBody>
      </p:sp>
      <p:sp>
        <p:nvSpPr>
          <p:cNvPr id="97" name="矩形 96"/>
          <p:cNvSpPr/>
          <p:nvPr/>
        </p:nvSpPr>
        <p:spPr>
          <a:xfrm>
            <a:off x="241438" y="817825"/>
            <a:ext cx="1365315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0x7f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0088</a:t>
            </a:r>
            <a:endParaRPr lang="zh-CN" altLang="en-US" dirty="0"/>
          </a:p>
        </p:txBody>
      </p:sp>
      <p:sp>
        <p:nvSpPr>
          <p:cNvPr id="98" name="矩形 97"/>
          <p:cNvSpPr/>
          <p:nvPr/>
        </p:nvSpPr>
        <p:spPr>
          <a:xfrm>
            <a:off x="230199" y="1144466"/>
            <a:ext cx="1365315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0x7f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0080</a:t>
            </a:r>
            <a:endParaRPr lang="zh-CN" altLang="en-US" dirty="0"/>
          </a:p>
        </p:txBody>
      </p:sp>
      <p:sp>
        <p:nvSpPr>
          <p:cNvPr id="99" name="矩形 98"/>
          <p:cNvSpPr/>
          <p:nvPr/>
        </p:nvSpPr>
        <p:spPr>
          <a:xfrm>
            <a:off x="243087" y="2147085"/>
            <a:ext cx="1365315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0x7f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0068</a:t>
            </a:r>
            <a:endParaRPr lang="zh-CN" altLang="en-US" dirty="0"/>
          </a:p>
        </p:txBody>
      </p:sp>
      <p:sp>
        <p:nvSpPr>
          <p:cNvPr id="100" name="矩形 99"/>
          <p:cNvSpPr/>
          <p:nvPr/>
        </p:nvSpPr>
        <p:spPr>
          <a:xfrm>
            <a:off x="247457" y="1824251"/>
            <a:ext cx="1365315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0x7f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0070</a:t>
            </a:r>
            <a:endParaRPr lang="zh-CN" altLang="en-US" dirty="0"/>
          </a:p>
        </p:txBody>
      </p:sp>
      <p:sp>
        <p:nvSpPr>
          <p:cNvPr id="101" name="矩形 100"/>
          <p:cNvSpPr/>
          <p:nvPr/>
        </p:nvSpPr>
        <p:spPr>
          <a:xfrm>
            <a:off x="236927" y="1494626"/>
            <a:ext cx="1365315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0x7f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0078</a:t>
            </a:r>
            <a:endParaRPr lang="zh-CN" altLang="en-US" dirty="0"/>
          </a:p>
        </p:txBody>
      </p:sp>
      <p:sp>
        <p:nvSpPr>
          <p:cNvPr id="103" name="矩形 102"/>
          <p:cNvSpPr/>
          <p:nvPr/>
        </p:nvSpPr>
        <p:spPr>
          <a:xfrm>
            <a:off x="1607980" y="5818037"/>
            <a:ext cx="1951499" cy="339164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zh-CN" altLang="en-US" sz="1600" dirty="0">
              <a:solidFill>
                <a:prstClr val="black"/>
              </a:solidFill>
              <a:latin typeface="Consolas"/>
              <a:cs typeface="Consolas"/>
            </a:endParaRPr>
          </a:p>
        </p:txBody>
      </p:sp>
      <p:sp>
        <p:nvSpPr>
          <p:cNvPr id="104" name="矩形 103"/>
          <p:cNvSpPr/>
          <p:nvPr/>
        </p:nvSpPr>
        <p:spPr>
          <a:xfrm>
            <a:off x="1606883" y="6157201"/>
            <a:ext cx="1951499" cy="339164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24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05" name="矩形 104"/>
          <p:cNvSpPr/>
          <p:nvPr/>
        </p:nvSpPr>
        <p:spPr>
          <a:xfrm>
            <a:off x="254671" y="458285"/>
            <a:ext cx="1365315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0x7f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0090</a:t>
            </a:r>
            <a:endParaRPr lang="zh-CN" altLang="en-US" dirty="0"/>
          </a:p>
        </p:txBody>
      </p:sp>
      <p:sp>
        <p:nvSpPr>
          <p:cNvPr id="106" name="矩形 105"/>
          <p:cNvSpPr/>
          <p:nvPr/>
        </p:nvSpPr>
        <p:spPr>
          <a:xfrm>
            <a:off x="252514" y="115556"/>
            <a:ext cx="1365315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0x7f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0098</a:t>
            </a:r>
            <a:endParaRPr lang="zh-CN" altLang="en-US" dirty="0"/>
          </a:p>
        </p:txBody>
      </p:sp>
      <p:sp>
        <p:nvSpPr>
          <p:cNvPr id="107" name="矩形 106"/>
          <p:cNvSpPr/>
          <p:nvPr/>
        </p:nvSpPr>
        <p:spPr>
          <a:xfrm>
            <a:off x="3955296" y="115556"/>
            <a:ext cx="1041584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kumimoji="1" lang="en-US" altLang="zh-CN" sz="1400" b="1" dirty="0">
                <a:latin typeface="Verdana"/>
                <a:cs typeface="Verdana"/>
              </a:rPr>
              <a:t>BOTTOM</a:t>
            </a:r>
            <a:endParaRPr lang="zh-CN" altLang="en-US" sz="1400" b="1" dirty="0"/>
          </a:p>
        </p:txBody>
      </p:sp>
      <p:cxnSp>
        <p:nvCxnSpPr>
          <p:cNvPr id="108" name="直线箭头连接符 107"/>
          <p:cNvCxnSpPr/>
          <p:nvPr/>
        </p:nvCxnSpPr>
        <p:spPr>
          <a:xfrm flipH="1">
            <a:off x="3602284" y="285633"/>
            <a:ext cx="249222" cy="0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8" name="矩形 17"/>
          <p:cNvSpPr/>
          <p:nvPr/>
        </p:nvSpPr>
        <p:spPr>
          <a:xfrm>
            <a:off x="3548240" y="361563"/>
            <a:ext cx="1703993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400" b="1" dirty="0">
                <a:latin typeface="Arial"/>
                <a:cs typeface="Arial"/>
              </a:rPr>
              <a:t>(Initial RSP Value)</a:t>
            </a:r>
            <a:endParaRPr lang="zh-CN" altLang="en-US" sz="1400" b="1" dirty="0">
              <a:latin typeface="Arial"/>
              <a:cs typeface="Arial"/>
            </a:endParaRPr>
          </a:p>
        </p:txBody>
      </p:sp>
      <p:sp>
        <p:nvSpPr>
          <p:cNvPr id="102" name="矩形 101"/>
          <p:cNvSpPr/>
          <p:nvPr/>
        </p:nvSpPr>
        <p:spPr>
          <a:xfrm>
            <a:off x="3927386" y="4856513"/>
            <a:ext cx="688009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kumimoji="1" lang="en-US" altLang="zh-CN" sz="1400" b="1" dirty="0">
                <a:latin typeface="Verdana"/>
                <a:cs typeface="Verdana"/>
              </a:rPr>
              <a:t>%rip</a:t>
            </a:r>
            <a:endParaRPr lang="zh-CN" altLang="en-US" sz="1400" b="1" dirty="0"/>
          </a:p>
        </p:txBody>
      </p:sp>
      <p:cxnSp>
        <p:nvCxnSpPr>
          <p:cNvPr id="111" name="直线箭头连接符 110"/>
          <p:cNvCxnSpPr/>
          <p:nvPr/>
        </p:nvCxnSpPr>
        <p:spPr>
          <a:xfrm flipH="1">
            <a:off x="3560419" y="4998676"/>
            <a:ext cx="249222" cy="0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6363437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/>
          <p:cNvSpPr/>
          <p:nvPr/>
        </p:nvSpPr>
        <p:spPr>
          <a:xfrm>
            <a:off x="5770729" y="420774"/>
            <a:ext cx="2617701" cy="6087558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 w="381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kumimoji="1" lang="zh-CN" altLang="en-US" dirty="0">
              <a:solidFill>
                <a:schemeClr val="tx1"/>
              </a:solidFill>
              <a:latin typeface="Verdana"/>
              <a:cs typeface="Verdana"/>
            </a:endParaRPr>
          </a:p>
        </p:txBody>
      </p:sp>
      <p:sp>
        <p:nvSpPr>
          <p:cNvPr id="6" name="矩形 5"/>
          <p:cNvSpPr/>
          <p:nvPr/>
        </p:nvSpPr>
        <p:spPr>
          <a:xfrm>
            <a:off x="2027994" y="6450704"/>
            <a:ext cx="1219980" cy="400110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kumimoji="1" lang="en-US" altLang="zh-CN" sz="2000" dirty="0">
                <a:latin typeface="Verdana"/>
                <a:cs typeface="Verdana"/>
              </a:rPr>
              <a:t>Memory</a:t>
            </a:r>
            <a:endParaRPr lang="zh-CN" altLang="en-US" sz="2000" dirty="0"/>
          </a:p>
        </p:txBody>
      </p:sp>
      <p:sp>
        <p:nvSpPr>
          <p:cNvPr id="27" name="矩形 26"/>
          <p:cNvSpPr/>
          <p:nvPr/>
        </p:nvSpPr>
        <p:spPr>
          <a:xfrm>
            <a:off x="6707135" y="402971"/>
            <a:ext cx="65399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 dirty="0">
                <a:latin typeface="Verdana"/>
                <a:cs typeface="Verdana"/>
              </a:rPr>
              <a:t>CPU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28" name="圆角矩形 27"/>
          <p:cNvSpPr/>
          <p:nvPr/>
        </p:nvSpPr>
        <p:spPr>
          <a:xfrm>
            <a:off x="6707135" y="829513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s-IS" altLang="zh-CN" sz="1600" dirty="0">
                <a:solidFill>
                  <a:srgbClr val="000000"/>
                </a:solidFill>
                <a:latin typeface="Arial"/>
                <a:cs typeface="Arial"/>
              </a:rPr>
              <a:t>0x00…0030</a:t>
            </a:r>
          </a:p>
        </p:txBody>
      </p:sp>
      <p:sp>
        <p:nvSpPr>
          <p:cNvPr id="29" name="矩形 28"/>
          <p:cNvSpPr/>
          <p:nvPr/>
        </p:nvSpPr>
        <p:spPr>
          <a:xfrm>
            <a:off x="5973835" y="849437"/>
            <a:ext cx="68640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 dirty="0">
                <a:latin typeface="Verdana"/>
                <a:cs typeface="Verdana"/>
              </a:rPr>
              <a:t>RIP: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33" name="矩形 32"/>
          <p:cNvSpPr/>
          <p:nvPr/>
        </p:nvSpPr>
        <p:spPr>
          <a:xfrm>
            <a:off x="6007264" y="1716244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RAX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34" name="圆角矩形 33"/>
          <p:cNvSpPr/>
          <p:nvPr/>
        </p:nvSpPr>
        <p:spPr>
          <a:xfrm>
            <a:off x="6707134" y="1726615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5" name="圆角矩形 34"/>
          <p:cNvSpPr/>
          <p:nvPr/>
        </p:nvSpPr>
        <p:spPr>
          <a:xfrm>
            <a:off x="6732381" y="2156558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6" name="圆角矩形 35"/>
          <p:cNvSpPr/>
          <p:nvPr/>
        </p:nvSpPr>
        <p:spPr>
          <a:xfrm>
            <a:off x="6732381" y="2585832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 dirty="0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37" name="圆角矩形 36"/>
          <p:cNvSpPr/>
          <p:nvPr/>
        </p:nvSpPr>
        <p:spPr>
          <a:xfrm>
            <a:off x="6727649" y="3016507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 dirty="0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38" name="圆角矩形 37"/>
          <p:cNvSpPr/>
          <p:nvPr/>
        </p:nvSpPr>
        <p:spPr>
          <a:xfrm>
            <a:off x="6728204" y="3454928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9" name="圆角矩形 38"/>
          <p:cNvSpPr/>
          <p:nvPr/>
        </p:nvSpPr>
        <p:spPr>
          <a:xfrm>
            <a:off x="6730569" y="3884871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0x5</a:t>
            </a:r>
            <a:endParaRPr lang="zh-CN" altLang="en-US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40" name="圆角矩形 39"/>
          <p:cNvSpPr/>
          <p:nvPr/>
        </p:nvSpPr>
        <p:spPr>
          <a:xfrm>
            <a:off x="6719128" y="4314145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is-IS" altLang="zh-CN" dirty="0">
                <a:solidFill>
                  <a:prstClr val="black"/>
                </a:solidFill>
                <a:latin typeface="Arial"/>
                <a:cs typeface="Arial"/>
                <a:sym typeface="Courier New Bold" charset="0"/>
              </a:rPr>
              <a:t>0x7f…0078</a:t>
            </a:r>
          </a:p>
        </p:txBody>
      </p:sp>
      <p:sp>
        <p:nvSpPr>
          <p:cNvPr id="41" name="圆角矩形 40"/>
          <p:cNvSpPr/>
          <p:nvPr/>
        </p:nvSpPr>
        <p:spPr>
          <a:xfrm>
            <a:off x="6725837" y="4744820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 dirty="0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42" name="矩形 41"/>
          <p:cNvSpPr/>
          <p:nvPr/>
        </p:nvSpPr>
        <p:spPr>
          <a:xfrm>
            <a:off x="7071077" y="6098041"/>
            <a:ext cx="441146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mr-IN" altLang="zh-CN" sz="2000" b="1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sz="2000" b="1" dirty="0"/>
          </a:p>
        </p:txBody>
      </p:sp>
      <p:sp>
        <p:nvSpPr>
          <p:cNvPr id="43" name="矩形 42"/>
          <p:cNvSpPr/>
          <p:nvPr/>
        </p:nvSpPr>
        <p:spPr>
          <a:xfrm>
            <a:off x="6004115" y="2168000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RBX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44" name="矩形 43"/>
          <p:cNvSpPr/>
          <p:nvPr/>
        </p:nvSpPr>
        <p:spPr>
          <a:xfrm>
            <a:off x="5989455" y="2585832"/>
            <a:ext cx="77685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RCX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45" name="矩形 44"/>
          <p:cNvSpPr/>
          <p:nvPr/>
        </p:nvSpPr>
        <p:spPr>
          <a:xfrm>
            <a:off x="5993122" y="3024282"/>
            <a:ext cx="77685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RDX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46" name="矩形 45"/>
          <p:cNvSpPr/>
          <p:nvPr/>
        </p:nvSpPr>
        <p:spPr>
          <a:xfrm>
            <a:off x="5990867" y="3451290"/>
            <a:ext cx="67428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RSI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47" name="矩形 46"/>
          <p:cNvSpPr/>
          <p:nvPr/>
        </p:nvSpPr>
        <p:spPr>
          <a:xfrm>
            <a:off x="5986305" y="3882159"/>
            <a:ext cx="68702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RDI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48" name="矩形 47"/>
          <p:cNvSpPr/>
          <p:nvPr/>
        </p:nvSpPr>
        <p:spPr>
          <a:xfrm>
            <a:off x="5985749" y="4320609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RSP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49" name="矩形 48"/>
          <p:cNvSpPr/>
          <p:nvPr/>
        </p:nvSpPr>
        <p:spPr>
          <a:xfrm>
            <a:off x="5983157" y="4718557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RBP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56" name="矩形 55"/>
          <p:cNvSpPr/>
          <p:nvPr/>
        </p:nvSpPr>
        <p:spPr>
          <a:xfrm>
            <a:off x="3927386" y="1519551"/>
            <a:ext cx="732893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kumimoji="1" lang="en-US" altLang="zh-CN" sz="1400" b="1" dirty="0">
                <a:latin typeface="Verdana"/>
                <a:cs typeface="Verdana"/>
              </a:rPr>
              <a:t>%</a:t>
            </a:r>
            <a:r>
              <a:rPr kumimoji="1" lang="en-US" altLang="zh-CN" sz="1400" b="1" dirty="0" err="1">
                <a:latin typeface="Verdana"/>
                <a:cs typeface="Verdana"/>
              </a:rPr>
              <a:t>rsp</a:t>
            </a:r>
            <a:endParaRPr lang="zh-CN" altLang="en-US" sz="1400" b="1" dirty="0"/>
          </a:p>
        </p:txBody>
      </p:sp>
      <p:sp>
        <p:nvSpPr>
          <p:cNvPr id="57" name="矩形 56"/>
          <p:cNvSpPr/>
          <p:nvPr/>
        </p:nvSpPr>
        <p:spPr>
          <a:xfrm>
            <a:off x="6194819" y="5220252"/>
            <a:ext cx="57149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ZF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58" name="圆角矩形 57"/>
          <p:cNvSpPr/>
          <p:nvPr/>
        </p:nvSpPr>
        <p:spPr>
          <a:xfrm>
            <a:off x="6748122" y="5211806"/>
            <a:ext cx="439253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  <a:sym typeface="Courier New Bold" charset="0"/>
              </a:rPr>
              <a:t>0</a:t>
            </a:r>
          </a:p>
        </p:txBody>
      </p:sp>
      <p:sp>
        <p:nvSpPr>
          <p:cNvPr id="62" name="矩形 61"/>
          <p:cNvSpPr/>
          <p:nvPr/>
        </p:nvSpPr>
        <p:spPr>
          <a:xfrm>
            <a:off x="7298019" y="5198018"/>
            <a:ext cx="58445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SF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64" name="圆角矩形 63"/>
          <p:cNvSpPr/>
          <p:nvPr/>
        </p:nvSpPr>
        <p:spPr>
          <a:xfrm>
            <a:off x="7857802" y="5189572"/>
            <a:ext cx="439253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  <a:sym typeface="Courier New Bold" charset="0"/>
              </a:rPr>
              <a:t>0</a:t>
            </a:r>
          </a:p>
        </p:txBody>
      </p:sp>
      <p:sp>
        <p:nvSpPr>
          <p:cNvPr id="65" name="矩形 64"/>
          <p:cNvSpPr/>
          <p:nvPr/>
        </p:nvSpPr>
        <p:spPr>
          <a:xfrm>
            <a:off x="6177727" y="5675034"/>
            <a:ext cx="59718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CF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77" name="圆角矩形 76"/>
          <p:cNvSpPr/>
          <p:nvPr/>
        </p:nvSpPr>
        <p:spPr>
          <a:xfrm>
            <a:off x="6743879" y="5666588"/>
            <a:ext cx="439253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  <a:sym typeface="Courier New Bold" charset="0"/>
              </a:rPr>
              <a:t>0</a:t>
            </a:r>
          </a:p>
        </p:txBody>
      </p:sp>
      <p:sp>
        <p:nvSpPr>
          <p:cNvPr id="78" name="矩形 77"/>
          <p:cNvSpPr/>
          <p:nvPr/>
        </p:nvSpPr>
        <p:spPr>
          <a:xfrm>
            <a:off x="7280983" y="5652800"/>
            <a:ext cx="61003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OF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79" name="圆角矩形 78"/>
          <p:cNvSpPr/>
          <p:nvPr/>
        </p:nvSpPr>
        <p:spPr>
          <a:xfrm>
            <a:off x="7853559" y="5644354"/>
            <a:ext cx="439253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  <a:sym typeface="Courier New Bold" charset="0"/>
              </a:rPr>
              <a:t>0</a:t>
            </a:r>
          </a:p>
        </p:txBody>
      </p:sp>
      <p:sp>
        <p:nvSpPr>
          <p:cNvPr id="7" name="矩形 6"/>
          <p:cNvSpPr/>
          <p:nvPr/>
        </p:nvSpPr>
        <p:spPr>
          <a:xfrm>
            <a:off x="1588002" y="819397"/>
            <a:ext cx="1951499" cy="33916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cs-CZ" altLang="zh-CN" sz="1600" dirty="0">
                <a:latin typeface="Consolas"/>
                <a:cs typeface="Consolas"/>
                <a:sym typeface="Courier New Bold" charset="0"/>
              </a:rPr>
              <a:t>0x3</a:t>
            </a:r>
          </a:p>
        </p:txBody>
      </p:sp>
      <p:sp>
        <p:nvSpPr>
          <p:cNvPr id="8" name="矩形 7"/>
          <p:cNvSpPr/>
          <p:nvPr/>
        </p:nvSpPr>
        <p:spPr>
          <a:xfrm>
            <a:off x="1588002" y="480233"/>
            <a:ext cx="1951499" cy="33916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US" altLang="zh-CN" sz="1600" dirty="0">
                <a:solidFill>
                  <a:prstClr val="black"/>
                </a:solidFill>
                <a:latin typeface="Consolas"/>
                <a:cs typeface="Consolas"/>
              </a:rPr>
              <a:t>0x2</a:t>
            </a:r>
          </a:p>
        </p:txBody>
      </p:sp>
      <p:sp>
        <p:nvSpPr>
          <p:cNvPr id="9" name="矩形 8"/>
          <p:cNvSpPr/>
          <p:nvPr/>
        </p:nvSpPr>
        <p:spPr>
          <a:xfrm>
            <a:off x="1588002" y="143470"/>
            <a:ext cx="1951499" cy="33916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tabLst>
                <a:tab pos="514350" algn="l"/>
                <a:tab pos="2801938" algn="l"/>
                <a:tab pos="3086100" algn="l"/>
                <a:tab pos="3086100" algn="l"/>
                <a:tab pos="3086100" algn="l"/>
                <a:tab pos="3086100" algn="l"/>
              </a:tabLst>
            </a:pPr>
            <a:r>
              <a:rPr lang="cs-CZ" altLang="zh-CN" sz="1600" dirty="0">
                <a:latin typeface="Consolas"/>
                <a:cs typeface="Consolas"/>
                <a:sym typeface="Courier New Bold" charset="0"/>
              </a:rPr>
              <a:t>0x1</a:t>
            </a:r>
          </a:p>
        </p:txBody>
      </p:sp>
      <p:sp>
        <p:nvSpPr>
          <p:cNvPr id="11" name="矩形 10"/>
          <p:cNvSpPr/>
          <p:nvPr/>
        </p:nvSpPr>
        <p:spPr>
          <a:xfrm>
            <a:off x="1588002" y="1158204"/>
            <a:ext cx="1951499" cy="33916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1600" dirty="0">
                <a:solidFill>
                  <a:prstClr val="black"/>
                </a:solidFill>
                <a:latin typeface="Consolas"/>
                <a:cs typeface="Consolas"/>
              </a:rPr>
              <a:t>0x4</a:t>
            </a:r>
            <a:endParaRPr lang="zh-CN" altLang="en-US" sz="1600" dirty="0">
              <a:solidFill>
                <a:prstClr val="black"/>
              </a:solidFill>
              <a:latin typeface="Consolas"/>
              <a:cs typeface="Consolas"/>
            </a:endParaRPr>
          </a:p>
        </p:txBody>
      </p:sp>
      <p:sp>
        <p:nvSpPr>
          <p:cNvPr id="12" name="矩形 11"/>
          <p:cNvSpPr/>
          <p:nvPr/>
        </p:nvSpPr>
        <p:spPr>
          <a:xfrm>
            <a:off x="1592372" y="2452102"/>
            <a:ext cx="1951499" cy="3391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3" name="矩形 12"/>
          <p:cNvSpPr/>
          <p:nvPr/>
        </p:nvSpPr>
        <p:spPr>
          <a:xfrm>
            <a:off x="1596741" y="2801658"/>
            <a:ext cx="1951499" cy="3391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4" name="矩形 13"/>
          <p:cNvSpPr/>
          <p:nvPr/>
        </p:nvSpPr>
        <p:spPr>
          <a:xfrm>
            <a:off x="1604322" y="3134126"/>
            <a:ext cx="1951499" cy="339164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5" name="矩形 14"/>
          <p:cNvSpPr/>
          <p:nvPr/>
        </p:nvSpPr>
        <p:spPr>
          <a:xfrm>
            <a:off x="1604322" y="3467966"/>
            <a:ext cx="1951499" cy="339164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6" name="矩形 15"/>
          <p:cNvSpPr/>
          <p:nvPr/>
        </p:nvSpPr>
        <p:spPr>
          <a:xfrm>
            <a:off x="1604322" y="3802650"/>
            <a:ext cx="1951499" cy="339164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24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25" name="矩形 24"/>
          <p:cNvSpPr/>
          <p:nvPr/>
        </p:nvSpPr>
        <p:spPr>
          <a:xfrm>
            <a:off x="1588002" y="2131475"/>
            <a:ext cx="1951499" cy="319756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24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cxnSp>
        <p:nvCxnSpPr>
          <p:cNvPr id="4" name="直线箭头连接符 3"/>
          <p:cNvCxnSpPr/>
          <p:nvPr/>
        </p:nvCxnSpPr>
        <p:spPr>
          <a:xfrm flipH="1">
            <a:off x="3560419" y="1661714"/>
            <a:ext cx="249222" cy="0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59" name="矩形 58"/>
          <p:cNvSpPr/>
          <p:nvPr/>
        </p:nvSpPr>
        <p:spPr>
          <a:xfrm>
            <a:off x="1583191" y="1814000"/>
            <a:ext cx="1951499" cy="319756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24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61" name="矩形 60"/>
          <p:cNvSpPr/>
          <p:nvPr/>
        </p:nvSpPr>
        <p:spPr>
          <a:xfrm>
            <a:off x="1587904" y="1495448"/>
            <a:ext cx="1951499" cy="31975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0x5</a:t>
            </a:r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63" name="矩形 62"/>
          <p:cNvSpPr/>
          <p:nvPr/>
        </p:nvSpPr>
        <p:spPr>
          <a:xfrm>
            <a:off x="1606031" y="4141814"/>
            <a:ext cx="1951499" cy="339164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24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80" name="矩形 79"/>
          <p:cNvSpPr/>
          <p:nvPr/>
        </p:nvSpPr>
        <p:spPr>
          <a:xfrm>
            <a:off x="1608920" y="4467641"/>
            <a:ext cx="1951499" cy="339164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24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81" name="矩形 80"/>
          <p:cNvSpPr/>
          <p:nvPr/>
        </p:nvSpPr>
        <p:spPr>
          <a:xfrm>
            <a:off x="1606883" y="4807245"/>
            <a:ext cx="1951499" cy="339164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1600" dirty="0" err="1">
                <a:solidFill>
                  <a:prstClr val="black"/>
                </a:solidFill>
                <a:latin typeface="Consolas"/>
                <a:cs typeface="Consolas"/>
              </a:rPr>
              <a:t>pushq</a:t>
            </a:r>
            <a:r>
              <a:rPr lang="en-US" altLang="zh-CN" sz="1600" dirty="0">
                <a:solidFill>
                  <a:prstClr val="black"/>
                </a:solidFill>
                <a:latin typeface="Consolas"/>
                <a:cs typeface="Consolas"/>
              </a:rPr>
              <a:t> %rdi</a:t>
            </a:r>
            <a:endParaRPr lang="zh-CN" altLang="en-US" sz="1600" dirty="0">
              <a:solidFill>
                <a:prstClr val="black"/>
              </a:solidFill>
              <a:latin typeface="Consolas"/>
              <a:cs typeface="Consolas"/>
            </a:endParaRPr>
          </a:p>
        </p:txBody>
      </p:sp>
      <p:sp>
        <p:nvSpPr>
          <p:cNvPr id="82" name="矩形 81"/>
          <p:cNvSpPr/>
          <p:nvPr/>
        </p:nvSpPr>
        <p:spPr>
          <a:xfrm>
            <a:off x="1606327" y="5138285"/>
            <a:ext cx="1951499" cy="339164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24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83" name="矩形 82"/>
          <p:cNvSpPr/>
          <p:nvPr/>
        </p:nvSpPr>
        <p:spPr>
          <a:xfrm>
            <a:off x="1608920" y="5474699"/>
            <a:ext cx="1951499" cy="339164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zh-CN" altLang="en-US" sz="1600" dirty="0">
              <a:solidFill>
                <a:prstClr val="black"/>
              </a:solidFill>
              <a:latin typeface="Consolas"/>
              <a:cs typeface="Consolas"/>
            </a:endParaRPr>
          </a:p>
        </p:txBody>
      </p:sp>
      <p:sp>
        <p:nvSpPr>
          <p:cNvPr id="84" name="矩形 83"/>
          <p:cNvSpPr/>
          <p:nvPr/>
        </p:nvSpPr>
        <p:spPr>
          <a:xfrm>
            <a:off x="1007750" y="6068371"/>
            <a:ext cx="492443" cy="427994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mr-IN" altLang="zh-CN" sz="2400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sz="2400" dirty="0"/>
          </a:p>
        </p:txBody>
      </p:sp>
      <p:sp>
        <p:nvSpPr>
          <p:cNvPr id="85" name="矩形 84"/>
          <p:cNvSpPr/>
          <p:nvPr/>
        </p:nvSpPr>
        <p:spPr>
          <a:xfrm>
            <a:off x="229115" y="2802831"/>
            <a:ext cx="1365315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0x7f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0058</a:t>
            </a:r>
            <a:endParaRPr lang="zh-CN" altLang="en-US" dirty="0"/>
          </a:p>
        </p:txBody>
      </p:sp>
      <p:sp>
        <p:nvSpPr>
          <p:cNvPr id="86" name="矩形 85"/>
          <p:cNvSpPr/>
          <p:nvPr/>
        </p:nvSpPr>
        <p:spPr>
          <a:xfrm>
            <a:off x="217876" y="3129472"/>
            <a:ext cx="1365315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0x7f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0050</a:t>
            </a:r>
            <a:endParaRPr lang="zh-CN" altLang="en-US" dirty="0"/>
          </a:p>
        </p:txBody>
      </p:sp>
      <p:sp>
        <p:nvSpPr>
          <p:cNvPr id="87" name="矩形 86"/>
          <p:cNvSpPr/>
          <p:nvPr/>
        </p:nvSpPr>
        <p:spPr>
          <a:xfrm>
            <a:off x="153630" y="5818977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0010</a:t>
            </a:r>
            <a:endParaRPr lang="zh-CN" altLang="en-US" dirty="0"/>
          </a:p>
        </p:txBody>
      </p:sp>
      <p:sp>
        <p:nvSpPr>
          <p:cNvPr id="88" name="矩形 87"/>
          <p:cNvSpPr/>
          <p:nvPr/>
        </p:nvSpPr>
        <p:spPr>
          <a:xfrm>
            <a:off x="153630" y="5471147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0018</a:t>
            </a:r>
            <a:endParaRPr lang="zh-CN" altLang="en-US" dirty="0"/>
          </a:p>
        </p:txBody>
      </p:sp>
      <p:sp>
        <p:nvSpPr>
          <p:cNvPr id="89" name="矩形 88"/>
          <p:cNvSpPr/>
          <p:nvPr/>
        </p:nvSpPr>
        <p:spPr>
          <a:xfrm>
            <a:off x="153630" y="5135395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0020</a:t>
            </a:r>
            <a:endParaRPr lang="zh-CN" altLang="en-US" dirty="0"/>
          </a:p>
        </p:txBody>
      </p:sp>
      <p:sp>
        <p:nvSpPr>
          <p:cNvPr id="90" name="矩形 89"/>
          <p:cNvSpPr/>
          <p:nvPr/>
        </p:nvSpPr>
        <p:spPr>
          <a:xfrm>
            <a:off x="153630" y="4803962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0028</a:t>
            </a:r>
            <a:endParaRPr lang="zh-CN" altLang="en-US" dirty="0"/>
          </a:p>
        </p:txBody>
      </p:sp>
      <p:sp>
        <p:nvSpPr>
          <p:cNvPr id="91" name="矩形 90"/>
          <p:cNvSpPr/>
          <p:nvPr/>
        </p:nvSpPr>
        <p:spPr>
          <a:xfrm>
            <a:off x="164869" y="4460238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0030</a:t>
            </a:r>
            <a:endParaRPr lang="zh-CN" altLang="en-US" dirty="0"/>
          </a:p>
        </p:txBody>
      </p:sp>
      <p:sp>
        <p:nvSpPr>
          <p:cNvPr id="92" name="矩形 91"/>
          <p:cNvSpPr/>
          <p:nvPr/>
        </p:nvSpPr>
        <p:spPr>
          <a:xfrm>
            <a:off x="1219015" y="4132091"/>
            <a:ext cx="377064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...</a:t>
            </a:r>
            <a:endParaRPr lang="zh-CN" altLang="en-US" dirty="0"/>
          </a:p>
        </p:txBody>
      </p:sp>
      <p:sp>
        <p:nvSpPr>
          <p:cNvPr id="93" name="矩形 92"/>
          <p:cNvSpPr/>
          <p:nvPr/>
        </p:nvSpPr>
        <p:spPr>
          <a:xfrm>
            <a:off x="1223385" y="3809257"/>
            <a:ext cx="377064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...</a:t>
            </a:r>
            <a:endParaRPr lang="zh-CN" altLang="en-US" dirty="0"/>
          </a:p>
        </p:txBody>
      </p:sp>
      <p:sp>
        <p:nvSpPr>
          <p:cNvPr id="94" name="矩形 93"/>
          <p:cNvSpPr/>
          <p:nvPr/>
        </p:nvSpPr>
        <p:spPr>
          <a:xfrm>
            <a:off x="1212855" y="3479632"/>
            <a:ext cx="377064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...</a:t>
            </a:r>
            <a:endParaRPr lang="zh-CN" altLang="en-US" dirty="0"/>
          </a:p>
        </p:txBody>
      </p:sp>
      <p:sp>
        <p:nvSpPr>
          <p:cNvPr id="95" name="矩形 94"/>
          <p:cNvSpPr/>
          <p:nvPr/>
        </p:nvSpPr>
        <p:spPr>
          <a:xfrm>
            <a:off x="247823" y="2463945"/>
            <a:ext cx="1365315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0x7f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0060</a:t>
            </a:r>
            <a:endParaRPr lang="zh-CN" altLang="en-US" dirty="0"/>
          </a:p>
        </p:txBody>
      </p:sp>
      <p:sp>
        <p:nvSpPr>
          <p:cNvPr id="97" name="矩形 96"/>
          <p:cNvSpPr/>
          <p:nvPr/>
        </p:nvSpPr>
        <p:spPr>
          <a:xfrm>
            <a:off x="241438" y="817825"/>
            <a:ext cx="1365315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0x7f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0088</a:t>
            </a:r>
            <a:endParaRPr lang="zh-CN" altLang="en-US" dirty="0"/>
          </a:p>
        </p:txBody>
      </p:sp>
      <p:sp>
        <p:nvSpPr>
          <p:cNvPr id="98" name="矩形 97"/>
          <p:cNvSpPr/>
          <p:nvPr/>
        </p:nvSpPr>
        <p:spPr>
          <a:xfrm>
            <a:off x="230199" y="1144466"/>
            <a:ext cx="1365315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0x7f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0080</a:t>
            </a:r>
            <a:endParaRPr lang="zh-CN" altLang="en-US" dirty="0"/>
          </a:p>
        </p:txBody>
      </p:sp>
      <p:sp>
        <p:nvSpPr>
          <p:cNvPr id="99" name="矩形 98"/>
          <p:cNvSpPr/>
          <p:nvPr/>
        </p:nvSpPr>
        <p:spPr>
          <a:xfrm>
            <a:off x="243087" y="2147085"/>
            <a:ext cx="1365315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0x7f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0068</a:t>
            </a:r>
            <a:endParaRPr lang="zh-CN" altLang="en-US" dirty="0"/>
          </a:p>
        </p:txBody>
      </p:sp>
      <p:sp>
        <p:nvSpPr>
          <p:cNvPr id="100" name="矩形 99"/>
          <p:cNvSpPr/>
          <p:nvPr/>
        </p:nvSpPr>
        <p:spPr>
          <a:xfrm>
            <a:off x="247457" y="1824251"/>
            <a:ext cx="1365315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0x7f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0070</a:t>
            </a:r>
            <a:endParaRPr lang="zh-CN" altLang="en-US" dirty="0"/>
          </a:p>
        </p:txBody>
      </p:sp>
      <p:sp>
        <p:nvSpPr>
          <p:cNvPr id="101" name="矩形 100"/>
          <p:cNvSpPr/>
          <p:nvPr/>
        </p:nvSpPr>
        <p:spPr>
          <a:xfrm>
            <a:off x="236927" y="1494626"/>
            <a:ext cx="1365315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0x7f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0078</a:t>
            </a:r>
            <a:endParaRPr lang="zh-CN" altLang="en-US" dirty="0"/>
          </a:p>
        </p:txBody>
      </p:sp>
      <p:sp>
        <p:nvSpPr>
          <p:cNvPr id="103" name="矩形 102"/>
          <p:cNvSpPr/>
          <p:nvPr/>
        </p:nvSpPr>
        <p:spPr>
          <a:xfrm>
            <a:off x="1607980" y="5818037"/>
            <a:ext cx="1951499" cy="339164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zh-CN" altLang="en-US" sz="1600" dirty="0">
              <a:solidFill>
                <a:prstClr val="black"/>
              </a:solidFill>
              <a:latin typeface="Consolas"/>
              <a:cs typeface="Consolas"/>
            </a:endParaRPr>
          </a:p>
        </p:txBody>
      </p:sp>
      <p:sp>
        <p:nvSpPr>
          <p:cNvPr id="104" name="矩形 103"/>
          <p:cNvSpPr/>
          <p:nvPr/>
        </p:nvSpPr>
        <p:spPr>
          <a:xfrm>
            <a:off x="1606883" y="6157201"/>
            <a:ext cx="1951499" cy="339164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24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05" name="矩形 104"/>
          <p:cNvSpPr/>
          <p:nvPr/>
        </p:nvSpPr>
        <p:spPr>
          <a:xfrm>
            <a:off x="254671" y="458285"/>
            <a:ext cx="1365315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0x7f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0090</a:t>
            </a:r>
            <a:endParaRPr lang="zh-CN" altLang="en-US" dirty="0"/>
          </a:p>
        </p:txBody>
      </p:sp>
      <p:sp>
        <p:nvSpPr>
          <p:cNvPr id="106" name="矩形 105"/>
          <p:cNvSpPr/>
          <p:nvPr/>
        </p:nvSpPr>
        <p:spPr>
          <a:xfrm>
            <a:off x="252514" y="115556"/>
            <a:ext cx="1365315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0x7f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0098</a:t>
            </a:r>
            <a:endParaRPr lang="zh-CN" altLang="en-US" dirty="0"/>
          </a:p>
        </p:txBody>
      </p:sp>
      <p:sp>
        <p:nvSpPr>
          <p:cNvPr id="107" name="矩形 106"/>
          <p:cNvSpPr/>
          <p:nvPr/>
        </p:nvSpPr>
        <p:spPr>
          <a:xfrm>
            <a:off x="3955296" y="115556"/>
            <a:ext cx="1041584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kumimoji="1" lang="en-US" altLang="zh-CN" sz="1400" b="1" dirty="0">
                <a:latin typeface="Verdana"/>
                <a:cs typeface="Verdana"/>
              </a:rPr>
              <a:t>BOTTOM</a:t>
            </a:r>
            <a:endParaRPr lang="zh-CN" altLang="en-US" sz="1400" b="1" dirty="0"/>
          </a:p>
        </p:txBody>
      </p:sp>
      <p:cxnSp>
        <p:nvCxnSpPr>
          <p:cNvPr id="108" name="直线箭头连接符 107"/>
          <p:cNvCxnSpPr/>
          <p:nvPr/>
        </p:nvCxnSpPr>
        <p:spPr>
          <a:xfrm flipH="1">
            <a:off x="3602284" y="285633"/>
            <a:ext cx="249222" cy="0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8" name="矩形 17"/>
          <p:cNvSpPr/>
          <p:nvPr/>
        </p:nvSpPr>
        <p:spPr>
          <a:xfrm>
            <a:off x="3548240" y="361563"/>
            <a:ext cx="1703993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400" b="1" dirty="0">
                <a:latin typeface="Arial"/>
                <a:cs typeface="Arial"/>
              </a:rPr>
              <a:t>(Initial RSP Value)</a:t>
            </a:r>
            <a:endParaRPr lang="zh-CN" altLang="en-US" sz="1400" b="1" dirty="0">
              <a:latin typeface="Arial"/>
              <a:cs typeface="Arial"/>
            </a:endParaRPr>
          </a:p>
        </p:txBody>
      </p:sp>
      <p:sp>
        <p:nvSpPr>
          <p:cNvPr id="102" name="矩形 101"/>
          <p:cNvSpPr/>
          <p:nvPr/>
        </p:nvSpPr>
        <p:spPr>
          <a:xfrm>
            <a:off x="3969251" y="4534639"/>
            <a:ext cx="446168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kumimoji="1" lang="en-US" altLang="zh-CN" sz="1400" b="1" dirty="0">
                <a:latin typeface="Verdana"/>
                <a:cs typeface="Verdana"/>
              </a:rPr>
              <a:t>PC</a:t>
            </a:r>
            <a:endParaRPr lang="zh-CN" altLang="en-US" sz="1400" b="1" dirty="0"/>
          </a:p>
        </p:txBody>
      </p:sp>
      <p:cxnSp>
        <p:nvCxnSpPr>
          <p:cNvPr id="111" name="直线箭头连接符 110"/>
          <p:cNvCxnSpPr/>
          <p:nvPr/>
        </p:nvCxnSpPr>
        <p:spPr>
          <a:xfrm flipH="1">
            <a:off x="3602284" y="4676802"/>
            <a:ext cx="249222" cy="0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7068964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Stack </a:t>
            </a:r>
            <a:r>
              <a:rPr kumimoji="1" lang="mr-IN" altLang="zh-CN" dirty="0"/>
              <a:t>–</a:t>
            </a:r>
            <a:r>
              <a:rPr kumimoji="1" lang="en-US" altLang="zh-CN" dirty="0"/>
              <a:t> pop Instruction</a:t>
            </a:r>
            <a:endParaRPr kumimoji="1"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kumimoji="1" lang="en-US" altLang="zh-CN" b="1" dirty="0" err="1">
                <a:latin typeface="Consolas"/>
                <a:cs typeface="Consolas"/>
              </a:rPr>
              <a:t>popq</a:t>
            </a:r>
            <a:r>
              <a:rPr kumimoji="1" lang="en-US" altLang="zh-CN" b="1" dirty="0">
                <a:latin typeface="Consolas"/>
                <a:cs typeface="Consolas"/>
              </a:rPr>
              <a:t> </a:t>
            </a:r>
            <a:r>
              <a:rPr kumimoji="1" lang="en-US" altLang="zh-CN" dirty="0" err="1">
                <a:latin typeface="Consolas"/>
                <a:cs typeface="Consolas"/>
              </a:rPr>
              <a:t>dest</a:t>
            </a:r>
            <a:endParaRPr kumimoji="1" lang="en-US" altLang="zh-CN" dirty="0">
              <a:latin typeface="Consolas"/>
              <a:cs typeface="Consolas"/>
            </a:endParaRPr>
          </a:p>
          <a:p>
            <a:pPr lvl="1"/>
            <a:r>
              <a:rPr kumimoji="1" lang="en-US" altLang="zh-CN" dirty="0"/>
              <a:t>Store the value at address </a:t>
            </a:r>
            <a:r>
              <a:rPr kumimoji="1" lang="en-US" altLang="zh-CN" dirty="0">
                <a:latin typeface="Consolas"/>
                <a:cs typeface="Consolas"/>
              </a:rPr>
              <a:t>%</a:t>
            </a:r>
            <a:r>
              <a:rPr kumimoji="1" lang="en-US" altLang="zh-CN" dirty="0" err="1">
                <a:latin typeface="Consolas"/>
                <a:cs typeface="Consolas"/>
              </a:rPr>
              <a:t>rsp</a:t>
            </a:r>
            <a:r>
              <a:rPr kumimoji="1" lang="en-US" altLang="zh-CN" dirty="0">
                <a:latin typeface="Consolas"/>
                <a:cs typeface="Consolas"/>
              </a:rPr>
              <a:t> </a:t>
            </a:r>
            <a:r>
              <a:rPr kumimoji="1" lang="en-US" altLang="zh-CN" dirty="0"/>
              <a:t>to </a:t>
            </a:r>
            <a:r>
              <a:rPr kumimoji="1" lang="en-US" altLang="zh-CN" dirty="0" err="1"/>
              <a:t>dest</a:t>
            </a:r>
            <a:endParaRPr kumimoji="1" lang="en-US" altLang="zh-CN" dirty="0"/>
          </a:p>
          <a:p>
            <a:pPr lvl="1"/>
            <a:r>
              <a:rPr kumimoji="1" lang="en-US" altLang="zh-CN" dirty="0"/>
              <a:t>Increment %</a:t>
            </a:r>
            <a:r>
              <a:rPr kumimoji="1" lang="en-US" altLang="zh-CN" dirty="0" err="1"/>
              <a:t>rsp</a:t>
            </a:r>
            <a:r>
              <a:rPr kumimoji="1" lang="en-US" altLang="zh-CN" dirty="0"/>
              <a:t> by 8 </a:t>
            </a:r>
          </a:p>
          <a:p>
            <a:pPr marL="457200" lvl="1" indent="0">
              <a:buNone/>
            </a:pPr>
            <a:endParaRPr kumimoji="1"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48190814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/>
          <p:cNvSpPr/>
          <p:nvPr/>
        </p:nvSpPr>
        <p:spPr>
          <a:xfrm>
            <a:off x="5770729" y="420774"/>
            <a:ext cx="2617701" cy="6087558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 w="381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kumimoji="1" lang="zh-CN" altLang="en-US" dirty="0">
              <a:solidFill>
                <a:schemeClr val="tx1"/>
              </a:solidFill>
              <a:latin typeface="Verdana"/>
              <a:cs typeface="Verdana"/>
            </a:endParaRPr>
          </a:p>
        </p:txBody>
      </p:sp>
      <p:sp>
        <p:nvSpPr>
          <p:cNvPr id="6" name="矩形 5"/>
          <p:cNvSpPr/>
          <p:nvPr/>
        </p:nvSpPr>
        <p:spPr>
          <a:xfrm>
            <a:off x="2027994" y="6450704"/>
            <a:ext cx="1219980" cy="400110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kumimoji="1" lang="en-US" altLang="zh-CN" sz="2000" dirty="0">
                <a:latin typeface="Verdana"/>
                <a:cs typeface="Verdana"/>
              </a:rPr>
              <a:t>Memory</a:t>
            </a:r>
            <a:endParaRPr lang="zh-CN" altLang="en-US" sz="2000" dirty="0"/>
          </a:p>
        </p:txBody>
      </p:sp>
      <p:sp>
        <p:nvSpPr>
          <p:cNvPr id="27" name="矩形 26"/>
          <p:cNvSpPr/>
          <p:nvPr/>
        </p:nvSpPr>
        <p:spPr>
          <a:xfrm>
            <a:off x="6707135" y="402971"/>
            <a:ext cx="65399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 dirty="0">
                <a:latin typeface="Verdana"/>
                <a:cs typeface="Verdana"/>
              </a:rPr>
              <a:t>CPU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28" name="圆角矩形 27"/>
          <p:cNvSpPr/>
          <p:nvPr/>
        </p:nvSpPr>
        <p:spPr>
          <a:xfrm>
            <a:off x="6707135" y="829513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s-IS" altLang="zh-CN" sz="1600" dirty="0">
                <a:solidFill>
                  <a:srgbClr val="000000"/>
                </a:solidFill>
                <a:latin typeface="Arial"/>
                <a:cs typeface="Arial"/>
              </a:rPr>
              <a:t>0x00…0030</a:t>
            </a:r>
          </a:p>
        </p:txBody>
      </p:sp>
      <p:sp>
        <p:nvSpPr>
          <p:cNvPr id="29" name="矩形 28"/>
          <p:cNvSpPr/>
          <p:nvPr/>
        </p:nvSpPr>
        <p:spPr>
          <a:xfrm>
            <a:off x="5973835" y="849437"/>
            <a:ext cx="68640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 dirty="0">
                <a:latin typeface="Verdana"/>
                <a:cs typeface="Verdana"/>
              </a:rPr>
              <a:t>RIP: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33" name="矩形 32"/>
          <p:cNvSpPr/>
          <p:nvPr/>
        </p:nvSpPr>
        <p:spPr>
          <a:xfrm>
            <a:off x="6007264" y="1716244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RAX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34" name="圆角矩形 33"/>
          <p:cNvSpPr/>
          <p:nvPr/>
        </p:nvSpPr>
        <p:spPr>
          <a:xfrm>
            <a:off x="6707134" y="1726615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5" name="圆角矩形 34"/>
          <p:cNvSpPr/>
          <p:nvPr/>
        </p:nvSpPr>
        <p:spPr>
          <a:xfrm>
            <a:off x="6732381" y="2156558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6" name="圆角矩形 35"/>
          <p:cNvSpPr/>
          <p:nvPr/>
        </p:nvSpPr>
        <p:spPr>
          <a:xfrm>
            <a:off x="6732381" y="2585832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 dirty="0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37" name="圆角矩形 36"/>
          <p:cNvSpPr/>
          <p:nvPr/>
        </p:nvSpPr>
        <p:spPr>
          <a:xfrm>
            <a:off x="6727649" y="3016507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 dirty="0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38" name="圆角矩形 37"/>
          <p:cNvSpPr/>
          <p:nvPr/>
        </p:nvSpPr>
        <p:spPr>
          <a:xfrm>
            <a:off x="6728204" y="3454928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9" name="圆角矩形 38"/>
          <p:cNvSpPr/>
          <p:nvPr/>
        </p:nvSpPr>
        <p:spPr>
          <a:xfrm>
            <a:off x="6730569" y="3884871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0x5</a:t>
            </a:r>
            <a:endParaRPr lang="zh-CN" altLang="en-US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40" name="圆角矩形 39"/>
          <p:cNvSpPr/>
          <p:nvPr/>
        </p:nvSpPr>
        <p:spPr>
          <a:xfrm>
            <a:off x="6719128" y="4314145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is-IS" altLang="zh-CN" dirty="0">
                <a:solidFill>
                  <a:prstClr val="black"/>
                </a:solidFill>
                <a:latin typeface="Arial"/>
                <a:cs typeface="Arial"/>
                <a:sym typeface="Courier New Bold" charset="0"/>
              </a:rPr>
              <a:t>0x7f…0078</a:t>
            </a:r>
          </a:p>
        </p:txBody>
      </p:sp>
      <p:sp>
        <p:nvSpPr>
          <p:cNvPr id="41" name="圆角矩形 40"/>
          <p:cNvSpPr/>
          <p:nvPr/>
        </p:nvSpPr>
        <p:spPr>
          <a:xfrm>
            <a:off x="6725837" y="4744820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 dirty="0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42" name="矩形 41"/>
          <p:cNvSpPr/>
          <p:nvPr/>
        </p:nvSpPr>
        <p:spPr>
          <a:xfrm>
            <a:off x="7071077" y="6098041"/>
            <a:ext cx="441146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mr-IN" altLang="zh-CN" sz="2000" b="1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sz="2000" b="1" dirty="0"/>
          </a:p>
        </p:txBody>
      </p:sp>
      <p:sp>
        <p:nvSpPr>
          <p:cNvPr id="43" name="矩形 42"/>
          <p:cNvSpPr/>
          <p:nvPr/>
        </p:nvSpPr>
        <p:spPr>
          <a:xfrm>
            <a:off x="6004115" y="2168000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RBX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44" name="矩形 43"/>
          <p:cNvSpPr/>
          <p:nvPr/>
        </p:nvSpPr>
        <p:spPr>
          <a:xfrm>
            <a:off x="5989455" y="2585832"/>
            <a:ext cx="77685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RCX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45" name="矩形 44"/>
          <p:cNvSpPr/>
          <p:nvPr/>
        </p:nvSpPr>
        <p:spPr>
          <a:xfrm>
            <a:off x="5993122" y="3024282"/>
            <a:ext cx="77685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RDX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46" name="矩形 45"/>
          <p:cNvSpPr/>
          <p:nvPr/>
        </p:nvSpPr>
        <p:spPr>
          <a:xfrm>
            <a:off x="5990867" y="3451290"/>
            <a:ext cx="67428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RSI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47" name="矩形 46"/>
          <p:cNvSpPr/>
          <p:nvPr/>
        </p:nvSpPr>
        <p:spPr>
          <a:xfrm>
            <a:off x="5986305" y="3882159"/>
            <a:ext cx="68702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RDI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48" name="矩形 47"/>
          <p:cNvSpPr/>
          <p:nvPr/>
        </p:nvSpPr>
        <p:spPr>
          <a:xfrm>
            <a:off x="5985749" y="4320609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RSP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49" name="矩形 48"/>
          <p:cNvSpPr/>
          <p:nvPr/>
        </p:nvSpPr>
        <p:spPr>
          <a:xfrm>
            <a:off x="5983157" y="4718557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RBP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56" name="矩形 55"/>
          <p:cNvSpPr/>
          <p:nvPr/>
        </p:nvSpPr>
        <p:spPr>
          <a:xfrm>
            <a:off x="3927386" y="1519551"/>
            <a:ext cx="732893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kumimoji="1" lang="en-US" altLang="zh-CN" sz="1400" b="1" dirty="0">
                <a:latin typeface="Verdana"/>
                <a:cs typeface="Verdana"/>
              </a:rPr>
              <a:t>%</a:t>
            </a:r>
            <a:r>
              <a:rPr kumimoji="1" lang="en-US" altLang="zh-CN" sz="1400" b="1" dirty="0" err="1">
                <a:latin typeface="Verdana"/>
                <a:cs typeface="Verdana"/>
              </a:rPr>
              <a:t>rsp</a:t>
            </a:r>
            <a:endParaRPr lang="zh-CN" altLang="en-US" sz="1400" b="1" dirty="0"/>
          </a:p>
        </p:txBody>
      </p:sp>
      <p:sp>
        <p:nvSpPr>
          <p:cNvPr id="57" name="矩形 56"/>
          <p:cNvSpPr/>
          <p:nvPr/>
        </p:nvSpPr>
        <p:spPr>
          <a:xfrm>
            <a:off x="6194819" y="5220252"/>
            <a:ext cx="57149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ZF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58" name="圆角矩形 57"/>
          <p:cNvSpPr/>
          <p:nvPr/>
        </p:nvSpPr>
        <p:spPr>
          <a:xfrm>
            <a:off x="6748122" y="5211806"/>
            <a:ext cx="439253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  <a:sym typeface="Courier New Bold" charset="0"/>
              </a:rPr>
              <a:t>0</a:t>
            </a:r>
          </a:p>
        </p:txBody>
      </p:sp>
      <p:sp>
        <p:nvSpPr>
          <p:cNvPr id="62" name="矩形 61"/>
          <p:cNvSpPr/>
          <p:nvPr/>
        </p:nvSpPr>
        <p:spPr>
          <a:xfrm>
            <a:off x="7298019" y="5198018"/>
            <a:ext cx="58445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SF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64" name="圆角矩形 63"/>
          <p:cNvSpPr/>
          <p:nvPr/>
        </p:nvSpPr>
        <p:spPr>
          <a:xfrm>
            <a:off x="7857802" y="5189572"/>
            <a:ext cx="439253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  <a:sym typeface="Courier New Bold" charset="0"/>
              </a:rPr>
              <a:t>0</a:t>
            </a:r>
          </a:p>
        </p:txBody>
      </p:sp>
      <p:sp>
        <p:nvSpPr>
          <p:cNvPr id="65" name="矩形 64"/>
          <p:cNvSpPr/>
          <p:nvPr/>
        </p:nvSpPr>
        <p:spPr>
          <a:xfrm>
            <a:off x="6177727" y="5675034"/>
            <a:ext cx="59718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CF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77" name="圆角矩形 76"/>
          <p:cNvSpPr/>
          <p:nvPr/>
        </p:nvSpPr>
        <p:spPr>
          <a:xfrm>
            <a:off x="6743879" y="5666588"/>
            <a:ext cx="439253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  <a:sym typeface="Courier New Bold" charset="0"/>
              </a:rPr>
              <a:t>0</a:t>
            </a:r>
          </a:p>
        </p:txBody>
      </p:sp>
      <p:sp>
        <p:nvSpPr>
          <p:cNvPr id="78" name="矩形 77"/>
          <p:cNvSpPr/>
          <p:nvPr/>
        </p:nvSpPr>
        <p:spPr>
          <a:xfrm>
            <a:off x="7280983" y="5652800"/>
            <a:ext cx="61003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OF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79" name="圆角矩形 78"/>
          <p:cNvSpPr/>
          <p:nvPr/>
        </p:nvSpPr>
        <p:spPr>
          <a:xfrm>
            <a:off x="7853559" y="5644354"/>
            <a:ext cx="439253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  <a:sym typeface="Courier New Bold" charset="0"/>
              </a:rPr>
              <a:t>0</a:t>
            </a:r>
          </a:p>
        </p:txBody>
      </p:sp>
      <p:sp>
        <p:nvSpPr>
          <p:cNvPr id="7" name="矩形 6"/>
          <p:cNvSpPr/>
          <p:nvPr/>
        </p:nvSpPr>
        <p:spPr>
          <a:xfrm>
            <a:off x="1588002" y="819397"/>
            <a:ext cx="1951499" cy="33916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cs-CZ" altLang="zh-CN" sz="1600" dirty="0">
                <a:latin typeface="Consolas"/>
                <a:cs typeface="Consolas"/>
                <a:sym typeface="Courier New Bold" charset="0"/>
              </a:rPr>
              <a:t>0x3</a:t>
            </a:r>
          </a:p>
        </p:txBody>
      </p:sp>
      <p:sp>
        <p:nvSpPr>
          <p:cNvPr id="8" name="矩形 7"/>
          <p:cNvSpPr/>
          <p:nvPr/>
        </p:nvSpPr>
        <p:spPr>
          <a:xfrm>
            <a:off x="1588002" y="480233"/>
            <a:ext cx="1951499" cy="33916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US" altLang="zh-CN" sz="1600" dirty="0">
                <a:solidFill>
                  <a:prstClr val="black"/>
                </a:solidFill>
                <a:latin typeface="Consolas"/>
                <a:cs typeface="Consolas"/>
              </a:rPr>
              <a:t>0x2</a:t>
            </a:r>
          </a:p>
        </p:txBody>
      </p:sp>
      <p:sp>
        <p:nvSpPr>
          <p:cNvPr id="9" name="矩形 8"/>
          <p:cNvSpPr/>
          <p:nvPr/>
        </p:nvSpPr>
        <p:spPr>
          <a:xfrm>
            <a:off x="1588002" y="143470"/>
            <a:ext cx="1951499" cy="33916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tabLst>
                <a:tab pos="514350" algn="l"/>
                <a:tab pos="2801938" algn="l"/>
                <a:tab pos="3086100" algn="l"/>
                <a:tab pos="3086100" algn="l"/>
                <a:tab pos="3086100" algn="l"/>
                <a:tab pos="3086100" algn="l"/>
              </a:tabLst>
            </a:pPr>
            <a:r>
              <a:rPr lang="cs-CZ" altLang="zh-CN" sz="1600" dirty="0">
                <a:latin typeface="Consolas"/>
                <a:cs typeface="Consolas"/>
                <a:sym typeface="Courier New Bold" charset="0"/>
              </a:rPr>
              <a:t>0x1</a:t>
            </a:r>
          </a:p>
        </p:txBody>
      </p:sp>
      <p:sp>
        <p:nvSpPr>
          <p:cNvPr id="11" name="矩形 10"/>
          <p:cNvSpPr/>
          <p:nvPr/>
        </p:nvSpPr>
        <p:spPr>
          <a:xfrm>
            <a:off x="1588002" y="1158204"/>
            <a:ext cx="1951499" cy="33916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1600" dirty="0">
                <a:solidFill>
                  <a:prstClr val="black"/>
                </a:solidFill>
                <a:latin typeface="Consolas"/>
                <a:cs typeface="Consolas"/>
              </a:rPr>
              <a:t>0x4</a:t>
            </a:r>
            <a:endParaRPr lang="zh-CN" altLang="en-US" sz="1600" dirty="0">
              <a:solidFill>
                <a:prstClr val="black"/>
              </a:solidFill>
              <a:latin typeface="Consolas"/>
              <a:cs typeface="Consolas"/>
            </a:endParaRPr>
          </a:p>
        </p:txBody>
      </p:sp>
      <p:sp>
        <p:nvSpPr>
          <p:cNvPr id="12" name="矩形 11"/>
          <p:cNvSpPr/>
          <p:nvPr/>
        </p:nvSpPr>
        <p:spPr>
          <a:xfrm>
            <a:off x="1592372" y="2452102"/>
            <a:ext cx="1951499" cy="3391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3" name="矩形 12"/>
          <p:cNvSpPr/>
          <p:nvPr/>
        </p:nvSpPr>
        <p:spPr>
          <a:xfrm>
            <a:off x="1596741" y="2801658"/>
            <a:ext cx="1951499" cy="3391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4" name="矩形 13"/>
          <p:cNvSpPr/>
          <p:nvPr/>
        </p:nvSpPr>
        <p:spPr>
          <a:xfrm>
            <a:off x="1604322" y="3134126"/>
            <a:ext cx="1951499" cy="339164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5" name="矩形 14"/>
          <p:cNvSpPr/>
          <p:nvPr/>
        </p:nvSpPr>
        <p:spPr>
          <a:xfrm>
            <a:off x="1604322" y="3467966"/>
            <a:ext cx="1951499" cy="339164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6" name="矩形 15"/>
          <p:cNvSpPr/>
          <p:nvPr/>
        </p:nvSpPr>
        <p:spPr>
          <a:xfrm>
            <a:off x="1604322" y="3802650"/>
            <a:ext cx="1951499" cy="339164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24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25" name="矩形 24"/>
          <p:cNvSpPr/>
          <p:nvPr/>
        </p:nvSpPr>
        <p:spPr>
          <a:xfrm>
            <a:off x="1588002" y="2131475"/>
            <a:ext cx="1951499" cy="319756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24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cxnSp>
        <p:nvCxnSpPr>
          <p:cNvPr id="4" name="直线箭头连接符 3"/>
          <p:cNvCxnSpPr/>
          <p:nvPr/>
        </p:nvCxnSpPr>
        <p:spPr>
          <a:xfrm flipH="1">
            <a:off x="3560419" y="1661714"/>
            <a:ext cx="249222" cy="0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59" name="矩形 58"/>
          <p:cNvSpPr/>
          <p:nvPr/>
        </p:nvSpPr>
        <p:spPr>
          <a:xfrm>
            <a:off x="1583191" y="1814000"/>
            <a:ext cx="1951499" cy="319756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24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61" name="矩形 60"/>
          <p:cNvSpPr/>
          <p:nvPr/>
        </p:nvSpPr>
        <p:spPr>
          <a:xfrm>
            <a:off x="1587904" y="1495448"/>
            <a:ext cx="1951499" cy="31975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0x5</a:t>
            </a:r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63" name="矩形 62"/>
          <p:cNvSpPr/>
          <p:nvPr/>
        </p:nvSpPr>
        <p:spPr>
          <a:xfrm>
            <a:off x="1606031" y="4141814"/>
            <a:ext cx="1951499" cy="339164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24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80" name="矩形 79"/>
          <p:cNvSpPr/>
          <p:nvPr/>
        </p:nvSpPr>
        <p:spPr>
          <a:xfrm>
            <a:off x="1608920" y="4467641"/>
            <a:ext cx="1951499" cy="339164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24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81" name="矩形 80"/>
          <p:cNvSpPr/>
          <p:nvPr/>
        </p:nvSpPr>
        <p:spPr>
          <a:xfrm>
            <a:off x="1606883" y="4807245"/>
            <a:ext cx="1951499" cy="339164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1600" dirty="0" err="1">
                <a:solidFill>
                  <a:prstClr val="black"/>
                </a:solidFill>
                <a:latin typeface="Consolas"/>
                <a:cs typeface="Consolas"/>
              </a:rPr>
              <a:t>pushq</a:t>
            </a:r>
            <a:r>
              <a:rPr lang="en-US" altLang="zh-CN" sz="1600" dirty="0">
                <a:solidFill>
                  <a:prstClr val="black"/>
                </a:solidFill>
                <a:latin typeface="Consolas"/>
                <a:cs typeface="Consolas"/>
              </a:rPr>
              <a:t> %rdi</a:t>
            </a:r>
            <a:endParaRPr lang="zh-CN" altLang="en-US" sz="1600" dirty="0">
              <a:solidFill>
                <a:prstClr val="black"/>
              </a:solidFill>
              <a:latin typeface="Consolas"/>
              <a:cs typeface="Consolas"/>
            </a:endParaRPr>
          </a:p>
        </p:txBody>
      </p:sp>
      <p:sp>
        <p:nvSpPr>
          <p:cNvPr id="82" name="矩形 81"/>
          <p:cNvSpPr/>
          <p:nvPr/>
        </p:nvSpPr>
        <p:spPr>
          <a:xfrm>
            <a:off x="1606327" y="5138285"/>
            <a:ext cx="1951499" cy="339164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24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83" name="矩形 82"/>
          <p:cNvSpPr/>
          <p:nvPr/>
        </p:nvSpPr>
        <p:spPr>
          <a:xfrm>
            <a:off x="1608920" y="5474699"/>
            <a:ext cx="1951499" cy="339164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zh-CN" altLang="en-US" sz="1600" dirty="0">
              <a:solidFill>
                <a:prstClr val="black"/>
              </a:solidFill>
              <a:latin typeface="Consolas"/>
              <a:cs typeface="Consolas"/>
            </a:endParaRPr>
          </a:p>
        </p:txBody>
      </p:sp>
      <p:sp>
        <p:nvSpPr>
          <p:cNvPr id="84" name="矩形 83"/>
          <p:cNvSpPr/>
          <p:nvPr/>
        </p:nvSpPr>
        <p:spPr>
          <a:xfrm>
            <a:off x="1007750" y="6068371"/>
            <a:ext cx="492443" cy="427994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mr-IN" altLang="zh-CN" sz="2400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sz="2400" dirty="0"/>
          </a:p>
        </p:txBody>
      </p:sp>
      <p:sp>
        <p:nvSpPr>
          <p:cNvPr id="85" name="矩形 84"/>
          <p:cNvSpPr/>
          <p:nvPr/>
        </p:nvSpPr>
        <p:spPr>
          <a:xfrm>
            <a:off x="229115" y="2802831"/>
            <a:ext cx="1365315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0x7f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0058</a:t>
            </a:r>
            <a:endParaRPr lang="zh-CN" altLang="en-US" dirty="0"/>
          </a:p>
        </p:txBody>
      </p:sp>
      <p:sp>
        <p:nvSpPr>
          <p:cNvPr id="86" name="矩形 85"/>
          <p:cNvSpPr/>
          <p:nvPr/>
        </p:nvSpPr>
        <p:spPr>
          <a:xfrm>
            <a:off x="217876" y="3129472"/>
            <a:ext cx="1365315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0x7f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0050</a:t>
            </a:r>
            <a:endParaRPr lang="zh-CN" altLang="en-US" dirty="0"/>
          </a:p>
        </p:txBody>
      </p:sp>
      <p:sp>
        <p:nvSpPr>
          <p:cNvPr id="87" name="矩形 86"/>
          <p:cNvSpPr/>
          <p:nvPr/>
        </p:nvSpPr>
        <p:spPr>
          <a:xfrm>
            <a:off x="153630" y="5818977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0010</a:t>
            </a:r>
            <a:endParaRPr lang="zh-CN" altLang="en-US" dirty="0"/>
          </a:p>
        </p:txBody>
      </p:sp>
      <p:sp>
        <p:nvSpPr>
          <p:cNvPr id="88" name="矩形 87"/>
          <p:cNvSpPr/>
          <p:nvPr/>
        </p:nvSpPr>
        <p:spPr>
          <a:xfrm>
            <a:off x="153630" y="5471147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0018</a:t>
            </a:r>
            <a:endParaRPr lang="zh-CN" altLang="en-US" dirty="0"/>
          </a:p>
        </p:txBody>
      </p:sp>
      <p:sp>
        <p:nvSpPr>
          <p:cNvPr id="89" name="矩形 88"/>
          <p:cNvSpPr/>
          <p:nvPr/>
        </p:nvSpPr>
        <p:spPr>
          <a:xfrm>
            <a:off x="153630" y="5135395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0020</a:t>
            </a:r>
            <a:endParaRPr lang="zh-CN" altLang="en-US" dirty="0"/>
          </a:p>
        </p:txBody>
      </p:sp>
      <p:sp>
        <p:nvSpPr>
          <p:cNvPr id="90" name="矩形 89"/>
          <p:cNvSpPr/>
          <p:nvPr/>
        </p:nvSpPr>
        <p:spPr>
          <a:xfrm>
            <a:off x="153630" y="4803962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0028</a:t>
            </a:r>
            <a:endParaRPr lang="zh-CN" altLang="en-US" dirty="0"/>
          </a:p>
        </p:txBody>
      </p:sp>
      <p:sp>
        <p:nvSpPr>
          <p:cNvPr id="91" name="矩形 90"/>
          <p:cNvSpPr/>
          <p:nvPr/>
        </p:nvSpPr>
        <p:spPr>
          <a:xfrm>
            <a:off x="164869" y="4460238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0030</a:t>
            </a:r>
            <a:endParaRPr lang="zh-CN" altLang="en-US" dirty="0"/>
          </a:p>
        </p:txBody>
      </p:sp>
      <p:sp>
        <p:nvSpPr>
          <p:cNvPr id="92" name="矩形 91"/>
          <p:cNvSpPr/>
          <p:nvPr/>
        </p:nvSpPr>
        <p:spPr>
          <a:xfrm>
            <a:off x="1219015" y="4132091"/>
            <a:ext cx="377064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...</a:t>
            </a:r>
            <a:endParaRPr lang="zh-CN" altLang="en-US" dirty="0"/>
          </a:p>
        </p:txBody>
      </p:sp>
      <p:sp>
        <p:nvSpPr>
          <p:cNvPr id="93" name="矩形 92"/>
          <p:cNvSpPr/>
          <p:nvPr/>
        </p:nvSpPr>
        <p:spPr>
          <a:xfrm>
            <a:off x="1223385" y="3809257"/>
            <a:ext cx="377064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...</a:t>
            </a:r>
            <a:endParaRPr lang="zh-CN" altLang="en-US" dirty="0"/>
          </a:p>
        </p:txBody>
      </p:sp>
      <p:sp>
        <p:nvSpPr>
          <p:cNvPr id="94" name="矩形 93"/>
          <p:cNvSpPr/>
          <p:nvPr/>
        </p:nvSpPr>
        <p:spPr>
          <a:xfrm>
            <a:off x="1212855" y="3479632"/>
            <a:ext cx="377064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...</a:t>
            </a:r>
            <a:endParaRPr lang="zh-CN" altLang="en-US" dirty="0"/>
          </a:p>
        </p:txBody>
      </p:sp>
      <p:sp>
        <p:nvSpPr>
          <p:cNvPr id="95" name="矩形 94"/>
          <p:cNvSpPr/>
          <p:nvPr/>
        </p:nvSpPr>
        <p:spPr>
          <a:xfrm>
            <a:off x="247823" y="2463945"/>
            <a:ext cx="1365315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0x7f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0060</a:t>
            </a:r>
            <a:endParaRPr lang="zh-CN" altLang="en-US" dirty="0"/>
          </a:p>
        </p:txBody>
      </p:sp>
      <p:sp>
        <p:nvSpPr>
          <p:cNvPr id="97" name="矩形 96"/>
          <p:cNvSpPr/>
          <p:nvPr/>
        </p:nvSpPr>
        <p:spPr>
          <a:xfrm>
            <a:off x="241438" y="817825"/>
            <a:ext cx="1365315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0x7f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0088</a:t>
            </a:r>
            <a:endParaRPr lang="zh-CN" altLang="en-US" dirty="0"/>
          </a:p>
        </p:txBody>
      </p:sp>
      <p:sp>
        <p:nvSpPr>
          <p:cNvPr id="98" name="矩形 97"/>
          <p:cNvSpPr/>
          <p:nvPr/>
        </p:nvSpPr>
        <p:spPr>
          <a:xfrm>
            <a:off x="230199" y="1144466"/>
            <a:ext cx="1365315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0x7f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0080</a:t>
            </a:r>
            <a:endParaRPr lang="zh-CN" altLang="en-US" dirty="0"/>
          </a:p>
        </p:txBody>
      </p:sp>
      <p:sp>
        <p:nvSpPr>
          <p:cNvPr id="99" name="矩形 98"/>
          <p:cNvSpPr/>
          <p:nvPr/>
        </p:nvSpPr>
        <p:spPr>
          <a:xfrm>
            <a:off x="243087" y="2147085"/>
            <a:ext cx="1365315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0x7f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0068</a:t>
            </a:r>
            <a:endParaRPr lang="zh-CN" altLang="en-US" dirty="0"/>
          </a:p>
        </p:txBody>
      </p:sp>
      <p:sp>
        <p:nvSpPr>
          <p:cNvPr id="100" name="矩形 99"/>
          <p:cNvSpPr/>
          <p:nvPr/>
        </p:nvSpPr>
        <p:spPr>
          <a:xfrm>
            <a:off x="247457" y="1824251"/>
            <a:ext cx="1365315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0x7f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0070</a:t>
            </a:r>
            <a:endParaRPr lang="zh-CN" altLang="en-US" dirty="0"/>
          </a:p>
        </p:txBody>
      </p:sp>
      <p:sp>
        <p:nvSpPr>
          <p:cNvPr id="101" name="矩形 100"/>
          <p:cNvSpPr/>
          <p:nvPr/>
        </p:nvSpPr>
        <p:spPr>
          <a:xfrm>
            <a:off x="236927" y="1494626"/>
            <a:ext cx="1365315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0x7f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0078</a:t>
            </a:r>
            <a:endParaRPr lang="zh-CN" altLang="en-US" dirty="0"/>
          </a:p>
        </p:txBody>
      </p:sp>
      <p:sp>
        <p:nvSpPr>
          <p:cNvPr id="103" name="矩形 102"/>
          <p:cNvSpPr/>
          <p:nvPr/>
        </p:nvSpPr>
        <p:spPr>
          <a:xfrm>
            <a:off x="1607980" y="5818037"/>
            <a:ext cx="1951499" cy="339164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zh-CN" altLang="en-US" sz="1600" dirty="0">
              <a:solidFill>
                <a:prstClr val="black"/>
              </a:solidFill>
              <a:latin typeface="Consolas"/>
              <a:cs typeface="Consolas"/>
            </a:endParaRPr>
          </a:p>
        </p:txBody>
      </p:sp>
      <p:sp>
        <p:nvSpPr>
          <p:cNvPr id="104" name="矩形 103"/>
          <p:cNvSpPr/>
          <p:nvPr/>
        </p:nvSpPr>
        <p:spPr>
          <a:xfrm>
            <a:off x="1606883" y="6157201"/>
            <a:ext cx="1951499" cy="339164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24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05" name="矩形 104"/>
          <p:cNvSpPr/>
          <p:nvPr/>
        </p:nvSpPr>
        <p:spPr>
          <a:xfrm>
            <a:off x="254671" y="458285"/>
            <a:ext cx="1365315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0x7f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0090</a:t>
            </a:r>
            <a:endParaRPr lang="zh-CN" altLang="en-US" dirty="0"/>
          </a:p>
        </p:txBody>
      </p:sp>
      <p:sp>
        <p:nvSpPr>
          <p:cNvPr id="106" name="矩形 105"/>
          <p:cNvSpPr/>
          <p:nvPr/>
        </p:nvSpPr>
        <p:spPr>
          <a:xfrm>
            <a:off x="252514" y="115556"/>
            <a:ext cx="1365315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0x7f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0098</a:t>
            </a:r>
            <a:endParaRPr lang="zh-CN" altLang="en-US" dirty="0"/>
          </a:p>
        </p:txBody>
      </p:sp>
      <p:sp>
        <p:nvSpPr>
          <p:cNvPr id="107" name="矩形 106"/>
          <p:cNvSpPr/>
          <p:nvPr/>
        </p:nvSpPr>
        <p:spPr>
          <a:xfrm>
            <a:off x="3955296" y="115556"/>
            <a:ext cx="1041584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kumimoji="1" lang="en-US" altLang="zh-CN" sz="1400" b="1" dirty="0">
                <a:latin typeface="Verdana"/>
                <a:cs typeface="Verdana"/>
              </a:rPr>
              <a:t>BOTTOM</a:t>
            </a:r>
            <a:endParaRPr lang="zh-CN" altLang="en-US" sz="1400" b="1" dirty="0"/>
          </a:p>
        </p:txBody>
      </p:sp>
      <p:cxnSp>
        <p:nvCxnSpPr>
          <p:cNvPr id="108" name="直线箭头连接符 107"/>
          <p:cNvCxnSpPr/>
          <p:nvPr/>
        </p:nvCxnSpPr>
        <p:spPr>
          <a:xfrm flipH="1">
            <a:off x="3602284" y="285633"/>
            <a:ext cx="249222" cy="0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8" name="矩形 17"/>
          <p:cNvSpPr/>
          <p:nvPr/>
        </p:nvSpPr>
        <p:spPr>
          <a:xfrm>
            <a:off x="3548240" y="361563"/>
            <a:ext cx="1703993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400" b="1" dirty="0">
                <a:latin typeface="Arial"/>
                <a:cs typeface="Arial"/>
              </a:rPr>
              <a:t>(Initial RSP Value)</a:t>
            </a:r>
            <a:endParaRPr lang="zh-CN" altLang="en-US" sz="1400" b="1" dirty="0">
              <a:latin typeface="Arial"/>
              <a:cs typeface="Arial"/>
            </a:endParaRPr>
          </a:p>
        </p:txBody>
      </p:sp>
      <p:sp>
        <p:nvSpPr>
          <p:cNvPr id="110" name="矩形 79"/>
          <p:cNvSpPr/>
          <p:nvPr/>
        </p:nvSpPr>
        <p:spPr>
          <a:xfrm>
            <a:off x="1608920" y="4467641"/>
            <a:ext cx="1951499" cy="339164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1600" dirty="0" err="1">
                <a:solidFill>
                  <a:prstClr val="black"/>
                </a:solidFill>
                <a:latin typeface="Consolas"/>
                <a:cs typeface="Consolas"/>
              </a:rPr>
              <a:t>popq</a:t>
            </a:r>
            <a:r>
              <a:rPr lang="en-US" altLang="zh-CN" sz="1600" dirty="0">
                <a:solidFill>
                  <a:prstClr val="black"/>
                </a:solidFill>
                <a:latin typeface="Consolas"/>
                <a:cs typeface="Consolas"/>
              </a:rPr>
              <a:t> %rsi</a:t>
            </a:r>
            <a:endParaRPr lang="zh-CN" altLang="en-US" sz="1600" dirty="0">
              <a:solidFill>
                <a:prstClr val="black"/>
              </a:solidFill>
              <a:latin typeface="Consolas"/>
              <a:cs typeface="Consolas"/>
            </a:endParaRPr>
          </a:p>
        </p:txBody>
      </p:sp>
      <p:sp>
        <p:nvSpPr>
          <p:cNvPr id="112" name="矩形 101"/>
          <p:cNvSpPr/>
          <p:nvPr/>
        </p:nvSpPr>
        <p:spPr>
          <a:xfrm>
            <a:off x="3927386" y="4521545"/>
            <a:ext cx="688009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kumimoji="1" lang="en-US" altLang="zh-CN" sz="1400" b="1" dirty="0">
                <a:latin typeface="Verdana"/>
                <a:cs typeface="Verdana"/>
              </a:rPr>
              <a:t>%rip</a:t>
            </a:r>
            <a:endParaRPr lang="zh-CN" altLang="en-US" sz="1400" b="1" dirty="0"/>
          </a:p>
        </p:txBody>
      </p:sp>
      <p:cxnSp>
        <p:nvCxnSpPr>
          <p:cNvPr id="113" name="直线箭头连接符 110"/>
          <p:cNvCxnSpPr/>
          <p:nvPr/>
        </p:nvCxnSpPr>
        <p:spPr>
          <a:xfrm flipH="1">
            <a:off x="3560419" y="4663708"/>
            <a:ext cx="249222" cy="0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146396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/>
          <p:cNvSpPr/>
          <p:nvPr/>
        </p:nvSpPr>
        <p:spPr>
          <a:xfrm>
            <a:off x="5770729" y="420774"/>
            <a:ext cx="2617701" cy="6087558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 w="381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kumimoji="1" lang="zh-CN" altLang="en-US" dirty="0">
              <a:solidFill>
                <a:schemeClr val="tx1"/>
              </a:solidFill>
              <a:latin typeface="Verdana"/>
              <a:cs typeface="Verdana"/>
            </a:endParaRPr>
          </a:p>
        </p:txBody>
      </p:sp>
      <p:sp>
        <p:nvSpPr>
          <p:cNvPr id="6" name="矩形 5"/>
          <p:cNvSpPr/>
          <p:nvPr/>
        </p:nvSpPr>
        <p:spPr>
          <a:xfrm>
            <a:off x="2027994" y="6450704"/>
            <a:ext cx="1219980" cy="400110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kumimoji="1" lang="en-US" altLang="zh-CN" sz="2000" dirty="0">
                <a:latin typeface="Verdana"/>
                <a:cs typeface="Verdana"/>
              </a:rPr>
              <a:t>Memory</a:t>
            </a:r>
            <a:endParaRPr lang="zh-CN" altLang="en-US" sz="2000" dirty="0"/>
          </a:p>
        </p:txBody>
      </p:sp>
      <p:sp>
        <p:nvSpPr>
          <p:cNvPr id="27" name="矩形 26"/>
          <p:cNvSpPr/>
          <p:nvPr/>
        </p:nvSpPr>
        <p:spPr>
          <a:xfrm>
            <a:off x="6707135" y="402971"/>
            <a:ext cx="65399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 dirty="0">
                <a:latin typeface="Verdana"/>
                <a:cs typeface="Verdana"/>
              </a:rPr>
              <a:t>CPU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28" name="圆角矩形 27"/>
          <p:cNvSpPr/>
          <p:nvPr/>
        </p:nvSpPr>
        <p:spPr>
          <a:xfrm>
            <a:off x="6707135" y="829513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s-IS" altLang="zh-CN" sz="1600" dirty="0">
                <a:solidFill>
                  <a:srgbClr val="000000"/>
                </a:solidFill>
                <a:latin typeface="Arial"/>
                <a:cs typeface="Arial"/>
              </a:rPr>
              <a:t>0x00…0038</a:t>
            </a:r>
          </a:p>
        </p:txBody>
      </p:sp>
      <p:sp>
        <p:nvSpPr>
          <p:cNvPr id="29" name="矩形 28"/>
          <p:cNvSpPr/>
          <p:nvPr/>
        </p:nvSpPr>
        <p:spPr>
          <a:xfrm>
            <a:off x="5973834" y="849437"/>
            <a:ext cx="68640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 dirty="0">
                <a:latin typeface="Verdana"/>
                <a:cs typeface="Verdana"/>
              </a:rPr>
              <a:t>RIP: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33" name="矩形 32"/>
          <p:cNvSpPr/>
          <p:nvPr/>
        </p:nvSpPr>
        <p:spPr>
          <a:xfrm>
            <a:off x="6007264" y="1716244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RAX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34" name="圆角矩形 33"/>
          <p:cNvSpPr/>
          <p:nvPr/>
        </p:nvSpPr>
        <p:spPr>
          <a:xfrm>
            <a:off x="6707134" y="1726615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5" name="圆角矩形 34"/>
          <p:cNvSpPr/>
          <p:nvPr/>
        </p:nvSpPr>
        <p:spPr>
          <a:xfrm>
            <a:off x="6732381" y="2156558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6" name="圆角矩形 35"/>
          <p:cNvSpPr/>
          <p:nvPr/>
        </p:nvSpPr>
        <p:spPr>
          <a:xfrm>
            <a:off x="6732381" y="2585832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 dirty="0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37" name="圆角矩形 36"/>
          <p:cNvSpPr/>
          <p:nvPr/>
        </p:nvSpPr>
        <p:spPr>
          <a:xfrm>
            <a:off x="6727649" y="3016507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 dirty="0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38" name="圆角矩形 37"/>
          <p:cNvSpPr/>
          <p:nvPr/>
        </p:nvSpPr>
        <p:spPr>
          <a:xfrm>
            <a:off x="6728204" y="3454928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0x5</a:t>
            </a:r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9" name="圆角矩形 38"/>
          <p:cNvSpPr/>
          <p:nvPr/>
        </p:nvSpPr>
        <p:spPr>
          <a:xfrm>
            <a:off x="6730569" y="3884871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0x5</a:t>
            </a:r>
            <a:endParaRPr lang="zh-CN" altLang="en-US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40" name="圆角矩形 39"/>
          <p:cNvSpPr/>
          <p:nvPr/>
        </p:nvSpPr>
        <p:spPr>
          <a:xfrm>
            <a:off x="6719128" y="4314145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is-IS" altLang="zh-CN" dirty="0">
                <a:solidFill>
                  <a:prstClr val="black"/>
                </a:solidFill>
                <a:latin typeface="Arial"/>
                <a:cs typeface="Arial"/>
                <a:sym typeface="Courier New Bold" charset="0"/>
              </a:rPr>
              <a:t>0x7f…0080</a:t>
            </a:r>
          </a:p>
        </p:txBody>
      </p:sp>
      <p:sp>
        <p:nvSpPr>
          <p:cNvPr id="41" name="圆角矩形 40"/>
          <p:cNvSpPr/>
          <p:nvPr/>
        </p:nvSpPr>
        <p:spPr>
          <a:xfrm>
            <a:off x="6725837" y="4744820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 dirty="0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42" name="矩形 41"/>
          <p:cNvSpPr/>
          <p:nvPr/>
        </p:nvSpPr>
        <p:spPr>
          <a:xfrm>
            <a:off x="7071077" y="6098041"/>
            <a:ext cx="441146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mr-IN" altLang="zh-CN" sz="2000" b="1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sz="2000" b="1" dirty="0"/>
          </a:p>
        </p:txBody>
      </p:sp>
      <p:sp>
        <p:nvSpPr>
          <p:cNvPr id="43" name="矩形 42"/>
          <p:cNvSpPr/>
          <p:nvPr/>
        </p:nvSpPr>
        <p:spPr>
          <a:xfrm>
            <a:off x="6004115" y="2168000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RBX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44" name="矩形 43"/>
          <p:cNvSpPr/>
          <p:nvPr/>
        </p:nvSpPr>
        <p:spPr>
          <a:xfrm>
            <a:off x="5989455" y="2585832"/>
            <a:ext cx="77685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RCX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45" name="矩形 44"/>
          <p:cNvSpPr/>
          <p:nvPr/>
        </p:nvSpPr>
        <p:spPr>
          <a:xfrm>
            <a:off x="5993122" y="3024282"/>
            <a:ext cx="77685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RDX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46" name="矩形 45"/>
          <p:cNvSpPr/>
          <p:nvPr/>
        </p:nvSpPr>
        <p:spPr>
          <a:xfrm>
            <a:off x="5990867" y="3451290"/>
            <a:ext cx="67428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RSI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47" name="矩形 46"/>
          <p:cNvSpPr/>
          <p:nvPr/>
        </p:nvSpPr>
        <p:spPr>
          <a:xfrm>
            <a:off x="5986305" y="3882159"/>
            <a:ext cx="68702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RDI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48" name="矩形 47"/>
          <p:cNvSpPr/>
          <p:nvPr/>
        </p:nvSpPr>
        <p:spPr>
          <a:xfrm>
            <a:off x="5985749" y="4320609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RSP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49" name="矩形 48"/>
          <p:cNvSpPr/>
          <p:nvPr/>
        </p:nvSpPr>
        <p:spPr>
          <a:xfrm>
            <a:off x="5983157" y="4718557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RBP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56" name="矩形 55"/>
          <p:cNvSpPr/>
          <p:nvPr/>
        </p:nvSpPr>
        <p:spPr>
          <a:xfrm>
            <a:off x="3927386" y="1216521"/>
            <a:ext cx="732893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kumimoji="1" lang="en-US" altLang="zh-CN" sz="1400" b="1" dirty="0">
                <a:latin typeface="Verdana"/>
                <a:cs typeface="Verdana"/>
              </a:rPr>
              <a:t>%</a:t>
            </a:r>
            <a:r>
              <a:rPr kumimoji="1" lang="en-US" altLang="zh-CN" sz="1400" b="1" dirty="0" err="1">
                <a:latin typeface="Verdana"/>
                <a:cs typeface="Verdana"/>
              </a:rPr>
              <a:t>rsp</a:t>
            </a:r>
            <a:endParaRPr lang="zh-CN" altLang="en-US" sz="1400" b="1" dirty="0"/>
          </a:p>
        </p:txBody>
      </p:sp>
      <p:sp>
        <p:nvSpPr>
          <p:cNvPr id="57" name="矩形 56"/>
          <p:cNvSpPr/>
          <p:nvPr/>
        </p:nvSpPr>
        <p:spPr>
          <a:xfrm>
            <a:off x="6194819" y="5220252"/>
            <a:ext cx="57149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ZF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58" name="圆角矩形 57"/>
          <p:cNvSpPr/>
          <p:nvPr/>
        </p:nvSpPr>
        <p:spPr>
          <a:xfrm>
            <a:off x="6748122" y="5211806"/>
            <a:ext cx="439253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  <a:sym typeface="Courier New Bold" charset="0"/>
              </a:rPr>
              <a:t>0</a:t>
            </a:r>
          </a:p>
        </p:txBody>
      </p:sp>
      <p:sp>
        <p:nvSpPr>
          <p:cNvPr id="62" name="矩形 61"/>
          <p:cNvSpPr/>
          <p:nvPr/>
        </p:nvSpPr>
        <p:spPr>
          <a:xfrm>
            <a:off x="7298019" y="5198018"/>
            <a:ext cx="58445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SF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64" name="圆角矩形 63"/>
          <p:cNvSpPr/>
          <p:nvPr/>
        </p:nvSpPr>
        <p:spPr>
          <a:xfrm>
            <a:off x="7857802" y="5189572"/>
            <a:ext cx="439253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  <a:sym typeface="Courier New Bold" charset="0"/>
              </a:rPr>
              <a:t>0</a:t>
            </a:r>
          </a:p>
        </p:txBody>
      </p:sp>
      <p:sp>
        <p:nvSpPr>
          <p:cNvPr id="65" name="矩形 64"/>
          <p:cNvSpPr/>
          <p:nvPr/>
        </p:nvSpPr>
        <p:spPr>
          <a:xfrm>
            <a:off x="6177727" y="5675034"/>
            <a:ext cx="59718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CF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77" name="圆角矩形 76"/>
          <p:cNvSpPr/>
          <p:nvPr/>
        </p:nvSpPr>
        <p:spPr>
          <a:xfrm>
            <a:off x="6743879" y="5666588"/>
            <a:ext cx="439253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  <a:sym typeface="Courier New Bold" charset="0"/>
              </a:rPr>
              <a:t>0</a:t>
            </a:r>
          </a:p>
        </p:txBody>
      </p:sp>
      <p:sp>
        <p:nvSpPr>
          <p:cNvPr id="78" name="矩形 77"/>
          <p:cNvSpPr/>
          <p:nvPr/>
        </p:nvSpPr>
        <p:spPr>
          <a:xfrm>
            <a:off x="7280983" y="5652800"/>
            <a:ext cx="61003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OF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79" name="圆角矩形 78"/>
          <p:cNvSpPr/>
          <p:nvPr/>
        </p:nvSpPr>
        <p:spPr>
          <a:xfrm>
            <a:off x="7853559" y="5644354"/>
            <a:ext cx="439253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  <a:sym typeface="Courier New Bold" charset="0"/>
              </a:rPr>
              <a:t>0</a:t>
            </a:r>
          </a:p>
        </p:txBody>
      </p:sp>
      <p:sp>
        <p:nvSpPr>
          <p:cNvPr id="7" name="矩形 6"/>
          <p:cNvSpPr/>
          <p:nvPr/>
        </p:nvSpPr>
        <p:spPr>
          <a:xfrm>
            <a:off x="1588002" y="819397"/>
            <a:ext cx="1951499" cy="33916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cs-CZ" altLang="zh-CN" sz="1600" dirty="0">
                <a:latin typeface="Consolas"/>
                <a:cs typeface="Consolas"/>
                <a:sym typeface="Courier New Bold" charset="0"/>
              </a:rPr>
              <a:t>0x3</a:t>
            </a:r>
          </a:p>
        </p:txBody>
      </p:sp>
      <p:sp>
        <p:nvSpPr>
          <p:cNvPr id="8" name="矩形 7"/>
          <p:cNvSpPr/>
          <p:nvPr/>
        </p:nvSpPr>
        <p:spPr>
          <a:xfrm>
            <a:off x="1588002" y="480233"/>
            <a:ext cx="1951499" cy="33916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US" altLang="zh-CN" sz="1600" dirty="0">
                <a:solidFill>
                  <a:prstClr val="black"/>
                </a:solidFill>
                <a:latin typeface="Consolas"/>
                <a:cs typeface="Consolas"/>
              </a:rPr>
              <a:t>0x2</a:t>
            </a:r>
          </a:p>
        </p:txBody>
      </p:sp>
      <p:sp>
        <p:nvSpPr>
          <p:cNvPr id="9" name="矩形 8"/>
          <p:cNvSpPr/>
          <p:nvPr/>
        </p:nvSpPr>
        <p:spPr>
          <a:xfrm>
            <a:off x="1588002" y="143470"/>
            <a:ext cx="1951499" cy="33916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tabLst>
                <a:tab pos="514350" algn="l"/>
                <a:tab pos="2801938" algn="l"/>
                <a:tab pos="3086100" algn="l"/>
                <a:tab pos="3086100" algn="l"/>
                <a:tab pos="3086100" algn="l"/>
                <a:tab pos="3086100" algn="l"/>
              </a:tabLst>
            </a:pPr>
            <a:r>
              <a:rPr lang="cs-CZ" altLang="zh-CN" sz="1600" dirty="0">
                <a:latin typeface="Consolas"/>
                <a:cs typeface="Consolas"/>
                <a:sym typeface="Courier New Bold" charset="0"/>
              </a:rPr>
              <a:t>0x1</a:t>
            </a:r>
          </a:p>
        </p:txBody>
      </p:sp>
      <p:sp>
        <p:nvSpPr>
          <p:cNvPr id="11" name="矩形 10"/>
          <p:cNvSpPr/>
          <p:nvPr/>
        </p:nvSpPr>
        <p:spPr>
          <a:xfrm>
            <a:off x="1588002" y="1158204"/>
            <a:ext cx="1951499" cy="33916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1600" dirty="0">
                <a:solidFill>
                  <a:prstClr val="black"/>
                </a:solidFill>
                <a:latin typeface="Consolas"/>
                <a:cs typeface="Consolas"/>
              </a:rPr>
              <a:t>0x4</a:t>
            </a:r>
            <a:endParaRPr lang="zh-CN" altLang="en-US" sz="1600" dirty="0">
              <a:solidFill>
                <a:prstClr val="black"/>
              </a:solidFill>
              <a:latin typeface="Consolas"/>
              <a:cs typeface="Consolas"/>
            </a:endParaRPr>
          </a:p>
        </p:txBody>
      </p:sp>
      <p:sp>
        <p:nvSpPr>
          <p:cNvPr id="12" name="矩形 11"/>
          <p:cNvSpPr/>
          <p:nvPr/>
        </p:nvSpPr>
        <p:spPr>
          <a:xfrm>
            <a:off x="1592372" y="2452102"/>
            <a:ext cx="1951499" cy="3391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3" name="矩形 12"/>
          <p:cNvSpPr/>
          <p:nvPr/>
        </p:nvSpPr>
        <p:spPr>
          <a:xfrm>
            <a:off x="1596741" y="2801658"/>
            <a:ext cx="1951499" cy="3391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4" name="矩形 13"/>
          <p:cNvSpPr/>
          <p:nvPr/>
        </p:nvSpPr>
        <p:spPr>
          <a:xfrm>
            <a:off x="1604322" y="3134126"/>
            <a:ext cx="1951499" cy="339164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5" name="矩形 14"/>
          <p:cNvSpPr/>
          <p:nvPr/>
        </p:nvSpPr>
        <p:spPr>
          <a:xfrm>
            <a:off x="1604322" y="3467966"/>
            <a:ext cx="1951499" cy="339164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6" name="矩形 15"/>
          <p:cNvSpPr/>
          <p:nvPr/>
        </p:nvSpPr>
        <p:spPr>
          <a:xfrm>
            <a:off x="1604322" y="3802650"/>
            <a:ext cx="1951499" cy="339164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24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25" name="矩形 24"/>
          <p:cNvSpPr/>
          <p:nvPr/>
        </p:nvSpPr>
        <p:spPr>
          <a:xfrm>
            <a:off x="1588002" y="2131475"/>
            <a:ext cx="1951499" cy="319756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24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cxnSp>
        <p:nvCxnSpPr>
          <p:cNvPr id="4" name="直线箭头连接符 3"/>
          <p:cNvCxnSpPr/>
          <p:nvPr/>
        </p:nvCxnSpPr>
        <p:spPr>
          <a:xfrm flipH="1">
            <a:off x="3560419" y="1358684"/>
            <a:ext cx="249222" cy="0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59" name="矩形 58"/>
          <p:cNvSpPr/>
          <p:nvPr/>
        </p:nvSpPr>
        <p:spPr>
          <a:xfrm>
            <a:off x="1583191" y="1814000"/>
            <a:ext cx="1951499" cy="319756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24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61" name="矩形 60"/>
          <p:cNvSpPr/>
          <p:nvPr/>
        </p:nvSpPr>
        <p:spPr>
          <a:xfrm>
            <a:off x="1587904" y="1495448"/>
            <a:ext cx="1951499" cy="319756"/>
          </a:xfrm>
          <a:prstGeom prst="rect">
            <a:avLst/>
          </a:prstGeom>
          <a:noFill/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0x5</a:t>
            </a:r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63" name="矩形 62"/>
          <p:cNvSpPr/>
          <p:nvPr/>
        </p:nvSpPr>
        <p:spPr>
          <a:xfrm>
            <a:off x="1606031" y="4141814"/>
            <a:ext cx="1951499" cy="339164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24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80" name="矩形 79"/>
          <p:cNvSpPr/>
          <p:nvPr/>
        </p:nvSpPr>
        <p:spPr>
          <a:xfrm>
            <a:off x="1608920" y="4467641"/>
            <a:ext cx="1951499" cy="339164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24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81" name="矩形 80"/>
          <p:cNvSpPr/>
          <p:nvPr/>
        </p:nvSpPr>
        <p:spPr>
          <a:xfrm>
            <a:off x="1606883" y="4807245"/>
            <a:ext cx="1951499" cy="339164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1600" dirty="0" err="1">
                <a:solidFill>
                  <a:prstClr val="black"/>
                </a:solidFill>
                <a:latin typeface="Consolas"/>
                <a:cs typeface="Consolas"/>
              </a:rPr>
              <a:t>pushq</a:t>
            </a:r>
            <a:r>
              <a:rPr lang="en-US" altLang="zh-CN" sz="1600" dirty="0">
                <a:solidFill>
                  <a:prstClr val="black"/>
                </a:solidFill>
                <a:latin typeface="Consolas"/>
                <a:cs typeface="Consolas"/>
              </a:rPr>
              <a:t> %rdi</a:t>
            </a:r>
            <a:endParaRPr lang="zh-CN" altLang="en-US" sz="1600" dirty="0">
              <a:solidFill>
                <a:prstClr val="black"/>
              </a:solidFill>
              <a:latin typeface="Consolas"/>
              <a:cs typeface="Consolas"/>
            </a:endParaRPr>
          </a:p>
        </p:txBody>
      </p:sp>
      <p:sp>
        <p:nvSpPr>
          <p:cNvPr id="82" name="矩形 81"/>
          <p:cNvSpPr/>
          <p:nvPr/>
        </p:nvSpPr>
        <p:spPr>
          <a:xfrm>
            <a:off x="1606327" y="5138285"/>
            <a:ext cx="1951499" cy="339164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24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83" name="矩形 82"/>
          <p:cNvSpPr/>
          <p:nvPr/>
        </p:nvSpPr>
        <p:spPr>
          <a:xfrm>
            <a:off x="1608920" y="5474699"/>
            <a:ext cx="1951499" cy="339164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zh-CN" altLang="en-US" sz="1600" dirty="0">
              <a:solidFill>
                <a:prstClr val="black"/>
              </a:solidFill>
              <a:latin typeface="Consolas"/>
              <a:cs typeface="Consolas"/>
            </a:endParaRPr>
          </a:p>
        </p:txBody>
      </p:sp>
      <p:sp>
        <p:nvSpPr>
          <p:cNvPr id="84" name="矩形 83"/>
          <p:cNvSpPr/>
          <p:nvPr/>
        </p:nvSpPr>
        <p:spPr>
          <a:xfrm>
            <a:off x="1007750" y="6068371"/>
            <a:ext cx="492443" cy="427994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mr-IN" altLang="zh-CN" sz="2400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sz="2400" dirty="0"/>
          </a:p>
        </p:txBody>
      </p:sp>
      <p:sp>
        <p:nvSpPr>
          <p:cNvPr id="85" name="矩形 84"/>
          <p:cNvSpPr/>
          <p:nvPr/>
        </p:nvSpPr>
        <p:spPr>
          <a:xfrm>
            <a:off x="229115" y="2802831"/>
            <a:ext cx="1365315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0x7f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0058</a:t>
            </a:r>
            <a:endParaRPr lang="zh-CN" altLang="en-US" dirty="0"/>
          </a:p>
        </p:txBody>
      </p:sp>
      <p:sp>
        <p:nvSpPr>
          <p:cNvPr id="86" name="矩形 85"/>
          <p:cNvSpPr/>
          <p:nvPr/>
        </p:nvSpPr>
        <p:spPr>
          <a:xfrm>
            <a:off x="217876" y="3129472"/>
            <a:ext cx="1365315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0x7f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0050</a:t>
            </a:r>
            <a:endParaRPr lang="zh-CN" altLang="en-US" dirty="0"/>
          </a:p>
        </p:txBody>
      </p:sp>
      <p:sp>
        <p:nvSpPr>
          <p:cNvPr id="87" name="矩形 86"/>
          <p:cNvSpPr/>
          <p:nvPr/>
        </p:nvSpPr>
        <p:spPr>
          <a:xfrm>
            <a:off x="153630" y="5818977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0010</a:t>
            </a:r>
            <a:endParaRPr lang="zh-CN" altLang="en-US" dirty="0"/>
          </a:p>
        </p:txBody>
      </p:sp>
      <p:sp>
        <p:nvSpPr>
          <p:cNvPr id="88" name="矩形 87"/>
          <p:cNvSpPr/>
          <p:nvPr/>
        </p:nvSpPr>
        <p:spPr>
          <a:xfrm>
            <a:off x="153630" y="5471147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0018</a:t>
            </a:r>
            <a:endParaRPr lang="zh-CN" altLang="en-US" dirty="0"/>
          </a:p>
        </p:txBody>
      </p:sp>
      <p:sp>
        <p:nvSpPr>
          <p:cNvPr id="89" name="矩形 88"/>
          <p:cNvSpPr/>
          <p:nvPr/>
        </p:nvSpPr>
        <p:spPr>
          <a:xfrm>
            <a:off x="153630" y="5135395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0020</a:t>
            </a:r>
            <a:endParaRPr lang="zh-CN" altLang="en-US" dirty="0"/>
          </a:p>
        </p:txBody>
      </p:sp>
      <p:sp>
        <p:nvSpPr>
          <p:cNvPr id="90" name="矩形 89"/>
          <p:cNvSpPr/>
          <p:nvPr/>
        </p:nvSpPr>
        <p:spPr>
          <a:xfrm>
            <a:off x="153630" y="4803962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0028</a:t>
            </a:r>
            <a:endParaRPr lang="zh-CN" altLang="en-US" dirty="0"/>
          </a:p>
        </p:txBody>
      </p:sp>
      <p:sp>
        <p:nvSpPr>
          <p:cNvPr id="91" name="矩形 90"/>
          <p:cNvSpPr/>
          <p:nvPr/>
        </p:nvSpPr>
        <p:spPr>
          <a:xfrm>
            <a:off x="164869" y="4460238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0030</a:t>
            </a:r>
            <a:endParaRPr lang="zh-CN" altLang="en-US" dirty="0"/>
          </a:p>
        </p:txBody>
      </p:sp>
      <p:sp>
        <p:nvSpPr>
          <p:cNvPr id="92" name="矩形 91"/>
          <p:cNvSpPr/>
          <p:nvPr/>
        </p:nvSpPr>
        <p:spPr>
          <a:xfrm>
            <a:off x="1219015" y="4132091"/>
            <a:ext cx="377064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...</a:t>
            </a:r>
            <a:endParaRPr lang="zh-CN" altLang="en-US" dirty="0"/>
          </a:p>
        </p:txBody>
      </p:sp>
      <p:sp>
        <p:nvSpPr>
          <p:cNvPr id="93" name="矩形 92"/>
          <p:cNvSpPr/>
          <p:nvPr/>
        </p:nvSpPr>
        <p:spPr>
          <a:xfrm>
            <a:off x="1223385" y="3809257"/>
            <a:ext cx="377064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...</a:t>
            </a:r>
            <a:endParaRPr lang="zh-CN" altLang="en-US" dirty="0"/>
          </a:p>
        </p:txBody>
      </p:sp>
      <p:sp>
        <p:nvSpPr>
          <p:cNvPr id="94" name="矩形 93"/>
          <p:cNvSpPr/>
          <p:nvPr/>
        </p:nvSpPr>
        <p:spPr>
          <a:xfrm>
            <a:off x="1212855" y="3479632"/>
            <a:ext cx="377064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...</a:t>
            </a:r>
            <a:endParaRPr lang="zh-CN" altLang="en-US" dirty="0"/>
          </a:p>
        </p:txBody>
      </p:sp>
      <p:sp>
        <p:nvSpPr>
          <p:cNvPr id="95" name="矩形 94"/>
          <p:cNvSpPr/>
          <p:nvPr/>
        </p:nvSpPr>
        <p:spPr>
          <a:xfrm>
            <a:off x="247823" y="2463945"/>
            <a:ext cx="1365315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0x7f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0060</a:t>
            </a:r>
            <a:endParaRPr lang="zh-CN" altLang="en-US" dirty="0"/>
          </a:p>
        </p:txBody>
      </p:sp>
      <p:sp>
        <p:nvSpPr>
          <p:cNvPr id="97" name="矩形 96"/>
          <p:cNvSpPr/>
          <p:nvPr/>
        </p:nvSpPr>
        <p:spPr>
          <a:xfrm>
            <a:off x="241438" y="817825"/>
            <a:ext cx="1365315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0x7f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0088</a:t>
            </a:r>
            <a:endParaRPr lang="zh-CN" altLang="en-US" dirty="0"/>
          </a:p>
        </p:txBody>
      </p:sp>
      <p:sp>
        <p:nvSpPr>
          <p:cNvPr id="98" name="矩形 97"/>
          <p:cNvSpPr/>
          <p:nvPr/>
        </p:nvSpPr>
        <p:spPr>
          <a:xfrm>
            <a:off x="230199" y="1144466"/>
            <a:ext cx="1365315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0x7f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0080</a:t>
            </a:r>
            <a:endParaRPr lang="zh-CN" altLang="en-US" dirty="0"/>
          </a:p>
        </p:txBody>
      </p:sp>
      <p:sp>
        <p:nvSpPr>
          <p:cNvPr id="99" name="矩形 98"/>
          <p:cNvSpPr/>
          <p:nvPr/>
        </p:nvSpPr>
        <p:spPr>
          <a:xfrm>
            <a:off x="243087" y="2147085"/>
            <a:ext cx="1365315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0x7f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0068</a:t>
            </a:r>
            <a:endParaRPr lang="zh-CN" altLang="en-US" dirty="0"/>
          </a:p>
        </p:txBody>
      </p:sp>
      <p:sp>
        <p:nvSpPr>
          <p:cNvPr id="100" name="矩形 99"/>
          <p:cNvSpPr/>
          <p:nvPr/>
        </p:nvSpPr>
        <p:spPr>
          <a:xfrm>
            <a:off x="247457" y="1824251"/>
            <a:ext cx="1365315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0x7f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0070</a:t>
            </a:r>
            <a:endParaRPr lang="zh-CN" altLang="en-US" dirty="0"/>
          </a:p>
        </p:txBody>
      </p:sp>
      <p:sp>
        <p:nvSpPr>
          <p:cNvPr id="101" name="矩形 100"/>
          <p:cNvSpPr/>
          <p:nvPr/>
        </p:nvSpPr>
        <p:spPr>
          <a:xfrm>
            <a:off x="236927" y="1494626"/>
            <a:ext cx="1365315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0x7f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0078</a:t>
            </a:r>
            <a:endParaRPr lang="zh-CN" altLang="en-US" dirty="0"/>
          </a:p>
        </p:txBody>
      </p:sp>
      <p:sp>
        <p:nvSpPr>
          <p:cNvPr id="103" name="矩形 102"/>
          <p:cNvSpPr/>
          <p:nvPr/>
        </p:nvSpPr>
        <p:spPr>
          <a:xfrm>
            <a:off x="1607980" y="5818037"/>
            <a:ext cx="1951499" cy="339164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zh-CN" altLang="en-US" sz="1600" dirty="0">
              <a:solidFill>
                <a:prstClr val="black"/>
              </a:solidFill>
              <a:latin typeface="Consolas"/>
              <a:cs typeface="Consolas"/>
            </a:endParaRPr>
          </a:p>
        </p:txBody>
      </p:sp>
      <p:sp>
        <p:nvSpPr>
          <p:cNvPr id="104" name="矩形 103"/>
          <p:cNvSpPr/>
          <p:nvPr/>
        </p:nvSpPr>
        <p:spPr>
          <a:xfrm>
            <a:off x="1606883" y="6157201"/>
            <a:ext cx="1951499" cy="339164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24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05" name="矩形 104"/>
          <p:cNvSpPr/>
          <p:nvPr/>
        </p:nvSpPr>
        <p:spPr>
          <a:xfrm>
            <a:off x="254671" y="458285"/>
            <a:ext cx="1365315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0x7f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0090</a:t>
            </a:r>
            <a:endParaRPr lang="zh-CN" altLang="en-US" dirty="0"/>
          </a:p>
        </p:txBody>
      </p:sp>
      <p:sp>
        <p:nvSpPr>
          <p:cNvPr id="106" name="矩形 105"/>
          <p:cNvSpPr/>
          <p:nvPr/>
        </p:nvSpPr>
        <p:spPr>
          <a:xfrm>
            <a:off x="252514" y="115556"/>
            <a:ext cx="1365315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0x7f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0098</a:t>
            </a:r>
            <a:endParaRPr lang="zh-CN" altLang="en-US" dirty="0"/>
          </a:p>
        </p:txBody>
      </p:sp>
      <p:sp>
        <p:nvSpPr>
          <p:cNvPr id="107" name="矩形 106"/>
          <p:cNvSpPr/>
          <p:nvPr/>
        </p:nvSpPr>
        <p:spPr>
          <a:xfrm>
            <a:off x="3955296" y="115556"/>
            <a:ext cx="1041584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kumimoji="1" lang="en-US" altLang="zh-CN" sz="1400" b="1" dirty="0">
                <a:latin typeface="Verdana"/>
                <a:cs typeface="Verdana"/>
              </a:rPr>
              <a:t>BOTTOM</a:t>
            </a:r>
            <a:endParaRPr lang="zh-CN" altLang="en-US" sz="1400" b="1" dirty="0"/>
          </a:p>
        </p:txBody>
      </p:sp>
      <p:cxnSp>
        <p:nvCxnSpPr>
          <p:cNvPr id="108" name="直线箭头连接符 107"/>
          <p:cNvCxnSpPr/>
          <p:nvPr/>
        </p:nvCxnSpPr>
        <p:spPr>
          <a:xfrm flipH="1">
            <a:off x="3602284" y="285633"/>
            <a:ext cx="249222" cy="0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8" name="矩形 17"/>
          <p:cNvSpPr/>
          <p:nvPr/>
        </p:nvSpPr>
        <p:spPr>
          <a:xfrm>
            <a:off x="3548240" y="361563"/>
            <a:ext cx="1703993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400" b="1" dirty="0">
                <a:latin typeface="Arial"/>
                <a:cs typeface="Arial"/>
              </a:rPr>
              <a:t>(Initial RSP Value)</a:t>
            </a:r>
            <a:endParaRPr lang="zh-CN" altLang="en-US" sz="1400" b="1" dirty="0">
              <a:latin typeface="Arial"/>
              <a:cs typeface="Arial"/>
            </a:endParaRPr>
          </a:p>
        </p:txBody>
      </p:sp>
      <p:sp>
        <p:nvSpPr>
          <p:cNvPr id="110" name="矩形 79"/>
          <p:cNvSpPr/>
          <p:nvPr/>
        </p:nvSpPr>
        <p:spPr>
          <a:xfrm>
            <a:off x="1608920" y="4467641"/>
            <a:ext cx="1951499" cy="339164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1600" dirty="0" err="1">
                <a:solidFill>
                  <a:prstClr val="black"/>
                </a:solidFill>
                <a:latin typeface="Consolas"/>
                <a:cs typeface="Consolas"/>
              </a:rPr>
              <a:t>popq</a:t>
            </a:r>
            <a:r>
              <a:rPr lang="en-US" altLang="zh-CN" sz="1600" dirty="0">
                <a:solidFill>
                  <a:prstClr val="black"/>
                </a:solidFill>
                <a:latin typeface="Consolas"/>
                <a:cs typeface="Consolas"/>
              </a:rPr>
              <a:t> %rsi</a:t>
            </a:r>
            <a:endParaRPr lang="zh-CN" altLang="en-US" sz="1600" dirty="0">
              <a:solidFill>
                <a:prstClr val="black"/>
              </a:solidFill>
              <a:latin typeface="Consolas"/>
              <a:cs typeface="Consolas"/>
            </a:endParaRPr>
          </a:p>
        </p:txBody>
      </p:sp>
      <p:sp>
        <p:nvSpPr>
          <p:cNvPr id="112" name="矩形 101"/>
          <p:cNvSpPr/>
          <p:nvPr/>
        </p:nvSpPr>
        <p:spPr>
          <a:xfrm>
            <a:off x="3927386" y="4221664"/>
            <a:ext cx="688009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kumimoji="1" lang="en-US" altLang="zh-CN" sz="1400" b="1" dirty="0">
                <a:latin typeface="Verdana"/>
                <a:cs typeface="Verdana"/>
              </a:rPr>
              <a:t>%rip</a:t>
            </a:r>
            <a:endParaRPr lang="zh-CN" altLang="en-US" sz="1400" b="1" dirty="0"/>
          </a:p>
        </p:txBody>
      </p:sp>
      <p:cxnSp>
        <p:nvCxnSpPr>
          <p:cNvPr id="113" name="直线箭头连接符 110"/>
          <p:cNvCxnSpPr/>
          <p:nvPr/>
        </p:nvCxnSpPr>
        <p:spPr>
          <a:xfrm flipH="1">
            <a:off x="3560419" y="4363827"/>
            <a:ext cx="249222" cy="0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0268557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kumimoji="1" lang="en-US" altLang="zh-CN" dirty="0"/>
              <a:t>call/ret : control transfer from caller to callee and vice versa</a:t>
            </a:r>
            <a:endParaRPr kumimoji="1"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kumimoji="1" lang="zh-CN" altLang="en-US" dirty="0">
                <a:latin typeface="Consolas"/>
                <a:cs typeface="Consolas"/>
              </a:rPr>
              <a:t> </a:t>
            </a:r>
            <a:r>
              <a:rPr kumimoji="1" lang="en-US" altLang="zh-CN" b="1" dirty="0">
                <a:latin typeface="Consolas"/>
                <a:cs typeface="Consolas"/>
              </a:rPr>
              <a:t>call</a:t>
            </a:r>
            <a:r>
              <a:rPr kumimoji="1" lang="en-US" altLang="zh-CN" dirty="0">
                <a:latin typeface="Consolas"/>
                <a:cs typeface="Consolas"/>
              </a:rPr>
              <a:t> label</a:t>
            </a:r>
          </a:p>
          <a:p>
            <a:pPr lvl="1"/>
            <a:r>
              <a:rPr lang="en-US" altLang="zh-CN" dirty="0"/>
              <a:t>Push return address on stack </a:t>
            </a:r>
          </a:p>
          <a:p>
            <a:pPr lvl="2"/>
            <a:r>
              <a:rPr kumimoji="1" lang="en-US" altLang="zh-CN" dirty="0" err="1"/>
              <a:t>return_address</a:t>
            </a:r>
            <a:r>
              <a:rPr kumimoji="1" lang="en-US" altLang="zh-CN" dirty="0"/>
              <a:t> = the instruction immediately after </a:t>
            </a:r>
            <a:r>
              <a:rPr kumimoji="1" lang="en-US" altLang="zh-CN" b="1" dirty="0">
                <a:latin typeface="Consolas" panose="020B0609020204030204" pitchFamily="49" charset="0"/>
              </a:rPr>
              <a:t>call</a:t>
            </a:r>
          </a:p>
          <a:p>
            <a:pPr lvl="2"/>
            <a:r>
              <a:rPr kumimoji="1" lang="en-US" altLang="zh-CN" sz="1800" dirty="0">
                <a:solidFill>
                  <a:schemeClr val="accent1"/>
                </a:solidFill>
                <a:latin typeface="Consolas" panose="020B0609020204030204" pitchFamily="49" charset="0"/>
              </a:rPr>
              <a:t>%</a:t>
            </a:r>
            <a:r>
              <a:rPr kumimoji="1" lang="en-US" altLang="zh-CN" sz="1800" dirty="0" err="1">
                <a:solidFill>
                  <a:schemeClr val="accent1"/>
                </a:solidFill>
                <a:latin typeface="Consolas" panose="020B0609020204030204" pitchFamily="49" charset="0"/>
              </a:rPr>
              <a:t>rsp</a:t>
            </a:r>
            <a:r>
              <a:rPr kumimoji="1" lang="en-US" altLang="zh-CN" sz="1800" dirty="0">
                <a:solidFill>
                  <a:schemeClr val="accent1"/>
                </a:solidFill>
                <a:latin typeface="Consolas" panose="020B0609020204030204" pitchFamily="49" charset="0"/>
              </a:rPr>
              <a:t>=%rsp-8, mem[%</a:t>
            </a:r>
            <a:r>
              <a:rPr kumimoji="1" lang="en-US" altLang="zh-CN" sz="1800" dirty="0" err="1">
                <a:solidFill>
                  <a:schemeClr val="accent1"/>
                </a:solidFill>
                <a:latin typeface="Consolas" panose="020B0609020204030204" pitchFamily="49" charset="0"/>
              </a:rPr>
              <a:t>rsp</a:t>
            </a:r>
            <a:r>
              <a:rPr kumimoji="1" lang="en-US" altLang="zh-CN" sz="1800" dirty="0">
                <a:solidFill>
                  <a:schemeClr val="accent1"/>
                </a:solidFill>
                <a:latin typeface="Consolas" panose="020B0609020204030204" pitchFamily="49" charset="0"/>
              </a:rPr>
              <a:t>]=</a:t>
            </a:r>
            <a:r>
              <a:rPr kumimoji="1" lang="en-US" altLang="zh-CN" sz="1800" dirty="0" err="1">
                <a:solidFill>
                  <a:schemeClr val="accent1"/>
                </a:solidFill>
                <a:latin typeface="Consolas" panose="020B0609020204030204" pitchFamily="49" charset="0"/>
              </a:rPr>
              <a:t>return_addr</a:t>
            </a:r>
            <a:endParaRPr kumimoji="1" lang="en-US" altLang="zh-CN" sz="1800" dirty="0">
              <a:solidFill>
                <a:schemeClr val="accent1"/>
              </a:solidFill>
              <a:latin typeface="Consolas" panose="020B0609020204030204" pitchFamily="49" charset="0"/>
            </a:endParaRPr>
          </a:p>
          <a:p>
            <a:pPr lvl="1"/>
            <a:r>
              <a:rPr kumimoji="1" lang="en-US" altLang="zh-CN" dirty="0"/>
              <a:t>Jump to the address of the label</a:t>
            </a:r>
          </a:p>
          <a:p>
            <a:pPr lvl="2"/>
            <a:r>
              <a:rPr kumimoji="1" lang="en-US" altLang="zh-CN" dirty="0"/>
              <a:t>Label points to the first instruction of the function</a:t>
            </a:r>
          </a:p>
          <a:p>
            <a:pPr marL="0" indent="0">
              <a:buFont typeface="Arial" pitchFamily="34" charset="0"/>
              <a:buNone/>
            </a:pPr>
            <a:r>
              <a:rPr kumimoji="1" lang="en-US" altLang="zh-CN" b="1" dirty="0">
                <a:latin typeface="Consolas"/>
                <a:cs typeface="Consolas"/>
              </a:rPr>
              <a:t> </a:t>
            </a:r>
          </a:p>
          <a:p>
            <a:pPr marL="0" indent="0">
              <a:buFont typeface="Arial" pitchFamily="34" charset="0"/>
              <a:buNone/>
            </a:pPr>
            <a:r>
              <a:rPr kumimoji="1" lang="en-US" altLang="zh-CN" b="1" dirty="0">
                <a:latin typeface="Consolas"/>
                <a:cs typeface="Consolas"/>
              </a:rPr>
              <a:t>  ret</a:t>
            </a:r>
            <a:endParaRPr kumimoji="1" lang="en-US" altLang="zh-CN" dirty="0">
              <a:latin typeface="Consolas"/>
              <a:cs typeface="Consolas"/>
            </a:endParaRPr>
          </a:p>
          <a:p>
            <a:pPr lvl="1"/>
            <a:r>
              <a:rPr lang="en-US" altLang="zh-CN" dirty="0"/>
              <a:t>Pop 8 bytes  from the stack to %rip</a:t>
            </a:r>
          </a:p>
          <a:p>
            <a:pPr lvl="2"/>
            <a:r>
              <a:rPr kumimoji="1" lang="en-US" altLang="zh-CN" sz="1800" dirty="0">
                <a:solidFill>
                  <a:schemeClr val="accent1"/>
                </a:solidFill>
                <a:latin typeface="Consolas" panose="020B0609020204030204" pitchFamily="49" charset="0"/>
              </a:rPr>
              <a:t>%rip = mem[%</a:t>
            </a:r>
            <a:r>
              <a:rPr kumimoji="1" lang="en-US" altLang="zh-CN" sz="1800" dirty="0" err="1">
                <a:solidFill>
                  <a:schemeClr val="accent1"/>
                </a:solidFill>
                <a:latin typeface="Consolas" panose="020B0609020204030204" pitchFamily="49" charset="0"/>
              </a:rPr>
              <a:t>rsp</a:t>
            </a:r>
            <a:r>
              <a:rPr kumimoji="1" lang="en-US" altLang="zh-CN" sz="1800" dirty="0">
                <a:solidFill>
                  <a:schemeClr val="accent1"/>
                </a:solidFill>
                <a:latin typeface="Consolas" panose="020B0609020204030204" pitchFamily="49" charset="0"/>
              </a:rPr>
              <a:t>], %</a:t>
            </a:r>
            <a:r>
              <a:rPr kumimoji="1" lang="en-US" altLang="zh-CN" sz="1800" dirty="0" err="1">
                <a:solidFill>
                  <a:schemeClr val="accent1"/>
                </a:solidFill>
                <a:latin typeface="Consolas" panose="020B0609020204030204" pitchFamily="49" charset="0"/>
              </a:rPr>
              <a:t>rsp</a:t>
            </a:r>
            <a:r>
              <a:rPr kumimoji="1" lang="en-US" altLang="zh-CN" sz="1800" dirty="0">
                <a:solidFill>
                  <a:schemeClr val="accent1"/>
                </a:solidFill>
                <a:latin typeface="Consolas" panose="020B0609020204030204" pitchFamily="49" charset="0"/>
              </a:rPr>
              <a:t> = %</a:t>
            </a:r>
            <a:r>
              <a:rPr kumimoji="1" lang="en-US" altLang="zh-CN" sz="1800" dirty="0" err="1">
                <a:solidFill>
                  <a:schemeClr val="accent1"/>
                </a:solidFill>
                <a:latin typeface="Consolas" panose="020B0609020204030204" pitchFamily="49" charset="0"/>
              </a:rPr>
              <a:t>rsp</a:t>
            </a:r>
            <a:r>
              <a:rPr kumimoji="1" lang="en-US" altLang="zh-CN" sz="1800" dirty="0">
                <a:solidFill>
                  <a:schemeClr val="accent1"/>
                </a:solidFill>
                <a:latin typeface="Consolas" panose="020B0609020204030204" pitchFamily="49" charset="0"/>
              </a:rPr>
              <a:t> +8</a:t>
            </a:r>
            <a:endParaRPr kumimoji="1" lang="en-US" altLang="zh-CN" dirty="0">
              <a:solidFill>
                <a:schemeClr val="accent1"/>
              </a:solidFill>
            </a:endParaRPr>
          </a:p>
          <a:p>
            <a:pPr marL="457200" lvl="1" indent="0">
              <a:buNone/>
            </a:pPr>
            <a:endParaRPr kumimoji="1" lang="zh-CN" altLang="en-US" dirty="0"/>
          </a:p>
        </p:txBody>
      </p:sp>
      <p:sp>
        <p:nvSpPr>
          <p:cNvPr id="10" name="内容占位符 2">
            <a:extLst>
              <a:ext uri="{FF2B5EF4-FFF2-40B4-BE49-F238E27FC236}">
                <a16:creationId xmlns:a16="http://schemas.microsoft.com/office/drawing/2014/main" id="{BB1E8BD5-82A3-4E4A-A9BE-3044C03A7061}"/>
              </a:ext>
            </a:extLst>
          </p:cNvPr>
          <p:cNvSpPr txBox="1">
            <a:spLocks/>
          </p:cNvSpPr>
          <p:nvPr/>
        </p:nvSpPr>
        <p:spPr>
          <a:xfrm>
            <a:off x="609600" y="3643952"/>
            <a:ext cx="8229600" cy="263461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800" kern="1200">
                <a:solidFill>
                  <a:schemeClr val="tx1"/>
                </a:solidFill>
                <a:latin typeface="Arial"/>
                <a:ea typeface="+mn-ea"/>
                <a:cs typeface="Arial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400" kern="1200">
                <a:solidFill>
                  <a:schemeClr val="tx1"/>
                </a:solidFill>
                <a:latin typeface="Arial"/>
                <a:ea typeface="+mn-ea"/>
                <a:cs typeface="Arial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Arial"/>
                <a:ea typeface="+mn-ea"/>
                <a:cs typeface="Arial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1800" kern="1200">
                <a:solidFill>
                  <a:schemeClr val="tx1"/>
                </a:solidFill>
                <a:latin typeface="Arial"/>
                <a:ea typeface="+mn-ea"/>
                <a:cs typeface="Arial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1800" kern="1200">
                <a:solidFill>
                  <a:schemeClr val="tx1"/>
                </a:solidFill>
                <a:latin typeface="Arial"/>
                <a:ea typeface="+mn-ea"/>
                <a:cs typeface="Arial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itchFamily="34" charset="0"/>
              <a:buNone/>
            </a:pPr>
            <a:r>
              <a:rPr kumimoji="1" lang="zh-CN" altLang="en-US" dirty="0">
                <a:latin typeface="Consolas"/>
                <a:cs typeface="Consolas"/>
              </a:rPr>
              <a:t> </a:t>
            </a:r>
            <a:endParaRPr kumimoji="1" lang="en-US" altLang="zh-CN" sz="180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3229781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125281" y="246240"/>
            <a:ext cx="8686800" cy="1143000"/>
          </a:xfrm>
        </p:spPr>
        <p:txBody>
          <a:bodyPr>
            <a:normAutofit fontScale="90000"/>
          </a:bodyPr>
          <a:lstStyle/>
          <a:p>
            <a:r>
              <a:rPr kumimoji="1" lang="en-US" altLang="zh-CN" dirty="0"/>
              <a:t>call/ret : control transfer from caller to callee and vice versa</a:t>
            </a:r>
            <a:endParaRPr kumimoji="1" lang="zh-CN" altLang="en-US" dirty="0"/>
          </a:p>
        </p:txBody>
      </p:sp>
      <p:sp>
        <p:nvSpPr>
          <p:cNvPr id="4" name="矩形 3"/>
          <p:cNvSpPr/>
          <p:nvPr/>
        </p:nvSpPr>
        <p:spPr>
          <a:xfrm>
            <a:off x="448101" y="2550276"/>
            <a:ext cx="1894765" cy="2585323"/>
          </a:xfrm>
          <a:prstGeom prst="rect">
            <a:avLst/>
          </a:prstGeom>
          <a:solidFill>
            <a:schemeClr val="bg2"/>
          </a:solidFill>
        </p:spPr>
        <p:txBody>
          <a:bodyPr wrap="square">
            <a:spAutoFit/>
          </a:bodyPr>
          <a:lstStyle/>
          <a:p>
            <a:r>
              <a:rPr lang="en-US" altLang="zh-CN" dirty="0">
                <a:latin typeface="Consolas"/>
                <a:cs typeface="Consolas"/>
              </a:rPr>
              <a:t>int count = 0;</a:t>
            </a:r>
          </a:p>
          <a:p>
            <a:endParaRPr lang="en-US" altLang="zh-CN" dirty="0">
              <a:latin typeface="Consolas"/>
              <a:cs typeface="Consolas"/>
            </a:endParaRPr>
          </a:p>
          <a:p>
            <a:r>
              <a:rPr lang="en-US" altLang="zh-CN" dirty="0">
                <a:latin typeface="Consolas"/>
                <a:cs typeface="Consolas"/>
              </a:rPr>
              <a:t>void </a:t>
            </a:r>
            <a:r>
              <a:rPr lang="en-US" altLang="zh-CN" dirty="0" err="1">
                <a:latin typeface="Consolas"/>
                <a:cs typeface="Consolas"/>
              </a:rPr>
              <a:t>inc</a:t>
            </a:r>
            <a:r>
              <a:rPr lang="en-US" altLang="zh-CN" dirty="0">
                <a:latin typeface="Consolas"/>
                <a:cs typeface="Consolas"/>
              </a:rPr>
              <a:t>() {</a:t>
            </a:r>
          </a:p>
          <a:p>
            <a:r>
              <a:rPr lang="mr-IN" altLang="zh-CN" dirty="0">
                <a:latin typeface="Consolas"/>
                <a:cs typeface="Consolas"/>
              </a:rPr>
              <a:t>  </a:t>
            </a:r>
            <a:r>
              <a:rPr lang="en-US" altLang="zh-CN" dirty="0">
                <a:latin typeface="Consolas"/>
                <a:cs typeface="Consolas"/>
              </a:rPr>
              <a:t>count++;</a:t>
            </a:r>
          </a:p>
          <a:p>
            <a:r>
              <a:rPr lang="en-US" altLang="zh-CN" dirty="0">
                <a:latin typeface="Consolas"/>
                <a:cs typeface="Consolas"/>
              </a:rPr>
              <a:t>}</a:t>
            </a:r>
          </a:p>
          <a:p>
            <a:endParaRPr lang="en-US" altLang="zh-CN" dirty="0">
              <a:latin typeface="Consolas"/>
              <a:cs typeface="Consolas"/>
            </a:endParaRPr>
          </a:p>
          <a:p>
            <a:r>
              <a:rPr lang="en-US" altLang="zh-CN" dirty="0">
                <a:latin typeface="Consolas"/>
                <a:cs typeface="Consolas"/>
              </a:rPr>
              <a:t>int main() {</a:t>
            </a:r>
          </a:p>
          <a:p>
            <a:r>
              <a:rPr lang="en-US" altLang="zh-CN" dirty="0">
                <a:latin typeface="Consolas"/>
                <a:cs typeface="Consolas"/>
              </a:rPr>
              <a:t>    </a:t>
            </a:r>
            <a:r>
              <a:rPr lang="en-US" altLang="zh-CN" dirty="0" err="1">
                <a:latin typeface="Consolas"/>
                <a:cs typeface="Consolas"/>
              </a:rPr>
              <a:t>inc</a:t>
            </a:r>
            <a:r>
              <a:rPr lang="en-US" altLang="zh-CN" dirty="0">
                <a:latin typeface="Consolas"/>
                <a:cs typeface="Consolas"/>
              </a:rPr>
              <a:t>();</a:t>
            </a:r>
            <a:endParaRPr lang="mr-IN" altLang="zh-CN" dirty="0">
              <a:latin typeface="Consolas"/>
              <a:cs typeface="Consolas"/>
            </a:endParaRPr>
          </a:p>
          <a:p>
            <a:r>
              <a:rPr lang="mr-IN" altLang="zh-CN" dirty="0">
                <a:latin typeface="Consolas"/>
                <a:cs typeface="Consolas"/>
              </a:rPr>
              <a:t>}</a:t>
            </a:r>
            <a:endParaRPr lang="en-US" altLang="zh-CN" dirty="0">
              <a:latin typeface="Consolas"/>
              <a:cs typeface="Consolas"/>
            </a:endParaRPr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50240846-F70C-4F8E-BE19-25FA395F7A42}"/>
              </a:ext>
            </a:extLst>
          </p:cNvPr>
          <p:cNvSpPr/>
          <p:nvPr/>
        </p:nvSpPr>
        <p:spPr>
          <a:xfrm>
            <a:off x="2506640" y="3489278"/>
            <a:ext cx="1692322" cy="573206"/>
          </a:xfrm>
          <a:prstGeom prst="rightArrow">
            <a:avLst/>
          </a:prstGeom>
          <a:solidFill>
            <a:srgbClr val="00B0F0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C681E05-CF42-4AB4-BA65-8EDF1555C227}"/>
              </a:ext>
            </a:extLst>
          </p:cNvPr>
          <p:cNvSpPr txBox="1"/>
          <p:nvPr/>
        </p:nvSpPr>
        <p:spPr>
          <a:xfrm>
            <a:off x="2431576" y="3184056"/>
            <a:ext cx="2363337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600" b="1" i="1" dirty="0" err="1">
                <a:latin typeface="Consolas"/>
                <a:cs typeface="Consolas"/>
              </a:rPr>
              <a:t>gcc</a:t>
            </a:r>
            <a:r>
              <a:rPr lang="en-US" altLang="zh-CN" sz="1600" b="1" i="1" dirty="0">
                <a:latin typeface="Consolas"/>
                <a:cs typeface="Consolas"/>
              </a:rPr>
              <a:t> </a:t>
            </a:r>
            <a:r>
              <a:rPr lang="mr-IN" altLang="zh-CN" sz="1600" b="1" i="1" dirty="0">
                <a:latin typeface="Consolas"/>
                <a:cs typeface="Consolas"/>
              </a:rPr>
              <a:t>–</a:t>
            </a:r>
            <a:r>
              <a:rPr lang="en-US" altLang="zh-CN" sz="1600" b="1" i="1" dirty="0" err="1">
                <a:latin typeface="Consolas"/>
                <a:cs typeface="Consolas"/>
              </a:rPr>
              <a:t>Og</a:t>
            </a:r>
            <a:r>
              <a:rPr lang="en-US" altLang="zh-CN" sz="1600" b="1" i="1" dirty="0">
                <a:latin typeface="Consolas"/>
                <a:cs typeface="Consolas"/>
              </a:rPr>
              <a:t> –S </a:t>
            </a:r>
            <a:r>
              <a:rPr lang="en-US" altLang="zh-CN" sz="1600" b="1" i="1" dirty="0" err="1">
                <a:latin typeface="Consolas"/>
                <a:cs typeface="Consolas"/>
              </a:rPr>
              <a:t>test.c</a:t>
            </a:r>
            <a:endParaRPr lang="mr-IN" altLang="zh-CN" sz="1600" b="1" i="1" dirty="0">
              <a:latin typeface="Consolas"/>
              <a:cs typeface="Consolas"/>
            </a:endParaRPr>
          </a:p>
        </p:txBody>
      </p:sp>
      <p:sp>
        <p:nvSpPr>
          <p:cNvPr id="12" name="矩形 3">
            <a:extLst>
              <a:ext uri="{FF2B5EF4-FFF2-40B4-BE49-F238E27FC236}">
                <a16:creationId xmlns:a16="http://schemas.microsoft.com/office/drawing/2014/main" id="{648C4FE0-0E48-4F64-AE2F-05E035907AF0}"/>
              </a:ext>
            </a:extLst>
          </p:cNvPr>
          <p:cNvSpPr/>
          <p:nvPr/>
        </p:nvSpPr>
        <p:spPr>
          <a:xfrm>
            <a:off x="4617493" y="2447059"/>
            <a:ext cx="4572000" cy="923330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altLang="zh-CN" dirty="0" err="1">
                <a:latin typeface="Consolas"/>
                <a:cs typeface="Consolas"/>
              </a:rPr>
              <a:t>inc</a:t>
            </a:r>
            <a:r>
              <a:rPr lang="en-US" altLang="zh-CN" dirty="0">
                <a:latin typeface="Consolas"/>
                <a:cs typeface="Consolas"/>
              </a:rPr>
              <a:t>:</a:t>
            </a:r>
          </a:p>
          <a:p>
            <a:r>
              <a:rPr lang="en-US" altLang="zh-CN" dirty="0">
                <a:latin typeface="Consolas"/>
                <a:cs typeface="Consolas"/>
              </a:rPr>
              <a:t>    </a:t>
            </a:r>
            <a:r>
              <a:rPr lang="en-US" altLang="zh-CN" dirty="0" err="1">
                <a:latin typeface="Consolas"/>
                <a:cs typeface="Consolas"/>
              </a:rPr>
              <a:t>addl</a:t>
            </a:r>
            <a:r>
              <a:rPr lang="en-US" altLang="zh-CN" dirty="0">
                <a:latin typeface="Consolas"/>
                <a:cs typeface="Consolas"/>
              </a:rPr>
              <a:t> $0x1, count(%rip)</a:t>
            </a:r>
            <a:endParaRPr lang="mr-IN" altLang="zh-CN" dirty="0">
              <a:latin typeface="Consolas"/>
              <a:cs typeface="Consolas"/>
            </a:endParaRPr>
          </a:p>
          <a:p>
            <a:r>
              <a:rPr lang="mr-IN" altLang="zh-CN" dirty="0">
                <a:latin typeface="Consolas"/>
                <a:cs typeface="Consolas"/>
              </a:rPr>
              <a:t>    ret</a:t>
            </a:r>
          </a:p>
        </p:txBody>
      </p:sp>
      <p:sp>
        <p:nvSpPr>
          <p:cNvPr id="14" name="矩形 4">
            <a:extLst>
              <a:ext uri="{FF2B5EF4-FFF2-40B4-BE49-F238E27FC236}">
                <a16:creationId xmlns:a16="http://schemas.microsoft.com/office/drawing/2014/main" id="{31F1BFD8-CB82-4A0A-8A2F-C3498ADFD55F}"/>
              </a:ext>
            </a:extLst>
          </p:cNvPr>
          <p:cNvSpPr/>
          <p:nvPr/>
        </p:nvSpPr>
        <p:spPr>
          <a:xfrm>
            <a:off x="4653887" y="3382899"/>
            <a:ext cx="3539483" cy="14773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dirty="0">
                <a:latin typeface="Consolas"/>
                <a:cs typeface="Consolas"/>
              </a:rPr>
              <a:t>main:</a:t>
            </a:r>
          </a:p>
          <a:p>
            <a:r>
              <a:rPr lang="en-US" altLang="zh-CN" dirty="0">
                <a:latin typeface="Consolas"/>
                <a:cs typeface="Consolas"/>
              </a:rPr>
              <a:t>	...</a:t>
            </a:r>
            <a:endParaRPr lang="mr-IN" altLang="zh-CN" dirty="0">
              <a:latin typeface="Consolas"/>
              <a:cs typeface="Consolas"/>
            </a:endParaRPr>
          </a:p>
          <a:p>
            <a:r>
              <a:rPr lang="en-US" altLang="zh-CN" dirty="0">
                <a:latin typeface="Consolas"/>
                <a:cs typeface="Consolas"/>
              </a:rPr>
              <a:t>   </a:t>
            </a:r>
            <a:r>
              <a:rPr lang="mr-IN" altLang="zh-CN" dirty="0">
                <a:latin typeface="Consolas"/>
                <a:cs typeface="Consolas"/>
              </a:rPr>
              <a:t>call    </a:t>
            </a:r>
            <a:r>
              <a:rPr lang="en-US" altLang="zh-CN" dirty="0">
                <a:latin typeface="Consolas"/>
                <a:cs typeface="Consolas"/>
              </a:rPr>
              <a:t> </a:t>
            </a:r>
            <a:r>
              <a:rPr lang="mr-IN" altLang="zh-CN" dirty="0">
                <a:latin typeface="Consolas"/>
                <a:cs typeface="Consolas"/>
              </a:rPr>
              <a:t>add</a:t>
            </a:r>
            <a:endParaRPr lang="en-US" altLang="zh-CN" dirty="0">
              <a:latin typeface="Consolas"/>
              <a:cs typeface="Consolas"/>
            </a:endParaRPr>
          </a:p>
          <a:p>
            <a:r>
              <a:rPr lang="en-US" altLang="zh-CN" b="1" dirty="0">
                <a:solidFill>
                  <a:prstClr val="black"/>
                </a:solidFill>
                <a:latin typeface="Consolas"/>
                <a:cs typeface="Consolas"/>
              </a:rPr>
              <a:t>   </a:t>
            </a:r>
            <a:r>
              <a:rPr lang="en-US" altLang="zh-CN" dirty="0" err="1">
                <a:latin typeface="Consolas"/>
                <a:cs typeface="Consolas"/>
              </a:rPr>
              <a:t>movl</a:t>
            </a:r>
            <a:r>
              <a:rPr lang="en-US" altLang="zh-CN" dirty="0">
                <a:latin typeface="Consolas"/>
                <a:cs typeface="Consolas"/>
              </a:rPr>
              <a:t> $0, %</a:t>
            </a:r>
            <a:r>
              <a:rPr lang="en-US" altLang="zh-CN" dirty="0" err="1">
                <a:latin typeface="Consolas"/>
                <a:cs typeface="Consolas"/>
              </a:rPr>
              <a:t>eax</a:t>
            </a:r>
            <a:endParaRPr lang="en-US" altLang="zh-CN" dirty="0">
              <a:latin typeface="Consolas"/>
              <a:cs typeface="Consolas"/>
            </a:endParaRPr>
          </a:p>
          <a:p>
            <a:r>
              <a:rPr lang="en-US" altLang="zh-CN" dirty="0">
                <a:latin typeface="Consolas"/>
                <a:cs typeface="Consolas"/>
              </a:rPr>
              <a:t>   ...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FB7147C5-E7FF-4333-A32B-54984FDE2A4A}"/>
              </a:ext>
            </a:extLst>
          </p:cNvPr>
          <p:cNvGrpSpPr/>
          <p:nvPr/>
        </p:nvGrpSpPr>
        <p:grpSpPr>
          <a:xfrm>
            <a:off x="4057735" y="4435036"/>
            <a:ext cx="4030145" cy="875401"/>
            <a:chOff x="3693215" y="5512372"/>
            <a:chExt cx="4030145" cy="875401"/>
          </a:xfrm>
        </p:grpSpPr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9965B8AC-1C2E-49FE-A14C-581C5AC512DD}"/>
                </a:ext>
              </a:extLst>
            </p:cNvPr>
            <p:cNvCxnSpPr/>
            <p:nvPr/>
          </p:nvCxnSpPr>
          <p:spPr>
            <a:xfrm flipV="1">
              <a:off x="4183877" y="5512372"/>
              <a:ext cx="448554" cy="506609"/>
            </a:xfrm>
            <a:prstGeom prst="straightConnector1">
              <a:avLst/>
            </a:prstGeom>
            <a:ln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1C9552F6-BAB6-4DD0-85A7-19C5E878A7A1}"/>
                </a:ext>
              </a:extLst>
            </p:cNvPr>
            <p:cNvSpPr txBox="1"/>
            <p:nvPr/>
          </p:nvSpPr>
          <p:spPr>
            <a:xfrm>
              <a:off x="3693215" y="6018441"/>
              <a:ext cx="403014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1"/>
                  </a:solidFill>
                </a:rPr>
                <a:t>return address points to this instruction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6671899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kumimoji="1" lang="en-US" altLang="zh-CN" dirty="0"/>
              <a:t>Call instruction: control transfer from caller to </a:t>
            </a:r>
            <a:r>
              <a:rPr kumimoji="1" lang="en-US" altLang="zh-CN" dirty="0" err="1"/>
              <a:t>callee</a:t>
            </a:r>
            <a:endParaRPr kumimoji="1" lang="zh-CN" altLang="en-US" dirty="0"/>
          </a:p>
        </p:txBody>
      </p:sp>
      <p:sp>
        <p:nvSpPr>
          <p:cNvPr id="5" name="矩形 4"/>
          <p:cNvSpPr/>
          <p:nvPr/>
        </p:nvSpPr>
        <p:spPr>
          <a:xfrm>
            <a:off x="2381535" y="4423331"/>
            <a:ext cx="5852615" cy="116955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fr-FR" sz="1400" dirty="0">
                <a:solidFill>
                  <a:srgbClr val="3366FF"/>
                </a:solidFill>
                <a:latin typeface="Consolas" panose="020B0609020204030204" pitchFamily="49" charset="0"/>
              </a:rPr>
              <a:t>0000000000000602</a:t>
            </a:r>
            <a:r>
              <a:rPr lang="fr-FR" sz="1400" dirty="0">
                <a:latin typeface="Consolas" panose="020B0609020204030204" pitchFamily="49" charset="0"/>
              </a:rPr>
              <a:t> &lt;main&gt;:</a:t>
            </a:r>
          </a:p>
          <a:p>
            <a:r>
              <a:rPr lang="ro-RO" sz="1400" dirty="0">
                <a:latin typeface="Consolas" panose="020B0609020204030204" pitchFamily="49" charset="0"/>
              </a:rPr>
              <a:t>             </a:t>
            </a:r>
            <a:r>
              <a:rPr lang="en-US" sz="1400" dirty="0">
                <a:solidFill>
                  <a:srgbClr val="3366FF"/>
                </a:solidFill>
                <a:latin typeface="Consolas" panose="020B0609020204030204" pitchFamily="49" charset="0"/>
              </a:rPr>
              <a:t>602</a:t>
            </a:r>
            <a:r>
              <a:rPr lang="ro-RO" sz="1400" dirty="0">
                <a:latin typeface="Consolas" panose="020B0609020204030204" pitchFamily="49" charset="0"/>
              </a:rPr>
              <a:t>:</a:t>
            </a:r>
            <a:r>
              <a:rPr lang="en-US" sz="1400" dirty="0"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3F9335"/>
                </a:solidFill>
                <a:latin typeface="Consolas" panose="020B0609020204030204" pitchFamily="49" charset="0"/>
              </a:rPr>
              <a:t>b8 00 00 00 00</a:t>
            </a:r>
            <a:r>
              <a:rPr lang="ro-RO" sz="1400" dirty="0">
                <a:latin typeface="Consolas" panose="020B0609020204030204" pitchFamily="49" charset="0"/>
              </a:rPr>
              <a:t>  </a:t>
            </a:r>
            <a:r>
              <a:rPr lang="en-US" sz="1400" dirty="0">
                <a:latin typeface="Consolas" panose="020B0609020204030204" pitchFamily="49" charset="0"/>
              </a:rPr>
              <a:t>mov</a:t>
            </a:r>
            <a:r>
              <a:rPr lang="ro-RO" sz="1400" dirty="0">
                <a:latin typeface="Consolas" panose="020B0609020204030204" pitchFamily="49" charset="0"/>
              </a:rPr>
              <a:t>   $0x</a:t>
            </a:r>
            <a:r>
              <a:rPr lang="en-US" sz="1400" dirty="0">
                <a:latin typeface="Consolas" panose="020B0609020204030204" pitchFamily="49" charset="0"/>
              </a:rPr>
              <a:t>0</a:t>
            </a:r>
            <a:r>
              <a:rPr lang="ro-RO" sz="1400" dirty="0">
                <a:latin typeface="Consolas" panose="020B0609020204030204" pitchFamily="49" charset="0"/>
              </a:rPr>
              <a:t>,%</a:t>
            </a:r>
            <a:r>
              <a:rPr lang="en-US" sz="1400" dirty="0" err="1">
                <a:latin typeface="Consolas" panose="020B0609020204030204" pitchFamily="49" charset="0"/>
              </a:rPr>
              <a:t>eax</a:t>
            </a:r>
            <a:endParaRPr lang="ro-RO" sz="1400" dirty="0">
              <a:latin typeface="Consolas" panose="020B0609020204030204" pitchFamily="49" charset="0"/>
            </a:endParaRPr>
          </a:p>
          <a:p>
            <a:r>
              <a:rPr lang="en-US" sz="1400" dirty="0">
                <a:latin typeface="Consolas" panose="020B0609020204030204" pitchFamily="49" charset="0"/>
              </a:rPr>
              <a:t>             </a:t>
            </a:r>
            <a:r>
              <a:rPr lang="en-US" sz="1400" dirty="0">
                <a:solidFill>
                  <a:srgbClr val="3366FF"/>
                </a:solidFill>
                <a:latin typeface="Consolas" panose="020B0609020204030204" pitchFamily="49" charset="0"/>
              </a:rPr>
              <a:t>607</a:t>
            </a:r>
            <a:r>
              <a:rPr lang="en-US" sz="1400" dirty="0">
                <a:latin typeface="Consolas" panose="020B0609020204030204" pitchFamily="49" charset="0"/>
              </a:rPr>
              <a:t>: </a:t>
            </a:r>
            <a:r>
              <a:rPr lang="en-US" sz="1400" dirty="0">
                <a:solidFill>
                  <a:srgbClr val="3F9335"/>
                </a:solidFill>
                <a:latin typeface="Consolas" panose="020B0609020204030204" pitchFamily="49" charset="0"/>
              </a:rPr>
              <a:t>e8 </a:t>
            </a:r>
            <a:r>
              <a:rPr lang="en-US" sz="1400" dirty="0" err="1">
                <a:solidFill>
                  <a:srgbClr val="3F9335"/>
                </a:solidFill>
                <a:latin typeface="Consolas" panose="020B0609020204030204" pitchFamily="49" charset="0"/>
              </a:rPr>
              <a:t>ee</a:t>
            </a:r>
            <a:r>
              <a:rPr lang="en-US" sz="1400" dirty="0">
                <a:solidFill>
                  <a:srgbClr val="3F9335"/>
                </a:solidFill>
                <a:latin typeface="Consolas" panose="020B0609020204030204" pitchFamily="49" charset="0"/>
              </a:rPr>
              <a:t> ff </a:t>
            </a:r>
            <a:r>
              <a:rPr lang="en-US" sz="1400" dirty="0" err="1">
                <a:solidFill>
                  <a:srgbClr val="3F9335"/>
                </a:solidFill>
                <a:latin typeface="Consolas" panose="020B0609020204030204" pitchFamily="49" charset="0"/>
              </a:rPr>
              <a:t>ff</a:t>
            </a:r>
            <a:r>
              <a:rPr lang="en-US" sz="1400" dirty="0">
                <a:solidFill>
                  <a:srgbClr val="3F9335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 err="1">
                <a:solidFill>
                  <a:srgbClr val="3F9335"/>
                </a:solidFill>
                <a:latin typeface="Consolas" panose="020B0609020204030204" pitchFamily="49" charset="0"/>
              </a:rPr>
              <a:t>ff</a:t>
            </a:r>
            <a:r>
              <a:rPr lang="en-US" sz="1400" dirty="0">
                <a:latin typeface="Consolas" panose="020B0609020204030204" pitchFamily="49" charset="0"/>
              </a:rPr>
              <a:t>  </a:t>
            </a:r>
            <a:r>
              <a:rPr lang="en-US" sz="1400" dirty="0" err="1">
                <a:latin typeface="Consolas" panose="020B0609020204030204" pitchFamily="49" charset="0"/>
              </a:rPr>
              <a:t>callq</a:t>
            </a:r>
            <a:r>
              <a:rPr lang="en-US" sz="1400" dirty="0">
                <a:latin typeface="Consolas" panose="020B0609020204030204" pitchFamily="49" charset="0"/>
              </a:rPr>
              <a:t> 5fa &lt;</a:t>
            </a:r>
            <a:r>
              <a:rPr lang="en-US" sz="1400" dirty="0" err="1">
                <a:latin typeface="Consolas" panose="020B0609020204030204" pitchFamily="49" charset="0"/>
              </a:rPr>
              <a:t>inc</a:t>
            </a:r>
            <a:r>
              <a:rPr lang="en-US" sz="1400" dirty="0">
                <a:latin typeface="Consolas" panose="020B0609020204030204" pitchFamily="49" charset="0"/>
              </a:rPr>
              <a:t>&gt;</a:t>
            </a:r>
          </a:p>
          <a:p>
            <a:r>
              <a:rPr lang="sk-SK" sz="1400" dirty="0">
                <a:latin typeface="Consolas" panose="020B0609020204030204" pitchFamily="49" charset="0"/>
              </a:rPr>
              <a:t>             </a:t>
            </a:r>
            <a:r>
              <a:rPr lang="en-US" sz="1400" dirty="0">
                <a:solidFill>
                  <a:srgbClr val="3366FF"/>
                </a:solidFill>
                <a:latin typeface="Consolas" panose="020B0609020204030204" pitchFamily="49" charset="0"/>
              </a:rPr>
              <a:t>60c</a:t>
            </a:r>
            <a:r>
              <a:rPr lang="sk-SK" sz="1400" dirty="0">
                <a:latin typeface="Consolas" panose="020B0609020204030204" pitchFamily="49" charset="0"/>
              </a:rPr>
              <a:t>: </a:t>
            </a:r>
            <a:r>
              <a:rPr lang="sk-SK" sz="1400" dirty="0">
                <a:solidFill>
                  <a:srgbClr val="3F9335"/>
                </a:solidFill>
                <a:latin typeface="Consolas" panose="020B0609020204030204" pitchFamily="49" charset="0"/>
              </a:rPr>
              <a:t>b</a:t>
            </a:r>
            <a:r>
              <a:rPr lang="en-US" sz="1400" dirty="0">
                <a:solidFill>
                  <a:srgbClr val="3F9335"/>
                </a:solidFill>
                <a:latin typeface="Consolas" panose="020B0609020204030204" pitchFamily="49" charset="0"/>
              </a:rPr>
              <a:t>8</a:t>
            </a:r>
            <a:r>
              <a:rPr lang="sk-SK" sz="1400" dirty="0">
                <a:solidFill>
                  <a:srgbClr val="3F9335"/>
                </a:solidFill>
                <a:latin typeface="Consolas" panose="020B0609020204030204" pitchFamily="49" charset="0"/>
              </a:rPr>
              <a:t>  00 00 00 00</a:t>
            </a:r>
            <a:r>
              <a:rPr lang="sk-SK" sz="1400" dirty="0">
                <a:latin typeface="Consolas" panose="020B0609020204030204" pitchFamily="49" charset="0"/>
              </a:rPr>
              <a:t> mov   $0x0,%e</a:t>
            </a:r>
            <a:r>
              <a:rPr lang="en-US" sz="1400" dirty="0">
                <a:latin typeface="Consolas" panose="020B0609020204030204" pitchFamily="49" charset="0"/>
              </a:rPr>
              <a:t>ax</a:t>
            </a:r>
            <a:endParaRPr lang="sk-SK" sz="1400" dirty="0">
              <a:latin typeface="Consolas" panose="020B0609020204030204" pitchFamily="49" charset="0"/>
            </a:endParaRPr>
          </a:p>
          <a:p>
            <a:r>
              <a:rPr lang="en-US" sz="1400" dirty="0">
                <a:latin typeface="Consolas" panose="020B0609020204030204" pitchFamily="49" charset="0"/>
              </a:rPr>
              <a:t>             </a:t>
            </a:r>
            <a:r>
              <a:rPr lang="en-US" sz="1400" dirty="0">
                <a:solidFill>
                  <a:srgbClr val="3366FF"/>
                </a:solidFill>
                <a:latin typeface="Consolas" panose="020B0609020204030204" pitchFamily="49" charset="0"/>
              </a:rPr>
              <a:t>611</a:t>
            </a:r>
            <a:r>
              <a:rPr lang="en-US" sz="1400" dirty="0">
                <a:latin typeface="Consolas" panose="020B0609020204030204" pitchFamily="49" charset="0"/>
              </a:rPr>
              <a:t>: </a:t>
            </a:r>
            <a:r>
              <a:rPr lang="en-US" sz="1400" dirty="0">
                <a:solidFill>
                  <a:srgbClr val="3F9335"/>
                </a:solidFill>
                <a:latin typeface="Consolas" panose="020B0609020204030204" pitchFamily="49" charset="0"/>
              </a:rPr>
              <a:t>c3              </a:t>
            </a:r>
            <a:r>
              <a:rPr lang="en-US" sz="1400" dirty="0" err="1">
                <a:latin typeface="Consolas" panose="020B0609020204030204" pitchFamily="49" charset="0"/>
              </a:rPr>
              <a:t>retq</a:t>
            </a:r>
            <a:endParaRPr lang="en-US" sz="1400" dirty="0">
              <a:latin typeface="Consolas" panose="020B0609020204030204" pitchFamily="49" charset="0"/>
            </a:endParaRPr>
          </a:p>
        </p:txBody>
      </p:sp>
      <p:sp>
        <p:nvSpPr>
          <p:cNvPr id="6" name="矩形 5"/>
          <p:cNvSpPr/>
          <p:nvPr/>
        </p:nvSpPr>
        <p:spPr>
          <a:xfrm>
            <a:off x="1288575" y="2441160"/>
            <a:ext cx="2090383" cy="584775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r>
              <a:rPr lang="en-US" altLang="zh-CN" sz="1600" dirty="0" err="1">
                <a:latin typeface="Consolas"/>
                <a:cs typeface="Consolas"/>
              </a:rPr>
              <a:t>gcc</a:t>
            </a:r>
            <a:r>
              <a:rPr lang="en-US" altLang="zh-CN" sz="1600" dirty="0">
                <a:latin typeface="Consolas"/>
                <a:cs typeface="Consolas"/>
              </a:rPr>
              <a:t> –</a:t>
            </a:r>
            <a:r>
              <a:rPr lang="en-US" altLang="zh-CN" sz="1600" dirty="0" err="1">
                <a:latin typeface="Consolas"/>
                <a:cs typeface="Consolas"/>
              </a:rPr>
              <a:t>Og</a:t>
            </a:r>
            <a:r>
              <a:rPr lang="en-US" altLang="zh-CN" sz="1600" dirty="0">
                <a:latin typeface="Consolas"/>
                <a:cs typeface="Consolas"/>
              </a:rPr>
              <a:t> </a:t>
            </a:r>
            <a:r>
              <a:rPr lang="en-US" altLang="zh-CN" sz="1600" dirty="0" err="1">
                <a:latin typeface="Consolas"/>
                <a:cs typeface="Consolas"/>
              </a:rPr>
              <a:t>test.c</a:t>
            </a:r>
            <a:r>
              <a:rPr lang="en-US" altLang="zh-CN" sz="1600" dirty="0">
                <a:latin typeface="Consolas"/>
                <a:cs typeface="Consolas"/>
              </a:rPr>
              <a:t> </a:t>
            </a:r>
          </a:p>
          <a:p>
            <a:r>
              <a:rPr lang="en-US" altLang="zh-CN" sz="1600" dirty="0" err="1">
                <a:latin typeface="Consolas"/>
                <a:cs typeface="Consolas"/>
              </a:rPr>
              <a:t>objdump</a:t>
            </a:r>
            <a:r>
              <a:rPr lang="en-US" altLang="zh-CN" sz="1600" dirty="0">
                <a:latin typeface="Consolas"/>
                <a:cs typeface="Consolas"/>
              </a:rPr>
              <a:t> –d </a:t>
            </a:r>
            <a:r>
              <a:rPr lang="en-US" altLang="zh-CN" sz="1600" dirty="0" err="1">
                <a:latin typeface="Consolas"/>
                <a:cs typeface="Consolas"/>
              </a:rPr>
              <a:t>a.out</a:t>
            </a:r>
            <a:endParaRPr lang="mr-IN" altLang="zh-CN" sz="1600" dirty="0">
              <a:latin typeface="Consolas"/>
              <a:cs typeface="Consolas"/>
            </a:endParaRPr>
          </a:p>
        </p:txBody>
      </p:sp>
      <p:sp>
        <p:nvSpPr>
          <p:cNvPr id="10" name="矩形 4"/>
          <p:cNvSpPr/>
          <p:nvPr/>
        </p:nvSpPr>
        <p:spPr>
          <a:xfrm>
            <a:off x="2381535" y="3461428"/>
            <a:ext cx="7740555" cy="73866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nb-NO" sz="1400" dirty="0">
                <a:solidFill>
                  <a:srgbClr val="3366FF"/>
                </a:solidFill>
                <a:latin typeface="Consolas" panose="020B0609020204030204" pitchFamily="49" charset="0"/>
              </a:rPr>
              <a:t>00000000000005fa</a:t>
            </a:r>
            <a:r>
              <a:rPr lang="nb-NO" sz="1400" dirty="0">
                <a:latin typeface="Consolas" panose="020B0609020204030204" pitchFamily="49" charset="0"/>
              </a:rPr>
              <a:t> &lt;inc&gt;:</a:t>
            </a:r>
          </a:p>
          <a:p>
            <a:r>
              <a:rPr lang="ro-RO" sz="1400" dirty="0">
                <a:latin typeface="Consolas" panose="020B0609020204030204" pitchFamily="49" charset="0"/>
              </a:rPr>
              <a:t>             </a:t>
            </a:r>
            <a:r>
              <a:rPr lang="ro-RO" sz="1400" dirty="0">
                <a:solidFill>
                  <a:srgbClr val="3366FF"/>
                </a:solidFill>
                <a:latin typeface="Consolas" panose="020B0609020204030204" pitchFamily="49" charset="0"/>
              </a:rPr>
              <a:t>5</a:t>
            </a:r>
            <a:r>
              <a:rPr lang="en-US" sz="1400" dirty="0">
                <a:solidFill>
                  <a:srgbClr val="3366FF"/>
                </a:solidFill>
                <a:latin typeface="Consolas" panose="020B0609020204030204" pitchFamily="49" charset="0"/>
              </a:rPr>
              <a:t>fa</a:t>
            </a:r>
            <a:r>
              <a:rPr lang="ro-RO" sz="1400" dirty="0">
                <a:latin typeface="Consolas" panose="020B0609020204030204" pitchFamily="49" charset="0"/>
              </a:rPr>
              <a:t>:</a:t>
            </a:r>
            <a:r>
              <a:rPr lang="en-US" sz="1400" dirty="0">
                <a:latin typeface="Consolas" panose="020B0609020204030204" pitchFamily="49" charset="0"/>
              </a:rPr>
              <a:t> </a:t>
            </a:r>
            <a:r>
              <a:rPr lang="ro-RO" sz="1400" dirty="0">
                <a:solidFill>
                  <a:srgbClr val="3F9335"/>
                </a:solidFill>
                <a:latin typeface="Consolas" panose="020B0609020204030204" pitchFamily="49" charset="0"/>
              </a:rPr>
              <a:t>8</a:t>
            </a:r>
            <a:r>
              <a:rPr lang="en-US" sz="1400" dirty="0">
                <a:solidFill>
                  <a:srgbClr val="3F9335"/>
                </a:solidFill>
                <a:latin typeface="Consolas" panose="020B0609020204030204" pitchFamily="49" charset="0"/>
              </a:rPr>
              <a:t>3</a:t>
            </a:r>
            <a:r>
              <a:rPr lang="ro-RO" sz="1400" dirty="0">
                <a:solidFill>
                  <a:srgbClr val="3F9335"/>
                </a:solidFill>
                <a:latin typeface="Consolas" panose="020B0609020204030204" pitchFamily="49" charset="0"/>
              </a:rPr>
              <a:t> 0</a:t>
            </a:r>
            <a:r>
              <a:rPr lang="en-US" sz="1400" dirty="0">
                <a:solidFill>
                  <a:srgbClr val="3F9335"/>
                </a:solidFill>
                <a:latin typeface="Consolas" panose="020B0609020204030204" pitchFamily="49" charset="0"/>
              </a:rPr>
              <a:t>5</a:t>
            </a:r>
            <a:r>
              <a:rPr lang="ro-RO" sz="1400" dirty="0">
                <a:solidFill>
                  <a:srgbClr val="3F9335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3F9335"/>
                </a:solidFill>
                <a:latin typeface="Consolas" panose="020B0609020204030204" pitchFamily="49" charset="0"/>
              </a:rPr>
              <a:t>1</a:t>
            </a:r>
            <a:r>
              <a:rPr lang="ro-RO" sz="1400" dirty="0">
                <a:solidFill>
                  <a:srgbClr val="3F9335"/>
                </a:solidFill>
                <a:latin typeface="Consolas" panose="020B0609020204030204" pitchFamily="49" charset="0"/>
              </a:rPr>
              <a:t>3</a:t>
            </a:r>
            <a:r>
              <a:rPr lang="en-US" sz="1400" dirty="0">
                <a:solidFill>
                  <a:srgbClr val="3F9335"/>
                </a:solidFill>
                <a:latin typeface="Consolas" panose="020B0609020204030204" pitchFamily="49" charset="0"/>
              </a:rPr>
              <a:t> 0a 20 00 01</a:t>
            </a:r>
            <a:r>
              <a:rPr lang="ro-RO" sz="1400" dirty="0">
                <a:latin typeface="Consolas" panose="020B0609020204030204" pitchFamily="49" charset="0"/>
              </a:rPr>
              <a:t>  </a:t>
            </a:r>
            <a:r>
              <a:rPr lang="en-US" sz="1400" dirty="0" err="1">
                <a:latin typeface="Consolas" panose="020B0609020204030204" pitchFamily="49" charset="0"/>
              </a:rPr>
              <a:t>addl</a:t>
            </a:r>
            <a:r>
              <a:rPr lang="ro-RO" sz="1400" dirty="0">
                <a:latin typeface="Consolas" panose="020B0609020204030204" pitchFamily="49" charset="0"/>
              </a:rPr>
              <a:t>   </a:t>
            </a:r>
            <a:r>
              <a:rPr lang="en-US" sz="1400" dirty="0">
                <a:latin typeface="Consolas" panose="020B0609020204030204" pitchFamily="49" charset="0"/>
              </a:rPr>
              <a:t>$0x1, 0x200a13(%rip)</a:t>
            </a:r>
            <a:endParaRPr lang="ro-RO" sz="1400" dirty="0">
              <a:latin typeface="Consolas" panose="020B0609020204030204" pitchFamily="49" charset="0"/>
            </a:endParaRPr>
          </a:p>
          <a:p>
            <a:r>
              <a:rPr lang="ro-RO" sz="1400" dirty="0">
                <a:latin typeface="Consolas" panose="020B0609020204030204" pitchFamily="49" charset="0"/>
              </a:rPr>
              <a:t>             </a:t>
            </a:r>
            <a:r>
              <a:rPr lang="en-US" sz="1400" dirty="0">
                <a:solidFill>
                  <a:srgbClr val="3366FF"/>
                </a:solidFill>
                <a:latin typeface="Consolas" panose="020B0609020204030204" pitchFamily="49" charset="0"/>
              </a:rPr>
              <a:t>601</a:t>
            </a:r>
            <a:r>
              <a:rPr lang="ro-RO" sz="1400" dirty="0">
                <a:latin typeface="Consolas" panose="020B0609020204030204" pitchFamily="49" charset="0"/>
              </a:rPr>
              <a:t>: </a:t>
            </a:r>
            <a:r>
              <a:rPr lang="ro-RO" sz="1400" dirty="0">
                <a:solidFill>
                  <a:srgbClr val="3F9335"/>
                </a:solidFill>
                <a:latin typeface="Consolas" panose="020B0609020204030204" pitchFamily="49" charset="0"/>
              </a:rPr>
              <a:t>c3</a:t>
            </a:r>
            <a:r>
              <a:rPr lang="ro-RO" sz="1400" dirty="0">
                <a:latin typeface="Consolas" panose="020B0609020204030204" pitchFamily="49" charset="0"/>
              </a:rPr>
              <a:t>                    retq</a:t>
            </a:r>
          </a:p>
        </p:txBody>
      </p:sp>
      <p:sp>
        <p:nvSpPr>
          <p:cNvPr id="8" name="矩形 3">
            <a:extLst>
              <a:ext uri="{FF2B5EF4-FFF2-40B4-BE49-F238E27FC236}">
                <a16:creationId xmlns:a16="http://schemas.microsoft.com/office/drawing/2014/main" id="{9CD12B16-49AD-496D-B4EC-FAF2C8C3629B}"/>
              </a:ext>
            </a:extLst>
          </p:cNvPr>
          <p:cNvSpPr/>
          <p:nvPr/>
        </p:nvSpPr>
        <p:spPr>
          <a:xfrm>
            <a:off x="147850" y="3407668"/>
            <a:ext cx="1624083" cy="2031325"/>
          </a:xfrm>
          <a:prstGeom prst="rect">
            <a:avLst/>
          </a:prstGeom>
          <a:solidFill>
            <a:schemeClr val="bg2"/>
          </a:solidFill>
        </p:spPr>
        <p:txBody>
          <a:bodyPr wrap="square">
            <a:spAutoFit/>
          </a:bodyPr>
          <a:lstStyle/>
          <a:p>
            <a:r>
              <a:rPr lang="en-US" altLang="zh-CN" sz="1400" dirty="0">
                <a:latin typeface="Consolas"/>
                <a:cs typeface="Consolas"/>
              </a:rPr>
              <a:t>int count = 0;</a:t>
            </a:r>
          </a:p>
          <a:p>
            <a:endParaRPr lang="en-US" altLang="zh-CN" sz="1400" dirty="0">
              <a:latin typeface="Consolas"/>
              <a:cs typeface="Consolas"/>
            </a:endParaRPr>
          </a:p>
          <a:p>
            <a:r>
              <a:rPr lang="en-US" altLang="zh-CN" sz="1400" dirty="0">
                <a:latin typeface="Consolas"/>
                <a:cs typeface="Consolas"/>
              </a:rPr>
              <a:t>void </a:t>
            </a:r>
            <a:r>
              <a:rPr lang="en-US" altLang="zh-CN" sz="1400" dirty="0" err="1">
                <a:latin typeface="Consolas"/>
                <a:cs typeface="Consolas"/>
              </a:rPr>
              <a:t>inc</a:t>
            </a:r>
            <a:r>
              <a:rPr lang="en-US" altLang="zh-CN" sz="1400" dirty="0">
                <a:latin typeface="Consolas"/>
                <a:cs typeface="Consolas"/>
              </a:rPr>
              <a:t>() {</a:t>
            </a:r>
          </a:p>
          <a:p>
            <a:r>
              <a:rPr lang="mr-IN" altLang="zh-CN" sz="1400" dirty="0">
                <a:latin typeface="Consolas"/>
                <a:cs typeface="Consolas"/>
              </a:rPr>
              <a:t>  </a:t>
            </a:r>
            <a:r>
              <a:rPr lang="en-US" altLang="zh-CN" sz="1400" dirty="0">
                <a:latin typeface="Consolas"/>
                <a:cs typeface="Consolas"/>
              </a:rPr>
              <a:t>count++;</a:t>
            </a:r>
          </a:p>
          <a:p>
            <a:r>
              <a:rPr lang="en-US" altLang="zh-CN" sz="1400" dirty="0">
                <a:latin typeface="Consolas"/>
                <a:cs typeface="Consolas"/>
              </a:rPr>
              <a:t>}</a:t>
            </a:r>
          </a:p>
          <a:p>
            <a:endParaRPr lang="en-US" altLang="zh-CN" sz="1400" dirty="0">
              <a:latin typeface="Consolas"/>
              <a:cs typeface="Consolas"/>
            </a:endParaRPr>
          </a:p>
          <a:p>
            <a:r>
              <a:rPr lang="en-US" altLang="zh-CN" sz="1400" dirty="0">
                <a:latin typeface="Consolas"/>
                <a:cs typeface="Consolas"/>
              </a:rPr>
              <a:t>int main() {</a:t>
            </a:r>
          </a:p>
          <a:p>
            <a:r>
              <a:rPr lang="en-US" altLang="zh-CN" sz="1400" dirty="0">
                <a:latin typeface="Consolas"/>
                <a:cs typeface="Consolas"/>
              </a:rPr>
              <a:t>    </a:t>
            </a:r>
            <a:r>
              <a:rPr lang="en-US" altLang="zh-CN" sz="1400" dirty="0" err="1">
                <a:latin typeface="Consolas"/>
                <a:cs typeface="Consolas"/>
              </a:rPr>
              <a:t>inc</a:t>
            </a:r>
            <a:r>
              <a:rPr lang="en-US" altLang="zh-CN" sz="1400" dirty="0">
                <a:latin typeface="Consolas"/>
                <a:cs typeface="Consolas"/>
              </a:rPr>
              <a:t>();</a:t>
            </a:r>
            <a:endParaRPr lang="mr-IN" altLang="zh-CN" sz="1400" dirty="0">
              <a:latin typeface="Consolas"/>
              <a:cs typeface="Consolas"/>
            </a:endParaRPr>
          </a:p>
          <a:p>
            <a:r>
              <a:rPr lang="mr-IN" altLang="zh-CN" sz="1400" dirty="0">
                <a:latin typeface="Consolas"/>
                <a:cs typeface="Consolas"/>
              </a:rPr>
              <a:t>}</a:t>
            </a:r>
            <a:endParaRPr lang="en-US" altLang="zh-CN" sz="1400" dirty="0">
              <a:latin typeface="Consolas"/>
              <a:cs typeface="Consolas"/>
            </a:endParaRPr>
          </a:p>
        </p:txBody>
      </p:sp>
      <p:sp>
        <p:nvSpPr>
          <p:cNvPr id="15" name="Arrow: Right 14">
            <a:extLst>
              <a:ext uri="{FF2B5EF4-FFF2-40B4-BE49-F238E27FC236}">
                <a16:creationId xmlns:a16="http://schemas.microsoft.com/office/drawing/2014/main" id="{9BC64B2F-A610-4A98-AF06-A63ECE1EB50B}"/>
              </a:ext>
            </a:extLst>
          </p:cNvPr>
          <p:cNvSpPr/>
          <p:nvPr/>
        </p:nvSpPr>
        <p:spPr>
          <a:xfrm>
            <a:off x="1819701" y="3364311"/>
            <a:ext cx="514066" cy="573206"/>
          </a:xfrm>
          <a:prstGeom prst="rightArrow">
            <a:avLst/>
          </a:prstGeom>
          <a:solidFill>
            <a:srgbClr val="00B0F0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496237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/>
          <p:cNvSpPr/>
          <p:nvPr/>
        </p:nvSpPr>
        <p:spPr>
          <a:xfrm>
            <a:off x="5770729" y="420774"/>
            <a:ext cx="2617701" cy="6087558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 w="381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kumimoji="1" lang="zh-CN" altLang="en-US" dirty="0">
              <a:solidFill>
                <a:schemeClr val="tx1"/>
              </a:solidFill>
              <a:latin typeface="Verdana"/>
              <a:cs typeface="Verdana"/>
            </a:endParaRPr>
          </a:p>
        </p:txBody>
      </p:sp>
      <p:sp>
        <p:nvSpPr>
          <p:cNvPr id="6" name="矩形 5"/>
          <p:cNvSpPr/>
          <p:nvPr/>
        </p:nvSpPr>
        <p:spPr>
          <a:xfrm>
            <a:off x="1859596" y="6151633"/>
            <a:ext cx="1219980" cy="400110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kumimoji="1" lang="en-US" altLang="zh-CN" sz="2000" dirty="0">
                <a:latin typeface="Verdana"/>
                <a:cs typeface="Verdana"/>
              </a:rPr>
              <a:t>Memory</a:t>
            </a:r>
            <a:endParaRPr lang="zh-CN" altLang="en-US" sz="2000" dirty="0"/>
          </a:p>
        </p:txBody>
      </p:sp>
      <p:sp>
        <p:nvSpPr>
          <p:cNvPr id="27" name="矩形 26"/>
          <p:cNvSpPr/>
          <p:nvPr/>
        </p:nvSpPr>
        <p:spPr>
          <a:xfrm>
            <a:off x="6707135" y="402971"/>
            <a:ext cx="65399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 dirty="0">
                <a:latin typeface="Verdana"/>
                <a:cs typeface="Verdana"/>
              </a:rPr>
              <a:t>CPU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28" name="圆角矩形 27"/>
          <p:cNvSpPr/>
          <p:nvPr/>
        </p:nvSpPr>
        <p:spPr>
          <a:xfrm>
            <a:off x="6707135" y="829513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s-IS" altLang="zh-CN" sz="1400" dirty="0">
                <a:solidFill>
                  <a:srgbClr val="000000"/>
                </a:solidFill>
                <a:latin typeface="Arial"/>
                <a:cs typeface="Arial"/>
              </a:rPr>
              <a:t>0x00..555554602</a:t>
            </a:r>
          </a:p>
        </p:txBody>
      </p:sp>
      <p:sp>
        <p:nvSpPr>
          <p:cNvPr id="29" name="矩形 28"/>
          <p:cNvSpPr/>
          <p:nvPr/>
        </p:nvSpPr>
        <p:spPr>
          <a:xfrm>
            <a:off x="5973834" y="849437"/>
            <a:ext cx="68640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 dirty="0">
                <a:latin typeface="Verdana"/>
                <a:cs typeface="Verdana"/>
              </a:rPr>
              <a:t>RIP: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33" name="矩形 32"/>
          <p:cNvSpPr/>
          <p:nvPr/>
        </p:nvSpPr>
        <p:spPr>
          <a:xfrm>
            <a:off x="6007264" y="1716244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RAX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34" name="圆角矩形 33"/>
          <p:cNvSpPr/>
          <p:nvPr/>
        </p:nvSpPr>
        <p:spPr>
          <a:xfrm>
            <a:off x="6707134" y="1726615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is-IS" altLang="zh-CN" dirty="0">
              <a:solidFill>
                <a:prstClr val="black"/>
              </a:solidFill>
              <a:latin typeface="Consolas" panose="020B0609020204030204" pitchFamily="49" charset="0"/>
              <a:cs typeface="Arial"/>
              <a:sym typeface="Courier New Bold" charset="0"/>
            </a:endParaRPr>
          </a:p>
        </p:txBody>
      </p:sp>
      <p:sp>
        <p:nvSpPr>
          <p:cNvPr id="35" name="圆角矩形 34"/>
          <p:cNvSpPr/>
          <p:nvPr/>
        </p:nvSpPr>
        <p:spPr>
          <a:xfrm>
            <a:off x="6732381" y="2156558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6" name="圆角矩形 35"/>
          <p:cNvSpPr/>
          <p:nvPr/>
        </p:nvSpPr>
        <p:spPr>
          <a:xfrm>
            <a:off x="6732381" y="2585832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 dirty="0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37" name="圆角矩形 36"/>
          <p:cNvSpPr/>
          <p:nvPr/>
        </p:nvSpPr>
        <p:spPr>
          <a:xfrm>
            <a:off x="6727649" y="3016507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 dirty="0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38" name="圆角矩形 37"/>
          <p:cNvSpPr/>
          <p:nvPr/>
        </p:nvSpPr>
        <p:spPr>
          <a:xfrm>
            <a:off x="6728204" y="3454928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9" name="圆角矩形 38"/>
          <p:cNvSpPr/>
          <p:nvPr/>
        </p:nvSpPr>
        <p:spPr>
          <a:xfrm>
            <a:off x="6730569" y="3884871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40" name="圆角矩形 39"/>
          <p:cNvSpPr/>
          <p:nvPr/>
        </p:nvSpPr>
        <p:spPr>
          <a:xfrm>
            <a:off x="6719128" y="4314145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is-IS" altLang="zh-CN" sz="1400" dirty="0">
                <a:solidFill>
                  <a:prstClr val="black"/>
                </a:solidFill>
                <a:latin typeface="Consolas" panose="020B0609020204030204" pitchFamily="49" charset="0"/>
                <a:cs typeface="Arial"/>
                <a:sym typeface="Courier New Bold" charset="0"/>
              </a:rPr>
              <a:t>0x7f…000000090</a:t>
            </a:r>
          </a:p>
        </p:txBody>
      </p:sp>
      <p:sp>
        <p:nvSpPr>
          <p:cNvPr id="41" name="圆角矩形 40"/>
          <p:cNvSpPr/>
          <p:nvPr/>
        </p:nvSpPr>
        <p:spPr>
          <a:xfrm>
            <a:off x="6725837" y="4744820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 dirty="0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42" name="矩形 41"/>
          <p:cNvSpPr/>
          <p:nvPr/>
        </p:nvSpPr>
        <p:spPr>
          <a:xfrm>
            <a:off x="7071077" y="6098041"/>
            <a:ext cx="441146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mr-IN" altLang="zh-CN" sz="2000" b="1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sz="2000" b="1" dirty="0"/>
          </a:p>
        </p:txBody>
      </p:sp>
      <p:sp>
        <p:nvSpPr>
          <p:cNvPr id="43" name="矩形 42"/>
          <p:cNvSpPr/>
          <p:nvPr/>
        </p:nvSpPr>
        <p:spPr>
          <a:xfrm>
            <a:off x="6004115" y="2168000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RBX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44" name="矩形 43"/>
          <p:cNvSpPr/>
          <p:nvPr/>
        </p:nvSpPr>
        <p:spPr>
          <a:xfrm>
            <a:off x="5989455" y="2585832"/>
            <a:ext cx="77685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RCX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45" name="矩形 44"/>
          <p:cNvSpPr/>
          <p:nvPr/>
        </p:nvSpPr>
        <p:spPr>
          <a:xfrm>
            <a:off x="5993122" y="3024282"/>
            <a:ext cx="77685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RDX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46" name="矩形 45"/>
          <p:cNvSpPr/>
          <p:nvPr/>
        </p:nvSpPr>
        <p:spPr>
          <a:xfrm>
            <a:off x="5990867" y="3451290"/>
            <a:ext cx="67428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RSI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47" name="矩形 46"/>
          <p:cNvSpPr/>
          <p:nvPr/>
        </p:nvSpPr>
        <p:spPr>
          <a:xfrm>
            <a:off x="5986305" y="3882159"/>
            <a:ext cx="68702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RDI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48" name="矩形 47"/>
          <p:cNvSpPr/>
          <p:nvPr/>
        </p:nvSpPr>
        <p:spPr>
          <a:xfrm>
            <a:off x="5985749" y="4320609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RSP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49" name="矩形 48"/>
          <p:cNvSpPr/>
          <p:nvPr/>
        </p:nvSpPr>
        <p:spPr>
          <a:xfrm>
            <a:off x="5983157" y="4718557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RBP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56" name="矩形 55"/>
          <p:cNvSpPr/>
          <p:nvPr/>
        </p:nvSpPr>
        <p:spPr>
          <a:xfrm>
            <a:off x="3955484" y="461934"/>
            <a:ext cx="732893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kumimoji="1" lang="en-US" altLang="zh-CN" sz="1400" b="1" dirty="0">
                <a:latin typeface="Verdana"/>
                <a:cs typeface="Verdana"/>
              </a:rPr>
              <a:t>%</a:t>
            </a:r>
            <a:r>
              <a:rPr kumimoji="1" lang="en-US" altLang="zh-CN" sz="1400" b="1" dirty="0" err="1">
                <a:latin typeface="Verdana"/>
                <a:cs typeface="Verdana"/>
              </a:rPr>
              <a:t>rsp</a:t>
            </a:r>
            <a:endParaRPr lang="zh-CN" altLang="en-US" sz="1400" b="1" dirty="0"/>
          </a:p>
        </p:txBody>
      </p:sp>
      <p:sp>
        <p:nvSpPr>
          <p:cNvPr id="57" name="矩形 56"/>
          <p:cNvSpPr/>
          <p:nvPr/>
        </p:nvSpPr>
        <p:spPr>
          <a:xfrm>
            <a:off x="6194819" y="5220252"/>
            <a:ext cx="57149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ZF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58" name="圆角矩形 57"/>
          <p:cNvSpPr/>
          <p:nvPr/>
        </p:nvSpPr>
        <p:spPr>
          <a:xfrm>
            <a:off x="6748122" y="5211806"/>
            <a:ext cx="439253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  <a:sym typeface="Courier New Bold" charset="0"/>
              </a:rPr>
              <a:t>0</a:t>
            </a:r>
          </a:p>
        </p:txBody>
      </p:sp>
      <p:sp>
        <p:nvSpPr>
          <p:cNvPr id="62" name="矩形 61"/>
          <p:cNvSpPr/>
          <p:nvPr/>
        </p:nvSpPr>
        <p:spPr>
          <a:xfrm>
            <a:off x="7298019" y="5198018"/>
            <a:ext cx="58445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SF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64" name="圆角矩形 63"/>
          <p:cNvSpPr/>
          <p:nvPr/>
        </p:nvSpPr>
        <p:spPr>
          <a:xfrm>
            <a:off x="7857802" y="5189572"/>
            <a:ext cx="439253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  <a:sym typeface="Courier New Bold" charset="0"/>
              </a:rPr>
              <a:t>0</a:t>
            </a:r>
          </a:p>
        </p:txBody>
      </p:sp>
      <p:sp>
        <p:nvSpPr>
          <p:cNvPr id="65" name="矩形 64"/>
          <p:cNvSpPr/>
          <p:nvPr/>
        </p:nvSpPr>
        <p:spPr>
          <a:xfrm>
            <a:off x="6177727" y="5675034"/>
            <a:ext cx="59718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CF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77" name="圆角矩形 76"/>
          <p:cNvSpPr/>
          <p:nvPr/>
        </p:nvSpPr>
        <p:spPr>
          <a:xfrm>
            <a:off x="6743879" y="5666588"/>
            <a:ext cx="439253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  <a:sym typeface="Courier New Bold" charset="0"/>
              </a:rPr>
              <a:t>0</a:t>
            </a:r>
          </a:p>
        </p:txBody>
      </p:sp>
      <p:sp>
        <p:nvSpPr>
          <p:cNvPr id="78" name="矩形 77"/>
          <p:cNvSpPr/>
          <p:nvPr/>
        </p:nvSpPr>
        <p:spPr>
          <a:xfrm>
            <a:off x="7280983" y="5652800"/>
            <a:ext cx="61003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OF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79" name="圆角矩形 78"/>
          <p:cNvSpPr/>
          <p:nvPr/>
        </p:nvSpPr>
        <p:spPr>
          <a:xfrm>
            <a:off x="7853559" y="5644354"/>
            <a:ext cx="439253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  <a:sym typeface="Courier New Bold" charset="0"/>
              </a:rPr>
              <a:t>0</a:t>
            </a:r>
          </a:p>
        </p:txBody>
      </p:sp>
      <p:sp>
        <p:nvSpPr>
          <p:cNvPr id="7" name="矩形 6"/>
          <p:cNvSpPr/>
          <p:nvPr/>
        </p:nvSpPr>
        <p:spPr>
          <a:xfrm>
            <a:off x="1588002" y="819397"/>
            <a:ext cx="1951499" cy="3391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cs-CZ" altLang="zh-CN" sz="1600" dirty="0">
              <a:latin typeface="Consolas"/>
              <a:cs typeface="Consolas"/>
              <a:sym typeface="Courier New Bold" charset="0"/>
            </a:endParaRPr>
          </a:p>
        </p:txBody>
      </p:sp>
      <p:sp>
        <p:nvSpPr>
          <p:cNvPr id="8" name="矩形 7"/>
          <p:cNvSpPr/>
          <p:nvPr/>
        </p:nvSpPr>
        <p:spPr>
          <a:xfrm>
            <a:off x="1588002" y="480233"/>
            <a:ext cx="1951499" cy="33916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US" altLang="zh-CN" sz="1600" dirty="0">
                <a:solidFill>
                  <a:prstClr val="black"/>
                </a:solidFill>
                <a:latin typeface="Consolas"/>
                <a:cs typeface="Consolas"/>
              </a:rPr>
              <a:t>...</a:t>
            </a:r>
          </a:p>
        </p:txBody>
      </p:sp>
      <p:sp>
        <p:nvSpPr>
          <p:cNvPr id="9" name="矩形 8"/>
          <p:cNvSpPr/>
          <p:nvPr/>
        </p:nvSpPr>
        <p:spPr>
          <a:xfrm>
            <a:off x="1588002" y="143470"/>
            <a:ext cx="1951499" cy="33916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tabLst>
                <a:tab pos="514350" algn="l"/>
                <a:tab pos="2801938" algn="l"/>
                <a:tab pos="3086100" algn="l"/>
                <a:tab pos="3086100" algn="l"/>
                <a:tab pos="3086100" algn="l"/>
                <a:tab pos="3086100" algn="l"/>
              </a:tabLst>
            </a:pPr>
            <a:r>
              <a:rPr lang="cs-CZ" altLang="zh-CN" sz="1600" dirty="0">
                <a:latin typeface="Consolas"/>
                <a:cs typeface="Consolas"/>
                <a:sym typeface="Courier New Bold" charset="0"/>
              </a:rPr>
              <a:t>...</a:t>
            </a:r>
          </a:p>
        </p:txBody>
      </p:sp>
      <p:sp>
        <p:nvSpPr>
          <p:cNvPr id="11" name="矩形 10"/>
          <p:cNvSpPr/>
          <p:nvPr/>
        </p:nvSpPr>
        <p:spPr>
          <a:xfrm>
            <a:off x="1588002" y="1158204"/>
            <a:ext cx="1951499" cy="339164"/>
          </a:xfrm>
          <a:prstGeom prst="rect">
            <a:avLst/>
          </a:prstGeom>
          <a:noFill/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zh-CN" altLang="en-US" sz="1600" dirty="0">
              <a:solidFill>
                <a:prstClr val="black"/>
              </a:solidFill>
              <a:latin typeface="Consolas"/>
              <a:cs typeface="Consolas"/>
            </a:endParaRPr>
          </a:p>
        </p:txBody>
      </p:sp>
      <p:sp>
        <p:nvSpPr>
          <p:cNvPr id="12" name="矩形 11"/>
          <p:cNvSpPr/>
          <p:nvPr/>
        </p:nvSpPr>
        <p:spPr>
          <a:xfrm>
            <a:off x="1592372" y="2452102"/>
            <a:ext cx="1951499" cy="3391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3" name="矩形 12"/>
          <p:cNvSpPr/>
          <p:nvPr/>
        </p:nvSpPr>
        <p:spPr>
          <a:xfrm>
            <a:off x="1596741" y="2801658"/>
            <a:ext cx="1951499" cy="3391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0x0</a:t>
            </a:r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4" name="矩形 13"/>
          <p:cNvSpPr/>
          <p:nvPr/>
        </p:nvSpPr>
        <p:spPr>
          <a:xfrm>
            <a:off x="1604322" y="3134126"/>
            <a:ext cx="1951499" cy="339164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5" name="矩形 14"/>
          <p:cNvSpPr/>
          <p:nvPr/>
        </p:nvSpPr>
        <p:spPr>
          <a:xfrm>
            <a:off x="1604322" y="3467966"/>
            <a:ext cx="1951499" cy="339164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mr-IN" altLang="zh-CN" b="1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b="1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6" name="矩形 15"/>
          <p:cNvSpPr/>
          <p:nvPr/>
        </p:nvSpPr>
        <p:spPr>
          <a:xfrm>
            <a:off x="1604322" y="3802650"/>
            <a:ext cx="1951499" cy="339164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1600" dirty="0" err="1">
                <a:solidFill>
                  <a:prstClr val="black"/>
                </a:solidFill>
                <a:latin typeface="Consolas"/>
                <a:cs typeface="Consolas"/>
              </a:rPr>
              <a:t>retq</a:t>
            </a:r>
            <a:endParaRPr lang="zh-CN" altLang="en-US" sz="1600" dirty="0">
              <a:solidFill>
                <a:prstClr val="black"/>
              </a:solidFill>
              <a:latin typeface="Consolas"/>
              <a:cs typeface="Consolas"/>
            </a:endParaRPr>
          </a:p>
        </p:txBody>
      </p:sp>
      <p:sp>
        <p:nvSpPr>
          <p:cNvPr id="25" name="矩形 24"/>
          <p:cNvSpPr/>
          <p:nvPr/>
        </p:nvSpPr>
        <p:spPr>
          <a:xfrm>
            <a:off x="1588002" y="2131475"/>
            <a:ext cx="1951499" cy="319756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24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cxnSp>
        <p:nvCxnSpPr>
          <p:cNvPr id="4" name="直线箭头连接符 3"/>
          <p:cNvCxnSpPr/>
          <p:nvPr/>
        </p:nvCxnSpPr>
        <p:spPr>
          <a:xfrm flipH="1">
            <a:off x="3588517" y="604097"/>
            <a:ext cx="249222" cy="0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59" name="矩形 58"/>
          <p:cNvSpPr/>
          <p:nvPr/>
        </p:nvSpPr>
        <p:spPr>
          <a:xfrm>
            <a:off x="1583191" y="1814000"/>
            <a:ext cx="1951499" cy="319756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24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61" name="矩形 60"/>
          <p:cNvSpPr/>
          <p:nvPr/>
        </p:nvSpPr>
        <p:spPr>
          <a:xfrm>
            <a:off x="1587904" y="1495448"/>
            <a:ext cx="1951499" cy="319756"/>
          </a:xfrm>
          <a:prstGeom prst="rect">
            <a:avLst/>
          </a:prstGeom>
          <a:noFill/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63" name="矩形 62"/>
          <p:cNvSpPr/>
          <p:nvPr/>
        </p:nvSpPr>
        <p:spPr>
          <a:xfrm>
            <a:off x="1606031" y="4141814"/>
            <a:ext cx="1951499" cy="339164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1600" dirty="0">
                <a:solidFill>
                  <a:prstClr val="black"/>
                </a:solidFill>
                <a:latin typeface="Consolas"/>
                <a:cs typeface="Consolas"/>
              </a:rPr>
              <a:t>mov $0x0, %</a:t>
            </a:r>
            <a:r>
              <a:rPr lang="en-US" altLang="zh-CN" sz="1600" dirty="0" err="1">
                <a:solidFill>
                  <a:prstClr val="black"/>
                </a:solidFill>
                <a:latin typeface="Consolas"/>
                <a:cs typeface="Consolas"/>
              </a:rPr>
              <a:t>eax</a:t>
            </a:r>
            <a:endParaRPr lang="zh-CN" altLang="en-US" sz="1600" dirty="0">
              <a:solidFill>
                <a:prstClr val="black"/>
              </a:solidFill>
              <a:latin typeface="Consolas"/>
              <a:cs typeface="Consolas"/>
            </a:endParaRPr>
          </a:p>
        </p:txBody>
      </p:sp>
      <p:sp>
        <p:nvSpPr>
          <p:cNvPr id="80" name="矩形 79"/>
          <p:cNvSpPr/>
          <p:nvPr/>
        </p:nvSpPr>
        <p:spPr>
          <a:xfrm>
            <a:off x="1608920" y="4467641"/>
            <a:ext cx="1951499" cy="339164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1600" dirty="0" err="1">
                <a:solidFill>
                  <a:prstClr val="black"/>
                </a:solidFill>
                <a:latin typeface="Consolas"/>
                <a:cs typeface="Consolas"/>
              </a:rPr>
              <a:t>callq</a:t>
            </a:r>
            <a:r>
              <a:rPr lang="en-US" altLang="zh-CN" sz="1600" dirty="0">
                <a:solidFill>
                  <a:prstClr val="black"/>
                </a:solidFill>
                <a:latin typeface="Consolas"/>
                <a:cs typeface="Consolas"/>
              </a:rPr>
              <a:t> 5fa</a:t>
            </a:r>
            <a:endParaRPr lang="zh-CN" altLang="en-US" sz="1600" dirty="0">
              <a:solidFill>
                <a:prstClr val="black"/>
              </a:solidFill>
              <a:latin typeface="Consolas"/>
              <a:cs typeface="Consolas"/>
            </a:endParaRPr>
          </a:p>
        </p:txBody>
      </p:sp>
      <p:sp>
        <p:nvSpPr>
          <p:cNvPr id="81" name="矩形 80"/>
          <p:cNvSpPr/>
          <p:nvPr/>
        </p:nvSpPr>
        <p:spPr>
          <a:xfrm>
            <a:off x="1606883" y="4807245"/>
            <a:ext cx="1951499" cy="339164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1600" dirty="0">
                <a:solidFill>
                  <a:prstClr val="black"/>
                </a:solidFill>
                <a:latin typeface="Consolas"/>
                <a:cs typeface="Consolas"/>
              </a:rPr>
              <a:t>mov $0x0, %</a:t>
            </a:r>
            <a:r>
              <a:rPr lang="en-US" altLang="zh-CN" sz="1600" dirty="0" err="1">
                <a:solidFill>
                  <a:prstClr val="black"/>
                </a:solidFill>
                <a:latin typeface="Consolas"/>
                <a:cs typeface="Consolas"/>
              </a:rPr>
              <a:t>eax</a:t>
            </a:r>
            <a:endParaRPr lang="zh-CN" altLang="en-US" sz="1600" dirty="0">
              <a:solidFill>
                <a:prstClr val="black"/>
              </a:solidFill>
              <a:latin typeface="Consolas"/>
              <a:cs typeface="Consolas"/>
            </a:endParaRPr>
          </a:p>
        </p:txBody>
      </p:sp>
      <p:sp>
        <p:nvSpPr>
          <p:cNvPr id="83" name="矩形 82"/>
          <p:cNvSpPr/>
          <p:nvPr/>
        </p:nvSpPr>
        <p:spPr>
          <a:xfrm>
            <a:off x="1608920" y="5142806"/>
            <a:ext cx="1951499" cy="339164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1600" dirty="0">
                <a:solidFill>
                  <a:prstClr val="black"/>
                </a:solidFill>
                <a:latin typeface="Consolas"/>
                <a:cs typeface="Consolas"/>
              </a:rPr>
              <a:t>ret</a:t>
            </a:r>
            <a:endParaRPr lang="zh-CN" altLang="en-US" sz="1600" dirty="0">
              <a:solidFill>
                <a:prstClr val="black"/>
              </a:solidFill>
              <a:latin typeface="Consolas"/>
              <a:cs typeface="Consolas"/>
            </a:endParaRPr>
          </a:p>
        </p:txBody>
      </p:sp>
      <p:sp>
        <p:nvSpPr>
          <p:cNvPr id="84" name="矩形 83"/>
          <p:cNvSpPr/>
          <p:nvPr/>
        </p:nvSpPr>
        <p:spPr>
          <a:xfrm>
            <a:off x="1007750" y="5736478"/>
            <a:ext cx="492443" cy="427994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mr-IN" altLang="zh-CN" sz="2400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sz="2400" dirty="0"/>
          </a:p>
        </p:txBody>
      </p:sp>
      <p:sp>
        <p:nvSpPr>
          <p:cNvPr id="86" name="矩形 85"/>
          <p:cNvSpPr/>
          <p:nvPr/>
        </p:nvSpPr>
        <p:spPr>
          <a:xfrm>
            <a:off x="1206127" y="3129472"/>
            <a:ext cx="377064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...</a:t>
            </a:r>
            <a:endParaRPr lang="zh-CN" altLang="en-US" dirty="0"/>
          </a:p>
        </p:txBody>
      </p:sp>
      <p:sp>
        <p:nvSpPr>
          <p:cNvPr id="87" name="矩形 86"/>
          <p:cNvSpPr/>
          <p:nvPr/>
        </p:nvSpPr>
        <p:spPr>
          <a:xfrm>
            <a:off x="-92268" y="5487084"/>
            <a:ext cx="1675459" cy="307777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sz="1400" dirty="0">
                <a:solidFill>
                  <a:prstClr val="black"/>
                </a:solidFill>
                <a:latin typeface="Consolas" panose="020B0609020204030204" pitchFamily="49" charset="0"/>
                <a:cs typeface="Arial"/>
              </a:rPr>
              <a:t>0x00..5555545fa</a:t>
            </a:r>
            <a:endParaRPr lang="zh-CN" altLang="en-US" sz="1400" dirty="0">
              <a:latin typeface="Consolas" panose="020B0609020204030204" pitchFamily="49" charset="0"/>
            </a:endParaRPr>
          </a:p>
        </p:txBody>
      </p:sp>
      <p:sp>
        <p:nvSpPr>
          <p:cNvPr id="94" name="矩形 93"/>
          <p:cNvSpPr/>
          <p:nvPr/>
        </p:nvSpPr>
        <p:spPr>
          <a:xfrm>
            <a:off x="1212855" y="3479632"/>
            <a:ext cx="377064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...</a:t>
            </a:r>
            <a:endParaRPr lang="zh-CN" altLang="en-US" dirty="0"/>
          </a:p>
        </p:txBody>
      </p:sp>
      <p:sp>
        <p:nvSpPr>
          <p:cNvPr id="103" name="矩形 102"/>
          <p:cNvSpPr/>
          <p:nvPr/>
        </p:nvSpPr>
        <p:spPr>
          <a:xfrm>
            <a:off x="1607980" y="5486144"/>
            <a:ext cx="1951499" cy="339164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1100" b="1" dirty="0" err="1">
                <a:solidFill>
                  <a:prstClr val="black"/>
                </a:solidFill>
                <a:latin typeface="Consolas"/>
                <a:cs typeface="Consolas"/>
              </a:rPr>
              <a:t>addl</a:t>
            </a:r>
            <a:r>
              <a:rPr lang="en-US" altLang="zh-CN" sz="1100" b="1" dirty="0">
                <a:solidFill>
                  <a:prstClr val="black"/>
                </a:solidFill>
                <a:latin typeface="Consolas"/>
                <a:cs typeface="Consolas"/>
              </a:rPr>
              <a:t> $0x1, 0x200a13(%rip)</a:t>
            </a:r>
            <a:endParaRPr lang="zh-CN" altLang="en-US" sz="1100" b="1" dirty="0">
              <a:solidFill>
                <a:prstClr val="black"/>
              </a:solidFill>
              <a:latin typeface="Consolas"/>
              <a:cs typeface="Consolas"/>
            </a:endParaRPr>
          </a:p>
        </p:txBody>
      </p:sp>
      <p:sp>
        <p:nvSpPr>
          <p:cNvPr id="104" name="矩形 103"/>
          <p:cNvSpPr/>
          <p:nvPr/>
        </p:nvSpPr>
        <p:spPr>
          <a:xfrm>
            <a:off x="1606883" y="5825308"/>
            <a:ext cx="1951499" cy="339164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24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06" name="矩形 105"/>
          <p:cNvSpPr/>
          <p:nvPr/>
        </p:nvSpPr>
        <p:spPr>
          <a:xfrm>
            <a:off x="41757" y="115556"/>
            <a:ext cx="1576072" cy="307777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sz="1400" dirty="0">
                <a:solidFill>
                  <a:prstClr val="black"/>
                </a:solidFill>
                <a:latin typeface="Consolas" panose="020B0609020204030204" pitchFamily="49" charset="0"/>
                <a:cs typeface="Arial"/>
              </a:rPr>
              <a:t>0x7f</a:t>
            </a:r>
            <a:r>
              <a:rPr lang="mr-IN" altLang="zh-CN" sz="1400" dirty="0">
                <a:solidFill>
                  <a:prstClr val="black"/>
                </a:solidFill>
                <a:latin typeface="Consolas" panose="020B0609020204030204" pitchFamily="49" charset="0"/>
                <a:cs typeface="Arial"/>
              </a:rPr>
              <a:t>…</a:t>
            </a:r>
            <a:r>
              <a:rPr lang="en-US" altLang="zh-CN" sz="1400" dirty="0">
                <a:solidFill>
                  <a:prstClr val="black"/>
                </a:solidFill>
                <a:latin typeface="Consolas" panose="020B0609020204030204" pitchFamily="49" charset="0"/>
                <a:cs typeface="Arial"/>
              </a:rPr>
              <a:t>000000098</a:t>
            </a:r>
            <a:endParaRPr lang="zh-CN" altLang="en-US" sz="1400" dirty="0">
              <a:latin typeface="Consolas" panose="020B0609020204030204" pitchFamily="49" charset="0"/>
            </a:endParaRPr>
          </a:p>
        </p:txBody>
      </p:sp>
      <p:sp>
        <p:nvSpPr>
          <p:cNvPr id="102" name="矩形 101"/>
          <p:cNvSpPr/>
          <p:nvPr/>
        </p:nvSpPr>
        <p:spPr>
          <a:xfrm>
            <a:off x="4039183" y="4825991"/>
            <a:ext cx="688009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kumimoji="1" lang="en-US" altLang="zh-CN" sz="1400" b="1" dirty="0">
                <a:latin typeface="Verdana"/>
                <a:cs typeface="Verdana"/>
              </a:rPr>
              <a:t>%rip</a:t>
            </a:r>
            <a:endParaRPr lang="zh-CN" altLang="en-US" sz="1400" b="1" dirty="0"/>
          </a:p>
        </p:txBody>
      </p:sp>
      <p:cxnSp>
        <p:nvCxnSpPr>
          <p:cNvPr id="111" name="直线箭头连接符 110"/>
          <p:cNvCxnSpPr>
            <a:cxnSpLocks/>
          </p:cNvCxnSpPr>
          <p:nvPr/>
        </p:nvCxnSpPr>
        <p:spPr>
          <a:xfrm flipH="1">
            <a:off x="3672216" y="4943463"/>
            <a:ext cx="185551" cy="24691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" name="矩形 86">
            <a:extLst>
              <a:ext uri="{FF2B5EF4-FFF2-40B4-BE49-F238E27FC236}">
                <a16:creationId xmlns:a16="http://schemas.microsoft.com/office/drawing/2014/main" id="{B9B15590-4945-46D2-8B7E-12F73E7262F4}"/>
              </a:ext>
            </a:extLst>
          </p:cNvPr>
          <p:cNvSpPr/>
          <p:nvPr/>
        </p:nvSpPr>
        <p:spPr>
          <a:xfrm>
            <a:off x="-71138" y="5168166"/>
            <a:ext cx="1675460" cy="307777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sz="1400" dirty="0">
                <a:solidFill>
                  <a:prstClr val="black"/>
                </a:solidFill>
                <a:latin typeface="Consolas" panose="020B0609020204030204" pitchFamily="49" charset="0"/>
                <a:cs typeface="Arial"/>
              </a:rPr>
              <a:t>0x00..555554601</a:t>
            </a:r>
            <a:endParaRPr lang="zh-CN" altLang="en-US" sz="1400" dirty="0">
              <a:latin typeface="Consolas" panose="020B0609020204030204" pitchFamily="49" charset="0"/>
            </a:endParaRPr>
          </a:p>
        </p:txBody>
      </p:sp>
      <p:sp>
        <p:nvSpPr>
          <p:cNvPr id="3" name="矩形 86">
            <a:extLst>
              <a:ext uri="{FF2B5EF4-FFF2-40B4-BE49-F238E27FC236}">
                <a16:creationId xmlns:a16="http://schemas.microsoft.com/office/drawing/2014/main" id="{D20B1BDD-8F63-4A4F-9EA2-E04AAD9ECE6C}"/>
              </a:ext>
            </a:extLst>
          </p:cNvPr>
          <p:cNvSpPr/>
          <p:nvPr/>
        </p:nvSpPr>
        <p:spPr>
          <a:xfrm>
            <a:off x="-55474" y="4846792"/>
            <a:ext cx="1675460" cy="307777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sz="1400" dirty="0">
                <a:solidFill>
                  <a:prstClr val="black"/>
                </a:solidFill>
                <a:latin typeface="Consolas" panose="020B0609020204030204" pitchFamily="49" charset="0"/>
                <a:cs typeface="Arial"/>
              </a:rPr>
              <a:t>0x00..555554602</a:t>
            </a:r>
            <a:endParaRPr lang="zh-CN" altLang="en-US" sz="1400" dirty="0">
              <a:latin typeface="Consolas" panose="020B0609020204030204" pitchFamily="49" charset="0"/>
            </a:endParaRPr>
          </a:p>
        </p:txBody>
      </p:sp>
      <p:sp>
        <p:nvSpPr>
          <p:cNvPr id="10" name="矩形 86">
            <a:extLst>
              <a:ext uri="{FF2B5EF4-FFF2-40B4-BE49-F238E27FC236}">
                <a16:creationId xmlns:a16="http://schemas.microsoft.com/office/drawing/2014/main" id="{C8BF97E7-7FED-4E8C-9372-42E8F3BDECE0}"/>
              </a:ext>
            </a:extLst>
          </p:cNvPr>
          <p:cNvSpPr/>
          <p:nvPr/>
        </p:nvSpPr>
        <p:spPr>
          <a:xfrm>
            <a:off x="-34276" y="4517116"/>
            <a:ext cx="1675460" cy="307777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sz="1400" dirty="0">
                <a:solidFill>
                  <a:prstClr val="black"/>
                </a:solidFill>
                <a:latin typeface="Consolas" panose="020B0609020204030204" pitchFamily="49" charset="0"/>
                <a:cs typeface="Arial"/>
              </a:rPr>
              <a:t>0x00..555554607</a:t>
            </a:r>
            <a:endParaRPr lang="zh-CN" altLang="en-US" sz="1400" dirty="0">
              <a:latin typeface="Consolas" panose="020B0609020204030204" pitchFamily="49" charset="0"/>
            </a:endParaRPr>
          </a:p>
        </p:txBody>
      </p:sp>
      <p:sp>
        <p:nvSpPr>
          <p:cNvPr id="17" name="矩形 86">
            <a:extLst>
              <a:ext uri="{FF2B5EF4-FFF2-40B4-BE49-F238E27FC236}">
                <a16:creationId xmlns:a16="http://schemas.microsoft.com/office/drawing/2014/main" id="{827A7CFE-EFA9-4FB8-9846-89EA57AAB9AC}"/>
              </a:ext>
            </a:extLst>
          </p:cNvPr>
          <p:cNvSpPr/>
          <p:nvPr/>
        </p:nvSpPr>
        <p:spPr>
          <a:xfrm>
            <a:off x="-27875" y="4188144"/>
            <a:ext cx="1675460" cy="307777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sz="1400" dirty="0">
                <a:solidFill>
                  <a:prstClr val="black"/>
                </a:solidFill>
                <a:latin typeface="Consolas" panose="020B0609020204030204" pitchFamily="49" charset="0"/>
                <a:cs typeface="Arial"/>
              </a:rPr>
              <a:t>0x00..55555460c</a:t>
            </a:r>
            <a:endParaRPr lang="zh-CN" altLang="en-US" sz="1400" dirty="0">
              <a:latin typeface="Consolas" panose="020B0609020204030204" pitchFamily="49" charset="0"/>
            </a:endParaRPr>
          </a:p>
        </p:txBody>
      </p:sp>
      <p:sp>
        <p:nvSpPr>
          <p:cNvPr id="18" name="矩形 86">
            <a:extLst>
              <a:ext uri="{FF2B5EF4-FFF2-40B4-BE49-F238E27FC236}">
                <a16:creationId xmlns:a16="http://schemas.microsoft.com/office/drawing/2014/main" id="{D0716B26-00D9-4238-BEBE-7A5B08E5B306}"/>
              </a:ext>
            </a:extLst>
          </p:cNvPr>
          <p:cNvSpPr/>
          <p:nvPr/>
        </p:nvSpPr>
        <p:spPr>
          <a:xfrm>
            <a:off x="-35792" y="3837968"/>
            <a:ext cx="1675460" cy="307777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sz="1400" dirty="0">
                <a:solidFill>
                  <a:prstClr val="black"/>
                </a:solidFill>
                <a:latin typeface="Consolas" panose="020B0609020204030204" pitchFamily="49" charset="0"/>
                <a:cs typeface="Arial"/>
              </a:rPr>
              <a:t>0x00..555554611</a:t>
            </a:r>
            <a:endParaRPr lang="zh-CN" altLang="en-US" sz="1400" dirty="0">
              <a:latin typeface="Consolas" panose="020B0609020204030204" pitchFamily="49" charset="0"/>
            </a:endParaRPr>
          </a:p>
        </p:txBody>
      </p:sp>
      <p:sp>
        <p:nvSpPr>
          <p:cNvPr id="19" name="矩形 105">
            <a:extLst>
              <a:ext uri="{FF2B5EF4-FFF2-40B4-BE49-F238E27FC236}">
                <a16:creationId xmlns:a16="http://schemas.microsoft.com/office/drawing/2014/main" id="{701D13D6-8394-4EFB-84F6-8CA0A44B302A}"/>
              </a:ext>
            </a:extLst>
          </p:cNvPr>
          <p:cNvSpPr/>
          <p:nvPr/>
        </p:nvSpPr>
        <p:spPr>
          <a:xfrm>
            <a:off x="25628" y="454676"/>
            <a:ext cx="1576072" cy="307777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sz="1400" dirty="0">
                <a:solidFill>
                  <a:prstClr val="black"/>
                </a:solidFill>
                <a:latin typeface="Consolas" panose="020B0609020204030204" pitchFamily="49" charset="0"/>
                <a:cs typeface="Arial"/>
              </a:rPr>
              <a:t>0x7f</a:t>
            </a:r>
            <a:r>
              <a:rPr lang="mr-IN" altLang="zh-CN" sz="1400" dirty="0">
                <a:solidFill>
                  <a:prstClr val="black"/>
                </a:solidFill>
                <a:latin typeface="Consolas" panose="020B0609020204030204" pitchFamily="49" charset="0"/>
                <a:cs typeface="Arial"/>
              </a:rPr>
              <a:t>…</a:t>
            </a:r>
            <a:r>
              <a:rPr lang="en-US" altLang="zh-CN" sz="1400" dirty="0">
                <a:solidFill>
                  <a:prstClr val="black"/>
                </a:solidFill>
                <a:latin typeface="Consolas" panose="020B0609020204030204" pitchFamily="49" charset="0"/>
                <a:cs typeface="Arial"/>
              </a:rPr>
              <a:t>000000090</a:t>
            </a:r>
            <a:endParaRPr lang="zh-CN" altLang="en-US" sz="1400" dirty="0">
              <a:latin typeface="Consolas" panose="020B0609020204030204" pitchFamily="49" charset="0"/>
            </a:endParaRPr>
          </a:p>
        </p:txBody>
      </p:sp>
      <p:sp>
        <p:nvSpPr>
          <p:cNvPr id="20" name="矩形 105">
            <a:extLst>
              <a:ext uri="{FF2B5EF4-FFF2-40B4-BE49-F238E27FC236}">
                <a16:creationId xmlns:a16="http://schemas.microsoft.com/office/drawing/2014/main" id="{57CD497F-20EC-4F9D-8A3E-6CA7C242FAFB}"/>
              </a:ext>
            </a:extLst>
          </p:cNvPr>
          <p:cNvSpPr/>
          <p:nvPr/>
        </p:nvSpPr>
        <p:spPr>
          <a:xfrm>
            <a:off x="25628" y="826603"/>
            <a:ext cx="1576072" cy="307777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sz="1400" dirty="0">
                <a:solidFill>
                  <a:prstClr val="black"/>
                </a:solidFill>
                <a:latin typeface="Consolas" panose="020B0609020204030204" pitchFamily="49" charset="0"/>
                <a:cs typeface="Arial"/>
              </a:rPr>
              <a:t>0x7f</a:t>
            </a:r>
            <a:r>
              <a:rPr lang="mr-IN" altLang="zh-CN" sz="1400" dirty="0">
                <a:solidFill>
                  <a:prstClr val="black"/>
                </a:solidFill>
                <a:latin typeface="Consolas" panose="020B0609020204030204" pitchFamily="49" charset="0"/>
                <a:cs typeface="Arial"/>
              </a:rPr>
              <a:t>…</a:t>
            </a:r>
            <a:r>
              <a:rPr lang="en-US" altLang="zh-CN" sz="1400" dirty="0">
                <a:solidFill>
                  <a:prstClr val="black"/>
                </a:solidFill>
                <a:latin typeface="Consolas" panose="020B0609020204030204" pitchFamily="49" charset="0"/>
                <a:cs typeface="Arial"/>
              </a:rPr>
              <a:t>000000088</a:t>
            </a:r>
            <a:endParaRPr lang="zh-CN" altLang="en-US" sz="1400" dirty="0">
              <a:latin typeface="Consolas" panose="020B0609020204030204" pitchFamily="49" charset="0"/>
            </a:endParaRPr>
          </a:p>
        </p:txBody>
      </p:sp>
      <p:sp>
        <p:nvSpPr>
          <p:cNvPr id="21" name="矩形 86">
            <a:extLst>
              <a:ext uri="{FF2B5EF4-FFF2-40B4-BE49-F238E27FC236}">
                <a16:creationId xmlns:a16="http://schemas.microsoft.com/office/drawing/2014/main" id="{FAD60544-1F1F-4085-9370-0580C9379794}"/>
              </a:ext>
            </a:extLst>
          </p:cNvPr>
          <p:cNvSpPr/>
          <p:nvPr/>
        </p:nvSpPr>
        <p:spPr>
          <a:xfrm>
            <a:off x="-7936" y="2809448"/>
            <a:ext cx="1675459" cy="307777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sz="1400" dirty="0">
                <a:solidFill>
                  <a:prstClr val="black"/>
                </a:solidFill>
                <a:latin typeface="Consolas" panose="020B0609020204030204" pitchFamily="49" charset="0"/>
                <a:cs typeface="Arial"/>
              </a:rPr>
              <a:t>0x00..555755014</a:t>
            </a:r>
            <a:endParaRPr lang="zh-CN" altLang="en-US" sz="1400" dirty="0">
              <a:latin typeface="Consolas" panose="020B0609020204030204" pitchFamily="49" charset="0"/>
            </a:endParaRPr>
          </a:p>
        </p:txBody>
      </p:sp>
      <p:sp>
        <p:nvSpPr>
          <p:cNvPr id="22" name="矩形 86">
            <a:extLst>
              <a:ext uri="{FF2B5EF4-FFF2-40B4-BE49-F238E27FC236}">
                <a16:creationId xmlns:a16="http://schemas.microsoft.com/office/drawing/2014/main" id="{767ADB22-AB5C-4947-B02B-DF8044B8B62D}"/>
              </a:ext>
            </a:extLst>
          </p:cNvPr>
          <p:cNvSpPr/>
          <p:nvPr/>
        </p:nvSpPr>
        <p:spPr>
          <a:xfrm>
            <a:off x="-27658" y="2467751"/>
            <a:ext cx="1675460" cy="307777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sz="1400" dirty="0">
                <a:solidFill>
                  <a:prstClr val="black"/>
                </a:solidFill>
                <a:latin typeface="Consolas" panose="020B0609020204030204" pitchFamily="49" charset="0"/>
                <a:cs typeface="Arial"/>
              </a:rPr>
              <a:t>0x00..555755018</a:t>
            </a:r>
            <a:endParaRPr lang="zh-CN" altLang="en-US" sz="140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1833079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/>
          <p:cNvSpPr/>
          <p:nvPr/>
        </p:nvSpPr>
        <p:spPr>
          <a:xfrm>
            <a:off x="5770729" y="420774"/>
            <a:ext cx="2617701" cy="6087558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 w="381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kumimoji="1" lang="zh-CN" altLang="en-US" dirty="0">
              <a:solidFill>
                <a:schemeClr val="tx1"/>
              </a:solidFill>
              <a:latin typeface="Verdana"/>
              <a:cs typeface="Verdana"/>
            </a:endParaRPr>
          </a:p>
        </p:txBody>
      </p:sp>
      <p:sp>
        <p:nvSpPr>
          <p:cNvPr id="6" name="矩形 5"/>
          <p:cNvSpPr/>
          <p:nvPr/>
        </p:nvSpPr>
        <p:spPr>
          <a:xfrm>
            <a:off x="1859596" y="6151633"/>
            <a:ext cx="1219980" cy="400110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kumimoji="1" lang="en-US" altLang="zh-CN" sz="2000" dirty="0">
                <a:latin typeface="Verdana"/>
                <a:cs typeface="Verdana"/>
              </a:rPr>
              <a:t>Memory</a:t>
            </a:r>
            <a:endParaRPr lang="zh-CN" altLang="en-US" sz="2000" dirty="0"/>
          </a:p>
        </p:txBody>
      </p:sp>
      <p:sp>
        <p:nvSpPr>
          <p:cNvPr id="27" name="矩形 26"/>
          <p:cNvSpPr/>
          <p:nvPr/>
        </p:nvSpPr>
        <p:spPr>
          <a:xfrm>
            <a:off x="6707135" y="402971"/>
            <a:ext cx="65399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 dirty="0">
                <a:latin typeface="Verdana"/>
                <a:cs typeface="Verdana"/>
              </a:rPr>
              <a:t>CPU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28" name="圆角矩形 27"/>
          <p:cNvSpPr/>
          <p:nvPr/>
        </p:nvSpPr>
        <p:spPr>
          <a:xfrm>
            <a:off x="6707135" y="829513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s-IS" altLang="zh-CN" sz="1400" dirty="0">
                <a:solidFill>
                  <a:srgbClr val="000000"/>
                </a:solidFill>
                <a:latin typeface="Arial"/>
                <a:cs typeface="Arial"/>
              </a:rPr>
              <a:t>0x00..555554607</a:t>
            </a:r>
          </a:p>
        </p:txBody>
      </p:sp>
      <p:sp>
        <p:nvSpPr>
          <p:cNvPr id="29" name="矩形 28"/>
          <p:cNvSpPr/>
          <p:nvPr/>
        </p:nvSpPr>
        <p:spPr>
          <a:xfrm>
            <a:off x="5973834" y="849437"/>
            <a:ext cx="68640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 dirty="0">
                <a:latin typeface="Verdana"/>
                <a:cs typeface="Verdana"/>
              </a:rPr>
              <a:t>RIP: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33" name="矩形 32"/>
          <p:cNvSpPr/>
          <p:nvPr/>
        </p:nvSpPr>
        <p:spPr>
          <a:xfrm>
            <a:off x="6007264" y="1716244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RAX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34" name="圆角矩形 33"/>
          <p:cNvSpPr/>
          <p:nvPr/>
        </p:nvSpPr>
        <p:spPr>
          <a:xfrm>
            <a:off x="6707134" y="1726615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is-IS" altLang="zh-CN" dirty="0">
                <a:solidFill>
                  <a:prstClr val="black"/>
                </a:solidFill>
                <a:latin typeface="Consolas" panose="020B0609020204030204" pitchFamily="49" charset="0"/>
                <a:cs typeface="Arial"/>
                <a:sym typeface="Courier New Bold" charset="0"/>
              </a:rPr>
              <a:t>0x0</a:t>
            </a:r>
          </a:p>
        </p:txBody>
      </p:sp>
      <p:sp>
        <p:nvSpPr>
          <p:cNvPr id="35" name="圆角矩形 34"/>
          <p:cNvSpPr/>
          <p:nvPr/>
        </p:nvSpPr>
        <p:spPr>
          <a:xfrm>
            <a:off x="6732381" y="2156558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6" name="圆角矩形 35"/>
          <p:cNvSpPr/>
          <p:nvPr/>
        </p:nvSpPr>
        <p:spPr>
          <a:xfrm>
            <a:off x="6732381" y="2585832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 dirty="0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37" name="圆角矩形 36"/>
          <p:cNvSpPr/>
          <p:nvPr/>
        </p:nvSpPr>
        <p:spPr>
          <a:xfrm>
            <a:off x="6727649" y="3016507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 dirty="0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38" name="圆角矩形 37"/>
          <p:cNvSpPr/>
          <p:nvPr/>
        </p:nvSpPr>
        <p:spPr>
          <a:xfrm>
            <a:off x="6728204" y="3454928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9" name="圆角矩形 38"/>
          <p:cNvSpPr/>
          <p:nvPr/>
        </p:nvSpPr>
        <p:spPr>
          <a:xfrm>
            <a:off x="6730569" y="3884871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40" name="圆角矩形 39"/>
          <p:cNvSpPr/>
          <p:nvPr/>
        </p:nvSpPr>
        <p:spPr>
          <a:xfrm>
            <a:off x="6719128" y="4314145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is-IS" altLang="zh-CN" sz="1400" dirty="0">
                <a:solidFill>
                  <a:prstClr val="black"/>
                </a:solidFill>
                <a:latin typeface="Consolas" panose="020B0609020204030204" pitchFamily="49" charset="0"/>
                <a:cs typeface="Arial"/>
                <a:sym typeface="Courier New Bold" charset="0"/>
              </a:rPr>
              <a:t>0x7f…000000090</a:t>
            </a:r>
          </a:p>
        </p:txBody>
      </p:sp>
      <p:sp>
        <p:nvSpPr>
          <p:cNvPr id="41" name="圆角矩形 40"/>
          <p:cNvSpPr/>
          <p:nvPr/>
        </p:nvSpPr>
        <p:spPr>
          <a:xfrm>
            <a:off x="6725837" y="4744820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 dirty="0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42" name="矩形 41"/>
          <p:cNvSpPr/>
          <p:nvPr/>
        </p:nvSpPr>
        <p:spPr>
          <a:xfrm>
            <a:off x="7071077" y="6098041"/>
            <a:ext cx="441146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mr-IN" altLang="zh-CN" sz="2000" b="1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sz="2000" b="1" dirty="0"/>
          </a:p>
        </p:txBody>
      </p:sp>
      <p:sp>
        <p:nvSpPr>
          <p:cNvPr id="43" name="矩形 42"/>
          <p:cNvSpPr/>
          <p:nvPr/>
        </p:nvSpPr>
        <p:spPr>
          <a:xfrm>
            <a:off x="6004115" y="2168000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RBX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44" name="矩形 43"/>
          <p:cNvSpPr/>
          <p:nvPr/>
        </p:nvSpPr>
        <p:spPr>
          <a:xfrm>
            <a:off x="5989455" y="2585832"/>
            <a:ext cx="77685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RCX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45" name="矩形 44"/>
          <p:cNvSpPr/>
          <p:nvPr/>
        </p:nvSpPr>
        <p:spPr>
          <a:xfrm>
            <a:off x="5993122" y="3024282"/>
            <a:ext cx="77685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RDX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46" name="矩形 45"/>
          <p:cNvSpPr/>
          <p:nvPr/>
        </p:nvSpPr>
        <p:spPr>
          <a:xfrm>
            <a:off x="5990867" y="3451290"/>
            <a:ext cx="67428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RSI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47" name="矩形 46"/>
          <p:cNvSpPr/>
          <p:nvPr/>
        </p:nvSpPr>
        <p:spPr>
          <a:xfrm>
            <a:off x="5986305" y="3882159"/>
            <a:ext cx="68702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RDI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48" name="矩形 47"/>
          <p:cNvSpPr/>
          <p:nvPr/>
        </p:nvSpPr>
        <p:spPr>
          <a:xfrm>
            <a:off x="5985749" y="4320609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RSP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49" name="矩形 48"/>
          <p:cNvSpPr/>
          <p:nvPr/>
        </p:nvSpPr>
        <p:spPr>
          <a:xfrm>
            <a:off x="5983157" y="4718557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RBP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56" name="矩形 55"/>
          <p:cNvSpPr/>
          <p:nvPr/>
        </p:nvSpPr>
        <p:spPr>
          <a:xfrm>
            <a:off x="3955484" y="461934"/>
            <a:ext cx="732893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kumimoji="1" lang="en-US" altLang="zh-CN" sz="1400" b="1" dirty="0">
                <a:latin typeface="Verdana"/>
                <a:cs typeface="Verdana"/>
              </a:rPr>
              <a:t>%</a:t>
            </a:r>
            <a:r>
              <a:rPr kumimoji="1" lang="en-US" altLang="zh-CN" sz="1400" b="1" dirty="0" err="1">
                <a:latin typeface="Verdana"/>
                <a:cs typeface="Verdana"/>
              </a:rPr>
              <a:t>rsp</a:t>
            </a:r>
            <a:endParaRPr lang="zh-CN" altLang="en-US" sz="1400" b="1" dirty="0"/>
          </a:p>
        </p:txBody>
      </p:sp>
      <p:sp>
        <p:nvSpPr>
          <p:cNvPr id="57" name="矩形 56"/>
          <p:cNvSpPr/>
          <p:nvPr/>
        </p:nvSpPr>
        <p:spPr>
          <a:xfrm>
            <a:off x="6194819" y="5220252"/>
            <a:ext cx="57149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ZF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58" name="圆角矩形 57"/>
          <p:cNvSpPr/>
          <p:nvPr/>
        </p:nvSpPr>
        <p:spPr>
          <a:xfrm>
            <a:off x="6748122" y="5211806"/>
            <a:ext cx="439253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  <a:sym typeface="Courier New Bold" charset="0"/>
              </a:rPr>
              <a:t>0</a:t>
            </a:r>
          </a:p>
        </p:txBody>
      </p:sp>
      <p:sp>
        <p:nvSpPr>
          <p:cNvPr id="62" name="矩形 61"/>
          <p:cNvSpPr/>
          <p:nvPr/>
        </p:nvSpPr>
        <p:spPr>
          <a:xfrm>
            <a:off x="7298019" y="5198018"/>
            <a:ext cx="58445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SF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64" name="圆角矩形 63"/>
          <p:cNvSpPr/>
          <p:nvPr/>
        </p:nvSpPr>
        <p:spPr>
          <a:xfrm>
            <a:off x="7857802" y="5189572"/>
            <a:ext cx="439253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  <a:sym typeface="Courier New Bold" charset="0"/>
              </a:rPr>
              <a:t>0</a:t>
            </a:r>
          </a:p>
        </p:txBody>
      </p:sp>
      <p:sp>
        <p:nvSpPr>
          <p:cNvPr id="65" name="矩形 64"/>
          <p:cNvSpPr/>
          <p:nvPr/>
        </p:nvSpPr>
        <p:spPr>
          <a:xfrm>
            <a:off x="6177727" y="5675034"/>
            <a:ext cx="59718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CF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77" name="圆角矩形 76"/>
          <p:cNvSpPr/>
          <p:nvPr/>
        </p:nvSpPr>
        <p:spPr>
          <a:xfrm>
            <a:off x="6743879" y="5666588"/>
            <a:ext cx="439253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  <a:sym typeface="Courier New Bold" charset="0"/>
              </a:rPr>
              <a:t>0</a:t>
            </a:r>
          </a:p>
        </p:txBody>
      </p:sp>
      <p:sp>
        <p:nvSpPr>
          <p:cNvPr id="78" name="矩形 77"/>
          <p:cNvSpPr/>
          <p:nvPr/>
        </p:nvSpPr>
        <p:spPr>
          <a:xfrm>
            <a:off x="7280983" y="5652800"/>
            <a:ext cx="61003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OF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79" name="圆角矩形 78"/>
          <p:cNvSpPr/>
          <p:nvPr/>
        </p:nvSpPr>
        <p:spPr>
          <a:xfrm>
            <a:off x="7853559" y="5644354"/>
            <a:ext cx="439253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  <a:sym typeface="Courier New Bold" charset="0"/>
              </a:rPr>
              <a:t>0</a:t>
            </a:r>
          </a:p>
        </p:txBody>
      </p:sp>
      <p:sp>
        <p:nvSpPr>
          <p:cNvPr id="7" name="矩形 6"/>
          <p:cNvSpPr/>
          <p:nvPr/>
        </p:nvSpPr>
        <p:spPr>
          <a:xfrm>
            <a:off x="1588002" y="819397"/>
            <a:ext cx="1951499" cy="3391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cs-CZ" altLang="zh-CN" sz="1600" dirty="0">
              <a:latin typeface="Consolas"/>
              <a:cs typeface="Consolas"/>
              <a:sym typeface="Courier New Bold" charset="0"/>
            </a:endParaRPr>
          </a:p>
        </p:txBody>
      </p:sp>
      <p:sp>
        <p:nvSpPr>
          <p:cNvPr id="8" name="矩形 7"/>
          <p:cNvSpPr/>
          <p:nvPr/>
        </p:nvSpPr>
        <p:spPr>
          <a:xfrm>
            <a:off x="1588002" y="480233"/>
            <a:ext cx="1951499" cy="33916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US" altLang="zh-CN" sz="1600" dirty="0">
                <a:solidFill>
                  <a:prstClr val="black"/>
                </a:solidFill>
                <a:latin typeface="Consolas"/>
                <a:cs typeface="Consolas"/>
              </a:rPr>
              <a:t>...</a:t>
            </a:r>
          </a:p>
        </p:txBody>
      </p:sp>
      <p:sp>
        <p:nvSpPr>
          <p:cNvPr id="9" name="矩形 8"/>
          <p:cNvSpPr/>
          <p:nvPr/>
        </p:nvSpPr>
        <p:spPr>
          <a:xfrm>
            <a:off x="1588002" y="143470"/>
            <a:ext cx="1951499" cy="33916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tabLst>
                <a:tab pos="514350" algn="l"/>
                <a:tab pos="2801938" algn="l"/>
                <a:tab pos="3086100" algn="l"/>
                <a:tab pos="3086100" algn="l"/>
                <a:tab pos="3086100" algn="l"/>
                <a:tab pos="3086100" algn="l"/>
              </a:tabLst>
            </a:pPr>
            <a:r>
              <a:rPr lang="cs-CZ" altLang="zh-CN" sz="1600" dirty="0">
                <a:latin typeface="Consolas"/>
                <a:cs typeface="Consolas"/>
                <a:sym typeface="Courier New Bold" charset="0"/>
              </a:rPr>
              <a:t>...</a:t>
            </a:r>
          </a:p>
        </p:txBody>
      </p:sp>
      <p:sp>
        <p:nvSpPr>
          <p:cNvPr id="11" name="矩形 10"/>
          <p:cNvSpPr/>
          <p:nvPr/>
        </p:nvSpPr>
        <p:spPr>
          <a:xfrm>
            <a:off x="1588002" y="1158204"/>
            <a:ext cx="1951499" cy="339164"/>
          </a:xfrm>
          <a:prstGeom prst="rect">
            <a:avLst/>
          </a:prstGeom>
          <a:noFill/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zh-CN" altLang="en-US" sz="1600" dirty="0">
              <a:solidFill>
                <a:prstClr val="black"/>
              </a:solidFill>
              <a:latin typeface="Consolas"/>
              <a:cs typeface="Consolas"/>
            </a:endParaRPr>
          </a:p>
        </p:txBody>
      </p:sp>
      <p:sp>
        <p:nvSpPr>
          <p:cNvPr id="12" name="矩形 11"/>
          <p:cNvSpPr/>
          <p:nvPr/>
        </p:nvSpPr>
        <p:spPr>
          <a:xfrm>
            <a:off x="1592372" y="2452102"/>
            <a:ext cx="1951499" cy="3391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3" name="矩形 12"/>
          <p:cNvSpPr/>
          <p:nvPr/>
        </p:nvSpPr>
        <p:spPr>
          <a:xfrm>
            <a:off x="1596741" y="2801658"/>
            <a:ext cx="1951499" cy="3391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0x0</a:t>
            </a:r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4" name="矩形 13"/>
          <p:cNvSpPr/>
          <p:nvPr/>
        </p:nvSpPr>
        <p:spPr>
          <a:xfrm>
            <a:off x="1604322" y="3134126"/>
            <a:ext cx="1951499" cy="339164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5" name="矩形 14"/>
          <p:cNvSpPr/>
          <p:nvPr/>
        </p:nvSpPr>
        <p:spPr>
          <a:xfrm>
            <a:off x="1604322" y="3467966"/>
            <a:ext cx="1951499" cy="339164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mr-IN" altLang="zh-CN" b="1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b="1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6" name="矩形 15"/>
          <p:cNvSpPr/>
          <p:nvPr/>
        </p:nvSpPr>
        <p:spPr>
          <a:xfrm>
            <a:off x="1604322" y="3802650"/>
            <a:ext cx="1951499" cy="339164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1600" dirty="0" err="1">
                <a:solidFill>
                  <a:prstClr val="black"/>
                </a:solidFill>
                <a:latin typeface="Consolas"/>
                <a:cs typeface="Consolas"/>
              </a:rPr>
              <a:t>retq</a:t>
            </a:r>
            <a:endParaRPr lang="zh-CN" altLang="en-US" sz="1600" dirty="0">
              <a:solidFill>
                <a:prstClr val="black"/>
              </a:solidFill>
              <a:latin typeface="Consolas"/>
              <a:cs typeface="Consolas"/>
            </a:endParaRPr>
          </a:p>
        </p:txBody>
      </p:sp>
      <p:sp>
        <p:nvSpPr>
          <p:cNvPr id="25" name="矩形 24"/>
          <p:cNvSpPr/>
          <p:nvPr/>
        </p:nvSpPr>
        <p:spPr>
          <a:xfrm>
            <a:off x="1588002" y="2131475"/>
            <a:ext cx="1951499" cy="319756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24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cxnSp>
        <p:nvCxnSpPr>
          <p:cNvPr id="4" name="直线箭头连接符 3"/>
          <p:cNvCxnSpPr/>
          <p:nvPr/>
        </p:nvCxnSpPr>
        <p:spPr>
          <a:xfrm flipH="1">
            <a:off x="3588517" y="604097"/>
            <a:ext cx="249222" cy="0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59" name="矩形 58"/>
          <p:cNvSpPr/>
          <p:nvPr/>
        </p:nvSpPr>
        <p:spPr>
          <a:xfrm>
            <a:off x="1583191" y="1814000"/>
            <a:ext cx="1951499" cy="319756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24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61" name="矩形 60"/>
          <p:cNvSpPr/>
          <p:nvPr/>
        </p:nvSpPr>
        <p:spPr>
          <a:xfrm>
            <a:off x="1587904" y="1495448"/>
            <a:ext cx="1951499" cy="319756"/>
          </a:xfrm>
          <a:prstGeom prst="rect">
            <a:avLst/>
          </a:prstGeom>
          <a:noFill/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63" name="矩形 62"/>
          <p:cNvSpPr/>
          <p:nvPr/>
        </p:nvSpPr>
        <p:spPr>
          <a:xfrm>
            <a:off x="1606031" y="4141814"/>
            <a:ext cx="1951499" cy="339164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1600" dirty="0">
                <a:solidFill>
                  <a:prstClr val="black"/>
                </a:solidFill>
                <a:latin typeface="Consolas"/>
                <a:cs typeface="Consolas"/>
              </a:rPr>
              <a:t>mov $0x0, %</a:t>
            </a:r>
            <a:r>
              <a:rPr lang="en-US" altLang="zh-CN" sz="1600" dirty="0" err="1">
                <a:solidFill>
                  <a:prstClr val="black"/>
                </a:solidFill>
                <a:latin typeface="Consolas"/>
                <a:cs typeface="Consolas"/>
              </a:rPr>
              <a:t>eax</a:t>
            </a:r>
            <a:endParaRPr lang="zh-CN" altLang="en-US" sz="1600" dirty="0">
              <a:solidFill>
                <a:prstClr val="black"/>
              </a:solidFill>
              <a:latin typeface="Consolas"/>
              <a:cs typeface="Consolas"/>
            </a:endParaRPr>
          </a:p>
        </p:txBody>
      </p:sp>
      <p:sp>
        <p:nvSpPr>
          <p:cNvPr id="80" name="矩形 79"/>
          <p:cNvSpPr/>
          <p:nvPr/>
        </p:nvSpPr>
        <p:spPr>
          <a:xfrm>
            <a:off x="1608920" y="4467641"/>
            <a:ext cx="1951499" cy="339164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1600" dirty="0" err="1">
                <a:solidFill>
                  <a:prstClr val="black"/>
                </a:solidFill>
                <a:latin typeface="Consolas"/>
                <a:cs typeface="Consolas"/>
              </a:rPr>
              <a:t>callq</a:t>
            </a:r>
            <a:r>
              <a:rPr lang="en-US" altLang="zh-CN" sz="1600" dirty="0">
                <a:solidFill>
                  <a:prstClr val="black"/>
                </a:solidFill>
                <a:latin typeface="Consolas"/>
                <a:cs typeface="Consolas"/>
              </a:rPr>
              <a:t> 5fa</a:t>
            </a:r>
            <a:endParaRPr lang="zh-CN" altLang="en-US" sz="1600" dirty="0">
              <a:solidFill>
                <a:prstClr val="black"/>
              </a:solidFill>
              <a:latin typeface="Consolas"/>
              <a:cs typeface="Consolas"/>
            </a:endParaRPr>
          </a:p>
        </p:txBody>
      </p:sp>
      <p:sp>
        <p:nvSpPr>
          <p:cNvPr id="81" name="矩形 80"/>
          <p:cNvSpPr/>
          <p:nvPr/>
        </p:nvSpPr>
        <p:spPr>
          <a:xfrm>
            <a:off x="1606883" y="4807245"/>
            <a:ext cx="1951499" cy="339164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1600" dirty="0">
                <a:solidFill>
                  <a:prstClr val="black"/>
                </a:solidFill>
                <a:latin typeface="Consolas"/>
                <a:cs typeface="Consolas"/>
              </a:rPr>
              <a:t>mov $0x0, %</a:t>
            </a:r>
            <a:r>
              <a:rPr lang="en-US" altLang="zh-CN" sz="1600" dirty="0" err="1">
                <a:solidFill>
                  <a:prstClr val="black"/>
                </a:solidFill>
                <a:latin typeface="Consolas"/>
                <a:cs typeface="Consolas"/>
              </a:rPr>
              <a:t>eax</a:t>
            </a:r>
            <a:endParaRPr lang="zh-CN" altLang="en-US" sz="1600" dirty="0">
              <a:solidFill>
                <a:prstClr val="black"/>
              </a:solidFill>
              <a:latin typeface="Consolas"/>
              <a:cs typeface="Consolas"/>
            </a:endParaRPr>
          </a:p>
        </p:txBody>
      </p:sp>
      <p:sp>
        <p:nvSpPr>
          <p:cNvPr id="83" name="矩形 82"/>
          <p:cNvSpPr/>
          <p:nvPr/>
        </p:nvSpPr>
        <p:spPr>
          <a:xfrm>
            <a:off x="1608920" y="5142806"/>
            <a:ext cx="1951499" cy="339164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1600" dirty="0">
                <a:solidFill>
                  <a:prstClr val="black"/>
                </a:solidFill>
                <a:latin typeface="Consolas"/>
                <a:cs typeface="Consolas"/>
              </a:rPr>
              <a:t>ret</a:t>
            </a:r>
            <a:endParaRPr lang="zh-CN" altLang="en-US" sz="1600" dirty="0">
              <a:solidFill>
                <a:prstClr val="black"/>
              </a:solidFill>
              <a:latin typeface="Consolas"/>
              <a:cs typeface="Consolas"/>
            </a:endParaRPr>
          </a:p>
        </p:txBody>
      </p:sp>
      <p:sp>
        <p:nvSpPr>
          <p:cNvPr id="84" name="矩形 83"/>
          <p:cNvSpPr/>
          <p:nvPr/>
        </p:nvSpPr>
        <p:spPr>
          <a:xfrm>
            <a:off x="1007750" y="5736478"/>
            <a:ext cx="492443" cy="427994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mr-IN" altLang="zh-CN" sz="2400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sz="2400" dirty="0"/>
          </a:p>
        </p:txBody>
      </p:sp>
      <p:sp>
        <p:nvSpPr>
          <p:cNvPr id="86" name="矩形 85"/>
          <p:cNvSpPr/>
          <p:nvPr/>
        </p:nvSpPr>
        <p:spPr>
          <a:xfrm>
            <a:off x="1206127" y="3129472"/>
            <a:ext cx="377064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...</a:t>
            </a:r>
            <a:endParaRPr lang="zh-CN" altLang="en-US" dirty="0"/>
          </a:p>
        </p:txBody>
      </p:sp>
      <p:sp>
        <p:nvSpPr>
          <p:cNvPr id="87" name="矩形 86"/>
          <p:cNvSpPr/>
          <p:nvPr/>
        </p:nvSpPr>
        <p:spPr>
          <a:xfrm>
            <a:off x="-92268" y="5487084"/>
            <a:ext cx="1675459" cy="307777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sz="1400" dirty="0">
                <a:solidFill>
                  <a:prstClr val="black"/>
                </a:solidFill>
                <a:latin typeface="Consolas" panose="020B0609020204030204" pitchFamily="49" charset="0"/>
                <a:cs typeface="Arial"/>
              </a:rPr>
              <a:t>0x00..5555545fa</a:t>
            </a:r>
            <a:endParaRPr lang="zh-CN" altLang="en-US" sz="1400" dirty="0">
              <a:latin typeface="Consolas" panose="020B0609020204030204" pitchFamily="49" charset="0"/>
            </a:endParaRPr>
          </a:p>
        </p:txBody>
      </p:sp>
      <p:sp>
        <p:nvSpPr>
          <p:cNvPr id="94" name="矩形 93"/>
          <p:cNvSpPr/>
          <p:nvPr/>
        </p:nvSpPr>
        <p:spPr>
          <a:xfrm>
            <a:off x="1212855" y="3479632"/>
            <a:ext cx="377064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...</a:t>
            </a:r>
            <a:endParaRPr lang="zh-CN" altLang="en-US" dirty="0"/>
          </a:p>
        </p:txBody>
      </p:sp>
      <p:sp>
        <p:nvSpPr>
          <p:cNvPr id="103" name="矩形 102"/>
          <p:cNvSpPr/>
          <p:nvPr/>
        </p:nvSpPr>
        <p:spPr>
          <a:xfrm>
            <a:off x="1607980" y="5486144"/>
            <a:ext cx="1951499" cy="339164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1100" b="1" dirty="0" err="1">
                <a:solidFill>
                  <a:prstClr val="black"/>
                </a:solidFill>
                <a:latin typeface="Consolas"/>
                <a:cs typeface="Consolas"/>
              </a:rPr>
              <a:t>addl</a:t>
            </a:r>
            <a:r>
              <a:rPr lang="en-US" altLang="zh-CN" sz="1100" b="1" dirty="0">
                <a:solidFill>
                  <a:prstClr val="black"/>
                </a:solidFill>
                <a:latin typeface="Consolas"/>
                <a:cs typeface="Consolas"/>
              </a:rPr>
              <a:t> $0x1, 0x200a13(%rip)</a:t>
            </a:r>
            <a:endParaRPr lang="zh-CN" altLang="en-US" sz="1100" b="1" dirty="0">
              <a:solidFill>
                <a:prstClr val="black"/>
              </a:solidFill>
              <a:latin typeface="Consolas"/>
              <a:cs typeface="Consolas"/>
            </a:endParaRPr>
          </a:p>
        </p:txBody>
      </p:sp>
      <p:sp>
        <p:nvSpPr>
          <p:cNvPr id="104" name="矩形 103"/>
          <p:cNvSpPr/>
          <p:nvPr/>
        </p:nvSpPr>
        <p:spPr>
          <a:xfrm>
            <a:off x="1606883" y="5825308"/>
            <a:ext cx="1951499" cy="339164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24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06" name="矩形 105"/>
          <p:cNvSpPr/>
          <p:nvPr/>
        </p:nvSpPr>
        <p:spPr>
          <a:xfrm>
            <a:off x="41757" y="115556"/>
            <a:ext cx="1576072" cy="307777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sz="1400" dirty="0">
                <a:solidFill>
                  <a:prstClr val="black"/>
                </a:solidFill>
                <a:latin typeface="Consolas" panose="020B0609020204030204" pitchFamily="49" charset="0"/>
                <a:cs typeface="Arial"/>
              </a:rPr>
              <a:t>0x7f</a:t>
            </a:r>
            <a:r>
              <a:rPr lang="mr-IN" altLang="zh-CN" sz="1400" dirty="0">
                <a:solidFill>
                  <a:prstClr val="black"/>
                </a:solidFill>
                <a:latin typeface="Consolas" panose="020B0609020204030204" pitchFamily="49" charset="0"/>
                <a:cs typeface="Arial"/>
              </a:rPr>
              <a:t>…</a:t>
            </a:r>
            <a:r>
              <a:rPr lang="en-US" altLang="zh-CN" sz="1400" dirty="0">
                <a:solidFill>
                  <a:prstClr val="black"/>
                </a:solidFill>
                <a:latin typeface="Consolas" panose="020B0609020204030204" pitchFamily="49" charset="0"/>
                <a:cs typeface="Arial"/>
              </a:rPr>
              <a:t>000000098</a:t>
            </a:r>
            <a:endParaRPr lang="zh-CN" altLang="en-US" sz="1400" dirty="0">
              <a:latin typeface="Consolas" panose="020B0609020204030204" pitchFamily="49" charset="0"/>
            </a:endParaRPr>
          </a:p>
        </p:txBody>
      </p:sp>
      <p:sp>
        <p:nvSpPr>
          <p:cNvPr id="102" name="矩形 101"/>
          <p:cNvSpPr/>
          <p:nvPr/>
        </p:nvSpPr>
        <p:spPr>
          <a:xfrm>
            <a:off x="3998001" y="4492817"/>
            <a:ext cx="688009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kumimoji="1" lang="en-US" altLang="zh-CN" sz="1400" b="1" dirty="0">
                <a:latin typeface="Verdana"/>
                <a:cs typeface="Verdana"/>
              </a:rPr>
              <a:t>%rip</a:t>
            </a:r>
            <a:endParaRPr lang="zh-CN" altLang="en-US" sz="1400" b="1" dirty="0"/>
          </a:p>
        </p:txBody>
      </p:sp>
      <p:cxnSp>
        <p:nvCxnSpPr>
          <p:cNvPr id="111" name="直线箭头连接符 110"/>
          <p:cNvCxnSpPr>
            <a:cxnSpLocks/>
            <a:stCxn id="102" idx="1"/>
          </p:cNvCxnSpPr>
          <p:nvPr/>
        </p:nvCxnSpPr>
        <p:spPr>
          <a:xfrm flipH="1" flipV="1">
            <a:off x="3631035" y="4634980"/>
            <a:ext cx="366966" cy="11726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" name="矩形 86">
            <a:extLst>
              <a:ext uri="{FF2B5EF4-FFF2-40B4-BE49-F238E27FC236}">
                <a16:creationId xmlns:a16="http://schemas.microsoft.com/office/drawing/2014/main" id="{B9B15590-4945-46D2-8B7E-12F73E7262F4}"/>
              </a:ext>
            </a:extLst>
          </p:cNvPr>
          <p:cNvSpPr/>
          <p:nvPr/>
        </p:nvSpPr>
        <p:spPr>
          <a:xfrm>
            <a:off x="-71138" y="5168166"/>
            <a:ext cx="1675460" cy="307777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sz="1400" dirty="0">
                <a:solidFill>
                  <a:prstClr val="black"/>
                </a:solidFill>
                <a:latin typeface="Consolas" panose="020B0609020204030204" pitchFamily="49" charset="0"/>
                <a:cs typeface="Arial"/>
              </a:rPr>
              <a:t>0x00..555554601</a:t>
            </a:r>
            <a:endParaRPr lang="zh-CN" altLang="en-US" sz="1400" dirty="0">
              <a:latin typeface="Consolas" panose="020B0609020204030204" pitchFamily="49" charset="0"/>
            </a:endParaRPr>
          </a:p>
        </p:txBody>
      </p:sp>
      <p:sp>
        <p:nvSpPr>
          <p:cNvPr id="3" name="矩形 86">
            <a:extLst>
              <a:ext uri="{FF2B5EF4-FFF2-40B4-BE49-F238E27FC236}">
                <a16:creationId xmlns:a16="http://schemas.microsoft.com/office/drawing/2014/main" id="{D20B1BDD-8F63-4A4F-9EA2-E04AAD9ECE6C}"/>
              </a:ext>
            </a:extLst>
          </p:cNvPr>
          <p:cNvSpPr/>
          <p:nvPr/>
        </p:nvSpPr>
        <p:spPr>
          <a:xfrm>
            <a:off x="-55474" y="4846792"/>
            <a:ext cx="1675460" cy="307777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sz="1400" dirty="0">
                <a:solidFill>
                  <a:prstClr val="black"/>
                </a:solidFill>
                <a:latin typeface="Consolas" panose="020B0609020204030204" pitchFamily="49" charset="0"/>
                <a:cs typeface="Arial"/>
              </a:rPr>
              <a:t>0x00..555554602</a:t>
            </a:r>
            <a:endParaRPr lang="zh-CN" altLang="en-US" sz="1400" dirty="0">
              <a:latin typeface="Consolas" panose="020B0609020204030204" pitchFamily="49" charset="0"/>
            </a:endParaRPr>
          </a:p>
        </p:txBody>
      </p:sp>
      <p:sp>
        <p:nvSpPr>
          <p:cNvPr id="10" name="矩形 86">
            <a:extLst>
              <a:ext uri="{FF2B5EF4-FFF2-40B4-BE49-F238E27FC236}">
                <a16:creationId xmlns:a16="http://schemas.microsoft.com/office/drawing/2014/main" id="{C8BF97E7-7FED-4E8C-9372-42E8F3BDECE0}"/>
              </a:ext>
            </a:extLst>
          </p:cNvPr>
          <p:cNvSpPr/>
          <p:nvPr/>
        </p:nvSpPr>
        <p:spPr>
          <a:xfrm>
            <a:off x="-34276" y="4517116"/>
            <a:ext cx="1675460" cy="307777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sz="1400" dirty="0">
                <a:solidFill>
                  <a:prstClr val="black"/>
                </a:solidFill>
                <a:latin typeface="Consolas" panose="020B0609020204030204" pitchFamily="49" charset="0"/>
                <a:cs typeface="Arial"/>
              </a:rPr>
              <a:t>0x00..555554607</a:t>
            </a:r>
            <a:endParaRPr lang="zh-CN" altLang="en-US" sz="1400" dirty="0">
              <a:latin typeface="Consolas" panose="020B0609020204030204" pitchFamily="49" charset="0"/>
            </a:endParaRPr>
          </a:p>
        </p:txBody>
      </p:sp>
      <p:sp>
        <p:nvSpPr>
          <p:cNvPr id="17" name="矩形 86">
            <a:extLst>
              <a:ext uri="{FF2B5EF4-FFF2-40B4-BE49-F238E27FC236}">
                <a16:creationId xmlns:a16="http://schemas.microsoft.com/office/drawing/2014/main" id="{827A7CFE-EFA9-4FB8-9846-89EA57AAB9AC}"/>
              </a:ext>
            </a:extLst>
          </p:cNvPr>
          <p:cNvSpPr/>
          <p:nvPr/>
        </p:nvSpPr>
        <p:spPr>
          <a:xfrm>
            <a:off x="-27875" y="4188144"/>
            <a:ext cx="1675460" cy="307777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sz="1400" dirty="0">
                <a:solidFill>
                  <a:prstClr val="black"/>
                </a:solidFill>
                <a:latin typeface="Consolas" panose="020B0609020204030204" pitchFamily="49" charset="0"/>
                <a:cs typeface="Arial"/>
              </a:rPr>
              <a:t>0x00..55555460c</a:t>
            </a:r>
            <a:endParaRPr lang="zh-CN" altLang="en-US" sz="1400" dirty="0">
              <a:latin typeface="Consolas" panose="020B0609020204030204" pitchFamily="49" charset="0"/>
            </a:endParaRPr>
          </a:p>
        </p:txBody>
      </p:sp>
      <p:sp>
        <p:nvSpPr>
          <p:cNvPr id="18" name="矩形 86">
            <a:extLst>
              <a:ext uri="{FF2B5EF4-FFF2-40B4-BE49-F238E27FC236}">
                <a16:creationId xmlns:a16="http://schemas.microsoft.com/office/drawing/2014/main" id="{D0716B26-00D9-4238-BEBE-7A5B08E5B306}"/>
              </a:ext>
            </a:extLst>
          </p:cNvPr>
          <p:cNvSpPr/>
          <p:nvPr/>
        </p:nvSpPr>
        <p:spPr>
          <a:xfrm>
            <a:off x="-35792" y="3837968"/>
            <a:ext cx="1675460" cy="307777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sz="1400" dirty="0">
                <a:solidFill>
                  <a:prstClr val="black"/>
                </a:solidFill>
                <a:latin typeface="Consolas" panose="020B0609020204030204" pitchFamily="49" charset="0"/>
                <a:cs typeface="Arial"/>
              </a:rPr>
              <a:t>0x00..555554611</a:t>
            </a:r>
            <a:endParaRPr lang="zh-CN" altLang="en-US" sz="1400" dirty="0">
              <a:latin typeface="Consolas" panose="020B0609020204030204" pitchFamily="49" charset="0"/>
            </a:endParaRPr>
          </a:p>
        </p:txBody>
      </p:sp>
      <p:sp>
        <p:nvSpPr>
          <p:cNvPr id="19" name="矩形 105">
            <a:extLst>
              <a:ext uri="{FF2B5EF4-FFF2-40B4-BE49-F238E27FC236}">
                <a16:creationId xmlns:a16="http://schemas.microsoft.com/office/drawing/2014/main" id="{701D13D6-8394-4EFB-84F6-8CA0A44B302A}"/>
              </a:ext>
            </a:extLst>
          </p:cNvPr>
          <p:cNvSpPr/>
          <p:nvPr/>
        </p:nvSpPr>
        <p:spPr>
          <a:xfrm>
            <a:off x="25628" y="454676"/>
            <a:ext cx="1576072" cy="307777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sz="1400" dirty="0">
                <a:solidFill>
                  <a:prstClr val="black"/>
                </a:solidFill>
                <a:latin typeface="Consolas" panose="020B0609020204030204" pitchFamily="49" charset="0"/>
                <a:cs typeface="Arial"/>
              </a:rPr>
              <a:t>0x7f</a:t>
            </a:r>
            <a:r>
              <a:rPr lang="mr-IN" altLang="zh-CN" sz="1400" dirty="0">
                <a:solidFill>
                  <a:prstClr val="black"/>
                </a:solidFill>
                <a:latin typeface="Consolas" panose="020B0609020204030204" pitchFamily="49" charset="0"/>
                <a:cs typeface="Arial"/>
              </a:rPr>
              <a:t>…</a:t>
            </a:r>
            <a:r>
              <a:rPr lang="en-US" altLang="zh-CN" sz="1400" dirty="0">
                <a:solidFill>
                  <a:prstClr val="black"/>
                </a:solidFill>
                <a:latin typeface="Consolas" panose="020B0609020204030204" pitchFamily="49" charset="0"/>
                <a:cs typeface="Arial"/>
              </a:rPr>
              <a:t>000000090</a:t>
            </a:r>
            <a:endParaRPr lang="zh-CN" altLang="en-US" sz="1400" dirty="0">
              <a:latin typeface="Consolas" panose="020B0609020204030204" pitchFamily="49" charset="0"/>
            </a:endParaRPr>
          </a:p>
        </p:txBody>
      </p:sp>
      <p:sp>
        <p:nvSpPr>
          <p:cNvPr id="20" name="矩形 105">
            <a:extLst>
              <a:ext uri="{FF2B5EF4-FFF2-40B4-BE49-F238E27FC236}">
                <a16:creationId xmlns:a16="http://schemas.microsoft.com/office/drawing/2014/main" id="{57CD497F-20EC-4F9D-8A3E-6CA7C242FAFB}"/>
              </a:ext>
            </a:extLst>
          </p:cNvPr>
          <p:cNvSpPr/>
          <p:nvPr/>
        </p:nvSpPr>
        <p:spPr>
          <a:xfrm>
            <a:off x="25628" y="826603"/>
            <a:ext cx="1576072" cy="307777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sz="1400" dirty="0">
                <a:solidFill>
                  <a:prstClr val="black"/>
                </a:solidFill>
                <a:latin typeface="Consolas" panose="020B0609020204030204" pitchFamily="49" charset="0"/>
                <a:cs typeface="Arial"/>
              </a:rPr>
              <a:t>0x7f</a:t>
            </a:r>
            <a:r>
              <a:rPr lang="mr-IN" altLang="zh-CN" sz="1400" dirty="0">
                <a:solidFill>
                  <a:prstClr val="black"/>
                </a:solidFill>
                <a:latin typeface="Consolas" panose="020B0609020204030204" pitchFamily="49" charset="0"/>
                <a:cs typeface="Arial"/>
              </a:rPr>
              <a:t>…</a:t>
            </a:r>
            <a:r>
              <a:rPr lang="en-US" altLang="zh-CN" sz="1400" dirty="0">
                <a:solidFill>
                  <a:prstClr val="black"/>
                </a:solidFill>
                <a:latin typeface="Consolas" panose="020B0609020204030204" pitchFamily="49" charset="0"/>
                <a:cs typeface="Arial"/>
              </a:rPr>
              <a:t>000000088</a:t>
            </a:r>
            <a:endParaRPr lang="zh-CN" altLang="en-US" sz="1400" dirty="0">
              <a:latin typeface="Consolas" panose="020B0609020204030204" pitchFamily="49" charset="0"/>
            </a:endParaRPr>
          </a:p>
        </p:txBody>
      </p:sp>
      <p:sp>
        <p:nvSpPr>
          <p:cNvPr id="21" name="矩形 86">
            <a:extLst>
              <a:ext uri="{FF2B5EF4-FFF2-40B4-BE49-F238E27FC236}">
                <a16:creationId xmlns:a16="http://schemas.microsoft.com/office/drawing/2014/main" id="{FAD60544-1F1F-4085-9370-0580C9379794}"/>
              </a:ext>
            </a:extLst>
          </p:cNvPr>
          <p:cNvSpPr/>
          <p:nvPr/>
        </p:nvSpPr>
        <p:spPr>
          <a:xfrm>
            <a:off x="-7936" y="2809448"/>
            <a:ext cx="1675459" cy="307777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sz="1400" dirty="0">
                <a:solidFill>
                  <a:prstClr val="black"/>
                </a:solidFill>
                <a:latin typeface="Consolas" panose="020B0609020204030204" pitchFamily="49" charset="0"/>
                <a:cs typeface="Arial"/>
              </a:rPr>
              <a:t>0x00..555755014</a:t>
            </a:r>
            <a:endParaRPr lang="zh-CN" altLang="en-US" sz="1400" dirty="0">
              <a:latin typeface="Consolas" panose="020B0609020204030204" pitchFamily="49" charset="0"/>
            </a:endParaRPr>
          </a:p>
        </p:txBody>
      </p:sp>
      <p:sp>
        <p:nvSpPr>
          <p:cNvPr id="22" name="矩形 86">
            <a:extLst>
              <a:ext uri="{FF2B5EF4-FFF2-40B4-BE49-F238E27FC236}">
                <a16:creationId xmlns:a16="http://schemas.microsoft.com/office/drawing/2014/main" id="{767ADB22-AB5C-4947-B02B-DF8044B8B62D}"/>
              </a:ext>
            </a:extLst>
          </p:cNvPr>
          <p:cNvSpPr/>
          <p:nvPr/>
        </p:nvSpPr>
        <p:spPr>
          <a:xfrm>
            <a:off x="-27658" y="2467751"/>
            <a:ext cx="1675460" cy="307777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sz="1400" dirty="0">
                <a:solidFill>
                  <a:prstClr val="black"/>
                </a:solidFill>
                <a:latin typeface="Consolas" panose="020B0609020204030204" pitchFamily="49" charset="0"/>
                <a:cs typeface="Arial"/>
              </a:rPr>
              <a:t>0x00..555755018</a:t>
            </a:r>
            <a:endParaRPr lang="zh-CN" altLang="en-US" sz="140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3178413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/>
          <p:cNvSpPr/>
          <p:nvPr/>
        </p:nvSpPr>
        <p:spPr>
          <a:xfrm>
            <a:off x="5770729" y="420774"/>
            <a:ext cx="2617701" cy="6087558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 w="381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kumimoji="1" lang="zh-CN" altLang="en-US" dirty="0">
              <a:solidFill>
                <a:schemeClr val="tx1"/>
              </a:solidFill>
              <a:latin typeface="Verdana"/>
              <a:cs typeface="Verdana"/>
            </a:endParaRPr>
          </a:p>
        </p:txBody>
      </p:sp>
      <p:sp>
        <p:nvSpPr>
          <p:cNvPr id="6" name="矩形 5"/>
          <p:cNvSpPr/>
          <p:nvPr/>
        </p:nvSpPr>
        <p:spPr>
          <a:xfrm>
            <a:off x="1859596" y="6151633"/>
            <a:ext cx="1219980" cy="400110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kumimoji="1" lang="en-US" altLang="zh-CN" sz="2000" dirty="0">
                <a:latin typeface="Verdana"/>
                <a:cs typeface="Verdana"/>
              </a:rPr>
              <a:t>Memory</a:t>
            </a:r>
            <a:endParaRPr lang="zh-CN" altLang="en-US" sz="2000" dirty="0"/>
          </a:p>
        </p:txBody>
      </p:sp>
      <p:sp>
        <p:nvSpPr>
          <p:cNvPr id="27" name="矩形 26"/>
          <p:cNvSpPr/>
          <p:nvPr/>
        </p:nvSpPr>
        <p:spPr>
          <a:xfrm>
            <a:off x="6707135" y="402971"/>
            <a:ext cx="65399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 dirty="0">
                <a:latin typeface="Verdana"/>
                <a:cs typeface="Verdana"/>
              </a:rPr>
              <a:t>CPU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28" name="圆角矩形 27"/>
          <p:cNvSpPr/>
          <p:nvPr/>
        </p:nvSpPr>
        <p:spPr>
          <a:xfrm>
            <a:off x="6707135" y="829513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s-IS" altLang="zh-CN" sz="1400" dirty="0">
                <a:solidFill>
                  <a:srgbClr val="000000"/>
                </a:solidFill>
                <a:latin typeface="Arial"/>
                <a:cs typeface="Arial"/>
              </a:rPr>
              <a:t>0x00..5555545fa</a:t>
            </a:r>
          </a:p>
        </p:txBody>
      </p:sp>
      <p:sp>
        <p:nvSpPr>
          <p:cNvPr id="29" name="矩形 28"/>
          <p:cNvSpPr/>
          <p:nvPr/>
        </p:nvSpPr>
        <p:spPr>
          <a:xfrm>
            <a:off x="5973834" y="849437"/>
            <a:ext cx="68640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 dirty="0">
                <a:latin typeface="Verdana"/>
                <a:cs typeface="Verdana"/>
              </a:rPr>
              <a:t>RIP: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33" name="矩形 32"/>
          <p:cNvSpPr/>
          <p:nvPr/>
        </p:nvSpPr>
        <p:spPr>
          <a:xfrm>
            <a:off x="6007264" y="1716244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RAX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34" name="圆角矩形 33"/>
          <p:cNvSpPr/>
          <p:nvPr/>
        </p:nvSpPr>
        <p:spPr>
          <a:xfrm>
            <a:off x="6707134" y="1726615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is-IS" altLang="zh-CN" dirty="0">
                <a:solidFill>
                  <a:prstClr val="black"/>
                </a:solidFill>
                <a:latin typeface="Consolas" panose="020B0609020204030204" pitchFamily="49" charset="0"/>
                <a:cs typeface="Arial"/>
                <a:sym typeface="Courier New Bold" charset="0"/>
              </a:rPr>
              <a:t>0x0</a:t>
            </a:r>
          </a:p>
        </p:txBody>
      </p:sp>
      <p:sp>
        <p:nvSpPr>
          <p:cNvPr id="35" name="圆角矩形 34"/>
          <p:cNvSpPr/>
          <p:nvPr/>
        </p:nvSpPr>
        <p:spPr>
          <a:xfrm>
            <a:off x="6732381" y="2156558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6" name="圆角矩形 35"/>
          <p:cNvSpPr/>
          <p:nvPr/>
        </p:nvSpPr>
        <p:spPr>
          <a:xfrm>
            <a:off x="6732381" y="2585832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 dirty="0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37" name="圆角矩形 36"/>
          <p:cNvSpPr/>
          <p:nvPr/>
        </p:nvSpPr>
        <p:spPr>
          <a:xfrm>
            <a:off x="6727649" y="3016507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 dirty="0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38" name="圆角矩形 37"/>
          <p:cNvSpPr/>
          <p:nvPr/>
        </p:nvSpPr>
        <p:spPr>
          <a:xfrm>
            <a:off x="6728204" y="3454928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9" name="圆角矩形 38"/>
          <p:cNvSpPr/>
          <p:nvPr/>
        </p:nvSpPr>
        <p:spPr>
          <a:xfrm>
            <a:off x="6730569" y="3884871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40" name="圆角矩形 39"/>
          <p:cNvSpPr/>
          <p:nvPr/>
        </p:nvSpPr>
        <p:spPr>
          <a:xfrm>
            <a:off x="6719128" y="4314145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is-IS" altLang="zh-CN" sz="1400" dirty="0">
                <a:solidFill>
                  <a:prstClr val="black"/>
                </a:solidFill>
                <a:latin typeface="Consolas" panose="020B0609020204030204" pitchFamily="49" charset="0"/>
                <a:cs typeface="Arial"/>
                <a:sym typeface="Courier New Bold" charset="0"/>
              </a:rPr>
              <a:t>0x7f…000000088</a:t>
            </a:r>
          </a:p>
        </p:txBody>
      </p:sp>
      <p:sp>
        <p:nvSpPr>
          <p:cNvPr id="41" name="圆角矩形 40"/>
          <p:cNvSpPr/>
          <p:nvPr/>
        </p:nvSpPr>
        <p:spPr>
          <a:xfrm>
            <a:off x="6725837" y="4744820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 dirty="0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42" name="矩形 41"/>
          <p:cNvSpPr/>
          <p:nvPr/>
        </p:nvSpPr>
        <p:spPr>
          <a:xfrm>
            <a:off x="7071077" y="6098041"/>
            <a:ext cx="441146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mr-IN" altLang="zh-CN" sz="2000" b="1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sz="2000" b="1" dirty="0"/>
          </a:p>
        </p:txBody>
      </p:sp>
      <p:sp>
        <p:nvSpPr>
          <p:cNvPr id="43" name="矩形 42"/>
          <p:cNvSpPr/>
          <p:nvPr/>
        </p:nvSpPr>
        <p:spPr>
          <a:xfrm>
            <a:off x="6004115" y="2168000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RBX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44" name="矩形 43"/>
          <p:cNvSpPr/>
          <p:nvPr/>
        </p:nvSpPr>
        <p:spPr>
          <a:xfrm>
            <a:off x="5989455" y="2585832"/>
            <a:ext cx="77685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RCX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45" name="矩形 44"/>
          <p:cNvSpPr/>
          <p:nvPr/>
        </p:nvSpPr>
        <p:spPr>
          <a:xfrm>
            <a:off x="5993122" y="3024282"/>
            <a:ext cx="77685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RDX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46" name="矩形 45"/>
          <p:cNvSpPr/>
          <p:nvPr/>
        </p:nvSpPr>
        <p:spPr>
          <a:xfrm>
            <a:off x="5990867" y="3451290"/>
            <a:ext cx="67428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RSI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47" name="矩形 46"/>
          <p:cNvSpPr/>
          <p:nvPr/>
        </p:nvSpPr>
        <p:spPr>
          <a:xfrm>
            <a:off x="5986305" y="3882159"/>
            <a:ext cx="68702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RDI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48" name="矩形 47"/>
          <p:cNvSpPr/>
          <p:nvPr/>
        </p:nvSpPr>
        <p:spPr>
          <a:xfrm>
            <a:off x="5985749" y="4320609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RSP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49" name="矩形 48"/>
          <p:cNvSpPr/>
          <p:nvPr/>
        </p:nvSpPr>
        <p:spPr>
          <a:xfrm>
            <a:off x="5983157" y="4718557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RBP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56" name="矩形 55"/>
          <p:cNvSpPr/>
          <p:nvPr/>
        </p:nvSpPr>
        <p:spPr>
          <a:xfrm>
            <a:off x="3955484" y="891841"/>
            <a:ext cx="732893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kumimoji="1" lang="en-US" altLang="zh-CN" sz="1400" b="1" dirty="0">
                <a:latin typeface="Verdana"/>
                <a:cs typeface="Verdana"/>
              </a:rPr>
              <a:t>%</a:t>
            </a:r>
            <a:r>
              <a:rPr kumimoji="1" lang="en-US" altLang="zh-CN" sz="1400" b="1" dirty="0" err="1">
                <a:latin typeface="Verdana"/>
                <a:cs typeface="Verdana"/>
              </a:rPr>
              <a:t>rsp</a:t>
            </a:r>
            <a:endParaRPr lang="zh-CN" altLang="en-US" sz="1400" b="1" dirty="0"/>
          </a:p>
        </p:txBody>
      </p:sp>
      <p:sp>
        <p:nvSpPr>
          <p:cNvPr id="57" name="矩形 56"/>
          <p:cNvSpPr/>
          <p:nvPr/>
        </p:nvSpPr>
        <p:spPr>
          <a:xfrm>
            <a:off x="6194819" y="5220252"/>
            <a:ext cx="57149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ZF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58" name="圆角矩形 57"/>
          <p:cNvSpPr/>
          <p:nvPr/>
        </p:nvSpPr>
        <p:spPr>
          <a:xfrm>
            <a:off x="6748122" y="5211806"/>
            <a:ext cx="439253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  <a:sym typeface="Courier New Bold" charset="0"/>
              </a:rPr>
              <a:t>0</a:t>
            </a:r>
          </a:p>
        </p:txBody>
      </p:sp>
      <p:sp>
        <p:nvSpPr>
          <p:cNvPr id="62" name="矩形 61"/>
          <p:cNvSpPr/>
          <p:nvPr/>
        </p:nvSpPr>
        <p:spPr>
          <a:xfrm>
            <a:off x="7298019" y="5198018"/>
            <a:ext cx="58445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SF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64" name="圆角矩形 63"/>
          <p:cNvSpPr/>
          <p:nvPr/>
        </p:nvSpPr>
        <p:spPr>
          <a:xfrm>
            <a:off x="7857802" y="5189572"/>
            <a:ext cx="439253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  <a:sym typeface="Courier New Bold" charset="0"/>
              </a:rPr>
              <a:t>0</a:t>
            </a:r>
          </a:p>
        </p:txBody>
      </p:sp>
      <p:sp>
        <p:nvSpPr>
          <p:cNvPr id="65" name="矩形 64"/>
          <p:cNvSpPr/>
          <p:nvPr/>
        </p:nvSpPr>
        <p:spPr>
          <a:xfrm>
            <a:off x="6177727" y="5675034"/>
            <a:ext cx="59718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CF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77" name="圆角矩形 76"/>
          <p:cNvSpPr/>
          <p:nvPr/>
        </p:nvSpPr>
        <p:spPr>
          <a:xfrm>
            <a:off x="6743879" y="5666588"/>
            <a:ext cx="439253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  <a:sym typeface="Courier New Bold" charset="0"/>
              </a:rPr>
              <a:t>0</a:t>
            </a:r>
          </a:p>
        </p:txBody>
      </p:sp>
      <p:sp>
        <p:nvSpPr>
          <p:cNvPr id="78" name="矩形 77"/>
          <p:cNvSpPr/>
          <p:nvPr/>
        </p:nvSpPr>
        <p:spPr>
          <a:xfrm>
            <a:off x="7280983" y="5652800"/>
            <a:ext cx="61003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OF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79" name="圆角矩形 78"/>
          <p:cNvSpPr/>
          <p:nvPr/>
        </p:nvSpPr>
        <p:spPr>
          <a:xfrm>
            <a:off x="7853559" y="5644354"/>
            <a:ext cx="439253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  <a:sym typeface="Courier New Bold" charset="0"/>
              </a:rPr>
              <a:t>0</a:t>
            </a:r>
          </a:p>
        </p:txBody>
      </p:sp>
      <p:sp>
        <p:nvSpPr>
          <p:cNvPr id="7" name="矩形 6"/>
          <p:cNvSpPr/>
          <p:nvPr/>
        </p:nvSpPr>
        <p:spPr>
          <a:xfrm>
            <a:off x="1588002" y="819397"/>
            <a:ext cx="1951499" cy="33916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1400" dirty="0">
                <a:latin typeface="Consolas"/>
                <a:cs typeface="Consolas"/>
                <a:sym typeface="Courier New Bold" charset="0"/>
              </a:rPr>
              <a:t>0x00..55555460c</a:t>
            </a:r>
            <a:endParaRPr lang="cs-CZ" altLang="zh-CN" sz="1400" dirty="0">
              <a:latin typeface="Consolas"/>
              <a:cs typeface="Consolas"/>
              <a:sym typeface="Courier New Bold" charset="0"/>
            </a:endParaRPr>
          </a:p>
        </p:txBody>
      </p:sp>
      <p:sp>
        <p:nvSpPr>
          <p:cNvPr id="8" name="矩形 7"/>
          <p:cNvSpPr/>
          <p:nvPr/>
        </p:nvSpPr>
        <p:spPr>
          <a:xfrm>
            <a:off x="1588002" y="480233"/>
            <a:ext cx="1951499" cy="33916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US" altLang="zh-CN" sz="1600" dirty="0">
                <a:solidFill>
                  <a:prstClr val="black"/>
                </a:solidFill>
                <a:latin typeface="Consolas"/>
                <a:cs typeface="Consolas"/>
              </a:rPr>
              <a:t>...</a:t>
            </a:r>
          </a:p>
        </p:txBody>
      </p:sp>
      <p:sp>
        <p:nvSpPr>
          <p:cNvPr id="9" name="矩形 8"/>
          <p:cNvSpPr/>
          <p:nvPr/>
        </p:nvSpPr>
        <p:spPr>
          <a:xfrm>
            <a:off x="1588002" y="143470"/>
            <a:ext cx="1951499" cy="33916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tabLst>
                <a:tab pos="514350" algn="l"/>
                <a:tab pos="2801938" algn="l"/>
                <a:tab pos="3086100" algn="l"/>
                <a:tab pos="3086100" algn="l"/>
                <a:tab pos="3086100" algn="l"/>
                <a:tab pos="3086100" algn="l"/>
              </a:tabLst>
            </a:pPr>
            <a:r>
              <a:rPr lang="cs-CZ" altLang="zh-CN" sz="1600" dirty="0">
                <a:latin typeface="Consolas"/>
                <a:cs typeface="Consolas"/>
                <a:sym typeface="Courier New Bold" charset="0"/>
              </a:rPr>
              <a:t>...</a:t>
            </a:r>
          </a:p>
        </p:txBody>
      </p:sp>
      <p:sp>
        <p:nvSpPr>
          <p:cNvPr id="11" name="矩形 10"/>
          <p:cNvSpPr/>
          <p:nvPr/>
        </p:nvSpPr>
        <p:spPr>
          <a:xfrm>
            <a:off x="1588002" y="1158204"/>
            <a:ext cx="1951499" cy="339164"/>
          </a:xfrm>
          <a:prstGeom prst="rect">
            <a:avLst/>
          </a:prstGeom>
          <a:noFill/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zh-CN" altLang="en-US" sz="1600" dirty="0">
              <a:solidFill>
                <a:prstClr val="black"/>
              </a:solidFill>
              <a:latin typeface="Consolas"/>
              <a:cs typeface="Consolas"/>
            </a:endParaRPr>
          </a:p>
        </p:txBody>
      </p:sp>
      <p:sp>
        <p:nvSpPr>
          <p:cNvPr id="12" name="矩形 11"/>
          <p:cNvSpPr/>
          <p:nvPr/>
        </p:nvSpPr>
        <p:spPr>
          <a:xfrm>
            <a:off x="1592372" y="2452102"/>
            <a:ext cx="1951499" cy="3391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3" name="矩形 12"/>
          <p:cNvSpPr/>
          <p:nvPr/>
        </p:nvSpPr>
        <p:spPr>
          <a:xfrm>
            <a:off x="1596741" y="2801658"/>
            <a:ext cx="1951499" cy="3391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0x0</a:t>
            </a:r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4" name="矩形 13"/>
          <p:cNvSpPr/>
          <p:nvPr/>
        </p:nvSpPr>
        <p:spPr>
          <a:xfrm>
            <a:off x="1604322" y="3134126"/>
            <a:ext cx="1951499" cy="339164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5" name="矩形 14"/>
          <p:cNvSpPr/>
          <p:nvPr/>
        </p:nvSpPr>
        <p:spPr>
          <a:xfrm>
            <a:off x="1604322" y="3467966"/>
            <a:ext cx="1951499" cy="339164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mr-IN" altLang="zh-CN" b="1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b="1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6" name="矩形 15"/>
          <p:cNvSpPr/>
          <p:nvPr/>
        </p:nvSpPr>
        <p:spPr>
          <a:xfrm>
            <a:off x="1604322" y="3802650"/>
            <a:ext cx="1951499" cy="339164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1600" dirty="0" err="1">
                <a:solidFill>
                  <a:prstClr val="black"/>
                </a:solidFill>
                <a:latin typeface="Consolas"/>
                <a:cs typeface="Consolas"/>
              </a:rPr>
              <a:t>retq</a:t>
            </a:r>
            <a:endParaRPr lang="zh-CN" altLang="en-US" sz="1600" dirty="0">
              <a:solidFill>
                <a:prstClr val="black"/>
              </a:solidFill>
              <a:latin typeface="Consolas"/>
              <a:cs typeface="Consolas"/>
            </a:endParaRPr>
          </a:p>
        </p:txBody>
      </p:sp>
      <p:sp>
        <p:nvSpPr>
          <p:cNvPr id="25" name="矩形 24"/>
          <p:cNvSpPr/>
          <p:nvPr/>
        </p:nvSpPr>
        <p:spPr>
          <a:xfrm>
            <a:off x="1588002" y="2131475"/>
            <a:ext cx="1951499" cy="319756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24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cxnSp>
        <p:nvCxnSpPr>
          <p:cNvPr id="4" name="直线箭头连接符 3"/>
          <p:cNvCxnSpPr/>
          <p:nvPr/>
        </p:nvCxnSpPr>
        <p:spPr>
          <a:xfrm flipH="1">
            <a:off x="3588517" y="1034004"/>
            <a:ext cx="249222" cy="0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59" name="矩形 58"/>
          <p:cNvSpPr/>
          <p:nvPr/>
        </p:nvSpPr>
        <p:spPr>
          <a:xfrm>
            <a:off x="1583191" y="1814000"/>
            <a:ext cx="1951499" cy="319756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24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61" name="矩形 60"/>
          <p:cNvSpPr/>
          <p:nvPr/>
        </p:nvSpPr>
        <p:spPr>
          <a:xfrm>
            <a:off x="1587904" y="1495448"/>
            <a:ext cx="1951499" cy="319756"/>
          </a:xfrm>
          <a:prstGeom prst="rect">
            <a:avLst/>
          </a:prstGeom>
          <a:noFill/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63" name="矩形 62"/>
          <p:cNvSpPr/>
          <p:nvPr/>
        </p:nvSpPr>
        <p:spPr>
          <a:xfrm>
            <a:off x="1606031" y="4141814"/>
            <a:ext cx="1951499" cy="339164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1600" dirty="0">
                <a:solidFill>
                  <a:prstClr val="black"/>
                </a:solidFill>
                <a:latin typeface="Consolas"/>
                <a:cs typeface="Consolas"/>
              </a:rPr>
              <a:t>mov $0x0, %</a:t>
            </a:r>
            <a:r>
              <a:rPr lang="en-US" altLang="zh-CN" sz="1600" dirty="0" err="1">
                <a:solidFill>
                  <a:prstClr val="black"/>
                </a:solidFill>
                <a:latin typeface="Consolas"/>
                <a:cs typeface="Consolas"/>
              </a:rPr>
              <a:t>eax</a:t>
            </a:r>
            <a:endParaRPr lang="zh-CN" altLang="en-US" sz="1600" dirty="0">
              <a:solidFill>
                <a:prstClr val="black"/>
              </a:solidFill>
              <a:latin typeface="Consolas"/>
              <a:cs typeface="Consolas"/>
            </a:endParaRPr>
          </a:p>
        </p:txBody>
      </p:sp>
      <p:sp>
        <p:nvSpPr>
          <p:cNvPr id="80" name="矩形 79"/>
          <p:cNvSpPr/>
          <p:nvPr/>
        </p:nvSpPr>
        <p:spPr>
          <a:xfrm>
            <a:off x="1608920" y="4467641"/>
            <a:ext cx="1951499" cy="339164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1600" dirty="0" err="1">
                <a:solidFill>
                  <a:prstClr val="black"/>
                </a:solidFill>
                <a:latin typeface="Consolas"/>
                <a:cs typeface="Consolas"/>
              </a:rPr>
              <a:t>callq</a:t>
            </a:r>
            <a:r>
              <a:rPr lang="en-US" altLang="zh-CN" sz="1600" dirty="0">
                <a:solidFill>
                  <a:prstClr val="black"/>
                </a:solidFill>
                <a:latin typeface="Consolas"/>
                <a:cs typeface="Consolas"/>
              </a:rPr>
              <a:t> 5fa</a:t>
            </a:r>
            <a:endParaRPr lang="zh-CN" altLang="en-US" sz="1600" dirty="0">
              <a:solidFill>
                <a:prstClr val="black"/>
              </a:solidFill>
              <a:latin typeface="Consolas"/>
              <a:cs typeface="Consolas"/>
            </a:endParaRPr>
          </a:p>
        </p:txBody>
      </p:sp>
      <p:sp>
        <p:nvSpPr>
          <p:cNvPr id="81" name="矩形 80"/>
          <p:cNvSpPr/>
          <p:nvPr/>
        </p:nvSpPr>
        <p:spPr>
          <a:xfrm>
            <a:off x="1606883" y="4807245"/>
            <a:ext cx="1951499" cy="339164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1600" dirty="0">
                <a:solidFill>
                  <a:prstClr val="black"/>
                </a:solidFill>
                <a:latin typeface="Consolas"/>
                <a:cs typeface="Consolas"/>
              </a:rPr>
              <a:t>mov $0x0, %</a:t>
            </a:r>
            <a:r>
              <a:rPr lang="en-US" altLang="zh-CN" sz="1600" dirty="0" err="1">
                <a:solidFill>
                  <a:prstClr val="black"/>
                </a:solidFill>
                <a:latin typeface="Consolas"/>
                <a:cs typeface="Consolas"/>
              </a:rPr>
              <a:t>eax</a:t>
            </a:r>
            <a:endParaRPr lang="zh-CN" altLang="en-US" sz="1600" dirty="0">
              <a:solidFill>
                <a:prstClr val="black"/>
              </a:solidFill>
              <a:latin typeface="Consolas"/>
              <a:cs typeface="Consolas"/>
            </a:endParaRPr>
          </a:p>
        </p:txBody>
      </p:sp>
      <p:sp>
        <p:nvSpPr>
          <p:cNvPr id="83" name="矩形 82"/>
          <p:cNvSpPr/>
          <p:nvPr/>
        </p:nvSpPr>
        <p:spPr>
          <a:xfrm>
            <a:off x="1608920" y="5142806"/>
            <a:ext cx="1951499" cy="339164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1600" dirty="0">
                <a:solidFill>
                  <a:prstClr val="black"/>
                </a:solidFill>
                <a:latin typeface="Consolas"/>
                <a:cs typeface="Consolas"/>
              </a:rPr>
              <a:t>ret</a:t>
            </a:r>
            <a:endParaRPr lang="zh-CN" altLang="en-US" sz="1600" dirty="0">
              <a:solidFill>
                <a:prstClr val="black"/>
              </a:solidFill>
              <a:latin typeface="Consolas"/>
              <a:cs typeface="Consolas"/>
            </a:endParaRPr>
          </a:p>
        </p:txBody>
      </p:sp>
      <p:sp>
        <p:nvSpPr>
          <p:cNvPr id="84" name="矩形 83"/>
          <p:cNvSpPr/>
          <p:nvPr/>
        </p:nvSpPr>
        <p:spPr>
          <a:xfrm>
            <a:off x="1007750" y="5736478"/>
            <a:ext cx="492443" cy="427994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mr-IN" altLang="zh-CN" sz="2400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sz="2400" dirty="0"/>
          </a:p>
        </p:txBody>
      </p:sp>
      <p:sp>
        <p:nvSpPr>
          <p:cNvPr id="86" name="矩形 85"/>
          <p:cNvSpPr/>
          <p:nvPr/>
        </p:nvSpPr>
        <p:spPr>
          <a:xfrm>
            <a:off x="1206127" y="3129472"/>
            <a:ext cx="377064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...</a:t>
            </a:r>
            <a:endParaRPr lang="zh-CN" altLang="en-US" dirty="0"/>
          </a:p>
        </p:txBody>
      </p:sp>
      <p:sp>
        <p:nvSpPr>
          <p:cNvPr id="87" name="矩形 86"/>
          <p:cNvSpPr/>
          <p:nvPr/>
        </p:nvSpPr>
        <p:spPr>
          <a:xfrm>
            <a:off x="-92268" y="5487084"/>
            <a:ext cx="1675459" cy="307777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sz="1400" dirty="0">
                <a:solidFill>
                  <a:prstClr val="black"/>
                </a:solidFill>
                <a:latin typeface="Consolas" panose="020B0609020204030204" pitchFamily="49" charset="0"/>
                <a:cs typeface="Arial"/>
              </a:rPr>
              <a:t>0x00..5555545fa</a:t>
            </a:r>
            <a:endParaRPr lang="zh-CN" altLang="en-US" sz="1400" dirty="0">
              <a:latin typeface="Consolas" panose="020B0609020204030204" pitchFamily="49" charset="0"/>
            </a:endParaRPr>
          </a:p>
        </p:txBody>
      </p:sp>
      <p:sp>
        <p:nvSpPr>
          <p:cNvPr id="94" name="矩形 93"/>
          <p:cNvSpPr/>
          <p:nvPr/>
        </p:nvSpPr>
        <p:spPr>
          <a:xfrm>
            <a:off x="1212855" y="3479632"/>
            <a:ext cx="377064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...</a:t>
            </a:r>
            <a:endParaRPr lang="zh-CN" altLang="en-US" dirty="0"/>
          </a:p>
        </p:txBody>
      </p:sp>
      <p:sp>
        <p:nvSpPr>
          <p:cNvPr id="103" name="矩形 102"/>
          <p:cNvSpPr/>
          <p:nvPr/>
        </p:nvSpPr>
        <p:spPr>
          <a:xfrm>
            <a:off x="1607980" y="5486144"/>
            <a:ext cx="1951499" cy="339164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1100" b="1" dirty="0" err="1">
                <a:solidFill>
                  <a:prstClr val="black"/>
                </a:solidFill>
                <a:latin typeface="Consolas"/>
                <a:cs typeface="Consolas"/>
              </a:rPr>
              <a:t>addl</a:t>
            </a:r>
            <a:r>
              <a:rPr lang="en-US" altLang="zh-CN" sz="1100" b="1" dirty="0">
                <a:solidFill>
                  <a:prstClr val="black"/>
                </a:solidFill>
                <a:latin typeface="Consolas"/>
                <a:cs typeface="Consolas"/>
              </a:rPr>
              <a:t> $0x1, 0x200a13(%rip)</a:t>
            </a:r>
            <a:endParaRPr lang="zh-CN" altLang="en-US" sz="1100" b="1" dirty="0">
              <a:solidFill>
                <a:prstClr val="black"/>
              </a:solidFill>
              <a:latin typeface="Consolas"/>
              <a:cs typeface="Consolas"/>
            </a:endParaRPr>
          </a:p>
        </p:txBody>
      </p:sp>
      <p:sp>
        <p:nvSpPr>
          <p:cNvPr id="104" name="矩形 103"/>
          <p:cNvSpPr/>
          <p:nvPr/>
        </p:nvSpPr>
        <p:spPr>
          <a:xfrm>
            <a:off x="1606883" y="5825308"/>
            <a:ext cx="1951499" cy="339164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24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06" name="矩形 105"/>
          <p:cNvSpPr/>
          <p:nvPr/>
        </p:nvSpPr>
        <p:spPr>
          <a:xfrm>
            <a:off x="41757" y="115556"/>
            <a:ext cx="1576072" cy="307777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sz="1400" dirty="0">
                <a:solidFill>
                  <a:prstClr val="black"/>
                </a:solidFill>
                <a:latin typeface="Consolas" panose="020B0609020204030204" pitchFamily="49" charset="0"/>
                <a:cs typeface="Arial"/>
              </a:rPr>
              <a:t>0x7f</a:t>
            </a:r>
            <a:r>
              <a:rPr lang="mr-IN" altLang="zh-CN" sz="1400" dirty="0">
                <a:solidFill>
                  <a:prstClr val="black"/>
                </a:solidFill>
                <a:latin typeface="Consolas" panose="020B0609020204030204" pitchFamily="49" charset="0"/>
                <a:cs typeface="Arial"/>
              </a:rPr>
              <a:t>…</a:t>
            </a:r>
            <a:r>
              <a:rPr lang="en-US" altLang="zh-CN" sz="1400" dirty="0">
                <a:solidFill>
                  <a:prstClr val="black"/>
                </a:solidFill>
                <a:latin typeface="Consolas" panose="020B0609020204030204" pitchFamily="49" charset="0"/>
                <a:cs typeface="Arial"/>
              </a:rPr>
              <a:t>000000098</a:t>
            </a:r>
            <a:endParaRPr lang="zh-CN" altLang="en-US" sz="1400" dirty="0">
              <a:latin typeface="Consolas" panose="020B0609020204030204" pitchFamily="49" charset="0"/>
            </a:endParaRPr>
          </a:p>
        </p:txBody>
      </p:sp>
      <p:sp>
        <p:nvSpPr>
          <p:cNvPr id="102" name="矩形 101"/>
          <p:cNvSpPr/>
          <p:nvPr/>
        </p:nvSpPr>
        <p:spPr>
          <a:xfrm>
            <a:off x="4039183" y="5532871"/>
            <a:ext cx="688009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kumimoji="1" lang="en-US" altLang="zh-CN" sz="1400" b="1" dirty="0">
                <a:latin typeface="Verdana"/>
                <a:cs typeface="Verdana"/>
              </a:rPr>
              <a:t>%rip</a:t>
            </a:r>
            <a:endParaRPr lang="zh-CN" altLang="en-US" sz="1400" b="1" dirty="0"/>
          </a:p>
        </p:txBody>
      </p:sp>
      <p:cxnSp>
        <p:nvCxnSpPr>
          <p:cNvPr id="111" name="直线箭头连接符 110"/>
          <p:cNvCxnSpPr>
            <a:cxnSpLocks/>
            <a:stCxn id="102" idx="1"/>
          </p:cNvCxnSpPr>
          <p:nvPr/>
        </p:nvCxnSpPr>
        <p:spPr>
          <a:xfrm flipH="1" flipV="1">
            <a:off x="3672217" y="5675034"/>
            <a:ext cx="366966" cy="11726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" name="矩形 86">
            <a:extLst>
              <a:ext uri="{FF2B5EF4-FFF2-40B4-BE49-F238E27FC236}">
                <a16:creationId xmlns:a16="http://schemas.microsoft.com/office/drawing/2014/main" id="{B9B15590-4945-46D2-8B7E-12F73E7262F4}"/>
              </a:ext>
            </a:extLst>
          </p:cNvPr>
          <p:cNvSpPr/>
          <p:nvPr/>
        </p:nvSpPr>
        <p:spPr>
          <a:xfrm>
            <a:off x="-71138" y="5168166"/>
            <a:ext cx="1675460" cy="307777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sz="1400" dirty="0">
                <a:solidFill>
                  <a:prstClr val="black"/>
                </a:solidFill>
                <a:latin typeface="Consolas" panose="020B0609020204030204" pitchFamily="49" charset="0"/>
                <a:cs typeface="Arial"/>
              </a:rPr>
              <a:t>0x00..555554601</a:t>
            </a:r>
            <a:endParaRPr lang="zh-CN" altLang="en-US" sz="1400" dirty="0">
              <a:latin typeface="Consolas" panose="020B0609020204030204" pitchFamily="49" charset="0"/>
            </a:endParaRPr>
          </a:p>
        </p:txBody>
      </p:sp>
      <p:sp>
        <p:nvSpPr>
          <p:cNvPr id="3" name="矩形 86">
            <a:extLst>
              <a:ext uri="{FF2B5EF4-FFF2-40B4-BE49-F238E27FC236}">
                <a16:creationId xmlns:a16="http://schemas.microsoft.com/office/drawing/2014/main" id="{D20B1BDD-8F63-4A4F-9EA2-E04AAD9ECE6C}"/>
              </a:ext>
            </a:extLst>
          </p:cNvPr>
          <p:cNvSpPr/>
          <p:nvPr/>
        </p:nvSpPr>
        <p:spPr>
          <a:xfrm>
            <a:off x="-55474" y="4846792"/>
            <a:ext cx="1675460" cy="307777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sz="1400" dirty="0">
                <a:solidFill>
                  <a:prstClr val="black"/>
                </a:solidFill>
                <a:latin typeface="Consolas" panose="020B0609020204030204" pitchFamily="49" charset="0"/>
                <a:cs typeface="Arial"/>
              </a:rPr>
              <a:t>0x00..555554602</a:t>
            </a:r>
            <a:endParaRPr lang="zh-CN" altLang="en-US" sz="1400" dirty="0">
              <a:latin typeface="Consolas" panose="020B0609020204030204" pitchFamily="49" charset="0"/>
            </a:endParaRPr>
          </a:p>
        </p:txBody>
      </p:sp>
      <p:sp>
        <p:nvSpPr>
          <p:cNvPr id="10" name="矩形 86">
            <a:extLst>
              <a:ext uri="{FF2B5EF4-FFF2-40B4-BE49-F238E27FC236}">
                <a16:creationId xmlns:a16="http://schemas.microsoft.com/office/drawing/2014/main" id="{C8BF97E7-7FED-4E8C-9372-42E8F3BDECE0}"/>
              </a:ext>
            </a:extLst>
          </p:cNvPr>
          <p:cNvSpPr/>
          <p:nvPr/>
        </p:nvSpPr>
        <p:spPr>
          <a:xfrm>
            <a:off x="-34276" y="4517116"/>
            <a:ext cx="1675460" cy="307777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sz="1400" dirty="0">
                <a:solidFill>
                  <a:prstClr val="black"/>
                </a:solidFill>
                <a:latin typeface="Consolas" panose="020B0609020204030204" pitchFamily="49" charset="0"/>
                <a:cs typeface="Arial"/>
              </a:rPr>
              <a:t>0x00..555554607</a:t>
            </a:r>
            <a:endParaRPr lang="zh-CN" altLang="en-US" sz="1400" dirty="0">
              <a:latin typeface="Consolas" panose="020B0609020204030204" pitchFamily="49" charset="0"/>
            </a:endParaRPr>
          </a:p>
        </p:txBody>
      </p:sp>
      <p:sp>
        <p:nvSpPr>
          <p:cNvPr id="17" name="矩形 86">
            <a:extLst>
              <a:ext uri="{FF2B5EF4-FFF2-40B4-BE49-F238E27FC236}">
                <a16:creationId xmlns:a16="http://schemas.microsoft.com/office/drawing/2014/main" id="{827A7CFE-EFA9-4FB8-9846-89EA57AAB9AC}"/>
              </a:ext>
            </a:extLst>
          </p:cNvPr>
          <p:cNvSpPr/>
          <p:nvPr/>
        </p:nvSpPr>
        <p:spPr>
          <a:xfrm>
            <a:off x="-27875" y="4188144"/>
            <a:ext cx="1675460" cy="307777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sz="1400" dirty="0">
                <a:solidFill>
                  <a:prstClr val="black"/>
                </a:solidFill>
                <a:latin typeface="Consolas" panose="020B0609020204030204" pitchFamily="49" charset="0"/>
                <a:cs typeface="Arial"/>
              </a:rPr>
              <a:t>0x00..55555460c</a:t>
            </a:r>
            <a:endParaRPr lang="zh-CN" altLang="en-US" sz="1400" dirty="0">
              <a:latin typeface="Consolas" panose="020B0609020204030204" pitchFamily="49" charset="0"/>
            </a:endParaRPr>
          </a:p>
        </p:txBody>
      </p:sp>
      <p:sp>
        <p:nvSpPr>
          <p:cNvPr id="18" name="矩形 86">
            <a:extLst>
              <a:ext uri="{FF2B5EF4-FFF2-40B4-BE49-F238E27FC236}">
                <a16:creationId xmlns:a16="http://schemas.microsoft.com/office/drawing/2014/main" id="{D0716B26-00D9-4238-BEBE-7A5B08E5B306}"/>
              </a:ext>
            </a:extLst>
          </p:cNvPr>
          <p:cNvSpPr/>
          <p:nvPr/>
        </p:nvSpPr>
        <p:spPr>
          <a:xfrm>
            <a:off x="-35792" y="3837968"/>
            <a:ext cx="1675460" cy="307777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sz="1400" dirty="0">
                <a:solidFill>
                  <a:prstClr val="black"/>
                </a:solidFill>
                <a:latin typeface="Consolas" panose="020B0609020204030204" pitchFamily="49" charset="0"/>
                <a:cs typeface="Arial"/>
              </a:rPr>
              <a:t>0x00..555554611</a:t>
            </a:r>
            <a:endParaRPr lang="zh-CN" altLang="en-US" sz="1400" dirty="0">
              <a:latin typeface="Consolas" panose="020B0609020204030204" pitchFamily="49" charset="0"/>
            </a:endParaRPr>
          </a:p>
        </p:txBody>
      </p:sp>
      <p:sp>
        <p:nvSpPr>
          <p:cNvPr id="19" name="矩形 105">
            <a:extLst>
              <a:ext uri="{FF2B5EF4-FFF2-40B4-BE49-F238E27FC236}">
                <a16:creationId xmlns:a16="http://schemas.microsoft.com/office/drawing/2014/main" id="{701D13D6-8394-4EFB-84F6-8CA0A44B302A}"/>
              </a:ext>
            </a:extLst>
          </p:cNvPr>
          <p:cNvSpPr/>
          <p:nvPr/>
        </p:nvSpPr>
        <p:spPr>
          <a:xfrm>
            <a:off x="25628" y="454676"/>
            <a:ext cx="1576072" cy="307777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sz="1400" dirty="0">
                <a:solidFill>
                  <a:prstClr val="black"/>
                </a:solidFill>
                <a:latin typeface="Consolas" panose="020B0609020204030204" pitchFamily="49" charset="0"/>
                <a:cs typeface="Arial"/>
              </a:rPr>
              <a:t>0x7f</a:t>
            </a:r>
            <a:r>
              <a:rPr lang="mr-IN" altLang="zh-CN" sz="1400" dirty="0">
                <a:solidFill>
                  <a:prstClr val="black"/>
                </a:solidFill>
                <a:latin typeface="Consolas" panose="020B0609020204030204" pitchFamily="49" charset="0"/>
                <a:cs typeface="Arial"/>
              </a:rPr>
              <a:t>…</a:t>
            </a:r>
            <a:r>
              <a:rPr lang="en-US" altLang="zh-CN" sz="1400" dirty="0">
                <a:solidFill>
                  <a:prstClr val="black"/>
                </a:solidFill>
                <a:latin typeface="Consolas" panose="020B0609020204030204" pitchFamily="49" charset="0"/>
                <a:cs typeface="Arial"/>
              </a:rPr>
              <a:t>000000090</a:t>
            </a:r>
            <a:endParaRPr lang="zh-CN" altLang="en-US" sz="1400" dirty="0">
              <a:latin typeface="Consolas" panose="020B0609020204030204" pitchFamily="49" charset="0"/>
            </a:endParaRPr>
          </a:p>
        </p:txBody>
      </p:sp>
      <p:sp>
        <p:nvSpPr>
          <p:cNvPr id="20" name="矩形 105">
            <a:extLst>
              <a:ext uri="{FF2B5EF4-FFF2-40B4-BE49-F238E27FC236}">
                <a16:creationId xmlns:a16="http://schemas.microsoft.com/office/drawing/2014/main" id="{57CD497F-20EC-4F9D-8A3E-6CA7C242FAFB}"/>
              </a:ext>
            </a:extLst>
          </p:cNvPr>
          <p:cNvSpPr/>
          <p:nvPr/>
        </p:nvSpPr>
        <p:spPr>
          <a:xfrm>
            <a:off x="25628" y="826603"/>
            <a:ext cx="1576072" cy="307777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sz="1400" dirty="0">
                <a:solidFill>
                  <a:prstClr val="black"/>
                </a:solidFill>
                <a:latin typeface="Consolas" panose="020B0609020204030204" pitchFamily="49" charset="0"/>
                <a:cs typeface="Arial"/>
              </a:rPr>
              <a:t>0x7f</a:t>
            </a:r>
            <a:r>
              <a:rPr lang="mr-IN" altLang="zh-CN" sz="1400" dirty="0">
                <a:solidFill>
                  <a:prstClr val="black"/>
                </a:solidFill>
                <a:latin typeface="Consolas" panose="020B0609020204030204" pitchFamily="49" charset="0"/>
                <a:cs typeface="Arial"/>
              </a:rPr>
              <a:t>…</a:t>
            </a:r>
            <a:r>
              <a:rPr lang="en-US" altLang="zh-CN" sz="1400" dirty="0">
                <a:solidFill>
                  <a:prstClr val="black"/>
                </a:solidFill>
                <a:latin typeface="Consolas" panose="020B0609020204030204" pitchFamily="49" charset="0"/>
                <a:cs typeface="Arial"/>
              </a:rPr>
              <a:t>000000088</a:t>
            </a:r>
            <a:endParaRPr lang="zh-CN" altLang="en-US" sz="1400" dirty="0">
              <a:latin typeface="Consolas" panose="020B0609020204030204" pitchFamily="49" charset="0"/>
            </a:endParaRPr>
          </a:p>
        </p:txBody>
      </p:sp>
      <p:sp>
        <p:nvSpPr>
          <p:cNvPr id="21" name="矩形 86">
            <a:extLst>
              <a:ext uri="{FF2B5EF4-FFF2-40B4-BE49-F238E27FC236}">
                <a16:creationId xmlns:a16="http://schemas.microsoft.com/office/drawing/2014/main" id="{FAD60544-1F1F-4085-9370-0580C9379794}"/>
              </a:ext>
            </a:extLst>
          </p:cNvPr>
          <p:cNvSpPr/>
          <p:nvPr/>
        </p:nvSpPr>
        <p:spPr>
          <a:xfrm>
            <a:off x="-7936" y="2809448"/>
            <a:ext cx="1675459" cy="307777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sz="1400" dirty="0">
                <a:solidFill>
                  <a:prstClr val="black"/>
                </a:solidFill>
                <a:latin typeface="Consolas" panose="020B0609020204030204" pitchFamily="49" charset="0"/>
                <a:cs typeface="Arial"/>
              </a:rPr>
              <a:t>0x00..555755014</a:t>
            </a:r>
            <a:endParaRPr lang="zh-CN" altLang="en-US" sz="1400" dirty="0">
              <a:latin typeface="Consolas" panose="020B0609020204030204" pitchFamily="49" charset="0"/>
            </a:endParaRPr>
          </a:p>
        </p:txBody>
      </p:sp>
      <p:sp>
        <p:nvSpPr>
          <p:cNvPr id="22" name="矩形 86">
            <a:extLst>
              <a:ext uri="{FF2B5EF4-FFF2-40B4-BE49-F238E27FC236}">
                <a16:creationId xmlns:a16="http://schemas.microsoft.com/office/drawing/2014/main" id="{767ADB22-AB5C-4947-B02B-DF8044B8B62D}"/>
              </a:ext>
            </a:extLst>
          </p:cNvPr>
          <p:cNvSpPr/>
          <p:nvPr/>
        </p:nvSpPr>
        <p:spPr>
          <a:xfrm>
            <a:off x="-27658" y="2467751"/>
            <a:ext cx="1675460" cy="307777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sz="1400" dirty="0">
                <a:solidFill>
                  <a:prstClr val="black"/>
                </a:solidFill>
                <a:latin typeface="Consolas" panose="020B0609020204030204" pitchFamily="49" charset="0"/>
                <a:cs typeface="Arial"/>
              </a:rPr>
              <a:t>0x00..555755018</a:t>
            </a:r>
            <a:endParaRPr lang="zh-CN" altLang="en-US" sz="140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3311693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/>
          <p:cNvSpPr/>
          <p:nvPr/>
        </p:nvSpPr>
        <p:spPr>
          <a:xfrm>
            <a:off x="5770729" y="420774"/>
            <a:ext cx="2617701" cy="6087558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 w="381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kumimoji="1" lang="zh-CN" altLang="en-US" dirty="0">
              <a:solidFill>
                <a:schemeClr val="tx1"/>
              </a:solidFill>
              <a:latin typeface="Verdana"/>
              <a:cs typeface="Verdana"/>
            </a:endParaRPr>
          </a:p>
        </p:txBody>
      </p:sp>
      <p:sp>
        <p:nvSpPr>
          <p:cNvPr id="6" name="矩形 5"/>
          <p:cNvSpPr/>
          <p:nvPr/>
        </p:nvSpPr>
        <p:spPr>
          <a:xfrm>
            <a:off x="1859596" y="6151633"/>
            <a:ext cx="1219980" cy="400110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kumimoji="1" lang="en-US" altLang="zh-CN" sz="2000" dirty="0">
                <a:latin typeface="Verdana"/>
                <a:cs typeface="Verdana"/>
              </a:rPr>
              <a:t>Memory</a:t>
            </a:r>
            <a:endParaRPr lang="zh-CN" altLang="en-US" sz="2000" dirty="0"/>
          </a:p>
        </p:txBody>
      </p:sp>
      <p:sp>
        <p:nvSpPr>
          <p:cNvPr id="27" name="矩形 26"/>
          <p:cNvSpPr/>
          <p:nvPr/>
        </p:nvSpPr>
        <p:spPr>
          <a:xfrm>
            <a:off x="6707135" y="402971"/>
            <a:ext cx="65399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 dirty="0">
                <a:latin typeface="Verdana"/>
                <a:cs typeface="Verdana"/>
              </a:rPr>
              <a:t>CPU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28" name="圆角矩形 27"/>
          <p:cNvSpPr/>
          <p:nvPr/>
        </p:nvSpPr>
        <p:spPr>
          <a:xfrm>
            <a:off x="6707135" y="829513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s-IS" altLang="zh-CN" sz="1400" dirty="0">
                <a:solidFill>
                  <a:srgbClr val="000000"/>
                </a:solidFill>
                <a:latin typeface="Arial"/>
                <a:cs typeface="Arial"/>
              </a:rPr>
              <a:t>0x00..555554601</a:t>
            </a:r>
          </a:p>
        </p:txBody>
      </p:sp>
      <p:sp>
        <p:nvSpPr>
          <p:cNvPr id="29" name="矩形 28"/>
          <p:cNvSpPr/>
          <p:nvPr/>
        </p:nvSpPr>
        <p:spPr>
          <a:xfrm>
            <a:off x="5973834" y="849437"/>
            <a:ext cx="68640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 dirty="0">
                <a:latin typeface="Verdana"/>
                <a:cs typeface="Verdana"/>
              </a:rPr>
              <a:t>RIP: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33" name="矩形 32"/>
          <p:cNvSpPr/>
          <p:nvPr/>
        </p:nvSpPr>
        <p:spPr>
          <a:xfrm>
            <a:off x="6007264" y="1716244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RAX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34" name="圆角矩形 33"/>
          <p:cNvSpPr/>
          <p:nvPr/>
        </p:nvSpPr>
        <p:spPr>
          <a:xfrm>
            <a:off x="6707134" y="1726615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is-IS" altLang="zh-CN" dirty="0">
                <a:solidFill>
                  <a:prstClr val="black"/>
                </a:solidFill>
                <a:latin typeface="Consolas" panose="020B0609020204030204" pitchFamily="49" charset="0"/>
                <a:cs typeface="Arial"/>
                <a:sym typeface="Courier New Bold" charset="0"/>
              </a:rPr>
              <a:t>0x0</a:t>
            </a:r>
          </a:p>
        </p:txBody>
      </p:sp>
      <p:sp>
        <p:nvSpPr>
          <p:cNvPr id="35" name="圆角矩形 34"/>
          <p:cNvSpPr/>
          <p:nvPr/>
        </p:nvSpPr>
        <p:spPr>
          <a:xfrm>
            <a:off x="6732381" y="2156558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6" name="圆角矩形 35"/>
          <p:cNvSpPr/>
          <p:nvPr/>
        </p:nvSpPr>
        <p:spPr>
          <a:xfrm>
            <a:off x="6732381" y="2585832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 dirty="0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37" name="圆角矩形 36"/>
          <p:cNvSpPr/>
          <p:nvPr/>
        </p:nvSpPr>
        <p:spPr>
          <a:xfrm>
            <a:off x="6727649" y="3016507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 dirty="0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38" name="圆角矩形 37"/>
          <p:cNvSpPr/>
          <p:nvPr/>
        </p:nvSpPr>
        <p:spPr>
          <a:xfrm>
            <a:off x="6728204" y="3454928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9" name="圆角矩形 38"/>
          <p:cNvSpPr/>
          <p:nvPr/>
        </p:nvSpPr>
        <p:spPr>
          <a:xfrm>
            <a:off x="6730569" y="3884871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40" name="圆角矩形 39"/>
          <p:cNvSpPr/>
          <p:nvPr/>
        </p:nvSpPr>
        <p:spPr>
          <a:xfrm>
            <a:off x="6719128" y="4314145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is-IS" altLang="zh-CN" sz="1400" dirty="0">
                <a:solidFill>
                  <a:prstClr val="black"/>
                </a:solidFill>
                <a:latin typeface="Consolas" panose="020B0609020204030204" pitchFamily="49" charset="0"/>
                <a:cs typeface="Arial"/>
                <a:sym typeface="Courier New Bold" charset="0"/>
              </a:rPr>
              <a:t>0x7f…000000088</a:t>
            </a:r>
          </a:p>
        </p:txBody>
      </p:sp>
      <p:sp>
        <p:nvSpPr>
          <p:cNvPr id="41" name="圆角矩形 40"/>
          <p:cNvSpPr/>
          <p:nvPr/>
        </p:nvSpPr>
        <p:spPr>
          <a:xfrm>
            <a:off x="6725837" y="4744820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 dirty="0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42" name="矩形 41"/>
          <p:cNvSpPr/>
          <p:nvPr/>
        </p:nvSpPr>
        <p:spPr>
          <a:xfrm>
            <a:off x="7071077" y="6098041"/>
            <a:ext cx="441146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mr-IN" altLang="zh-CN" sz="2000" b="1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sz="2000" b="1" dirty="0"/>
          </a:p>
        </p:txBody>
      </p:sp>
      <p:sp>
        <p:nvSpPr>
          <p:cNvPr id="43" name="矩形 42"/>
          <p:cNvSpPr/>
          <p:nvPr/>
        </p:nvSpPr>
        <p:spPr>
          <a:xfrm>
            <a:off x="6004115" y="2168000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RBX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44" name="矩形 43"/>
          <p:cNvSpPr/>
          <p:nvPr/>
        </p:nvSpPr>
        <p:spPr>
          <a:xfrm>
            <a:off x="5989455" y="2585832"/>
            <a:ext cx="77685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RCX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45" name="矩形 44"/>
          <p:cNvSpPr/>
          <p:nvPr/>
        </p:nvSpPr>
        <p:spPr>
          <a:xfrm>
            <a:off x="5993122" y="3024282"/>
            <a:ext cx="77685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RDX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46" name="矩形 45"/>
          <p:cNvSpPr/>
          <p:nvPr/>
        </p:nvSpPr>
        <p:spPr>
          <a:xfrm>
            <a:off x="5990867" y="3451290"/>
            <a:ext cx="67428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RSI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47" name="矩形 46"/>
          <p:cNvSpPr/>
          <p:nvPr/>
        </p:nvSpPr>
        <p:spPr>
          <a:xfrm>
            <a:off x="5986305" y="3882159"/>
            <a:ext cx="68702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RDI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48" name="矩形 47"/>
          <p:cNvSpPr/>
          <p:nvPr/>
        </p:nvSpPr>
        <p:spPr>
          <a:xfrm>
            <a:off x="5985749" y="4320609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RSP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49" name="矩形 48"/>
          <p:cNvSpPr/>
          <p:nvPr/>
        </p:nvSpPr>
        <p:spPr>
          <a:xfrm>
            <a:off x="5983157" y="4718557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RBP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56" name="矩形 55"/>
          <p:cNvSpPr/>
          <p:nvPr/>
        </p:nvSpPr>
        <p:spPr>
          <a:xfrm>
            <a:off x="3955484" y="891841"/>
            <a:ext cx="732893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kumimoji="1" lang="en-US" altLang="zh-CN" sz="1400" b="1" dirty="0">
                <a:latin typeface="Verdana"/>
                <a:cs typeface="Verdana"/>
              </a:rPr>
              <a:t>%</a:t>
            </a:r>
            <a:r>
              <a:rPr kumimoji="1" lang="en-US" altLang="zh-CN" sz="1400" b="1" dirty="0" err="1">
                <a:latin typeface="Verdana"/>
                <a:cs typeface="Verdana"/>
              </a:rPr>
              <a:t>rsp</a:t>
            </a:r>
            <a:endParaRPr lang="zh-CN" altLang="en-US" sz="1400" b="1" dirty="0"/>
          </a:p>
        </p:txBody>
      </p:sp>
      <p:sp>
        <p:nvSpPr>
          <p:cNvPr id="57" name="矩形 56"/>
          <p:cNvSpPr/>
          <p:nvPr/>
        </p:nvSpPr>
        <p:spPr>
          <a:xfrm>
            <a:off x="6194819" y="5220252"/>
            <a:ext cx="57149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ZF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58" name="圆角矩形 57"/>
          <p:cNvSpPr/>
          <p:nvPr/>
        </p:nvSpPr>
        <p:spPr>
          <a:xfrm>
            <a:off x="6748122" y="5211806"/>
            <a:ext cx="439253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  <a:sym typeface="Courier New Bold" charset="0"/>
              </a:rPr>
              <a:t>0</a:t>
            </a:r>
          </a:p>
        </p:txBody>
      </p:sp>
      <p:sp>
        <p:nvSpPr>
          <p:cNvPr id="62" name="矩形 61"/>
          <p:cNvSpPr/>
          <p:nvPr/>
        </p:nvSpPr>
        <p:spPr>
          <a:xfrm>
            <a:off x="7298019" y="5198018"/>
            <a:ext cx="58445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SF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64" name="圆角矩形 63"/>
          <p:cNvSpPr/>
          <p:nvPr/>
        </p:nvSpPr>
        <p:spPr>
          <a:xfrm>
            <a:off x="7857802" y="5189572"/>
            <a:ext cx="439253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  <a:sym typeface="Courier New Bold" charset="0"/>
              </a:rPr>
              <a:t>0</a:t>
            </a:r>
          </a:p>
        </p:txBody>
      </p:sp>
      <p:sp>
        <p:nvSpPr>
          <p:cNvPr id="65" name="矩形 64"/>
          <p:cNvSpPr/>
          <p:nvPr/>
        </p:nvSpPr>
        <p:spPr>
          <a:xfrm>
            <a:off x="6177727" y="5675034"/>
            <a:ext cx="59718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CF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77" name="圆角矩形 76"/>
          <p:cNvSpPr/>
          <p:nvPr/>
        </p:nvSpPr>
        <p:spPr>
          <a:xfrm>
            <a:off x="6743879" y="5666588"/>
            <a:ext cx="439253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  <a:sym typeface="Courier New Bold" charset="0"/>
              </a:rPr>
              <a:t>0</a:t>
            </a:r>
          </a:p>
        </p:txBody>
      </p:sp>
      <p:sp>
        <p:nvSpPr>
          <p:cNvPr id="78" name="矩形 77"/>
          <p:cNvSpPr/>
          <p:nvPr/>
        </p:nvSpPr>
        <p:spPr>
          <a:xfrm>
            <a:off x="7280983" y="5652800"/>
            <a:ext cx="61003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OF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79" name="圆角矩形 78"/>
          <p:cNvSpPr/>
          <p:nvPr/>
        </p:nvSpPr>
        <p:spPr>
          <a:xfrm>
            <a:off x="7853559" y="5644354"/>
            <a:ext cx="439253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  <a:sym typeface="Courier New Bold" charset="0"/>
              </a:rPr>
              <a:t>0</a:t>
            </a:r>
          </a:p>
        </p:txBody>
      </p:sp>
      <p:sp>
        <p:nvSpPr>
          <p:cNvPr id="7" name="矩形 6"/>
          <p:cNvSpPr/>
          <p:nvPr/>
        </p:nvSpPr>
        <p:spPr>
          <a:xfrm>
            <a:off x="1588002" y="819397"/>
            <a:ext cx="1951499" cy="33916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1400" dirty="0">
                <a:latin typeface="Consolas"/>
                <a:cs typeface="Consolas"/>
                <a:sym typeface="Courier New Bold" charset="0"/>
              </a:rPr>
              <a:t>0x00..55555460c</a:t>
            </a:r>
            <a:endParaRPr lang="cs-CZ" altLang="zh-CN" sz="1400" dirty="0">
              <a:latin typeface="Consolas"/>
              <a:cs typeface="Consolas"/>
              <a:sym typeface="Courier New Bold" charset="0"/>
            </a:endParaRPr>
          </a:p>
        </p:txBody>
      </p:sp>
      <p:sp>
        <p:nvSpPr>
          <p:cNvPr id="8" name="矩形 7"/>
          <p:cNvSpPr/>
          <p:nvPr/>
        </p:nvSpPr>
        <p:spPr>
          <a:xfrm>
            <a:off x="1588002" y="480233"/>
            <a:ext cx="1951499" cy="33916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US" altLang="zh-CN" sz="1600" dirty="0">
                <a:solidFill>
                  <a:prstClr val="black"/>
                </a:solidFill>
                <a:latin typeface="Consolas"/>
                <a:cs typeface="Consolas"/>
              </a:rPr>
              <a:t>...</a:t>
            </a:r>
          </a:p>
        </p:txBody>
      </p:sp>
      <p:sp>
        <p:nvSpPr>
          <p:cNvPr id="9" name="矩形 8"/>
          <p:cNvSpPr/>
          <p:nvPr/>
        </p:nvSpPr>
        <p:spPr>
          <a:xfrm>
            <a:off x="1588002" y="143470"/>
            <a:ext cx="1951499" cy="33916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tabLst>
                <a:tab pos="514350" algn="l"/>
                <a:tab pos="2801938" algn="l"/>
                <a:tab pos="3086100" algn="l"/>
                <a:tab pos="3086100" algn="l"/>
                <a:tab pos="3086100" algn="l"/>
                <a:tab pos="3086100" algn="l"/>
              </a:tabLst>
            </a:pPr>
            <a:r>
              <a:rPr lang="cs-CZ" altLang="zh-CN" sz="1600" dirty="0">
                <a:latin typeface="Consolas"/>
                <a:cs typeface="Consolas"/>
                <a:sym typeface="Courier New Bold" charset="0"/>
              </a:rPr>
              <a:t>...</a:t>
            </a:r>
          </a:p>
        </p:txBody>
      </p:sp>
      <p:sp>
        <p:nvSpPr>
          <p:cNvPr id="11" name="矩形 10"/>
          <p:cNvSpPr/>
          <p:nvPr/>
        </p:nvSpPr>
        <p:spPr>
          <a:xfrm>
            <a:off x="1588002" y="1158204"/>
            <a:ext cx="1951499" cy="339164"/>
          </a:xfrm>
          <a:prstGeom prst="rect">
            <a:avLst/>
          </a:prstGeom>
          <a:noFill/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zh-CN" altLang="en-US" sz="1600" dirty="0">
              <a:solidFill>
                <a:prstClr val="black"/>
              </a:solidFill>
              <a:latin typeface="Consolas"/>
              <a:cs typeface="Consolas"/>
            </a:endParaRPr>
          </a:p>
        </p:txBody>
      </p:sp>
      <p:sp>
        <p:nvSpPr>
          <p:cNvPr id="12" name="矩形 11"/>
          <p:cNvSpPr/>
          <p:nvPr/>
        </p:nvSpPr>
        <p:spPr>
          <a:xfrm>
            <a:off x="1592372" y="2452102"/>
            <a:ext cx="1951499" cy="3391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3" name="矩形 12"/>
          <p:cNvSpPr/>
          <p:nvPr/>
        </p:nvSpPr>
        <p:spPr>
          <a:xfrm>
            <a:off x="1596741" y="2801658"/>
            <a:ext cx="1951499" cy="3391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0x1</a:t>
            </a:r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4" name="矩形 13"/>
          <p:cNvSpPr/>
          <p:nvPr/>
        </p:nvSpPr>
        <p:spPr>
          <a:xfrm>
            <a:off x="1604322" y="3134126"/>
            <a:ext cx="1951499" cy="339164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5" name="矩形 14"/>
          <p:cNvSpPr/>
          <p:nvPr/>
        </p:nvSpPr>
        <p:spPr>
          <a:xfrm>
            <a:off x="1604322" y="3467966"/>
            <a:ext cx="1951499" cy="339164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mr-IN" altLang="zh-CN" b="1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b="1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6" name="矩形 15"/>
          <p:cNvSpPr/>
          <p:nvPr/>
        </p:nvSpPr>
        <p:spPr>
          <a:xfrm>
            <a:off x="1604322" y="3802650"/>
            <a:ext cx="1951499" cy="339164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1600" dirty="0" err="1">
                <a:solidFill>
                  <a:prstClr val="black"/>
                </a:solidFill>
                <a:latin typeface="Consolas"/>
                <a:cs typeface="Consolas"/>
              </a:rPr>
              <a:t>retq</a:t>
            </a:r>
            <a:endParaRPr lang="zh-CN" altLang="en-US" sz="1600" dirty="0">
              <a:solidFill>
                <a:prstClr val="black"/>
              </a:solidFill>
              <a:latin typeface="Consolas"/>
              <a:cs typeface="Consolas"/>
            </a:endParaRPr>
          </a:p>
        </p:txBody>
      </p:sp>
      <p:sp>
        <p:nvSpPr>
          <p:cNvPr id="25" name="矩形 24"/>
          <p:cNvSpPr/>
          <p:nvPr/>
        </p:nvSpPr>
        <p:spPr>
          <a:xfrm>
            <a:off x="1588002" y="2131475"/>
            <a:ext cx="1951499" cy="319756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24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cxnSp>
        <p:nvCxnSpPr>
          <p:cNvPr id="4" name="直线箭头连接符 3"/>
          <p:cNvCxnSpPr/>
          <p:nvPr/>
        </p:nvCxnSpPr>
        <p:spPr>
          <a:xfrm flipH="1">
            <a:off x="3588517" y="1034004"/>
            <a:ext cx="249222" cy="0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59" name="矩形 58"/>
          <p:cNvSpPr/>
          <p:nvPr/>
        </p:nvSpPr>
        <p:spPr>
          <a:xfrm>
            <a:off x="1583191" y="1814000"/>
            <a:ext cx="1951499" cy="319756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24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61" name="矩形 60"/>
          <p:cNvSpPr/>
          <p:nvPr/>
        </p:nvSpPr>
        <p:spPr>
          <a:xfrm>
            <a:off x="1587904" y="1495448"/>
            <a:ext cx="1951499" cy="319756"/>
          </a:xfrm>
          <a:prstGeom prst="rect">
            <a:avLst/>
          </a:prstGeom>
          <a:noFill/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63" name="矩形 62"/>
          <p:cNvSpPr/>
          <p:nvPr/>
        </p:nvSpPr>
        <p:spPr>
          <a:xfrm>
            <a:off x="1606031" y="4141814"/>
            <a:ext cx="1951499" cy="339164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1600" dirty="0">
                <a:solidFill>
                  <a:prstClr val="black"/>
                </a:solidFill>
                <a:latin typeface="Consolas"/>
                <a:cs typeface="Consolas"/>
              </a:rPr>
              <a:t>mov $0x0, %</a:t>
            </a:r>
            <a:r>
              <a:rPr lang="en-US" altLang="zh-CN" sz="1600" dirty="0" err="1">
                <a:solidFill>
                  <a:prstClr val="black"/>
                </a:solidFill>
                <a:latin typeface="Consolas"/>
                <a:cs typeface="Consolas"/>
              </a:rPr>
              <a:t>eax</a:t>
            </a:r>
            <a:endParaRPr lang="zh-CN" altLang="en-US" sz="1600" dirty="0">
              <a:solidFill>
                <a:prstClr val="black"/>
              </a:solidFill>
              <a:latin typeface="Consolas"/>
              <a:cs typeface="Consolas"/>
            </a:endParaRPr>
          </a:p>
        </p:txBody>
      </p:sp>
      <p:sp>
        <p:nvSpPr>
          <p:cNvPr id="80" name="矩形 79"/>
          <p:cNvSpPr/>
          <p:nvPr/>
        </p:nvSpPr>
        <p:spPr>
          <a:xfrm>
            <a:off x="1608920" y="4467641"/>
            <a:ext cx="1951499" cy="339164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1600" dirty="0" err="1">
                <a:solidFill>
                  <a:prstClr val="black"/>
                </a:solidFill>
                <a:latin typeface="Consolas"/>
                <a:cs typeface="Consolas"/>
              </a:rPr>
              <a:t>callq</a:t>
            </a:r>
            <a:r>
              <a:rPr lang="en-US" altLang="zh-CN" sz="1600" dirty="0">
                <a:solidFill>
                  <a:prstClr val="black"/>
                </a:solidFill>
                <a:latin typeface="Consolas"/>
                <a:cs typeface="Consolas"/>
              </a:rPr>
              <a:t> 5fa</a:t>
            </a:r>
            <a:endParaRPr lang="zh-CN" altLang="en-US" sz="1600" dirty="0">
              <a:solidFill>
                <a:prstClr val="black"/>
              </a:solidFill>
              <a:latin typeface="Consolas"/>
              <a:cs typeface="Consolas"/>
            </a:endParaRPr>
          </a:p>
        </p:txBody>
      </p:sp>
      <p:sp>
        <p:nvSpPr>
          <p:cNvPr id="81" name="矩形 80"/>
          <p:cNvSpPr/>
          <p:nvPr/>
        </p:nvSpPr>
        <p:spPr>
          <a:xfrm>
            <a:off x="1606883" y="4807245"/>
            <a:ext cx="1951499" cy="339164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1600" dirty="0">
                <a:solidFill>
                  <a:prstClr val="black"/>
                </a:solidFill>
                <a:latin typeface="Consolas"/>
                <a:cs typeface="Consolas"/>
              </a:rPr>
              <a:t>mov $0x0, %</a:t>
            </a:r>
            <a:r>
              <a:rPr lang="en-US" altLang="zh-CN" sz="1600" dirty="0" err="1">
                <a:solidFill>
                  <a:prstClr val="black"/>
                </a:solidFill>
                <a:latin typeface="Consolas"/>
                <a:cs typeface="Consolas"/>
              </a:rPr>
              <a:t>eax</a:t>
            </a:r>
            <a:endParaRPr lang="zh-CN" altLang="en-US" sz="1600" dirty="0">
              <a:solidFill>
                <a:prstClr val="black"/>
              </a:solidFill>
              <a:latin typeface="Consolas"/>
              <a:cs typeface="Consolas"/>
            </a:endParaRPr>
          </a:p>
        </p:txBody>
      </p:sp>
      <p:sp>
        <p:nvSpPr>
          <p:cNvPr id="83" name="矩形 82"/>
          <p:cNvSpPr/>
          <p:nvPr/>
        </p:nvSpPr>
        <p:spPr>
          <a:xfrm>
            <a:off x="1608920" y="5142806"/>
            <a:ext cx="1951499" cy="339164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1600" dirty="0">
                <a:solidFill>
                  <a:prstClr val="black"/>
                </a:solidFill>
                <a:latin typeface="Consolas"/>
                <a:cs typeface="Consolas"/>
              </a:rPr>
              <a:t>ret</a:t>
            </a:r>
            <a:endParaRPr lang="zh-CN" altLang="en-US" sz="1600" dirty="0">
              <a:solidFill>
                <a:prstClr val="black"/>
              </a:solidFill>
              <a:latin typeface="Consolas"/>
              <a:cs typeface="Consolas"/>
            </a:endParaRPr>
          </a:p>
        </p:txBody>
      </p:sp>
      <p:sp>
        <p:nvSpPr>
          <p:cNvPr id="84" name="矩形 83"/>
          <p:cNvSpPr/>
          <p:nvPr/>
        </p:nvSpPr>
        <p:spPr>
          <a:xfrm>
            <a:off x="1007750" y="5736478"/>
            <a:ext cx="492443" cy="427994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mr-IN" altLang="zh-CN" sz="2400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sz="2400" dirty="0"/>
          </a:p>
        </p:txBody>
      </p:sp>
      <p:sp>
        <p:nvSpPr>
          <p:cNvPr id="86" name="矩形 85"/>
          <p:cNvSpPr/>
          <p:nvPr/>
        </p:nvSpPr>
        <p:spPr>
          <a:xfrm>
            <a:off x="1206127" y="3129472"/>
            <a:ext cx="377064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...</a:t>
            </a:r>
            <a:endParaRPr lang="zh-CN" altLang="en-US" dirty="0"/>
          </a:p>
        </p:txBody>
      </p:sp>
      <p:sp>
        <p:nvSpPr>
          <p:cNvPr id="87" name="矩形 86"/>
          <p:cNvSpPr/>
          <p:nvPr/>
        </p:nvSpPr>
        <p:spPr>
          <a:xfrm>
            <a:off x="-92268" y="5487084"/>
            <a:ext cx="1675459" cy="307777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sz="1400" dirty="0">
                <a:solidFill>
                  <a:prstClr val="black"/>
                </a:solidFill>
                <a:latin typeface="Consolas" panose="020B0609020204030204" pitchFamily="49" charset="0"/>
                <a:cs typeface="Arial"/>
              </a:rPr>
              <a:t>0x00..5555545fa</a:t>
            </a:r>
            <a:endParaRPr lang="zh-CN" altLang="en-US" sz="1400" dirty="0">
              <a:latin typeface="Consolas" panose="020B0609020204030204" pitchFamily="49" charset="0"/>
            </a:endParaRPr>
          </a:p>
        </p:txBody>
      </p:sp>
      <p:sp>
        <p:nvSpPr>
          <p:cNvPr id="94" name="矩形 93"/>
          <p:cNvSpPr/>
          <p:nvPr/>
        </p:nvSpPr>
        <p:spPr>
          <a:xfrm>
            <a:off x="1212855" y="3479632"/>
            <a:ext cx="377064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...</a:t>
            </a:r>
            <a:endParaRPr lang="zh-CN" altLang="en-US" dirty="0"/>
          </a:p>
        </p:txBody>
      </p:sp>
      <p:sp>
        <p:nvSpPr>
          <p:cNvPr id="103" name="矩形 102"/>
          <p:cNvSpPr/>
          <p:nvPr/>
        </p:nvSpPr>
        <p:spPr>
          <a:xfrm>
            <a:off x="1607980" y="5486144"/>
            <a:ext cx="1951499" cy="339164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1100" b="1" dirty="0" err="1">
                <a:solidFill>
                  <a:prstClr val="black"/>
                </a:solidFill>
                <a:latin typeface="Consolas"/>
                <a:cs typeface="Consolas"/>
              </a:rPr>
              <a:t>addl</a:t>
            </a:r>
            <a:r>
              <a:rPr lang="en-US" altLang="zh-CN" sz="1100" b="1" dirty="0">
                <a:solidFill>
                  <a:prstClr val="black"/>
                </a:solidFill>
                <a:latin typeface="Consolas"/>
                <a:cs typeface="Consolas"/>
              </a:rPr>
              <a:t> $0x1, 0x200a13(%rip)</a:t>
            </a:r>
            <a:endParaRPr lang="zh-CN" altLang="en-US" sz="1100" b="1" dirty="0">
              <a:solidFill>
                <a:prstClr val="black"/>
              </a:solidFill>
              <a:latin typeface="Consolas"/>
              <a:cs typeface="Consolas"/>
            </a:endParaRPr>
          </a:p>
        </p:txBody>
      </p:sp>
      <p:sp>
        <p:nvSpPr>
          <p:cNvPr id="104" name="矩形 103"/>
          <p:cNvSpPr/>
          <p:nvPr/>
        </p:nvSpPr>
        <p:spPr>
          <a:xfrm>
            <a:off x="1606883" y="5825308"/>
            <a:ext cx="1951499" cy="339164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24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06" name="矩形 105"/>
          <p:cNvSpPr/>
          <p:nvPr/>
        </p:nvSpPr>
        <p:spPr>
          <a:xfrm>
            <a:off x="41757" y="115556"/>
            <a:ext cx="1576072" cy="307777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sz="1400" dirty="0">
                <a:solidFill>
                  <a:prstClr val="black"/>
                </a:solidFill>
                <a:latin typeface="Consolas" panose="020B0609020204030204" pitchFamily="49" charset="0"/>
                <a:cs typeface="Arial"/>
              </a:rPr>
              <a:t>0x7f</a:t>
            </a:r>
            <a:r>
              <a:rPr lang="mr-IN" altLang="zh-CN" sz="1400" dirty="0">
                <a:solidFill>
                  <a:prstClr val="black"/>
                </a:solidFill>
                <a:latin typeface="Consolas" panose="020B0609020204030204" pitchFamily="49" charset="0"/>
                <a:cs typeface="Arial"/>
              </a:rPr>
              <a:t>…</a:t>
            </a:r>
            <a:r>
              <a:rPr lang="en-US" altLang="zh-CN" sz="1400" dirty="0">
                <a:solidFill>
                  <a:prstClr val="black"/>
                </a:solidFill>
                <a:latin typeface="Consolas" panose="020B0609020204030204" pitchFamily="49" charset="0"/>
                <a:cs typeface="Arial"/>
              </a:rPr>
              <a:t>000000098</a:t>
            </a:r>
            <a:endParaRPr lang="zh-CN" altLang="en-US" sz="1400" dirty="0">
              <a:latin typeface="Consolas" panose="020B0609020204030204" pitchFamily="49" charset="0"/>
            </a:endParaRPr>
          </a:p>
        </p:txBody>
      </p:sp>
      <p:sp>
        <p:nvSpPr>
          <p:cNvPr id="102" name="矩形 101"/>
          <p:cNvSpPr/>
          <p:nvPr/>
        </p:nvSpPr>
        <p:spPr>
          <a:xfrm>
            <a:off x="4010294" y="5138450"/>
            <a:ext cx="688009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kumimoji="1" lang="en-US" altLang="zh-CN" sz="1400" b="1" dirty="0">
                <a:latin typeface="Verdana"/>
                <a:cs typeface="Verdana"/>
              </a:rPr>
              <a:t>%rip</a:t>
            </a:r>
            <a:endParaRPr lang="zh-CN" altLang="en-US" sz="1400" b="1" dirty="0"/>
          </a:p>
        </p:txBody>
      </p:sp>
      <p:cxnSp>
        <p:nvCxnSpPr>
          <p:cNvPr id="111" name="直线箭头连接符 110"/>
          <p:cNvCxnSpPr>
            <a:cxnSpLocks/>
            <a:stCxn id="102" idx="1"/>
          </p:cNvCxnSpPr>
          <p:nvPr/>
        </p:nvCxnSpPr>
        <p:spPr>
          <a:xfrm flipH="1" flipV="1">
            <a:off x="3643328" y="5280613"/>
            <a:ext cx="366966" cy="11726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" name="矩形 86">
            <a:extLst>
              <a:ext uri="{FF2B5EF4-FFF2-40B4-BE49-F238E27FC236}">
                <a16:creationId xmlns:a16="http://schemas.microsoft.com/office/drawing/2014/main" id="{B9B15590-4945-46D2-8B7E-12F73E7262F4}"/>
              </a:ext>
            </a:extLst>
          </p:cNvPr>
          <p:cNvSpPr/>
          <p:nvPr/>
        </p:nvSpPr>
        <p:spPr>
          <a:xfrm>
            <a:off x="-71138" y="5168166"/>
            <a:ext cx="1675460" cy="307777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sz="1400" dirty="0">
                <a:solidFill>
                  <a:prstClr val="black"/>
                </a:solidFill>
                <a:latin typeface="Consolas" panose="020B0609020204030204" pitchFamily="49" charset="0"/>
                <a:cs typeface="Arial"/>
              </a:rPr>
              <a:t>0x00..555554601</a:t>
            </a:r>
            <a:endParaRPr lang="zh-CN" altLang="en-US" sz="1400" dirty="0">
              <a:latin typeface="Consolas" panose="020B0609020204030204" pitchFamily="49" charset="0"/>
            </a:endParaRPr>
          </a:p>
        </p:txBody>
      </p:sp>
      <p:sp>
        <p:nvSpPr>
          <p:cNvPr id="3" name="矩形 86">
            <a:extLst>
              <a:ext uri="{FF2B5EF4-FFF2-40B4-BE49-F238E27FC236}">
                <a16:creationId xmlns:a16="http://schemas.microsoft.com/office/drawing/2014/main" id="{D20B1BDD-8F63-4A4F-9EA2-E04AAD9ECE6C}"/>
              </a:ext>
            </a:extLst>
          </p:cNvPr>
          <p:cNvSpPr/>
          <p:nvPr/>
        </p:nvSpPr>
        <p:spPr>
          <a:xfrm>
            <a:off x="-55474" y="4846792"/>
            <a:ext cx="1675460" cy="307777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sz="1400" dirty="0">
                <a:solidFill>
                  <a:prstClr val="black"/>
                </a:solidFill>
                <a:latin typeface="Consolas" panose="020B0609020204030204" pitchFamily="49" charset="0"/>
                <a:cs typeface="Arial"/>
              </a:rPr>
              <a:t>0x00..555554602</a:t>
            </a:r>
            <a:endParaRPr lang="zh-CN" altLang="en-US" sz="1400" dirty="0">
              <a:latin typeface="Consolas" panose="020B0609020204030204" pitchFamily="49" charset="0"/>
            </a:endParaRPr>
          </a:p>
        </p:txBody>
      </p:sp>
      <p:sp>
        <p:nvSpPr>
          <p:cNvPr id="10" name="矩形 86">
            <a:extLst>
              <a:ext uri="{FF2B5EF4-FFF2-40B4-BE49-F238E27FC236}">
                <a16:creationId xmlns:a16="http://schemas.microsoft.com/office/drawing/2014/main" id="{C8BF97E7-7FED-4E8C-9372-42E8F3BDECE0}"/>
              </a:ext>
            </a:extLst>
          </p:cNvPr>
          <p:cNvSpPr/>
          <p:nvPr/>
        </p:nvSpPr>
        <p:spPr>
          <a:xfrm>
            <a:off x="-34276" y="4517116"/>
            <a:ext cx="1675460" cy="307777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sz="1400" dirty="0">
                <a:solidFill>
                  <a:prstClr val="black"/>
                </a:solidFill>
                <a:latin typeface="Consolas" panose="020B0609020204030204" pitchFamily="49" charset="0"/>
                <a:cs typeface="Arial"/>
              </a:rPr>
              <a:t>0x00..555554607</a:t>
            </a:r>
            <a:endParaRPr lang="zh-CN" altLang="en-US" sz="1400" dirty="0">
              <a:latin typeface="Consolas" panose="020B0609020204030204" pitchFamily="49" charset="0"/>
            </a:endParaRPr>
          </a:p>
        </p:txBody>
      </p:sp>
      <p:sp>
        <p:nvSpPr>
          <p:cNvPr id="17" name="矩形 86">
            <a:extLst>
              <a:ext uri="{FF2B5EF4-FFF2-40B4-BE49-F238E27FC236}">
                <a16:creationId xmlns:a16="http://schemas.microsoft.com/office/drawing/2014/main" id="{827A7CFE-EFA9-4FB8-9846-89EA57AAB9AC}"/>
              </a:ext>
            </a:extLst>
          </p:cNvPr>
          <p:cNvSpPr/>
          <p:nvPr/>
        </p:nvSpPr>
        <p:spPr>
          <a:xfrm>
            <a:off x="-27875" y="4188144"/>
            <a:ext cx="1675460" cy="307777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sz="1400" dirty="0">
                <a:solidFill>
                  <a:prstClr val="black"/>
                </a:solidFill>
                <a:latin typeface="Consolas" panose="020B0609020204030204" pitchFamily="49" charset="0"/>
                <a:cs typeface="Arial"/>
              </a:rPr>
              <a:t>0x00..55555460c</a:t>
            </a:r>
            <a:endParaRPr lang="zh-CN" altLang="en-US" sz="1400" dirty="0">
              <a:latin typeface="Consolas" panose="020B0609020204030204" pitchFamily="49" charset="0"/>
            </a:endParaRPr>
          </a:p>
        </p:txBody>
      </p:sp>
      <p:sp>
        <p:nvSpPr>
          <p:cNvPr id="18" name="矩形 86">
            <a:extLst>
              <a:ext uri="{FF2B5EF4-FFF2-40B4-BE49-F238E27FC236}">
                <a16:creationId xmlns:a16="http://schemas.microsoft.com/office/drawing/2014/main" id="{D0716B26-00D9-4238-BEBE-7A5B08E5B306}"/>
              </a:ext>
            </a:extLst>
          </p:cNvPr>
          <p:cNvSpPr/>
          <p:nvPr/>
        </p:nvSpPr>
        <p:spPr>
          <a:xfrm>
            <a:off x="-35792" y="3837968"/>
            <a:ext cx="1675460" cy="307777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sz="1400" dirty="0">
                <a:solidFill>
                  <a:prstClr val="black"/>
                </a:solidFill>
                <a:latin typeface="Consolas" panose="020B0609020204030204" pitchFamily="49" charset="0"/>
                <a:cs typeface="Arial"/>
              </a:rPr>
              <a:t>0x00..555554611</a:t>
            </a:r>
            <a:endParaRPr lang="zh-CN" altLang="en-US" sz="1400" dirty="0">
              <a:latin typeface="Consolas" panose="020B0609020204030204" pitchFamily="49" charset="0"/>
            </a:endParaRPr>
          </a:p>
        </p:txBody>
      </p:sp>
      <p:sp>
        <p:nvSpPr>
          <p:cNvPr id="19" name="矩形 105">
            <a:extLst>
              <a:ext uri="{FF2B5EF4-FFF2-40B4-BE49-F238E27FC236}">
                <a16:creationId xmlns:a16="http://schemas.microsoft.com/office/drawing/2014/main" id="{701D13D6-8394-4EFB-84F6-8CA0A44B302A}"/>
              </a:ext>
            </a:extLst>
          </p:cNvPr>
          <p:cNvSpPr/>
          <p:nvPr/>
        </p:nvSpPr>
        <p:spPr>
          <a:xfrm>
            <a:off x="25628" y="454676"/>
            <a:ext cx="1576072" cy="307777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sz="1400" dirty="0">
                <a:solidFill>
                  <a:prstClr val="black"/>
                </a:solidFill>
                <a:latin typeface="Consolas" panose="020B0609020204030204" pitchFamily="49" charset="0"/>
                <a:cs typeface="Arial"/>
              </a:rPr>
              <a:t>0x7f</a:t>
            </a:r>
            <a:r>
              <a:rPr lang="mr-IN" altLang="zh-CN" sz="1400" dirty="0">
                <a:solidFill>
                  <a:prstClr val="black"/>
                </a:solidFill>
                <a:latin typeface="Consolas" panose="020B0609020204030204" pitchFamily="49" charset="0"/>
                <a:cs typeface="Arial"/>
              </a:rPr>
              <a:t>…</a:t>
            </a:r>
            <a:r>
              <a:rPr lang="en-US" altLang="zh-CN" sz="1400" dirty="0">
                <a:solidFill>
                  <a:prstClr val="black"/>
                </a:solidFill>
                <a:latin typeface="Consolas" panose="020B0609020204030204" pitchFamily="49" charset="0"/>
                <a:cs typeface="Arial"/>
              </a:rPr>
              <a:t>000000090</a:t>
            </a:r>
            <a:endParaRPr lang="zh-CN" altLang="en-US" sz="1400" dirty="0">
              <a:latin typeface="Consolas" panose="020B0609020204030204" pitchFamily="49" charset="0"/>
            </a:endParaRPr>
          </a:p>
        </p:txBody>
      </p:sp>
      <p:sp>
        <p:nvSpPr>
          <p:cNvPr id="20" name="矩形 105">
            <a:extLst>
              <a:ext uri="{FF2B5EF4-FFF2-40B4-BE49-F238E27FC236}">
                <a16:creationId xmlns:a16="http://schemas.microsoft.com/office/drawing/2014/main" id="{57CD497F-20EC-4F9D-8A3E-6CA7C242FAFB}"/>
              </a:ext>
            </a:extLst>
          </p:cNvPr>
          <p:cNvSpPr/>
          <p:nvPr/>
        </p:nvSpPr>
        <p:spPr>
          <a:xfrm>
            <a:off x="25628" y="826603"/>
            <a:ext cx="1576072" cy="307777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sz="1400" dirty="0">
                <a:solidFill>
                  <a:prstClr val="black"/>
                </a:solidFill>
                <a:latin typeface="Consolas" panose="020B0609020204030204" pitchFamily="49" charset="0"/>
                <a:cs typeface="Arial"/>
              </a:rPr>
              <a:t>0x7f</a:t>
            </a:r>
            <a:r>
              <a:rPr lang="mr-IN" altLang="zh-CN" sz="1400" dirty="0">
                <a:solidFill>
                  <a:prstClr val="black"/>
                </a:solidFill>
                <a:latin typeface="Consolas" panose="020B0609020204030204" pitchFamily="49" charset="0"/>
                <a:cs typeface="Arial"/>
              </a:rPr>
              <a:t>…</a:t>
            </a:r>
            <a:r>
              <a:rPr lang="en-US" altLang="zh-CN" sz="1400" dirty="0">
                <a:solidFill>
                  <a:prstClr val="black"/>
                </a:solidFill>
                <a:latin typeface="Consolas" panose="020B0609020204030204" pitchFamily="49" charset="0"/>
                <a:cs typeface="Arial"/>
              </a:rPr>
              <a:t>000000088</a:t>
            </a:r>
            <a:endParaRPr lang="zh-CN" altLang="en-US" sz="1400" dirty="0">
              <a:latin typeface="Consolas" panose="020B0609020204030204" pitchFamily="49" charset="0"/>
            </a:endParaRPr>
          </a:p>
        </p:txBody>
      </p:sp>
      <p:sp>
        <p:nvSpPr>
          <p:cNvPr id="21" name="矩形 86">
            <a:extLst>
              <a:ext uri="{FF2B5EF4-FFF2-40B4-BE49-F238E27FC236}">
                <a16:creationId xmlns:a16="http://schemas.microsoft.com/office/drawing/2014/main" id="{FAD60544-1F1F-4085-9370-0580C9379794}"/>
              </a:ext>
            </a:extLst>
          </p:cNvPr>
          <p:cNvSpPr/>
          <p:nvPr/>
        </p:nvSpPr>
        <p:spPr>
          <a:xfrm>
            <a:off x="-7936" y="2809448"/>
            <a:ext cx="1675459" cy="307777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sz="1400" dirty="0">
                <a:solidFill>
                  <a:prstClr val="black"/>
                </a:solidFill>
                <a:latin typeface="Consolas" panose="020B0609020204030204" pitchFamily="49" charset="0"/>
                <a:cs typeface="Arial"/>
              </a:rPr>
              <a:t>0x00..555755014</a:t>
            </a:r>
            <a:endParaRPr lang="zh-CN" altLang="en-US" sz="1400" dirty="0">
              <a:latin typeface="Consolas" panose="020B0609020204030204" pitchFamily="49" charset="0"/>
            </a:endParaRPr>
          </a:p>
        </p:txBody>
      </p:sp>
      <p:sp>
        <p:nvSpPr>
          <p:cNvPr id="22" name="矩形 86">
            <a:extLst>
              <a:ext uri="{FF2B5EF4-FFF2-40B4-BE49-F238E27FC236}">
                <a16:creationId xmlns:a16="http://schemas.microsoft.com/office/drawing/2014/main" id="{767ADB22-AB5C-4947-B02B-DF8044B8B62D}"/>
              </a:ext>
            </a:extLst>
          </p:cNvPr>
          <p:cNvSpPr/>
          <p:nvPr/>
        </p:nvSpPr>
        <p:spPr>
          <a:xfrm>
            <a:off x="-27658" y="2467751"/>
            <a:ext cx="1675460" cy="307777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sz="1400" dirty="0">
                <a:solidFill>
                  <a:prstClr val="black"/>
                </a:solidFill>
                <a:latin typeface="Consolas" panose="020B0609020204030204" pitchFamily="49" charset="0"/>
                <a:cs typeface="Arial"/>
              </a:rPr>
              <a:t>0x00..555755018</a:t>
            </a:r>
            <a:endParaRPr lang="zh-CN" altLang="en-US" sz="140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8976364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/>
          <p:cNvSpPr/>
          <p:nvPr/>
        </p:nvSpPr>
        <p:spPr>
          <a:xfrm>
            <a:off x="5770729" y="420774"/>
            <a:ext cx="2617701" cy="6087558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 w="381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kumimoji="1" lang="zh-CN" altLang="en-US" dirty="0">
              <a:solidFill>
                <a:schemeClr val="tx1"/>
              </a:solidFill>
              <a:latin typeface="Verdana"/>
              <a:cs typeface="Verdana"/>
            </a:endParaRPr>
          </a:p>
        </p:txBody>
      </p:sp>
      <p:sp>
        <p:nvSpPr>
          <p:cNvPr id="6" name="矩形 5"/>
          <p:cNvSpPr/>
          <p:nvPr/>
        </p:nvSpPr>
        <p:spPr>
          <a:xfrm>
            <a:off x="1859596" y="6151633"/>
            <a:ext cx="1219980" cy="400110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kumimoji="1" lang="en-US" altLang="zh-CN" sz="2000" dirty="0">
                <a:latin typeface="Verdana"/>
                <a:cs typeface="Verdana"/>
              </a:rPr>
              <a:t>Memory</a:t>
            </a:r>
            <a:endParaRPr lang="zh-CN" altLang="en-US" sz="2000" dirty="0"/>
          </a:p>
        </p:txBody>
      </p:sp>
      <p:sp>
        <p:nvSpPr>
          <p:cNvPr id="27" name="矩形 26"/>
          <p:cNvSpPr/>
          <p:nvPr/>
        </p:nvSpPr>
        <p:spPr>
          <a:xfrm>
            <a:off x="6707135" y="402971"/>
            <a:ext cx="65399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 dirty="0">
                <a:latin typeface="Verdana"/>
                <a:cs typeface="Verdana"/>
              </a:rPr>
              <a:t>CPU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28" name="圆角矩形 27"/>
          <p:cNvSpPr/>
          <p:nvPr/>
        </p:nvSpPr>
        <p:spPr>
          <a:xfrm>
            <a:off x="6707135" y="829513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s-IS" altLang="zh-CN" sz="1400" dirty="0">
                <a:solidFill>
                  <a:srgbClr val="000000"/>
                </a:solidFill>
                <a:latin typeface="Arial"/>
                <a:cs typeface="Arial"/>
              </a:rPr>
              <a:t>0x00..55555460c</a:t>
            </a:r>
          </a:p>
        </p:txBody>
      </p:sp>
      <p:sp>
        <p:nvSpPr>
          <p:cNvPr id="29" name="矩形 28"/>
          <p:cNvSpPr/>
          <p:nvPr/>
        </p:nvSpPr>
        <p:spPr>
          <a:xfrm>
            <a:off x="5973834" y="849437"/>
            <a:ext cx="68640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 dirty="0">
                <a:latin typeface="Verdana"/>
                <a:cs typeface="Verdana"/>
              </a:rPr>
              <a:t>RIP: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33" name="矩形 32"/>
          <p:cNvSpPr/>
          <p:nvPr/>
        </p:nvSpPr>
        <p:spPr>
          <a:xfrm>
            <a:off x="6007264" y="1716244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RAX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34" name="圆角矩形 33"/>
          <p:cNvSpPr/>
          <p:nvPr/>
        </p:nvSpPr>
        <p:spPr>
          <a:xfrm>
            <a:off x="6707134" y="1726615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is-IS" altLang="zh-CN" dirty="0">
                <a:solidFill>
                  <a:prstClr val="black"/>
                </a:solidFill>
                <a:latin typeface="Consolas" panose="020B0609020204030204" pitchFamily="49" charset="0"/>
                <a:cs typeface="Arial"/>
                <a:sym typeface="Courier New Bold" charset="0"/>
              </a:rPr>
              <a:t>0x0</a:t>
            </a:r>
          </a:p>
        </p:txBody>
      </p:sp>
      <p:sp>
        <p:nvSpPr>
          <p:cNvPr id="35" name="圆角矩形 34"/>
          <p:cNvSpPr/>
          <p:nvPr/>
        </p:nvSpPr>
        <p:spPr>
          <a:xfrm>
            <a:off x="6732381" y="2156558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6" name="圆角矩形 35"/>
          <p:cNvSpPr/>
          <p:nvPr/>
        </p:nvSpPr>
        <p:spPr>
          <a:xfrm>
            <a:off x="6732381" y="2585832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 dirty="0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37" name="圆角矩形 36"/>
          <p:cNvSpPr/>
          <p:nvPr/>
        </p:nvSpPr>
        <p:spPr>
          <a:xfrm>
            <a:off x="6727649" y="3016507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 dirty="0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38" name="圆角矩形 37"/>
          <p:cNvSpPr/>
          <p:nvPr/>
        </p:nvSpPr>
        <p:spPr>
          <a:xfrm>
            <a:off x="6728204" y="3454928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9" name="圆角矩形 38"/>
          <p:cNvSpPr/>
          <p:nvPr/>
        </p:nvSpPr>
        <p:spPr>
          <a:xfrm>
            <a:off x="6730569" y="3884871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40" name="圆角矩形 39"/>
          <p:cNvSpPr/>
          <p:nvPr/>
        </p:nvSpPr>
        <p:spPr>
          <a:xfrm>
            <a:off x="6719128" y="4314145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is-IS" altLang="zh-CN" sz="1400" dirty="0">
                <a:solidFill>
                  <a:prstClr val="black"/>
                </a:solidFill>
                <a:latin typeface="Consolas" panose="020B0609020204030204" pitchFamily="49" charset="0"/>
                <a:cs typeface="Arial"/>
                <a:sym typeface="Courier New Bold" charset="0"/>
              </a:rPr>
              <a:t>0x7f…000000090</a:t>
            </a:r>
          </a:p>
        </p:txBody>
      </p:sp>
      <p:sp>
        <p:nvSpPr>
          <p:cNvPr id="41" name="圆角矩形 40"/>
          <p:cNvSpPr/>
          <p:nvPr/>
        </p:nvSpPr>
        <p:spPr>
          <a:xfrm>
            <a:off x="6725837" y="4744820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 dirty="0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42" name="矩形 41"/>
          <p:cNvSpPr/>
          <p:nvPr/>
        </p:nvSpPr>
        <p:spPr>
          <a:xfrm>
            <a:off x="7071077" y="6098041"/>
            <a:ext cx="441146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mr-IN" altLang="zh-CN" sz="2000" b="1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sz="2000" b="1" dirty="0"/>
          </a:p>
        </p:txBody>
      </p:sp>
      <p:sp>
        <p:nvSpPr>
          <p:cNvPr id="43" name="矩形 42"/>
          <p:cNvSpPr/>
          <p:nvPr/>
        </p:nvSpPr>
        <p:spPr>
          <a:xfrm>
            <a:off x="6004115" y="2168000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RBX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44" name="矩形 43"/>
          <p:cNvSpPr/>
          <p:nvPr/>
        </p:nvSpPr>
        <p:spPr>
          <a:xfrm>
            <a:off x="5989455" y="2585832"/>
            <a:ext cx="77685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RCX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45" name="矩形 44"/>
          <p:cNvSpPr/>
          <p:nvPr/>
        </p:nvSpPr>
        <p:spPr>
          <a:xfrm>
            <a:off x="5993122" y="3024282"/>
            <a:ext cx="77685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RDX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46" name="矩形 45"/>
          <p:cNvSpPr/>
          <p:nvPr/>
        </p:nvSpPr>
        <p:spPr>
          <a:xfrm>
            <a:off x="5990867" y="3451290"/>
            <a:ext cx="67428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RSI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47" name="矩形 46"/>
          <p:cNvSpPr/>
          <p:nvPr/>
        </p:nvSpPr>
        <p:spPr>
          <a:xfrm>
            <a:off x="5986305" y="3882159"/>
            <a:ext cx="68702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RDI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48" name="矩形 47"/>
          <p:cNvSpPr/>
          <p:nvPr/>
        </p:nvSpPr>
        <p:spPr>
          <a:xfrm>
            <a:off x="5985749" y="4320609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RSP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49" name="矩形 48"/>
          <p:cNvSpPr/>
          <p:nvPr/>
        </p:nvSpPr>
        <p:spPr>
          <a:xfrm>
            <a:off x="5983157" y="4718557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RBP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56" name="矩形 55"/>
          <p:cNvSpPr/>
          <p:nvPr/>
        </p:nvSpPr>
        <p:spPr>
          <a:xfrm>
            <a:off x="3972251" y="520149"/>
            <a:ext cx="732893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kumimoji="1" lang="en-US" altLang="zh-CN" sz="1400" b="1" dirty="0">
                <a:latin typeface="Verdana"/>
                <a:cs typeface="Verdana"/>
              </a:rPr>
              <a:t>%</a:t>
            </a:r>
            <a:r>
              <a:rPr kumimoji="1" lang="en-US" altLang="zh-CN" sz="1400" b="1" dirty="0" err="1">
                <a:latin typeface="Verdana"/>
                <a:cs typeface="Verdana"/>
              </a:rPr>
              <a:t>rsp</a:t>
            </a:r>
            <a:endParaRPr lang="zh-CN" altLang="en-US" sz="1400" b="1" dirty="0"/>
          </a:p>
        </p:txBody>
      </p:sp>
      <p:sp>
        <p:nvSpPr>
          <p:cNvPr id="57" name="矩形 56"/>
          <p:cNvSpPr/>
          <p:nvPr/>
        </p:nvSpPr>
        <p:spPr>
          <a:xfrm>
            <a:off x="6194819" y="5220252"/>
            <a:ext cx="57149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ZF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58" name="圆角矩形 57"/>
          <p:cNvSpPr/>
          <p:nvPr/>
        </p:nvSpPr>
        <p:spPr>
          <a:xfrm>
            <a:off x="6748122" y="5211806"/>
            <a:ext cx="439253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  <a:sym typeface="Courier New Bold" charset="0"/>
              </a:rPr>
              <a:t>0</a:t>
            </a:r>
          </a:p>
        </p:txBody>
      </p:sp>
      <p:sp>
        <p:nvSpPr>
          <p:cNvPr id="62" name="矩形 61"/>
          <p:cNvSpPr/>
          <p:nvPr/>
        </p:nvSpPr>
        <p:spPr>
          <a:xfrm>
            <a:off x="7298019" y="5198018"/>
            <a:ext cx="58445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SF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64" name="圆角矩形 63"/>
          <p:cNvSpPr/>
          <p:nvPr/>
        </p:nvSpPr>
        <p:spPr>
          <a:xfrm>
            <a:off x="7857802" y="5189572"/>
            <a:ext cx="439253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  <a:sym typeface="Courier New Bold" charset="0"/>
              </a:rPr>
              <a:t>0</a:t>
            </a:r>
          </a:p>
        </p:txBody>
      </p:sp>
      <p:sp>
        <p:nvSpPr>
          <p:cNvPr id="65" name="矩形 64"/>
          <p:cNvSpPr/>
          <p:nvPr/>
        </p:nvSpPr>
        <p:spPr>
          <a:xfrm>
            <a:off x="6177727" y="5675034"/>
            <a:ext cx="59718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CF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77" name="圆角矩形 76"/>
          <p:cNvSpPr/>
          <p:nvPr/>
        </p:nvSpPr>
        <p:spPr>
          <a:xfrm>
            <a:off x="6743879" y="5666588"/>
            <a:ext cx="439253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  <a:sym typeface="Courier New Bold" charset="0"/>
              </a:rPr>
              <a:t>0</a:t>
            </a:r>
          </a:p>
        </p:txBody>
      </p:sp>
      <p:sp>
        <p:nvSpPr>
          <p:cNvPr id="78" name="矩形 77"/>
          <p:cNvSpPr/>
          <p:nvPr/>
        </p:nvSpPr>
        <p:spPr>
          <a:xfrm>
            <a:off x="7280983" y="5652800"/>
            <a:ext cx="61003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OF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79" name="圆角矩形 78"/>
          <p:cNvSpPr/>
          <p:nvPr/>
        </p:nvSpPr>
        <p:spPr>
          <a:xfrm>
            <a:off x="7853559" y="5644354"/>
            <a:ext cx="439253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  <a:sym typeface="Courier New Bold" charset="0"/>
              </a:rPr>
              <a:t>0</a:t>
            </a:r>
          </a:p>
        </p:txBody>
      </p:sp>
      <p:sp>
        <p:nvSpPr>
          <p:cNvPr id="7" name="矩形 6"/>
          <p:cNvSpPr/>
          <p:nvPr/>
        </p:nvSpPr>
        <p:spPr>
          <a:xfrm>
            <a:off x="1588002" y="819397"/>
            <a:ext cx="1951499" cy="3391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1400" dirty="0">
                <a:latin typeface="Consolas"/>
                <a:cs typeface="Consolas"/>
                <a:sym typeface="Courier New Bold" charset="0"/>
              </a:rPr>
              <a:t>0x00..55555460c</a:t>
            </a:r>
            <a:endParaRPr lang="cs-CZ" altLang="zh-CN" sz="1400" dirty="0">
              <a:latin typeface="Consolas"/>
              <a:cs typeface="Consolas"/>
              <a:sym typeface="Courier New Bold" charset="0"/>
            </a:endParaRPr>
          </a:p>
        </p:txBody>
      </p:sp>
      <p:sp>
        <p:nvSpPr>
          <p:cNvPr id="8" name="矩形 7"/>
          <p:cNvSpPr/>
          <p:nvPr/>
        </p:nvSpPr>
        <p:spPr>
          <a:xfrm>
            <a:off x="1588002" y="480233"/>
            <a:ext cx="1951499" cy="33916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US" altLang="zh-CN" sz="1600" dirty="0">
                <a:solidFill>
                  <a:prstClr val="black"/>
                </a:solidFill>
                <a:latin typeface="Consolas"/>
                <a:cs typeface="Consolas"/>
              </a:rPr>
              <a:t>...</a:t>
            </a:r>
          </a:p>
        </p:txBody>
      </p:sp>
      <p:sp>
        <p:nvSpPr>
          <p:cNvPr id="9" name="矩形 8"/>
          <p:cNvSpPr/>
          <p:nvPr/>
        </p:nvSpPr>
        <p:spPr>
          <a:xfrm>
            <a:off x="1588002" y="143470"/>
            <a:ext cx="1951499" cy="33916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tabLst>
                <a:tab pos="514350" algn="l"/>
                <a:tab pos="2801938" algn="l"/>
                <a:tab pos="3086100" algn="l"/>
                <a:tab pos="3086100" algn="l"/>
                <a:tab pos="3086100" algn="l"/>
                <a:tab pos="3086100" algn="l"/>
              </a:tabLst>
            </a:pPr>
            <a:r>
              <a:rPr lang="cs-CZ" altLang="zh-CN" sz="1600" dirty="0">
                <a:latin typeface="Consolas"/>
                <a:cs typeface="Consolas"/>
                <a:sym typeface="Courier New Bold" charset="0"/>
              </a:rPr>
              <a:t>...</a:t>
            </a:r>
          </a:p>
        </p:txBody>
      </p:sp>
      <p:sp>
        <p:nvSpPr>
          <p:cNvPr id="11" name="矩形 10"/>
          <p:cNvSpPr/>
          <p:nvPr/>
        </p:nvSpPr>
        <p:spPr>
          <a:xfrm>
            <a:off x="1588002" y="1158204"/>
            <a:ext cx="1951499" cy="339164"/>
          </a:xfrm>
          <a:prstGeom prst="rect">
            <a:avLst/>
          </a:prstGeom>
          <a:noFill/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zh-CN" altLang="en-US" sz="1600" dirty="0">
              <a:solidFill>
                <a:prstClr val="black"/>
              </a:solidFill>
              <a:latin typeface="Consolas"/>
              <a:cs typeface="Consolas"/>
            </a:endParaRPr>
          </a:p>
        </p:txBody>
      </p:sp>
      <p:sp>
        <p:nvSpPr>
          <p:cNvPr id="12" name="矩形 11"/>
          <p:cNvSpPr/>
          <p:nvPr/>
        </p:nvSpPr>
        <p:spPr>
          <a:xfrm>
            <a:off x="1592372" y="2452102"/>
            <a:ext cx="1951499" cy="3391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3" name="矩形 12"/>
          <p:cNvSpPr/>
          <p:nvPr/>
        </p:nvSpPr>
        <p:spPr>
          <a:xfrm>
            <a:off x="1596741" y="2801658"/>
            <a:ext cx="1951499" cy="3391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0x1</a:t>
            </a:r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4" name="矩形 13"/>
          <p:cNvSpPr/>
          <p:nvPr/>
        </p:nvSpPr>
        <p:spPr>
          <a:xfrm>
            <a:off x="1604322" y="3134126"/>
            <a:ext cx="1951499" cy="339164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5" name="矩形 14"/>
          <p:cNvSpPr/>
          <p:nvPr/>
        </p:nvSpPr>
        <p:spPr>
          <a:xfrm>
            <a:off x="1604322" y="3467966"/>
            <a:ext cx="1951499" cy="339164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mr-IN" altLang="zh-CN" b="1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b="1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6" name="矩形 15"/>
          <p:cNvSpPr/>
          <p:nvPr/>
        </p:nvSpPr>
        <p:spPr>
          <a:xfrm>
            <a:off x="1604322" y="3802650"/>
            <a:ext cx="1951499" cy="339164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1600" dirty="0" err="1">
                <a:solidFill>
                  <a:prstClr val="black"/>
                </a:solidFill>
                <a:latin typeface="Consolas"/>
                <a:cs typeface="Consolas"/>
              </a:rPr>
              <a:t>retq</a:t>
            </a:r>
            <a:endParaRPr lang="zh-CN" altLang="en-US" sz="1600" dirty="0">
              <a:solidFill>
                <a:prstClr val="black"/>
              </a:solidFill>
              <a:latin typeface="Consolas"/>
              <a:cs typeface="Consolas"/>
            </a:endParaRPr>
          </a:p>
        </p:txBody>
      </p:sp>
      <p:sp>
        <p:nvSpPr>
          <p:cNvPr id="25" name="矩形 24"/>
          <p:cNvSpPr/>
          <p:nvPr/>
        </p:nvSpPr>
        <p:spPr>
          <a:xfrm>
            <a:off x="1588002" y="2131475"/>
            <a:ext cx="1951499" cy="319756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24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cxnSp>
        <p:nvCxnSpPr>
          <p:cNvPr id="4" name="直线箭头连接符 3"/>
          <p:cNvCxnSpPr/>
          <p:nvPr/>
        </p:nvCxnSpPr>
        <p:spPr>
          <a:xfrm flipH="1">
            <a:off x="3605284" y="662312"/>
            <a:ext cx="249222" cy="0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59" name="矩形 58"/>
          <p:cNvSpPr/>
          <p:nvPr/>
        </p:nvSpPr>
        <p:spPr>
          <a:xfrm>
            <a:off x="1583191" y="1814000"/>
            <a:ext cx="1951499" cy="319756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24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61" name="矩形 60"/>
          <p:cNvSpPr/>
          <p:nvPr/>
        </p:nvSpPr>
        <p:spPr>
          <a:xfrm>
            <a:off x="1587904" y="1495448"/>
            <a:ext cx="1951499" cy="319756"/>
          </a:xfrm>
          <a:prstGeom prst="rect">
            <a:avLst/>
          </a:prstGeom>
          <a:noFill/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63" name="矩形 62"/>
          <p:cNvSpPr/>
          <p:nvPr/>
        </p:nvSpPr>
        <p:spPr>
          <a:xfrm>
            <a:off x="1606031" y="4141814"/>
            <a:ext cx="1951499" cy="339164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1600" dirty="0">
                <a:solidFill>
                  <a:prstClr val="black"/>
                </a:solidFill>
                <a:latin typeface="Consolas"/>
                <a:cs typeface="Consolas"/>
              </a:rPr>
              <a:t>mov $0x0, %</a:t>
            </a:r>
            <a:r>
              <a:rPr lang="en-US" altLang="zh-CN" sz="1600" dirty="0" err="1">
                <a:solidFill>
                  <a:prstClr val="black"/>
                </a:solidFill>
                <a:latin typeface="Consolas"/>
                <a:cs typeface="Consolas"/>
              </a:rPr>
              <a:t>eax</a:t>
            </a:r>
            <a:endParaRPr lang="zh-CN" altLang="en-US" sz="1600" dirty="0">
              <a:solidFill>
                <a:prstClr val="black"/>
              </a:solidFill>
              <a:latin typeface="Consolas"/>
              <a:cs typeface="Consolas"/>
            </a:endParaRPr>
          </a:p>
        </p:txBody>
      </p:sp>
      <p:sp>
        <p:nvSpPr>
          <p:cNvPr id="80" name="矩形 79"/>
          <p:cNvSpPr/>
          <p:nvPr/>
        </p:nvSpPr>
        <p:spPr>
          <a:xfrm>
            <a:off x="1608920" y="4467641"/>
            <a:ext cx="1951499" cy="339164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1600" dirty="0" err="1">
                <a:solidFill>
                  <a:prstClr val="black"/>
                </a:solidFill>
                <a:latin typeface="Consolas"/>
                <a:cs typeface="Consolas"/>
              </a:rPr>
              <a:t>callq</a:t>
            </a:r>
            <a:r>
              <a:rPr lang="en-US" altLang="zh-CN" sz="1600" dirty="0">
                <a:solidFill>
                  <a:prstClr val="black"/>
                </a:solidFill>
                <a:latin typeface="Consolas"/>
                <a:cs typeface="Consolas"/>
              </a:rPr>
              <a:t> 5fa</a:t>
            </a:r>
            <a:endParaRPr lang="zh-CN" altLang="en-US" sz="1600" dirty="0">
              <a:solidFill>
                <a:prstClr val="black"/>
              </a:solidFill>
              <a:latin typeface="Consolas"/>
              <a:cs typeface="Consolas"/>
            </a:endParaRPr>
          </a:p>
        </p:txBody>
      </p:sp>
      <p:sp>
        <p:nvSpPr>
          <p:cNvPr id="81" name="矩形 80"/>
          <p:cNvSpPr/>
          <p:nvPr/>
        </p:nvSpPr>
        <p:spPr>
          <a:xfrm>
            <a:off x="1606883" y="4807245"/>
            <a:ext cx="1951499" cy="339164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1600" dirty="0">
                <a:solidFill>
                  <a:prstClr val="black"/>
                </a:solidFill>
                <a:latin typeface="Consolas"/>
                <a:cs typeface="Consolas"/>
              </a:rPr>
              <a:t>mov $0x0, %</a:t>
            </a:r>
            <a:r>
              <a:rPr lang="en-US" altLang="zh-CN" sz="1600" dirty="0" err="1">
                <a:solidFill>
                  <a:prstClr val="black"/>
                </a:solidFill>
                <a:latin typeface="Consolas"/>
                <a:cs typeface="Consolas"/>
              </a:rPr>
              <a:t>eax</a:t>
            </a:r>
            <a:endParaRPr lang="zh-CN" altLang="en-US" sz="1600" dirty="0">
              <a:solidFill>
                <a:prstClr val="black"/>
              </a:solidFill>
              <a:latin typeface="Consolas"/>
              <a:cs typeface="Consolas"/>
            </a:endParaRPr>
          </a:p>
        </p:txBody>
      </p:sp>
      <p:sp>
        <p:nvSpPr>
          <p:cNvPr id="83" name="矩形 82"/>
          <p:cNvSpPr/>
          <p:nvPr/>
        </p:nvSpPr>
        <p:spPr>
          <a:xfrm>
            <a:off x="1608920" y="5142806"/>
            <a:ext cx="1951499" cy="339164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1600" dirty="0">
                <a:solidFill>
                  <a:prstClr val="black"/>
                </a:solidFill>
                <a:latin typeface="Consolas"/>
                <a:cs typeface="Consolas"/>
              </a:rPr>
              <a:t>ret</a:t>
            </a:r>
            <a:endParaRPr lang="zh-CN" altLang="en-US" sz="1600" dirty="0">
              <a:solidFill>
                <a:prstClr val="black"/>
              </a:solidFill>
              <a:latin typeface="Consolas"/>
              <a:cs typeface="Consolas"/>
            </a:endParaRPr>
          </a:p>
        </p:txBody>
      </p:sp>
      <p:sp>
        <p:nvSpPr>
          <p:cNvPr id="84" name="矩形 83"/>
          <p:cNvSpPr/>
          <p:nvPr/>
        </p:nvSpPr>
        <p:spPr>
          <a:xfrm>
            <a:off x="1007750" y="5736478"/>
            <a:ext cx="492443" cy="427994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mr-IN" altLang="zh-CN" sz="2400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sz="2400" dirty="0"/>
          </a:p>
        </p:txBody>
      </p:sp>
      <p:sp>
        <p:nvSpPr>
          <p:cNvPr id="86" name="矩形 85"/>
          <p:cNvSpPr/>
          <p:nvPr/>
        </p:nvSpPr>
        <p:spPr>
          <a:xfrm>
            <a:off x="1206127" y="3129472"/>
            <a:ext cx="377064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...</a:t>
            </a:r>
            <a:endParaRPr lang="zh-CN" altLang="en-US" dirty="0"/>
          </a:p>
        </p:txBody>
      </p:sp>
      <p:sp>
        <p:nvSpPr>
          <p:cNvPr id="87" name="矩形 86"/>
          <p:cNvSpPr/>
          <p:nvPr/>
        </p:nvSpPr>
        <p:spPr>
          <a:xfrm>
            <a:off x="-92268" y="5487084"/>
            <a:ext cx="1675459" cy="307777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sz="1400" dirty="0">
                <a:solidFill>
                  <a:prstClr val="black"/>
                </a:solidFill>
                <a:latin typeface="Consolas" panose="020B0609020204030204" pitchFamily="49" charset="0"/>
                <a:cs typeface="Arial"/>
              </a:rPr>
              <a:t>0x00..5555545fa</a:t>
            </a:r>
            <a:endParaRPr lang="zh-CN" altLang="en-US" sz="1400" dirty="0">
              <a:latin typeface="Consolas" panose="020B0609020204030204" pitchFamily="49" charset="0"/>
            </a:endParaRPr>
          </a:p>
        </p:txBody>
      </p:sp>
      <p:sp>
        <p:nvSpPr>
          <p:cNvPr id="94" name="矩形 93"/>
          <p:cNvSpPr/>
          <p:nvPr/>
        </p:nvSpPr>
        <p:spPr>
          <a:xfrm>
            <a:off x="1212855" y="3479632"/>
            <a:ext cx="377064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...</a:t>
            </a:r>
            <a:endParaRPr lang="zh-CN" altLang="en-US" dirty="0"/>
          </a:p>
        </p:txBody>
      </p:sp>
      <p:sp>
        <p:nvSpPr>
          <p:cNvPr id="103" name="矩形 102"/>
          <p:cNvSpPr/>
          <p:nvPr/>
        </p:nvSpPr>
        <p:spPr>
          <a:xfrm>
            <a:off x="1607980" y="5486144"/>
            <a:ext cx="1951499" cy="339164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1100" b="1" dirty="0" err="1">
                <a:solidFill>
                  <a:prstClr val="black"/>
                </a:solidFill>
                <a:latin typeface="Consolas"/>
                <a:cs typeface="Consolas"/>
              </a:rPr>
              <a:t>addl</a:t>
            </a:r>
            <a:r>
              <a:rPr lang="en-US" altLang="zh-CN" sz="1100" b="1" dirty="0">
                <a:solidFill>
                  <a:prstClr val="black"/>
                </a:solidFill>
                <a:latin typeface="Consolas"/>
                <a:cs typeface="Consolas"/>
              </a:rPr>
              <a:t> $0x1, 0x200a13(%rip)</a:t>
            </a:r>
            <a:endParaRPr lang="zh-CN" altLang="en-US" sz="1100" b="1" dirty="0">
              <a:solidFill>
                <a:prstClr val="black"/>
              </a:solidFill>
              <a:latin typeface="Consolas"/>
              <a:cs typeface="Consolas"/>
            </a:endParaRPr>
          </a:p>
        </p:txBody>
      </p:sp>
      <p:sp>
        <p:nvSpPr>
          <p:cNvPr id="104" name="矩形 103"/>
          <p:cNvSpPr/>
          <p:nvPr/>
        </p:nvSpPr>
        <p:spPr>
          <a:xfrm>
            <a:off x="1606883" y="5825308"/>
            <a:ext cx="1951499" cy="339164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24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06" name="矩形 105"/>
          <p:cNvSpPr/>
          <p:nvPr/>
        </p:nvSpPr>
        <p:spPr>
          <a:xfrm>
            <a:off x="41757" y="115556"/>
            <a:ext cx="1576072" cy="307777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sz="1400" dirty="0">
                <a:solidFill>
                  <a:prstClr val="black"/>
                </a:solidFill>
                <a:latin typeface="Consolas" panose="020B0609020204030204" pitchFamily="49" charset="0"/>
                <a:cs typeface="Arial"/>
              </a:rPr>
              <a:t>0x7f</a:t>
            </a:r>
            <a:r>
              <a:rPr lang="mr-IN" altLang="zh-CN" sz="1400" dirty="0">
                <a:solidFill>
                  <a:prstClr val="black"/>
                </a:solidFill>
                <a:latin typeface="Consolas" panose="020B0609020204030204" pitchFamily="49" charset="0"/>
                <a:cs typeface="Arial"/>
              </a:rPr>
              <a:t>…</a:t>
            </a:r>
            <a:r>
              <a:rPr lang="en-US" altLang="zh-CN" sz="1400" dirty="0">
                <a:solidFill>
                  <a:prstClr val="black"/>
                </a:solidFill>
                <a:latin typeface="Consolas" panose="020B0609020204030204" pitchFamily="49" charset="0"/>
                <a:cs typeface="Arial"/>
              </a:rPr>
              <a:t>000000098</a:t>
            </a:r>
            <a:endParaRPr lang="zh-CN" altLang="en-US" sz="1400" dirty="0">
              <a:latin typeface="Consolas" panose="020B0609020204030204" pitchFamily="49" charset="0"/>
            </a:endParaRPr>
          </a:p>
        </p:txBody>
      </p:sp>
      <p:sp>
        <p:nvSpPr>
          <p:cNvPr id="102" name="矩形 101"/>
          <p:cNvSpPr/>
          <p:nvPr/>
        </p:nvSpPr>
        <p:spPr>
          <a:xfrm>
            <a:off x="4033461" y="4160256"/>
            <a:ext cx="688009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kumimoji="1" lang="en-US" altLang="zh-CN" sz="1400" b="1" dirty="0">
                <a:latin typeface="Verdana"/>
                <a:cs typeface="Verdana"/>
              </a:rPr>
              <a:t>%rip</a:t>
            </a:r>
            <a:endParaRPr lang="zh-CN" altLang="en-US" sz="1400" b="1" dirty="0"/>
          </a:p>
        </p:txBody>
      </p:sp>
      <p:cxnSp>
        <p:nvCxnSpPr>
          <p:cNvPr id="111" name="直线箭头连接符 110"/>
          <p:cNvCxnSpPr>
            <a:cxnSpLocks/>
            <a:stCxn id="102" idx="1"/>
          </p:cNvCxnSpPr>
          <p:nvPr/>
        </p:nvCxnSpPr>
        <p:spPr>
          <a:xfrm flipH="1" flipV="1">
            <a:off x="3666495" y="4302419"/>
            <a:ext cx="366966" cy="11726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" name="矩形 86">
            <a:extLst>
              <a:ext uri="{FF2B5EF4-FFF2-40B4-BE49-F238E27FC236}">
                <a16:creationId xmlns:a16="http://schemas.microsoft.com/office/drawing/2014/main" id="{B9B15590-4945-46D2-8B7E-12F73E7262F4}"/>
              </a:ext>
            </a:extLst>
          </p:cNvPr>
          <p:cNvSpPr/>
          <p:nvPr/>
        </p:nvSpPr>
        <p:spPr>
          <a:xfrm>
            <a:off x="-71138" y="5168166"/>
            <a:ext cx="1675460" cy="307777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sz="1400" dirty="0">
                <a:solidFill>
                  <a:prstClr val="black"/>
                </a:solidFill>
                <a:latin typeface="Consolas" panose="020B0609020204030204" pitchFamily="49" charset="0"/>
                <a:cs typeface="Arial"/>
              </a:rPr>
              <a:t>0x00..555554601</a:t>
            </a:r>
            <a:endParaRPr lang="zh-CN" altLang="en-US" sz="1400" dirty="0">
              <a:latin typeface="Consolas" panose="020B0609020204030204" pitchFamily="49" charset="0"/>
            </a:endParaRPr>
          </a:p>
        </p:txBody>
      </p:sp>
      <p:sp>
        <p:nvSpPr>
          <p:cNvPr id="3" name="矩形 86">
            <a:extLst>
              <a:ext uri="{FF2B5EF4-FFF2-40B4-BE49-F238E27FC236}">
                <a16:creationId xmlns:a16="http://schemas.microsoft.com/office/drawing/2014/main" id="{D20B1BDD-8F63-4A4F-9EA2-E04AAD9ECE6C}"/>
              </a:ext>
            </a:extLst>
          </p:cNvPr>
          <p:cNvSpPr/>
          <p:nvPr/>
        </p:nvSpPr>
        <p:spPr>
          <a:xfrm>
            <a:off x="-55474" y="4846792"/>
            <a:ext cx="1675460" cy="307777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sz="1400" dirty="0">
                <a:solidFill>
                  <a:prstClr val="black"/>
                </a:solidFill>
                <a:latin typeface="Consolas" panose="020B0609020204030204" pitchFamily="49" charset="0"/>
                <a:cs typeface="Arial"/>
              </a:rPr>
              <a:t>0x00..555554602</a:t>
            </a:r>
            <a:endParaRPr lang="zh-CN" altLang="en-US" sz="1400" dirty="0">
              <a:latin typeface="Consolas" panose="020B0609020204030204" pitchFamily="49" charset="0"/>
            </a:endParaRPr>
          </a:p>
        </p:txBody>
      </p:sp>
      <p:sp>
        <p:nvSpPr>
          <p:cNvPr id="10" name="矩形 86">
            <a:extLst>
              <a:ext uri="{FF2B5EF4-FFF2-40B4-BE49-F238E27FC236}">
                <a16:creationId xmlns:a16="http://schemas.microsoft.com/office/drawing/2014/main" id="{C8BF97E7-7FED-4E8C-9372-42E8F3BDECE0}"/>
              </a:ext>
            </a:extLst>
          </p:cNvPr>
          <p:cNvSpPr/>
          <p:nvPr/>
        </p:nvSpPr>
        <p:spPr>
          <a:xfrm>
            <a:off x="-34276" y="4517116"/>
            <a:ext cx="1675460" cy="307777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sz="1400" dirty="0">
                <a:solidFill>
                  <a:prstClr val="black"/>
                </a:solidFill>
                <a:latin typeface="Consolas" panose="020B0609020204030204" pitchFamily="49" charset="0"/>
                <a:cs typeface="Arial"/>
              </a:rPr>
              <a:t>0x00..555554607</a:t>
            </a:r>
            <a:endParaRPr lang="zh-CN" altLang="en-US" sz="1400" dirty="0">
              <a:latin typeface="Consolas" panose="020B0609020204030204" pitchFamily="49" charset="0"/>
            </a:endParaRPr>
          </a:p>
        </p:txBody>
      </p:sp>
      <p:sp>
        <p:nvSpPr>
          <p:cNvPr id="17" name="矩形 86">
            <a:extLst>
              <a:ext uri="{FF2B5EF4-FFF2-40B4-BE49-F238E27FC236}">
                <a16:creationId xmlns:a16="http://schemas.microsoft.com/office/drawing/2014/main" id="{827A7CFE-EFA9-4FB8-9846-89EA57AAB9AC}"/>
              </a:ext>
            </a:extLst>
          </p:cNvPr>
          <p:cNvSpPr/>
          <p:nvPr/>
        </p:nvSpPr>
        <p:spPr>
          <a:xfrm>
            <a:off x="-27875" y="4188144"/>
            <a:ext cx="1675460" cy="307777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sz="1400" dirty="0">
                <a:solidFill>
                  <a:prstClr val="black"/>
                </a:solidFill>
                <a:latin typeface="Consolas" panose="020B0609020204030204" pitchFamily="49" charset="0"/>
                <a:cs typeface="Arial"/>
              </a:rPr>
              <a:t>0x00..55555460c</a:t>
            </a:r>
            <a:endParaRPr lang="zh-CN" altLang="en-US" sz="1400" dirty="0">
              <a:latin typeface="Consolas" panose="020B0609020204030204" pitchFamily="49" charset="0"/>
            </a:endParaRPr>
          </a:p>
        </p:txBody>
      </p:sp>
      <p:sp>
        <p:nvSpPr>
          <p:cNvPr id="18" name="矩形 86">
            <a:extLst>
              <a:ext uri="{FF2B5EF4-FFF2-40B4-BE49-F238E27FC236}">
                <a16:creationId xmlns:a16="http://schemas.microsoft.com/office/drawing/2014/main" id="{D0716B26-00D9-4238-BEBE-7A5B08E5B306}"/>
              </a:ext>
            </a:extLst>
          </p:cNvPr>
          <p:cNvSpPr/>
          <p:nvPr/>
        </p:nvSpPr>
        <p:spPr>
          <a:xfrm>
            <a:off x="-35792" y="3837968"/>
            <a:ext cx="1675460" cy="307777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sz="1400" dirty="0">
                <a:solidFill>
                  <a:prstClr val="black"/>
                </a:solidFill>
                <a:latin typeface="Consolas" panose="020B0609020204030204" pitchFamily="49" charset="0"/>
                <a:cs typeface="Arial"/>
              </a:rPr>
              <a:t>0x00..555554611</a:t>
            </a:r>
            <a:endParaRPr lang="zh-CN" altLang="en-US" sz="1400" dirty="0">
              <a:latin typeface="Consolas" panose="020B0609020204030204" pitchFamily="49" charset="0"/>
            </a:endParaRPr>
          </a:p>
        </p:txBody>
      </p:sp>
      <p:sp>
        <p:nvSpPr>
          <p:cNvPr id="19" name="矩形 105">
            <a:extLst>
              <a:ext uri="{FF2B5EF4-FFF2-40B4-BE49-F238E27FC236}">
                <a16:creationId xmlns:a16="http://schemas.microsoft.com/office/drawing/2014/main" id="{701D13D6-8394-4EFB-84F6-8CA0A44B302A}"/>
              </a:ext>
            </a:extLst>
          </p:cNvPr>
          <p:cNvSpPr/>
          <p:nvPr/>
        </p:nvSpPr>
        <p:spPr>
          <a:xfrm>
            <a:off x="25628" y="454676"/>
            <a:ext cx="1576072" cy="307777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sz="1400" dirty="0">
                <a:solidFill>
                  <a:prstClr val="black"/>
                </a:solidFill>
                <a:latin typeface="Consolas" panose="020B0609020204030204" pitchFamily="49" charset="0"/>
                <a:cs typeface="Arial"/>
              </a:rPr>
              <a:t>0x7f</a:t>
            </a:r>
            <a:r>
              <a:rPr lang="mr-IN" altLang="zh-CN" sz="1400" dirty="0">
                <a:solidFill>
                  <a:prstClr val="black"/>
                </a:solidFill>
                <a:latin typeface="Consolas" panose="020B0609020204030204" pitchFamily="49" charset="0"/>
                <a:cs typeface="Arial"/>
              </a:rPr>
              <a:t>…</a:t>
            </a:r>
            <a:r>
              <a:rPr lang="en-US" altLang="zh-CN" sz="1400" dirty="0">
                <a:solidFill>
                  <a:prstClr val="black"/>
                </a:solidFill>
                <a:latin typeface="Consolas" panose="020B0609020204030204" pitchFamily="49" charset="0"/>
                <a:cs typeface="Arial"/>
              </a:rPr>
              <a:t>000000090</a:t>
            </a:r>
            <a:endParaRPr lang="zh-CN" altLang="en-US" sz="1400" dirty="0">
              <a:latin typeface="Consolas" panose="020B0609020204030204" pitchFamily="49" charset="0"/>
            </a:endParaRPr>
          </a:p>
        </p:txBody>
      </p:sp>
      <p:sp>
        <p:nvSpPr>
          <p:cNvPr id="20" name="矩形 105">
            <a:extLst>
              <a:ext uri="{FF2B5EF4-FFF2-40B4-BE49-F238E27FC236}">
                <a16:creationId xmlns:a16="http://schemas.microsoft.com/office/drawing/2014/main" id="{57CD497F-20EC-4F9D-8A3E-6CA7C242FAFB}"/>
              </a:ext>
            </a:extLst>
          </p:cNvPr>
          <p:cNvSpPr/>
          <p:nvPr/>
        </p:nvSpPr>
        <p:spPr>
          <a:xfrm>
            <a:off x="25628" y="826603"/>
            <a:ext cx="1576072" cy="307777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sz="1400" dirty="0">
                <a:solidFill>
                  <a:prstClr val="black"/>
                </a:solidFill>
                <a:latin typeface="Consolas" panose="020B0609020204030204" pitchFamily="49" charset="0"/>
                <a:cs typeface="Arial"/>
              </a:rPr>
              <a:t>0x7f</a:t>
            </a:r>
            <a:r>
              <a:rPr lang="mr-IN" altLang="zh-CN" sz="1400" dirty="0">
                <a:solidFill>
                  <a:prstClr val="black"/>
                </a:solidFill>
                <a:latin typeface="Consolas" panose="020B0609020204030204" pitchFamily="49" charset="0"/>
                <a:cs typeface="Arial"/>
              </a:rPr>
              <a:t>…</a:t>
            </a:r>
            <a:r>
              <a:rPr lang="en-US" altLang="zh-CN" sz="1400" dirty="0">
                <a:solidFill>
                  <a:prstClr val="black"/>
                </a:solidFill>
                <a:latin typeface="Consolas" panose="020B0609020204030204" pitchFamily="49" charset="0"/>
                <a:cs typeface="Arial"/>
              </a:rPr>
              <a:t>000000088</a:t>
            </a:r>
            <a:endParaRPr lang="zh-CN" altLang="en-US" sz="1400" dirty="0">
              <a:latin typeface="Consolas" panose="020B0609020204030204" pitchFamily="49" charset="0"/>
            </a:endParaRPr>
          </a:p>
        </p:txBody>
      </p:sp>
      <p:sp>
        <p:nvSpPr>
          <p:cNvPr id="21" name="矩形 86">
            <a:extLst>
              <a:ext uri="{FF2B5EF4-FFF2-40B4-BE49-F238E27FC236}">
                <a16:creationId xmlns:a16="http://schemas.microsoft.com/office/drawing/2014/main" id="{FAD60544-1F1F-4085-9370-0580C9379794}"/>
              </a:ext>
            </a:extLst>
          </p:cNvPr>
          <p:cNvSpPr/>
          <p:nvPr/>
        </p:nvSpPr>
        <p:spPr>
          <a:xfrm>
            <a:off x="-7936" y="2809448"/>
            <a:ext cx="1675459" cy="307777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sz="1400" dirty="0">
                <a:solidFill>
                  <a:prstClr val="black"/>
                </a:solidFill>
                <a:latin typeface="Consolas" panose="020B0609020204030204" pitchFamily="49" charset="0"/>
                <a:cs typeface="Arial"/>
              </a:rPr>
              <a:t>0x00..555755014</a:t>
            </a:r>
            <a:endParaRPr lang="zh-CN" altLang="en-US" sz="1400" dirty="0">
              <a:latin typeface="Consolas" panose="020B0609020204030204" pitchFamily="49" charset="0"/>
            </a:endParaRPr>
          </a:p>
        </p:txBody>
      </p:sp>
      <p:sp>
        <p:nvSpPr>
          <p:cNvPr id="22" name="矩形 86">
            <a:extLst>
              <a:ext uri="{FF2B5EF4-FFF2-40B4-BE49-F238E27FC236}">
                <a16:creationId xmlns:a16="http://schemas.microsoft.com/office/drawing/2014/main" id="{767ADB22-AB5C-4947-B02B-DF8044B8B62D}"/>
              </a:ext>
            </a:extLst>
          </p:cNvPr>
          <p:cNvSpPr/>
          <p:nvPr/>
        </p:nvSpPr>
        <p:spPr>
          <a:xfrm>
            <a:off x="-27658" y="2467751"/>
            <a:ext cx="1675460" cy="307777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sz="1400" dirty="0">
                <a:solidFill>
                  <a:prstClr val="black"/>
                </a:solidFill>
                <a:latin typeface="Consolas" panose="020B0609020204030204" pitchFamily="49" charset="0"/>
                <a:cs typeface="Arial"/>
              </a:rPr>
              <a:t>0x00..555755018</a:t>
            </a:r>
            <a:endParaRPr lang="zh-CN" altLang="en-US" sz="140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0402216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/>
          <p:cNvSpPr/>
          <p:nvPr/>
        </p:nvSpPr>
        <p:spPr>
          <a:xfrm>
            <a:off x="5770729" y="420774"/>
            <a:ext cx="2617701" cy="6087558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 w="381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kumimoji="1" lang="zh-CN" altLang="en-US" dirty="0">
              <a:solidFill>
                <a:schemeClr val="tx1"/>
              </a:solidFill>
              <a:latin typeface="Verdana"/>
              <a:cs typeface="Verdana"/>
            </a:endParaRPr>
          </a:p>
        </p:txBody>
      </p:sp>
      <p:sp>
        <p:nvSpPr>
          <p:cNvPr id="6" name="矩形 5"/>
          <p:cNvSpPr/>
          <p:nvPr/>
        </p:nvSpPr>
        <p:spPr>
          <a:xfrm>
            <a:off x="1859596" y="6151633"/>
            <a:ext cx="1219980" cy="400110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kumimoji="1" lang="en-US" altLang="zh-CN" sz="2000" dirty="0">
                <a:latin typeface="Verdana"/>
                <a:cs typeface="Verdana"/>
              </a:rPr>
              <a:t>Memory</a:t>
            </a:r>
            <a:endParaRPr lang="zh-CN" altLang="en-US" sz="2000" dirty="0"/>
          </a:p>
        </p:txBody>
      </p:sp>
      <p:sp>
        <p:nvSpPr>
          <p:cNvPr id="27" name="矩形 26"/>
          <p:cNvSpPr/>
          <p:nvPr/>
        </p:nvSpPr>
        <p:spPr>
          <a:xfrm>
            <a:off x="6707135" y="402971"/>
            <a:ext cx="65399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 dirty="0">
                <a:latin typeface="Verdana"/>
                <a:cs typeface="Verdana"/>
              </a:rPr>
              <a:t>CPU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28" name="圆角矩形 27"/>
          <p:cNvSpPr/>
          <p:nvPr/>
        </p:nvSpPr>
        <p:spPr>
          <a:xfrm>
            <a:off x="6707135" y="829513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s-IS" altLang="zh-CN" sz="1400" dirty="0">
                <a:solidFill>
                  <a:srgbClr val="000000"/>
                </a:solidFill>
                <a:latin typeface="Arial"/>
                <a:cs typeface="Arial"/>
              </a:rPr>
              <a:t>0x00..555554611</a:t>
            </a:r>
          </a:p>
        </p:txBody>
      </p:sp>
      <p:sp>
        <p:nvSpPr>
          <p:cNvPr id="29" name="矩形 28"/>
          <p:cNvSpPr/>
          <p:nvPr/>
        </p:nvSpPr>
        <p:spPr>
          <a:xfrm>
            <a:off x="5973834" y="849437"/>
            <a:ext cx="68640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 dirty="0">
                <a:latin typeface="Verdana"/>
                <a:cs typeface="Verdana"/>
              </a:rPr>
              <a:t>RIP: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33" name="矩形 32"/>
          <p:cNvSpPr/>
          <p:nvPr/>
        </p:nvSpPr>
        <p:spPr>
          <a:xfrm>
            <a:off x="6007264" y="1716244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RAX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34" name="圆角矩形 33"/>
          <p:cNvSpPr/>
          <p:nvPr/>
        </p:nvSpPr>
        <p:spPr>
          <a:xfrm>
            <a:off x="6707134" y="1726615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is-IS" altLang="zh-CN" dirty="0">
                <a:solidFill>
                  <a:prstClr val="black"/>
                </a:solidFill>
                <a:latin typeface="Consolas" panose="020B0609020204030204" pitchFamily="49" charset="0"/>
                <a:cs typeface="Arial"/>
                <a:sym typeface="Courier New Bold" charset="0"/>
              </a:rPr>
              <a:t>0x0</a:t>
            </a:r>
          </a:p>
        </p:txBody>
      </p:sp>
      <p:sp>
        <p:nvSpPr>
          <p:cNvPr id="35" name="圆角矩形 34"/>
          <p:cNvSpPr/>
          <p:nvPr/>
        </p:nvSpPr>
        <p:spPr>
          <a:xfrm>
            <a:off x="6732381" y="2156558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6" name="圆角矩形 35"/>
          <p:cNvSpPr/>
          <p:nvPr/>
        </p:nvSpPr>
        <p:spPr>
          <a:xfrm>
            <a:off x="6732381" y="2585832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 dirty="0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37" name="圆角矩形 36"/>
          <p:cNvSpPr/>
          <p:nvPr/>
        </p:nvSpPr>
        <p:spPr>
          <a:xfrm>
            <a:off x="6727649" y="3016507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 dirty="0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38" name="圆角矩形 37"/>
          <p:cNvSpPr/>
          <p:nvPr/>
        </p:nvSpPr>
        <p:spPr>
          <a:xfrm>
            <a:off x="6728204" y="3454928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9" name="圆角矩形 38"/>
          <p:cNvSpPr/>
          <p:nvPr/>
        </p:nvSpPr>
        <p:spPr>
          <a:xfrm>
            <a:off x="6730569" y="3884871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40" name="圆角矩形 39"/>
          <p:cNvSpPr/>
          <p:nvPr/>
        </p:nvSpPr>
        <p:spPr>
          <a:xfrm>
            <a:off x="6719128" y="4314145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is-IS" altLang="zh-CN" sz="1400" dirty="0">
                <a:solidFill>
                  <a:prstClr val="black"/>
                </a:solidFill>
                <a:latin typeface="Consolas" panose="020B0609020204030204" pitchFamily="49" charset="0"/>
                <a:cs typeface="Arial"/>
                <a:sym typeface="Courier New Bold" charset="0"/>
              </a:rPr>
              <a:t>0x7f…000000090</a:t>
            </a:r>
          </a:p>
        </p:txBody>
      </p:sp>
      <p:sp>
        <p:nvSpPr>
          <p:cNvPr id="41" name="圆角矩形 40"/>
          <p:cNvSpPr/>
          <p:nvPr/>
        </p:nvSpPr>
        <p:spPr>
          <a:xfrm>
            <a:off x="6725837" y="4744820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 dirty="0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42" name="矩形 41"/>
          <p:cNvSpPr/>
          <p:nvPr/>
        </p:nvSpPr>
        <p:spPr>
          <a:xfrm>
            <a:off x="7071077" y="6098041"/>
            <a:ext cx="441146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mr-IN" altLang="zh-CN" sz="2000" b="1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sz="2000" b="1" dirty="0"/>
          </a:p>
        </p:txBody>
      </p:sp>
      <p:sp>
        <p:nvSpPr>
          <p:cNvPr id="43" name="矩形 42"/>
          <p:cNvSpPr/>
          <p:nvPr/>
        </p:nvSpPr>
        <p:spPr>
          <a:xfrm>
            <a:off x="6004115" y="2168000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RBX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44" name="矩形 43"/>
          <p:cNvSpPr/>
          <p:nvPr/>
        </p:nvSpPr>
        <p:spPr>
          <a:xfrm>
            <a:off x="5989455" y="2585832"/>
            <a:ext cx="77685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RCX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45" name="矩形 44"/>
          <p:cNvSpPr/>
          <p:nvPr/>
        </p:nvSpPr>
        <p:spPr>
          <a:xfrm>
            <a:off x="5993122" y="3024282"/>
            <a:ext cx="77685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RDX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46" name="矩形 45"/>
          <p:cNvSpPr/>
          <p:nvPr/>
        </p:nvSpPr>
        <p:spPr>
          <a:xfrm>
            <a:off x="5990867" y="3451290"/>
            <a:ext cx="67428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RSI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47" name="矩形 46"/>
          <p:cNvSpPr/>
          <p:nvPr/>
        </p:nvSpPr>
        <p:spPr>
          <a:xfrm>
            <a:off x="5986305" y="3882159"/>
            <a:ext cx="68702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RDI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48" name="矩形 47"/>
          <p:cNvSpPr/>
          <p:nvPr/>
        </p:nvSpPr>
        <p:spPr>
          <a:xfrm>
            <a:off x="5985749" y="4320609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RSP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49" name="矩形 48"/>
          <p:cNvSpPr/>
          <p:nvPr/>
        </p:nvSpPr>
        <p:spPr>
          <a:xfrm>
            <a:off x="5983157" y="4718557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RBP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56" name="矩形 55"/>
          <p:cNvSpPr/>
          <p:nvPr/>
        </p:nvSpPr>
        <p:spPr>
          <a:xfrm>
            <a:off x="3972251" y="520149"/>
            <a:ext cx="732893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kumimoji="1" lang="en-US" altLang="zh-CN" sz="1400" b="1" dirty="0">
                <a:latin typeface="Verdana"/>
                <a:cs typeface="Verdana"/>
              </a:rPr>
              <a:t>%</a:t>
            </a:r>
            <a:r>
              <a:rPr kumimoji="1" lang="en-US" altLang="zh-CN" sz="1400" b="1" dirty="0" err="1">
                <a:latin typeface="Verdana"/>
                <a:cs typeface="Verdana"/>
              </a:rPr>
              <a:t>rsp</a:t>
            </a:r>
            <a:endParaRPr lang="zh-CN" altLang="en-US" sz="1400" b="1" dirty="0"/>
          </a:p>
        </p:txBody>
      </p:sp>
      <p:sp>
        <p:nvSpPr>
          <p:cNvPr id="57" name="矩形 56"/>
          <p:cNvSpPr/>
          <p:nvPr/>
        </p:nvSpPr>
        <p:spPr>
          <a:xfrm>
            <a:off x="6194819" y="5220252"/>
            <a:ext cx="57149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ZF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58" name="圆角矩形 57"/>
          <p:cNvSpPr/>
          <p:nvPr/>
        </p:nvSpPr>
        <p:spPr>
          <a:xfrm>
            <a:off x="6748122" y="5211806"/>
            <a:ext cx="439253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  <a:sym typeface="Courier New Bold" charset="0"/>
              </a:rPr>
              <a:t>0</a:t>
            </a:r>
          </a:p>
        </p:txBody>
      </p:sp>
      <p:sp>
        <p:nvSpPr>
          <p:cNvPr id="62" name="矩形 61"/>
          <p:cNvSpPr/>
          <p:nvPr/>
        </p:nvSpPr>
        <p:spPr>
          <a:xfrm>
            <a:off x="7298019" y="5198018"/>
            <a:ext cx="58445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SF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64" name="圆角矩形 63"/>
          <p:cNvSpPr/>
          <p:nvPr/>
        </p:nvSpPr>
        <p:spPr>
          <a:xfrm>
            <a:off x="7857802" y="5189572"/>
            <a:ext cx="439253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  <a:sym typeface="Courier New Bold" charset="0"/>
              </a:rPr>
              <a:t>0</a:t>
            </a:r>
          </a:p>
        </p:txBody>
      </p:sp>
      <p:sp>
        <p:nvSpPr>
          <p:cNvPr id="65" name="矩形 64"/>
          <p:cNvSpPr/>
          <p:nvPr/>
        </p:nvSpPr>
        <p:spPr>
          <a:xfrm>
            <a:off x="6177727" y="5675034"/>
            <a:ext cx="59718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CF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77" name="圆角矩形 76"/>
          <p:cNvSpPr/>
          <p:nvPr/>
        </p:nvSpPr>
        <p:spPr>
          <a:xfrm>
            <a:off x="6743879" y="5666588"/>
            <a:ext cx="439253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  <a:sym typeface="Courier New Bold" charset="0"/>
              </a:rPr>
              <a:t>0</a:t>
            </a:r>
          </a:p>
        </p:txBody>
      </p:sp>
      <p:sp>
        <p:nvSpPr>
          <p:cNvPr id="78" name="矩形 77"/>
          <p:cNvSpPr/>
          <p:nvPr/>
        </p:nvSpPr>
        <p:spPr>
          <a:xfrm>
            <a:off x="7280983" y="5652800"/>
            <a:ext cx="61003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OF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79" name="圆角矩形 78"/>
          <p:cNvSpPr/>
          <p:nvPr/>
        </p:nvSpPr>
        <p:spPr>
          <a:xfrm>
            <a:off x="7853559" y="5644354"/>
            <a:ext cx="439253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  <a:sym typeface="Courier New Bold" charset="0"/>
              </a:rPr>
              <a:t>0</a:t>
            </a:r>
          </a:p>
        </p:txBody>
      </p:sp>
      <p:sp>
        <p:nvSpPr>
          <p:cNvPr id="7" name="矩形 6"/>
          <p:cNvSpPr/>
          <p:nvPr/>
        </p:nvSpPr>
        <p:spPr>
          <a:xfrm>
            <a:off x="1588002" y="819397"/>
            <a:ext cx="1951499" cy="3391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1400" dirty="0">
                <a:latin typeface="Consolas"/>
                <a:cs typeface="Consolas"/>
                <a:sym typeface="Courier New Bold" charset="0"/>
              </a:rPr>
              <a:t>0x00..55555460c</a:t>
            </a:r>
            <a:endParaRPr lang="cs-CZ" altLang="zh-CN" sz="1400" dirty="0">
              <a:latin typeface="Consolas"/>
              <a:cs typeface="Consolas"/>
              <a:sym typeface="Courier New Bold" charset="0"/>
            </a:endParaRPr>
          </a:p>
        </p:txBody>
      </p:sp>
      <p:sp>
        <p:nvSpPr>
          <p:cNvPr id="8" name="矩形 7"/>
          <p:cNvSpPr/>
          <p:nvPr/>
        </p:nvSpPr>
        <p:spPr>
          <a:xfrm>
            <a:off x="1588002" y="480233"/>
            <a:ext cx="1951499" cy="33916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US" altLang="zh-CN" sz="1600" dirty="0">
                <a:solidFill>
                  <a:prstClr val="black"/>
                </a:solidFill>
                <a:latin typeface="Consolas"/>
                <a:cs typeface="Consolas"/>
              </a:rPr>
              <a:t>...</a:t>
            </a:r>
          </a:p>
        </p:txBody>
      </p:sp>
      <p:sp>
        <p:nvSpPr>
          <p:cNvPr id="9" name="矩形 8"/>
          <p:cNvSpPr/>
          <p:nvPr/>
        </p:nvSpPr>
        <p:spPr>
          <a:xfrm>
            <a:off x="1588002" y="143470"/>
            <a:ext cx="1951499" cy="33916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tabLst>
                <a:tab pos="514350" algn="l"/>
                <a:tab pos="2801938" algn="l"/>
                <a:tab pos="3086100" algn="l"/>
                <a:tab pos="3086100" algn="l"/>
                <a:tab pos="3086100" algn="l"/>
                <a:tab pos="3086100" algn="l"/>
              </a:tabLst>
            </a:pPr>
            <a:r>
              <a:rPr lang="cs-CZ" altLang="zh-CN" sz="1600" dirty="0">
                <a:latin typeface="Consolas"/>
                <a:cs typeface="Consolas"/>
                <a:sym typeface="Courier New Bold" charset="0"/>
              </a:rPr>
              <a:t>...</a:t>
            </a:r>
          </a:p>
        </p:txBody>
      </p:sp>
      <p:sp>
        <p:nvSpPr>
          <p:cNvPr id="11" name="矩形 10"/>
          <p:cNvSpPr/>
          <p:nvPr/>
        </p:nvSpPr>
        <p:spPr>
          <a:xfrm>
            <a:off x="1588002" y="1158204"/>
            <a:ext cx="1951499" cy="339164"/>
          </a:xfrm>
          <a:prstGeom prst="rect">
            <a:avLst/>
          </a:prstGeom>
          <a:noFill/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zh-CN" altLang="en-US" sz="1600" dirty="0">
              <a:solidFill>
                <a:prstClr val="black"/>
              </a:solidFill>
              <a:latin typeface="Consolas"/>
              <a:cs typeface="Consolas"/>
            </a:endParaRPr>
          </a:p>
        </p:txBody>
      </p:sp>
      <p:sp>
        <p:nvSpPr>
          <p:cNvPr id="12" name="矩形 11"/>
          <p:cNvSpPr/>
          <p:nvPr/>
        </p:nvSpPr>
        <p:spPr>
          <a:xfrm>
            <a:off x="1592372" y="2452102"/>
            <a:ext cx="1951499" cy="3391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3" name="矩形 12"/>
          <p:cNvSpPr/>
          <p:nvPr/>
        </p:nvSpPr>
        <p:spPr>
          <a:xfrm>
            <a:off x="1596741" y="2801658"/>
            <a:ext cx="1951499" cy="3391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0x1</a:t>
            </a:r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4" name="矩形 13"/>
          <p:cNvSpPr/>
          <p:nvPr/>
        </p:nvSpPr>
        <p:spPr>
          <a:xfrm>
            <a:off x="1604322" y="3134126"/>
            <a:ext cx="1951499" cy="339164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5" name="矩形 14"/>
          <p:cNvSpPr/>
          <p:nvPr/>
        </p:nvSpPr>
        <p:spPr>
          <a:xfrm>
            <a:off x="1604322" y="3467966"/>
            <a:ext cx="1951499" cy="339164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mr-IN" altLang="zh-CN" b="1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b="1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6" name="矩形 15"/>
          <p:cNvSpPr/>
          <p:nvPr/>
        </p:nvSpPr>
        <p:spPr>
          <a:xfrm>
            <a:off x="1604322" y="3802650"/>
            <a:ext cx="1951499" cy="339164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1600" dirty="0" err="1">
                <a:solidFill>
                  <a:prstClr val="black"/>
                </a:solidFill>
                <a:latin typeface="Consolas"/>
                <a:cs typeface="Consolas"/>
              </a:rPr>
              <a:t>retq</a:t>
            </a:r>
            <a:endParaRPr lang="zh-CN" altLang="en-US" sz="1600" dirty="0">
              <a:solidFill>
                <a:prstClr val="black"/>
              </a:solidFill>
              <a:latin typeface="Consolas"/>
              <a:cs typeface="Consolas"/>
            </a:endParaRPr>
          </a:p>
        </p:txBody>
      </p:sp>
      <p:sp>
        <p:nvSpPr>
          <p:cNvPr id="25" name="矩形 24"/>
          <p:cNvSpPr/>
          <p:nvPr/>
        </p:nvSpPr>
        <p:spPr>
          <a:xfrm>
            <a:off x="1588002" y="2131475"/>
            <a:ext cx="1951499" cy="319756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24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cxnSp>
        <p:nvCxnSpPr>
          <p:cNvPr id="4" name="直线箭头连接符 3"/>
          <p:cNvCxnSpPr/>
          <p:nvPr/>
        </p:nvCxnSpPr>
        <p:spPr>
          <a:xfrm flipH="1">
            <a:off x="3605284" y="662312"/>
            <a:ext cx="249222" cy="0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59" name="矩形 58"/>
          <p:cNvSpPr/>
          <p:nvPr/>
        </p:nvSpPr>
        <p:spPr>
          <a:xfrm>
            <a:off x="1583191" y="1814000"/>
            <a:ext cx="1951499" cy="319756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24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61" name="矩形 60"/>
          <p:cNvSpPr/>
          <p:nvPr/>
        </p:nvSpPr>
        <p:spPr>
          <a:xfrm>
            <a:off x="1587904" y="1495448"/>
            <a:ext cx="1951499" cy="319756"/>
          </a:xfrm>
          <a:prstGeom prst="rect">
            <a:avLst/>
          </a:prstGeom>
          <a:noFill/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63" name="矩形 62"/>
          <p:cNvSpPr/>
          <p:nvPr/>
        </p:nvSpPr>
        <p:spPr>
          <a:xfrm>
            <a:off x="1606031" y="4141814"/>
            <a:ext cx="1951499" cy="339164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1600" dirty="0">
                <a:solidFill>
                  <a:prstClr val="black"/>
                </a:solidFill>
                <a:latin typeface="Consolas"/>
                <a:cs typeface="Consolas"/>
              </a:rPr>
              <a:t>mov $0x0, %</a:t>
            </a:r>
            <a:r>
              <a:rPr lang="en-US" altLang="zh-CN" sz="1600" dirty="0" err="1">
                <a:solidFill>
                  <a:prstClr val="black"/>
                </a:solidFill>
                <a:latin typeface="Consolas"/>
                <a:cs typeface="Consolas"/>
              </a:rPr>
              <a:t>eax</a:t>
            </a:r>
            <a:endParaRPr lang="zh-CN" altLang="en-US" sz="1600" dirty="0">
              <a:solidFill>
                <a:prstClr val="black"/>
              </a:solidFill>
              <a:latin typeface="Consolas"/>
              <a:cs typeface="Consolas"/>
            </a:endParaRPr>
          </a:p>
        </p:txBody>
      </p:sp>
      <p:sp>
        <p:nvSpPr>
          <p:cNvPr id="80" name="矩形 79"/>
          <p:cNvSpPr/>
          <p:nvPr/>
        </p:nvSpPr>
        <p:spPr>
          <a:xfrm>
            <a:off x="1608920" y="4467641"/>
            <a:ext cx="1951499" cy="339164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1600" dirty="0" err="1">
                <a:solidFill>
                  <a:prstClr val="black"/>
                </a:solidFill>
                <a:latin typeface="Consolas"/>
                <a:cs typeface="Consolas"/>
              </a:rPr>
              <a:t>callq</a:t>
            </a:r>
            <a:r>
              <a:rPr lang="en-US" altLang="zh-CN" sz="1600" dirty="0">
                <a:solidFill>
                  <a:prstClr val="black"/>
                </a:solidFill>
                <a:latin typeface="Consolas"/>
                <a:cs typeface="Consolas"/>
              </a:rPr>
              <a:t> 5fa</a:t>
            </a:r>
            <a:endParaRPr lang="zh-CN" altLang="en-US" sz="1600" dirty="0">
              <a:solidFill>
                <a:prstClr val="black"/>
              </a:solidFill>
              <a:latin typeface="Consolas"/>
              <a:cs typeface="Consolas"/>
            </a:endParaRPr>
          </a:p>
        </p:txBody>
      </p:sp>
      <p:sp>
        <p:nvSpPr>
          <p:cNvPr id="81" name="矩形 80"/>
          <p:cNvSpPr/>
          <p:nvPr/>
        </p:nvSpPr>
        <p:spPr>
          <a:xfrm>
            <a:off x="1606883" y="4807245"/>
            <a:ext cx="1951499" cy="339164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1600" dirty="0">
                <a:solidFill>
                  <a:prstClr val="black"/>
                </a:solidFill>
                <a:latin typeface="Consolas"/>
                <a:cs typeface="Consolas"/>
              </a:rPr>
              <a:t>mov $0x0, %</a:t>
            </a:r>
            <a:r>
              <a:rPr lang="en-US" altLang="zh-CN" sz="1600" dirty="0" err="1">
                <a:solidFill>
                  <a:prstClr val="black"/>
                </a:solidFill>
                <a:latin typeface="Consolas"/>
                <a:cs typeface="Consolas"/>
              </a:rPr>
              <a:t>eax</a:t>
            </a:r>
            <a:endParaRPr lang="zh-CN" altLang="en-US" sz="1600" dirty="0">
              <a:solidFill>
                <a:prstClr val="black"/>
              </a:solidFill>
              <a:latin typeface="Consolas"/>
              <a:cs typeface="Consolas"/>
            </a:endParaRPr>
          </a:p>
        </p:txBody>
      </p:sp>
      <p:sp>
        <p:nvSpPr>
          <p:cNvPr id="83" name="矩形 82"/>
          <p:cNvSpPr/>
          <p:nvPr/>
        </p:nvSpPr>
        <p:spPr>
          <a:xfrm>
            <a:off x="1608920" y="5142806"/>
            <a:ext cx="1951499" cy="339164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1600" dirty="0">
                <a:solidFill>
                  <a:prstClr val="black"/>
                </a:solidFill>
                <a:latin typeface="Consolas"/>
                <a:cs typeface="Consolas"/>
              </a:rPr>
              <a:t>ret</a:t>
            </a:r>
            <a:endParaRPr lang="zh-CN" altLang="en-US" sz="1600" dirty="0">
              <a:solidFill>
                <a:prstClr val="black"/>
              </a:solidFill>
              <a:latin typeface="Consolas"/>
              <a:cs typeface="Consolas"/>
            </a:endParaRPr>
          </a:p>
        </p:txBody>
      </p:sp>
      <p:sp>
        <p:nvSpPr>
          <p:cNvPr id="84" name="矩形 83"/>
          <p:cNvSpPr/>
          <p:nvPr/>
        </p:nvSpPr>
        <p:spPr>
          <a:xfrm>
            <a:off x="1007750" y="5736478"/>
            <a:ext cx="492443" cy="427994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mr-IN" altLang="zh-CN" sz="2400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sz="2400" dirty="0"/>
          </a:p>
        </p:txBody>
      </p:sp>
      <p:sp>
        <p:nvSpPr>
          <p:cNvPr id="86" name="矩形 85"/>
          <p:cNvSpPr/>
          <p:nvPr/>
        </p:nvSpPr>
        <p:spPr>
          <a:xfrm>
            <a:off x="1206127" y="3129472"/>
            <a:ext cx="377064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...</a:t>
            </a:r>
            <a:endParaRPr lang="zh-CN" altLang="en-US" dirty="0"/>
          </a:p>
        </p:txBody>
      </p:sp>
      <p:sp>
        <p:nvSpPr>
          <p:cNvPr id="87" name="矩形 86"/>
          <p:cNvSpPr/>
          <p:nvPr/>
        </p:nvSpPr>
        <p:spPr>
          <a:xfrm>
            <a:off x="-92268" y="5487084"/>
            <a:ext cx="1675459" cy="307777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sz="1400" dirty="0">
                <a:solidFill>
                  <a:prstClr val="black"/>
                </a:solidFill>
                <a:latin typeface="Consolas" panose="020B0609020204030204" pitchFamily="49" charset="0"/>
                <a:cs typeface="Arial"/>
              </a:rPr>
              <a:t>0x00..5555545fa</a:t>
            </a:r>
            <a:endParaRPr lang="zh-CN" altLang="en-US" sz="1400" dirty="0">
              <a:latin typeface="Consolas" panose="020B0609020204030204" pitchFamily="49" charset="0"/>
            </a:endParaRPr>
          </a:p>
        </p:txBody>
      </p:sp>
      <p:sp>
        <p:nvSpPr>
          <p:cNvPr id="94" name="矩形 93"/>
          <p:cNvSpPr/>
          <p:nvPr/>
        </p:nvSpPr>
        <p:spPr>
          <a:xfrm>
            <a:off x="1212855" y="3479632"/>
            <a:ext cx="377064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...</a:t>
            </a:r>
            <a:endParaRPr lang="zh-CN" altLang="en-US" dirty="0"/>
          </a:p>
        </p:txBody>
      </p:sp>
      <p:sp>
        <p:nvSpPr>
          <p:cNvPr id="103" name="矩形 102"/>
          <p:cNvSpPr/>
          <p:nvPr/>
        </p:nvSpPr>
        <p:spPr>
          <a:xfrm>
            <a:off x="1607980" y="5486144"/>
            <a:ext cx="1951499" cy="339164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1100" b="1" dirty="0" err="1">
                <a:solidFill>
                  <a:prstClr val="black"/>
                </a:solidFill>
                <a:latin typeface="Consolas"/>
                <a:cs typeface="Consolas"/>
              </a:rPr>
              <a:t>addl</a:t>
            </a:r>
            <a:r>
              <a:rPr lang="en-US" altLang="zh-CN" sz="1100" b="1" dirty="0">
                <a:solidFill>
                  <a:prstClr val="black"/>
                </a:solidFill>
                <a:latin typeface="Consolas"/>
                <a:cs typeface="Consolas"/>
              </a:rPr>
              <a:t> $0x1, 0x200a13(%rip)</a:t>
            </a:r>
            <a:endParaRPr lang="zh-CN" altLang="en-US" sz="1100" b="1" dirty="0">
              <a:solidFill>
                <a:prstClr val="black"/>
              </a:solidFill>
              <a:latin typeface="Consolas"/>
              <a:cs typeface="Consolas"/>
            </a:endParaRPr>
          </a:p>
        </p:txBody>
      </p:sp>
      <p:sp>
        <p:nvSpPr>
          <p:cNvPr id="104" name="矩形 103"/>
          <p:cNvSpPr/>
          <p:nvPr/>
        </p:nvSpPr>
        <p:spPr>
          <a:xfrm>
            <a:off x="1606883" y="5825308"/>
            <a:ext cx="1951499" cy="339164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24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06" name="矩形 105"/>
          <p:cNvSpPr/>
          <p:nvPr/>
        </p:nvSpPr>
        <p:spPr>
          <a:xfrm>
            <a:off x="41757" y="115556"/>
            <a:ext cx="1576072" cy="307777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sz="1400" dirty="0">
                <a:solidFill>
                  <a:prstClr val="black"/>
                </a:solidFill>
                <a:latin typeface="Consolas" panose="020B0609020204030204" pitchFamily="49" charset="0"/>
                <a:cs typeface="Arial"/>
              </a:rPr>
              <a:t>0x7f</a:t>
            </a:r>
            <a:r>
              <a:rPr lang="mr-IN" altLang="zh-CN" sz="1400" dirty="0">
                <a:solidFill>
                  <a:prstClr val="black"/>
                </a:solidFill>
                <a:latin typeface="Consolas" panose="020B0609020204030204" pitchFamily="49" charset="0"/>
                <a:cs typeface="Arial"/>
              </a:rPr>
              <a:t>…</a:t>
            </a:r>
            <a:r>
              <a:rPr lang="en-US" altLang="zh-CN" sz="1400" dirty="0">
                <a:solidFill>
                  <a:prstClr val="black"/>
                </a:solidFill>
                <a:latin typeface="Consolas" panose="020B0609020204030204" pitchFamily="49" charset="0"/>
                <a:cs typeface="Arial"/>
              </a:rPr>
              <a:t>000000098</a:t>
            </a:r>
            <a:endParaRPr lang="zh-CN" altLang="en-US" sz="1400" dirty="0">
              <a:latin typeface="Consolas" panose="020B0609020204030204" pitchFamily="49" charset="0"/>
            </a:endParaRPr>
          </a:p>
        </p:txBody>
      </p:sp>
      <p:sp>
        <p:nvSpPr>
          <p:cNvPr id="102" name="矩形 101"/>
          <p:cNvSpPr/>
          <p:nvPr/>
        </p:nvSpPr>
        <p:spPr>
          <a:xfrm>
            <a:off x="4033461" y="3853931"/>
            <a:ext cx="688009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kumimoji="1" lang="en-US" altLang="zh-CN" sz="1400" b="1" dirty="0">
                <a:latin typeface="Verdana"/>
                <a:cs typeface="Verdana"/>
              </a:rPr>
              <a:t>%rip</a:t>
            </a:r>
            <a:endParaRPr lang="zh-CN" altLang="en-US" sz="1400" b="1" dirty="0"/>
          </a:p>
        </p:txBody>
      </p:sp>
      <p:cxnSp>
        <p:nvCxnSpPr>
          <p:cNvPr id="111" name="直线箭头连接符 110"/>
          <p:cNvCxnSpPr>
            <a:cxnSpLocks/>
            <a:stCxn id="102" idx="1"/>
          </p:cNvCxnSpPr>
          <p:nvPr/>
        </p:nvCxnSpPr>
        <p:spPr>
          <a:xfrm flipH="1" flipV="1">
            <a:off x="3666495" y="3996094"/>
            <a:ext cx="366966" cy="11726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" name="矩形 86">
            <a:extLst>
              <a:ext uri="{FF2B5EF4-FFF2-40B4-BE49-F238E27FC236}">
                <a16:creationId xmlns:a16="http://schemas.microsoft.com/office/drawing/2014/main" id="{B9B15590-4945-46D2-8B7E-12F73E7262F4}"/>
              </a:ext>
            </a:extLst>
          </p:cNvPr>
          <p:cNvSpPr/>
          <p:nvPr/>
        </p:nvSpPr>
        <p:spPr>
          <a:xfrm>
            <a:off x="-71138" y="5168166"/>
            <a:ext cx="1675460" cy="307777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sz="1400" dirty="0">
                <a:solidFill>
                  <a:prstClr val="black"/>
                </a:solidFill>
                <a:latin typeface="Consolas" panose="020B0609020204030204" pitchFamily="49" charset="0"/>
                <a:cs typeface="Arial"/>
              </a:rPr>
              <a:t>0x00..555554601</a:t>
            </a:r>
            <a:endParaRPr lang="zh-CN" altLang="en-US" sz="1400" dirty="0">
              <a:latin typeface="Consolas" panose="020B0609020204030204" pitchFamily="49" charset="0"/>
            </a:endParaRPr>
          </a:p>
        </p:txBody>
      </p:sp>
      <p:sp>
        <p:nvSpPr>
          <p:cNvPr id="3" name="矩形 86">
            <a:extLst>
              <a:ext uri="{FF2B5EF4-FFF2-40B4-BE49-F238E27FC236}">
                <a16:creationId xmlns:a16="http://schemas.microsoft.com/office/drawing/2014/main" id="{D20B1BDD-8F63-4A4F-9EA2-E04AAD9ECE6C}"/>
              </a:ext>
            </a:extLst>
          </p:cNvPr>
          <p:cNvSpPr/>
          <p:nvPr/>
        </p:nvSpPr>
        <p:spPr>
          <a:xfrm>
            <a:off x="-55474" y="4846792"/>
            <a:ext cx="1675460" cy="307777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sz="1400" dirty="0">
                <a:solidFill>
                  <a:prstClr val="black"/>
                </a:solidFill>
                <a:latin typeface="Consolas" panose="020B0609020204030204" pitchFamily="49" charset="0"/>
                <a:cs typeface="Arial"/>
              </a:rPr>
              <a:t>0x00..555554602</a:t>
            </a:r>
            <a:endParaRPr lang="zh-CN" altLang="en-US" sz="1400" dirty="0">
              <a:latin typeface="Consolas" panose="020B0609020204030204" pitchFamily="49" charset="0"/>
            </a:endParaRPr>
          </a:p>
        </p:txBody>
      </p:sp>
      <p:sp>
        <p:nvSpPr>
          <p:cNvPr id="10" name="矩形 86">
            <a:extLst>
              <a:ext uri="{FF2B5EF4-FFF2-40B4-BE49-F238E27FC236}">
                <a16:creationId xmlns:a16="http://schemas.microsoft.com/office/drawing/2014/main" id="{C8BF97E7-7FED-4E8C-9372-42E8F3BDECE0}"/>
              </a:ext>
            </a:extLst>
          </p:cNvPr>
          <p:cNvSpPr/>
          <p:nvPr/>
        </p:nvSpPr>
        <p:spPr>
          <a:xfrm>
            <a:off x="-34276" y="4517116"/>
            <a:ext cx="1675460" cy="307777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sz="1400" dirty="0">
                <a:solidFill>
                  <a:prstClr val="black"/>
                </a:solidFill>
                <a:latin typeface="Consolas" panose="020B0609020204030204" pitchFamily="49" charset="0"/>
                <a:cs typeface="Arial"/>
              </a:rPr>
              <a:t>0x00..555554607</a:t>
            </a:r>
            <a:endParaRPr lang="zh-CN" altLang="en-US" sz="1400" dirty="0">
              <a:latin typeface="Consolas" panose="020B0609020204030204" pitchFamily="49" charset="0"/>
            </a:endParaRPr>
          </a:p>
        </p:txBody>
      </p:sp>
      <p:sp>
        <p:nvSpPr>
          <p:cNvPr id="17" name="矩形 86">
            <a:extLst>
              <a:ext uri="{FF2B5EF4-FFF2-40B4-BE49-F238E27FC236}">
                <a16:creationId xmlns:a16="http://schemas.microsoft.com/office/drawing/2014/main" id="{827A7CFE-EFA9-4FB8-9846-89EA57AAB9AC}"/>
              </a:ext>
            </a:extLst>
          </p:cNvPr>
          <p:cNvSpPr/>
          <p:nvPr/>
        </p:nvSpPr>
        <p:spPr>
          <a:xfrm>
            <a:off x="-27875" y="4188144"/>
            <a:ext cx="1675460" cy="307777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sz="1400" dirty="0">
                <a:solidFill>
                  <a:prstClr val="black"/>
                </a:solidFill>
                <a:latin typeface="Consolas" panose="020B0609020204030204" pitchFamily="49" charset="0"/>
                <a:cs typeface="Arial"/>
              </a:rPr>
              <a:t>0x00..55555460c</a:t>
            </a:r>
            <a:endParaRPr lang="zh-CN" altLang="en-US" sz="1400" dirty="0">
              <a:latin typeface="Consolas" panose="020B0609020204030204" pitchFamily="49" charset="0"/>
            </a:endParaRPr>
          </a:p>
        </p:txBody>
      </p:sp>
      <p:sp>
        <p:nvSpPr>
          <p:cNvPr id="18" name="矩形 86">
            <a:extLst>
              <a:ext uri="{FF2B5EF4-FFF2-40B4-BE49-F238E27FC236}">
                <a16:creationId xmlns:a16="http://schemas.microsoft.com/office/drawing/2014/main" id="{D0716B26-00D9-4238-BEBE-7A5B08E5B306}"/>
              </a:ext>
            </a:extLst>
          </p:cNvPr>
          <p:cNvSpPr/>
          <p:nvPr/>
        </p:nvSpPr>
        <p:spPr>
          <a:xfrm>
            <a:off x="-35792" y="3837968"/>
            <a:ext cx="1675460" cy="307777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sz="1400" dirty="0">
                <a:solidFill>
                  <a:prstClr val="black"/>
                </a:solidFill>
                <a:latin typeface="Consolas" panose="020B0609020204030204" pitchFamily="49" charset="0"/>
                <a:cs typeface="Arial"/>
              </a:rPr>
              <a:t>0x00..555554611</a:t>
            </a:r>
            <a:endParaRPr lang="zh-CN" altLang="en-US" sz="1400" dirty="0">
              <a:latin typeface="Consolas" panose="020B0609020204030204" pitchFamily="49" charset="0"/>
            </a:endParaRPr>
          </a:p>
        </p:txBody>
      </p:sp>
      <p:sp>
        <p:nvSpPr>
          <p:cNvPr id="19" name="矩形 105">
            <a:extLst>
              <a:ext uri="{FF2B5EF4-FFF2-40B4-BE49-F238E27FC236}">
                <a16:creationId xmlns:a16="http://schemas.microsoft.com/office/drawing/2014/main" id="{701D13D6-8394-4EFB-84F6-8CA0A44B302A}"/>
              </a:ext>
            </a:extLst>
          </p:cNvPr>
          <p:cNvSpPr/>
          <p:nvPr/>
        </p:nvSpPr>
        <p:spPr>
          <a:xfrm>
            <a:off x="25628" y="454676"/>
            <a:ext cx="1576072" cy="307777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sz="1400" dirty="0">
                <a:solidFill>
                  <a:prstClr val="black"/>
                </a:solidFill>
                <a:latin typeface="Consolas" panose="020B0609020204030204" pitchFamily="49" charset="0"/>
                <a:cs typeface="Arial"/>
              </a:rPr>
              <a:t>0x7f</a:t>
            </a:r>
            <a:r>
              <a:rPr lang="mr-IN" altLang="zh-CN" sz="1400" dirty="0">
                <a:solidFill>
                  <a:prstClr val="black"/>
                </a:solidFill>
                <a:latin typeface="Consolas" panose="020B0609020204030204" pitchFamily="49" charset="0"/>
                <a:cs typeface="Arial"/>
              </a:rPr>
              <a:t>…</a:t>
            </a:r>
            <a:r>
              <a:rPr lang="en-US" altLang="zh-CN" sz="1400" dirty="0">
                <a:solidFill>
                  <a:prstClr val="black"/>
                </a:solidFill>
                <a:latin typeface="Consolas" panose="020B0609020204030204" pitchFamily="49" charset="0"/>
                <a:cs typeface="Arial"/>
              </a:rPr>
              <a:t>000000090</a:t>
            </a:r>
            <a:endParaRPr lang="zh-CN" altLang="en-US" sz="1400" dirty="0">
              <a:latin typeface="Consolas" panose="020B0609020204030204" pitchFamily="49" charset="0"/>
            </a:endParaRPr>
          </a:p>
        </p:txBody>
      </p:sp>
      <p:sp>
        <p:nvSpPr>
          <p:cNvPr id="20" name="矩形 105">
            <a:extLst>
              <a:ext uri="{FF2B5EF4-FFF2-40B4-BE49-F238E27FC236}">
                <a16:creationId xmlns:a16="http://schemas.microsoft.com/office/drawing/2014/main" id="{57CD497F-20EC-4F9D-8A3E-6CA7C242FAFB}"/>
              </a:ext>
            </a:extLst>
          </p:cNvPr>
          <p:cNvSpPr/>
          <p:nvPr/>
        </p:nvSpPr>
        <p:spPr>
          <a:xfrm>
            <a:off x="25628" y="826603"/>
            <a:ext cx="1576072" cy="307777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sz="1400" dirty="0">
                <a:solidFill>
                  <a:prstClr val="black"/>
                </a:solidFill>
                <a:latin typeface="Consolas" panose="020B0609020204030204" pitchFamily="49" charset="0"/>
                <a:cs typeface="Arial"/>
              </a:rPr>
              <a:t>0x7f</a:t>
            </a:r>
            <a:r>
              <a:rPr lang="mr-IN" altLang="zh-CN" sz="1400" dirty="0">
                <a:solidFill>
                  <a:prstClr val="black"/>
                </a:solidFill>
                <a:latin typeface="Consolas" panose="020B0609020204030204" pitchFamily="49" charset="0"/>
                <a:cs typeface="Arial"/>
              </a:rPr>
              <a:t>…</a:t>
            </a:r>
            <a:r>
              <a:rPr lang="en-US" altLang="zh-CN" sz="1400" dirty="0">
                <a:solidFill>
                  <a:prstClr val="black"/>
                </a:solidFill>
                <a:latin typeface="Consolas" panose="020B0609020204030204" pitchFamily="49" charset="0"/>
                <a:cs typeface="Arial"/>
              </a:rPr>
              <a:t>000000088</a:t>
            </a:r>
            <a:endParaRPr lang="zh-CN" altLang="en-US" sz="1400" dirty="0">
              <a:latin typeface="Consolas" panose="020B0609020204030204" pitchFamily="49" charset="0"/>
            </a:endParaRPr>
          </a:p>
        </p:txBody>
      </p:sp>
      <p:sp>
        <p:nvSpPr>
          <p:cNvPr id="21" name="矩形 86">
            <a:extLst>
              <a:ext uri="{FF2B5EF4-FFF2-40B4-BE49-F238E27FC236}">
                <a16:creationId xmlns:a16="http://schemas.microsoft.com/office/drawing/2014/main" id="{FAD60544-1F1F-4085-9370-0580C9379794}"/>
              </a:ext>
            </a:extLst>
          </p:cNvPr>
          <p:cNvSpPr/>
          <p:nvPr/>
        </p:nvSpPr>
        <p:spPr>
          <a:xfrm>
            <a:off x="-7936" y="2809448"/>
            <a:ext cx="1675459" cy="307777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sz="1400" dirty="0">
                <a:solidFill>
                  <a:prstClr val="black"/>
                </a:solidFill>
                <a:latin typeface="Consolas" panose="020B0609020204030204" pitchFamily="49" charset="0"/>
                <a:cs typeface="Arial"/>
              </a:rPr>
              <a:t>0x00..555755014</a:t>
            </a:r>
            <a:endParaRPr lang="zh-CN" altLang="en-US" sz="1400" dirty="0">
              <a:latin typeface="Consolas" panose="020B0609020204030204" pitchFamily="49" charset="0"/>
            </a:endParaRPr>
          </a:p>
        </p:txBody>
      </p:sp>
      <p:sp>
        <p:nvSpPr>
          <p:cNvPr id="22" name="矩形 86">
            <a:extLst>
              <a:ext uri="{FF2B5EF4-FFF2-40B4-BE49-F238E27FC236}">
                <a16:creationId xmlns:a16="http://schemas.microsoft.com/office/drawing/2014/main" id="{767ADB22-AB5C-4947-B02B-DF8044B8B62D}"/>
              </a:ext>
            </a:extLst>
          </p:cNvPr>
          <p:cNvSpPr/>
          <p:nvPr/>
        </p:nvSpPr>
        <p:spPr>
          <a:xfrm>
            <a:off x="-27658" y="2467751"/>
            <a:ext cx="1675460" cy="307777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sz="1400" dirty="0">
                <a:solidFill>
                  <a:prstClr val="black"/>
                </a:solidFill>
                <a:latin typeface="Consolas" panose="020B0609020204030204" pitchFamily="49" charset="0"/>
                <a:cs typeface="Arial"/>
              </a:rPr>
              <a:t>0x00..555755018</a:t>
            </a:r>
            <a:endParaRPr lang="zh-CN" altLang="en-US" sz="140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3470697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Where to store function arguments and return values?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67764" y="1792826"/>
            <a:ext cx="8871603" cy="4051446"/>
          </a:xfrm>
        </p:spPr>
        <p:txBody>
          <a:bodyPr>
            <a:normAutofit/>
          </a:bodyPr>
          <a:lstStyle/>
          <a:p>
            <a:r>
              <a:rPr lang="en-US" dirty="0"/>
              <a:t>Hardware doesn’t care where </a:t>
            </a:r>
            <a:r>
              <a:rPr lang="en-US" dirty="0" err="1"/>
              <a:t>args</a:t>
            </a:r>
            <a:r>
              <a:rPr lang="en-US" dirty="0"/>
              <a:t>/return </a:t>
            </a:r>
            <a:r>
              <a:rPr lang="en-US" dirty="0" err="1"/>
              <a:t>vals</a:t>
            </a:r>
            <a:r>
              <a:rPr lang="en-US" dirty="0"/>
              <a:t> are stored </a:t>
            </a:r>
          </a:p>
          <a:p>
            <a:pPr lvl="1"/>
            <a:r>
              <a:rPr lang="en-US" dirty="0"/>
              <a:t>It’s a software convention</a:t>
            </a:r>
          </a:p>
          <a:p>
            <a:r>
              <a:rPr lang="en-US" dirty="0"/>
              <a:t>Design consideration: where to put </a:t>
            </a:r>
            <a:r>
              <a:rPr lang="en-US" dirty="0" err="1"/>
              <a:t>args</a:t>
            </a:r>
            <a:r>
              <a:rPr lang="en-US" dirty="0"/>
              <a:t> and return </a:t>
            </a:r>
            <a:r>
              <a:rPr lang="en-US" dirty="0" err="1"/>
              <a:t>vals</a:t>
            </a:r>
            <a:r>
              <a:rPr lang="en-US" dirty="0"/>
              <a:t>?</a:t>
            </a:r>
          </a:p>
          <a:p>
            <a:pPr lvl="1"/>
            <a:r>
              <a:rPr lang="en-US" dirty="0"/>
              <a:t>Arguments and return value are allocated when function is called, de-allocated when function returns.</a:t>
            </a:r>
          </a:p>
          <a:p>
            <a:pPr lvl="1"/>
            <a:r>
              <a:rPr lang="en-US" dirty="0"/>
              <a:t>Must do such allocation/de-allocation very fast</a:t>
            </a:r>
          </a:p>
        </p:txBody>
      </p:sp>
    </p:spTree>
    <p:extLst>
      <p:ext uri="{BB962C8B-B14F-4D97-AF65-F5344CB8AC3E}">
        <p14:creationId xmlns:p14="http://schemas.microsoft.com/office/powerpoint/2010/main" val="16858380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Where to store function arguments and return values?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67764" y="1587332"/>
            <a:ext cx="8976236" cy="5088105"/>
          </a:xfrm>
        </p:spPr>
        <p:txBody>
          <a:bodyPr>
            <a:normAutofit/>
          </a:bodyPr>
          <a:lstStyle/>
          <a:p>
            <a:r>
              <a:rPr lang="en-US" dirty="0"/>
              <a:t>Two possible designs:</a:t>
            </a:r>
          </a:p>
          <a:p>
            <a:pPr lvl="1"/>
            <a:r>
              <a:rPr lang="en-US" dirty="0"/>
              <a:t>Store on stack</a:t>
            </a:r>
          </a:p>
          <a:p>
            <a:pPr lvl="1"/>
            <a:r>
              <a:rPr lang="en-US" dirty="0"/>
              <a:t>Store in registers </a:t>
            </a:r>
          </a:p>
          <a:p>
            <a:pPr marL="457200" lvl="1" indent="0">
              <a:buNone/>
            </a:pPr>
            <a:endParaRPr lang="en-US" dirty="0"/>
          </a:p>
          <a:p>
            <a:r>
              <a:rPr lang="en-US" dirty="0"/>
              <a:t>The chosen design </a:t>
            </a:r>
            <a:r>
              <a:rPr lang="en-US" dirty="0">
                <a:sym typeface="Wingdings"/>
              </a:rPr>
              <a:t> the calling convention</a:t>
            </a:r>
          </a:p>
          <a:p>
            <a:pPr lvl="1"/>
            <a:r>
              <a:rPr lang="en-US" dirty="0"/>
              <a:t>All code on a computer system must obey the same convention</a:t>
            </a:r>
          </a:p>
          <a:p>
            <a:pPr lvl="1"/>
            <a:r>
              <a:rPr lang="en-US" dirty="0"/>
              <a:t>Otherwise, libraries won’t work</a:t>
            </a:r>
          </a:p>
        </p:txBody>
      </p:sp>
      <p:grpSp>
        <p:nvGrpSpPr>
          <p:cNvPr id="4" name="Group 3"/>
          <p:cNvGrpSpPr/>
          <p:nvPr/>
        </p:nvGrpSpPr>
        <p:grpSpPr>
          <a:xfrm>
            <a:off x="3405775" y="2539733"/>
            <a:ext cx="4530768" cy="646331"/>
            <a:chOff x="3405775" y="2539733"/>
            <a:chExt cx="4530768" cy="646331"/>
          </a:xfrm>
        </p:grpSpPr>
        <p:cxnSp>
          <p:nvCxnSpPr>
            <p:cNvPr id="5" name="Straight Arrow Connector 4"/>
            <p:cNvCxnSpPr/>
            <p:nvPr/>
          </p:nvCxnSpPr>
          <p:spPr>
            <a:xfrm flipH="1">
              <a:off x="3405775" y="2857200"/>
              <a:ext cx="634975" cy="0"/>
            </a:xfrm>
            <a:prstGeom prst="straightConnector1">
              <a:avLst/>
            </a:prstGeom>
            <a:ln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" name="TextBox 5"/>
            <p:cNvSpPr txBox="1"/>
            <p:nvPr/>
          </p:nvSpPr>
          <p:spPr>
            <a:xfrm>
              <a:off x="4040750" y="2539733"/>
              <a:ext cx="3895793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4F81BD"/>
                  </a:solidFill>
                </a:rPr>
                <a:t>Registers are much faster than memory</a:t>
              </a:r>
            </a:p>
            <a:p>
              <a:r>
                <a:rPr lang="en-US" dirty="0">
                  <a:solidFill>
                    <a:srgbClr val="4F81BD"/>
                  </a:solidFill>
                </a:rPr>
                <a:t>but there are only a few of them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4629696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60" name="Rectangle 4"/>
          <p:cNvSpPr>
            <a:spLocks noGrp="1" noChangeArrowheads="1"/>
          </p:cNvSpPr>
          <p:nvPr>
            <p:ph type="title"/>
          </p:nvPr>
        </p:nvSpPr>
        <p:spPr>
          <a:xfrm>
            <a:off x="457200" y="114300"/>
            <a:ext cx="8686800" cy="1143000"/>
          </a:xfrm>
          <a:ln/>
        </p:spPr>
        <p:txBody>
          <a:bodyPr>
            <a:normAutofit fontScale="90000"/>
          </a:bodyPr>
          <a:lstStyle/>
          <a:p>
            <a:pPr marL="119063" indent="-119063"/>
            <a:r>
              <a:rPr lang="en-US" dirty="0"/>
              <a:t>C/UNIX/MacOS’s calling convention</a:t>
            </a:r>
          </a:p>
        </p:txBody>
      </p:sp>
      <p:sp>
        <p:nvSpPr>
          <p:cNvPr id="45061" name="Rectangle 5"/>
          <p:cNvSpPr>
            <a:spLocks noGrp="1" noChangeArrowheads="1"/>
          </p:cNvSpPr>
          <p:nvPr>
            <p:ph type="body" idx="1"/>
          </p:nvPr>
        </p:nvSpPr>
        <p:spPr>
          <a:ln/>
        </p:spPr>
        <p:txBody>
          <a:bodyPr/>
          <a:lstStyle/>
          <a:p>
            <a:r>
              <a:rPr lang="en-US" dirty="0"/>
              <a:t>Registers</a:t>
            </a:r>
          </a:p>
        </p:txBody>
      </p:sp>
      <p:sp>
        <p:nvSpPr>
          <p:cNvPr id="2" name="Content Placeholder 1"/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First 6 arguments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Return value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3"/>
          </p:nvPr>
        </p:nvSpPr>
        <p:spPr>
          <a:xfrm>
            <a:off x="5603779" y="1660217"/>
            <a:ext cx="2124265" cy="639762"/>
          </a:xfrm>
        </p:spPr>
        <p:txBody>
          <a:bodyPr/>
          <a:lstStyle/>
          <a:p>
            <a:r>
              <a:rPr lang="en-US" dirty="0"/>
              <a:t>Stack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quarter" idx="4"/>
          </p:nvPr>
        </p:nvSpPr>
        <p:spPr>
          <a:xfrm>
            <a:off x="4645025" y="5791199"/>
            <a:ext cx="4041775" cy="334963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1600" dirty="0"/>
              <a:t>Only allocate stack space when needed</a:t>
            </a:r>
          </a:p>
        </p:txBody>
      </p:sp>
      <p:sp>
        <p:nvSpPr>
          <p:cNvPr id="9" name="Rectangle 9"/>
          <p:cNvSpPr>
            <a:spLocks/>
          </p:cNvSpPr>
          <p:nvPr/>
        </p:nvSpPr>
        <p:spPr bwMode="auto">
          <a:xfrm>
            <a:off x="762000" y="2819400"/>
            <a:ext cx="1346200" cy="38100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25400" cap="flat">
            <a:solidFill>
              <a:schemeClr val="tx1"/>
            </a:solidFill>
            <a:prstDash val="solid"/>
            <a:miter lim="800000"/>
            <a:headEnd type="none" w="med" len="med"/>
            <a:tailEnd type="none" w="med" len="med"/>
          </a:ln>
        </p:spPr>
        <p:txBody>
          <a:bodyPr lIns="38100" tIns="38100" rIns="38100" bIns="38100" anchor="ctr"/>
          <a:lstStyle/>
          <a:p>
            <a:pPr algn="ctr"/>
            <a:r>
              <a:rPr lang="en-US" sz="1800" dirty="0">
                <a:solidFill>
                  <a:schemeClr val="tx1"/>
                </a:solidFill>
                <a:latin typeface="Consolas"/>
                <a:cs typeface="Consolas"/>
                <a:sym typeface="Courier New Bold" charset="0"/>
              </a:rPr>
              <a:t>%</a:t>
            </a:r>
            <a:r>
              <a:rPr lang="en-US" sz="1800" dirty="0" err="1">
                <a:solidFill>
                  <a:schemeClr val="tx1"/>
                </a:solidFill>
                <a:latin typeface="Consolas"/>
                <a:cs typeface="Consolas"/>
                <a:sym typeface="Courier New Bold" charset="0"/>
              </a:rPr>
              <a:t>rdi</a:t>
            </a:r>
            <a:endParaRPr lang="en-US" sz="1800" dirty="0">
              <a:solidFill>
                <a:schemeClr val="tx1"/>
              </a:solidFill>
              <a:latin typeface="Consolas"/>
              <a:cs typeface="Consolas"/>
              <a:sym typeface="Courier New Bold" charset="0"/>
            </a:endParaRPr>
          </a:p>
        </p:txBody>
      </p:sp>
      <p:sp>
        <p:nvSpPr>
          <p:cNvPr id="10" name="Rectangle 9"/>
          <p:cNvSpPr>
            <a:spLocks/>
          </p:cNvSpPr>
          <p:nvPr/>
        </p:nvSpPr>
        <p:spPr bwMode="auto">
          <a:xfrm>
            <a:off x="762000" y="3200400"/>
            <a:ext cx="1346200" cy="38100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25400" cap="flat">
            <a:solidFill>
              <a:schemeClr val="tx1"/>
            </a:solidFill>
            <a:prstDash val="solid"/>
            <a:miter lim="800000"/>
            <a:headEnd type="none" w="med" len="med"/>
            <a:tailEnd type="none" w="med" len="med"/>
          </a:ln>
        </p:spPr>
        <p:txBody>
          <a:bodyPr lIns="38100" tIns="38100" rIns="38100" bIns="38100" anchor="ctr"/>
          <a:lstStyle/>
          <a:p>
            <a:pPr algn="ctr"/>
            <a:r>
              <a:rPr lang="en-US" sz="1800" dirty="0">
                <a:solidFill>
                  <a:schemeClr val="tx1"/>
                </a:solidFill>
                <a:latin typeface="Consolas"/>
                <a:cs typeface="Consolas"/>
                <a:sym typeface="Courier New Bold" charset="0"/>
              </a:rPr>
              <a:t>%</a:t>
            </a:r>
            <a:r>
              <a:rPr lang="en-US" sz="1800" dirty="0" err="1">
                <a:solidFill>
                  <a:schemeClr val="tx1"/>
                </a:solidFill>
                <a:latin typeface="Consolas"/>
                <a:cs typeface="Consolas"/>
                <a:sym typeface="Courier New Bold" charset="0"/>
              </a:rPr>
              <a:t>rsi</a:t>
            </a:r>
            <a:endParaRPr lang="en-US" sz="1800" dirty="0">
              <a:solidFill>
                <a:schemeClr val="tx1"/>
              </a:solidFill>
              <a:latin typeface="Consolas"/>
              <a:cs typeface="Consolas"/>
              <a:sym typeface="Courier New Bold" charset="0"/>
            </a:endParaRPr>
          </a:p>
        </p:txBody>
      </p:sp>
      <p:sp>
        <p:nvSpPr>
          <p:cNvPr id="11" name="Rectangle 10"/>
          <p:cNvSpPr>
            <a:spLocks/>
          </p:cNvSpPr>
          <p:nvPr/>
        </p:nvSpPr>
        <p:spPr bwMode="auto">
          <a:xfrm>
            <a:off x="762000" y="3581400"/>
            <a:ext cx="1346200" cy="38100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25400" cap="flat">
            <a:solidFill>
              <a:schemeClr val="tx1"/>
            </a:solidFill>
            <a:prstDash val="solid"/>
            <a:miter lim="800000"/>
            <a:headEnd type="none" w="med" len="med"/>
            <a:tailEnd type="none" w="med" len="med"/>
          </a:ln>
        </p:spPr>
        <p:txBody>
          <a:bodyPr lIns="38100" tIns="38100" rIns="38100" bIns="38100" anchor="ctr"/>
          <a:lstStyle/>
          <a:p>
            <a:pPr algn="ctr"/>
            <a:r>
              <a:rPr lang="en-US" sz="1800" dirty="0">
                <a:solidFill>
                  <a:schemeClr val="tx1"/>
                </a:solidFill>
                <a:latin typeface="Consolas"/>
                <a:cs typeface="Consolas"/>
                <a:sym typeface="Courier New Bold" charset="0"/>
              </a:rPr>
              <a:t>%</a:t>
            </a:r>
            <a:r>
              <a:rPr lang="en-US" sz="1800" dirty="0" err="1">
                <a:solidFill>
                  <a:schemeClr val="tx1"/>
                </a:solidFill>
                <a:latin typeface="Consolas"/>
                <a:cs typeface="Consolas"/>
                <a:sym typeface="Courier New Bold" charset="0"/>
              </a:rPr>
              <a:t>rdx</a:t>
            </a:r>
            <a:endParaRPr lang="en-US" sz="1800" dirty="0">
              <a:solidFill>
                <a:schemeClr val="tx1"/>
              </a:solidFill>
              <a:latin typeface="Consolas"/>
              <a:cs typeface="Consolas"/>
              <a:sym typeface="Courier New Bold" charset="0"/>
            </a:endParaRPr>
          </a:p>
        </p:txBody>
      </p:sp>
      <p:sp>
        <p:nvSpPr>
          <p:cNvPr id="12" name="Rectangle 11"/>
          <p:cNvSpPr>
            <a:spLocks/>
          </p:cNvSpPr>
          <p:nvPr/>
        </p:nvSpPr>
        <p:spPr bwMode="auto">
          <a:xfrm>
            <a:off x="762000" y="3962400"/>
            <a:ext cx="1346200" cy="38100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25400" cap="flat">
            <a:solidFill>
              <a:schemeClr val="tx1"/>
            </a:solidFill>
            <a:prstDash val="solid"/>
            <a:miter lim="800000"/>
            <a:headEnd type="none" w="med" len="med"/>
            <a:tailEnd type="none" w="med" len="med"/>
          </a:ln>
        </p:spPr>
        <p:txBody>
          <a:bodyPr lIns="38100" tIns="38100" rIns="38100" bIns="38100" anchor="ctr"/>
          <a:lstStyle/>
          <a:p>
            <a:pPr algn="ctr"/>
            <a:r>
              <a:rPr lang="en-US" sz="1800" dirty="0">
                <a:solidFill>
                  <a:schemeClr val="tx1"/>
                </a:solidFill>
                <a:latin typeface="Consolas"/>
                <a:cs typeface="Consolas"/>
                <a:sym typeface="Courier New Bold" charset="0"/>
              </a:rPr>
              <a:t>%</a:t>
            </a:r>
            <a:r>
              <a:rPr lang="en-US" sz="1800" dirty="0" err="1">
                <a:solidFill>
                  <a:schemeClr val="tx1"/>
                </a:solidFill>
                <a:latin typeface="Consolas"/>
                <a:cs typeface="Consolas"/>
                <a:sym typeface="Courier New Bold" charset="0"/>
              </a:rPr>
              <a:t>rcx</a:t>
            </a:r>
            <a:endParaRPr lang="en-US" sz="1800" dirty="0">
              <a:solidFill>
                <a:schemeClr val="tx1"/>
              </a:solidFill>
              <a:latin typeface="Consolas"/>
              <a:cs typeface="Consolas"/>
              <a:sym typeface="Courier New Bold" charset="0"/>
            </a:endParaRPr>
          </a:p>
        </p:txBody>
      </p:sp>
      <p:sp>
        <p:nvSpPr>
          <p:cNvPr id="13" name="Rectangle 12"/>
          <p:cNvSpPr>
            <a:spLocks/>
          </p:cNvSpPr>
          <p:nvPr/>
        </p:nvSpPr>
        <p:spPr bwMode="auto">
          <a:xfrm>
            <a:off x="762000" y="4343400"/>
            <a:ext cx="1346200" cy="38100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25400" cap="flat">
            <a:solidFill>
              <a:schemeClr val="tx1"/>
            </a:solidFill>
            <a:prstDash val="solid"/>
            <a:miter lim="800000"/>
            <a:headEnd type="none" w="med" len="med"/>
            <a:tailEnd type="none" w="med" len="med"/>
          </a:ln>
        </p:spPr>
        <p:txBody>
          <a:bodyPr lIns="38100" tIns="38100" rIns="38100" bIns="38100" anchor="ctr"/>
          <a:lstStyle/>
          <a:p>
            <a:pPr algn="ctr"/>
            <a:r>
              <a:rPr lang="en-US" sz="1800" dirty="0">
                <a:solidFill>
                  <a:schemeClr val="tx1"/>
                </a:solidFill>
                <a:latin typeface="Consolas"/>
                <a:cs typeface="Consolas"/>
                <a:sym typeface="Courier New Bold" charset="0"/>
              </a:rPr>
              <a:t>%r8</a:t>
            </a:r>
          </a:p>
        </p:txBody>
      </p:sp>
      <p:sp>
        <p:nvSpPr>
          <p:cNvPr id="14" name="Rectangle 13"/>
          <p:cNvSpPr>
            <a:spLocks/>
          </p:cNvSpPr>
          <p:nvPr/>
        </p:nvSpPr>
        <p:spPr bwMode="auto">
          <a:xfrm>
            <a:off x="762000" y="4724400"/>
            <a:ext cx="1346200" cy="38100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25400" cap="flat">
            <a:solidFill>
              <a:schemeClr val="tx1"/>
            </a:solidFill>
            <a:prstDash val="solid"/>
            <a:miter lim="800000"/>
            <a:headEnd type="none" w="med" len="med"/>
            <a:tailEnd type="none" w="med" len="med"/>
          </a:ln>
        </p:spPr>
        <p:txBody>
          <a:bodyPr lIns="38100" tIns="38100" rIns="38100" bIns="38100" anchor="ctr"/>
          <a:lstStyle/>
          <a:p>
            <a:pPr algn="ctr"/>
            <a:r>
              <a:rPr lang="en-US" sz="1800" dirty="0">
                <a:solidFill>
                  <a:schemeClr val="tx1"/>
                </a:solidFill>
                <a:latin typeface="Consolas"/>
                <a:cs typeface="Consolas"/>
                <a:sym typeface="Courier New Bold" charset="0"/>
              </a:rPr>
              <a:t>%r9</a:t>
            </a:r>
          </a:p>
        </p:txBody>
      </p:sp>
      <p:sp>
        <p:nvSpPr>
          <p:cNvPr id="15" name="Rectangle 14"/>
          <p:cNvSpPr>
            <a:spLocks/>
          </p:cNvSpPr>
          <p:nvPr/>
        </p:nvSpPr>
        <p:spPr bwMode="auto">
          <a:xfrm>
            <a:off x="762000" y="5791200"/>
            <a:ext cx="1346200" cy="38100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25400" cap="flat">
            <a:solidFill>
              <a:schemeClr val="tx1"/>
            </a:solidFill>
            <a:prstDash val="solid"/>
            <a:miter lim="800000"/>
            <a:headEnd type="none" w="med" len="med"/>
            <a:tailEnd type="none" w="med" len="med"/>
          </a:ln>
        </p:spPr>
        <p:txBody>
          <a:bodyPr lIns="38100" tIns="38100" rIns="38100" bIns="38100" anchor="ctr"/>
          <a:lstStyle/>
          <a:p>
            <a:pPr algn="ctr"/>
            <a:r>
              <a:rPr lang="en-US" sz="1800" dirty="0">
                <a:solidFill>
                  <a:schemeClr val="tx1"/>
                </a:solidFill>
                <a:latin typeface="Consolas"/>
                <a:cs typeface="Consolas"/>
                <a:sym typeface="Courier New Bold" charset="0"/>
              </a:rPr>
              <a:t>%</a:t>
            </a:r>
            <a:r>
              <a:rPr lang="en-US" sz="1800" dirty="0" err="1">
                <a:solidFill>
                  <a:schemeClr val="tx1"/>
                </a:solidFill>
                <a:latin typeface="Consolas"/>
                <a:cs typeface="Consolas"/>
                <a:sym typeface="Courier New Bold" charset="0"/>
              </a:rPr>
              <a:t>rax</a:t>
            </a:r>
            <a:endParaRPr lang="en-US" sz="1800" dirty="0">
              <a:solidFill>
                <a:schemeClr val="tx1"/>
              </a:solidFill>
              <a:latin typeface="Consolas"/>
              <a:cs typeface="Consolas"/>
              <a:sym typeface="Courier New Bold" charset="0"/>
            </a:endParaRPr>
          </a:p>
        </p:txBody>
      </p:sp>
      <p:grpSp>
        <p:nvGrpSpPr>
          <p:cNvPr id="5" name="Group 4"/>
          <p:cNvGrpSpPr/>
          <p:nvPr/>
        </p:nvGrpSpPr>
        <p:grpSpPr>
          <a:xfrm>
            <a:off x="5638800" y="2438400"/>
            <a:ext cx="1346200" cy="2667000"/>
            <a:chOff x="5943600" y="2057400"/>
            <a:chExt cx="1346200" cy="2667000"/>
          </a:xfrm>
          <a:solidFill>
            <a:schemeClr val="accent2">
              <a:lumMod val="40000"/>
              <a:lumOff val="60000"/>
            </a:schemeClr>
          </a:solidFill>
        </p:grpSpPr>
        <p:sp>
          <p:nvSpPr>
            <p:cNvPr id="16" name="Rectangle 14"/>
            <p:cNvSpPr>
              <a:spLocks/>
            </p:cNvSpPr>
            <p:nvPr/>
          </p:nvSpPr>
          <p:spPr bwMode="auto">
            <a:xfrm>
              <a:off x="5943600" y="4343400"/>
              <a:ext cx="1346200" cy="381000"/>
            </a:xfrm>
            <a:prstGeom prst="rect">
              <a:avLst/>
            </a:prstGeom>
            <a:grpFill/>
            <a:ln w="25400" cap="flat">
              <a:solidFill>
                <a:schemeClr val="tx1"/>
              </a:solidFill>
              <a:prstDash val="solid"/>
              <a:miter lim="800000"/>
              <a:headEnd type="none" w="med" len="med"/>
              <a:tailEnd type="none" w="med" len="med"/>
            </a:ln>
          </p:spPr>
          <p:txBody>
            <a:bodyPr lIns="38100" tIns="38100" rIns="38100" bIns="38100" anchor="ctr"/>
            <a:lstStyle/>
            <a:p>
              <a:pPr algn="ctr"/>
              <a:r>
                <a:rPr lang="en-US" sz="1800" dirty="0" err="1">
                  <a:solidFill>
                    <a:schemeClr val="tx1"/>
                  </a:solidFill>
                  <a:latin typeface="Consolas"/>
                  <a:cs typeface="Consolas"/>
                  <a:sym typeface="Courier New Bold" charset="0"/>
                </a:rPr>
                <a:t>Arg</a:t>
              </a:r>
              <a:r>
                <a:rPr lang="en-US" sz="1800" dirty="0">
                  <a:solidFill>
                    <a:schemeClr val="tx1"/>
                  </a:solidFill>
                  <a:latin typeface="Consolas"/>
                  <a:cs typeface="Consolas"/>
                  <a:sym typeface="Courier New Bold" charset="0"/>
                </a:rPr>
                <a:t> 7</a:t>
              </a:r>
            </a:p>
          </p:txBody>
        </p:sp>
        <p:sp>
          <p:nvSpPr>
            <p:cNvPr id="17" name="Rectangle 15"/>
            <p:cNvSpPr>
              <a:spLocks/>
            </p:cNvSpPr>
            <p:nvPr/>
          </p:nvSpPr>
          <p:spPr bwMode="auto">
            <a:xfrm>
              <a:off x="5943600" y="3200400"/>
              <a:ext cx="1346200" cy="762000"/>
            </a:xfrm>
            <a:prstGeom prst="rect">
              <a:avLst/>
            </a:prstGeom>
            <a:grpFill/>
            <a:ln w="25400" cap="flat">
              <a:solidFill>
                <a:schemeClr val="tx1"/>
              </a:solidFill>
              <a:prstDash val="solid"/>
              <a:miter lim="800000"/>
              <a:headEnd type="none" w="med" len="med"/>
              <a:tailEnd type="none" w="med" len="med"/>
            </a:ln>
          </p:spPr>
          <p:txBody>
            <a:bodyPr lIns="0" tIns="0" rIns="0" bIns="0" anchor="ctr"/>
            <a:lstStyle/>
            <a:p>
              <a:pPr algn="ctr"/>
              <a:r>
                <a:rPr lang="en-US" sz="2400" dirty="0">
                  <a:latin typeface="Consolas"/>
                  <a:cs typeface="Consolas"/>
                </a:rPr>
                <a:t>...</a:t>
              </a:r>
            </a:p>
          </p:txBody>
        </p:sp>
        <p:sp>
          <p:nvSpPr>
            <p:cNvPr id="18" name="Rectangle 14"/>
            <p:cNvSpPr>
              <a:spLocks/>
            </p:cNvSpPr>
            <p:nvPr/>
          </p:nvSpPr>
          <p:spPr bwMode="auto">
            <a:xfrm>
              <a:off x="5943600" y="3962400"/>
              <a:ext cx="1346200" cy="381000"/>
            </a:xfrm>
            <a:prstGeom prst="rect">
              <a:avLst/>
            </a:prstGeom>
            <a:grpFill/>
            <a:ln w="25400" cap="flat">
              <a:solidFill>
                <a:schemeClr val="tx1"/>
              </a:solidFill>
              <a:prstDash val="solid"/>
              <a:miter lim="800000"/>
              <a:headEnd type="none" w="med" len="med"/>
              <a:tailEnd type="none" w="med" len="med"/>
            </a:ln>
          </p:spPr>
          <p:txBody>
            <a:bodyPr lIns="38100" tIns="38100" rIns="38100" bIns="38100" anchor="ctr"/>
            <a:lstStyle/>
            <a:p>
              <a:pPr algn="ctr"/>
              <a:r>
                <a:rPr lang="en-US" sz="1800" dirty="0" err="1">
                  <a:solidFill>
                    <a:schemeClr val="tx1"/>
                  </a:solidFill>
                  <a:latin typeface="Consolas"/>
                  <a:cs typeface="Consolas"/>
                  <a:sym typeface="Courier New Bold" charset="0"/>
                </a:rPr>
                <a:t>Arg</a:t>
              </a:r>
              <a:r>
                <a:rPr lang="en-US" sz="1800" dirty="0">
                  <a:solidFill>
                    <a:schemeClr val="tx1"/>
                  </a:solidFill>
                  <a:latin typeface="Consolas"/>
                  <a:cs typeface="Consolas"/>
                  <a:sym typeface="Courier New Bold" charset="0"/>
                </a:rPr>
                <a:t> 8</a:t>
              </a:r>
            </a:p>
          </p:txBody>
        </p:sp>
        <p:sp>
          <p:nvSpPr>
            <p:cNvPr id="19" name="Rectangle 14"/>
            <p:cNvSpPr>
              <a:spLocks/>
            </p:cNvSpPr>
            <p:nvPr/>
          </p:nvSpPr>
          <p:spPr bwMode="auto">
            <a:xfrm>
              <a:off x="5943600" y="2819400"/>
              <a:ext cx="1346200" cy="381000"/>
            </a:xfrm>
            <a:prstGeom prst="rect">
              <a:avLst/>
            </a:prstGeom>
            <a:grpFill/>
            <a:ln w="25400" cap="flat">
              <a:solidFill>
                <a:schemeClr val="tx1"/>
              </a:solidFill>
              <a:prstDash val="solid"/>
              <a:miter lim="800000"/>
              <a:headEnd type="none" w="med" len="med"/>
              <a:tailEnd type="none" w="med" len="med"/>
            </a:ln>
          </p:spPr>
          <p:txBody>
            <a:bodyPr lIns="38100" tIns="38100" rIns="38100" bIns="38100" anchor="ctr"/>
            <a:lstStyle/>
            <a:p>
              <a:pPr algn="ctr"/>
              <a:r>
                <a:rPr lang="en-US" sz="1800" dirty="0" err="1">
                  <a:solidFill>
                    <a:schemeClr val="tx1"/>
                  </a:solidFill>
                  <a:latin typeface="Consolas"/>
                  <a:cs typeface="Consolas"/>
                  <a:sym typeface="Courier New Bold" charset="0"/>
                </a:rPr>
                <a:t>Arg</a:t>
              </a:r>
              <a:r>
                <a:rPr lang="en-US" sz="1800" dirty="0">
                  <a:solidFill>
                    <a:schemeClr val="tx1"/>
                  </a:solidFill>
                  <a:latin typeface="Consolas"/>
                  <a:cs typeface="Consolas"/>
                  <a:sym typeface="Courier New Bold" charset="0"/>
                </a:rPr>
                <a:t> </a:t>
              </a:r>
              <a:r>
                <a:rPr lang="en-US" sz="1800" i="1" dirty="0">
                  <a:solidFill>
                    <a:schemeClr val="tx1"/>
                  </a:solidFill>
                  <a:latin typeface="Consolas"/>
                  <a:cs typeface="Consolas"/>
                  <a:sym typeface="Courier New Bold" charset="0"/>
                </a:rPr>
                <a:t>n</a:t>
              </a:r>
            </a:p>
          </p:txBody>
        </p:sp>
        <p:sp>
          <p:nvSpPr>
            <p:cNvPr id="20" name="Rectangle 15"/>
            <p:cNvSpPr>
              <a:spLocks/>
            </p:cNvSpPr>
            <p:nvPr/>
          </p:nvSpPr>
          <p:spPr bwMode="auto">
            <a:xfrm>
              <a:off x="5943600" y="2057400"/>
              <a:ext cx="1346200" cy="762000"/>
            </a:xfrm>
            <a:prstGeom prst="rect">
              <a:avLst/>
            </a:prstGeom>
            <a:grpFill/>
            <a:ln w="25400" cap="flat">
              <a:solidFill>
                <a:schemeClr val="tx1"/>
              </a:solidFill>
              <a:prstDash val="solid"/>
              <a:miter lim="800000"/>
              <a:headEnd type="none" w="med" len="med"/>
              <a:tailEnd type="none" w="med" len="med"/>
            </a:ln>
          </p:spPr>
          <p:txBody>
            <a:bodyPr lIns="0" tIns="0" rIns="0" bIns="0" anchor="ctr"/>
            <a:lstStyle/>
            <a:p>
              <a:pPr algn="ctr"/>
              <a:r>
                <a:rPr lang="en-US" dirty="0">
                  <a:latin typeface="Consolas"/>
                  <a:cs typeface="Consolas"/>
                </a:rPr>
                <a:t>...</a:t>
              </a:r>
            </a:p>
          </p:txBody>
        </p:sp>
      </p:grpSp>
      <p:sp>
        <p:nvSpPr>
          <p:cNvPr id="6" name="Rounded Rectangular Callout 5">
            <a:extLst>
              <a:ext uri="{FF2B5EF4-FFF2-40B4-BE49-F238E27FC236}">
                <a16:creationId xmlns:a16="http://schemas.microsoft.com/office/drawing/2014/main" id="{225AAB8E-C25C-FA4D-B3CB-82DA764B8616}"/>
              </a:ext>
            </a:extLst>
          </p:cNvPr>
          <p:cNvSpPr/>
          <p:nvPr/>
        </p:nvSpPr>
        <p:spPr>
          <a:xfrm>
            <a:off x="2477294" y="1242826"/>
            <a:ext cx="1855694" cy="924299"/>
          </a:xfrm>
          <a:prstGeom prst="wedgeRoundRectCallout">
            <a:avLst>
              <a:gd name="adj1" fmla="val -74090"/>
              <a:gd name="adj2" fmla="val -57007"/>
              <a:gd name="adj3" fmla="val 16667"/>
            </a:avLst>
          </a:prstGeom>
          <a:solidFill>
            <a:schemeClr val="tx2">
              <a:lumMod val="40000"/>
              <a:lumOff val="6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Windows have a different calling convention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9FAA3C81-9E51-4042-80B0-E702736E7919}"/>
              </a:ext>
            </a:extLst>
          </p:cNvPr>
          <p:cNvCxnSpPr/>
          <p:nvPr/>
        </p:nvCxnSpPr>
        <p:spPr>
          <a:xfrm flipH="1">
            <a:off x="7315201" y="5017826"/>
            <a:ext cx="69148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E1909863-9E66-4B50-ACED-796A5C594624}"/>
              </a:ext>
            </a:extLst>
          </p:cNvPr>
          <p:cNvSpPr txBox="1"/>
          <p:nvPr/>
        </p:nvSpPr>
        <p:spPr>
          <a:xfrm>
            <a:off x="8006687" y="4833160"/>
            <a:ext cx="10484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Stack top</a:t>
            </a:r>
          </a:p>
        </p:txBody>
      </p:sp>
    </p:spTree>
    <p:extLst>
      <p:ext uri="{BB962C8B-B14F-4D97-AF65-F5344CB8AC3E}">
        <p14:creationId xmlns:p14="http://schemas.microsoft.com/office/powerpoint/2010/main" val="41797608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57200" y="462"/>
            <a:ext cx="8686800" cy="1143000"/>
          </a:xfrm>
        </p:spPr>
        <p:txBody>
          <a:bodyPr>
            <a:normAutofit/>
          </a:bodyPr>
          <a:lstStyle/>
          <a:p>
            <a:r>
              <a:rPr lang="en-US" altLang="zh-CN" dirty="0"/>
              <a:t>Calling convention: </a:t>
            </a:r>
            <a:r>
              <a:rPr lang="en-US" altLang="zh-CN" dirty="0" err="1"/>
              <a:t>args</a:t>
            </a:r>
            <a:r>
              <a:rPr lang="en-US" altLang="zh-CN" dirty="0"/>
              <a:t>, return </a:t>
            </a:r>
            <a:r>
              <a:rPr lang="en-US" altLang="zh-CN" dirty="0" err="1"/>
              <a:t>vals</a:t>
            </a:r>
            <a:endParaRPr kumimoji="1" lang="zh-CN" altLang="en-US" dirty="0"/>
          </a:p>
        </p:txBody>
      </p:sp>
      <p:sp>
        <p:nvSpPr>
          <p:cNvPr id="4" name="矩形 3"/>
          <p:cNvSpPr/>
          <p:nvPr/>
        </p:nvSpPr>
        <p:spPr>
          <a:xfrm>
            <a:off x="109023" y="866981"/>
            <a:ext cx="8480091" cy="2308324"/>
          </a:xfrm>
          <a:prstGeom prst="rect">
            <a:avLst/>
          </a:prstGeom>
          <a:solidFill>
            <a:schemeClr val="bg2"/>
          </a:solidFill>
        </p:spPr>
        <p:txBody>
          <a:bodyPr wrap="square">
            <a:spAutoFit/>
          </a:bodyPr>
          <a:lstStyle/>
          <a:p>
            <a:r>
              <a:rPr lang="en-US" altLang="zh-CN" sz="1600" dirty="0">
                <a:latin typeface="Consolas"/>
                <a:cs typeface="Consolas"/>
              </a:rPr>
              <a:t>int add(int a, int b, int c, int d, int e, int f, int g, int h) {</a:t>
            </a:r>
          </a:p>
          <a:p>
            <a:r>
              <a:rPr lang="en-US" altLang="zh-CN" sz="1600" dirty="0">
                <a:latin typeface="Consolas"/>
                <a:cs typeface="Consolas"/>
              </a:rPr>
              <a:t>  int r = a + b + c + d + e + f + g + h;</a:t>
            </a:r>
          </a:p>
          <a:p>
            <a:r>
              <a:rPr lang="en-US" altLang="zh-CN" sz="1600" dirty="0">
                <a:latin typeface="Consolas"/>
                <a:cs typeface="Consolas"/>
              </a:rPr>
              <a:t>  return r;</a:t>
            </a:r>
          </a:p>
          <a:p>
            <a:r>
              <a:rPr lang="en-US" altLang="zh-CN" sz="1600" dirty="0">
                <a:latin typeface="Consolas"/>
                <a:cs typeface="Consolas"/>
              </a:rPr>
              <a:t>}</a:t>
            </a:r>
          </a:p>
          <a:p>
            <a:r>
              <a:rPr lang="mr-IN" altLang="zh-CN" sz="1600" dirty="0">
                <a:latin typeface="Consolas"/>
                <a:cs typeface="Consolas"/>
              </a:rPr>
              <a:t>int main() {</a:t>
            </a:r>
          </a:p>
          <a:p>
            <a:r>
              <a:rPr lang="mr-IN" altLang="zh-CN" sz="1600" dirty="0">
                <a:latin typeface="Consolas"/>
                <a:cs typeface="Consolas"/>
              </a:rPr>
              <a:t>    int c = add(1, 2, 3, 4, 5, 6, 7, 8);</a:t>
            </a:r>
          </a:p>
          <a:p>
            <a:r>
              <a:rPr lang="mr-IN" altLang="zh-CN" sz="1600" dirty="0">
                <a:latin typeface="Consolas"/>
                <a:cs typeface="Consolas"/>
              </a:rPr>
              <a:t>    printf("%d\b", c);</a:t>
            </a:r>
          </a:p>
          <a:p>
            <a:r>
              <a:rPr lang="mr-IN" altLang="zh-CN" sz="1600" dirty="0">
                <a:latin typeface="Consolas"/>
                <a:cs typeface="Consolas"/>
              </a:rPr>
              <a:t>    return 0;</a:t>
            </a:r>
            <a:endParaRPr lang="en-US" altLang="zh-CN" sz="1600" dirty="0">
              <a:latin typeface="Consolas"/>
              <a:cs typeface="Consolas"/>
            </a:endParaRPr>
          </a:p>
          <a:p>
            <a:r>
              <a:rPr lang="mr-IN" altLang="zh-CN" sz="1600" dirty="0">
                <a:latin typeface="Consolas"/>
                <a:cs typeface="Consolas"/>
              </a:rPr>
              <a:t>}</a:t>
            </a:r>
          </a:p>
        </p:txBody>
      </p:sp>
      <p:sp>
        <p:nvSpPr>
          <p:cNvPr id="7" name="矩形 6"/>
          <p:cNvSpPr/>
          <p:nvPr/>
        </p:nvSpPr>
        <p:spPr>
          <a:xfrm>
            <a:off x="346258" y="3263667"/>
            <a:ext cx="5640428" cy="286232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dirty="0">
                <a:latin typeface="Consolas"/>
                <a:cs typeface="Consolas"/>
              </a:rPr>
              <a:t>main:</a:t>
            </a:r>
          </a:p>
          <a:p>
            <a:r>
              <a:rPr lang="en-US" altLang="zh-CN" dirty="0">
                <a:latin typeface="Consolas"/>
                <a:cs typeface="Consolas"/>
              </a:rPr>
              <a:t>	</a:t>
            </a:r>
            <a:r>
              <a:rPr lang="mr-IN" altLang="zh-CN" dirty="0" err="1">
                <a:solidFill>
                  <a:schemeClr val="tx2">
                    <a:lumMod val="60000"/>
                    <a:lumOff val="40000"/>
                  </a:schemeClr>
                </a:solidFill>
                <a:latin typeface="Consolas"/>
                <a:cs typeface="Consolas"/>
              </a:rPr>
              <a:t>push</a:t>
            </a:r>
            <a:r>
              <a:rPr lang="en-US" altLang="zh-CN" dirty="0">
                <a:solidFill>
                  <a:schemeClr val="tx2">
                    <a:lumMod val="60000"/>
                    <a:lumOff val="40000"/>
                  </a:schemeClr>
                </a:solidFill>
                <a:latin typeface="Consolas"/>
                <a:cs typeface="Consolas"/>
              </a:rPr>
              <a:t>l</a:t>
            </a:r>
            <a:r>
              <a:rPr lang="mr-IN" altLang="zh-CN" dirty="0">
                <a:solidFill>
                  <a:schemeClr val="tx2">
                    <a:lumMod val="60000"/>
                    <a:lumOff val="40000"/>
                  </a:schemeClr>
                </a:solidFill>
                <a:latin typeface="Consolas"/>
                <a:cs typeface="Consolas"/>
              </a:rPr>
              <a:t>   $8</a:t>
            </a:r>
          </a:p>
          <a:p>
            <a:r>
              <a:rPr lang="en-US" altLang="zh-CN" dirty="0">
                <a:solidFill>
                  <a:schemeClr val="tx2">
                    <a:lumMod val="60000"/>
                    <a:lumOff val="40000"/>
                  </a:schemeClr>
                </a:solidFill>
                <a:latin typeface="Consolas"/>
                <a:cs typeface="Consolas"/>
              </a:rPr>
              <a:t>	</a:t>
            </a:r>
            <a:r>
              <a:rPr lang="mr-IN" altLang="zh-CN" dirty="0" err="1">
                <a:solidFill>
                  <a:schemeClr val="tx2">
                    <a:lumMod val="60000"/>
                    <a:lumOff val="40000"/>
                  </a:schemeClr>
                </a:solidFill>
                <a:latin typeface="Consolas"/>
                <a:cs typeface="Consolas"/>
              </a:rPr>
              <a:t>push</a:t>
            </a:r>
            <a:r>
              <a:rPr lang="en-US" altLang="zh-CN" dirty="0">
                <a:solidFill>
                  <a:schemeClr val="tx2">
                    <a:lumMod val="60000"/>
                    <a:lumOff val="40000"/>
                  </a:schemeClr>
                </a:solidFill>
                <a:latin typeface="Consolas"/>
                <a:cs typeface="Consolas"/>
              </a:rPr>
              <a:t>l</a:t>
            </a:r>
            <a:r>
              <a:rPr lang="mr-IN" altLang="zh-CN" dirty="0">
                <a:solidFill>
                  <a:schemeClr val="tx2">
                    <a:lumMod val="60000"/>
                    <a:lumOff val="40000"/>
                  </a:schemeClr>
                </a:solidFill>
                <a:latin typeface="Consolas"/>
                <a:cs typeface="Consolas"/>
              </a:rPr>
              <a:t>   $7</a:t>
            </a:r>
          </a:p>
          <a:p>
            <a:r>
              <a:rPr lang="en-US" altLang="zh-CN" dirty="0">
                <a:solidFill>
                  <a:schemeClr val="tx2">
                    <a:lumMod val="60000"/>
                    <a:lumOff val="40000"/>
                  </a:schemeClr>
                </a:solidFill>
                <a:latin typeface="Consolas"/>
                <a:cs typeface="Consolas"/>
              </a:rPr>
              <a:t>	</a:t>
            </a:r>
            <a:r>
              <a:rPr lang="mr-IN" altLang="zh-CN" dirty="0">
                <a:solidFill>
                  <a:schemeClr val="accent2">
                    <a:lumMod val="75000"/>
                  </a:schemeClr>
                </a:solidFill>
                <a:latin typeface="Consolas"/>
                <a:cs typeface="Consolas"/>
              </a:rPr>
              <a:t>movl    $6, %r9d</a:t>
            </a:r>
            <a:endParaRPr lang="en-US" altLang="zh-CN" dirty="0">
              <a:solidFill>
                <a:schemeClr val="accent2">
                  <a:lumMod val="75000"/>
                </a:schemeClr>
              </a:solidFill>
              <a:latin typeface="Consolas"/>
              <a:cs typeface="Consolas"/>
            </a:endParaRPr>
          </a:p>
          <a:p>
            <a:r>
              <a:rPr lang="en-US" altLang="zh-CN" dirty="0">
                <a:solidFill>
                  <a:schemeClr val="accent2">
                    <a:lumMod val="75000"/>
                  </a:schemeClr>
                </a:solidFill>
                <a:latin typeface="Consolas"/>
                <a:cs typeface="Consolas"/>
              </a:rPr>
              <a:t>	</a:t>
            </a:r>
            <a:r>
              <a:rPr lang="mr-IN" altLang="zh-CN" dirty="0">
                <a:solidFill>
                  <a:schemeClr val="accent2">
                    <a:lumMod val="75000"/>
                  </a:schemeClr>
                </a:solidFill>
                <a:latin typeface="Consolas"/>
                <a:cs typeface="Consolas"/>
              </a:rPr>
              <a:t>movl    $5, %r8d</a:t>
            </a:r>
          </a:p>
          <a:p>
            <a:r>
              <a:rPr lang="mr-IN" altLang="zh-CN" dirty="0">
                <a:solidFill>
                  <a:schemeClr val="accent2">
                    <a:lumMod val="75000"/>
                  </a:schemeClr>
                </a:solidFill>
                <a:latin typeface="Consolas"/>
                <a:cs typeface="Consolas"/>
              </a:rPr>
              <a:t>   </a:t>
            </a:r>
            <a:r>
              <a:rPr lang="en-US" altLang="zh-CN" dirty="0">
                <a:solidFill>
                  <a:schemeClr val="accent2">
                    <a:lumMod val="75000"/>
                  </a:schemeClr>
                </a:solidFill>
                <a:latin typeface="Consolas"/>
                <a:cs typeface="Consolas"/>
              </a:rPr>
              <a:t>	</a:t>
            </a:r>
            <a:r>
              <a:rPr lang="mr-IN" altLang="zh-CN" dirty="0">
                <a:solidFill>
                  <a:schemeClr val="accent2">
                    <a:lumMod val="75000"/>
                  </a:schemeClr>
                </a:solidFill>
                <a:latin typeface="Consolas"/>
                <a:cs typeface="Consolas"/>
              </a:rPr>
              <a:t>movl    $4, %ecx</a:t>
            </a:r>
          </a:p>
          <a:p>
            <a:r>
              <a:rPr lang="mr-IN" altLang="zh-CN" dirty="0">
                <a:solidFill>
                  <a:schemeClr val="accent2">
                    <a:lumMod val="75000"/>
                  </a:schemeClr>
                </a:solidFill>
                <a:latin typeface="Consolas"/>
                <a:cs typeface="Consolas"/>
              </a:rPr>
              <a:t>    movl    $3, %edx</a:t>
            </a:r>
          </a:p>
          <a:p>
            <a:r>
              <a:rPr lang="mr-IN" altLang="zh-CN" dirty="0">
                <a:solidFill>
                  <a:schemeClr val="accent2">
                    <a:lumMod val="75000"/>
                  </a:schemeClr>
                </a:solidFill>
                <a:latin typeface="Consolas"/>
                <a:cs typeface="Consolas"/>
              </a:rPr>
              <a:t>    movl    $2, %esi</a:t>
            </a:r>
          </a:p>
          <a:p>
            <a:r>
              <a:rPr lang="mr-IN" altLang="zh-CN" dirty="0">
                <a:solidFill>
                  <a:schemeClr val="accent2">
                    <a:lumMod val="75000"/>
                  </a:schemeClr>
                </a:solidFill>
                <a:latin typeface="Consolas"/>
                <a:cs typeface="Consolas"/>
              </a:rPr>
              <a:t>    movl    $1, %edi</a:t>
            </a:r>
          </a:p>
          <a:p>
            <a:r>
              <a:rPr lang="mr-IN" altLang="zh-CN" dirty="0">
                <a:solidFill>
                  <a:schemeClr val="accent2">
                    <a:lumMod val="75000"/>
                  </a:schemeClr>
                </a:solidFill>
                <a:latin typeface="Consolas"/>
                <a:cs typeface="Consolas"/>
              </a:rPr>
              <a:t>    </a:t>
            </a:r>
            <a:r>
              <a:rPr lang="mr-IN" altLang="zh-CN" dirty="0">
                <a:latin typeface="Consolas"/>
                <a:cs typeface="Consolas"/>
              </a:rPr>
              <a:t>call    add</a:t>
            </a:r>
          </a:p>
        </p:txBody>
      </p:sp>
      <p:sp>
        <p:nvSpPr>
          <p:cNvPr id="8" name="矩形 7"/>
          <p:cNvSpPr/>
          <p:nvPr/>
        </p:nvSpPr>
        <p:spPr>
          <a:xfrm>
            <a:off x="3540883" y="3241100"/>
            <a:ext cx="4572000" cy="2862323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altLang="zh-CN" dirty="0">
                <a:latin typeface="Consolas"/>
                <a:cs typeface="Consolas"/>
              </a:rPr>
              <a:t>add:</a:t>
            </a:r>
          </a:p>
          <a:p>
            <a:r>
              <a:rPr lang="en-US" altLang="zh-CN" dirty="0">
                <a:latin typeface="Consolas"/>
                <a:cs typeface="Consolas"/>
              </a:rPr>
              <a:t>	</a:t>
            </a:r>
            <a:r>
              <a:rPr lang="mr-IN" altLang="zh-CN" dirty="0">
                <a:solidFill>
                  <a:srgbClr val="953735"/>
                </a:solidFill>
                <a:latin typeface="Consolas"/>
                <a:cs typeface="Consolas"/>
              </a:rPr>
              <a:t>addl    %esi, %edi</a:t>
            </a:r>
          </a:p>
          <a:p>
            <a:r>
              <a:rPr lang="mr-IN" altLang="zh-CN" dirty="0">
                <a:solidFill>
                  <a:srgbClr val="953735"/>
                </a:solidFill>
                <a:latin typeface="Consolas"/>
                <a:cs typeface="Consolas"/>
              </a:rPr>
              <a:t>   </a:t>
            </a:r>
            <a:r>
              <a:rPr lang="en-US" altLang="zh-CN" dirty="0">
                <a:solidFill>
                  <a:srgbClr val="953735"/>
                </a:solidFill>
                <a:latin typeface="Consolas"/>
                <a:cs typeface="Consolas"/>
              </a:rPr>
              <a:t> </a:t>
            </a:r>
            <a:r>
              <a:rPr lang="mr-IN" altLang="zh-CN" dirty="0">
                <a:solidFill>
                  <a:srgbClr val="953735"/>
                </a:solidFill>
                <a:latin typeface="Consolas"/>
                <a:cs typeface="Consolas"/>
              </a:rPr>
              <a:t>addl    %edi, %edx</a:t>
            </a:r>
          </a:p>
          <a:p>
            <a:r>
              <a:rPr lang="en-US" altLang="zh-CN" dirty="0">
                <a:solidFill>
                  <a:schemeClr val="accent2">
                    <a:lumMod val="75000"/>
                  </a:schemeClr>
                </a:solidFill>
                <a:latin typeface="Consolas"/>
                <a:cs typeface="Consolas"/>
              </a:rPr>
              <a:t>  	</a:t>
            </a:r>
            <a:r>
              <a:rPr lang="mr-IN" altLang="zh-CN" dirty="0">
                <a:solidFill>
                  <a:schemeClr val="accent2">
                    <a:lumMod val="75000"/>
                  </a:schemeClr>
                </a:solidFill>
                <a:latin typeface="Consolas"/>
                <a:cs typeface="Consolas"/>
              </a:rPr>
              <a:t>addl    %edx, %ecx</a:t>
            </a:r>
          </a:p>
          <a:p>
            <a:r>
              <a:rPr lang="mr-IN" altLang="zh-CN" dirty="0">
                <a:solidFill>
                  <a:schemeClr val="accent2">
                    <a:lumMod val="75000"/>
                  </a:schemeClr>
                </a:solidFill>
                <a:latin typeface="Consolas"/>
                <a:cs typeface="Consolas"/>
              </a:rPr>
              <a:t>    addl    %r8d, %ecx</a:t>
            </a:r>
          </a:p>
          <a:p>
            <a:r>
              <a:rPr lang="en-US" altLang="zh-CN" dirty="0">
                <a:solidFill>
                  <a:schemeClr val="accent2">
                    <a:lumMod val="75000"/>
                  </a:schemeClr>
                </a:solidFill>
                <a:latin typeface="Consolas"/>
                <a:cs typeface="Consolas"/>
              </a:rPr>
              <a:t>    </a:t>
            </a:r>
            <a:r>
              <a:rPr lang="mr-IN" altLang="zh-CN" dirty="0">
                <a:solidFill>
                  <a:schemeClr val="accent2">
                    <a:lumMod val="75000"/>
                  </a:schemeClr>
                </a:solidFill>
                <a:latin typeface="Consolas"/>
                <a:cs typeface="Consolas"/>
              </a:rPr>
              <a:t>addl    %r9d, %ecx</a:t>
            </a:r>
          </a:p>
          <a:p>
            <a:r>
              <a:rPr lang="mr-IN" altLang="zh-CN" dirty="0">
                <a:latin typeface="Consolas"/>
                <a:cs typeface="Consolas"/>
              </a:rPr>
              <a:t>    movl    %ecx, %eax</a:t>
            </a:r>
          </a:p>
          <a:p>
            <a:r>
              <a:rPr lang="mr-IN" altLang="zh-CN" dirty="0">
                <a:latin typeface="Consolas"/>
                <a:cs typeface="Consolas"/>
              </a:rPr>
              <a:t>    </a:t>
            </a:r>
            <a:r>
              <a:rPr lang="mr-IN" altLang="zh-CN" dirty="0">
                <a:solidFill>
                  <a:srgbClr val="558ED5"/>
                </a:solidFill>
                <a:latin typeface="Consolas"/>
                <a:cs typeface="Consolas"/>
              </a:rPr>
              <a:t>addl    8(%rsp), %eax</a:t>
            </a:r>
            <a:r>
              <a:rPr lang="en-US" altLang="zh-CN" dirty="0">
                <a:solidFill>
                  <a:srgbClr val="558ED5"/>
                </a:solidFill>
                <a:latin typeface="Consolas"/>
                <a:cs typeface="Consolas"/>
              </a:rPr>
              <a:t>  </a:t>
            </a:r>
            <a:endParaRPr lang="mr-IN" altLang="zh-CN" dirty="0">
              <a:solidFill>
                <a:srgbClr val="558ED5"/>
              </a:solidFill>
              <a:latin typeface="Consolas"/>
              <a:cs typeface="Consolas"/>
            </a:endParaRPr>
          </a:p>
          <a:p>
            <a:r>
              <a:rPr lang="mr-IN" altLang="zh-CN" dirty="0">
                <a:solidFill>
                  <a:srgbClr val="558ED5"/>
                </a:solidFill>
                <a:latin typeface="Consolas"/>
                <a:cs typeface="Consolas"/>
              </a:rPr>
              <a:t>    </a:t>
            </a:r>
            <a:r>
              <a:rPr lang="mr-IN" altLang="zh-CN" dirty="0" err="1">
                <a:solidFill>
                  <a:srgbClr val="558ED5"/>
                </a:solidFill>
                <a:latin typeface="Consolas"/>
                <a:cs typeface="Consolas"/>
              </a:rPr>
              <a:t>addl</a:t>
            </a:r>
            <a:r>
              <a:rPr lang="mr-IN" altLang="zh-CN" dirty="0">
                <a:solidFill>
                  <a:srgbClr val="558ED5"/>
                </a:solidFill>
                <a:latin typeface="Consolas"/>
                <a:cs typeface="Consolas"/>
              </a:rPr>
              <a:t>    1</a:t>
            </a:r>
            <a:r>
              <a:rPr lang="en-US" altLang="zh-CN" dirty="0">
                <a:solidFill>
                  <a:srgbClr val="558ED5"/>
                </a:solidFill>
                <a:latin typeface="Consolas"/>
                <a:cs typeface="Consolas"/>
              </a:rPr>
              <a:t>2</a:t>
            </a:r>
            <a:r>
              <a:rPr lang="mr-IN" altLang="zh-CN" dirty="0">
                <a:solidFill>
                  <a:srgbClr val="558ED5"/>
                </a:solidFill>
                <a:latin typeface="Consolas"/>
                <a:cs typeface="Consolas"/>
              </a:rPr>
              <a:t>(%rsp), %eax</a:t>
            </a:r>
          </a:p>
          <a:p>
            <a:r>
              <a:rPr lang="mr-IN" altLang="zh-CN" dirty="0">
                <a:solidFill>
                  <a:srgbClr val="558ED5"/>
                </a:solidFill>
                <a:latin typeface="Consolas"/>
                <a:cs typeface="Consolas"/>
              </a:rPr>
              <a:t>    </a:t>
            </a:r>
            <a:r>
              <a:rPr lang="mr-IN" altLang="zh-CN" dirty="0">
                <a:latin typeface="Consolas"/>
                <a:cs typeface="Consolas"/>
              </a:rPr>
              <a:t>ret</a:t>
            </a:r>
          </a:p>
        </p:txBody>
      </p:sp>
      <p:cxnSp>
        <p:nvCxnSpPr>
          <p:cNvPr id="5" name="Straight Arrow Connector 4"/>
          <p:cNvCxnSpPr/>
          <p:nvPr/>
        </p:nvCxnSpPr>
        <p:spPr>
          <a:xfrm flipH="1">
            <a:off x="6089987" y="4863009"/>
            <a:ext cx="678269" cy="47620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768256" y="4493677"/>
            <a:ext cx="16866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8(%</a:t>
            </a:r>
            <a:r>
              <a:rPr lang="en-US" dirty="0" err="1"/>
              <a:t>rsp</a:t>
            </a:r>
            <a:r>
              <a:rPr lang="en-US" dirty="0"/>
              <a:t>) stores g</a:t>
            </a:r>
          </a:p>
        </p:txBody>
      </p:sp>
      <p:grpSp>
        <p:nvGrpSpPr>
          <p:cNvPr id="3" name="Group 2"/>
          <p:cNvGrpSpPr/>
          <p:nvPr/>
        </p:nvGrpSpPr>
        <p:grpSpPr>
          <a:xfrm>
            <a:off x="6089987" y="5844269"/>
            <a:ext cx="2489183" cy="443820"/>
            <a:chOff x="6089987" y="5844269"/>
            <a:chExt cx="2489183" cy="443820"/>
          </a:xfrm>
        </p:grpSpPr>
        <p:cxnSp>
          <p:nvCxnSpPr>
            <p:cNvPr id="9" name="Straight Arrow Connector 8"/>
            <p:cNvCxnSpPr/>
            <p:nvPr/>
          </p:nvCxnSpPr>
          <p:spPr>
            <a:xfrm flipH="1" flipV="1">
              <a:off x="6089987" y="5844269"/>
              <a:ext cx="678270" cy="259154"/>
            </a:xfrm>
            <a:prstGeom prst="straightConnector1">
              <a:avLst/>
            </a:prstGeom>
            <a:ln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TextBox 9"/>
            <p:cNvSpPr txBox="1"/>
            <p:nvPr/>
          </p:nvSpPr>
          <p:spPr>
            <a:xfrm>
              <a:off x="6772842" y="5918757"/>
              <a:ext cx="180632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12(%</a:t>
              </a:r>
              <a:r>
                <a:rPr lang="en-US" dirty="0" err="1"/>
                <a:t>rsp</a:t>
              </a:r>
              <a:r>
                <a:rPr lang="en-US" dirty="0"/>
                <a:t>) stores h</a:t>
              </a:r>
            </a:p>
          </p:txBody>
        </p:sp>
      </p:grpSp>
      <p:sp>
        <p:nvSpPr>
          <p:cNvPr id="12" name="TextBox 11"/>
          <p:cNvSpPr txBox="1"/>
          <p:nvPr/>
        </p:nvSpPr>
        <p:spPr>
          <a:xfrm>
            <a:off x="6234611" y="6167592"/>
            <a:ext cx="24521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what does (%</a:t>
            </a:r>
            <a:r>
              <a:rPr lang="en-US" dirty="0" err="1"/>
              <a:t>rsp</a:t>
            </a:r>
            <a:r>
              <a:rPr lang="en-US" dirty="0"/>
              <a:t>) store?</a:t>
            </a:r>
          </a:p>
        </p:txBody>
      </p:sp>
    </p:spTree>
    <p:extLst>
      <p:ext uri="{BB962C8B-B14F-4D97-AF65-F5344CB8AC3E}">
        <p14:creationId xmlns:p14="http://schemas.microsoft.com/office/powerpoint/2010/main" val="1210196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12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1" name="Rectangle 3"/>
          <p:cNvSpPr>
            <a:spLocks noGrp="1" noChangeArrowheads="1"/>
          </p:cNvSpPr>
          <p:nvPr>
            <p:ph type="title"/>
          </p:nvPr>
        </p:nvSpPr>
        <p:spPr>
          <a:xfrm>
            <a:off x="0" y="274638"/>
            <a:ext cx="9144000" cy="1143000"/>
          </a:xfrm>
          <a:ln/>
        </p:spPr>
        <p:txBody>
          <a:bodyPr>
            <a:normAutofit fontScale="90000"/>
          </a:bodyPr>
          <a:lstStyle/>
          <a:p>
            <a:pPr marL="119063" indent="-119063"/>
            <a:r>
              <a:rPr lang="en-US" dirty="0"/>
              <a:t>How do C compilers allocate/deallocate local vars?</a:t>
            </a:r>
          </a:p>
        </p:txBody>
      </p:sp>
      <p:sp>
        <p:nvSpPr>
          <p:cNvPr id="12292" name="Rectangle 4"/>
          <p:cNvSpPr>
            <a:spLocks noGrp="1" noChangeArrowheads="1"/>
          </p:cNvSpPr>
          <p:nvPr>
            <p:ph type="body" idx="1"/>
          </p:nvPr>
        </p:nvSpPr>
        <p:spPr>
          <a:xfrm>
            <a:off x="122830" y="1600201"/>
            <a:ext cx="8716370" cy="1217594"/>
          </a:xfrm>
          <a:ln/>
        </p:spPr>
        <p:txBody>
          <a:bodyPr/>
          <a:lstStyle/>
          <a:p>
            <a:r>
              <a:rPr lang="en-US" dirty="0">
                <a:solidFill>
                  <a:srgbClr val="000000"/>
                </a:solidFill>
              </a:rPr>
              <a:t>For primitive data types, use registers whenever possible</a:t>
            </a:r>
          </a:p>
          <a:p>
            <a:r>
              <a:rPr lang="en-US" dirty="0">
                <a:solidFill>
                  <a:srgbClr val="000000"/>
                </a:solidFill>
              </a:rPr>
              <a:t>Allocate local array/</a:t>
            </a:r>
            <a:r>
              <a:rPr lang="en-US" dirty="0" err="1">
                <a:solidFill>
                  <a:srgbClr val="000000"/>
                </a:solidFill>
              </a:rPr>
              <a:t>struct</a:t>
            </a:r>
            <a:r>
              <a:rPr lang="en-US" dirty="0">
                <a:solidFill>
                  <a:srgbClr val="000000"/>
                </a:solidFill>
              </a:rPr>
              <a:t> variables on the stack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1000" y="3701076"/>
            <a:ext cx="2553103" cy="1631216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2000" dirty="0" err="1"/>
              <a:t>int</a:t>
            </a:r>
            <a:r>
              <a:rPr lang="en-US" sz="2000" dirty="0"/>
              <a:t> main() {       </a:t>
            </a:r>
          </a:p>
          <a:p>
            <a:r>
              <a:rPr lang="hu-HU" sz="2000" dirty="0"/>
              <a:t>        int a[10]; </a:t>
            </a:r>
          </a:p>
          <a:p>
            <a:r>
              <a:rPr lang="en-US" sz="2000" dirty="0"/>
              <a:t>        </a:t>
            </a:r>
            <a:r>
              <a:rPr lang="en-US" sz="2000" dirty="0" err="1"/>
              <a:t>clear_array</a:t>
            </a:r>
            <a:r>
              <a:rPr lang="en-US" sz="2000" dirty="0"/>
              <a:t>(a, 10);</a:t>
            </a:r>
          </a:p>
          <a:p>
            <a:r>
              <a:rPr lang="is-IS" sz="2000" dirty="0"/>
              <a:t>        return 0;</a:t>
            </a:r>
          </a:p>
          <a:p>
            <a:r>
              <a:rPr lang="is-IS" sz="2000" dirty="0"/>
              <a:t>} </a:t>
            </a:r>
            <a:endParaRPr lang="en-US" sz="2000" dirty="0"/>
          </a:p>
        </p:txBody>
      </p:sp>
      <p:grpSp>
        <p:nvGrpSpPr>
          <p:cNvPr id="5" name="Group 4"/>
          <p:cNvGrpSpPr/>
          <p:nvPr/>
        </p:nvGrpSpPr>
        <p:grpSpPr>
          <a:xfrm>
            <a:off x="3131587" y="3463272"/>
            <a:ext cx="4724707" cy="2554545"/>
            <a:chOff x="3477931" y="3463272"/>
            <a:chExt cx="4724707" cy="2554545"/>
          </a:xfrm>
        </p:grpSpPr>
        <p:sp>
          <p:nvSpPr>
            <p:cNvPr id="2" name="TextBox 1"/>
            <p:cNvSpPr txBox="1"/>
            <p:nvPr/>
          </p:nvSpPr>
          <p:spPr>
            <a:xfrm>
              <a:off x="4632430" y="3463272"/>
              <a:ext cx="3570208" cy="2554545"/>
            </a:xfrm>
            <a:prstGeom prst="rect">
              <a:avLst/>
            </a:prstGeom>
            <a:solidFill>
              <a:schemeClr val="bg2"/>
            </a:solidFill>
          </p:spPr>
          <p:txBody>
            <a:bodyPr wrap="none" rtlCol="0">
              <a:spAutoFit/>
            </a:bodyPr>
            <a:lstStyle/>
            <a:p>
              <a:r>
                <a:rPr lang="en-US" sz="2000" dirty="0">
                  <a:latin typeface="Consolas"/>
                  <a:cs typeface="Consolas"/>
                </a:rPr>
                <a:t>main: </a:t>
              </a:r>
            </a:p>
            <a:p>
              <a:r>
                <a:rPr lang="en-US" sz="2000" dirty="0">
                  <a:latin typeface="Consolas"/>
                  <a:cs typeface="Consolas"/>
                </a:rPr>
                <a:t>     </a:t>
              </a:r>
              <a:r>
                <a:rPr lang="en-US" sz="2000" dirty="0" err="1">
                  <a:latin typeface="Consolas"/>
                  <a:cs typeface="Consolas"/>
                </a:rPr>
                <a:t>subq</a:t>
              </a:r>
              <a:r>
                <a:rPr lang="en-US" sz="2000" dirty="0">
                  <a:latin typeface="Consolas"/>
                  <a:cs typeface="Consolas"/>
                </a:rPr>
                <a:t>    $48, %</a:t>
              </a:r>
              <a:r>
                <a:rPr lang="en-US" sz="2000" dirty="0" err="1">
                  <a:latin typeface="Consolas"/>
                  <a:cs typeface="Consolas"/>
                </a:rPr>
                <a:t>rsp</a:t>
              </a:r>
              <a:endParaRPr lang="en-US" sz="2000" dirty="0">
                <a:latin typeface="Consolas"/>
                <a:cs typeface="Consolas"/>
              </a:endParaRPr>
            </a:p>
            <a:p>
              <a:r>
                <a:rPr lang="cs-CZ" sz="2000" dirty="0">
                  <a:latin typeface="Consolas"/>
                  <a:cs typeface="Consolas"/>
                </a:rPr>
                <a:t>     </a:t>
              </a:r>
              <a:r>
                <a:rPr lang="cs-CZ" sz="2000" dirty="0" err="1">
                  <a:latin typeface="Consolas"/>
                  <a:cs typeface="Consolas"/>
                </a:rPr>
                <a:t>movl</a:t>
              </a:r>
              <a:r>
                <a:rPr lang="cs-CZ" sz="2000" dirty="0">
                  <a:latin typeface="Consolas"/>
                  <a:cs typeface="Consolas"/>
                </a:rPr>
                <a:t>    $10, %</a:t>
              </a:r>
              <a:r>
                <a:rPr lang="cs-CZ" sz="2000" dirty="0" err="1">
                  <a:latin typeface="Consolas"/>
                  <a:cs typeface="Consolas"/>
                </a:rPr>
                <a:t>esi</a:t>
              </a:r>
              <a:endParaRPr lang="cs-CZ" sz="2000" dirty="0">
                <a:latin typeface="Consolas"/>
                <a:cs typeface="Consolas"/>
              </a:endParaRPr>
            </a:p>
            <a:p>
              <a:r>
                <a:rPr lang="en-US" sz="2000" dirty="0">
                  <a:latin typeface="Consolas"/>
                  <a:cs typeface="Consolas"/>
                </a:rPr>
                <a:t>     </a:t>
              </a:r>
              <a:r>
                <a:rPr lang="en-US" sz="2000" dirty="0" err="1">
                  <a:latin typeface="Consolas"/>
                  <a:cs typeface="Consolas"/>
                </a:rPr>
                <a:t>movq</a:t>
              </a:r>
              <a:r>
                <a:rPr lang="en-US" sz="2000" dirty="0">
                  <a:latin typeface="Consolas"/>
                  <a:cs typeface="Consolas"/>
                </a:rPr>
                <a:t>    %</a:t>
              </a:r>
              <a:r>
                <a:rPr lang="en-US" sz="2000" dirty="0" err="1">
                  <a:latin typeface="Consolas"/>
                  <a:cs typeface="Consolas"/>
                </a:rPr>
                <a:t>rsp</a:t>
              </a:r>
              <a:r>
                <a:rPr lang="en-US" sz="2000" dirty="0">
                  <a:latin typeface="Consolas"/>
                  <a:cs typeface="Consolas"/>
                </a:rPr>
                <a:t>, %</a:t>
              </a:r>
              <a:r>
                <a:rPr lang="en-US" sz="2000" dirty="0" err="1">
                  <a:latin typeface="Consolas"/>
                  <a:cs typeface="Consolas"/>
                </a:rPr>
                <a:t>rdi</a:t>
              </a:r>
              <a:endParaRPr lang="en-US" sz="2000" dirty="0">
                <a:latin typeface="Consolas"/>
                <a:cs typeface="Consolas"/>
              </a:endParaRPr>
            </a:p>
            <a:p>
              <a:r>
                <a:rPr lang="en-US" sz="2000" dirty="0">
                  <a:latin typeface="Consolas"/>
                  <a:cs typeface="Consolas"/>
                </a:rPr>
                <a:t>     call    </a:t>
              </a:r>
              <a:r>
                <a:rPr lang="en-US" sz="2000" dirty="0" err="1">
                  <a:latin typeface="Consolas"/>
                  <a:cs typeface="Consolas"/>
                </a:rPr>
                <a:t>clear_array</a:t>
              </a:r>
              <a:endParaRPr lang="en-US" sz="2000" dirty="0">
                <a:latin typeface="Consolas"/>
                <a:cs typeface="Consolas"/>
              </a:endParaRPr>
            </a:p>
            <a:p>
              <a:r>
                <a:rPr lang="cs-CZ" sz="2000" dirty="0">
                  <a:latin typeface="Consolas"/>
                  <a:cs typeface="Consolas"/>
                </a:rPr>
                <a:t>     </a:t>
              </a:r>
              <a:r>
                <a:rPr lang="cs-CZ" sz="2000" dirty="0" err="1">
                  <a:latin typeface="Consolas"/>
                  <a:cs typeface="Consolas"/>
                </a:rPr>
                <a:t>movl</a:t>
              </a:r>
              <a:r>
                <a:rPr lang="cs-CZ" sz="2000" dirty="0">
                  <a:latin typeface="Consolas"/>
                  <a:cs typeface="Consolas"/>
                </a:rPr>
                <a:t>    $0, %</a:t>
              </a:r>
              <a:r>
                <a:rPr lang="cs-CZ" sz="2000" dirty="0" err="1">
                  <a:latin typeface="Consolas"/>
                  <a:cs typeface="Consolas"/>
                </a:rPr>
                <a:t>eax</a:t>
              </a:r>
              <a:endParaRPr lang="cs-CZ" sz="2000" dirty="0">
                <a:latin typeface="Consolas"/>
                <a:cs typeface="Consolas"/>
              </a:endParaRPr>
            </a:p>
            <a:p>
              <a:r>
                <a:rPr lang="en-US" sz="2000" dirty="0">
                  <a:latin typeface="Consolas"/>
                  <a:cs typeface="Consolas"/>
                </a:rPr>
                <a:t>     </a:t>
              </a:r>
              <a:r>
                <a:rPr lang="en-US" sz="2000" dirty="0" err="1">
                  <a:latin typeface="Consolas"/>
                  <a:cs typeface="Consolas"/>
                </a:rPr>
                <a:t>addq</a:t>
              </a:r>
              <a:r>
                <a:rPr lang="en-US" sz="2000" dirty="0">
                  <a:latin typeface="Consolas"/>
                  <a:cs typeface="Consolas"/>
                </a:rPr>
                <a:t>    $48, %</a:t>
              </a:r>
              <a:r>
                <a:rPr lang="en-US" sz="2000" dirty="0" err="1">
                  <a:latin typeface="Consolas"/>
                  <a:cs typeface="Consolas"/>
                </a:rPr>
                <a:t>rsp</a:t>
              </a:r>
              <a:endParaRPr lang="en-US" sz="2000" dirty="0">
                <a:latin typeface="Consolas"/>
                <a:cs typeface="Consolas"/>
              </a:endParaRPr>
            </a:p>
            <a:p>
              <a:r>
                <a:rPr lang="en-US" sz="2000" dirty="0">
                  <a:latin typeface="Consolas"/>
                  <a:cs typeface="Consolas"/>
                </a:rPr>
                <a:t>     ret</a:t>
              </a:r>
            </a:p>
          </p:txBody>
        </p:sp>
        <p:sp>
          <p:nvSpPr>
            <p:cNvPr id="4" name="Right Arrow 3"/>
            <p:cNvSpPr/>
            <p:nvPr/>
          </p:nvSpPr>
          <p:spPr>
            <a:xfrm>
              <a:off x="3477931" y="4516684"/>
              <a:ext cx="938031" cy="562782"/>
            </a:xfrm>
            <a:prstGeom prst="rightArrow">
              <a:avLst/>
            </a:prstGeom>
            <a:solidFill>
              <a:srgbClr val="00B0F0"/>
            </a:solidFill>
            <a:ln w="285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8" name="Group 7"/>
          <p:cNvGrpSpPr/>
          <p:nvPr/>
        </p:nvGrpSpPr>
        <p:grpSpPr>
          <a:xfrm>
            <a:off x="4964356" y="3524026"/>
            <a:ext cx="4003649" cy="646331"/>
            <a:chOff x="4964356" y="3524026"/>
            <a:chExt cx="4003649" cy="646331"/>
          </a:xfrm>
        </p:grpSpPr>
        <p:sp>
          <p:nvSpPr>
            <p:cNvPr id="6" name="Oval 5"/>
            <p:cNvSpPr/>
            <p:nvPr/>
          </p:nvSpPr>
          <p:spPr>
            <a:xfrm>
              <a:off x="4964356" y="3766307"/>
              <a:ext cx="2891938" cy="404050"/>
            </a:xfrm>
            <a:prstGeom prst="ellipse">
              <a:avLst/>
            </a:prstGeom>
            <a:noFill/>
            <a:ln w="28575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7865307" y="3524026"/>
              <a:ext cx="1102698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1"/>
                  </a:solidFill>
                </a:rPr>
                <a:t>array </a:t>
              </a:r>
            </a:p>
            <a:p>
              <a:r>
                <a:rPr lang="en-US" dirty="0">
                  <a:solidFill>
                    <a:schemeClr val="accent1"/>
                  </a:solidFill>
                </a:rPr>
                <a:t>allocation</a:t>
              </a:r>
            </a:p>
          </p:txBody>
        </p:sp>
      </p:grpSp>
      <p:grpSp>
        <p:nvGrpSpPr>
          <p:cNvPr id="11" name="Group 10"/>
          <p:cNvGrpSpPr/>
          <p:nvPr/>
        </p:nvGrpSpPr>
        <p:grpSpPr>
          <a:xfrm>
            <a:off x="4895433" y="5053638"/>
            <a:ext cx="4310449" cy="646331"/>
            <a:chOff x="4964356" y="3524026"/>
            <a:chExt cx="4310449" cy="646331"/>
          </a:xfrm>
        </p:grpSpPr>
        <p:sp>
          <p:nvSpPr>
            <p:cNvPr id="12" name="Oval 11"/>
            <p:cNvSpPr/>
            <p:nvPr/>
          </p:nvSpPr>
          <p:spPr>
            <a:xfrm>
              <a:off x="4964356" y="3766307"/>
              <a:ext cx="2891938" cy="404050"/>
            </a:xfrm>
            <a:prstGeom prst="ellipse">
              <a:avLst/>
            </a:prstGeom>
            <a:noFill/>
            <a:ln w="28575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7865307" y="3524026"/>
              <a:ext cx="1409498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1"/>
                  </a:solidFill>
                </a:rPr>
                <a:t>array </a:t>
              </a:r>
            </a:p>
            <a:p>
              <a:r>
                <a:rPr lang="en-US" dirty="0">
                  <a:solidFill>
                    <a:schemeClr val="accent1"/>
                  </a:solidFill>
                </a:rPr>
                <a:t>de-allocation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4323725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754" name="Rectangle 2"/>
          <p:cNvSpPr>
            <a:spLocks/>
          </p:cNvSpPr>
          <p:nvPr/>
        </p:nvSpPr>
        <p:spPr bwMode="auto">
          <a:xfrm>
            <a:off x="8062913" y="22225"/>
            <a:ext cx="1320800" cy="177800"/>
          </a:xfrm>
          <a:prstGeom prst="rect">
            <a:avLst/>
          </a:prstGeom>
          <a:noFill/>
          <a:ln w="25400" cap="flat">
            <a:noFill/>
            <a:miter lim="800000"/>
            <a:headEnd type="none" w="med" len="med"/>
            <a:tailEnd type="none" w="med" len="med"/>
          </a:ln>
        </p:spPr>
        <p:txBody>
          <a:bodyPr lIns="0" tIns="0" rIns="0" bIns="0"/>
          <a:lstStyle/>
          <a:p>
            <a:pPr algn="l"/>
            <a:r>
              <a:rPr lang="en-US" sz="1200">
                <a:solidFill>
                  <a:srgbClr val="FFFFFF"/>
                </a:solidFill>
                <a:ea typeface="Gill Sans" charset="0"/>
                <a:cs typeface="Gill Sans" charset="0"/>
              </a:rPr>
              <a:t>Carnegie Mellon</a:t>
            </a:r>
          </a:p>
        </p:txBody>
      </p:sp>
      <p:sp>
        <p:nvSpPr>
          <p:cNvPr id="74755" name="Rectangle 3"/>
          <p:cNvSpPr>
            <a:spLocks noGrp="1" noChangeArrowheads="1"/>
          </p:cNvSpPr>
          <p:nvPr>
            <p:ph type="title"/>
          </p:nvPr>
        </p:nvSpPr>
        <p:spPr>
          <a:ln/>
        </p:spPr>
        <p:txBody>
          <a:bodyPr>
            <a:normAutofit fontScale="90000"/>
          </a:bodyPr>
          <a:lstStyle/>
          <a:p>
            <a:pPr marL="119063" indent="-119063"/>
            <a:r>
              <a:rPr lang="en-US" dirty="0"/>
              <a:t>Calling convention: </a:t>
            </a:r>
            <a:br>
              <a:rPr lang="en-US" dirty="0"/>
            </a:br>
            <a:r>
              <a:rPr lang="en-US" dirty="0"/>
              <a:t>Caller vs. </a:t>
            </a:r>
            <a:r>
              <a:rPr lang="en-US" dirty="0" err="1"/>
              <a:t>callee</a:t>
            </a:r>
            <a:r>
              <a:rPr lang="en-US" dirty="0"/>
              <a:t>-save registers</a:t>
            </a:r>
          </a:p>
        </p:txBody>
      </p:sp>
      <p:sp>
        <p:nvSpPr>
          <p:cNvPr id="74756" name="Rectangle 4"/>
          <p:cNvSpPr>
            <a:spLocks noGrp="1" noChangeArrowheads="1"/>
          </p:cNvSpPr>
          <p:nvPr>
            <p:ph type="body" idx="1"/>
          </p:nvPr>
        </p:nvSpPr>
        <p:spPr>
          <a:xfrm>
            <a:off x="381000" y="1774926"/>
            <a:ext cx="8610600" cy="1255437"/>
          </a:xfrm>
          <a:ln/>
        </p:spPr>
        <p:txBody>
          <a:bodyPr/>
          <a:lstStyle/>
          <a:p>
            <a:pPr>
              <a:spcBef>
                <a:spcPts val="1200"/>
              </a:spcBef>
            </a:pPr>
            <a:r>
              <a:rPr lang="en-US" dirty="0"/>
              <a:t>What can the caller assume about the content of a register across function calls?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5" name="矩形 6"/>
          <p:cNvSpPr/>
          <p:nvPr/>
        </p:nvSpPr>
        <p:spPr>
          <a:xfrm>
            <a:off x="346257" y="3162657"/>
            <a:ext cx="8500097" cy="258532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dirty="0" err="1">
                <a:latin typeface="Consolas"/>
                <a:cs typeface="Consolas"/>
              </a:rPr>
              <a:t>int</a:t>
            </a:r>
            <a:r>
              <a:rPr lang="en-US" altLang="zh-CN" dirty="0">
                <a:latin typeface="Consolas"/>
                <a:cs typeface="Consolas"/>
              </a:rPr>
              <a:t> foo() {</a:t>
            </a:r>
          </a:p>
          <a:p>
            <a:r>
              <a:rPr lang="en-US" altLang="zh-CN" dirty="0">
                <a:latin typeface="Consolas"/>
                <a:cs typeface="Consolas"/>
              </a:rPr>
              <a:t>   </a:t>
            </a:r>
            <a:r>
              <a:rPr lang="en-US" altLang="zh-CN" dirty="0" err="1">
                <a:latin typeface="Consolas"/>
                <a:cs typeface="Consolas"/>
              </a:rPr>
              <a:t>int</a:t>
            </a:r>
            <a:r>
              <a:rPr lang="en-US" altLang="zh-CN" dirty="0">
                <a:latin typeface="Consolas"/>
                <a:cs typeface="Consolas"/>
              </a:rPr>
              <a:t> a;    // suppose a is stored in %r12</a:t>
            </a:r>
          </a:p>
          <a:p>
            <a:r>
              <a:rPr lang="en-US" altLang="zh-CN" dirty="0">
                <a:latin typeface="Consolas"/>
                <a:cs typeface="Consolas"/>
              </a:rPr>
              <a:t>   a = .... // compute result of a</a:t>
            </a:r>
          </a:p>
          <a:p>
            <a:r>
              <a:rPr lang="en-US" altLang="zh-CN" dirty="0">
                <a:latin typeface="Consolas"/>
                <a:cs typeface="Consolas"/>
              </a:rPr>
              <a:t>   </a:t>
            </a:r>
          </a:p>
          <a:p>
            <a:r>
              <a:rPr lang="en-US" altLang="zh-CN" dirty="0">
                <a:latin typeface="Consolas"/>
                <a:cs typeface="Consolas"/>
              </a:rPr>
              <a:t>   </a:t>
            </a:r>
            <a:r>
              <a:rPr lang="en-US" altLang="zh-CN" dirty="0" err="1">
                <a:latin typeface="Consolas"/>
                <a:cs typeface="Consolas"/>
              </a:rPr>
              <a:t>int</a:t>
            </a:r>
            <a:r>
              <a:rPr lang="en-US" altLang="zh-CN" dirty="0">
                <a:latin typeface="Consolas"/>
                <a:cs typeface="Consolas"/>
              </a:rPr>
              <a:t> r = bar(); </a:t>
            </a:r>
          </a:p>
          <a:p>
            <a:endParaRPr lang="en-US" altLang="zh-CN" dirty="0">
              <a:latin typeface="Consolas"/>
              <a:cs typeface="Consolas"/>
            </a:endParaRPr>
          </a:p>
          <a:p>
            <a:r>
              <a:rPr lang="en-US" altLang="zh-CN" dirty="0">
                <a:latin typeface="Consolas"/>
                <a:cs typeface="Consolas"/>
              </a:rPr>
              <a:t>   </a:t>
            </a:r>
            <a:r>
              <a:rPr lang="en-US" altLang="zh-CN" dirty="0" err="1">
                <a:latin typeface="Consolas"/>
                <a:cs typeface="Consolas"/>
              </a:rPr>
              <a:t>int</a:t>
            </a:r>
            <a:r>
              <a:rPr lang="en-US" altLang="zh-CN" dirty="0">
                <a:latin typeface="Consolas"/>
                <a:cs typeface="Consolas"/>
              </a:rPr>
              <a:t> result = r + a; // </a:t>
            </a:r>
            <a:r>
              <a:rPr lang="en-US" altLang="zh-CN" dirty="0">
                <a:solidFill>
                  <a:srgbClr val="FF0000"/>
                </a:solidFill>
                <a:latin typeface="Consolas"/>
                <a:cs typeface="Consolas"/>
              </a:rPr>
              <a:t>does %r12 still store the value of a?</a:t>
            </a:r>
          </a:p>
          <a:p>
            <a:r>
              <a:rPr lang="en-US" altLang="zh-CN" dirty="0">
                <a:latin typeface="Consolas"/>
                <a:cs typeface="Consolas"/>
              </a:rPr>
              <a:t>   return result;</a:t>
            </a:r>
          </a:p>
          <a:p>
            <a:r>
              <a:rPr lang="en-US" altLang="zh-CN" dirty="0">
                <a:latin typeface="Consolas"/>
                <a:cs typeface="Consolas"/>
              </a:rPr>
              <a:t>}</a:t>
            </a:r>
            <a:endParaRPr lang="mr-IN" altLang="zh-CN" dirty="0">
              <a:latin typeface="Consolas"/>
              <a:cs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11741617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778" name="Rectangle 2"/>
          <p:cNvSpPr>
            <a:spLocks/>
          </p:cNvSpPr>
          <p:nvPr/>
        </p:nvSpPr>
        <p:spPr bwMode="auto">
          <a:xfrm>
            <a:off x="8062913" y="22225"/>
            <a:ext cx="1320800" cy="177800"/>
          </a:xfrm>
          <a:prstGeom prst="rect">
            <a:avLst/>
          </a:prstGeom>
          <a:noFill/>
          <a:ln w="25400" cap="flat">
            <a:noFill/>
            <a:miter lim="800000"/>
            <a:headEnd type="none" w="med" len="med"/>
            <a:tailEnd type="none" w="med" len="med"/>
          </a:ln>
        </p:spPr>
        <p:txBody>
          <a:bodyPr lIns="0" tIns="0" rIns="0" bIns="0"/>
          <a:lstStyle/>
          <a:p>
            <a:pPr algn="l"/>
            <a:r>
              <a:rPr lang="en-US" sz="1200">
                <a:solidFill>
                  <a:srgbClr val="FFFFFF"/>
                </a:solidFill>
                <a:ea typeface="Gill Sans" charset="0"/>
                <a:cs typeface="Gill Sans" charset="0"/>
              </a:rPr>
              <a:t>Carnegie Mellon</a:t>
            </a:r>
          </a:p>
        </p:txBody>
      </p:sp>
      <p:sp>
        <p:nvSpPr>
          <p:cNvPr id="75779" name="Rectangle 3"/>
          <p:cNvSpPr>
            <a:spLocks noGrp="1" noChangeArrowheads="1"/>
          </p:cNvSpPr>
          <p:nvPr>
            <p:ph type="title"/>
          </p:nvPr>
        </p:nvSpPr>
        <p:spPr>
          <a:ln/>
        </p:spPr>
        <p:txBody>
          <a:bodyPr>
            <a:normAutofit/>
          </a:bodyPr>
          <a:lstStyle/>
          <a:p>
            <a:pPr marL="119063" indent="-119063"/>
            <a:r>
              <a:rPr lang="en-US" dirty="0"/>
              <a:t>Calling convention: register saving</a:t>
            </a:r>
          </a:p>
        </p:txBody>
      </p:sp>
      <p:sp>
        <p:nvSpPr>
          <p:cNvPr id="75780" name="Rectangle 4"/>
          <p:cNvSpPr>
            <a:spLocks noGrp="1" noChangeArrowheads="1"/>
          </p:cNvSpPr>
          <p:nvPr>
            <p:ph type="body" idx="1"/>
          </p:nvPr>
        </p:nvSpPr>
        <p:spPr>
          <a:ln/>
        </p:spPr>
        <p:txBody>
          <a:bodyPr/>
          <a:lstStyle/>
          <a:p>
            <a:r>
              <a:rPr lang="en-US" dirty="0"/>
              <a:t>Caller saved</a:t>
            </a:r>
          </a:p>
          <a:p>
            <a:pPr marL="838200" lvl="2"/>
            <a:r>
              <a:rPr lang="en-US" dirty="0"/>
              <a:t>If caller is going to need X’s value after the call, it saves X on stack before the call and restores X after the call </a:t>
            </a:r>
          </a:p>
          <a:p>
            <a:pPr marL="438150" lvl="1"/>
            <a:r>
              <a:rPr lang="en-US" dirty="0" err="1"/>
              <a:t>Callee</a:t>
            </a:r>
            <a:r>
              <a:rPr lang="en-US" dirty="0"/>
              <a:t> saved</a:t>
            </a:r>
          </a:p>
          <a:p>
            <a:pPr marL="838200" lvl="2"/>
            <a:r>
              <a:rPr lang="en-US" dirty="0"/>
              <a:t>If </a:t>
            </a:r>
            <a:r>
              <a:rPr lang="en-US" dirty="0" err="1"/>
              <a:t>callee</a:t>
            </a:r>
            <a:r>
              <a:rPr lang="en-US" dirty="0"/>
              <a:t> is going to use Y, it saves Y on stack before using and restores Y before returning to caller</a:t>
            </a:r>
          </a:p>
        </p:txBody>
      </p:sp>
    </p:spTree>
    <p:extLst>
      <p:ext uri="{BB962C8B-B14F-4D97-AF65-F5344CB8AC3E}">
        <p14:creationId xmlns:p14="http://schemas.microsoft.com/office/powerpoint/2010/main" val="47287550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803" name="Rectangle 3"/>
          <p:cNvSpPr>
            <a:spLocks noGrp="1" noChangeArrowheads="1"/>
          </p:cNvSpPr>
          <p:nvPr>
            <p:ph type="title"/>
          </p:nvPr>
        </p:nvSpPr>
        <p:spPr>
          <a:xfrm>
            <a:off x="381000" y="152400"/>
            <a:ext cx="8763000" cy="1143000"/>
          </a:xfrm>
          <a:ln/>
        </p:spPr>
        <p:txBody>
          <a:bodyPr>
            <a:normAutofit/>
          </a:bodyPr>
          <a:lstStyle/>
          <a:p>
            <a:pPr marL="119063" indent="-119063"/>
            <a:r>
              <a:rPr lang="en-US" dirty="0"/>
              <a:t>Calling convention: Register saving</a:t>
            </a:r>
          </a:p>
        </p:txBody>
      </p:sp>
      <p:sp>
        <p:nvSpPr>
          <p:cNvPr id="76805" name="Rectangle 5"/>
          <p:cNvSpPr>
            <a:spLocks/>
          </p:cNvSpPr>
          <p:nvPr/>
        </p:nvSpPr>
        <p:spPr bwMode="auto">
          <a:xfrm>
            <a:off x="2819400" y="1447800"/>
            <a:ext cx="1787028" cy="381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25400" cap="flat">
            <a:solidFill>
              <a:schemeClr val="tx1"/>
            </a:solidFill>
            <a:prstDash val="solid"/>
            <a:miter lim="800000"/>
            <a:headEnd type="none" w="med" len="med"/>
            <a:tailEnd type="none" w="med" len="med"/>
          </a:ln>
        </p:spPr>
        <p:txBody>
          <a:bodyPr lIns="0" tIns="0" rIns="0" bIns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  <a:latin typeface="Consolas"/>
                <a:cs typeface="Consolas"/>
                <a:sym typeface="Courier New Bold" charset="0"/>
              </a:rPr>
              <a:t>%</a:t>
            </a:r>
            <a:r>
              <a:rPr lang="en-US" sz="2400" dirty="0" err="1">
                <a:solidFill>
                  <a:schemeClr val="tx1"/>
                </a:solidFill>
                <a:latin typeface="Consolas"/>
                <a:cs typeface="Consolas"/>
                <a:sym typeface="Courier New Bold" charset="0"/>
              </a:rPr>
              <a:t>rax</a:t>
            </a:r>
            <a:endParaRPr lang="en-US" sz="2400" dirty="0">
              <a:solidFill>
                <a:schemeClr val="tx1"/>
              </a:solidFill>
              <a:latin typeface="Consolas"/>
              <a:cs typeface="Consolas"/>
              <a:sym typeface="Courier New Bold" charset="0"/>
            </a:endParaRPr>
          </a:p>
        </p:txBody>
      </p:sp>
      <p:sp>
        <p:nvSpPr>
          <p:cNvPr id="76806" name="Rectangle 6"/>
          <p:cNvSpPr>
            <a:spLocks/>
          </p:cNvSpPr>
          <p:nvPr/>
        </p:nvSpPr>
        <p:spPr bwMode="auto">
          <a:xfrm>
            <a:off x="2819400" y="2819400"/>
            <a:ext cx="1787028" cy="381000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25400" cap="flat">
            <a:solidFill>
              <a:schemeClr val="tx1"/>
            </a:solidFill>
            <a:prstDash val="solid"/>
            <a:miter lim="800000"/>
            <a:headEnd type="none" w="med" len="med"/>
            <a:tailEnd type="none" w="med" len="med"/>
          </a:ln>
        </p:spPr>
        <p:txBody>
          <a:bodyPr lIns="0" tIns="0" rIns="0" bIns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  <a:latin typeface="Consolas"/>
                <a:cs typeface="Consolas"/>
                <a:sym typeface="Courier New Bold" charset="0"/>
              </a:rPr>
              <a:t>%</a:t>
            </a:r>
            <a:r>
              <a:rPr lang="en-US" sz="2400" dirty="0" err="1">
                <a:solidFill>
                  <a:schemeClr val="tx1"/>
                </a:solidFill>
                <a:latin typeface="Consolas"/>
                <a:cs typeface="Consolas"/>
                <a:sym typeface="Courier New Bold" charset="0"/>
              </a:rPr>
              <a:t>rdx</a:t>
            </a:r>
            <a:endParaRPr lang="en-US" sz="2400" dirty="0">
              <a:solidFill>
                <a:schemeClr val="tx1"/>
              </a:solidFill>
              <a:latin typeface="Consolas"/>
              <a:cs typeface="Consolas"/>
              <a:sym typeface="Courier New Bold" charset="0"/>
            </a:endParaRPr>
          </a:p>
        </p:txBody>
      </p:sp>
      <p:sp>
        <p:nvSpPr>
          <p:cNvPr id="76807" name="Rectangle 7"/>
          <p:cNvSpPr>
            <a:spLocks/>
          </p:cNvSpPr>
          <p:nvPr/>
        </p:nvSpPr>
        <p:spPr bwMode="auto">
          <a:xfrm>
            <a:off x="2819400" y="3276600"/>
            <a:ext cx="1787028" cy="381000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25400" cap="flat">
            <a:solidFill>
              <a:schemeClr val="tx1"/>
            </a:solidFill>
            <a:prstDash val="solid"/>
            <a:miter lim="800000"/>
            <a:headEnd type="none" w="med" len="med"/>
            <a:tailEnd type="none" w="med" len="med"/>
          </a:ln>
        </p:spPr>
        <p:txBody>
          <a:bodyPr lIns="0" tIns="0" rIns="0" bIns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  <a:latin typeface="Consolas"/>
                <a:cs typeface="Consolas"/>
                <a:sym typeface="Courier New Bold" charset="0"/>
              </a:rPr>
              <a:t>%</a:t>
            </a:r>
            <a:r>
              <a:rPr lang="en-US" sz="2400" dirty="0" err="1">
                <a:solidFill>
                  <a:schemeClr val="tx1"/>
                </a:solidFill>
                <a:latin typeface="Consolas"/>
                <a:cs typeface="Consolas"/>
                <a:sym typeface="Courier New Bold" charset="0"/>
              </a:rPr>
              <a:t>rcx</a:t>
            </a:r>
            <a:endParaRPr lang="en-US" sz="2400" dirty="0">
              <a:solidFill>
                <a:schemeClr val="tx1"/>
              </a:solidFill>
              <a:latin typeface="Consolas"/>
              <a:cs typeface="Consolas"/>
              <a:sym typeface="Courier New Bold" charset="0"/>
            </a:endParaRPr>
          </a:p>
        </p:txBody>
      </p:sp>
      <p:sp>
        <p:nvSpPr>
          <p:cNvPr id="76813" name="AutoShape 13"/>
          <p:cNvSpPr>
            <a:spLocks/>
          </p:cNvSpPr>
          <p:nvPr/>
        </p:nvSpPr>
        <p:spPr bwMode="auto">
          <a:xfrm>
            <a:off x="2500645" y="1905000"/>
            <a:ext cx="304800" cy="2667000"/>
          </a:xfrm>
          <a:custGeom>
            <a:avLst/>
            <a:gdLst>
              <a:gd name="T0" fmla="*/ 10800 w 21600"/>
              <a:gd name="T1" fmla="*/ 10800 h 21600"/>
            </a:gdLst>
            <a:ahLst/>
            <a:cxnLst>
              <a:cxn ang="0">
                <a:pos x="T0" y="T1"/>
              </a:cxn>
            </a:cxnLst>
            <a:rect l="0" t="0" r="r" b="b"/>
            <a:pathLst>
              <a:path w="21600" h="21600">
                <a:moveTo>
                  <a:pt x="21600" y="21600"/>
                </a:moveTo>
                <a:cubicBezTo>
                  <a:pt x="15635" y="21600"/>
                  <a:pt x="10800" y="21140"/>
                  <a:pt x="10800" y="20571"/>
                </a:cubicBezTo>
                <a:lnTo>
                  <a:pt x="10800" y="11829"/>
                </a:lnTo>
                <a:cubicBezTo>
                  <a:pt x="10800" y="11261"/>
                  <a:pt x="5965" y="10800"/>
                  <a:pt x="0" y="10800"/>
                </a:cubicBezTo>
                <a:cubicBezTo>
                  <a:pt x="5965" y="10800"/>
                  <a:pt x="10800" y="10339"/>
                  <a:pt x="10800" y="9771"/>
                </a:cubicBezTo>
                <a:lnTo>
                  <a:pt x="10800" y="1029"/>
                </a:lnTo>
                <a:cubicBezTo>
                  <a:pt x="10800" y="461"/>
                  <a:pt x="15635" y="0"/>
                  <a:pt x="21600" y="0"/>
                </a:cubicBezTo>
              </a:path>
            </a:pathLst>
          </a:custGeom>
          <a:noFill/>
          <a:ln w="25400" cap="flat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lIns="0" tIns="0" rIns="0" bIns="0"/>
          <a:lstStyle/>
          <a:p>
            <a:pPr algn="ctr"/>
            <a:endParaRPr lang="en-US">
              <a:latin typeface="Consolas"/>
              <a:cs typeface="Consolas"/>
            </a:endParaRPr>
          </a:p>
        </p:txBody>
      </p:sp>
      <p:sp>
        <p:nvSpPr>
          <p:cNvPr id="76816" name="Rectangle 16"/>
          <p:cNvSpPr>
            <a:spLocks/>
          </p:cNvSpPr>
          <p:nvPr/>
        </p:nvSpPr>
        <p:spPr bwMode="auto">
          <a:xfrm>
            <a:off x="1258900" y="1447800"/>
            <a:ext cx="1531168" cy="384721"/>
          </a:xfrm>
          <a:prstGeom prst="rect">
            <a:avLst/>
          </a:prstGeom>
          <a:noFill/>
          <a:ln w="25400" cap="flat">
            <a:noFill/>
            <a:miter lim="800000"/>
            <a:headEnd type="none" w="med" len="med"/>
            <a:tailEnd type="none" w="med" len="med"/>
          </a:ln>
        </p:spPr>
        <p:txBody>
          <a:bodyPr wrap="none" lIns="38100" tIns="38100" rIns="38100" bIns="38100">
            <a:spAutoFit/>
          </a:bodyPr>
          <a:lstStyle/>
          <a:p>
            <a:pPr algn="r"/>
            <a:r>
              <a:rPr lang="en-US" sz="2000" dirty="0">
                <a:solidFill>
                  <a:schemeClr val="tx1"/>
                </a:solidFill>
                <a:latin typeface="Arial"/>
                <a:ea typeface="Calibri Bold" charset="0"/>
                <a:cs typeface="Arial"/>
                <a:sym typeface="Calibri Bold" charset="0"/>
              </a:rPr>
              <a:t>Return value</a:t>
            </a:r>
          </a:p>
        </p:txBody>
      </p:sp>
      <p:sp>
        <p:nvSpPr>
          <p:cNvPr id="20" name="Rectangle 7"/>
          <p:cNvSpPr>
            <a:spLocks/>
          </p:cNvSpPr>
          <p:nvPr/>
        </p:nvSpPr>
        <p:spPr bwMode="auto">
          <a:xfrm>
            <a:off x="2819400" y="3733800"/>
            <a:ext cx="1787028" cy="381000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25400" cap="flat">
            <a:solidFill>
              <a:schemeClr val="tx1"/>
            </a:solidFill>
            <a:prstDash val="solid"/>
            <a:miter lim="800000"/>
            <a:headEnd type="none" w="med" len="med"/>
            <a:tailEnd type="none" w="med" len="med"/>
          </a:ln>
        </p:spPr>
        <p:txBody>
          <a:bodyPr lIns="0" tIns="0" rIns="0" bIns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  <a:latin typeface="Consolas"/>
                <a:cs typeface="Consolas"/>
                <a:sym typeface="Courier New Bold" charset="0"/>
              </a:rPr>
              <a:t>%r8</a:t>
            </a:r>
          </a:p>
        </p:txBody>
      </p:sp>
      <p:sp>
        <p:nvSpPr>
          <p:cNvPr id="21" name="Rectangle 7"/>
          <p:cNvSpPr>
            <a:spLocks/>
          </p:cNvSpPr>
          <p:nvPr/>
        </p:nvSpPr>
        <p:spPr bwMode="auto">
          <a:xfrm>
            <a:off x="2819400" y="4191000"/>
            <a:ext cx="1787028" cy="381000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25400" cap="flat">
            <a:solidFill>
              <a:schemeClr val="tx1"/>
            </a:solidFill>
            <a:prstDash val="solid"/>
            <a:miter lim="800000"/>
            <a:headEnd type="none" w="med" len="med"/>
            <a:tailEnd type="none" w="med" len="med"/>
          </a:ln>
        </p:spPr>
        <p:txBody>
          <a:bodyPr lIns="0" tIns="0" rIns="0" bIns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  <a:latin typeface="Consolas"/>
                <a:cs typeface="Consolas"/>
                <a:sym typeface="Courier New Bold" charset="0"/>
              </a:rPr>
              <a:t>%r9</a:t>
            </a:r>
          </a:p>
        </p:txBody>
      </p:sp>
      <p:sp>
        <p:nvSpPr>
          <p:cNvPr id="22" name="Rectangle 7"/>
          <p:cNvSpPr>
            <a:spLocks/>
          </p:cNvSpPr>
          <p:nvPr/>
        </p:nvSpPr>
        <p:spPr bwMode="auto">
          <a:xfrm>
            <a:off x="2819400" y="4648200"/>
            <a:ext cx="1787028" cy="381000"/>
          </a:xfrm>
          <a:prstGeom prst="rect">
            <a:avLst/>
          </a:prstGeom>
          <a:solidFill>
            <a:srgbClr val="F6F5BD"/>
          </a:solidFill>
          <a:ln w="25400" cap="flat">
            <a:solidFill>
              <a:schemeClr val="tx1"/>
            </a:solidFill>
            <a:prstDash val="solid"/>
            <a:miter lim="800000"/>
            <a:headEnd type="none" w="med" len="med"/>
            <a:tailEnd type="none" w="med" len="med"/>
          </a:ln>
        </p:spPr>
        <p:txBody>
          <a:bodyPr lIns="0" tIns="0" rIns="0" bIns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  <a:latin typeface="Consolas"/>
                <a:cs typeface="Consolas"/>
                <a:sym typeface="Courier New Bold" charset="0"/>
              </a:rPr>
              <a:t>%r10</a:t>
            </a:r>
          </a:p>
        </p:txBody>
      </p:sp>
      <p:sp>
        <p:nvSpPr>
          <p:cNvPr id="23" name="Rectangle 7"/>
          <p:cNvSpPr>
            <a:spLocks/>
          </p:cNvSpPr>
          <p:nvPr/>
        </p:nvSpPr>
        <p:spPr bwMode="auto">
          <a:xfrm>
            <a:off x="2819400" y="5105400"/>
            <a:ext cx="1787028" cy="381000"/>
          </a:xfrm>
          <a:prstGeom prst="rect">
            <a:avLst/>
          </a:prstGeom>
          <a:solidFill>
            <a:srgbClr val="F6F5BD"/>
          </a:solidFill>
          <a:ln w="25400" cap="flat">
            <a:solidFill>
              <a:schemeClr val="tx1"/>
            </a:solidFill>
            <a:prstDash val="solid"/>
            <a:miter lim="800000"/>
            <a:headEnd type="none" w="med" len="med"/>
            <a:tailEnd type="none" w="med" len="med"/>
          </a:ln>
        </p:spPr>
        <p:txBody>
          <a:bodyPr lIns="0" tIns="0" rIns="0" bIns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  <a:latin typeface="Consolas"/>
                <a:cs typeface="Consolas"/>
                <a:sym typeface="Courier New Bold" charset="0"/>
              </a:rPr>
              <a:t>%r11</a:t>
            </a:r>
          </a:p>
        </p:txBody>
      </p:sp>
      <p:sp>
        <p:nvSpPr>
          <p:cNvPr id="24" name="Rectangle 5"/>
          <p:cNvSpPr>
            <a:spLocks/>
          </p:cNvSpPr>
          <p:nvPr/>
        </p:nvSpPr>
        <p:spPr bwMode="auto">
          <a:xfrm>
            <a:off x="2819400" y="1905000"/>
            <a:ext cx="1787028" cy="381000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25400" cap="flat">
            <a:solidFill>
              <a:schemeClr val="tx1"/>
            </a:solidFill>
            <a:prstDash val="solid"/>
            <a:miter lim="800000"/>
            <a:headEnd type="none" w="med" len="med"/>
            <a:tailEnd type="none" w="med" len="med"/>
          </a:ln>
        </p:spPr>
        <p:txBody>
          <a:bodyPr lIns="0" tIns="0" rIns="0" bIns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  <a:latin typeface="Consolas"/>
                <a:cs typeface="Consolas"/>
                <a:sym typeface="Courier New Bold" charset="0"/>
              </a:rPr>
              <a:t>%</a:t>
            </a:r>
            <a:r>
              <a:rPr lang="en-US" sz="2400" dirty="0" err="1">
                <a:solidFill>
                  <a:schemeClr val="tx1"/>
                </a:solidFill>
                <a:latin typeface="Consolas"/>
                <a:cs typeface="Consolas"/>
                <a:sym typeface="Courier New Bold" charset="0"/>
              </a:rPr>
              <a:t>rdi</a:t>
            </a:r>
            <a:endParaRPr lang="en-US" sz="2400" dirty="0">
              <a:solidFill>
                <a:schemeClr val="tx1"/>
              </a:solidFill>
              <a:latin typeface="Consolas"/>
              <a:cs typeface="Consolas"/>
              <a:sym typeface="Courier New Bold" charset="0"/>
            </a:endParaRPr>
          </a:p>
        </p:txBody>
      </p:sp>
      <p:sp>
        <p:nvSpPr>
          <p:cNvPr id="25" name="Rectangle 5"/>
          <p:cNvSpPr>
            <a:spLocks/>
          </p:cNvSpPr>
          <p:nvPr/>
        </p:nvSpPr>
        <p:spPr bwMode="auto">
          <a:xfrm>
            <a:off x="2819400" y="2362200"/>
            <a:ext cx="1787028" cy="381000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25400" cap="flat">
            <a:solidFill>
              <a:schemeClr val="tx1"/>
            </a:solidFill>
            <a:prstDash val="solid"/>
            <a:miter lim="800000"/>
            <a:headEnd type="none" w="med" len="med"/>
            <a:tailEnd type="none" w="med" len="med"/>
          </a:ln>
        </p:spPr>
        <p:txBody>
          <a:bodyPr lIns="0" tIns="0" rIns="0" bIns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  <a:latin typeface="Consolas"/>
                <a:cs typeface="Consolas"/>
                <a:sym typeface="Courier New Bold" charset="0"/>
              </a:rPr>
              <a:t>%</a:t>
            </a:r>
            <a:r>
              <a:rPr lang="en-US" sz="2400" dirty="0" err="1">
                <a:solidFill>
                  <a:schemeClr val="tx1"/>
                </a:solidFill>
                <a:latin typeface="Consolas"/>
                <a:cs typeface="Consolas"/>
                <a:sym typeface="Courier New Bold" charset="0"/>
              </a:rPr>
              <a:t>rsi</a:t>
            </a:r>
            <a:endParaRPr lang="en-US" sz="2400" dirty="0">
              <a:solidFill>
                <a:schemeClr val="tx1"/>
              </a:solidFill>
              <a:latin typeface="Consolas"/>
              <a:cs typeface="Consolas"/>
              <a:sym typeface="Courier New Bold" charset="0"/>
            </a:endParaRPr>
          </a:p>
        </p:txBody>
      </p:sp>
      <p:sp>
        <p:nvSpPr>
          <p:cNvPr id="26" name="Rectangle 16"/>
          <p:cNvSpPr>
            <a:spLocks/>
          </p:cNvSpPr>
          <p:nvPr/>
        </p:nvSpPr>
        <p:spPr bwMode="auto">
          <a:xfrm>
            <a:off x="1184634" y="2998857"/>
            <a:ext cx="1329966" cy="384721"/>
          </a:xfrm>
          <a:prstGeom prst="rect">
            <a:avLst/>
          </a:prstGeom>
          <a:noFill/>
          <a:ln w="25400" cap="flat">
            <a:noFill/>
            <a:miter lim="800000"/>
            <a:headEnd type="none" w="med" len="med"/>
            <a:tailEnd type="none" w="med" len="med"/>
          </a:ln>
        </p:spPr>
        <p:txBody>
          <a:bodyPr wrap="none" lIns="38100" tIns="38100" rIns="38100" bIns="38100">
            <a:spAutoFit/>
          </a:bodyPr>
          <a:lstStyle/>
          <a:p>
            <a:pPr algn="r"/>
            <a:r>
              <a:rPr lang="en-US" sz="2000" dirty="0">
                <a:solidFill>
                  <a:schemeClr val="tx1"/>
                </a:solidFill>
                <a:latin typeface="Arial"/>
                <a:ea typeface="Calibri Bold" charset="0"/>
                <a:cs typeface="Arial"/>
                <a:sym typeface="Calibri Bold" charset="0"/>
              </a:rPr>
              <a:t>Arguments</a:t>
            </a:r>
          </a:p>
        </p:txBody>
      </p:sp>
      <p:sp>
        <p:nvSpPr>
          <p:cNvPr id="27" name="Rectangle 16"/>
          <p:cNvSpPr>
            <a:spLocks/>
          </p:cNvSpPr>
          <p:nvPr/>
        </p:nvSpPr>
        <p:spPr bwMode="auto">
          <a:xfrm>
            <a:off x="-271570" y="3200400"/>
            <a:ext cx="1066800" cy="1000274"/>
          </a:xfrm>
          <a:prstGeom prst="rect">
            <a:avLst/>
          </a:prstGeom>
          <a:noFill/>
          <a:ln w="25400" cap="flat">
            <a:noFill/>
            <a:miter lim="800000"/>
            <a:headEnd type="none" w="med" len="med"/>
            <a:tailEnd type="none" w="med" len="med"/>
          </a:ln>
        </p:spPr>
        <p:txBody>
          <a:bodyPr wrap="square" lIns="38100" tIns="38100" rIns="38100" bIns="38100">
            <a:spAutoFit/>
          </a:bodyPr>
          <a:lstStyle/>
          <a:p>
            <a:pPr algn="r"/>
            <a:r>
              <a:rPr lang="en-US" sz="2000" dirty="0">
                <a:solidFill>
                  <a:schemeClr val="tx1"/>
                </a:solidFill>
                <a:latin typeface="Arial"/>
                <a:ea typeface="Calibri Bold" charset="0"/>
                <a:cs typeface="Arial"/>
                <a:sym typeface="Calibri Bold" charset="0"/>
              </a:rPr>
              <a:t>Caller-saved</a:t>
            </a:r>
          </a:p>
          <a:p>
            <a:pPr algn="r"/>
            <a:endParaRPr lang="en-US" sz="2000" dirty="0">
              <a:solidFill>
                <a:schemeClr val="tx1"/>
              </a:solidFill>
              <a:latin typeface="Arial"/>
              <a:ea typeface="Calibri Bold" charset="0"/>
              <a:cs typeface="Arial"/>
              <a:sym typeface="Calibri Bold" charset="0"/>
            </a:endParaRPr>
          </a:p>
        </p:txBody>
      </p:sp>
      <p:sp>
        <p:nvSpPr>
          <p:cNvPr id="28" name="AutoShape 13"/>
          <p:cNvSpPr>
            <a:spLocks/>
          </p:cNvSpPr>
          <p:nvPr/>
        </p:nvSpPr>
        <p:spPr bwMode="auto">
          <a:xfrm>
            <a:off x="863900" y="1600200"/>
            <a:ext cx="457200" cy="3886200"/>
          </a:xfrm>
          <a:custGeom>
            <a:avLst/>
            <a:gdLst>
              <a:gd name="T0" fmla="*/ 10800 w 21600"/>
              <a:gd name="T1" fmla="*/ 10800 h 21600"/>
            </a:gdLst>
            <a:ahLst/>
            <a:cxnLst>
              <a:cxn ang="0">
                <a:pos x="T0" y="T1"/>
              </a:cxn>
            </a:cxnLst>
            <a:rect l="0" t="0" r="r" b="b"/>
            <a:pathLst>
              <a:path w="21600" h="21600">
                <a:moveTo>
                  <a:pt x="21600" y="21600"/>
                </a:moveTo>
                <a:cubicBezTo>
                  <a:pt x="15635" y="21600"/>
                  <a:pt x="10800" y="21140"/>
                  <a:pt x="10800" y="20571"/>
                </a:cubicBezTo>
                <a:lnTo>
                  <a:pt x="10800" y="11829"/>
                </a:lnTo>
                <a:cubicBezTo>
                  <a:pt x="10800" y="11261"/>
                  <a:pt x="5965" y="10800"/>
                  <a:pt x="0" y="10800"/>
                </a:cubicBezTo>
                <a:cubicBezTo>
                  <a:pt x="5965" y="10800"/>
                  <a:pt x="10800" y="10339"/>
                  <a:pt x="10800" y="9771"/>
                </a:cubicBezTo>
                <a:lnTo>
                  <a:pt x="10800" y="1029"/>
                </a:lnTo>
                <a:cubicBezTo>
                  <a:pt x="10800" y="461"/>
                  <a:pt x="15635" y="0"/>
                  <a:pt x="21600" y="0"/>
                </a:cubicBezTo>
              </a:path>
            </a:pathLst>
          </a:custGeom>
          <a:noFill/>
          <a:ln w="25400" cap="flat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lIns="0" tIns="0" rIns="0" bIns="0"/>
          <a:lstStyle/>
          <a:p>
            <a:endParaRPr lang="en-US"/>
          </a:p>
        </p:txBody>
      </p:sp>
      <p:sp>
        <p:nvSpPr>
          <p:cNvPr id="29" name="Rectangle 8"/>
          <p:cNvSpPr>
            <a:spLocks/>
          </p:cNvSpPr>
          <p:nvPr/>
        </p:nvSpPr>
        <p:spPr bwMode="auto">
          <a:xfrm>
            <a:off x="7162800" y="1981200"/>
            <a:ext cx="1752600" cy="38100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 w="25400" cap="flat">
            <a:solidFill>
              <a:schemeClr val="tx1"/>
            </a:solidFill>
            <a:prstDash val="solid"/>
            <a:miter lim="800000"/>
            <a:headEnd type="none" w="med" len="med"/>
            <a:tailEnd type="none" w="med" len="med"/>
          </a:ln>
        </p:spPr>
        <p:txBody>
          <a:bodyPr lIns="0" tIns="0" rIns="0" bIns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  <a:latin typeface="Consolas"/>
                <a:cs typeface="Consolas"/>
                <a:sym typeface="Courier New Bold" charset="0"/>
              </a:rPr>
              <a:t>%</a:t>
            </a:r>
            <a:r>
              <a:rPr lang="en-US" sz="2400" dirty="0" err="1">
                <a:solidFill>
                  <a:schemeClr val="tx1"/>
                </a:solidFill>
                <a:latin typeface="Consolas"/>
                <a:cs typeface="Consolas"/>
                <a:sym typeface="Courier New Bold" charset="0"/>
              </a:rPr>
              <a:t>rbx</a:t>
            </a:r>
            <a:endParaRPr lang="en-US" sz="2400" dirty="0">
              <a:solidFill>
                <a:schemeClr val="tx1"/>
              </a:solidFill>
              <a:latin typeface="Consolas"/>
              <a:cs typeface="Consolas"/>
              <a:sym typeface="Courier New Bold" charset="0"/>
            </a:endParaRPr>
          </a:p>
        </p:txBody>
      </p:sp>
      <p:sp>
        <p:nvSpPr>
          <p:cNvPr id="30" name="Rectangle 11"/>
          <p:cNvSpPr>
            <a:spLocks/>
          </p:cNvSpPr>
          <p:nvPr/>
        </p:nvSpPr>
        <p:spPr bwMode="auto">
          <a:xfrm>
            <a:off x="7162800" y="4267200"/>
            <a:ext cx="1752600" cy="381000"/>
          </a:xfrm>
          <a:prstGeom prst="rect">
            <a:avLst/>
          </a:prstGeom>
          <a:solidFill>
            <a:srgbClr val="F1C7C7"/>
          </a:solidFill>
          <a:ln w="25400" cap="flat">
            <a:solidFill>
              <a:schemeClr val="tx1"/>
            </a:solidFill>
            <a:prstDash val="solid"/>
            <a:miter lim="800000"/>
            <a:headEnd type="none" w="med" len="med"/>
            <a:tailEnd type="none" w="med" len="med"/>
          </a:ln>
        </p:spPr>
        <p:txBody>
          <a:bodyPr lIns="0" tIns="0" rIns="0" bIns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  <a:latin typeface="Consolas"/>
                <a:cs typeface="Consolas"/>
                <a:sym typeface="Courier New Bold" charset="0"/>
              </a:rPr>
              <a:t>%</a:t>
            </a:r>
            <a:r>
              <a:rPr lang="en-US" sz="2400" dirty="0" err="1">
                <a:solidFill>
                  <a:schemeClr val="tx1"/>
                </a:solidFill>
                <a:latin typeface="Consolas"/>
                <a:cs typeface="Consolas"/>
                <a:sym typeface="Courier New Bold" charset="0"/>
              </a:rPr>
              <a:t>rsp</a:t>
            </a:r>
            <a:endParaRPr lang="en-US" sz="2400" dirty="0">
              <a:solidFill>
                <a:schemeClr val="tx1"/>
              </a:solidFill>
              <a:latin typeface="Consolas"/>
              <a:cs typeface="Consolas"/>
              <a:sym typeface="Courier New Bold" charset="0"/>
            </a:endParaRPr>
          </a:p>
        </p:txBody>
      </p:sp>
      <p:sp>
        <p:nvSpPr>
          <p:cNvPr id="31" name="AutoShape 14"/>
          <p:cNvSpPr>
            <a:spLocks/>
          </p:cNvSpPr>
          <p:nvPr/>
        </p:nvSpPr>
        <p:spPr bwMode="auto">
          <a:xfrm>
            <a:off x="6858000" y="2057400"/>
            <a:ext cx="304800" cy="2057400"/>
          </a:xfrm>
          <a:custGeom>
            <a:avLst/>
            <a:gdLst>
              <a:gd name="T0" fmla="*/ 10800 w 21600"/>
              <a:gd name="T1" fmla="*/ 10800 h 21600"/>
            </a:gdLst>
            <a:ahLst/>
            <a:cxnLst>
              <a:cxn ang="0">
                <a:pos x="T0" y="T1"/>
              </a:cxn>
            </a:cxnLst>
            <a:rect l="0" t="0" r="r" b="b"/>
            <a:pathLst>
              <a:path w="21600" h="21600">
                <a:moveTo>
                  <a:pt x="21600" y="21600"/>
                </a:moveTo>
                <a:cubicBezTo>
                  <a:pt x="15635" y="21600"/>
                  <a:pt x="10800" y="21140"/>
                  <a:pt x="10800" y="20571"/>
                </a:cubicBezTo>
                <a:lnTo>
                  <a:pt x="10800" y="11829"/>
                </a:lnTo>
                <a:cubicBezTo>
                  <a:pt x="10800" y="11261"/>
                  <a:pt x="5965" y="10800"/>
                  <a:pt x="0" y="10800"/>
                </a:cubicBezTo>
                <a:cubicBezTo>
                  <a:pt x="5965" y="10800"/>
                  <a:pt x="10800" y="10339"/>
                  <a:pt x="10800" y="9771"/>
                </a:cubicBezTo>
                <a:lnTo>
                  <a:pt x="10800" y="1029"/>
                </a:lnTo>
                <a:cubicBezTo>
                  <a:pt x="10800" y="461"/>
                  <a:pt x="15635" y="0"/>
                  <a:pt x="21600" y="0"/>
                </a:cubicBezTo>
              </a:path>
            </a:pathLst>
          </a:custGeom>
          <a:noFill/>
          <a:ln w="25400" cap="flat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lIns="0" tIns="0" rIns="0" bIns="0"/>
          <a:lstStyle/>
          <a:p>
            <a:endParaRPr lang="en-US"/>
          </a:p>
        </p:txBody>
      </p:sp>
      <p:sp>
        <p:nvSpPr>
          <p:cNvPr id="33" name="Rectangle 17"/>
          <p:cNvSpPr>
            <a:spLocks/>
          </p:cNvSpPr>
          <p:nvPr/>
        </p:nvSpPr>
        <p:spPr bwMode="auto">
          <a:xfrm>
            <a:off x="5246884" y="2895600"/>
            <a:ext cx="1573873" cy="384721"/>
          </a:xfrm>
          <a:prstGeom prst="rect">
            <a:avLst/>
          </a:prstGeom>
          <a:noFill/>
          <a:ln w="25400" cap="flat">
            <a:noFill/>
            <a:miter lim="800000"/>
            <a:headEnd type="none" w="med" len="med"/>
            <a:tailEnd type="none" w="med" len="med"/>
          </a:ln>
        </p:spPr>
        <p:txBody>
          <a:bodyPr wrap="none" lIns="38100" tIns="38100" rIns="38100" bIns="38100">
            <a:spAutoFit/>
          </a:bodyPr>
          <a:lstStyle/>
          <a:p>
            <a:pPr algn="r"/>
            <a:r>
              <a:rPr lang="en-US" sz="2000" dirty="0" err="1">
                <a:solidFill>
                  <a:schemeClr val="tx1"/>
                </a:solidFill>
                <a:latin typeface="Arial"/>
                <a:ea typeface="Calibri Bold" charset="0"/>
                <a:cs typeface="Arial"/>
                <a:sym typeface="Calibri Bold" charset="0"/>
              </a:rPr>
              <a:t>Callee</a:t>
            </a:r>
            <a:r>
              <a:rPr lang="en-US" sz="2000" dirty="0">
                <a:solidFill>
                  <a:schemeClr val="tx1"/>
                </a:solidFill>
                <a:latin typeface="Arial"/>
                <a:ea typeface="Calibri Bold" charset="0"/>
                <a:cs typeface="Arial"/>
                <a:sym typeface="Calibri Bold" charset="0"/>
              </a:rPr>
              <a:t>-saved</a:t>
            </a:r>
            <a:endParaRPr lang="en-US" sz="2000" dirty="0">
              <a:solidFill>
                <a:schemeClr val="tx1"/>
              </a:solidFill>
              <a:latin typeface="Arial"/>
              <a:ea typeface="Lucida Grande" charset="0"/>
              <a:cs typeface="Arial"/>
              <a:sym typeface="Arial Narrow Bold" charset="0"/>
            </a:endParaRPr>
          </a:p>
        </p:txBody>
      </p:sp>
      <p:sp>
        <p:nvSpPr>
          <p:cNvPr id="35" name="Rectangle 8"/>
          <p:cNvSpPr>
            <a:spLocks/>
          </p:cNvSpPr>
          <p:nvPr/>
        </p:nvSpPr>
        <p:spPr bwMode="auto">
          <a:xfrm>
            <a:off x="7162800" y="3810000"/>
            <a:ext cx="1752600" cy="38100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 w="25400" cap="flat">
            <a:solidFill>
              <a:schemeClr val="tx1"/>
            </a:solidFill>
            <a:prstDash val="solid"/>
            <a:miter lim="800000"/>
            <a:headEnd type="none" w="med" len="med"/>
            <a:tailEnd type="none" w="med" len="med"/>
          </a:ln>
        </p:spPr>
        <p:txBody>
          <a:bodyPr lIns="0" tIns="0" rIns="0" bIns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  <a:latin typeface="Consolas"/>
                <a:cs typeface="Consolas"/>
                <a:sym typeface="Courier New Bold" charset="0"/>
              </a:rPr>
              <a:t>%</a:t>
            </a:r>
            <a:r>
              <a:rPr lang="en-US" sz="2400" dirty="0" err="1">
                <a:solidFill>
                  <a:schemeClr val="tx1"/>
                </a:solidFill>
                <a:latin typeface="Consolas"/>
                <a:cs typeface="Consolas"/>
                <a:sym typeface="Courier New Bold" charset="0"/>
              </a:rPr>
              <a:t>rbp</a:t>
            </a:r>
            <a:endParaRPr lang="en-US" sz="2400" dirty="0">
              <a:solidFill>
                <a:schemeClr val="tx1"/>
              </a:solidFill>
              <a:latin typeface="Consolas"/>
              <a:cs typeface="Consolas"/>
              <a:sym typeface="Courier New Bold" charset="0"/>
            </a:endParaRPr>
          </a:p>
        </p:txBody>
      </p:sp>
      <p:sp>
        <p:nvSpPr>
          <p:cNvPr id="36" name="Rectangle 8"/>
          <p:cNvSpPr>
            <a:spLocks/>
          </p:cNvSpPr>
          <p:nvPr/>
        </p:nvSpPr>
        <p:spPr bwMode="auto">
          <a:xfrm>
            <a:off x="7162800" y="2438400"/>
            <a:ext cx="1752600" cy="38100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 w="25400" cap="flat">
            <a:solidFill>
              <a:schemeClr val="tx1"/>
            </a:solidFill>
            <a:prstDash val="solid"/>
            <a:miter lim="800000"/>
            <a:headEnd type="none" w="med" len="med"/>
            <a:tailEnd type="none" w="med" len="med"/>
          </a:ln>
        </p:spPr>
        <p:txBody>
          <a:bodyPr lIns="0" tIns="0" rIns="0" bIns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  <a:latin typeface="Consolas"/>
                <a:cs typeface="Consolas"/>
                <a:sym typeface="Courier New Bold" charset="0"/>
              </a:rPr>
              <a:t>%r12</a:t>
            </a:r>
          </a:p>
        </p:txBody>
      </p:sp>
      <p:sp>
        <p:nvSpPr>
          <p:cNvPr id="37" name="Rectangle 8"/>
          <p:cNvSpPr>
            <a:spLocks/>
          </p:cNvSpPr>
          <p:nvPr/>
        </p:nvSpPr>
        <p:spPr bwMode="auto">
          <a:xfrm>
            <a:off x="7162800" y="2895600"/>
            <a:ext cx="1752600" cy="38100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 w="25400" cap="flat">
            <a:solidFill>
              <a:schemeClr val="tx1"/>
            </a:solidFill>
            <a:prstDash val="solid"/>
            <a:miter lim="800000"/>
            <a:headEnd type="none" w="med" len="med"/>
            <a:tailEnd type="none" w="med" len="med"/>
          </a:ln>
        </p:spPr>
        <p:txBody>
          <a:bodyPr lIns="0" tIns="0" rIns="0" bIns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  <a:latin typeface="Consolas"/>
                <a:cs typeface="Consolas"/>
                <a:sym typeface="Courier New Bold" charset="0"/>
              </a:rPr>
              <a:t>%r13</a:t>
            </a:r>
          </a:p>
        </p:txBody>
      </p:sp>
      <p:sp>
        <p:nvSpPr>
          <p:cNvPr id="38" name="Rectangle 8"/>
          <p:cNvSpPr>
            <a:spLocks/>
          </p:cNvSpPr>
          <p:nvPr/>
        </p:nvSpPr>
        <p:spPr bwMode="auto">
          <a:xfrm>
            <a:off x="7162800" y="3352800"/>
            <a:ext cx="1752600" cy="38100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 w="25400" cap="flat">
            <a:solidFill>
              <a:schemeClr val="tx1"/>
            </a:solidFill>
            <a:prstDash val="solid"/>
            <a:miter lim="800000"/>
            <a:headEnd type="none" w="med" len="med"/>
            <a:tailEnd type="none" w="med" len="med"/>
          </a:ln>
        </p:spPr>
        <p:txBody>
          <a:bodyPr lIns="0" tIns="0" rIns="0" bIns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  <a:latin typeface="Consolas"/>
                <a:cs typeface="Consolas"/>
                <a:sym typeface="Courier New Bold" charset="0"/>
              </a:rPr>
              <a:t>%r14</a:t>
            </a:r>
          </a:p>
        </p:txBody>
      </p:sp>
      <p:sp>
        <p:nvSpPr>
          <p:cNvPr id="32" name="Rectangle 16"/>
          <p:cNvSpPr>
            <a:spLocks/>
          </p:cNvSpPr>
          <p:nvPr/>
        </p:nvSpPr>
        <p:spPr bwMode="auto">
          <a:xfrm>
            <a:off x="459372" y="5661975"/>
            <a:ext cx="4899339" cy="815608"/>
          </a:xfrm>
          <a:prstGeom prst="rect">
            <a:avLst/>
          </a:prstGeom>
          <a:noFill/>
          <a:ln w="25400" cap="flat">
            <a:noFill/>
            <a:miter lim="800000"/>
            <a:headEnd type="none" w="med" len="med"/>
            <a:tailEnd type="none" w="med" len="med"/>
          </a:ln>
        </p:spPr>
        <p:txBody>
          <a:bodyPr wrap="square" lIns="38100" tIns="38100" rIns="38100" bIns="38100">
            <a:spAutoFit/>
          </a:bodyPr>
          <a:lstStyle/>
          <a:p>
            <a:r>
              <a:rPr lang="en-US" sz="2400" dirty="0" err="1">
                <a:solidFill>
                  <a:schemeClr val="tx1"/>
                </a:solidFill>
                <a:latin typeface="Arial"/>
                <a:ea typeface="Calibri Bold" charset="0"/>
                <a:cs typeface="Arial"/>
                <a:sym typeface="Calibri Bold" charset="0"/>
              </a:rPr>
              <a:t>Callee</a:t>
            </a:r>
            <a:r>
              <a:rPr lang="en-US" sz="2400" dirty="0">
                <a:solidFill>
                  <a:schemeClr val="tx1"/>
                </a:solidFill>
                <a:latin typeface="Arial"/>
                <a:ea typeface="Calibri Bold" charset="0"/>
                <a:cs typeface="Arial"/>
                <a:sym typeface="Calibri Bold" charset="0"/>
              </a:rPr>
              <a:t> can directly use these registers</a:t>
            </a:r>
          </a:p>
        </p:txBody>
      </p:sp>
      <p:sp>
        <p:nvSpPr>
          <p:cNvPr id="34" name="Rectangle 16"/>
          <p:cNvSpPr>
            <a:spLocks/>
          </p:cNvSpPr>
          <p:nvPr/>
        </p:nvSpPr>
        <p:spPr bwMode="auto">
          <a:xfrm>
            <a:off x="5370205" y="5514833"/>
            <a:ext cx="3585190" cy="1000274"/>
          </a:xfrm>
          <a:prstGeom prst="rect">
            <a:avLst/>
          </a:prstGeom>
          <a:noFill/>
          <a:ln w="25400" cap="flat">
            <a:noFill/>
            <a:miter lim="800000"/>
            <a:headEnd type="none" w="med" len="med"/>
            <a:tailEnd type="none" w="med" len="med"/>
          </a:ln>
        </p:spPr>
        <p:txBody>
          <a:bodyPr wrap="square" lIns="38100" tIns="38100" rIns="38100" bIns="38100">
            <a:spAutoFit/>
          </a:bodyPr>
          <a:lstStyle/>
          <a:p>
            <a:r>
              <a:rPr lang="en-US" sz="2000" dirty="0">
                <a:solidFill>
                  <a:schemeClr val="tx1"/>
                </a:solidFill>
                <a:latin typeface="Arial"/>
                <a:ea typeface="Calibri Bold" charset="0"/>
                <a:cs typeface="Arial"/>
                <a:sym typeface="Calibri Bold" charset="0"/>
              </a:rPr>
              <a:t>Caller can assume callee-save </a:t>
            </a:r>
          </a:p>
          <a:p>
            <a:r>
              <a:rPr lang="en-US" sz="2000" dirty="0">
                <a:latin typeface="Arial"/>
                <a:ea typeface="Calibri Bold" charset="0"/>
                <a:cs typeface="Arial"/>
                <a:sym typeface="Calibri Bold" charset="0"/>
              </a:rPr>
              <a:t>registers are unchanged across function calls</a:t>
            </a:r>
            <a:endParaRPr lang="en-US" sz="2000" dirty="0">
              <a:solidFill>
                <a:schemeClr val="tx1"/>
              </a:solidFill>
              <a:latin typeface="Arial"/>
              <a:ea typeface="Calibri Bold" charset="0"/>
              <a:cs typeface="Arial"/>
              <a:sym typeface="Calibri Bold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12995238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Example</a:t>
            </a:r>
            <a:endParaRPr kumimoji="1" lang="zh-CN" altLang="en-US" dirty="0"/>
          </a:p>
        </p:txBody>
      </p:sp>
      <p:sp>
        <p:nvSpPr>
          <p:cNvPr id="5" name="矩形 4"/>
          <p:cNvSpPr/>
          <p:nvPr/>
        </p:nvSpPr>
        <p:spPr>
          <a:xfrm>
            <a:off x="139550" y="2916809"/>
            <a:ext cx="4147943" cy="230832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dirty="0">
                <a:latin typeface="Consolas"/>
                <a:cs typeface="Consolas"/>
              </a:rPr>
              <a:t>int add3(int a, int b, int c) </a:t>
            </a:r>
          </a:p>
          <a:p>
            <a:r>
              <a:rPr lang="en-US" altLang="zh-CN" dirty="0">
                <a:latin typeface="Consolas"/>
                <a:cs typeface="Consolas"/>
              </a:rPr>
              <a:t>{</a:t>
            </a:r>
          </a:p>
          <a:p>
            <a:r>
              <a:rPr lang="mr-IN" altLang="zh-CN" dirty="0">
                <a:latin typeface="Consolas"/>
                <a:cs typeface="Consolas"/>
              </a:rPr>
              <a:t>  int r = add2(a, b);</a:t>
            </a:r>
          </a:p>
          <a:p>
            <a:r>
              <a:rPr lang="mr-IN" altLang="zh-CN" dirty="0">
                <a:latin typeface="Consolas"/>
                <a:cs typeface="Consolas"/>
              </a:rPr>
              <a:t>  r = r + c;</a:t>
            </a:r>
          </a:p>
          <a:p>
            <a:r>
              <a:rPr lang="en-US" altLang="zh-CN" dirty="0">
                <a:latin typeface="Consolas"/>
                <a:cs typeface="Consolas"/>
              </a:rPr>
              <a:t>  return r;</a:t>
            </a:r>
          </a:p>
          <a:p>
            <a:r>
              <a:rPr lang="en-US" altLang="zh-CN" dirty="0">
                <a:latin typeface="Consolas"/>
                <a:cs typeface="Consolas"/>
              </a:rPr>
              <a:t>}</a:t>
            </a:r>
          </a:p>
          <a:p>
            <a:endParaRPr lang="en-US" altLang="zh-CN" dirty="0">
              <a:latin typeface="Consolas"/>
              <a:cs typeface="Consolas"/>
            </a:endParaRPr>
          </a:p>
          <a:p>
            <a:endParaRPr lang="en-US" altLang="zh-CN" dirty="0">
              <a:latin typeface="Consolas"/>
              <a:cs typeface="Consolas"/>
            </a:endParaRPr>
          </a:p>
        </p:txBody>
      </p:sp>
      <p:sp>
        <p:nvSpPr>
          <p:cNvPr id="6" name="矩形 5"/>
          <p:cNvSpPr/>
          <p:nvPr/>
        </p:nvSpPr>
        <p:spPr>
          <a:xfrm>
            <a:off x="4106078" y="2731027"/>
            <a:ext cx="4572000" cy="2031325"/>
          </a:xfrm>
          <a:prstGeom prst="rect">
            <a:avLst/>
          </a:prstGeom>
          <a:solidFill>
            <a:srgbClr val="DDD9C3"/>
          </a:solidFill>
        </p:spPr>
        <p:txBody>
          <a:bodyPr>
            <a:spAutoFit/>
          </a:bodyPr>
          <a:lstStyle/>
          <a:p>
            <a:r>
              <a:rPr lang="en-US" altLang="zh-CN" dirty="0">
                <a:latin typeface="Consolas"/>
                <a:cs typeface="Consolas"/>
              </a:rPr>
              <a:t>add3:</a:t>
            </a:r>
          </a:p>
          <a:p>
            <a:r>
              <a:rPr lang="en-US" altLang="zh-CN" dirty="0">
                <a:latin typeface="Consolas"/>
                <a:cs typeface="Consolas"/>
              </a:rPr>
              <a:t>	</a:t>
            </a:r>
            <a:r>
              <a:rPr lang="mr-IN" altLang="zh-CN" dirty="0">
                <a:latin typeface="Consolas"/>
                <a:cs typeface="Consolas"/>
              </a:rPr>
              <a:t>pushq</a:t>
            </a:r>
            <a:r>
              <a:rPr lang="en-US" altLang="zh-CN" dirty="0">
                <a:latin typeface="Consolas"/>
                <a:cs typeface="Consolas"/>
              </a:rPr>
              <a:t>	</a:t>
            </a:r>
            <a:r>
              <a:rPr lang="mr-IN" altLang="zh-CN" dirty="0">
                <a:latin typeface="Consolas"/>
                <a:cs typeface="Consolas"/>
              </a:rPr>
              <a:t>%rbx</a:t>
            </a:r>
            <a:endParaRPr lang="en-US" altLang="zh-CN" dirty="0">
              <a:latin typeface="Consolas"/>
              <a:cs typeface="Consolas"/>
            </a:endParaRPr>
          </a:p>
          <a:p>
            <a:r>
              <a:rPr lang="en-US" altLang="zh-CN" dirty="0">
                <a:latin typeface="Consolas"/>
                <a:cs typeface="Consolas"/>
              </a:rPr>
              <a:t>	</a:t>
            </a:r>
            <a:r>
              <a:rPr lang="mr-IN" altLang="zh-CN" dirty="0">
                <a:latin typeface="Consolas"/>
                <a:cs typeface="Consolas"/>
              </a:rPr>
              <a:t>movl   </a:t>
            </a:r>
            <a:r>
              <a:rPr lang="en-US" altLang="zh-CN" dirty="0">
                <a:latin typeface="Consolas"/>
                <a:cs typeface="Consolas"/>
              </a:rPr>
              <a:t>	</a:t>
            </a:r>
            <a:r>
              <a:rPr lang="mr-IN" altLang="zh-CN" dirty="0">
                <a:latin typeface="Consolas"/>
                <a:cs typeface="Consolas"/>
              </a:rPr>
              <a:t>%edx, %ebx</a:t>
            </a:r>
            <a:r>
              <a:rPr lang="en-US" altLang="zh-CN" dirty="0">
                <a:latin typeface="Consolas"/>
                <a:cs typeface="Consolas"/>
              </a:rPr>
              <a:t>  </a:t>
            </a:r>
          </a:p>
          <a:p>
            <a:r>
              <a:rPr lang="en-US" altLang="zh-CN" dirty="0">
                <a:latin typeface="Consolas"/>
                <a:cs typeface="Consolas"/>
              </a:rPr>
              <a:t>	</a:t>
            </a:r>
            <a:r>
              <a:rPr lang="mr-IN" altLang="zh-CN" dirty="0">
                <a:latin typeface="Consolas"/>
                <a:cs typeface="Consolas"/>
              </a:rPr>
              <a:t>call   </a:t>
            </a:r>
            <a:r>
              <a:rPr lang="en-US" altLang="zh-CN" dirty="0">
                <a:latin typeface="Consolas"/>
                <a:cs typeface="Consolas"/>
              </a:rPr>
              <a:t>	</a:t>
            </a:r>
            <a:r>
              <a:rPr lang="mr-IN" altLang="zh-CN" dirty="0">
                <a:latin typeface="Consolas"/>
                <a:cs typeface="Consolas"/>
              </a:rPr>
              <a:t>add2</a:t>
            </a:r>
            <a:endParaRPr lang="en-US" altLang="zh-CN" dirty="0">
              <a:latin typeface="Consolas"/>
              <a:cs typeface="Consolas"/>
            </a:endParaRPr>
          </a:p>
          <a:p>
            <a:r>
              <a:rPr lang="en-US" altLang="zh-CN" dirty="0">
                <a:latin typeface="Consolas"/>
                <a:cs typeface="Consolas"/>
              </a:rPr>
              <a:t>	</a:t>
            </a:r>
            <a:r>
              <a:rPr lang="mr-IN" altLang="zh-CN" dirty="0">
                <a:latin typeface="Consolas"/>
                <a:cs typeface="Consolas"/>
              </a:rPr>
              <a:t>addl   </a:t>
            </a:r>
            <a:r>
              <a:rPr lang="en-US" altLang="zh-CN" dirty="0">
                <a:latin typeface="Consolas"/>
                <a:cs typeface="Consolas"/>
              </a:rPr>
              <a:t>	</a:t>
            </a:r>
            <a:r>
              <a:rPr lang="mr-IN" altLang="zh-CN" dirty="0">
                <a:latin typeface="Consolas"/>
                <a:cs typeface="Consolas"/>
              </a:rPr>
              <a:t>%ebx, %eax</a:t>
            </a:r>
          </a:p>
          <a:p>
            <a:r>
              <a:rPr lang="en-US" altLang="zh-CN" dirty="0">
                <a:latin typeface="Consolas"/>
                <a:cs typeface="Consolas"/>
              </a:rPr>
              <a:t>	</a:t>
            </a:r>
            <a:r>
              <a:rPr lang="mr-IN" altLang="zh-CN" dirty="0">
                <a:latin typeface="Consolas"/>
                <a:cs typeface="Consolas"/>
              </a:rPr>
              <a:t>popq    %rbx</a:t>
            </a:r>
          </a:p>
          <a:p>
            <a:r>
              <a:rPr lang="en-US" altLang="zh-CN" dirty="0">
                <a:latin typeface="Consolas"/>
                <a:cs typeface="Consolas"/>
              </a:rPr>
              <a:t>   	</a:t>
            </a:r>
            <a:r>
              <a:rPr lang="mr-IN" altLang="zh-CN" dirty="0">
                <a:latin typeface="Consolas"/>
                <a:cs typeface="Consolas"/>
              </a:rPr>
              <a:t>ret</a:t>
            </a:r>
            <a:endParaRPr lang="zh-CN" altLang="en-US" dirty="0">
              <a:latin typeface="Consolas"/>
              <a:cs typeface="Consolas"/>
            </a:endParaRPr>
          </a:p>
        </p:txBody>
      </p:sp>
      <p:sp>
        <p:nvSpPr>
          <p:cNvPr id="7" name="矩形 6"/>
          <p:cNvSpPr/>
          <p:nvPr/>
        </p:nvSpPr>
        <p:spPr>
          <a:xfrm>
            <a:off x="4106078" y="1326743"/>
            <a:ext cx="4572000" cy="1200329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>
            <a:spAutoFit/>
          </a:bodyPr>
          <a:lstStyle/>
          <a:p>
            <a:r>
              <a:rPr lang="en-US" altLang="zh-CN" dirty="0">
                <a:latin typeface="Consolas"/>
                <a:cs typeface="Consolas"/>
              </a:rPr>
              <a:t>add2:</a:t>
            </a:r>
          </a:p>
          <a:p>
            <a:r>
              <a:rPr lang="en-US" altLang="zh-CN" dirty="0">
                <a:latin typeface="Consolas"/>
                <a:cs typeface="Consolas"/>
              </a:rPr>
              <a:t>	</a:t>
            </a:r>
            <a:r>
              <a:rPr lang="mr-IN" altLang="zh-CN" dirty="0">
                <a:latin typeface="Consolas"/>
                <a:cs typeface="Consolas"/>
              </a:rPr>
              <a:t>leal    (%rdi,%rsi), %eax</a:t>
            </a:r>
          </a:p>
          <a:p>
            <a:r>
              <a:rPr lang="mr-IN" altLang="zh-CN" dirty="0">
                <a:latin typeface="Consolas"/>
                <a:cs typeface="Consolas"/>
              </a:rPr>
              <a:t>    ret</a:t>
            </a:r>
          </a:p>
          <a:p>
            <a:r>
              <a:rPr lang="mr-IN" altLang="zh-CN" dirty="0">
                <a:latin typeface="Consolas"/>
                <a:cs typeface="Consolas"/>
              </a:rPr>
              <a:t>    </a:t>
            </a:r>
            <a:endParaRPr lang="zh-CN" altLang="en-US" dirty="0">
              <a:latin typeface="Consolas"/>
              <a:cs typeface="Consolas"/>
            </a:endParaRPr>
          </a:p>
        </p:txBody>
      </p:sp>
      <p:sp>
        <p:nvSpPr>
          <p:cNvPr id="8" name="矩形 7"/>
          <p:cNvSpPr/>
          <p:nvPr/>
        </p:nvSpPr>
        <p:spPr>
          <a:xfrm>
            <a:off x="139550" y="1307551"/>
            <a:ext cx="4572000" cy="1200329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altLang="zh-CN" dirty="0">
                <a:latin typeface="Consolas"/>
                <a:cs typeface="Consolas"/>
              </a:rPr>
              <a:t>int add2(int a, int b) </a:t>
            </a:r>
          </a:p>
          <a:p>
            <a:r>
              <a:rPr lang="en-US" altLang="zh-CN" dirty="0">
                <a:latin typeface="Consolas"/>
                <a:cs typeface="Consolas"/>
              </a:rPr>
              <a:t>{</a:t>
            </a:r>
          </a:p>
          <a:p>
            <a:r>
              <a:rPr lang="en-US" altLang="zh-CN" dirty="0">
                <a:latin typeface="Consolas"/>
                <a:cs typeface="Consolas"/>
              </a:rPr>
              <a:t>  return a + b;</a:t>
            </a:r>
          </a:p>
          <a:p>
            <a:r>
              <a:rPr lang="en-US" altLang="zh-CN" dirty="0">
                <a:latin typeface="Consolas"/>
                <a:cs typeface="Consolas"/>
              </a:rPr>
              <a:t>}</a:t>
            </a:r>
          </a:p>
        </p:txBody>
      </p:sp>
      <p:sp>
        <p:nvSpPr>
          <p:cNvPr id="9" name="矩形 8"/>
          <p:cNvSpPr/>
          <p:nvPr/>
        </p:nvSpPr>
        <p:spPr>
          <a:xfrm>
            <a:off x="139550" y="5533202"/>
            <a:ext cx="7870608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kumimoji="1" lang="en-US" altLang="zh-CN" i="1" dirty="0">
                <a:latin typeface="Arial"/>
                <a:cs typeface="Arial"/>
              </a:rPr>
              <a:t>Registers</a:t>
            </a:r>
          </a:p>
          <a:p>
            <a:pPr lvl="1"/>
            <a:r>
              <a:rPr lang="en-US" altLang="zh-CN" i="1" dirty="0">
                <a:latin typeface="Arial"/>
                <a:cs typeface="Arial"/>
              </a:rPr>
              <a:t>First 6 Arguments: %rdi, %rsi, %</a:t>
            </a:r>
            <a:r>
              <a:rPr lang="en-US" altLang="zh-CN" i="1" dirty="0" err="1">
                <a:latin typeface="Arial"/>
                <a:cs typeface="Arial"/>
              </a:rPr>
              <a:t>rdx</a:t>
            </a:r>
            <a:r>
              <a:rPr lang="en-US" altLang="zh-CN" i="1" dirty="0">
                <a:latin typeface="Arial"/>
                <a:cs typeface="Arial"/>
              </a:rPr>
              <a:t>, %</a:t>
            </a:r>
            <a:r>
              <a:rPr lang="en-US" altLang="zh-CN" i="1" dirty="0" err="1">
                <a:latin typeface="Arial"/>
                <a:cs typeface="Arial"/>
              </a:rPr>
              <a:t>rcx</a:t>
            </a:r>
            <a:r>
              <a:rPr lang="en-US" altLang="zh-CN" i="1" dirty="0">
                <a:latin typeface="Arial"/>
                <a:cs typeface="Arial"/>
              </a:rPr>
              <a:t>, %r8, %r9</a:t>
            </a:r>
            <a:endParaRPr kumimoji="1" lang="en-US" altLang="zh-CN" i="1" dirty="0">
              <a:latin typeface="Arial"/>
              <a:cs typeface="Arial"/>
            </a:endParaRPr>
          </a:p>
          <a:p>
            <a:pPr lvl="1"/>
            <a:r>
              <a:rPr kumimoji="1" lang="en-US" altLang="zh-CN" i="1" dirty="0">
                <a:latin typeface="Arial"/>
                <a:cs typeface="Arial"/>
              </a:rPr>
              <a:t>Return value: %</a:t>
            </a:r>
            <a:r>
              <a:rPr kumimoji="1" lang="en-US" altLang="zh-CN" i="1" dirty="0" err="1">
                <a:latin typeface="Arial"/>
                <a:cs typeface="Arial"/>
              </a:rPr>
              <a:t>rax</a:t>
            </a:r>
            <a:endParaRPr kumimoji="1" lang="en-US" altLang="zh-CN" i="1" dirty="0">
              <a:latin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462952763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Example</a:t>
            </a:r>
            <a:endParaRPr kumimoji="1" lang="zh-CN" altLang="en-US" dirty="0"/>
          </a:p>
        </p:txBody>
      </p:sp>
      <p:sp>
        <p:nvSpPr>
          <p:cNvPr id="5" name="矩形 4"/>
          <p:cNvSpPr/>
          <p:nvPr/>
        </p:nvSpPr>
        <p:spPr>
          <a:xfrm>
            <a:off x="139550" y="2916809"/>
            <a:ext cx="4147943" cy="230832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dirty="0">
                <a:latin typeface="Consolas"/>
                <a:cs typeface="Consolas"/>
              </a:rPr>
              <a:t>int add3(int a, int b, int c) </a:t>
            </a:r>
          </a:p>
          <a:p>
            <a:r>
              <a:rPr lang="en-US" altLang="zh-CN" dirty="0">
                <a:latin typeface="Consolas"/>
                <a:cs typeface="Consolas"/>
              </a:rPr>
              <a:t>{</a:t>
            </a:r>
          </a:p>
          <a:p>
            <a:r>
              <a:rPr lang="mr-IN" altLang="zh-CN" dirty="0">
                <a:latin typeface="Consolas"/>
                <a:cs typeface="Consolas"/>
              </a:rPr>
              <a:t>  int r = add2(a, b);</a:t>
            </a:r>
          </a:p>
          <a:p>
            <a:r>
              <a:rPr lang="mr-IN" altLang="zh-CN" dirty="0">
                <a:latin typeface="Consolas"/>
                <a:cs typeface="Consolas"/>
              </a:rPr>
              <a:t>  r = r + c;</a:t>
            </a:r>
          </a:p>
          <a:p>
            <a:r>
              <a:rPr lang="en-US" altLang="zh-CN" dirty="0">
                <a:latin typeface="Consolas"/>
                <a:cs typeface="Consolas"/>
              </a:rPr>
              <a:t>  return r;</a:t>
            </a:r>
          </a:p>
          <a:p>
            <a:r>
              <a:rPr lang="en-US" altLang="zh-CN" dirty="0">
                <a:latin typeface="Consolas"/>
                <a:cs typeface="Consolas"/>
              </a:rPr>
              <a:t>}</a:t>
            </a:r>
          </a:p>
          <a:p>
            <a:endParaRPr lang="en-US" altLang="zh-CN" dirty="0">
              <a:latin typeface="Consolas"/>
              <a:cs typeface="Consolas"/>
            </a:endParaRPr>
          </a:p>
          <a:p>
            <a:endParaRPr lang="en-US" altLang="zh-CN" dirty="0">
              <a:latin typeface="Consolas"/>
              <a:cs typeface="Consolas"/>
            </a:endParaRPr>
          </a:p>
        </p:txBody>
      </p:sp>
      <p:sp>
        <p:nvSpPr>
          <p:cNvPr id="8" name="矩形 7"/>
          <p:cNvSpPr/>
          <p:nvPr/>
        </p:nvSpPr>
        <p:spPr>
          <a:xfrm>
            <a:off x="139550" y="1307551"/>
            <a:ext cx="4572000" cy="1200329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altLang="zh-CN" dirty="0">
                <a:latin typeface="Consolas"/>
                <a:cs typeface="Consolas"/>
              </a:rPr>
              <a:t>int add2(int a, int b) </a:t>
            </a:r>
          </a:p>
          <a:p>
            <a:r>
              <a:rPr lang="en-US" altLang="zh-CN" dirty="0">
                <a:latin typeface="Consolas"/>
                <a:cs typeface="Consolas"/>
              </a:rPr>
              <a:t>{</a:t>
            </a:r>
          </a:p>
          <a:p>
            <a:r>
              <a:rPr lang="en-US" altLang="zh-CN" dirty="0">
                <a:latin typeface="Consolas"/>
                <a:cs typeface="Consolas"/>
              </a:rPr>
              <a:t>  return a + b;</a:t>
            </a:r>
          </a:p>
          <a:p>
            <a:r>
              <a:rPr lang="en-US" altLang="zh-CN" dirty="0">
                <a:latin typeface="Consolas"/>
                <a:cs typeface="Consolas"/>
              </a:rPr>
              <a:t>}</a:t>
            </a:r>
          </a:p>
        </p:txBody>
      </p:sp>
      <p:sp>
        <p:nvSpPr>
          <p:cNvPr id="9" name="矩形 8"/>
          <p:cNvSpPr/>
          <p:nvPr/>
        </p:nvSpPr>
        <p:spPr>
          <a:xfrm>
            <a:off x="307010" y="5071537"/>
            <a:ext cx="7870608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kumimoji="1" lang="en-US" altLang="zh-CN" i="1" dirty="0">
                <a:latin typeface="Arial"/>
                <a:cs typeface="Arial"/>
              </a:rPr>
              <a:t>Registers</a:t>
            </a:r>
          </a:p>
          <a:p>
            <a:pPr lvl="1"/>
            <a:r>
              <a:rPr lang="en-US" altLang="zh-CN" i="1" dirty="0">
                <a:latin typeface="Arial"/>
                <a:cs typeface="Arial"/>
              </a:rPr>
              <a:t>First 6 Arguments: %rdi, %rsi, %</a:t>
            </a:r>
            <a:r>
              <a:rPr lang="en-US" altLang="zh-CN" i="1" dirty="0" err="1">
                <a:latin typeface="Arial"/>
                <a:cs typeface="Arial"/>
              </a:rPr>
              <a:t>rdx</a:t>
            </a:r>
            <a:r>
              <a:rPr lang="en-US" altLang="zh-CN" i="1" dirty="0">
                <a:latin typeface="Arial"/>
                <a:cs typeface="Arial"/>
              </a:rPr>
              <a:t>, %</a:t>
            </a:r>
            <a:r>
              <a:rPr lang="en-US" altLang="zh-CN" i="1" dirty="0" err="1">
                <a:latin typeface="Arial"/>
                <a:cs typeface="Arial"/>
              </a:rPr>
              <a:t>rcx</a:t>
            </a:r>
            <a:r>
              <a:rPr lang="en-US" altLang="zh-CN" i="1" dirty="0">
                <a:latin typeface="Arial"/>
                <a:cs typeface="Arial"/>
              </a:rPr>
              <a:t>, %r8, %9</a:t>
            </a:r>
            <a:endParaRPr kumimoji="1" lang="en-US" altLang="zh-CN" i="1" dirty="0">
              <a:latin typeface="Arial"/>
              <a:cs typeface="Arial"/>
            </a:endParaRPr>
          </a:p>
          <a:p>
            <a:pPr lvl="1"/>
            <a:r>
              <a:rPr kumimoji="1" lang="en-US" altLang="zh-CN" i="1" dirty="0">
                <a:latin typeface="Arial"/>
                <a:cs typeface="Arial"/>
              </a:rPr>
              <a:t>Return value: %</a:t>
            </a:r>
            <a:r>
              <a:rPr kumimoji="1" lang="en-US" altLang="zh-CN" i="1" dirty="0" err="1">
                <a:latin typeface="Arial"/>
                <a:cs typeface="Arial"/>
              </a:rPr>
              <a:t>rax</a:t>
            </a:r>
            <a:endParaRPr kumimoji="1" lang="en-US" altLang="zh-CN" i="1" dirty="0">
              <a:latin typeface="Arial"/>
              <a:cs typeface="Arial"/>
            </a:endParaRPr>
          </a:p>
        </p:txBody>
      </p:sp>
      <p:sp>
        <p:nvSpPr>
          <p:cNvPr id="10" name="矩形 9"/>
          <p:cNvSpPr/>
          <p:nvPr/>
        </p:nvSpPr>
        <p:spPr>
          <a:xfrm>
            <a:off x="4106078" y="2731027"/>
            <a:ext cx="4572000" cy="2031325"/>
          </a:xfrm>
          <a:prstGeom prst="rect">
            <a:avLst/>
          </a:prstGeom>
          <a:solidFill>
            <a:srgbClr val="DDD9C3"/>
          </a:solidFill>
        </p:spPr>
        <p:txBody>
          <a:bodyPr>
            <a:spAutoFit/>
          </a:bodyPr>
          <a:lstStyle/>
          <a:p>
            <a:r>
              <a:rPr lang="en-US" altLang="zh-CN" dirty="0">
                <a:latin typeface="Consolas"/>
                <a:cs typeface="Consolas"/>
              </a:rPr>
              <a:t>add3:</a:t>
            </a:r>
          </a:p>
          <a:p>
            <a:r>
              <a:rPr lang="en-US" altLang="zh-CN" dirty="0">
                <a:solidFill>
                  <a:schemeClr val="accent3">
                    <a:lumMod val="50000"/>
                  </a:schemeClr>
                </a:solidFill>
                <a:latin typeface="Consolas"/>
                <a:cs typeface="Consolas"/>
              </a:rPr>
              <a:t>	</a:t>
            </a:r>
            <a:r>
              <a:rPr lang="mr-IN" altLang="zh-CN" dirty="0">
                <a:solidFill>
                  <a:schemeClr val="accent3">
                    <a:lumMod val="50000"/>
                  </a:schemeClr>
                </a:solidFill>
                <a:latin typeface="Consolas"/>
                <a:cs typeface="Consolas"/>
              </a:rPr>
              <a:t>pushq</a:t>
            </a:r>
            <a:r>
              <a:rPr lang="en-US" altLang="zh-CN" dirty="0">
                <a:solidFill>
                  <a:schemeClr val="accent3">
                    <a:lumMod val="50000"/>
                  </a:schemeClr>
                </a:solidFill>
                <a:latin typeface="Consolas"/>
                <a:cs typeface="Consolas"/>
              </a:rPr>
              <a:t>	</a:t>
            </a:r>
            <a:r>
              <a:rPr lang="mr-IN" altLang="zh-CN" dirty="0">
                <a:solidFill>
                  <a:schemeClr val="accent3">
                    <a:lumMod val="50000"/>
                  </a:schemeClr>
                </a:solidFill>
                <a:latin typeface="Consolas"/>
                <a:cs typeface="Consolas"/>
              </a:rPr>
              <a:t>%rbx</a:t>
            </a:r>
            <a:endParaRPr lang="en-US" altLang="zh-CN" dirty="0">
              <a:solidFill>
                <a:schemeClr val="accent3">
                  <a:lumMod val="50000"/>
                </a:schemeClr>
              </a:solidFill>
              <a:latin typeface="Consolas"/>
              <a:cs typeface="Consolas"/>
            </a:endParaRPr>
          </a:p>
          <a:p>
            <a:r>
              <a:rPr lang="en-US" altLang="zh-CN" dirty="0">
                <a:latin typeface="Consolas"/>
                <a:cs typeface="Consolas"/>
              </a:rPr>
              <a:t>	</a:t>
            </a:r>
            <a:r>
              <a:rPr lang="mr-IN" altLang="zh-CN" dirty="0">
                <a:latin typeface="Consolas"/>
                <a:cs typeface="Consolas"/>
              </a:rPr>
              <a:t>movl   </a:t>
            </a:r>
            <a:r>
              <a:rPr lang="en-US" altLang="zh-CN" dirty="0">
                <a:latin typeface="Consolas"/>
                <a:cs typeface="Consolas"/>
              </a:rPr>
              <a:t>	</a:t>
            </a:r>
            <a:r>
              <a:rPr lang="mr-IN" altLang="zh-CN" dirty="0">
                <a:latin typeface="Consolas"/>
                <a:cs typeface="Consolas"/>
              </a:rPr>
              <a:t>%edx, %ebx</a:t>
            </a:r>
          </a:p>
          <a:p>
            <a:r>
              <a:rPr lang="en-US" altLang="zh-CN" dirty="0">
                <a:latin typeface="Consolas"/>
                <a:cs typeface="Consolas"/>
              </a:rPr>
              <a:t>	</a:t>
            </a:r>
            <a:r>
              <a:rPr lang="mr-IN" altLang="zh-CN" dirty="0">
                <a:latin typeface="Consolas"/>
                <a:cs typeface="Consolas"/>
              </a:rPr>
              <a:t>call   </a:t>
            </a:r>
            <a:r>
              <a:rPr lang="en-US" altLang="zh-CN" dirty="0">
                <a:latin typeface="Consolas"/>
                <a:cs typeface="Consolas"/>
              </a:rPr>
              <a:t>	</a:t>
            </a:r>
            <a:r>
              <a:rPr lang="mr-IN" altLang="zh-CN" dirty="0">
                <a:latin typeface="Consolas"/>
                <a:cs typeface="Consolas"/>
              </a:rPr>
              <a:t>add2</a:t>
            </a:r>
            <a:endParaRPr lang="en-US" altLang="zh-CN" dirty="0">
              <a:latin typeface="Consolas"/>
              <a:cs typeface="Consolas"/>
            </a:endParaRPr>
          </a:p>
          <a:p>
            <a:r>
              <a:rPr lang="en-US" altLang="zh-CN" dirty="0">
                <a:latin typeface="Consolas"/>
                <a:cs typeface="Consolas"/>
              </a:rPr>
              <a:t>	</a:t>
            </a:r>
            <a:r>
              <a:rPr lang="mr-IN" altLang="zh-CN" dirty="0">
                <a:latin typeface="Consolas"/>
                <a:cs typeface="Consolas"/>
              </a:rPr>
              <a:t>addl   </a:t>
            </a:r>
            <a:r>
              <a:rPr lang="en-US" altLang="zh-CN" dirty="0">
                <a:latin typeface="Consolas"/>
                <a:cs typeface="Consolas"/>
              </a:rPr>
              <a:t>	</a:t>
            </a:r>
            <a:r>
              <a:rPr lang="mr-IN" altLang="zh-CN" dirty="0">
                <a:latin typeface="Consolas"/>
                <a:cs typeface="Consolas"/>
              </a:rPr>
              <a:t>%ebx, %eax</a:t>
            </a:r>
          </a:p>
          <a:p>
            <a:r>
              <a:rPr lang="en-US" altLang="zh-CN" dirty="0">
                <a:solidFill>
                  <a:srgbClr val="4F6228"/>
                </a:solidFill>
                <a:latin typeface="Consolas"/>
                <a:cs typeface="Consolas"/>
              </a:rPr>
              <a:t>	</a:t>
            </a:r>
            <a:r>
              <a:rPr lang="mr-IN" altLang="zh-CN" dirty="0">
                <a:solidFill>
                  <a:srgbClr val="4F6228"/>
                </a:solidFill>
                <a:latin typeface="Consolas"/>
                <a:cs typeface="Consolas"/>
              </a:rPr>
              <a:t>popq    %rbx</a:t>
            </a:r>
          </a:p>
          <a:p>
            <a:r>
              <a:rPr lang="en-US" altLang="zh-CN" dirty="0">
                <a:latin typeface="Consolas"/>
                <a:cs typeface="Consolas"/>
              </a:rPr>
              <a:t>   	</a:t>
            </a:r>
            <a:r>
              <a:rPr lang="mr-IN" altLang="zh-CN" dirty="0">
                <a:latin typeface="Consolas"/>
                <a:cs typeface="Consolas"/>
              </a:rPr>
              <a:t>ret</a:t>
            </a:r>
            <a:endParaRPr lang="zh-CN" altLang="en-US" dirty="0">
              <a:latin typeface="Consolas"/>
              <a:cs typeface="Consolas"/>
            </a:endParaRPr>
          </a:p>
        </p:txBody>
      </p:sp>
      <p:sp>
        <p:nvSpPr>
          <p:cNvPr id="11" name="矩形 10"/>
          <p:cNvSpPr/>
          <p:nvPr/>
        </p:nvSpPr>
        <p:spPr>
          <a:xfrm>
            <a:off x="4106078" y="1326743"/>
            <a:ext cx="4572000" cy="1200329"/>
          </a:xfrm>
          <a:prstGeom prst="rect">
            <a:avLst/>
          </a:prstGeom>
          <a:solidFill>
            <a:srgbClr val="DDD9C3"/>
          </a:solidFill>
        </p:spPr>
        <p:txBody>
          <a:bodyPr>
            <a:spAutoFit/>
          </a:bodyPr>
          <a:lstStyle/>
          <a:p>
            <a:r>
              <a:rPr lang="en-US" altLang="zh-CN" dirty="0">
                <a:latin typeface="Consolas"/>
                <a:cs typeface="Consolas"/>
              </a:rPr>
              <a:t>add2:</a:t>
            </a:r>
          </a:p>
          <a:p>
            <a:r>
              <a:rPr lang="en-US" altLang="zh-CN" dirty="0">
                <a:latin typeface="Consolas"/>
                <a:cs typeface="Consolas"/>
              </a:rPr>
              <a:t>	</a:t>
            </a:r>
            <a:r>
              <a:rPr lang="mr-IN" altLang="zh-CN" dirty="0">
                <a:latin typeface="Consolas"/>
                <a:cs typeface="Consolas"/>
              </a:rPr>
              <a:t>leal    (%rdi,%rsi), %eax</a:t>
            </a:r>
          </a:p>
          <a:p>
            <a:r>
              <a:rPr lang="mr-IN" altLang="zh-CN" dirty="0">
                <a:latin typeface="Consolas"/>
                <a:cs typeface="Consolas"/>
              </a:rPr>
              <a:t>    ret</a:t>
            </a:r>
          </a:p>
          <a:p>
            <a:r>
              <a:rPr lang="mr-IN" altLang="zh-CN" dirty="0">
                <a:latin typeface="Consolas"/>
                <a:cs typeface="Consolas"/>
              </a:rPr>
              <a:t>    </a:t>
            </a:r>
            <a:endParaRPr lang="zh-CN" altLang="en-US" dirty="0">
              <a:latin typeface="Consolas"/>
              <a:cs typeface="Consolas"/>
            </a:endParaRPr>
          </a:p>
        </p:txBody>
      </p:sp>
      <p:grpSp>
        <p:nvGrpSpPr>
          <p:cNvPr id="21" name="Group 20"/>
          <p:cNvGrpSpPr/>
          <p:nvPr/>
        </p:nvGrpSpPr>
        <p:grpSpPr>
          <a:xfrm>
            <a:off x="6195521" y="2084696"/>
            <a:ext cx="2350185" cy="1090008"/>
            <a:chOff x="6195521" y="2084696"/>
            <a:chExt cx="2350185" cy="1090008"/>
          </a:xfrm>
        </p:grpSpPr>
        <p:cxnSp>
          <p:nvCxnSpPr>
            <p:cNvPr id="14" name="Straight Arrow Connector 13"/>
            <p:cNvCxnSpPr/>
            <p:nvPr/>
          </p:nvCxnSpPr>
          <p:spPr>
            <a:xfrm flipH="1">
              <a:off x="6195521" y="2658914"/>
              <a:ext cx="457284" cy="515790"/>
            </a:xfrm>
            <a:prstGeom prst="straightConnector1">
              <a:avLst/>
            </a:prstGeom>
            <a:ln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TextBox 14"/>
            <p:cNvSpPr txBox="1"/>
            <p:nvPr/>
          </p:nvSpPr>
          <p:spPr>
            <a:xfrm>
              <a:off x="6195521" y="2084696"/>
              <a:ext cx="2350185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00FF"/>
                  </a:solidFill>
                </a:rPr>
                <a:t>save %</a:t>
              </a:r>
              <a:r>
                <a:rPr lang="en-US" dirty="0" err="1">
                  <a:solidFill>
                    <a:srgbClr val="0000FF"/>
                  </a:solidFill>
                </a:rPr>
                <a:t>rbx</a:t>
              </a:r>
              <a:r>
                <a:rPr lang="en-US" dirty="0">
                  <a:solidFill>
                    <a:srgbClr val="0000FF"/>
                  </a:solidFill>
                </a:rPr>
                <a:t> (</a:t>
              </a:r>
              <a:r>
                <a:rPr lang="en-US" dirty="0" err="1">
                  <a:solidFill>
                    <a:srgbClr val="0000FF"/>
                  </a:solidFill>
                </a:rPr>
                <a:t>callee</a:t>
              </a:r>
              <a:r>
                <a:rPr lang="en-US" dirty="0">
                  <a:solidFill>
                    <a:srgbClr val="0000FF"/>
                  </a:solidFill>
                </a:rPr>
                <a:t>-save)</a:t>
              </a:r>
            </a:p>
            <a:p>
              <a:r>
                <a:rPr lang="en-US" dirty="0">
                  <a:solidFill>
                    <a:srgbClr val="0000FF"/>
                  </a:solidFill>
                </a:rPr>
                <a:t> before overwriting it</a:t>
              </a:r>
            </a:p>
          </p:txBody>
        </p:sp>
      </p:grpSp>
      <p:grpSp>
        <p:nvGrpSpPr>
          <p:cNvPr id="19" name="Group 18"/>
          <p:cNvGrpSpPr/>
          <p:nvPr/>
        </p:nvGrpSpPr>
        <p:grpSpPr>
          <a:xfrm>
            <a:off x="1492295" y="3520993"/>
            <a:ext cx="4049305" cy="1489124"/>
            <a:chOff x="1492295" y="3520993"/>
            <a:chExt cx="4049305" cy="1489124"/>
          </a:xfrm>
        </p:grpSpPr>
        <p:sp>
          <p:nvSpPr>
            <p:cNvPr id="7" name="TextBox 6"/>
            <p:cNvSpPr txBox="1"/>
            <p:nvPr/>
          </p:nvSpPr>
          <p:spPr>
            <a:xfrm>
              <a:off x="1492295" y="4363786"/>
              <a:ext cx="3074943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dirty="0">
                  <a:solidFill>
                    <a:srgbClr val="0000FF"/>
                  </a:solidFill>
                </a:rPr>
                <a:t>%</a:t>
              </a:r>
              <a:r>
                <a:rPr lang="en-US" dirty="0" err="1">
                  <a:solidFill>
                    <a:srgbClr val="0000FF"/>
                  </a:solidFill>
                </a:rPr>
                <a:t>rdx</a:t>
              </a:r>
              <a:r>
                <a:rPr lang="en-US" dirty="0">
                  <a:solidFill>
                    <a:srgbClr val="0000FF"/>
                  </a:solidFill>
                </a:rPr>
                <a:t> (contains c) is caller save, </a:t>
              </a:r>
            </a:p>
            <a:p>
              <a:pPr algn="r"/>
              <a:r>
                <a:rPr lang="en-US" dirty="0">
                  <a:solidFill>
                    <a:srgbClr val="0000FF"/>
                  </a:solidFill>
                </a:rPr>
                <a:t>i.e. may be changed by add2</a:t>
              </a:r>
            </a:p>
          </p:txBody>
        </p:sp>
        <p:cxnSp>
          <p:nvCxnSpPr>
            <p:cNvPr id="4" name="Straight Arrow Connector 3"/>
            <p:cNvCxnSpPr/>
            <p:nvPr/>
          </p:nvCxnSpPr>
          <p:spPr>
            <a:xfrm flipV="1">
              <a:off x="3853143" y="3520993"/>
              <a:ext cx="1688457" cy="842793"/>
            </a:xfrm>
            <a:prstGeom prst="straightConnector1">
              <a:avLst/>
            </a:prstGeom>
            <a:ln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0" name="Group 19"/>
          <p:cNvGrpSpPr/>
          <p:nvPr/>
        </p:nvGrpSpPr>
        <p:grpSpPr>
          <a:xfrm>
            <a:off x="6912568" y="3520993"/>
            <a:ext cx="2231432" cy="1058476"/>
            <a:chOff x="6912568" y="3520993"/>
            <a:chExt cx="2231432" cy="1058476"/>
          </a:xfrm>
        </p:grpSpPr>
        <p:cxnSp>
          <p:nvCxnSpPr>
            <p:cNvPr id="6" name="Straight Arrow Connector 5"/>
            <p:cNvCxnSpPr/>
            <p:nvPr/>
          </p:nvCxnSpPr>
          <p:spPr>
            <a:xfrm flipH="1" flipV="1">
              <a:off x="6912568" y="3520993"/>
              <a:ext cx="808150" cy="432909"/>
            </a:xfrm>
            <a:prstGeom prst="straightConnector1">
              <a:avLst/>
            </a:prstGeom>
            <a:ln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TextBox 15"/>
            <p:cNvSpPr txBox="1"/>
            <p:nvPr/>
          </p:nvSpPr>
          <p:spPr>
            <a:xfrm>
              <a:off x="7060489" y="3933138"/>
              <a:ext cx="2083511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dirty="0">
                  <a:solidFill>
                    <a:srgbClr val="0000FF"/>
                  </a:solidFill>
                </a:rPr>
                <a:t>c is copied to %</a:t>
              </a:r>
              <a:r>
                <a:rPr lang="en-US" dirty="0" err="1">
                  <a:solidFill>
                    <a:srgbClr val="0000FF"/>
                  </a:solidFill>
                </a:rPr>
                <a:t>ebx</a:t>
              </a:r>
              <a:r>
                <a:rPr lang="en-US" dirty="0">
                  <a:solidFill>
                    <a:srgbClr val="0000FF"/>
                  </a:solidFill>
                </a:rPr>
                <a:t>,</a:t>
              </a:r>
            </a:p>
            <a:p>
              <a:pPr algn="r"/>
              <a:r>
                <a:rPr lang="en-US" dirty="0">
                  <a:solidFill>
                    <a:srgbClr val="0000FF"/>
                  </a:solidFill>
                </a:rPr>
                <a:t>which is </a:t>
              </a:r>
              <a:r>
                <a:rPr lang="en-US" dirty="0" err="1">
                  <a:solidFill>
                    <a:srgbClr val="0000FF"/>
                  </a:solidFill>
                </a:rPr>
                <a:t>callee</a:t>
              </a:r>
              <a:r>
                <a:rPr lang="en-US" dirty="0">
                  <a:solidFill>
                    <a:srgbClr val="0000FF"/>
                  </a:solidFill>
                </a:rPr>
                <a:t> save</a:t>
              </a:r>
            </a:p>
          </p:txBody>
        </p:sp>
      </p:grpSp>
      <p:grpSp>
        <p:nvGrpSpPr>
          <p:cNvPr id="22" name="Group 21"/>
          <p:cNvGrpSpPr/>
          <p:nvPr/>
        </p:nvGrpSpPr>
        <p:grpSpPr>
          <a:xfrm>
            <a:off x="5834102" y="4516916"/>
            <a:ext cx="3170348" cy="898782"/>
            <a:chOff x="5844655" y="4690016"/>
            <a:chExt cx="3170348" cy="898782"/>
          </a:xfrm>
        </p:grpSpPr>
        <p:sp>
          <p:nvSpPr>
            <p:cNvPr id="12" name="矩形 11"/>
            <p:cNvSpPr/>
            <p:nvPr/>
          </p:nvSpPr>
          <p:spPr>
            <a:xfrm>
              <a:off x="6469715" y="5219466"/>
              <a:ext cx="2545288" cy="36933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kumimoji="1" lang="en-US" altLang="zh-CN" dirty="0">
                  <a:solidFill>
                    <a:srgbClr val="0000FF"/>
                  </a:solidFill>
                  <a:latin typeface="Arial"/>
                  <a:cs typeface="Arial"/>
                </a:rPr>
                <a:t>restore %</a:t>
              </a:r>
              <a:r>
                <a:rPr kumimoji="1" lang="en-US" altLang="zh-CN" dirty="0" err="1">
                  <a:solidFill>
                    <a:srgbClr val="0000FF"/>
                  </a:solidFill>
                  <a:latin typeface="Arial"/>
                  <a:cs typeface="Arial"/>
                </a:rPr>
                <a:t>rbx</a:t>
              </a:r>
              <a:r>
                <a:rPr kumimoji="1" lang="en-US" altLang="zh-CN" dirty="0">
                  <a:solidFill>
                    <a:srgbClr val="0000FF"/>
                  </a:solidFill>
                  <a:latin typeface="Arial"/>
                  <a:cs typeface="Arial"/>
                </a:rPr>
                <a:t> before ret</a:t>
              </a:r>
              <a:endParaRPr lang="zh-CN" altLang="en-US" dirty="0">
                <a:solidFill>
                  <a:srgbClr val="0000FF"/>
                </a:solidFill>
              </a:endParaRPr>
            </a:p>
          </p:txBody>
        </p:sp>
        <p:cxnSp>
          <p:nvCxnSpPr>
            <p:cNvPr id="17" name="Straight Arrow Connector 16"/>
            <p:cNvCxnSpPr/>
            <p:nvPr/>
          </p:nvCxnSpPr>
          <p:spPr>
            <a:xfrm flipH="1" flipV="1">
              <a:off x="5844655" y="4690016"/>
              <a:ext cx="808150" cy="535117"/>
            </a:xfrm>
            <a:prstGeom prst="straightConnector1">
              <a:avLst/>
            </a:prstGeom>
            <a:ln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758390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052C0A-F116-41AA-B90D-C44668EEDB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2DD81C-17D3-4533-94CE-102ACAC122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18364" y="1600200"/>
            <a:ext cx="8925636" cy="4525963"/>
          </a:xfrm>
        </p:spPr>
        <p:txBody>
          <a:bodyPr/>
          <a:lstStyle/>
          <a:p>
            <a:r>
              <a:rPr lang="en-US" dirty="0"/>
              <a:t>Function call in x86</a:t>
            </a:r>
          </a:p>
          <a:p>
            <a:pPr lvl="1"/>
            <a:r>
              <a:rPr lang="en-US" dirty="0"/>
              <a:t>Stack (stores return-address, local variables)</a:t>
            </a:r>
          </a:p>
          <a:p>
            <a:pPr lvl="2"/>
            <a:r>
              <a:rPr lang="en-US" dirty="0"/>
              <a:t>Push, pop</a:t>
            </a:r>
          </a:p>
          <a:p>
            <a:pPr lvl="1"/>
            <a:r>
              <a:rPr lang="en-US" dirty="0"/>
              <a:t>Call/ret</a:t>
            </a:r>
          </a:p>
          <a:p>
            <a:pPr lvl="2"/>
            <a:r>
              <a:rPr lang="en-US" dirty="0"/>
              <a:t>Call saves return-address on stack, ret pops return-address from stack</a:t>
            </a:r>
          </a:p>
          <a:p>
            <a:pPr lvl="1"/>
            <a:r>
              <a:rPr lang="en-US" dirty="0"/>
              <a:t>UNIX calling convention</a:t>
            </a:r>
          </a:p>
          <a:p>
            <a:pPr lvl="2"/>
            <a:r>
              <a:rPr lang="en-US" dirty="0"/>
              <a:t>First 6 function arguments are stored in %</a:t>
            </a:r>
            <a:r>
              <a:rPr lang="en-US" dirty="0" err="1"/>
              <a:t>rdi</a:t>
            </a:r>
            <a:r>
              <a:rPr lang="en-US" dirty="0"/>
              <a:t>, %</a:t>
            </a:r>
            <a:r>
              <a:rPr lang="en-US" dirty="0" err="1"/>
              <a:t>rsi</a:t>
            </a:r>
            <a:r>
              <a:rPr lang="en-US" dirty="0"/>
              <a:t>, %</a:t>
            </a:r>
            <a:r>
              <a:rPr lang="en-US" dirty="0" err="1"/>
              <a:t>rdx</a:t>
            </a:r>
            <a:r>
              <a:rPr lang="en-US" dirty="0"/>
              <a:t>, %</a:t>
            </a:r>
            <a:r>
              <a:rPr lang="en-US" dirty="0" err="1"/>
              <a:t>rcd</a:t>
            </a:r>
            <a:r>
              <a:rPr lang="en-US" dirty="0"/>
              <a:t>, %r8, %r9</a:t>
            </a:r>
          </a:p>
          <a:p>
            <a:pPr lvl="2"/>
            <a:r>
              <a:rPr lang="en-US" dirty="0"/>
              <a:t>Return </a:t>
            </a:r>
            <a:r>
              <a:rPr lang="en-US" dirty="0" err="1"/>
              <a:t>val</a:t>
            </a:r>
            <a:r>
              <a:rPr lang="en-US" dirty="0"/>
              <a:t> is stored in %</a:t>
            </a:r>
            <a:r>
              <a:rPr lang="en-US" dirty="0" err="1"/>
              <a:t>rax</a:t>
            </a:r>
            <a:endParaRPr lang="en-US" dirty="0"/>
          </a:p>
          <a:p>
            <a:pPr lvl="2"/>
            <a:r>
              <a:rPr lang="en-US" dirty="0"/>
              <a:t>Caller vs. callee save registers</a:t>
            </a:r>
          </a:p>
        </p:txBody>
      </p:sp>
    </p:spTree>
    <p:extLst>
      <p:ext uri="{BB962C8B-B14F-4D97-AF65-F5344CB8AC3E}">
        <p14:creationId xmlns:p14="http://schemas.microsoft.com/office/powerpoint/2010/main" val="3435519815"/>
      </p:ext>
    </p:extLst>
  </p:cSld>
  <p:clrMapOvr>
    <a:masterClrMapping/>
  </p:clrMapOvr>
</p:sld>
</file>

<file path=ppt/theme/theme1.xml><?xml version="1.0" encoding="utf-8"?>
<a:theme xmlns:a="http://schemas.openxmlformats.org/drawingml/2006/main" name="CloudVisor-Austi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00B0F0"/>
        </a:solidFill>
        <a:ln w="28575">
          <a:solidFill>
            <a:schemeClr val="bg2">
              <a:lumMod val="25000"/>
            </a:schemeClr>
          </a:solidFill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CloudVisor-Austin.thmx</Template>
  <TotalTime>73621</TotalTime>
  <Words>3347</Words>
  <Application>Microsoft Macintosh PowerPoint</Application>
  <PresentationFormat>On-screen Show (4:3)</PresentationFormat>
  <Paragraphs>1070</Paragraphs>
  <Slides>41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41</vt:i4>
      </vt:variant>
    </vt:vector>
  </HeadingPairs>
  <TitlesOfParts>
    <vt:vector size="50" baseType="lpstr">
      <vt:lpstr>Arial</vt:lpstr>
      <vt:lpstr>Arial Narrow</vt:lpstr>
      <vt:lpstr>Calibri</vt:lpstr>
      <vt:lpstr>Consolas</vt:lpstr>
      <vt:lpstr>Gill Sans</vt:lpstr>
      <vt:lpstr>Tahoma</vt:lpstr>
      <vt:lpstr>Verdana</vt:lpstr>
      <vt:lpstr>Wingdings</vt:lpstr>
      <vt:lpstr>CloudVisor-Austin</vt:lpstr>
      <vt:lpstr>Machine Program: Procedure</vt:lpstr>
      <vt:lpstr>What we’ve learnt about  how hardware runs a program?</vt:lpstr>
      <vt:lpstr>Today’s lesson plan</vt:lpstr>
      <vt:lpstr>Requirements of procedure calls?</vt:lpstr>
      <vt:lpstr>Requirements of procedure calls?</vt:lpstr>
      <vt:lpstr>Requirements of procedure calls?</vt:lpstr>
      <vt:lpstr>How to transfer control for procedure calls?</vt:lpstr>
      <vt:lpstr>How to transfer control for procedure calls?</vt:lpstr>
      <vt:lpstr>How to transfer control for procedure calls?</vt:lpstr>
      <vt:lpstr>How to transfer control for procedure calls?</vt:lpstr>
      <vt:lpstr>How to transfer control for procedure calls?</vt:lpstr>
      <vt:lpstr>How to transfer control for procedure calls?</vt:lpstr>
      <vt:lpstr>How to transfer control for procedure calls?</vt:lpstr>
      <vt:lpstr>How to transfer control for procedure calls?</vt:lpstr>
      <vt:lpstr>PowerPoint Presentation</vt:lpstr>
      <vt:lpstr>Stack – push Instruction</vt:lpstr>
      <vt:lpstr>PowerPoint Presentation</vt:lpstr>
      <vt:lpstr>PowerPoint Presentation</vt:lpstr>
      <vt:lpstr>Stack – pop Instruction</vt:lpstr>
      <vt:lpstr>PowerPoint Presentation</vt:lpstr>
      <vt:lpstr>PowerPoint Presentation</vt:lpstr>
      <vt:lpstr>call/ret : control transfer from caller to callee and vice versa</vt:lpstr>
      <vt:lpstr>call/ret : control transfer from caller to callee and vice versa</vt:lpstr>
      <vt:lpstr>Call instruction: control transfer from caller to callee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Where to store function arguments and return values?</vt:lpstr>
      <vt:lpstr>Where to store function arguments and return values?</vt:lpstr>
      <vt:lpstr>C/UNIX/MacOS’s calling convention</vt:lpstr>
      <vt:lpstr>Calling convention: args, return vals</vt:lpstr>
      <vt:lpstr>How do C compilers allocate/deallocate local vars?</vt:lpstr>
      <vt:lpstr>Calling convention:  Caller vs. callee-save registers</vt:lpstr>
      <vt:lpstr>Calling convention: register saving</vt:lpstr>
      <vt:lpstr>Calling convention: Register saving</vt:lpstr>
      <vt:lpstr>Example</vt:lpstr>
      <vt:lpstr>Example</vt:lpstr>
      <vt:lpstr>Summary</vt:lpstr>
    </vt:vector>
  </TitlesOfParts>
  <Company>fudan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VFlash</dc:title>
  <dc:creator>xiang song</dc:creator>
  <cp:lastModifiedBy>Jinyang Li</cp:lastModifiedBy>
  <cp:revision>9841</cp:revision>
  <cp:lastPrinted>2018-10-22T15:50:26Z</cp:lastPrinted>
  <dcterms:created xsi:type="dcterms:W3CDTF">2012-08-17T04:52:30Z</dcterms:created>
  <dcterms:modified xsi:type="dcterms:W3CDTF">2026-03-02T18:48:40Z</dcterms:modified>
</cp:coreProperties>
</file>