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72"/>
  </p:notesMasterIdLst>
  <p:handoutMasterIdLst>
    <p:handoutMasterId r:id="rId73"/>
  </p:handoutMasterIdLst>
  <p:sldIdLst>
    <p:sldId id="256" r:id="rId2"/>
    <p:sldId id="1176" r:id="rId3"/>
    <p:sldId id="1177" r:id="rId4"/>
    <p:sldId id="1178" r:id="rId5"/>
    <p:sldId id="1175" r:id="rId6"/>
    <p:sldId id="1181" r:id="rId7"/>
    <p:sldId id="1049" r:id="rId8"/>
    <p:sldId id="1047" r:id="rId9"/>
    <p:sldId id="1051" r:id="rId10"/>
    <p:sldId id="1161" r:id="rId11"/>
    <p:sldId id="1171" r:id="rId12"/>
    <p:sldId id="1052" r:id="rId13"/>
    <p:sldId id="1058" r:id="rId14"/>
    <p:sldId id="1060" r:id="rId15"/>
    <p:sldId id="1061" r:id="rId16"/>
    <p:sldId id="1062" r:id="rId17"/>
    <p:sldId id="1063" r:id="rId18"/>
    <p:sldId id="1172" r:id="rId19"/>
    <p:sldId id="1163" r:id="rId20"/>
    <p:sldId id="1173" r:id="rId21"/>
    <p:sldId id="1064" r:id="rId22"/>
    <p:sldId id="1065" r:id="rId23"/>
    <p:sldId id="1066" r:id="rId24"/>
    <p:sldId id="1068" r:id="rId25"/>
    <p:sldId id="1071" r:id="rId26"/>
    <p:sldId id="1074" r:id="rId27"/>
    <p:sldId id="1095" r:id="rId28"/>
    <p:sldId id="1079" r:id="rId29"/>
    <p:sldId id="1081" r:id="rId30"/>
    <p:sldId id="1182" r:id="rId31"/>
    <p:sldId id="1169" r:id="rId32"/>
    <p:sldId id="1084" r:id="rId33"/>
    <p:sldId id="1179" r:id="rId34"/>
    <p:sldId id="1180" r:id="rId35"/>
    <p:sldId id="1086" r:id="rId36"/>
    <p:sldId id="1089" r:id="rId37"/>
    <p:sldId id="1085" r:id="rId38"/>
    <p:sldId id="1087" r:id="rId39"/>
    <p:sldId id="1088" r:id="rId40"/>
    <p:sldId id="1091" r:id="rId41"/>
    <p:sldId id="1090" r:id="rId42"/>
    <p:sldId id="1092" r:id="rId43"/>
    <p:sldId id="1093" r:id="rId44"/>
    <p:sldId id="1183" r:id="rId45"/>
    <p:sldId id="1083" r:id="rId46"/>
    <p:sldId id="1129" r:id="rId47"/>
    <p:sldId id="1150" r:id="rId48"/>
    <p:sldId id="1094" r:id="rId49"/>
    <p:sldId id="1151" r:id="rId50"/>
    <p:sldId id="1098" r:id="rId51"/>
    <p:sldId id="1099" r:id="rId52"/>
    <p:sldId id="1100" r:id="rId53"/>
    <p:sldId id="1101" r:id="rId54"/>
    <p:sldId id="1102" r:id="rId55"/>
    <p:sldId id="1103" r:id="rId56"/>
    <p:sldId id="1104" r:id="rId57"/>
    <p:sldId id="1106" r:id="rId58"/>
    <p:sldId id="1165" r:id="rId59"/>
    <p:sldId id="1166" r:id="rId60"/>
    <p:sldId id="1111" r:id="rId61"/>
    <p:sldId id="1112" r:id="rId62"/>
    <p:sldId id="1113" r:id="rId63"/>
    <p:sldId id="1114" r:id="rId64"/>
    <p:sldId id="1170" r:id="rId65"/>
    <p:sldId id="1120" r:id="rId66"/>
    <p:sldId id="1121" r:id="rId67"/>
    <p:sldId id="1122" r:id="rId68"/>
    <p:sldId id="1123" r:id="rId69"/>
    <p:sldId id="1167" r:id="rId70"/>
    <p:sldId id="1168" r:id="rId7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00FF"/>
    <a:srgbClr val="FCD5B5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87BB90-7859-DD42-AFA4-03F697C707A5}" v="133" dt="2026-02-18T15:23:28.4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 autoAdjust="0"/>
    <p:restoredTop sz="92958" autoAdjust="0"/>
  </p:normalViewPr>
  <p:slideViewPr>
    <p:cSldViewPr snapToGrid="0" snapToObjects="1">
      <p:cViewPr varScale="1">
        <p:scale>
          <a:sx n="114" d="100"/>
          <a:sy n="114" d="100"/>
        </p:scale>
        <p:origin x="792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112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" d="1"/>
        <a:sy n="1" d="1"/>
      </p:scale>
      <p:origin x="0" y="-424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78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749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0xf000 + 0x8 =</a:t>
            </a:r>
            <a:r>
              <a:rPr lang="en-US" baseline="0" dirty="0"/>
              <a:t> 0xf008</a:t>
            </a:r>
          </a:p>
          <a:p>
            <a:r>
              <a:rPr lang="en-US" baseline="0" dirty="0"/>
              <a:t>0xf000 + 0x0100 = 0xf100</a:t>
            </a:r>
          </a:p>
          <a:p>
            <a:r>
              <a:rPr lang="en-US" baseline="0" dirty="0"/>
              <a:t>0xf000 + 4*0x0100 = 0xf400</a:t>
            </a:r>
          </a:p>
          <a:p>
            <a:r>
              <a:rPr lang="en-US" baseline="0" dirty="0"/>
              <a:t>2*0xf000 + 0x80 = 0x1d080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52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0xf000 + 0x8 =</a:t>
            </a:r>
            <a:r>
              <a:rPr lang="en-US" baseline="0" dirty="0"/>
              <a:t> 0xf008</a:t>
            </a:r>
          </a:p>
          <a:p>
            <a:r>
              <a:rPr lang="en-US" baseline="0" dirty="0"/>
              <a:t>0xf000 + 0x0100 = 0xf100</a:t>
            </a:r>
          </a:p>
          <a:p>
            <a:r>
              <a:rPr lang="en-US" baseline="0" dirty="0"/>
              <a:t>0xf000 + 4*0x0100 = 0xf400</a:t>
            </a:r>
          </a:p>
          <a:p>
            <a:r>
              <a:rPr lang="en-US" baseline="0" dirty="0"/>
              <a:t>2*0xf000 + 0x80 = 0x1d080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53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0xf000 + 0x8 =</a:t>
            </a:r>
            <a:r>
              <a:rPr lang="en-US" baseline="0" dirty="0"/>
              <a:t> 0xf008</a:t>
            </a:r>
          </a:p>
          <a:p>
            <a:r>
              <a:rPr lang="en-US" baseline="0" dirty="0"/>
              <a:t>0xf000 + 0x0100 = 0xf100</a:t>
            </a:r>
          </a:p>
          <a:p>
            <a:r>
              <a:rPr lang="en-US" baseline="0" dirty="0"/>
              <a:t>0xf000 + 4*0x0100 = 0xf400</a:t>
            </a:r>
          </a:p>
          <a:p>
            <a:r>
              <a:rPr lang="en-US" baseline="0" dirty="0"/>
              <a:t>2*0xf000 + 0x80 = 0x1d080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54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0xf000 + 0x8 =</a:t>
            </a:r>
            <a:r>
              <a:rPr lang="en-US" baseline="0" dirty="0"/>
              <a:t> 0xf008</a:t>
            </a:r>
          </a:p>
          <a:p>
            <a:r>
              <a:rPr lang="en-US" baseline="0" dirty="0"/>
              <a:t>0xf000 + 0x0100 = 0xf100</a:t>
            </a:r>
          </a:p>
          <a:p>
            <a:r>
              <a:rPr lang="en-US" baseline="0" dirty="0"/>
              <a:t>0xf000 + 4*0x0100 = 0xf400</a:t>
            </a:r>
          </a:p>
          <a:p>
            <a:r>
              <a:rPr lang="en-US" baseline="0" dirty="0"/>
              <a:t>2*0xf000 + 0x80 = 0x1d080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55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0xf000 + 0x8 =</a:t>
            </a:r>
            <a:r>
              <a:rPr lang="en-US" baseline="0" dirty="0"/>
              <a:t> 0xf008</a:t>
            </a:r>
          </a:p>
          <a:p>
            <a:r>
              <a:rPr lang="en-US" baseline="0" dirty="0"/>
              <a:t>0xf000 + 0x0100 = 0xf100</a:t>
            </a:r>
          </a:p>
          <a:p>
            <a:r>
              <a:rPr lang="en-US" baseline="0" dirty="0"/>
              <a:t>0xf000 + 4*0x0100 = 0xf400</a:t>
            </a:r>
          </a:p>
          <a:p>
            <a:r>
              <a:rPr lang="en-US" baseline="0" dirty="0"/>
              <a:t>2*0xf000 + 0x80 = 0x1d080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56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 dirty="0">
                <a:latin typeface="Times New Roman" pitchFamily="18" charset="0"/>
              </a:rPr>
              <a:t>long s = x+2*y;</a:t>
            </a:r>
          </a:p>
          <a:p>
            <a:r>
              <a:rPr lang="en-US" sz="1100" dirty="0">
                <a:latin typeface="Times New Roman" pitchFamily="18" charset="0"/>
              </a:rPr>
              <a:t>s *= 5;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 dirty="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2026/2/18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Machine Program: Basics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Jinyang Li</a:t>
            </a:r>
          </a:p>
          <a:p>
            <a:endParaRPr lang="en-US" dirty="0"/>
          </a:p>
          <a:p>
            <a:r>
              <a:rPr lang="en-US" dirty="0"/>
              <a:t>Some are based on Tiger Wang’s slides</a:t>
            </a:r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xmlns:p14="http://schemas.microsoft.com/office/powerpoint/2010/main"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00" y="1600200"/>
            <a:ext cx="8759687" cy="4525963"/>
          </a:xfrm>
        </p:spPr>
        <p:txBody>
          <a:bodyPr/>
          <a:lstStyle/>
          <a:p>
            <a:r>
              <a:rPr lang="en-US" dirty="0">
                <a:latin typeface="+mj-lt"/>
              </a:rPr>
              <a:t>What we’ve learnt so far: </a:t>
            </a:r>
          </a:p>
          <a:p>
            <a:pPr lvl="1"/>
            <a:r>
              <a:rPr lang="en-US" dirty="0">
                <a:latin typeface="+mj-lt"/>
              </a:rPr>
              <a:t>How integers/reals/characters are represented by computers</a:t>
            </a:r>
          </a:p>
          <a:p>
            <a:pPr lvl="1"/>
            <a:r>
              <a:rPr lang="en-US" dirty="0">
                <a:latin typeface="+mj-lt"/>
              </a:rPr>
              <a:t>C programming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Today:</a:t>
            </a:r>
          </a:p>
          <a:p>
            <a:pPr lvl="1"/>
            <a:r>
              <a:rPr lang="en-US" dirty="0">
                <a:latin typeface="+mj-lt"/>
              </a:rPr>
              <a:t>Basic hardware execution of a program</a:t>
            </a:r>
          </a:p>
          <a:p>
            <a:pPr lvl="1"/>
            <a:r>
              <a:rPr lang="en-US" dirty="0">
                <a:latin typeface="+mj-lt"/>
              </a:rPr>
              <a:t>x86 registers</a:t>
            </a:r>
          </a:p>
          <a:p>
            <a:pPr lvl="1"/>
            <a:r>
              <a:rPr lang="en-US" dirty="0">
                <a:latin typeface="+mj-lt"/>
              </a:rPr>
              <a:t>x86 move instruction</a:t>
            </a:r>
          </a:p>
        </p:txBody>
      </p:sp>
    </p:spTree>
    <p:extLst>
      <p:ext uri="{BB962C8B-B14F-4D97-AF65-F5344CB8AC3E}">
        <p14:creationId xmlns:p14="http://schemas.microsoft.com/office/powerpoint/2010/main" val="90472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48483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Can we build a machine to execute C directly?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4572000" y="1639957"/>
            <a:ext cx="4038600" cy="4525963"/>
          </a:xfrm>
        </p:spPr>
        <p:txBody>
          <a:bodyPr/>
          <a:lstStyle/>
          <a:p>
            <a:r>
              <a:rPr lang="en-US" dirty="0"/>
              <a:t>Historical precedents:</a:t>
            </a:r>
          </a:p>
          <a:p>
            <a:pPr lvl="1"/>
            <a:r>
              <a:rPr lang="en-US" dirty="0"/>
              <a:t>LISP machine (80s)</a:t>
            </a:r>
          </a:p>
          <a:p>
            <a:pPr lvl="1"/>
            <a:r>
              <a:rPr lang="en-US" dirty="0"/>
              <a:t>Intel </a:t>
            </a:r>
            <a:r>
              <a:rPr lang="en-US" dirty="0" err="1"/>
              <a:t>iAPX</a:t>
            </a:r>
            <a:r>
              <a:rPr lang="en-US" dirty="0"/>
              <a:t> 432 (Ada)</a:t>
            </a:r>
          </a:p>
          <a:p>
            <a:pPr lvl="1"/>
            <a:endParaRPr lang="en-US" dirty="0"/>
          </a:p>
        </p:txBody>
      </p:sp>
      <p:pic>
        <p:nvPicPr>
          <p:cNvPr id="4" name="Picture 3" descr="cadr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052" y="1600200"/>
            <a:ext cx="3286382" cy="4934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481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not directly execute 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686800" cy="1684783"/>
          </a:xfrm>
        </p:spPr>
        <p:txBody>
          <a:bodyPr/>
          <a:lstStyle/>
          <a:p>
            <a:r>
              <a:rPr lang="en-US" dirty="0"/>
              <a:t>Results in very complex hardware design</a:t>
            </a:r>
          </a:p>
          <a:p>
            <a:pPr lvl="1"/>
            <a:r>
              <a:rPr lang="en-US" dirty="0"/>
              <a:t>Complex </a:t>
            </a:r>
            <a:r>
              <a:rPr lang="en-US" dirty="0">
                <a:sym typeface="Wingdings"/>
              </a:rPr>
              <a:t> Hard to implement w/ high performance</a:t>
            </a:r>
          </a:p>
          <a:p>
            <a:r>
              <a:rPr lang="en-US" dirty="0">
                <a:sym typeface="Wingdings"/>
              </a:rPr>
              <a:t>A better approach: 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294215" y="2800349"/>
            <a:ext cx="4410307" cy="4005154"/>
            <a:chOff x="4294215" y="2800349"/>
            <a:chExt cx="4410307" cy="4005154"/>
          </a:xfrm>
        </p:grpSpPr>
        <p:sp>
          <p:nvSpPr>
            <p:cNvPr id="4" name="TextBox 3"/>
            <p:cNvSpPr txBox="1"/>
            <p:nvPr/>
          </p:nvSpPr>
          <p:spPr>
            <a:xfrm>
              <a:off x="4573661" y="2800349"/>
              <a:ext cx="1713530" cy="523220"/>
            </a:xfrm>
            <a:prstGeom prst="rect">
              <a:avLst/>
            </a:prstGeom>
            <a:solidFill>
              <a:srgbClr val="F2DCDB"/>
            </a:solidFill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 program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84108" y="5163867"/>
              <a:ext cx="1846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  <p:pic>
          <p:nvPicPr>
            <p:cNvPr id="12" name="Picture 11" descr="images.jp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12191" y="5382795"/>
              <a:ext cx="2455037" cy="1422708"/>
            </a:xfrm>
            <a:prstGeom prst="rect">
              <a:avLst/>
            </a:prstGeom>
          </p:spPr>
        </p:pic>
        <p:sp>
          <p:nvSpPr>
            <p:cNvPr id="13" name="Right Arrow 12"/>
            <p:cNvSpPr/>
            <p:nvPr/>
          </p:nvSpPr>
          <p:spPr>
            <a:xfrm rot="5400000">
              <a:off x="4813113" y="3729477"/>
              <a:ext cx="1267828" cy="701885"/>
            </a:xfrm>
            <a:prstGeom prst="rightArrow">
              <a:avLst/>
            </a:prstGeom>
            <a:solidFill>
              <a:srgbClr val="00B0F0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294215" y="4714333"/>
              <a:ext cx="3107874" cy="668462"/>
            </a:xfrm>
            <a:prstGeom prst="rect">
              <a:avLst/>
            </a:prstGeom>
            <a:solidFill>
              <a:srgbClr val="F2DCDB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Simple hardware interface</a:t>
              </a:r>
            </a:p>
          </p:txBody>
        </p:sp>
        <p:sp>
          <p:nvSpPr>
            <p:cNvPr id="15" name="Rounded Rectangular Callout 14"/>
            <p:cNvSpPr/>
            <p:nvPr/>
          </p:nvSpPr>
          <p:spPr>
            <a:xfrm>
              <a:off x="6287191" y="3284984"/>
              <a:ext cx="2417331" cy="1121351"/>
            </a:xfrm>
            <a:prstGeom prst="wedgeRoundRectCallout">
              <a:avLst>
                <a:gd name="adj1" fmla="val -74591"/>
                <a:gd name="adj2" fmla="val 2888"/>
                <a:gd name="adj3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000000"/>
                  </a:solidFill>
                </a:rPr>
                <a:t>Optimizing Compiler (e.g. </a:t>
              </a:r>
              <a:r>
                <a:rPr lang="en-US" sz="2000" dirty="0" err="1">
                  <a:solidFill>
                    <a:srgbClr val="000000"/>
                  </a:solidFill>
                </a:rPr>
                <a:t>gcc</a:t>
              </a:r>
              <a:r>
                <a:rPr lang="en-US" sz="2000" dirty="0">
                  <a:solidFill>
                    <a:srgbClr val="000000"/>
                  </a:solidFill>
                </a:rPr>
                <a:t>) translates C to hardware API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8157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" y="274638"/>
            <a:ext cx="8229600" cy="1143000"/>
          </a:xfrm>
          <a:ln>
            <a:noFill/>
          </a:ln>
        </p:spPr>
        <p:txBody>
          <a:bodyPr>
            <a:normAutofit fontScale="90000"/>
          </a:bodyPr>
          <a:lstStyle/>
          <a:p>
            <a:r>
              <a:rPr lang="en-US" dirty="0"/>
              <a:t>C vs. assembly vs. machine code</a:t>
            </a:r>
          </a:p>
        </p:txBody>
      </p:sp>
      <p:sp>
        <p:nvSpPr>
          <p:cNvPr id="6" name="矩形 3"/>
          <p:cNvSpPr/>
          <p:nvPr/>
        </p:nvSpPr>
        <p:spPr>
          <a:xfrm>
            <a:off x="457200" y="1959265"/>
            <a:ext cx="196560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long x;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long y;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>
                <a:latin typeface="Consolas"/>
                <a:cs typeface="Consolas"/>
              </a:rPr>
              <a:t>y = x;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y = 2*y;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60C1594-5B08-8F49-A8CE-21A4E7521D87}"/>
              </a:ext>
            </a:extLst>
          </p:cNvPr>
          <p:cNvGrpSpPr/>
          <p:nvPr/>
        </p:nvGrpSpPr>
        <p:grpSpPr>
          <a:xfrm>
            <a:off x="1787862" y="2537957"/>
            <a:ext cx="3575615" cy="705305"/>
            <a:chOff x="1787862" y="2537957"/>
            <a:chExt cx="3575615" cy="705305"/>
          </a:xfrm>
        </p:grpSpPr>
        <p:sp>
          <p:nvSpPr>
            <p:cNvPr id="7" name="Right Arrow 6"/>
            <p:cNvSpPr/>
            <p:nvPr/>
          </p:nvSpPr>
          <p:spPr>
            <a:xfrm>
              <a:off x="1787862" y="2537957"/>
              <a:ext cx="1412537" cy="705305"/>
            </a:xfrm>
            <a:prstGeom prst="rightArrow">
              <a:avLst/>
            </a:prstGeom>
            <a:solidFill>
              <a:srgbClr val="00B0F0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Compiler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7086CC3-3B00-3346-A74F-31681BC51FE6}"/>
                </a:ext>
              </a:extLst>
            </p:cNvPr>
            <p:cNvSpPr txBox="1"/>
            <p:nvPr/>
          </p:nvSpPr>
          <p:spPr>
            <a:xfrm>
              <a:off x="3279252" y="2537957"/>
              <a:ext cx="20842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movq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%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rdi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%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rax</a:t>
              </a:r>
              <a:endParaRPr lang="en-US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addq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%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rax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%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rax</a:t>
              </a:r>
              <a:endParaRPr lang="en-US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1045575-132E-DB46-88BA-A7F427904C8E}"/>
              </a:ext>
            </a:extLst>
          </p:cNvPr>
          <p:cNvGrpSpPr/>
          <p:nvPr/>
        </p:nvGrpSpPr>
        <p:grpSpPr>
          <a:xfrm>
            <a:off x="5442330" y="2491789"/>
            <a:ext cx="3654468" cy="923330"/>
            <a:chOff x="5442330" y="2491789"/>
            <a:chExt cx="3654468" cy="923330"/>
          </a:xfrm>
        </p:grpSpPr>
        <p:sp>
          <p:nvSpPr>
            <p:cNvPr id="47" name="Right Arrow 46">
              <a:extLst>
                <a:ext uri="{FF2B5EF4-FFF2-40B4-BE49-F238E27FC236}">
                  <a16:creationId xmlns:a16="http://schemas.microsoft.com/office/drawing/2014/main" id="{2E4AE7EB-9764-EC4D-91A0-8B906AE629BD}"/>
                </a:ext>
              </a:extLst>
            </p:cNvPr>
            <p:cNvSpPr/>
            <p:nvPr/>
          </p:nvSpPr>
          <p:spPr>
            <a:xfrm>
              <a:off x="5442330" y="2508469"/>
              <a:ext cx="1412537" cy="705305"/>
            </a:xfrm>
            <a:prstGeom prst="rightArrow">
              <a:avLst/>
            </a:prstGeom>
            <a:solidFill>
              <a:srgbClr val="00B0F0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assembler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1A5F7A7-F012-5440-8F40-5553476D5615}"/>
                </a:ext>
              </a:extLst>
            </p:cNvPr>
            <p:cNvSpPr txBox="1"/>
            <p:nvPr/>
          </p:nvSpPr>
          <p:spPr>
            <a:xfrm>
              <a:off x="6759299" y="249178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01000010000001110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10001001010100110</a:t>
              </a:r>
            </a:p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….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E03A981-9FB7-194E-98BB-B13FE00D98EB}"/>
              </a:ext>
            </a:extLst>
          </p:cNvPr>
          <p:cNvGrpSpPr/>
          <p:nvPr/>
        </p:nvGrpSpPr>
        <p:grpSpPr>
          <a:xfrm>
            <a:off x="2614613" y="3400425"/>
            <a:ext cx="3308887" cy="1617325"/>
            <a:chOff x="2614613" y="3400425"/>
            <a:chExt cx="3308887" cy="1617325"/>
          </a:xfrm>
        </p:grpSpPr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29F75B7C-B6C0-E545-9E81-C4061FD88D42}"/>
                </a:ext>
              </a:extLst>
            </p:cNvPr>
            <p:cNvSpPr/>
            <p:nvPr/>
          </p:nvSpPr>
          <p:spPr>
            <a:xfrm>
              <a:off x="2614613" y="3429000"/>
              <a:ext cx="1171575" cy="1114425"/>
            </a:xfrm>
            <a:custGeom>
              <a:avLst/>
              <a:gdLst>
                <a:gd name="connsiteX0" fmla="*/ 1171575 w 1171575"/>
                <a:gd name="connsiteY0" fmla="*/ 1114425 h 1114425"/>
                <a:gd name="connsiteX1" fmla="*/ 228600 w 1171575"/>
                <a:gd name="connsiteY1" fmla="*/ 685800 h 1114425"/>
                <a:gd name="connsiteX2" fmla="*/ 0 w 1171575"/>
                <a:gd name="connsiteY2" fmla="*/ 0 h 1114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71575" h="1114425">
                  <a:moveTo>
                    <a:pt x="1171575" y="1114425"/>
                  </a:moveTo>
                  <a:cubicBezTo>
                    <a:pt x="797718" y="992981"/>
                    <a:pt x="423862" y="871537"/>
                    <a:pt x="228600" y="685800"/>
                  </a:cubicBezTo>
                  <a:cubicBezTo>
                    <a:pt x="33338" y="500063"/>
                    <a:pt x="16669" y="250031"/>
                    <a:pt x="0" y="0"/>
                  </a:cubicBezTo>
                </a:path>
              </a:pathLst>
            </a:custGeom>
            <a:noFill/>
            <a:ln w="28575">
              <a:solidFill>
                <a:srgbClr val="FF0066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7F1D31A7-221C-1A4C-8518-9ABA07F2DC49}"/>
                </a:ext>
              </a:extLst>
            </p:cNvPr>
            <p:cNvSpPr/>
            <p:nvPr/>
          </p:nvSpPr>
          <p:spPr>
            <a:xfrm>
              <a:off x="4857750" y="3400425"/>
              <a:ext cx="1065750" cy="1114425"/>
            </a:xfrm>
            <a:custGeom>
              <a:avLst/>
              <a:gdLst>
                <a:gd name="connsiteX0" fmla="*/ 0 w 1065750"/>
                <a:gd name="connsiteY0" fmla="*/ 1271588 h 1271588"/>
                <a:gd name="connsiteX1" fmla="*/ 928688 w 1065750"/>
                <a:gd name="connsiteY1" fmla="*/ 571500 h 1271588"/>
                <a:gd name="connsiteX2" fmla="*/ 1042988 w 1065750"/>
                <a:gd name="connsiteY2" fmla="*/ 0 h 1271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65750" h="1271588">
                  <a:moveTo>
                    <a:pt x="0" y="1271588"/>
                  </a:moveTo>
                  <a:cubicBezTo>
                    <a:pt x="377428" y="1027509"/>
                    <a:pt x="754857" y="783431"/>
                    <a:pt x="928688" y="571500"/>
                  </a:cubicBezTo>
                  <a:cubicBezTo>
                    <a:pt x="1102519" y="359569"/>
                    <a:pt x="1072753" y="179784"/>
                    <a:pt x="1042988" y="0"/>
                  </a:cubicBezTo>
                </a:path>
              </a:pathLst>
            </a:custGeom>
            <a:noFill/>
            <a:ln w="28575">
              <a:solidFill>
                <a:srgbClr val="FF0066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59266897-8BD3-6E49-B64F-9340F94BB420}"/>
                </a:ext>
              </a:extLst>
            </p:cNvPr>
            <p:cNvGrpSpPr/>
            <p:nvPr/>
          </p:nvGrpSpPr>
          <p:grpSpPr>
            <a:xfrm>
              <a:off x="3606316" y="4648418"/>
              <a:ext cx="1931368" cy="369332"/>
              <a:chOff x="3917920" y="4643438"/>
              <a:chExt cx="1931368" cy="369332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5401A8F-B11E-4C40-BC2E-58B144D95C83}"/>
                  </a:ext>
                </a:extLst>
              </p:cNvPr>
              <p:cNvSpPr txBox="1"/>
              <p:nvPr/>
            </p:nvSpPr>
            <p:spPr>
              <a:xfrm>
                <a:off x="3917920" y="4643438"/>
                <a:ext cx="806888" cy="369332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gcc</a:t>
                </a:r>
                <a:r>
                  <a:rPr lang="en-US" dirty="0"/>
                  <a:t> –c 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4CA2BE4-7E2B-DB4B-8655-5C4E4C541CEA}"/>
                  </a:ext>
                </a:extLst>
              </p:cNvPr>
              <p:cNvSpPr txBox="1"/>
              <p:nvPr/>
            </p:nvSpPr>
            <p:spPr>
              <a:xfrm>
                <a:off x="4720453" y="4643438"/>
                <a:ext cx="1128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does both</a:t>
                </a: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928DE0F-C132-ED43-964A-6AFF870CACD3}"/>
              </a:ext>
            </a:extLst>
          </p:cNvPr>
          <p:cNvGrpSpPr/>
          <p:nvPr/>
        </p:nvGrpSpPr>
        <p:grpSpPr>
          <a:xfrm>
            <a:off x="3643312" y="5151318"/>
            <a:ext cx="2993197" cy="369332"/>
            <a:chOff x="3917920" y="4643438"/>
            <a:chExt cx="2993197" cy="369332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C5E2505-26B5-B04C-BA07-7C9099E824BC}"/>
                </a:ext>
              </a:extLst>
            </p:cNvPr>
            <p:cNvSpPr txBox="1"/>
            <p:nvPr/>
          </p:nvSpPr>
          <p:spPr>
            <a:xfrm>
              <a:off x="3917920" y="4643438"/>
              <a:ext cx="814903" cy="36933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gcc</a:t>
              </a:r>
              <a:r>
                <a:rPr lang="en-US" dirty="0"/>
                <a:t> –S 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EB12344-C649-D247-BFA5-96145106A73B}"/>
                </a:ext>
              </a:extLst>
            </p:cNvPr>
            <p:cNvSpPr txBox="1"/>
            <p:nvPr/>
          </p:nvSpPr>
          <p:spPr>
            <a:xfrm>
              <a:off x="4720453" y="4643438"/>
              <a:ext cx="2190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compiles to assembly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73A772B-7336-43AE-B77B-EF890F4E4707}"/>
              </a:ext>
            </a:extLst>
          </p:cNvPr>
          <p:cNvSpPr txBox="1"/>
          <p:nvPr/>
        </p:nvSpPr>
        <p:spPr>
          <a:xfrm>
            <a:off x="457200" y="1319119"/>
            <a:ext cx="9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 source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C0A38C-A596-4C11-B075-CFDA5A47B40B}"/>
              </a:ext>
            </a:extLst>
          </p:cNvPr>
          <p:cNvSpPr txBox="1"/>
          <p:nvPr/>
        </p:nvSpPr>
        <p:spPr>
          <a:xfrm>
            <a:off x="3499050" y="1319119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x86 assembly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75E23-EFB8-4D61-9D3B-932CCF5AD53F}"/>
              </a:ext>
            </a:extLst>
          </p:cNvPr>
          <p:cNvSpPr txBox="1"/>
          <p:nvPr/>
        </p:nvSpPr>
        <p:spPr>
          <a:xfrm>
            <a:off x="6854867" y="1319119"/>
            <a:ext cx="1883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x86 machine code</a:t>
            </a:r>
          </a:p>
        </p:txBody>
      </p:sp>
    </p:spTree>
    <p:extLst>
      <p:ext uri="{BB962C8B-B14F-4D97-AF65-F5344CB8AC3E}">
        <p14:creationId xmlns:p14="http://schemas.microsoft.com/office/powerpoint/2010/main" val="162621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" y="274638"/>
            <a:ext cx="8229600" cy="1143000"/>
          </a:xfrm>
          <a:ln>
            <a:noFill/>
          </a:ln>
        </p:spPr>
        <p:txBody>
          <a:bodyPr/>
          <a:lstStyle/>
          <a:p>
            <a:r>
              <a:rPr lang="en-US" dirty="0"/>
              <a:t>C vs. machine code</a:t>
            </a:r>
          </a:p>
        </p:txBody>
      </p:sp>
      <p:sp>
        <p:nvSpPr>
          <p:cNvPr id="6" name="矩形 3"/>
          <p:cNvSpPr/>
          <p:nvPr/>
        </p:nvSpPr>
        <p:spPr>
          <a:xfrm>
            <a:off x="457200" y="1959265"/>
            <a:ext cx="196560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long x;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long y;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>
                <a:latin typeface="Consolas"/>
                <a:cs typeface="Consolas"/>
              </a:rPr>
              <a:t>y = x;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y = 2*y;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3551674" y="1659471"/>
            <a:ext cx="3625140" cy="4459550"/>
            <a:chOff x="3551674" y="1659471"/>
            <a:chExt cx="3625140" cy="4459550"/>
          </a:xfrm>
        </p:grpSpPr>
        <p:sp>
          <p:nvSpPr>
            <p:cNvPr id="8" name="矩形 13"/>
            <p:cNvSpPr/>
            <p:nvPr/>
          </p:nvSpPr>
          <p:spPr>
            <a:xfrm>
              <a:off x="5628326" y="5718911"/>
              <a:ext cx="1219980" cy="400110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kumimoji="1" lang="en-US" altLang="zh-CN" sz="2000" dirty="0">
                  <a:latin typeface="Verdana"/>
                  <a:cs typeface="Verdana"/>
                </a:rPr>
                <a:t>Memory</a:t>
              </a:r>
              <a:endParaRPr lang="zh-CN" altLang="en-US" sz="2000" dirty="0"/>
            </a:p>
          </p:txBody>
        </p:sp>
        <p:grpSp>
          <p:nvGrpSpPr>
            <p:cNvPr id="9" name="组 35"/>
            <p:cNvGrpSpPr/>
            <p:nvPr/>
          </p:nvGrpSpPr>
          <p:grpSpPr>
            <a:xfrm>
              <a:off x="3768195" y="1685853"/>
              <a:ext cx="3408619" cy="4141499"/>
              <a:chOff x="359559" y="1701731"/>
              <a:chExt cx="3408619" cy="4141499"/>
            </a:xfrm>
          </p:grpSpPr>
          <p:sp>
            <p:nvSpPr>
              <p:cNvPr id="10" name="矩形 9"/>
              <p:cNvSpPr/>
              <p:nvPr/>
            </p:nvSpPr>
            <p:spPr>
              <a:xfrm>
                <a:off x="1800359" y="2819387"/>
                <a:ext cx="1951499" cy="373433"/>
              </a:xfrm>
              <a:prstGeom prst="rect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800359" y="2445954"/>
                <a:ext cx="1951499" cy="373433"/>
              </a:xfrm>
              <a:prstGeom prst="rect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sz="2000" dirty="0">
                  <a:solidFill>
                    <a:schemeClr val="tx1"/>
                  </a:solidFill>
                  <a:latin typeface="Verdana"/>
                  <a:cs typeface="Verdana"/>
                </a:endParaRPr>
              </a:p>
            </p:txBody>
          </p:sp>
          <p:sp>
            <p:nvSpPr>
              <p:cNvPr id="12" name="矩形 11"/>
              <p:cNvSpPr/>
              <p:nvPr/>
            </p:nvSpPr>
            <p:spPr>
              <a:xfrm>
                <a:off x="1800359" y="2075164"/>
                <a:ext cx="1951499" cy="373433"/>
              </a:xfrm>
              <a:prstGeom prst="rect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sz="2000" dirty="0">
                  <a:solidFill>
                    <a:schemeClr val="tx1"/>
                  </a:solidFill>
                  <a:latin typeface="Verdana"/>
                  <a:cs typeface="Verdana"/>
                </a:endParaRPr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1800359" y="1701731"/>
                <a:ext cx="1951499" cy="373433"/>
              </a:xfrm>
              <a:prstGeom prst="rect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zh-CN" altLang="en-US" dirty="0">
                  <a:solidFill>
                    <a:schemeClr val="tx1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4" name="矩形 14"/>
              <p:cNvSpPr/>
              <p:nvPr/>
            </p:nvSpPr>
            <p:spPr>
              <a:xfrm>
                <a:off x="1800359" y="3192427"/>
                <a:ext cx="1951499" cy="373433"/>
              </a:xfrm>
              <a:prstGeom prst="rect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" name="矩形 15"/>
              <p:cNvSpPr/>
              <p:nvPr/>
            </p:nvSpPr>
            <p:spPr>
              <a:xfrm>
                <a:off x="1804729" y="3939936"/>
                <a:ext cx="1951499" cy="373433"/>
              </a:xfrm>
              <a:prstGeom prst="rect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6" name="矩形 16"/>
              <p:cNvSpPr/>
              <p:nvPr/>
            </p:nvSpPr>
            <p:spPr>
              <a:xfrm>
                <a:off x="1809098" y="4313369"/>
                <a:ext cx="1951499" cy="373433"/>
              </a:xfrm>
              <a:prstGeom prst="rect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7" name="矩形 17"/>
              <p:cNvSpPr/>
              <p:nvPr/>
            </p:nvSpPr>
            <p:spPr>
              <a:xfrm>
                <a:off x="1816679" y="4679429"/>
                <a:ext cx="1951499" cy="373433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8" name="矩形 18"/>
              <p:cNvSpPr/>
              <p:nvPr/>
            </p:nvSpPr>
            <p:spPr>
              <a:xfrm>
                <a:off x="1816679" y="5047000"/>
                <a:ext cx="1951499" cy="373433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9" name="矩形 19"/>
              <p:cNvSpPr/>
              <p:nvPr/>
            </p:nvSpPr>
            <p:spPr>
              <a:xfrm>
                <a:off x="1816679" y="5415501"/>
                <a:ext cx="1951499" cy="373433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mr-IN" altLang="zh-CN" sz="2400" dirty="0">
                    <a:solidFill>
                      <a:prstClr val="black"/>
                    </a:solidFill>
                    <a:latin typeface="Arial"/>
                    <a:cs typeface="Arial"/>
                  </a:rPr>
                  <a:t>……</a:t>
                </a:r>
                <a:endParaRPr lang="zh-CN" altLang="en-US" sz="240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20" name="矩形 20"/>
              <p:cNvSpPr/>
              <p:nvPr/>
            </p:nvSpPr>
            <p:spPr>
              <a:xfrm>
                <a:off x="370798" y="1701731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0058</a:t>
                </a:r>
                <a:endParaRPr lang="zh-CN" altLang="en-US" dirty="0"/>
              </a:p>
            </p:txBody>
          </p:sp>
          <p:sp>
            <p:nvSpPr>
              <p:cNvPr id="21" name="矩形 21"/>
              <p:cNvSpPr/>
              <p:nvPr/>
            </p:nvSpPr>
            <p:spPr>
              <a:xfrm>
                <a:off x="359559" y="2068027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0050</a:t>
                </a:r>
                <a:endParaRPr lang="zh-CN" altLang="en-US" dirty="0"/>
              </a:p>
            </p:txBody>
          </p:sp>
          <p:sp>
            <p:nvSpPr>
              <p:cNvPr id="22" name="矩形 22"/>
              <p:cNvSpPr/>
              <p:nvPr/>
            </p:nvSpPr>
            <p:spPr>
              <a:xfrm>
                <a:off x="1216294" y="5381565"/>
                <a:ext cx="49244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mr-IN" altLang="zh-CN" sz="2400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endParaRPr lang="zh-CN" altLang="en-US" sz="2400" dirty="0"/>
              </a:p>
            </p:txBody>
          </p:sp>
          <p:sp>
            <p:nvSpPr>
              <p:cNvPr id="23" name="矩形 23"/>
              <p:cNvSpPr/>
              <p:nvPr/>
            </p:nvSpPr>
            <p:spPr>
              <a:xfrm>
                <a:off x="359559" y="5052862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0010</a:t>
                </a:r>
                <a:endParaRPr lang="zh-CN" altLang="en-US" dirty="0"/>
              </a:p>
            </p:txBody>
          </p:sp>
          <p:sp>
            <p:nvSpPr>
              <p:cNvPr id="24" name="矩形 24"/>
              <p:cNvSpPr/>
              <p:nvPr/>
            </p:nvSpPr>
            <p:spPr>
              <a:xfrm>
                <a:off x="359559" y="4677668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0018</a:t>
                </a:r>
                <a:endParaRPr lang="zh-CN" altLang="en-US" dirty="0"/>
              </a:p>
            </p:txBody>
          </p:sp>
          <p:sp>
            <p:nvSpPr>
              <p:cNvPr id="25" name="矩形 25"/>
              <p:cNvSpPr/>
              <p:nvPr/>
            </p:nvSpPr>
            <p:spPr>
              <a:xfrm>
                <a:off x="359559" y="4301544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0020</a:t>
                </a:r>
                <a:endParaRPr lang="zh-CN" altLang="en-US" dirty="0"/>
              </a:p>
            </p:txBody>
          </p:sp>
          <p:sp>
            <p:nvSpPr>
              <p:cNvPr id="26" name="矩形 26"/>
              <p:cNvSpPr/>
              <p:nvPr/>
            </p:nvSpPr>
            <p:spPr>
              <a:xfrm>
                <a:off x="359559" y="3944037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0028</a:t>
                </a:r>
                <a:endParaRPr lang="zh-CN" altLang="en-US" dirty="0"/>
              </a:p>
            </p:txBody>
          </p:sp>
          <p:sp>
            <p:nvSpPr>
              <p:cNvPr id="27" name="矩形 27"/>
              <p:cNvSpPr/>
              <p:nvPr/>
            </p:nvSpPr>
            <p:spPr>
              <a:xfrm>
                <a:off x="370798" y="3587229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0030</a:t>
                </a:r>
                <a:endParaRPr lang="zh-CN" altLang="en-US" dirty="0"/>
              </a:p>
            </p:txBody>
          </p:sp>
          <p:sp>
            <p:nvSpPr>
              <p:cNvPr id="28" name="矩形 28"/>
              <p:cNvSpPr/>
              <p:nvPr/>
            </p:nvSpPr>
            <p:spPr>
              <a:xfrm>
                <a:off x="372447" y="3177438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0038</a:t>
                </a:r>
                <a:endParaRPr lang="zh-CN" altLang="en-US" dirty="0"/>
              </a:p>
            </p:txBody>
          </p:sp>
          <p:sp>
            <p:nvSpPr>
              <p:cNvPr id="29" name="矩形 29"/>
              <p:cNvSpPr/>
              <p:nvPr/>
            </p:nvSpPr>
            <p:spPr>
              <a:xfrm>
                <a:off x="376817" y="2815249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0040</a:t>
                </a:r>
                <a:endParaRPr lang="zh-CN" altLang="en-US" dirty="0"/>
              </a:p>
            </p:txBody>
          </p:sp>
          <p:sp>
            <p:nvSpPr>
              <p:cNvPr id="30" name="矩形 30"/>
              <p:cNvSpPr/>
              <p:nvPr/>
            </p:nvSpPr>
            <p:spPr>
              <a:xfrm>
                <a:off x="366287" y="2459691"/>
                <a:ext cx="142956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/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0x00</a:t>
                </a:r>
                <a:r>
                  <a:rPr lang="mr-IN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…</a:t>
                </a:r>
                <a:r>
                  <a:rPr lang="en-US" altLang="zh-CN" dirty="0">
                    <a:solidFill>
                      <a:prstClr val="black"/>
                    </a:solidFill>
                    <a:latin typeface="Arial"/>
                    <a:cs typeface="Arial"/>
                  </a:rPr>
                  <a:t>0048</a:t>
                </a:r>
                <a:endParaRPr lang="zh-CN" altLang="en-US" dirty="0"/>
              </a:p>
            </p:txBody>
          </p:sp>
          <p:sp>
            <p:nvSpPr>
              <p:cNvPr id="31" name="矩形 31"/>
              <p:cNvSpPr/>
              <p:nvPr/>
            </p:nvSpPr>
            <p:spPr>
              <a:xfrm>
                <a:off x="1800359" y="3575471"/>
                <a:ext cx="1951499" cy="352064"/>
              </a:xfrm>
              <a:prstGeom prst="rect">
                <a:avLst/>
              </a:prstGeom>
              <a:solidFill>
                <a:schemeClr val="bg1"/>
              </a:solidFill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 sz="240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32" name="矩形 36"/>
            <p:cNvSpPr/>
            <p:nvPr/>
          </p:nvSpPr>
          <p:spPr>
            <a:xfrm>
              <a:off x="5480026" y="1659471"/>
              <a:ext cx="1546843" cy="400110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kumimoji="1" lang="en-US" altLang="zh-CN" sz="2000" dirty="0">
                  <a:latin typeface="Verdana"/>
                  <a:cs typeface="Verdana"/>
                </a:rPr>
                <a:t>instruction</a:t>
              </a:r>
              <a:endParaRPr lang="zh-CN" altLang="en-US" sz="2000" dirty="0"/>
            </a:p>
          </p:txBody>
        </p:sp>
        <p:sp>
          <p:nvSpPr>
            <p:cNvPr id="33" name="矩形 38"/>
            <p:cNvSpPr/>
            <p:nvPr/>
          </p:nvSpPr>
          <p:spPr>
            <a:xfrm>
              <a:off x="5446603" y="2043703"/>
              <a:ext cx="1546843" cy="400110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kumimoji="1" lang="en-US" altLang="zh-CN" sz="2000" dirty="0">
                  <a:latin typeface="Verdana"/>
                  <a:cs typeface="Verdana"/>
                </a:rPr>
                <a:t>instruction</a:t>
              </a:r>
              <a:endParaRPr lang="zh-CN" altLang="en-US" sz="2000" dirty="0"/>
            </a:p>
          </p:txBody>
        </p:sp>
        <p:sp>
          <p:nvSpPr>
            <p:cNvPr id="34" name="矩形 39"/>
            <p:cNvSpPr/>
            <p:nvPr/>
          </p:nvSpPr>
          <p:spPr>
            <a:xfrm>
              <a:off x="5446603" y="2421533"/>
              <a:ext cx="1546843" cy="400110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kumimoji="1" lang="en-US" altLang="zh-CN" sz="2000" dirty="0">
                  <a:latin typeface="Verdana"/>
                  <a:cs typeface="Verdana"/>
                </a:rPr>
                <a:t>instruction</a:t>
              </a:r>
              <a:endParaRPr lang="zh-CN" altLang="en-US" sz="2000" dirty="0"/>
            </a:p>
          </p:txBody>
        </p:sp>
        <p:sp>
          <p:nvSpPr>
            <p:cNvPr id="36" name="矩形 41"/>
            <p:cNvSpPr/>
            <p:nvPr/>
          </p:nvSpPr>
          <p:spPr>
            <a:xfrm>
              <a:off x="5823406" y="3159047"/>
              <a:ext cx="753607" cy="400110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kumimoji="1" lang="en-US" altLang="zh-CN" sz="2000" dirty="0">
                  <a:latin typeface="Verdana"/>
                  <a:cs typeface="Verdana"/>
                </a:rPr>
                <a:t>data</a:t>
              </a:r>
              <a:endParaRPr lang="zh-CN" altLang="en-US" sz="2000" dirty="0"/>
            </a:p>
          </p:txBody>
        </p:sp>
        <p:sp>
          <p:nvSpPr>
            <p:cNvPr id="37" name="矩形 42"/>
            <p:cNvSpPr/>
            <p:nvPr/>
          </p:nvSpPr>
          <p:spPr>
            <a:xfrm>
              <a:off x="5823406" y="3533827"/>
              <a:ext cx="753607" cy="400110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kumimoji="1" lang="en-US" altLang="zh-CN" sz="2000" dirty="0">
                  <a:latin typeface="Verdana"/>
                  <a:cs typeface="Verdana"/>
                </a:rPr>
                <a:t>data</a:t>
              </a:r>
              <a:endParaRPr lang="zh-CN" altLang="en-US" sz="2000" dirty="0"/>
            </a:p>
          </p:txBody>
        </p:sp>
        <p:sp>
          <p:nvSpPr>
            <p:cNvPr id="38" name="矩形 43"/>
            <p:cNvSpPr/>
            <p:nvPr/>
          </p:nvSpPr>
          <p:spPr>
            <a:xfrm>
              <a:off x="5834547" y="3911254"/>
              <a:ext cx="753607" cy="400110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kumimoji="1" lang="en-US" altLang="zh-CN" sz="2000" dirty="0">
                  <a:latin typeface="Verdana"/>
                  <a:cs typeface="Verdana"/>
                </a:rPr>
                <a:t>data</a:t>
              </a:r>
              <a:endParaRPr lang="zh-CN" altLang="en-US" sz="2000" dirty="0"/>
            </a:p>
          </p:txBody>
        </p:sp>
        <p:sp>
          <p:nvSpPr>
            <p:cNvPr id="39" name="矩形 44"/>
            <p:cNvSpPr/>
            <p:nvPr/>
          </p:nvSpPr>
          <p:spPr>
            <a:xfrm>
              <a:off x="5827731" y="4287754"/>
              <a:ext cx="753607" cy="400110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kumimoji="1" lang="en-US" altLang="zh-CN" sz="2000" dirty="0">
                  <a:latin typeface="Verdana"/>
                  <a:cs typeface="Verdana"/>
                </a:rPr>
                <a:t>data</a:t>
              </a:r>
              <a:endParaRPr lang="zh-CN" altLang="en-US" sz="20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551674" y="4184960"/>
              <a:ext cx="4003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x: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562921" y="3462340"/>
              <a:ext cx="4063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y: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678862" y="2381298"/>
            <a:ext cx="1936428" cy="1381366"/>
            <a:chOff x="1972010" y="2580819"/>
            <a:chExt cx="1936428" cy="1381366"/>
          </a:xfrm>
        </p:grpSpPr>
        <p:sp>
          <p:nvSpPr>
            <p:cNvPr id="7" name="Right Arrow 6"/>
            <p:cNvSpPr/>
            <p:nvPr/>
          </p:nvSpPr>
          <p:spPr>
            <a:xfrm>
              <a:off x="2422805" y="2580819"/>
              <a:ext cx="634942" cy="701885"/>
            </a:xfrm>
            <a:prstGeom prst="rightArrow">
              <a:avLst/>
            </a:prstGeom>
            <a:solidFill>
              <a:srgbClr val="00B0F0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972010" y="3315854"/>
              <a:ext cx="19364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 to</a:t>
              </a:r>
            </a:p>
            <a:p>
              <a:r>
                <a:rPr lang="en-US" dirty="0"/>
                <a:t>x86 machine code </a:t>
              </a:r>
            </a:p>
          </p:txBody>
        </p:sp>
      </p:grpSp>
      <p:sp>
        <p:nvSpPr>
          <p:cNvPr id="43" name="Rounded Rectangular Callout 42"/>
          <p:cNvSpPr/>
          <p:nvPr/>
        </p:nvSpPr>
        <p:spPr>
          <a:xfrm>
            <a:off x="7026869" y="274638"/>
            <a:ext cx="1929155" cy="1143000"/>
          </a:xfrm>
          <a:prstGeom prst="wedgeRoundRectCallout">
            <a:avLst>
              <a:gd name="adj1" fmla="val -47031"/>
              <a:gd name="adj2" fmla="val 71338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000000"/>
                </a:solidFill>
              </a:rPr>
              <a:t>E.g. move data from one memory location to another</a:t>
            </a:r>
          </a:p>
        </p:txBody>
      </p:sp>
      <p:sp>
        <p:nvSpPr>
          <p:cNvPr id="44" name="Rounded Rectangular Callout 43"/>
          <p:cNvSpPr/>
          <p:nvPr/>
        </p:nvSpPr>
        <p:spPr>
          <a:xfrm>
            <a:off x="7214845" y="1849981"/>
            <a:ext cx="1929155" cy="1143000"/>
          </a:xfrm>
          <a:prstGeom prst="wedgeRoundRectCallout">
            <a:avLst>
              <a:gd name="adj1" fmla="val -63487"/>
              <a:gd name="adj2" fmla="val -14925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000000"/>
                </a:solidFill>
              </a:rPr>
              <a:t>E.g. multiply the number at some memory location by a constant</a:t>
            </a:r>
          </a:p>
        </p:txBody>
      </p:sp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615747CA-0739-A049-95A1-83DD5FF7FA26}"/>
              </a:ext>
            </a:extLst>
          </p:cNvPr>
          <p:cNvSpPr/>
          <p:nvPr/>
        </p:nvSpPr>
        <p:spPr>
          <a:xfrm>
            <a:off x="7370618" y="4110774"/>
            <a:ext cx="1585405" cy="807590"/>
          </a:xfrm>
          <a:prstGeom prst="wedgeRoundRectCallout">
            <a:avLst>
              <a:gd name="adj1" fmla="val -107930"/>
              <a:gd name="adj2" fmla="val -47696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 concept of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variables, scopes, types</a:t>
            </a:r>
          </a:p>
        </p:txBody>
      </p:sp>
    </p:spTree>
    <p:extLst>
      <p:ext uri="{BB962C8B-B14F-4D97-AF65-F5344CB8AC3E}">
        <p14:creationId xmlns:p14="http://schemas.microsoft.com/office/powerpoint/2010/main" val="2644259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How CPU executes a program</a:t>
            </a:r>
            <a:endParaRPr kumimoji="1" lang="zh-CN" altLang="en-US" dirty="0"/>
          </a:p>
        </p:txBody>
      </p:sp>
      <p:grpSp>
        <p:nvGrpSpPr>
          <p:cNvPr id="8" name="组 7"/>
          <p:cNvGrpSpPr/>
          <p:nvPr/>
        </p:nvGrpSpPr>
        <p:grpSpPr>
          <a:xfrm>
            <a:off x="5779792" y="1568290"/>
            <a:ext cx="2198113" cy="1290450"/>
            <a:chOff x="4589993" y="1584086"/>
            <a:chExt cx="2053130" cy="733943"/>
          </a:xfrm>
        </p:grpSpPr>
        <p:sp>
          <p:nvSpPr>
            <p:cNvPr id="33" name="矩形 32"/>
            <p:cNvSpPr/>
            <p:nvPr/>
          </p:nvSpPr>
          <p:spPr>
            <a:xfrm>
              <a:off x="4589993" y="1584086"/>
              <a:ext cx="2053130" cy="733943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zh-CN" altLang="en-US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5286107" y="1615703"/>
              <a:ext cx="653995" cy="369332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dirty="0">
                  <a:latin typeface="Verdana"/>
                  <a:cs typeface="Verdana"/>
                </a:rPr>
                <a:t>CPU</a:t>
              </a:r>
              <a:endParaRPr kumimoji="1" lang="zh-CN" altLang="en-US" dirty="0">
                <a:latin typeface="Verdana"/>
                <a:cs typeface="Verdana"/>
              </a:endParaRPr>
            </a:p>
          </p:txBody>
        </p:sp>
      </p:grpSp>
      <p:sp>
        <p:nvSpPr>
          <p:cNvPr id="14" name="矩形 13"/>
          <p:cNvSpPr/>
          <p:nvPr/>
        </p:nvSpPr>
        <p:spPr>
          <a:xfrm>
            <a:off x="2219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800359" y="281938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800359" y="24459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800359" y="20751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800359" y="17017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359" y="31924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4729" y="393993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809098" y="431336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816679" y="467942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816679" y="504700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816679" y="54155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216294" y="538156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32" name="矩形 31"/>
          <p:cNvSpPr/>
          <p:nvPr/>
        </p:nvSpPr>
        <p:spPr>
          <a:xfrm>
            <a:off x="1800359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071390" y="1675349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39" name="矩形 38"/>
          <p:cNvSpPr/>
          <p:nvPr/>
        </p:nvSpPr>
        <p:spPr>
          <a:xfrm>
            <a:off x="2037967" y="2059581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0" name="矩形 39"/>
          <p:cNvSpPr/>
          <p:nvPr/>
        </p:nvSpPr>
        <p:spPr>
          <a:xfrm>
            <a:off x="2037967" y="2437411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1" name="矩形 40"/>
          <p:cNvSpPr/>
          <p:nvPr/>
        </p:nvSpPr>
        <p:spPr>
          <a:xfrm>
            <a:off x="2037967" y="2784378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2" name="矩形 41"/>
          <p:cNvSpPr/>
          <p:nvPr/>
        </p:nvSpPr>
        <p:spPr>
          <a:xfrm>
            <a:off x="2414770" y="3174925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3" name="矩形 42"/>
          <p:cNvSpPr/>
          <p:nvPr/>
        </p:nvSpPr>
        <p:spPr>
          <a:xfrm>
            <a:off x="2414770" y="3549705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4" name="矩形 43"/>
          <p:cNvSpPr/>
          <p:nvPr/>
        </p:nvSpPr>
        <p:spPr>
          <a:xfrm>
            <a:off x="2425911" y="3927132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5" name="矩形 44"/>
          <p:cNvSpPr/>
          <p:nvPr/>
        </p:nvSpPr>
        <p:spPr>
          <a:xfrm>
            <a:off x="2419095" y="4303632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51" name="矩形 50"/>
          <p:cNvSpPr/>
          <p:nvPr/>
        </p:nvSpPr>
        <p:spPr>
          <a:xfrm>
            <a:off x="5872073" y="1967819"/>
            <a:ext cx="11381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dirty="0">
                <a:latin typeface="Verdana"/>
                <a:cs typeface="Verdana"/>
              </a:rPr>
              <a:t>instruction</a:t>
            </a:r>
            <a:endParaRPr lang="zh-CN" altLang="en-US" sz="1400" dirty="0"/>
          </a:p>
        </p:txBody>
      </p:sp>
      <p:sp>
        <p:nvSpPr>
          <p:cNvPr id="50" name="矩形 49"/>
          <p:cNvSpPr/>
          <p:nvPr/>
        </p:nvSpPr>
        <p:spPr>
          <a:xfrm>
            <a:off x="5872073" y="2271028"/>
            <a:ext cx="5829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dirty="0">
                <a:latin typeface="Verdana"/>
                <a:cs typeface="Verdana"/>
              </a:rPr>
              <a:t>data</a:t>
            </a:r>
            <a:endParaRPr lang="zh-CN" altLang="en-US" sz="1400" dirty="0"/>
          </a:p>
        </p:txBody>
      </p:sp>
      <p:sp>
        <p:nvSpPr>
          <p:cNvPr id="3" name="矩形 2"/>
          <p:cNvSpPr/>
          <p:nvPr/>
        </p:nvSpPr>
        <p:spPr>
          <a:xfrm>
            <a:off x="3998413" y="4981933"/>
            <a:ext cx="5215082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/>
              <a:t>How does CPU know which </a:t>
            </a:r>
            <a:r>
              <a:rPr lang="en-US" altLang="zh-CN" sz="2000" dirty="0" err="1"/>
              <a:t>instr</a:t>
            </a:r>
            <a:r>
              <a:rPr lang="en-US" altLang="zh-CN" sz="2000" dirty="0"/>
              <a:t>/data to fetch?</a:t>
            </a:r>
          </a:p>
          <a:p>
            <a:endParaRPr lang="en-US" altLang="zh-CN" sz="1400" dirty="0"/>
          </a:p>
        </p:txBody>
      </p:sp>
      <p:sp>
        <p:nvSpPr>
          <p:cNvPr id="52" name="矩形 51"/>
          <p:cNvSpPr/>
          <p:nvPr/>
        </p:nvSpPr>
        <p:spPr>
          <a:xfrm>
            <a:off x="370798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3" name="矩形 52"/>
          <p:cNvSpPr/>
          <p:nvPr/>
        </p:nvSpPr>
        <p:spPr>
          <a:xfrm>
            <a:off x="359559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4" name="矩形 53"/>
          <p:cNvSpPr/>
          <p:nvPr/>
        </p:nvSpPr>
        <p:spPr>
          <a:xfrm>
            <a:off x="359559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55" name="矩形 54"/>
          <p:cNvSpPr/>
          <p:nvPr/>
        </p:nvSpPr>
        <p:spPr>
          <a:xfrm>
            <a:off x="359559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56" name="矩形 55"/>
          <p:cNvSpPr/>
          <p:nvPr/>
        </p:nvSpPr>
        <p:spPr>
          <a:xfrm>
            <a:off x="359559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359559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370798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372447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376817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366287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5319EB-21C2-894F-951E-5E8CBF212E83}"/>
              </a:ext>
            </a:extLst>
          </p:cNvPr>
          <p:cNvGrpSpPr/>
          <p:nvPr/>
        </p:nvGrpSpPr>
        <p:grpSpPr>
          <a:xfrm>
            <a:off x="3854796" y="1850229"/>
            <a:ext cx="1726454" cy="426682"/>
            <a:chOff x="3854796" y="1850229"/>
            <a:chExt cx="1726454" cy="426682"/>
          </a:xfrm>
        </p:grpSpPr>
        <p:cxnSp>
          <p:nvCxnSpPr>
            <p:cNvPr id="64" name="Straight Arrow Connector 63"/>
            <p:cNvCxnSpPr/>
            <p:nvPr/>
          </p:nvCxnSpPr>
          <p:spPr>
            <a:xfrm flipV="1">
              <a:off x="3854796" y="1850229"/>
              <a:ext cx="1726454" cy="11759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/>
            <p:cNvSpPr txBox="1"/>
            <p:nvPr/>
          </p:nvSpPr>
          <p:spPr>
            <a:xfrm rot="21284466">
              <a:off x="4170259" y="1907579"/>
              <a:ext cx="11974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instruction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3854796" y="2459691"/>
            <a:ext cx="1924996" cy="974880"/>
            <a:chOff x="3854796" y="2459691"/>
            <a:chExt cx="1924996" cy="974880"/>
          </a:xfrm>
        </p:grpSpPr>
        <p:sp>
          <p:nvSpPr>
            <p:cNvPr id="67" name="TextBox 66"/>
            <p:cNvSpPr txBox="1"/>
            <p:nvPr/>
          </p:nvSpPr>
          <p:spPr>
            <a:xfrm rot="20046173">
              <a:off x="4170259" y="2739084"/>
              <a:ext cx="9156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address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 flipH="1">
              <a:off x="3854796" y="2459691"/>
              <a:ext cx="1924996" cy="97488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oup 68"/>
          <p:cNvGrpSpPr/>
          <p:nvPr/>
        </p:nvGrpSpPr>
        <p:grpSpPr>
          <a:xfrm>
            <a:off x="3854796" y="2578805"/>
            <a:ext cx="1924996" cy="973356"/>
            <a:chOff x="3854796" y="2578805"/>
            <a:chExt cx="1924996" cy="973356"/>
          </a:xfrm>
        </p:grpSpPr>
        <p:cxnSp>
          <p:nvCxnSpPr>
            <p:cNvPr id="70" name="Straight Arrow Connector 69"/>
            <p:cNvCxnSpPr/>
            <p:nvPr/>
          </p:nvCxnSpPr>
          <p:spPr>
            <a:xfrm flipV="1">
              <a:off x="3854796" y="2578805"/>
              <a:ext cx="1924996" cy="97335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 rot="19895595">
              <a:off x="4466803" y="3084174"/>
              <a:ext cx="60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AB5491E-0AA3-0F40-AAB5-9F3588961FA3}"/>
              </a:ext>
            </a:extLst>
          </p:cNvPr>
          <p:cNvGrpSpPr/>
          <p:nvPr/>
        </p:nvGrpSpPr>
        <p:grpSpPr>
          <a:xfrm>
            <a:off x="3854796" y="1417638"/>
            <a:ext cx="1726454" cy="432591"/>
            <a:chOff x="3854796" y="1417638"/>
            <a:chExt cx="1726454" cy="432591"/>
          </a:xfrm>
        </p:grpSpPr>
        <p:cxnSp>
          <p:nvCxnSpPr>
            <p:cNvPr id="63" name="Straight Arrow Connector 62"/>
            <p:cNvCxnSpPr/>
            <p:nvPr/>
          </p:nvCxnSpPr>
          <p:spPr>
            <a:xfrm flipH="1">
              <a:off x="3854796" y="1701731"/>
              <a:ext cx="1726454" cy="14849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/>
            <p:cNvSpPr txBox="1"/>
            <p:nvPr/>
          </p:nvSpPr>
          <p:spPr>
            <a:xfrm rot="21282106">
              <a:off x="4170259" y="1417638"/>
              <a:ext cx="9156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address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CDA746D-2723-E34D-A297-5FB02532A128}"/>
              </a:ext>
            </a:extLst>
          </p:cNvPr>
          <p:cNvSpPr txBox="1"/>
          <p:nvPr/>
        </p:nvSpPr>
        <p:spPr>
          <a:xfrm>
            <a:off x="4032391" y="3967639"/>
            <a:ext cx="1473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00FF"/>
                </a:solidFill>
              </a:rPr>
              <a:t>Questions</a:t>
            </a:r>
          </a:p>
        </p:txBody>
      </p:sp>
      <p:sp>
        <p:nvSpPr>
          <p:cNvPr id="59" name="矩形 2">
            <a:extLst>
              <a:ext uri="{FF2B5EF4-FFF2-40B4-BE49-F238E27FC236}">
                <a16:creationId xmlns:a16="http://schemas.microsoft.com/office/drawing/2014/main" id="{0FBFC989-95C0-6247-B014-CFC8A0C23354}"/>
              </a:ext>
            </a:extLst>
          </p:cNvPr>
          <p:cNvSpPr/>
          <p:nvPr/>
        </p:nvSpPr>
        <p:spPr>
          <a:xfrm>
            <a:off x="3998413" y="4490806"/>
            <a:ext cx="5177187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/>
              <a:t>Where does CPU keep the instruction and data?</a:t>
            </a:r>
          </a:p>
          <a:p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520294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How CPU executes a program</a:t>
            </a:r>
            <a:endParaRPr kumimoji="1" lang="zh-CN" altLang="en-US" dirty="0"/>
          </a:p>
        </p:txBody>
      </p:sp>
      <p:grpSp>
        <p:nvGrpSpPr>
          <p:cNvPr id="8" name="组 7"/>
          <p:cNvGrpSpPr/>
          <p:nvPr/>
        </p:nvGrpSpPr>
        <p:grpSpPr>
          <a:xfrm>
            <a:off x="5779792" y="1568290"/>
            <a:ext cx="2198113" cy="1290450"/>
            <a:chOff x="4589993" y="1584086"/>
            <a:chExt cx="2053130" cy="733943"/>
          </a:xfrm>
        </p:grpSpPr>
        <p:sp>
          <p:nvSpPr>
            <p:cNvPr id="33" name="矩形 32"/>
            <p:cNvSpPr/>
            <p:nvPr/>
          </p:nvSpPr>
          <p:spPr>
            <a:xfrm>
              <a:off x="4589993" y="1584086"/>
              <a:ext cx="2053130" cy="733943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zh-CN" altLang="en-US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5286107" y="1615703"/>
              <a:ext cx="653995" cy="369332"/>
            </a:xfrm>
            <a:prstGeom prst="rect">
              <a:avLst/>
            </a:prstGeom>
          </p:spPr>
          <p:txBody>
            <a:bodyPr wrap="non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dirty="0">
                  <a:latin typeface="Verdana"/>
                  <a:cs typeface="Verdana"/>
                </a:rPr>
                <a:t>CPU</a:t>
              </a:r>
              <a:endParaRPr kumimoji="1" lang="zh-CN" altLang="en-US" dirty="0">
                <a:latin typeface="Verdana"/>
                <a:cs typeface="Verdana"/>
              </a:endParaRPr>
            </a:p>
          </p:txBody>
        </p:sp>
      </p:grpSp>
      <p:sp>
        <p:nvSpPr>
          <p:cNvPr id="14" name="矩形 13"/>
          <p:cNvSpPr/>
          <p:nvPr/>
        </p:nvSpPr>
        <p:spPr>
          <a:xfrm>
            <a:off x="2219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800359" y="281938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800359" y="24459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800359" y="20751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800359" y="17017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359" y="31924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4729" y="393993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809098" y="431336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816679" y="467942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816679" y="504700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816679" y="54155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216294" y="538156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32" name="矩形 31"/>
          <p:cNvSpPr/>
          <p:nvPr/>
        </p:nvSpPr>
        <p:spPr>
          <a:xfrm>
            <a:off x="1800359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071390" y="1675349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39" name="矩形 38"/>
          <p:cNvSpPr/>
          <p:nvPr/>
        </p:nvSpPr>
        <p:spPr>
          <a:xfrm>
            <a:off x="2037967" y="2059581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0" name="矩形 39"/>
          <p:cNvSpPr/>
          <p:nvPr/>
        </p:nvSpPr>
        <p:spPr>
          <a:xfrm>
            <a:off x="2037967" y="2437411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1" name="矩形 40"/>
          <p:cNvSpPr/>
          <p:nvPr/>
        </p:nvSpPr>
        <p:spPr>
          <a:xfrm>
            <a:off x="2037967" y="2784378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2" name="矩形 41"/>
          <p:cNvSpPr/>
          <p:nvPr/>
        </p:nvSpPr>
        <p:spPr>
          <a:xfrm>
            <a:off x="2414770" y="3174925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3" name="矩形 42"/>
          <p:cNvSpPr/>
          <p:nvPr/>
        </p:nvSpPr>
        <p:spPr>
          <a:xfrm>
            <a:off x="2414770" y="3549705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4" name="矩形 43"/>
          <p:cNvSpPr/>
          <p:nvPr/>
        </p:nvSpPr>
        <p:spPr>
          <a:xfrm>
            <a:off x="2425911" y="3927132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5" name="矩形 44"/>
          <p:cNvSpPr/>
          <p:nvPr/>
        </p:nvSpPr>
        <p:spPr>
          <a:xfrm>
            <a:off x="2419095" y="4303632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51" name="矩形 50"/>
          <p:cNvSpPr/>
          <p:nvPr/>
        </p:nvSpPr>
        <p:spPr>
          <a:xfrm>
            <a:off x="5872073" y="1967819"/>
            <a:ext cx="11381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dirty="0">
                <a:latin typeface="Verdana"/>
                <a:cs typeface="Verdana"/>
              </a:rPr>
              <a:t>instruction</a:t>
            </a:r>
            <a:endParaRPr lang="zh-CN" altLang="en-US" sz="1400" dirty="0"/>
          </a:p>
        </p:txBody>
      </p:sp>
      <p:sp>
        <p:nvSpPr>
          <p:cNvPr id="50" name="矩形 49"/>
          <p:cNvSpPr/>
          <p:nvPr/>
        </p:nvSpPr>
        <p:spPr>
          <a:xfrm>
            <a:off x="5872073" y="2271028"/>
            <a:ext cx="5829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dirty="0">
                <a:latin typeface="Verdana"/>
                <a:cs typeface="Verdana"/>
              </a:rPr>
              <a:t>data</a:t>
            </a:r>
            <a:endParaRPr lang="zh-CN" altLang="en-US" sz="1400" dirty="0"/>
          </a:p>
        </p:txBody>
      </p:sp>
      <p:sp>
        <p:nvSpPr>
          <p:cNvPr id="52" name="矩形 51"/>
          <p:cNvSpPr/>
          <p:nvPr/>
        </p:nvSpPr>
        <p:spPr>
          <a:xfrm>
            <a:off x="370798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3" name="矩形 52"/>
          <p:cNvSpPr/>
          <p:nvPr/>
        </p:nvSpPr>
        <p:spPr>
          <a:xfrm>
            <a:off x="359559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4" name="矩形 53"/>
          <p:cNvSpPr/>
          <p:nvPr/>
        </p:nvSpPr>
        <p:spPr>
          <a:xfrm>
            <a:off x="359559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55" name="矩形 54"/>
          <p:cNvSpPr/>
          <p:nvPr/>
        </p:nvSpPr>
        <p:spPr>
          <a:xfrm>
            <a:off x="359559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56" name="矩形 55"/>
          <p:cNvSpPr/>
          <p:nvPr/>
        </p:nvSpPr>
        <p:spPr>
          <a:xfrm>
            <a:off x="359559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359559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370798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372447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376817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366287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3854796" y="1701731"/>
            <a:ext cx="1726454" cy="14849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V="1">
            <a:off x="3854796" y="1850229"/>
            <a:ext cx="1726454" cy="1175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 rot="21284466">
            <a:off x="4170259" y="1907579"/>
            <a:ext cx="1197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instruction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54796" y="2459691"/>
            <a:ext cx="1924996" cy="974880"/>
            <a:chOff x="3854796" y="2459691"/>
            <a:chExt cx="1924996" cy="974880"/>
          </a:xfrm>
        </p:grpSpPr>
        <p:sp>
          <p:nvSpPr>
            <p:cNvPr id="68" name="TextBox 67"/>
            <p:cNvSpPr txBox="1"/>
            <p:nvPr/>
          </p:nvSpPr>
          <p:spPr>
            <a:xfrm rot="20046173">
              <a:off x="4170259" y="2739084"/>
              <a:ext cx="9156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address</a:t>
              </a:r>
            </a:p>
          </p:txBody>
        </p:sp>
        <p:cxnSp>
          <p:nvCxnSpPr>
            <p:cNvPr id="71" name="Straight Arrow Connector 70"/>
            <p:cNvCxnSpPr/>
            <p:nvPr/>
          </p:nvCxnSpPr>
          <p:spPr>
            <a:xfrm flipH="1">
              <a:off x="3854796" y="2459691"/>
              <a:ext cx="1924996" cy="97488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3854796" y="2578805"/>
            <a:ext cx="1924996" cy="973356"/>
            <a:chOff x="3854796" y="2578805"/>
            <a:chExt cx="1924996" cy="973356"/>
          </a:xfrm>
        </p:grpSpPr>
        <p:cxnSp>
          <p:nvCxnSpPr>
            <p:cNvPr id="72" name="Straight Arrow Connector 71"/>
            <p:cNvCxnSpPr/>
            <p:nvPr/>
          </p:nvCxnSpPr>
          <p:spPr>
            <a:xfrm flipV="1">
              <a:off x="3854796" y="2578805"/>
              <a:ext cx="1924996" cy="97335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/>
            <p:cNvSpPr txBox="1"/>
            <p:nvPr/>
          </p:nvSpPr>
          <p:spPr>
            <a:xfrm rot="19895595">
              <a:off x="4466803" y="3084174"/>
              <a:ext cx="60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</a:t>
              </a:r>
            </a:p>
          </p:txBody>
        </p:sp>
      </p:grpSp>
      <p:sp>
        <p:nvSpPr>
          <p:cNvPr id="74" name="TextBox 73"/>
          <p:cNvSpPr txBox="1"/>
          <p:nvPr/>
        </p:nvSpPr>
        <p:spPr>
          <a:xfrm rot="21282106">
            <a:off x="4170259" y="1417638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3" name="Rounded Rectangular Callout 2"/>
          <p:cNvSpPr/>
          <p:nvPr/>
        </p:nvSpPr>
        <p:spPr>
          <a:xfrm>
            <a:off x="5872073" y="3534759"/>
            <a:ext cx="3112052" cy="1687947"/>
          </a:xfrm>
          <a:prstGeom prst="wedgeRoundRectCallout">
            <a:avLst>
              <a:gd name="adj1" fmla="val -31995"/>
              <a:gd name="adj2" fmla="val -91948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000000"/>
                </a:solidFill>
              </a:rPr>
              <a:t>CPU can execute billions of instructions per second</a:t>
            </a:r>
          </a:p>
        </p:txBody>
      </p:sp>
      <p:sp>
        <p:nvSpPr>
          <p:cNvPr id="59" name="Rounded Rectangular Callout 58"/>
          <p:cNvSpPr/>
          <p:nvPr/>
        </p:nvSpPr>
        <p:spPr>
          <a:xfrm>
            <a:off x="4316047" y="5381565"/>
            <a:ext cx="3112052" cy="1305638"/>
          </a:xfrm>
          <a:prstGeom prst="wedgeRoundRectCallout">
            <a:avLst>
              <a:gd name="adj1" fmla="val -41122"/>
              <a:gd name="adj2" fmla="val -186588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000000"/>
                </a:solidFill>
              </a:rPr>
              <a:t>CPU can do ~10 million fetches/sec from memory</a:t>
            </a:r>
          </a:p>
        </p:txBody>
      </p:sp>
    </p:spTree>
    <p:extLst>
      <p:ext uri="{BB962C8B-B14F-4D97-AF65-F5344CB8AC3E}">
        <p14:creationId xmlns:p14="http://schemas.microsoft.com/office/powerpoint/2010/main" val="1366880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Register </a:t>
            </a:r>
            <a:r>
              <a:rPr kumimoji="1" lang="mr-IN" altLang="zh-CN" dirty="0"/>
              <a:t>–</a:t>
            </a:r>
            <a:r>
              <a:rPr kumimoji="1" lang="en-US" altLang="zh-CN" dirty="0"/>
              <a:t> temporary storage area built into a CPU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4477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PC: Program counter, also called instruction pointer (IP).</a:t>
            </a:r>
          </a:p>
          <a:p>
            <a:pPr lvl="1"/>
            <a:r>
              <a:rPr lang="en-US" altLang="zh-CN" dirty="0">
                <a:latin typeface="+mj-lt"/>
              </a:rPr>
              <a:t>Store memory address of next instruction</a:t>
            </a:r>
          </a:p>
          <a:p>
            <a:endParaRPr lang="en-US" altLang="zh-CN" dirty="0">
              <a:latin typeface="+mj-lt"/>
            </a:endParaRPr>
          </a:p>
          <a:p>
            <a:pPr marL="0" indent="0">
              <a:buNone/>
            </a:pPr>
            <a:r>
              <a:rPr lang="en-US" altLang="zh-CN" dirty="0">
                <a:latin typeface="+mj-lt"/>
              </a:rPr>
              <a:t>IR: CPU’s internal buffer storing the fetched instruction</a:t>
            </a:r>
          </a:p>
          <a:p>
            <a:endParaRPr lang="en-US" altLang="zh-CN" dirty="0">
              <a:latin typeface="+mj-lt"/>
            </a:endParaRPr>
          </a:p>
          <a:p>
            <a:pPr marL="0" indent="0">
              <a:buNone/>
            </a:pPr>
            <a:r>
              <a:rPr lang="en-US" altLang="zh-CN" dirty="0">
                <a:latin typeface="+mj-lt"/>
              </a:rPr>
              <a:t>General purpose registers:</a:t>
            </a:r>
          </a:p>
          <a:p>
            <a:pPr lvl="1"/>
            <a:r>
              <a:rPr lang="en-US" altLang="zh-CN" dirty="0">
                <a:latin typeface="+mj-lt"/>
              </a:rPr>
              <a:t>Store data and address used by programs</a:t>
            </a:r>
          </a:p>
          <a:p>
            <a:endParaRPr lang="en-US" altLang="zh-CN" dirty="0">
              <a:latin typeface="+mj-lt"/>
            </a:endParaRPr>
          </a:p>
          <a:p>
            <a:pPr marL="0" indent="0">
              <a:buNone/>
            </a:pPr>
            <a:r>
              <a:rPr lang="en-US" altLang="zh-CN" dirty="0">
                <a:latin typeface="+mj-lt"/>
              </a:rPr>
              <a:t>Program status and control register:</a:t>
            </a:r>
          </a:p>
          <a:p>
            <a:pPr lvl="1"/>
            <a:r>
              <a:rPr lang="en-US" altLang="zh-CN" dirty="0">
                <a:latin typeface="+mj-lt"/>
              </a:rPr>
              <a:t>Status of the instruction executed</a:t>
            </a:r>
          </a:p>
        </p:txBody>
      </p:sp>
    </p:spTree>
    <p:extLst>
      <p:ext uri="{BB962C8B-B14F-4D97-AF65-F5344CB8AC3E}">
        <p14:creationId xmlns:p14="http://schemas.microsoft.com/office/powerpoint/2010/main" val="1552031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Steps of execution in CPU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505686" cy="452596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kumimoji="1" lang="en-US" altLang="zh-CN" dirty="0"/>
              <a:t>1</a:t>
            </a:r>
            <a:r>
              <a:rPr kumimoji="1" lang="en-US" altLang="zh-CN" dirty="0">
                <a:latin typeface="+mj-lt"/>
              </a:rPr>
              <a:t>. PC contains the instruction’s address</a:t>
            </a:r>
          </a:p>
          <a:p>
            <a:pPr lvl="1"/>
            <a:endParaRPr kumimoji="1" lang="en-US" altLang="zh-CN" dirty="0">
              <a:latin typeface="+mj-lt"/>
            </a:endParaRPr>
          </a:p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2. Fetch the instruction to internal buffer</a:t>
            </a:r>
          </a:p>
          <a:p>
            <a:endParaRPr kumimoji="1" lang="en-US" altLang="zh-CN" dirty="0">
              <a:latin typeface="+mj-lt"/>
            </a:endParaRPr>
          </a:p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3. Execute the instruction which does one of following:</a:t>
            </a:r>
          </a:p>
          <a:p>
            <a:pPr lvl="1"/>
            <a:r>
              <a:rPr kumimoji="1" lang="en-US" altLang="zh-CN" dirty="0">
                <a:latin typeface="+mj-lt"/>
              </a:rPr>
              <a:t>Memory operations: move data from memory to register (or opposite)</a:t>
            </a:r>
          </a:p>
          <a:p>
            <a:pPr lvl="1"/>
            <a:r>
              <a:rPr kumimoji="1" lang="en-US" altLang="zh-CN" dirty="0">
                <a:latin typeface="+mj-lt"/>
              </a:rPr>
              <a:t>Arithmetic operations: add, shift etc.</a:t>
            </a:r>
          </a:p>
          <a:p>
            <a:pPr lvl="1"/>
            <a:r>
              <a:rPr kumimoji="1" lang="en-US" altLang="zh-CN" dirty="0">
                <a:latin typeface="+mj-lt"/>
              </a:rPr>
              <a:t>Control flow operations.</a:t>
            </a:r>
          </a:p>
          <a:p>
            <a:pPr marL="457200" lvl="1" indent="0">
              <a:buNone/>
            </a:pPr>
            <a:endParaRPr kumimoji="1" lang="en-US" altLang="zh-CN" dirty="0">
              <a:latin typeface="+mj-lt"/>
            </a:endParaRPr>
          </a:p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4. PC is updated to contain the next instruction’s address.</a:t>
            </a:r>
          </a:p>
          <a:p>
            <a:pPr lvl="1"/>
            <a:endParaRPr kumimoji="1" lang="en-US" altLang="zh-CN" dirty="0">
              <a:latin typeface="+mj-lt"/>
            </a:endParaRPr>
          </a:p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	</a:t>
            </a:r>
          </a:p>
          <a:p>
            <a:pPr lvl="1"/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66156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32523" y="274638"/>
            <a:ext cx="8971720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Instruction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Set</a:t>
            </a:r>
            <a:r>
              <a:rPr kumimoji="1" lang="zh-CN" altLang="en-US" dirty="0"/>
              <a:t> </a:t>
            </a:r>
            <a:r>
              <a:rPr kumimoji="1" lang="en-US" altLang="zh-CN" dirty="0"/>
              <a:t>Architecture</a:t>
            </a:r>
            <a:r>
              <a:rPr kumimoji="1" lang="zh-CN" altLang="en-US" dirty="0"/>
              <a:t> </a:t>
            </a:r>
            <a:r>
              <a:rPr kumimoji="1" lang="en-US" altLang="zh-CN" dirty="0"/>
              <a:t>(ISA)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886690" cy="4786312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zh-CN" dirty="0"/>
              <a:t>ISA: interface exposed by hardware to software writers</a:t>
            </a:r>
          </a:p>
          <a:p>
            <a:endParaRPr kumimoji="1" lang="en-US" altLang="zh-CN" dirty="0"/>
          </a:p>
          <a:p>
            <a:r>
              <a:rPr kumimoji="1" lang="en-US" altLang="zh-CN" dirty="0"/>
              <a:t>X86_64 is the ISA implemented by Intel/AMD CPUs</a:t>
            </a:r>
          </a:p>
          <a:p>
            <a:pPr lvl="1"/>
            <a:r>
              <a:rPr kumimoji="1" lang="en-US" altLang="zh-CN" dirty="0"/>
              <a:t>64-bit version of x86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ARM is another common ISA</a:t>
            </a:r>
          </a:p>
          <a:p>
            <a:pPr lvl="1"/>
            <a:r>
              <a:rPr kumimoji="1" lang="en-US" altLang="zh-CN" dirty="0"/>
              <a:t>Phones, tablets, Raspberry Pi, Apple’s new M1 laptop</a:t>
            </a:r>
          </a:p>
          <a:p>
            <a:pPr marL="457200" lvl="1" indent="0">
              <a:buNone/>
            </a:pPr>
            <a:endParaRPr kumimoji="1" lang="en-US" altLang="zh-CN" dirty="0"/>
          </a:p>
          <a:p>
            <a:pPr marL="514350" indent="-457200"/>
            <a:r>
              <a:rPr kumimoji="1" lang="en-US" altLang="zh-CN" dirty="0"/>
              <a:t>RISC-V is yet another ISA</a:t>
            </a:r>
          </a:p>
          <a:p>
            <a:pPr marL="914400" lvl="1" indent="-457200"/>
            <a:r>
              <a:rPr kumimoji="1" lang="en-US" altLang="zh-CN" dirty="0"/>
              <a:t>P&amp;H textbook’s ISA.</a:t>
            </a:r>
          </a:p>
          <a:p>
            <a:pPr marL="914400" lvl="1" indent="-457200"/>
            <a:r>
              <a:rPr kumimoji="1" lang="en-US" altLang="zh-CN" dirty="0"/>
              <a:t>Open-sourced, royalty-free</a:t>
            </a:r>
          </a:p>
          <a:p>
            <a:pPr marL="57150" indent="0">
              <a:buNone/>
            </a:pPr>
            <a:endParaRPr kumimoji="1" lang="en-US" altLang="zh-CN" dirty="0"/>
          </a:p>
          <a:p>
            <a:pPr lvl="1"/>
            <a:endParaRPr kumimoji="1"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4D0F1-5FA0-A24B-851F-99F6B6A0EDAD}"/>
              </a:ext>
            </a:extLst>
          </p:cNvPr>
          <p:cNvSpPr txBox="1"/>
          <p:nvPr/>
        </p:nvSpPr>
        <p:spPr>
          <a:xfrm>
            <a:off x="5325704" y="4923085"/>
            <a:ext cx="3568171" cy="13234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Apple laptops use ARM chips. Hence we need a virtual </a:t>
            </a:r>
          </a:p>
          <a:p>
            <a:r>
              <a:rPr lang="en-US" sz="2000" dirty="0"/>
              <a:t>machine to run C programs compiled to x86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BF62487-2B14-4CBC-BC56-2E290BE7E241}"/>
              </a:ext>
            </a:extLst>
          </p:cNvPr>
          <p:cNvGrpSpPr/>
          <p:nvPr/>
        </p:nvGrpSpPr>
        <p:grpSpPr>
          <a:xfrm>
            <a:off x="386522" y="2480383"/>
            <a:ext cx="3993492" cy="1189605"/>
            <a:chOff x="386522" y="2480383"/>
            <a:chExt cx="3993492" cy="118960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D77C3E9-4798-4F4A-8689-01BB5C1B0FE4}"/>
                </a:ext>
              </a:extLst>
            </p:cNvPr>
            <p:cNvSpPr/>
            <p:nvPr/>
          </p:nvSpPr>
          <p:spPr>
            <a:xfrm>
              <a:off x="386522" y="2480383"/>
              <a:ext cx="1736034" cy="43312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47911E4-3ADA-4BF2-AEBD-B2DE02614F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3896" y="2913507"/>
              <a:ext cx="251791" cy="48346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8844B96-E1C0-4D3A-B14B-FE4191280ED1}"/>
                </a:ext>
              </a:extLst>
            </p:cNvPr>
            <p:cNvSpPr txBox="1"/>
            <p:nvPr/>
          </p:nvSpPr>
          <p:spPr>
            <a:xfrm>
              <a:off x="2155687" y="3300656"/>
              <a:ext cx="22243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Lectures on assembly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137DEBA-2C41-4731-8F71-770A78A32B72}"/>
              </a:ext>
            </a:extLst>
          </p:cNvPr>
          <p:cNvGrpSpPr/>
          <p:nvPr/>
        </p:nvGrpSpPr>
        <p:grpSpPr>
          <a:xfrm>
            <a:off x="503583" y="4923085"/>
            <a:ext cx="3970569" cy="1519163"/>
            <a:chOff x="503583" y="4923085"/>
            <a:chExt cx="3970569" cy="151916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198FE5F-DBDE-44A8-BDA1-1F05E937D26E}"/>
                </a:ext>
              </a:extLst>
            </p:cNvPr>
            <p:cNvSpPr/>
            <p:nvPr/>
          </p:nvSpPr>
          <p:spPr>
            <a:xfrm>
              <a:off x="503583" y="4923085"/>
              <a:ext cx="1736034" cy="39569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1114423-25BB-425F-A121-7F5984D1812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34210" y="5361151"/>
              <a:ext cx="373269" cy="74368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96D1A96-F61F-473F-BC4F-E36A0AD6B59A}"/>
                </a:ext>
              </a:extLst>
            </p:cNvPr>
            <p:cNvSpPr txBox="1"/>
            <p:nvPr/>
          </p:nvSpPr>
          <p:spPr>
            <a:xfrm>
              <a:off x="2220843" y="6072916"/>
              <a:ext cx="22533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Lectures on hardware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9568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X86-64 ISA: registers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71500" y="1473199"/>
            <a:ext cx="8229600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Program counter:</a:t>
            </a:r>
          </a:p>
          <a:p>
            <a:pPr lvl="1"/>
            <a:r>
              <a:rPr kumimoji="1" lang="en-US" altLang="zh-CN" b="1" dirty="0">
                <a:latin typeface="+mj-lt"/>
              </a:rPr>
              <a:t>called</a:t>
            </a:r>
            <a:r>
              <a:rPr kumimoji="1" lang="en-US" altLang="zh-CN" dirty="0">
                <a:latin typeface="+mj-lt"/>
              </a:rPr>
              <a:t> </a:t>
            </a:r>
            <a:r>
              <a:rPr lang="en-US" altLang="zh-CN" b="1" dirty="0">
                <a:latin typeface="+mj-lt"/>
              </a:rPr>
              <a:t>%rip in x86_64</a:t>
            </a:r>
          </a:p>
          <a:p>
            <a:endParaRPr lang="en-US" altLang="zh-CN" dirty="0">
              <a:latin typeface="+mj-lt"/>
            </a:endParaRPr>
          </a:p>
          <a:p>
            <a:pPr marL="0" indent="0">
              <a:buNone/>
            </a:pPr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+mj-lt"/>
              </a:rPr>
              <a:t>IR: CPU’s internal buffer storing the fetched instruction</a:t>
            </a:r>
          </a:p>
          <a:p>
            <a:endParaRPr lang="en-US" altLang="zh-CN" dirty="0">
              <a:latin typeface="+mj-lt"/>
            </a:endParaRPr>
          </a:p>
          <a:p>
            <a:pPr marL="0" indent="0">
              <a:buNone/>
            </a:pPr>
            <a:r>
              <a:rPr lang="en-US" altLang="zh-CN" dirty="0">
                <a:latin typeface="+mj-lt"/>
              </a:rPr>
              <a:t>General purpose registers: </a:t>
            </a:r>
          </a:p>
          <a:p>
            <a:pPr lvl="1"/>
            <a:r>
              <a:rPr lang="en-US" altLang="zh-CN" b="1" dirty="0">
                <a:latin typeface="+mj-lt"/>
              </a:rPr>
              <a:t>16 8-byte registers: %</a:t>
            </a:r>
            <a:r>
              <a:rPr lang="en-US" altLang="zh-CN" b="1" dirty="0" err="1">
                <a:latin typeface="+mj-lt"/>
              </a:rPr>
              <a:t>rax</a:t>
            </a:r>
            <a:r>
              <a:rPr lang="en-US" altLang="zh-CN" b="1" dirty="0">
                <a:latin typeface="+mj-lt"/>
              </a:rPr>
              <a:t>, %</a:t>
            </a:r>
            <a:r>
              <a:rPr lang="en-US" altLang="zh-CN" b="1" dirty="0" err="1">
                <a:latin typeface="+mj-lt"/>
              </a:rPr>
              <a:t>rbx</a:t>
            </a:r>
            <a:r>
              <a:rPr lang="en-US" altLang="zh-CN" b="1" dirty="0">
                <a:latin typeface="+mj-lt"/>
              </a:rPr>
              <a:t> …</a:t>
            </a:r>
          </a:p>
          <a:p>
            <a:pPr marL="0" indent="0">
              <a:buNone/>
            </a:pPr>
            <a:endParaRPr lang="en-US" altLang="zh-CN" dirty="0">
              <a:latin typeface="+mj-lt"/>
            </a:endParaRPr>
          </a:p>
          <a:p>
            <a:pPr marL="0" indent="0">
              <a:buNone/>
            </a:pPr>
            <a:r>
              <a:rPr lang="en-US" altLang="zh-CN" dirty="0">
                <a:latin typeface="+mj-lt"/>
              </a:rPr>
              <a:t>Program status and control register: </a:t>
            </a:r>
          </a:p>
          <a:p>
            <a:pPr lvl="1"/>
            <a:r>
              <a:rPr lang="en-US" altLang="zh-CN" b="1" dirty="0">
                <a:latin typeface="+mj-lt"/>
              </a:rPr>
              <a:t>Called “RFLAGS” in x86_64</a:t>
            </a:r>
          </a:p>
          <a:p>
            <a:pPr lvl="1"/>
            <a:endParaRPr kumimoji="1" lang="zh-CN" alt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2043B10-86E1-2541-B1DF-E9DCA38FE4BA}"/>
              </a:ext>
            </a:extLst>
          </p:cNvPr>
          <p:cNvGrpSpPr/>
          <p:nvPr/>
        </p:nvGrpSpPr>
        <p:grpSpPr>
          <a:xfrm>
            <a:off x="4471988" y="2543175"/>
            <a:ext cx="3591160" cy="2386013"/>
            <a:chOff x="4471988" y="2543175"/>
            <a:chExt cx="3591160" cy="2386013"/>
          </a:xfrm>
        </p:grpSpPr>
        <p:sp>
          <p:nvSpPr>
            <p:cNvPr id="4" name="矩形 3"/>
            <p:cNvSpPr/>
            <p:nvPr/>
          </p:nvSpPr>
          <p:spPr>
            <a:xfrm>
              <a:off x="4898179" y="2662852"/>
              <a:ext cx="3164969" cy="830997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  <p:txBody>
            <a:bodyPr wrap="none">
              <a:spAutoFit/>
            </a:bodyPr>
            <a:lstStyle/>
            <a:p>
              <a:r>
                <a:rPr kumimoji="1" lang="en-US" altLang="zh-CN" sz="2400" b="1" dirty="0">
                  <a:solidFill>
                    <a:srgbClr val="FF0066"/>
                  </a:solidFill>
                </a:rPr>
                <a:t>Visible to programmers</a:t>
              </a:r>
            </a:p>
            <a:p>
              <a:r>
                <a:rPr kumimoji="1" lang="en-US" altLang="zh-CN" sz="2400" b="1" dirty="0">
                  <a:solidFill>
                    <a:srgbClr val="FF0066"/>
                  </a:solidFill>
                </a:rPr>
                <a:t>(aka part of ISA)</a:t>
              </a:r>
              <a:endParaRPr lang="zh-CN" altLang="en-US" sz="2400" b="1" dirty="0">
                <a:solidFill>
                  <a:srgbClr val="FF0066"/>
                </a:solidFill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C0FD789-9BE0-5E44-9E20-87A8009A3086}"/>
                </a:ext>
              </a:extLst>
            </p:cNvPr>
            <p:cNvSpPr/>
            <p:nvPr/>
          </p:nvSpPr>
          <p:spPr>
            <a:xfrm>
              <a:off x="4471988" y="2543175"/>
              <a:ext cx="428625" cy="500063"/>
            </a:xfrm>
            <a:custGeom>
              <a:avLst/>
              <a:gdLst>
                <a:gd name="connsiteX0" fmla="*/ 428625 w 428625"/>
                <a:gd name="connsiteY0" fmla="*/ 500063 h 500063"/>
                <a:gd name="connsiteX1" fmla="*/ 100012 w 428625"/>
                <a:gd name="connsiteY1" fmla="*/ 342900 h 500063"/>
                <a:gd name="connsiteX2" fmla="*/ 0 w 428625"/>
                <a:gd name="connsiteY2" fmla="*/ 0 h 500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8625" h="500063">
                  <a:moveTo>
                    <a:pt x="428625" y="500063"/>
                  </a:moveTo>
                  <a:cubicBezTo>
                    <a:pt x="300037" y="463153"/>
                    <a:pt x="171449" y="426244"/>
                    <a:pt x="100012" y="342900"/>
                  </a:cubicBezTo>
                  <a:cubicBezTo>
                    <a:pt x="28575" y="259556"/>
                    <a:pt x="14287" y="129778"/>
                    <a:pt x="0" y="0"/>
                  </a:cubicBezTo>
                </a:path>
              </a:pathLst>
            </a:custGeom>
            <a:noFill/>
            <a:ln w="28575">
              <a:solidFill>
                <a:srgbClr val="FF0066"/>
              </a:solidFill>
              <a:headEnd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5B80E96-1192-A14B-940C-E11F38EE912B}"/>
                </a:ext>
              </a:extLst>
            </p:cNvPr>
            <p:cNvSpPr/>
            <p:nvPr/>
          </p:nvSpPr>
          <p:spPr>
            <a:xfrm>
              <a:off x="4600575" y="3243263"/>
              <a:ext cx="285750" cy="985837"/>
            </a:xfrm>
            <a:custGeom>
              <a:avLst/>
              <a:gdLst>
                <a:gd name="connsiteX0" fmla="*/ 285750 w 285750"/>
                <a:gd name="connsiteY0" fmla="*/ 0 h 985837"/>
                <a:gd name="connsiteX1" fmla="*/ 57150 w 285750"/>
                <a:gd name="connsiteY1" fmla="*/ 414337 h 985837"/>
                <a:gd name="connsiteX2" fmla="*/ 0 w 285750"/>
                <a:gd name="connsiteY2" fmla="*/ 985837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50" h="985837">
                  <a:moveTo>
                    <a:pt x="285750" y="0"/>
                  </a:moveTo>
                  <a:cubicBezTo>
                    <a:pt x="195262" y="125015"/>
                    <a:pt x="104775" y="250031"/>
                    <a:pt x="57150" y="414337"/>
                  </a:cubicBezTo>
                  <a:cubicBezTo>
                    <a:pt x="9525" y="578643"/>
                    <a:pt x="4762" y="782240"/>
                    <a:pt x="0" y="985837"/>
                  </a:cubicBezTo>
                </a:path>
              </a:pathLst>
            </a:custGeom>
            <a:noFill/>
            <a:ln w="28575">
              <a:solidFill>
                <a:srgbClr val="FF0066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44334C93-D19B-934F-B3DB-4A77E4DD65BD}"/>
                </a:ext>
              </a:extLst>
            </p:cNvPr>
            <p:cNvSpPr/>
            <p:nvPr/>
          </p:nvSpPr>
          <p:spPr>
            <a:xfrm>
              <a:off x="4756764" y="3429000"/>
              <a:ext cx="172424" cy="1500188"/>
            </a:xfrm>
            <a:custGeom>
              <a:avLst/>
              <a:gdLst>
                <a:gd name="connsiteX0" fmla="*/ 115274 w 172424"/>
                <a:gd name="connsiteY0" fmla="*/ 0 h 1500188"/>
                <a:gd name="connsiteX1" fmla="*/ 974 w 172424"/>
                <a:gd name="connsiteY1" fmla="*/ 657225 h 1500188"/>
                <a:gd name="connsiteX2" fmla="*/ 172424 w 172424"/>
                <a:gd name="connsiteY2" fmla="*/ 1500188 h 150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2424" h="1500188">
                  <a:moveTo>
                    <a:pt x="115274" y="0"/>
                  </a:moveTo>
                  <a:cubicBezTo>
                    <a:pt x="53361" y="203597"/>
                    <a:pt x="-8551" y="407194"/>
                    <a:pt x="974" y="657225"/>
                  </a:cubicBezTo>
                  <a:cubicBezTo>
                    <a:pt x="10499" y="907256"/>
                    <a:pt x="91461" y="1203722"/>
                    <a:pt x="172424" y="1500188"/>
                  </a:cubicBezTo>
                </a:path>
              </a:pathLst>
            </a:custGeom>
            <a:noFill/>
            <a:ln w="28575">
              <a:solidFill>
                <a:srgbClr val="FF0066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2827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78628"/>
            <a:ext cx="82296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>
                <a:latin typeface="+mj-lt"/>
              </a:rPr>
              <a:t>X86-64 general purpose registers: 8-byte </a:t>
            </a:r>
            <a:endParaRPr kumimoji="1" lang="zh-CN" altLang="en-US" dirty="0">
              <a:latin typeface="+mj-lt"/>
            </a:endParaRPr>
          </a:p>
        </p:txBody>
      </p:sp>
      <p:sp>
        <p:nvSpPr>
          <p:cNvPr id="4" name="Rectangle 1"/>
          <p:cNvSpPr>
            <a:spLocks/>
          </p:cNvSpPr>
          <p:nvPr/>
        </p:nvSpPr>
        <p:spPr bwMode="auto">
          <a:xfrm>
            <a:off x="691326" y="4933072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latin typeface="Arial"/>
                <a:cs typeface="Arial"/>
                <a:sym typeface="Courier New Bold" charset="0"/>
              </a:rPr>
              <a:t>rsp</a:t>
            </a:r>
            <a:endParaRPr lang="en-US" b="1" dirty="0"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29" name="Rectangle 30"/>
          <p:cNvSpPr>
            <a:spLocks/>
          </p:cNvSpPr>
          <p:nvPr/>
        </p:nvSpPr>
        <p:spPr bwMode="auto">
          <a:xfrm>
            <a:off x="691322" y="2095070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rax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0" name="Rectangle 31"/>
          <p:cNvSpPr>
            <a:spLocks/>
          </p:cNvSpPr>
          <p:nvPr/>
        </p:nvSpPr>
        <p:spPr bwMode="auto">
          <a:xfrm>
            <a:off x="691322" y="2552822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rbx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1" name="Rectangle 32"/>
          <p:cNvSpPr>
            <a:spLocks/>
          </p:cNvSpPr>
          <p:nvPr/>
        </p:nvSpPr>
        <p:spPr bwMode="auto">
          <a:xfrm>
            <a:off x="691326" y="3022016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rcx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2" name="Rectangle 33"/>
          <p:cNvSpPr>
            <a:spLocks/>
          </p:cNvSpPr>
          <p:nvPr/>
        </p:nvSpPr>
        <p:spPr bwMode="auto">
          <a:xfrm>
            <a:off x="691322" y="3515587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rdx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3" name="Rectangle 34"/>
          <p:cNvSpPr>
            <a:spLocks/>
          </p:cNvSpPr>
          <p:nvPr/>
        </p:nvSpPr>
        <p:spPr bwMode="auto">
          <a:xfrm>
            <a:off x="691322" y="3984781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rsi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4" name="Rectangle 35"/>
          <p:cNvSpPr>
            <a:spLocks/>
          </p:cNvSpPr>
          <p:nvPr/>
        </p:nvSpPr>
        <p:spPr bwMode="auto">
          <a:xfrm>
            <a:off x="691326" y="4474964"/>
            <a:ext cx="3556000" cy="360293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rdi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5" name="Rectangle 36"/>
          <p:cNvSpPr>
            <a:spLocks/>
          </p:cNvSpPr>
          <p:nvPr/>
        </p:nvSpPr>
        <p:spPr bwMode="auto">
          <a:xfrm>
            <a:off x="691326" y="5437729"/>
            <a:ext cx="3556000" cy="360293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rbp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6" name="左大括号 35"/>
          <p:cNvSpPr/>
          <p:nvPr/>
        </p:nvSpPr>
        <p:spPr>
          <a:xfrm rot="16200000">
            <a:off x="2386136" y="4263397"/>
            <a:ext cx="240540" cy="3556001"/>
          </a:xfrm>
          <a:prstGeom prst="leftBrace">
            <a:avLst/>
          </a:prstGeom>
          <a:ln w="38100" cmpd="sng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969974" y="6244238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solidFill>
                  <a:schemeClr val="accent1"/>
                </a:solidFill>
                <a:latin typeface="Verdana"/>
                <a:cs typeface="Verdana"/>
              </a:rPr>
              <a:t>8 bytes</a:t>
            </a:r>
            <a:endParaRPr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968F4EA-1D6D-4FDA-8B80-495EF2463EC3}"/>
              </a:ext>
            </a:extLst>
          </p:cNvPr>
          <p:cNvSpPr>
            <a:spLocks/>
          </p:cNvSpPr>
          <p:nvPr/>
        </p:nvSpPr>
        <p:spPr bwMode="auto">
          <a:xfrm>
            <a:off x="4465987" y="4933072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latin typeface="Arial"/>
                <a:cs typeface="Arial"/>
                <a:sym typeface="Courier New Bold" charset="0"/>
              </a:rPr>
              <a:t>%r14</a:t>
            </a:r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BF1EFED9-9057-47A4-9D46-C75F6FF8479E}"/>
              </a:ext>
            </a:extLst>
          </p:cNvPr>
          <p:cNvSpPr>
            <a:spLocks/>
          </p:cNvSpPr>
          <p:nvPr/>
        </p:nvSpPr>
        <p:spPr bwMode="auto">
          <a:xfrm>
            <a:off x="4465983" y="2095070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%r8</a:t>
            </a:r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26339F02-704F-487D-A4D0-950F3D8B0125}"/>
              </a:ext>
            </a:extLst>
          </p:cNvPr>
          <p:cNvSpPr>
            <a:spLocks/>
          </p:cNvSpPr>
          <p:nvPr/>
        </p:nvSpPr>
        <p:spPr bwMode="auto">
          <a:xfrm>
            <a:off x="4465983" y="2552822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%r9</a:t>
            </a:r>
          </a:p>
        </p:txBody>
      </p:sp>
      <p:sp>
        <p:nvSpPr>
          <p:cNvPr id="8" name="Rectangle 32">
            <a:extLst>
              <a:ext uri="{FF2B5EF4-FFF2-40B4-BE49-F238E27FC236}">
                <a16:creationId xmlns:a16="http://schemas.microsoft.com/office/drawing/2014/main" id="{4E77180C-E2D6-40D6-B481-0902E7766C73}"/>
              </a:ext>
            </a:extLst>
          </p:cNvPr>
          <p:cNvSpPr>
            <a:spLocks/>
          </p:cNvSpPr>
          <p:nvPr/>
        </p:nvSpPr>
        <p:spPr bwMode="auto">
          <a:xfrm>
            <a:off x="4465987" y="3022016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%r10</a:t>
            </a:r>
          </a:p>
        </p:txBody>
      </p:sp>
      <p:sp>
        <p:nvSpPr>
          <p:cNvPr id="9" name="Rectangle 33">
            <a:extLst>
              <a:ext uri="{FF2B5EF4-FFF2-40B4-BE49-F238E27FC236}">
                <a16:creationId xmlns:a16="http://schemas.microsoft.com/office/drawing/2014/main" id="{DC96EB9B-57FA-4E49-ACED-1BA644FC52D1}"/>
              </a:ext>
            </a:extLst>
          </p:cNvPr>
          <p:cNvSpPr>
            <a:spLocks/>
          </p:cNvSpPr>
          <p:nvPr/>
        </p:nvSpPr>
        <p:spPr bwMode="auto">
          <a:xfrm>
            <a:off x="4465983" y="3515587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%r11</a:t>
            </a:r>
          </a:p>
        </p:txBody>
      </p:sp>
      <p:sp>
        <p:nvSpPr>
          <p:cNvPr id="10" name="Rectangle 34">
            <a:extLst>
              <a:ext uri="{FF2B5EF4-FFF2-40B4-BE49-F238E27FC236}">
                <a16:creationId xmlns:a16="http://schemas.microsoft.com/office/drawing/2014/main" id="{E3A1C93F-97DD-44F7-8E91-DBAA42158FCF}"/>
              </a:ext>
            </a:extLst>
          </p:cNvPr>
          <p:cNvSpPr>
            <a:spLocks/>
          </p:cNvSpPr>
          <p:nvPr/>
        </p:nvSpPr>
        <p:spPr bwMode="auto">
          <a:xfrm>
            <a:off x="4465983" y="3984781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%r12</a:t>
            </a:r>
          </a:p>
        </p:txBody>
      </p:sp>
      <p:sp>
        <p:nvSpPr>
          <p:cNvPr id="11" name="Rectangle 35">
            <a:extLst>
              <a:ext uri="{FF2B5EF4-FFF2-40B4-BE49-F238E27FC236}">
                <a16:creationId xmlns:a16="http://schemas.microsoft.com/office/drawing/2014/main" id="{F36B56E3-FA8B-4743-A0C5-FE04EDA7A95A}"/>
              </a:ext>
            </a:extLst>
          </p:cNvPr>
          <p:cNvSpPr>
            <a:spLocks/>
          </p:cNvSpPr>
          <p:nvPr/>
        </p:nvSpPr>
        <p:spPr bwMode="auto">
          <a:xfrm>
            <a:off x="4465987" y="4474964"/>
            <a:ext cx="3556000" cy="360293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%r13</a:t>
            </a:r>
          </a:p>
        </p:txBody>
      </p:sp>
      <p:sp>
        <p:nvSpPr>
          <p:cNvPr id="12" name="Rectangle 36">
            <a:extLst>
              <a:ext uri="{FF2B5EF4-FFF2-40B4-BE49-F238E27FC236}">
                <a16:creationId xmlns:a16="http://schemas.microsoft.com/office/drawing/2014/main" id="{5BD422AC-E90D-46D7-AA99-FD09E8E8938F}"/>
              </a:ext>
            </a:extLst>
          </p:cNvPr>
          <p:cNvSpPr>
            <a:spLocks/>
          </p:cNvSpPr>
          <p:nvPr/>
        </p:nvSpPr>
        <p:spPr bwMode="auto">
          <a:xfrm>
            <a:off x="4465987" y="5437729"/>
            <a:ext cx="3556000" cy="360293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%r15</a:t>
            </a:r>
          </a:p>
        </p:txBody>
      </p:sp>
    </p:spTree>
    <p:extLst>
      <p:ext uri="{BB962C8B-B14F-4D97-AF65-F5344CB8AC3E}">
        <p14:creationId xmlns:p14="http://schemas.microsoft.com/office/powerpoint/2010/main" val="2225653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5265BF28-FABC-4B75-89E3-9A05F659E0FE}"/>
              </a:ext>
            </a:extLst>
          </p:cNvPr>
          <p:cNvSpPr>
            <a:spLocks/>
          </p:cNvSpPr>
          <p:nvPr/>
        </p:nvSpPr>
        <p:spPr bwMode="auto">
          <a:xfrm>
            <a:off x="761684" y="5011725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latin typeface="Arial"/>
                <a:cs typeface="Arial"/>
                <a:sym typeface="Courier New Bold" charset="0"/>
              </a:rPr>
              <a:t>rsp</a:t>
            </a:r>
            <a:endParaRPr lang="en-US" b="1" dirty="0"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C0C9452D-7DE7-4DB4-995C-A28AFB176D7A}"/>
              </a:ext>
            </a:extLst>
          </p:cNvPr>
          <p:cNvSpPr>
            <a:spLocks/>
          </p:cNvSpPr>
          <p:nvPr/>
        </p:nvSpPr>
        <p:spPr bwMode="auto">
          <a:xfrm>
            <a:off x="761680" y="2173723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rax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E267527D-FACD-410F-AEF3-DC99AF515CFC}"/>
              </a:ext>
            </a:extLst>
          </p:cNvPr>
          <p:cNvSpPr>
            <a:spLocks/>
          </p:cNvSpPr>
          <p:nvPr/>
        </p:nvSpPr>
        <p:spPr bwMode="auto">
          <a:xfrm>
            <a:off x="761680" y="2631475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rbx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" name="Rectangle 32">
            <a:extLst>
              <a:ext uri="{FF2B5EF4-FFF2-40B4-BE49-F238E27FC236}">
                <a16:creationId xmlns:a16="http://schemas.microsoft.com/office/drawing/2014/main" id="{B07BAB15-4474-4BA4-B699-18F48560D378}"/>
              </a:ext>
            </a:extLst>
          </p:cNvPr>
          <p:cNvSpPr>
            <a:spLocks/>
          </p:cNvSpPr>
          <p:nvPr/>
        </p:nvSpPr>
        <p:spPr bwMode="auto">
          <a:xfrm>
            <a:off x="761684" y="3100669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rcx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9" name="Rectangle 33">
            <a:extLst>
              <a:ext uri="{FF2B5EF4-FFF2-40B4-BE49-F238E27FC236}">
                <a16:creationId xmlns:a16="http://schemas.microsoft.com/office/drawing/2014/main" id="{5E2E3D10-78C2-428D-BAAD-42F0B7C306FD}"/>
              </a:ext>
            </a:extLst>
          </p:cNvPr>
          <p:cNvSpPr>
            <a:spLocks/>
          </p:cNvSpPr>
          <p:nvPr/>
        </p:nvSpPr>
        <p:spPr bwMode="auto">
          <a:xfrm>
            <a:off x="761680" y="3594240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rdx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10" name="Rectangle 34">
            <a:extLst>
              <a:ext uri="{FF2B5EF4-FFF2-40B4-BE49-F238E27FC236}">
                <a16:creationId xmlns:a16="http://schemas.microsoft.com/office/drawing/2014/main" id="{B9FAC6FD-1D72-4310-93AB-E9D32699D9A6}"/>
              </a:ext>
            </a:extLst>
          </p:cNvPr>
          <p:cNvSpPr>
            <a:spLocks/>
          </p:cNvSpPr>
          <p:nvPr/>
        </p:nvSpPr>
        <p:spPr bwMode="auto">
          <a:xfrm>
            <a:off x="761680" y="4063434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rsi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11" name="Rectangle 35">
            <a:extLst>
              <a:ext uri="{FF2B5EF4-FFF2-40B4-BE49-F238E27FC236}">
                <a16:creationId xmlns:a16="http://schemas.microsoft.com/office/drawing/2014/main" id="{0D6B1313-B7A2-4D3E-AB96-CC18E71EDB81}"/>
              </a:ext>
            </a:extLst>
          </p:cNvPr>
          <p:cNvSpPr>
            <a:spLocks/>
          </p:cNvSpPr>
          <p:nvPr/>
        </p:nvSpPr>
        <p:spPr bwMode="auto">
          <a:xfrm>
            <a:off x="761684" y="4553617"/>
            <a:ext cx="3556000" cy="360293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rdi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12" name="Rectangle 36">
            <a:extLst>
              <a:ext uri="{FF2B5EF4-FFF2-40B4-BE49-F238E27FC236}">
                <a16:creationId xmlns:a16="http://schemas.microsoft.com/office/drawing/2014/main" id="{9D0B1311-07D4-4551-9AEF-683D91FC05C1}"/>
              </a:ext>
            </a:extLst>
          </p:cNvPr>
          <p:cNvSpPr>
            <a:spLocks/>
          </p:cNvSpPr>
          <p:nvPr/>
        </p:nvSpPr>
        <p:spPr bwMode="auto">
          <a:xfrm>
            <a:off x="761684" y="5516382"/>
            <a:ext cx="3556000" cy="360293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rbp</a:t>
            </a:r>
            <a:endParaRPr lang="en-US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741AA5DA-37DC-48A9-BE1D-3330565AAE49}"/>
              </a:ext>
            </a:extLst>
          </p:cNvPr>
          <p:cNvSpPr>
            <a:spLocks/>
          </p:cNvSpPr>
          <p:nvPr/>
        </p:nvSpPr>
        <p:spPr bwMode="auto">
          <a:xfrm>
            <a:off x="4536345" y="5011725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latin typeface="Arial"/>
                <a:cs typeface="Arial"/>
                <a:sym typeface="Courier New Bold" charset="0"/>
              </a:rPr>
              <a:t>%r14</a:t>
            </a:r>
          </a:p>
        </p:txBody>
      </p:sp>
      <p:sp>
        <p:nvSpPr>
          <p:cNvPr id="14" name="Rectangle 30">
            <a:extLst>
              <a:ext uri="{FF2B5EF4-FFF2-40B4-BE49-F238E27FC236}">
                <a16:creationId xmlns:a16="http://schemas.microsoft.com/office/drawing/2014/main" id="{7DCCB009-6CF9-48AA-867D-CB27A56A32E6}"/>
              </a:ext>
            </a:extLst>
          </p:cNvPr>
          <p:cNvSpPr>
            <a:spLocks/>
          </p:cNvSpPr>
          <p:nvPr/>
        </p:nvSpPr>
        <p:spPr bwMode="auto">
          <a:xfrm>
            <a:off x="4536341" y="2173723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%r8</a:t>
            </a:r>
          </a:p>
        </p:txBody>
      </p:sp>
      <p:sp>
        <p:nvSpPr>
          <p:cNvPr id="15" name="Rectangle 31">
            <a:extLst>
              <a:ext uri="{FF2B5EF4-FFF2-40B4-BE49-F238E27FC236}">
                <a16:creationId xmlns:a16="http://schemas.microsoft.com/office/drawing/2014/main" id="{5FE2FCD7-034A-4128-BAEC-007C15D11AC3}"/>
              </a:ext>
            </a:extLst>
          </p:cNvPr>
          <p:cNvSpPr>
            <a:spLocks/>
          </p:cNvSpPr>
          <p:nvPr/>
        </p:nvSpPr>
        <p:spPr bwMode="auto">
          <a:xfrm>
            <a:off x="4536341" y="2631475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%r9</a:t>
            </a:r>
          </a:p>
        </p:txBody>
      </p:sp>
      <p:sp>
        <p:nvSpPr>
          <p:cNvPr id="16" name="Rectangle 32">
            <a:extLst>
              <a:ext uri="{FF2B5EF4-FFF2-40B4-BE49-F238E27FC236}">
                <a16:creationId xmlns:a16="http://schemas.microsoft.com/office/drawing/2014/main" id="{0B2B313C-EE6F-46F2-BC0C-453DE4B90159}"/>
              </a:ext>
            </a:extLst>
          </p:cNvPr>
          <p:cNvSpPr>
            <a:spLocks/>
          </p:cNvSpPr>
          <p:nvPr/>
        </p:nvSpPr>
        <p:spPr bwMode="auto">
          <a:xfrm>
            <a:off x="4536345" y="3100669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%r10</a:t>
            </a:r>
          </a:p>
        </p:txBody>
      </p:sp>
      <p:sp>
        <p:nvSpPr>
          <p:cNvPr id="17" name="Rectangle 33">
            <a:extLst>
              <a:ext uri="{FF2B5EF4-FFF2-40B4-BE49-F238E27FC236}">
                <a16:creationId xmlns:a16="http://schemas.microsoft.com/office/drawing/2014/main" id="{090A6BF9-08FD-436D-A793-478F0B7B1523}"/>
              </a:ext>
            </a:extLst>
          </p:cNvPr>
          <p:cNvSpPr>
            <a:spLocks/>
          </p:cNvSpPr>
          <p:nvPr/>
        </p:nvSpPr>
        <p:spPr bwMode="auto">
          <a:xfrm>
            <a:off x="4536341" y="3594240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%r11</a:t>
            </a:r>
          </a:p>
        </p:txBody>
      </p:sp>
      <p:sp>
        <p:nvSpPr>
          <p:cNvPr id="18" name="Rectangle 34">
            <a:extLst>
              <a:ext uri="{FF2B5EF4-FFF2-40B4-BE49-F238E27FC236}">
                <a16:creationId xmlns:a16="http://schemas.microsoft.com/office/drawing/2014/main" id="{4BF33367-DBDE-4556-9260-348E86CDC670}"/>
              </a:ext>
            </a:extLst>
          </p:cNvPr>
          <p:cNvSpPr>
            <a:spLocks/>
          </p:cNvSpPr>
          <p:nvPr/>
        </p:nvSpPr>
        <p:spPr bwMode="auto">
          <a:xfrm>
            <a:off x="4536341" y="4063434"/>
            <a:ext cx="3556000" cy="381552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%r12</a:t>
            </a:r>
          </a:p>
        </p:txBody>
      </p:sp>
      <p:sp>
        <p:nvSpPr>
          <p:cNvPr id="19" name="Rectangle 35">
            <a:extLst>
              <a:ext uri="{FF2B5EF4-FFF2-40B4-BE49-F238E27FC236}">
                <a16:creationId xmlns:a16="http://schemas.microsoft.com/office/drawing/2014/main" id="{8A1F540D-A788-4613-B4AD-79D2CB9740DE}"/>
              </a:ext>
            </a:extLst>
          </p:cNvPr>
          <p:cNvSpPr>
            <a:spLocks/>
          </p:cNvSpPr>
          <p:nvPr/>
        </p:nvSpPr>
        <p:spPr bwMode="auto">
          <a:xfrm>
            <a:off x="4536345" y="4553617"/>
            <a:ext cx="3556000" cy="360293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%r13</a:t>
            </a:r>
          </a:p>
        </p:txBody>
      </p:sp>
      <p:sp>
        <p:nvSpPr>
          <p:cNvPr id="20" name="Rectangle 36">
            <a:extLst>
              <a:ext uri="{FF2B5EF4-FFF2-40B4-BE49-F238E27FC236}">
                <a16:creationId xmlns:a16="http://schemas.microsoft.com/office/drawing/2014/main" id="{00122111-17F3-42C6-BDC1-696FE460D326}"/>
              </a:ext>
            </a:extLst>
          </p:cNvPr>
          <p:cNvSpPr>
            <a:spLocks/>
          </p:cNvSpPr>
          <p:nvPr/>
        </p:nvSpPr>
        <p:spPr bwMode="auto">
          <a:xfrm>
            <a:off x="4536345" y="5516382"/>
            <a:ext cx="3556000" cy="360293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pPr marL="914400"/>
            <a:r>
              <a:rPr lang="en-US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%r15</a:t>
            </a: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78628"/>
            <a:ext cx="82296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>
                <a:latin typeface="+mj-lt"/>
              </a:rPr>
              <a:t>X86-64 general purpose registers: 4-byte </a:t>
            </a:r>
            <a:endParaRPr kumimoji="1" lang="zh-CN" altLang="en-US" dirty="0">
              <a:latin typeface="+mj-lt"/>
            </a:endParaRPr>
          </a:p>
        </p:txBody>
      </p:sp>
      <p:sp>
        <p:nvSpPr>
          <p:cNvPr id="36" name="左大括号 35"/>
          <p:cNvSpPr/>
          <p:nvPr/>
        </p:nvSpPr>
        <p:spPr>
          <a:xfrm rot="16200000">
            <a:off x="2456494" y="4380568"/>
            <a:ext cx="240540" cy="3556001"/>
          </a:xfrm>
          <a:prstGeom prst="leftBrace">
            <a:avLst/>
          </a:prstGeom>
          <a:ln w="38100" cmpd="sng">
            <a:solidFill>
              <a:schemeClr val="accent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1975840" y="6351466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solidFill>
                  <a:schemeClr val="accent1"/>
                </a:solidFill>
                <a:latin typeface="Verdana"/>
                <a:cs typeface="Verdana"/>
              </a:rPr>
              <a:t>8 bytes</a:t>
            </a:r>
            <a:endParaRPr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38" name="Rectangle 30"/>
          <p:cNvSpPr>
            <a:spLocks/>
          </p:cNvSpPr>
          <p:nvPr/>
        </p:nvSpPr>
        <p:spPr bwMode="auto">
          <a:xfrm>
            <a:off x="2539520" y="2173723"/>
            <a:ext cx="1778159" cy="3739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eax</a:t>
            </a:r>
            <a:endParaRPr lang="en-US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0" name="Rectangle 30"/>
          <p:cNvSpPr>
            <a:spLocks/>
          </p:cNvSpPr>
          <p:nvPr/>
        </p:nvSpPr>
        <p:spPr bwMode="auto">
          <a:xfrm>
            <a:off x="2539520" y="2616186"/>
            <a:ext cx="1778159" cy="3815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ebx</a:t>
            </a:r>
            <a:endParaRPr lang="en-US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Rectangle 30"/>
          <p:cNvSpPr>
            <a:spLocks/>
          </p:cNvSpPr>
          <p:nvPr/>
        </p:nvSpPr>
        <p:spPr bwMode="auto">
          <a:xfrm>
            <a:off x="2535427" y="3100669"/>
            <a:ext cx="1778159" cy="3815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ecx</a:t>
            </a:r>
            <a:endParaRPr lang="en-US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Rectangle 30"/>
          <p:cNvSpPr>
            <a:spLocks/>
          </p:cNvSpPr>
          <p:nvPr/>
        </p:nvSpPr>
        <p:spPr bwMode="auto">
          <a:xfrm>
            <a:off x="2543194" y="3591171"/>
            <a:ext cx="1778159" cy="3907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edx</a:t>
            </a:r>
            <a:endParaRPr lang="en-US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3" name="Rectangle 30"/>
          <p:cNvSpPr>
            <a:spLocks/>
          </p:cNvSpPr>
          <p:nvPr/>
        </p:nvSpPr>
        <p:spPr bwMode="auto">
          <a:xfrm>
            <a:off x="2539525" y="4063434"/>
            <a:ext cx="1778159" cy="3907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esi</a:t>
            </a:r>
            <a:endParaRPr lang="en-US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4" name="Rectangle 30"/>
          <p:cNvSpPr>
            <a:spLocks/>
          </p:cNvSpPr>
          <p:nvPr/>
        </p:nvSpPr>
        <p:spPr bwMode="auto">
          <a:xfrm>
            <a:off x="6314341" y="2182915"/>
            <a:ext cx="1778159" cy="364799"/>
          </a:xfrm>
          <a:prstGeom prst="rect">
            <a:avLst/>
          </a:prstGeom>
          <a:solidFill>
            <a:srgbClr val="B9CDE5"/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%r8d</a:t>
            </a:r>
          </a:p>
        </p:txBody>
      </p:sp>
      <p:sp>
        <p:nvSpPr>
          <p:cNvPr id="45" name="Rectangle 30"/>
          <p:cNvSpPr>
            <a:spLocks/>
          </p:cNvSpPr>
          <p:nvPr/>
        </p:nvSpPr>
        <p:spPr bwMode="auto">
          <a:xfrm>
            <a:off x="6314182" y="2631475"/>
            <a:ext cx="1778159" cy="381552"/>
          </a:xfrm>
          <a:prstGeom prst="rect">
            <a:avLst/>
          </a:prstGeom>
          <a:solidFill>
            <a:srgbClr val="B9CDE5"/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%r9d</a:t>
            </a:r>
          </a:p>
        </p:txBody>
      </p:sp>
      <p:sp>
        <p:nvSpPr>
          <p:cNvPr id="46" name="Rectangle 30"/>
          <p:cNvSpPr>
            <a:spLocks/>
          </p:cNvSpPr>
          <p:nvPr/>
        </p:nvSpPr>
        <p:spPr bwMode="auto">
          <a:xfrm>
            <a:off x="6314181" y="3106336"/>
            <a:ext cx="1778159" cy="375885"/>
          </a:xfrm>
          <a:prstGeom prst="rect">
            <a:avLst/>
          </a:prstGeom>
          <a:solidFill>
            <a:srgbClr val="B9CDE5"/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%r10d</a:t>
            </a:r>
          </a:p>
        </p:txBody>
      </p:sp>
      <p:sp>
        <p:nvSpPr>
          <p:cNvPr id="47" name="Rectangle 30"/>
          <p:cNvSpPr>
            <a:spLocks/>
          </p:cNvSpPr>
          <p:nvPr/>
        </p:nvSpPr>
        <p:spPr bwMode="auto">
          <a:xfrm>
            <a:off x="6314180" y="3584326"/>
            <a:ext cx="1778159" cy="390752"/>
          </a:xfrm>
          <a:prstGeom prst="rect">
            <a:avLst/>
          </a:prstGeom>
          <a:solidFill>
            <a:srgbClr val="B9CDE5"/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%r11d</a:t>
            </a:r>
          </a:p>
        </p:txBody>
      </p:sp>
      <p:sp>
        <p:nvSpPr>
          <p:cNvPr id="48" name="Rectangle 30"/>
          <p:cNvSpPr>
            <a:spLocks/>
          </p:cNvSpPr>
          <p:nvPr/>
        </p:nvSpPr>
        <p:spPr bwMode="auto">
          <a:xfrm>
            <a:off x="6314179" y="4060046"/>
            <a:ext cx="1778159" cy="381552"/>
          </a:xfrm>
          <a:prstGeom prst="rect">
            <a:avLst/>
          </a:prstGeom>
          <a:solidFill>
            <a:srgbClr val="B9CDE5"/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%r12d</a:t>
            </a:r>
          </a:p>
        </p:txBody>
      </p:sp>
      <p:sp>
        <p:nvSpPr>
          <p:cNvPr id="49" name="Rectangle 30"/>
          <p:cNvSpPr>
            <a:spLocks/>
          </p:cNvSpPr>
          <p:nvPr/>
        </p:nvSpPr>
        <p:spPr bwMode="auto">
          <a:xfrm>
            <a:off x="2539520" y="4543216"/>
            <a:ext cx="1778159" cy="3602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edi</a:t>
            </a:r>
            <a:endParaRPr lang="en-US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50" name="Rectangle 30"/>
          <p:cNvSpPr>
            <a:spLocks/>
          </p:cNvSpPr>
          <p:nvPr/>
        </p:nvSpPr>
        <p:spPr bwMode="auto">
          <a:xfrm>
            <a:off x="2535426" y="5013341"/>
            <a:ext cx="1778159" cy="3799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esp</a:t>
            </a:r>
            <a:endParaRPr lang="en-US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51" name="Rectangle 30"/>
          <p:cNvSpPr>
            <a:spLocks/>
          </p:cNvSpPr>
          <p:nvPr/>
        </p:nvSpPr>
        <p:spPr bwMode="auto">
          <a:xfrm>
            <a:off x="2539525" y="5526178"/>
            <a:ext cx="1778159" cy="3504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ebp</a:t>
            </a:r>
            <a:endParaRPr lang="en-US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52" name="Rectangle 30"/>
          <p:cNvSpPr>
            <a:spLocks/>
          </p:cNvSpPr>
          <p:nvPr/>
        </p:nvSpPr>
        <p:spPr bwMode="auto">
          <a:xfrm>
            <a:off x="6314178" y="4547449"/>
            <a:ext cx="1778159" cy="381552"/>
          </a:xfrm>
          <a:prstGeom prst="rect">
            <a:avLst/>
          </a:prstGeom>
          <a:solidFill>
            <a:srgbClr val="B9CDE5"/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%r13d</a:t>
            </a:r>
          </a:p>
        </p:txBody>
      </p:sp>
      <p:sp>
        <p:nvSpPr>
          <p:cNvPr id="53" name="Rectangle 30"/>
          <p:cNvSpPr>
            <a:spLocks/>
          </p:cNvSpPr>
          <p:nvPr/>
        </p:nvSpPr>
        <p:spPr bwMode="auto">
          <a:xfrm>
            <a:off x="6314341" y="5005360"/>
            <a:ext cx="1778159" cy="390752"/>
          </a:xfrm>
          <a:prstGeom prst="rect">
            <a:avLst/>
          </a:prstGeom>
          <a:solidFill>
            <a:srgbClr val="B9CDE5"/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%r14d</a:t>
            </a:r>
          </a:p>
        </p:txBody>
      </p:sp>
      <p:sp>
        <p:nvSpPr>
          <p:cNvPr id="54" name="Rectangle 30"/>
          <p:cNvSpPr>
            <a:spLocks/>
          </p:cNvSpPr>
          <p:nvPr/>
        </p:nvSpPr>
        <p:spPr bwMode="auto">
          <a:xfrm>
            <a:off x="6314341" y="5501152"/>
            <a:ext cx="1778159" cy="367167"/>
          </a:xfrm>
          <a:prstGeom prst="rect">
            <a:avLst/>
          </a:prstGeom>
          <a:solidFill>
            <a:srgbClr val="B9CDE5"/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%r15d</a:t>
            </a:r>
          </a:p>
        </p:txBody>
      </p:sp>
      <p:sp>
        <p:nvSpPr>
          <p:cNvPr id="55" name="左大括号 54"/>
          <p:cNvSpPr/>
          <p:nvPr/>
        </p:nvSpPr>
        <p:spPr>
          <a:xfrm rot="16200000">
            <a:off x="7082908" y="5216576"/>
            <a:ext cx="240542" cy="1778002"/>
          </a:xfrm>
          <a:prstGeom prst="leftBrace">
            <a:avLst/>
          </a:prstGeom>
          <a:ln w="38100" cmpd="sng">
            <a:solidFill>
              <a:schemeClr val="accent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矩形 55"/>
          <p:cNvSpPr/>
          <p:nvPr/>
        </p:nvSpPr>
        <p:spPr>
          <a:xfrm>
            <a:off x="6686583" y="6213653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solidFill>
                  <a:schemeClr val="accent1"/>
                </a:solidFill>
                <a:latin typeface="Verdana"/>
                <a:cs typeface="Verdana"/>
              </a:rPr>
              <a:t>4 bytes</a:t>
            </a:r>
            <a:endParaRPr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A181DB52-CA20-440C-8C14-8903D860C665}"/>
              </a:ext>
            </a:extLst>
          </p:cNvPr>
          <p:cNvSpPr/>
          <p:nvPr/>
        </p:nvSpPr>
        <p:spPr>
          <a:xfrm>
            <a:off x="3110711" y="1392975"/>
            <a:ext cx="3203630" cy="830050"/>
          </a:xfrm>
          <a:prstGeom prst="wedgeRoundRectCallout">
            <a:avLst>
              <a:gd name="adj1" fmla="val -38552"/>
              <a:gd name="adj2" fmla="val 77103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%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eax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refers to the lower-order 4-byte of %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rax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FB18A7-4C76-49A6-A215-72CEA622CCA4}"/>
              </a:ext>
            </a:extLst>
          </p:cNvPr>
          <p:cNvSpPr txBox="1"/>
          <p:nvPr/>
        </p:nvSpPr>
        <p:spPr>
          <a:xfrm>
            <a:off x="508623" y="980611"/>
            <a:ext cx="86353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4-byte registers refer to the lower-order 4-bytes of original registers.</a:t>
            </a:r>
          </a:p>
        </p:txBody>
      </p:sp>
    </p:spTree>
    <p:extLst>
      <p:ext uri="{BB962C8B-B14F-4D97-AF65-F5344CB8AC3E}">
        <p14:creationId xmlns:p14="http://schemas.microsoft.com/office/powerpoint/2010/main" val="3956191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>
                <a:latin typeface="+mj-lt"/>
              </a:rPr>
              <a:t>X86-64 general purpose registers: 2-byte </a:t>
            </a:r>
            <a:endParaRPr kumimoji="1" lang="zh-CN" altLang="en-US" dirty="0"/>
          </a:p>
        </p:txBody>
      </p:sp>
      <p:sp>
        <p:nvSpPr>
          <p:cNvPr id="4" name="Rectangle 30"/>
          <p:cNvSpPr>
            <a:spLocks/>
          </p:cNvSpPr>
          <p:nvPr/>
        </p:nvSpPr>
        <p:spPr bwMode="auto">
          <a:xfrm>
            <a:off x="600167" y="3608656"/>
            <a:ext cx="8076432" cy="533400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r>
              <a:rPr lang="en-US" sz="2400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sz="2400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rax</a:t>
            </a:r>
            <a:endParaRPr lang="en-US" sz="2400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5" name="Rectangle 30"/>
          <p:cNvSpPr>
            <a:spLocks/>
          </p:cNvSpPr>
          <p:nvPr/>
        </p:nvSpPr>
        <p:spPr bwMode="auto">
          <a:xfrm>
            <a:off x="4638022" y="3613040"/>
            <a:ext cx="4038577" cy="5334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sz="2400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sz="2400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eax</a:t>
            </a:r>
            <a:endParaRPr lang="en-US" sz="2400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" name="左大括号 5"/>
          <p:cNvSpPr/>
          <p:nvPr/>
        </p:nvSpPr>
        <p:spPr>
          <a:xfrm rot="16200000" flipH="1" flipV="1">
            <a:off x="4518372" y="-844371"/>
            <a:ext cx="217139" cy="8076434"/>
          </a:xfrm>
          <a:prstGeom prst="leftBrace">
            <a:avLst>
              <a:gd name="adj1" fmla="val 920"/>
              <a:gd name="adj2" fmla="val 50000"/>
            </a:avLst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4070668" y="2624583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latin typeface="Verdana"/>
                <a:cs typeface="Verdana"/>
              </a:rPr>
              <a:t>8 bytes</a:t>
            </a:r>
            <a:endParaRPr lang="zh-CN" altLang="en-US" b="1" dirty="0"/>
          </a:p>
        </p:txBody>
      </p:sp>
      <p:sp>
        <p:nvSpPr>
          <p:cNvPr id="8" name="左大括号 7"/>
          <p:cNvSpPr/>
          <p:nvPr/>
        </p:nvSpPr>
        <p:spPr>
          <a:xfrm rot="16200000" flipH="1" flipV="1">
            <a:off x="6548739" y="1418495"/>
            <a:ext cx="217141" cy="4038578"/>
          </a:xfrm>
          <a:prstGeom prst="leftBrace">
            <a:avLst>
              <a:gd name="adj1" fmla="val 920"/>
              <a:gd name="adj2" fmla="val 50000"/>
            </a:avLst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042143" y="2900610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latin typeface="Verdana"/>
                <a:cs typeface="Verdana"/>
              </a:rPr>
              <a:t>4 bytes</a:t>
            </a:r>
            <a:endParaRPr lang="zh-CN" altLang="en-US" b="1" dirty="0"/>
          </a:p>
        </p:txBody>
      </p:sp>
      <p:sp>
        <p:nvSpPr>
          <p:cNvPr id="10" name="Rectangle 30"/>
          <p:cNvSpPr>
            <a:spLocks/>
          </p:cNvSpPr>
          <p:nvPr/>
        </p:nvSpPr>
        <p:spPr bwMode="auto">
          <a:xfrm>
            <a:off x="6726993" y="3613040"/>
            <a:ext cx="2009087" cy="533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sz="2400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%ax</a:t>
            </a:r>
          </a:p>
        </p:txBody>
      </p:sp>
      <p:sp>
        <p:nvSpPr>
          <p:cNvPr id="11" name="左大括号 10"/>
          <p:cNvSpPr/>
          <p:nvPr/>
        </p:nvSpPr>
        <p:spPr>
          <a:xfrm rot="16200000" flipV="1">
            <a:off x="7648759" y="3293327"/>
            <a:ext cx="175756" cy="2019289"/>
          </a:xfrm>
          <a:prstGeom prst="leftBrace">
            <a:avLst>
              <a:gd name="adj1" fmla="val 920"/>
              <a:gd name="adj2" fmla="val 50000"/>
            </a:avLst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188292" y="4471807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latin typeface="Verdana"/>
                <a:cs typeface="Verdana"/>
              </a:rPr>
              <a:t>2 bytes</a:t>
            </a:r>
            <a:endParaRPr lang="zh-CN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A8A42A-DD83-4E28-9239-70B8E2E32574}"/>
              </a:ext>
            </a:extLst>
          </p:cNvPr>
          <p:cNvSpPr txBox="1"/>
          <p:nvPr/>
        </p:nvSpPr>
        <p:spPr>
          <a:xfrm>
            <a:off x="457200" y="1444435"/>
            <a:ext cx="86353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2-byte registers refer to the lower-order 2-bytes of original registers.</a:t>
            </a:r>
          </a:p>
        </p:txBody>
      </p:sp>
    </p:spTree>
    <p:extLst>
      <p:ext uri="{BB962C8B-B14F-4D97-AF65-F5344CB8AC3E}">
        <p14:creationId xmlns:p14="http://schemas.microsoft.com/office/powerpoint/2010/main" val="1846880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>
                <a:latin typeface="+mj-lt"/>
              </a:rPr>
              <a:t>X86-64 general purpose registers: 1-byte </a:t>
            </a:r>
            <a:endParaRPr kumimoji="1" lang="zh-CN" altLang="en-US" dirty="0"/>
          </a:p>
        </p:txBody>
      </p:sp>
      <p:sp>
        <p:nvSpPr>
          <p:cNvPr id="4" name="Rectangle 30"/>
          <p:cNvSpPr>
            <a:spLocks/>
          </p:cNvSpPr>
          <p:nvPr/>
        </p:nvSpPr>
        <p:spPr bwMode="auto">
          <a:xfrm>
            <a:off x="610368" y="2091183"/>
            <a:ext cx="8076432" cy="533400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r>
              <a:rPr lang="en-US" sz="2400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sz="2400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rax</a:t>
            </a:r>
            <a:endParaRPr lang="en-US" sz="2400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5" name="Rectangle 30"/>
          <p:cNvSpPr>
            <a:spLocks/>
          </p:cNvSpPr>
          <p:nvPr/>
        </p:nvSpPr>
        <p:spPr bwMode="auto">
          <a:xfrm>
            <a:off x="4648223" y="2095567"/>
            <a:ext cx="4038577" cy="5334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sz="2400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sz="2400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eax</a:t>
            </a:r>
            <a:endParaRPr lang="en-US" sz="2400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" name="左大括号 5"/>
          <p:cNvSpPr/>
          <p:nvPr/>
        </p:nvSpPr>
        <p:spPr>
          <a:xfrm rot="16200000" flipH="1" flipV="1">
            <a:off x="4528573" y="-2361844"/>
            <a:ext cx="217139" cy="8076434"/>
          </a:xfrm>
          <a:prstGeom prst="leftBrace">
            <a:avLst>
              <a:gd name="adj1" fmla="val 920"/>
              <a:gd name="adj2" fmla="val 50000"/>
            </a:avLst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4080869" y="1107110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latin typeface="Verdana"/>
                <a:cs typeface="Verdana"/>
              </a:rPr>
              <a:t>8 bytes</a:t>
            </a:r>
            <a:endParaRPr lang="zh-CN" altLang="en-US" b="1" dirty="0"/>
          </a:p>
        </p:txBody>
      </p:sp>
      <p:sp>
        <p:nvSpPr>
          <p:cNvPr id="8" name="左大括号 7"/>
          <p:cNvSpPr/>
          <p:nvPr/>
        </p:nvSpPr>
        <p:spPr>
          <a:xfrm rot="16200000" flipH="1" flipV="1">
            <a:off x="6558940" y="-98978"/>
            <a:ext cx="217141" cy="4038578"/>
          </a:xfrm>
          <a:prstGeom prst="leftBrace">
            <a:avLst>
              <a:gd name="adj1" fmla="val 920"/>
              <a:gd name="adj2" fmla="val 50000"/>
            </a:avLst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052344" y="1383137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latin typeface="Verdana"/>
                <a:cs typeface="Verdana"/>
              </a:rPr>
              <a:t>4 bytes</a:t>
            </a:r>
            <a:endParaRPr lang="zh-CN" altLang="en-US" b="1" dirty="0"/>
          </a:p>
        </p:txBody>
      </p:sp>
      <p:sp>
        <p:nvSpPr>
          <p:cNvPr id="10" name="Rectangle 30"/>
          <p:cNvSpPr>
            <a:spLocks/>
          </p:cNvSpPr>
          <p:nvPr/>
        </p:nvSpPr>
        <p:spPr bwMode="auto">
          <a:xfrm>
            <a:off x="6737194" y="2095567"/>
            <a:ext cx="2009087" cy="533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sz="2400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%ax</a:t>
            </a:r>
          </a:p>
        </p:txBody>
      </p:sp>
      <p:sp>
        <p:nvSpPr>
          <p:cNvPr id="11" name="左大括号 10"/>
          <p:cNvSpPr/>
          <p:nvPr/>
        </p:nvSpPr>
        <p:spPr>
          <a:xfrm rot="16200000" flipV="1">
            <a:off x="7658960" y="1775854"/>
            <a:ext cx="175756" cy="2019289"/>
          </a:xfrm>
          <a:prstGeom prst="leftBrace">
            <a:avLst>
              <a:gd name="adj1" fmla="val 920"/>
              <a:gd name="adj2" fmla="val 50000"/>
            </a:avLst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198493" y="2954334"/>
            <a:ext cx="113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latin typeface="Verdana"/>
                <a:cs typeface="Verdana"/>
              </a:rPr>
              <a:t>2 bytes</a:t>
            </a:r>
            <a:endParaRPr lang="zh-CN" altLang="en-US" b="1" dirty="0"/>
          </a:p>
        </p:txBody>
      </p:sp>
      <p:sp>
        <p:nvSpPr>
          <p:cNvPr id="13" name="Rectangle 30"/>
          <p:cNvSpPr>
            <a:spLocks/>
          </p:cNvSpPr>
          <p:nvPr/>
        </p:nvSpPr>
        <p:spPr bwMode="auto">
          <a:xfrm>
            <a:off x="610368" y="4165825"/>
            <a:ext cx="8240274" cy="533400"/>
          </a:xfrm>
          <a:prstGeom prst="rect">
            <a:avLst/>
          </a:prstGeom>
          <a:noFill/>
          <a:ln w="254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38100" tIns="38100" rIns="38100" bIns="38100" anchor="ctr"/>
          <a:lstStyle/>
          <a:p>
            <a:r>
              <a:rPr lang="en-US" sz="2400" b="1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sz="2400" b="1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rax</a:t>
            </a:r>
            <a:endParaRPr lang="en-US" sz="2400" b="1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14" name="Rectangle 30"/>
          <p:cNvSpPr>
            <a:spLocks/>
          </p:cNvSpPr>
          <p:nvPr/>
        </p:nvSpPr>
        <p:spPr bwMode="auto">
          <a:xfrm>
            <a:off x="4812065" y="4158767"/>
            <a:ext cx="4038577" cy="5334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sz="2400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</a:t>
            </a:r>
            <a:r>
              <a:rPr lang="en-US" sz="2400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eax</a:t>
            </a:r>
            <a:endParaRPr lang="en-US" sz="2400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19" name="Rectangle 30"/>
          <p:cNvSpPr>
            <a:spLocks/>
          </p:cNvSpPr>
          <p:nvPr/>
        </p:nvSpPr>
        <p:spPr bwMode="auto">
          <a:xfrm>
            <a:off x="6901036" y="4158767"/>
            <a:ext cx="1004505" cy="5334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sz="2400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 %ah</a:t>
            </a:r>
          </a:p>
        </p:txBody>
      </p:sp>
      <p:sp>
        <p:nvSpPr>
          <p:cNvPr id="22" name="Rectangle 30"/>
          <p:cNvSpPr>
            <a:spLocks/>
          </p:cNvSpPr>
          <p:nvPr/>
        </p:nvSpPr>
        <p:spPr bwMode="auto">
          <a:xfrm>
            <a:off x="7907148" y="4154383"/>
            <a:ext cx="943494" cy="5334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 cmpd="sng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8100" tIns="38100" rIns="38100" bIns="38100" anchor="ctr"/>
          <a:lstStyle/>
          <a:p>
            <a:r>
              <a:rPr lang="en-US" sz="2400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 %al</a:t>
            </a:r>
          </a:p>
        </p:txBody>
      </p:sp>
      <p:sp>
        <p:nvSpPr>
          <p:cNvPr id="23" name="左大括号 22"/>
          <p:cNvSpPr/>
          <p:nvPr/>
        </p:nvSpPr>
        <p:spPr>
          <a:xfrm rot="16200000" flipV="1">
            <a:off x="7315410" y="4449423"/>
            <a:ext cx="175756" cy="1004505"/>
          </a:xfrm>
          <a:prstGeom prst="leftBrace">
            <a:avLst>
              <a:gd name="adj1" fmla="val 920"/>
              <a:gd name="adj2" fmla="val 50000"/>
            </a:avLst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6909384" y="5129675"/>
            <a:ext cx="9977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latin typeface="Verdana"/>
                <a:cs typeface="Verdana"/>
              </a:rPr>
              <a:t>1 byte</a:t>
            </a:r>
            <a:endParaRPr lang="zh-CN" altLang="en-US" b="1" dirty="0"/>
          </a:p>
        </p:txBody>
      </p:sp>
      <p:sp>
        <p:nvSpPr>
          <p:cNvPr id="3" name="下箭头 2"/>
          <p:cNvSpPr/>
          <p:nvPr/>
        </p:nvSpPr>
        <p:spPr>
          <a:xfrm>
            <a:off x="7733931" y="3369434"/>
            <a:ext cx="331781" cy="555144"/>
          </a:xfrm>
          <a:prstGeom prst="downArrow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95163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x86-64 execution</a:t>
            </a:r>
            <a:endParaRPr kumimoji="1" lang="zh-CN" altLang="en-US" dirty="0"/>
          </a:p>
        </p:txBody>
      </p:sp>
      <p:sp>
        <p:nvSpPr>
          <p:cNvPr id="33" name="矩形 32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219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800359" y="281938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800359" y="24459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800359" y="20751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800359" y="17017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359" y="31924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4729" y="393993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809098" y="431336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816679" y="467942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816679" y="504700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816679" y="54155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216294" y="538156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32" name="矩形 31"/>
          <p:cNvSpPr/>
          <p:nvPr/>
        </p:nvSpPr>
        <p:spPr>
          <a:xfrm>
            <a:off x="1800359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071390" y="1675349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39" name="矩形 38"/>
          <p:cNvSpPr/>
          <p:nvPr/>
        </p:nvSpPr>
        <p:spPr>
          <a:xfrm>
            <a:off x="2037967" y="2059581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0" name="矩形 39"/>
          <p:cNvSpPr/>
          <p:nvPr/>
        </p:nvSpPr>
        <p:spPr>
          <a:xfrm>
            <a:off x="2037967" y="2437411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1" name="矩形 40"/>
          <p:cNvSpPr/>
          <p:nvPr/>
        </p:nvSpPr>
        <p:spPr>
          <a:xfrm>
            <a:off x="2037967" y="2784378"/>
            <a:ext cx="1546843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instruction</a:t>
            </a:r>
            <a:endParaRPr lang="zh-CN" altLang="en-US" sz="2000" dirty="0"/>
          </a:p>
        </p:txBody>
      </p:sp>
      <p:sp>
        <p:nvSpPr>
          <p:cNvPr id="42" name="矩形 41"/>
          <p:cNvSpPr/>
          <p:nvPr/>
        </p:nvSpPr>
        <p:spPr>
          <a:xfrm>
            <a:off x="2414770" y="3174925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3" name="矩形 42"/>
          <p:cNvSpPr/>
          <p:nvPr/>
        </p:nvSpPr>
        <p:spPr>
          <a:xfrm>
            <a:off x="2414770" y="3549705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4" name="矩形 43"/>
          <p:cNvSpPr/>
          <p:nvPr/>
        </p:nvSpPr>
        <p:spPr>
          <a:xfrm>
            <a:off x="2425911" y="3927132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sp>
        <p:nvSpPr>
          <p:cNvPr id="45" name="矩形 44"/>
          <p:cNvSpPr/>
          <p:nvPr/>
        </p:nvSpPr>
        <p:spPr>
          <a:xfrm>
            <a:off x="2419095" y="4303632"/>
            <a:ext cx="753607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data</a:t>
            </a:r>
            <a:endParaRPr lang="zh-CN" altLang="en-US" sz="2000" dirty="0"/>
          </a:p>
        </p:txBody>
      </p:sp>
      <p:cxnSp>
        <p:nvCxnSpPr>
          <p:cNvPr id="59" name="直线箭头连接符 58"/>
          <p:cNvCxnSpPr/>
          <p:nvPr/>
        </p:nvCxnSpPr>
        <p:spPr>
          <a:xfrm flipH="1">
            <a:off x="3854796" y="1863041"/>
            <a:ext cx="1721904" cy="0"/>
          </a:xfrm>
          <a:prstGeom prst="straightConnector1">
            <a:avLst/>
          </a:prstGeom>
          <a:ln w="38100" cmpd="sng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矩形 3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5960016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4149936" y="1855978"/>
            <a:ext cx="127440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600" dirty="0">
                <a:latin typeface="Verdana"/>
                <a:cs typeface="Verdana"/>
              </a:rPr>
              <a:t>instruction</a:t>
            </a:r>
            <a:endParaRPr kumimoji="1" lang="zh-CN" altLang="en-US" sz="1600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0" name="圆角矩形 49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instruction</a:t>
            </a:r>
            <a:endParaRPr lang="zh-CN" altLang="en-US" dirty="0"/>
          </a:p>
        </p:txBody>
      </p:sp>
      <p:sp>
        <p:nvSpPr>
          <p:cNvPr id="51" name="矩形 50"/>
          <p:cNvSpPr/>
          <p:nvPr/>
        </p:nvSpPr>
        <p:spPr>
          <a:xfrm>
            <a:off x="4386485" y="1528037"/>
            <a:ext cx="65114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600" dirty="0">
                <a:latin typeface="Verdana"/>
                <a:cs typeface="Verdana"/>
              </a:rPr>
              <a:t>addr</a:t>
            </a:r>
            <a:endParaRPr lang="zh-CN" altLang="en-US" sz="1600" dirty="0"/>
          </a:p>
        </p:txBody>
      </p:sp>
      <p:cxnSp>
        <p:nvCxnSpPr>
          <p:cNvPr id="46" name="直线箭头连接符 45"/>
          <p:cNvCxnSpPr/>
          <p:nvPr/>
        </p:nvCxnSpPr>
        <p:spPr>
          <a:xfrm rot="10800000" flipV="1">
            <a:off x="3854796" y="2258716"/>
            <a:ext cx="1721904" cy="1016414"/>
          </a:xfrm>
          <a:prstGeom prst="bentConnector3">
            <a:avLst>
              <a:gd name="adj1" fmla="val 50000"/>
            </a:avLst>
          </a:prstGeom>
          <a:ln w="38100" cmpd="sng"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矩形 46"/>
          <p:cNvSpPr/>
          <p:nvPr/>
        </p:nvSpPr>
        <p:spPr>
          <a:xfrm>
            <a:off x="3954001" y="2860414"/>
            <a:ext cx="78093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600" dirty="0">
                <a:latin typeface="Verdana"/>
                <a:cs typeface="Verdana"/>
              </a:rPr>
              <a:t>addr</a:t>
            </a:r>
            <a:endParaRPr lang="zh-CN" altLang="en-US" sz="1600" dirty="0"/>
          </a:p>
        </p:txBody>
      </p:sp>
      <p:sp>
        <p:nvSpPr>
          <p:cNvPr id="53" name="矩形 52"/>
          <p:cNvSpPr/>
          <p:nvPr/>
        </p:nvSpPr>
        <p:spPr>
          <a:xfrm>
            <a:off x="4767736" y="2280486"/>
            <a:ext cx="78093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1600" dirty="0">
                <a:latin typeface="Verdana"/>
                <a:cs typeface="Verdana"/>
              </a:rPr>
              <a:t>data</a:t>
            </a:r>
            <a:endParaRPr lang="zh-CN" altLang="en-US" sz="1600" dirty="0"/>
          </a:p>
        </p:txBody>
      </p:sp>
      <p:sp>
        <p:nvSpPr>
          <p:cNvPr id="54" name="矩形 53"/>
          <p:cNvSpPr/>
          <p:nvPr/>
        </p:nvSpPr>
        <p:spPr>
          <a:xfrm>
            <a:off x="5885521" y="2863758"/>
            <a:ext cx="8884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GPRs: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727638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altLang="zh-CN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rax</a:t>
            </a:r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56" name="圆角矩形 55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altLang="zh-CN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rbx</a:t>
            </a:r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altLang="zh-CN" dirty="0" err="1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rcx</a:t>
            </a:r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altLang="zh-CN" dirty="0" err="1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rdx</a:t>
            </a:r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1" name="圆角矩形 60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altLang="zh-CN" dirty="0" err="1">
                <a:solidFill>
                  <a:schemeClr val="tx1"/>
                </a:solidFill>
                <a:latin typeface="Arial"/>
                <a:cs typeface="Arial"/>
                <a:sym typeface="Courier New Bold" charset="0"/>
              </a:rPr>
              <a:t>rsi</a:t>
            </a:r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2" name="圆角矩形 61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altLang="zh-CN" dirty="0" err="1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rdi</a:t>
            </a:r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altLang="zh-CN" dirty="0" err="1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rsp</a:t>
            </a:r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%</a:t>
            </a:r>
            <a:r>
              <a:rPr lang="en-US" altLang="zh-CN" dirty="0" err="1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rbp</a:t>
            </a:r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57" name="圆角矩形 56"/>
          <p:cNvSpPr/>
          <p:nvPr/>
        </p:nvSpPr>
        <p:spPr>
          <a:xfrm>
            <a:off x="7505116" y="2885571"/>
            <a:ext cx="814657" cy="35916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dirty="0">
              <a:solidFill>
                <a:schemeClr val="accent1">
                  <a:lumMod val="40000"/>
                  <a:lumOff val="60000"/>
                </a:schemeClr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6" name="圆角矩形 65"/>
          <p:cNvSpPr/>
          <p:nvPr/>
        </p:nvSpPr>
        <p:spPr>
          <a:xfrm>
            <a:off x="7942567" y="2885571"/>
            <a:ext cx="383580" cy="3519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dirty="0">
              <a:solidFill>
                <a:schemeClr val="accent1">
                  <a:lumMod val="40000"/>
                  <a:lumOff val="60000"/>
                </a:schemeClr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370798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59559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359559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359559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59559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59559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370798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4" name="矩形 73"/>
          <p:cNvSpPr/>
          <p:nvPr/>
        </p:nvSpPr>
        <p:spPr>
          <a:xfrm>
            <a:off x="372447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376817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6" name="矩形 75"/>
          <p:cNvSpPr/>
          <p:nvPr/>
        </p:nvSpPr>
        <p:spPr>
          <a:xfrm>
            <a:off x="366287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97724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ISA</a:t>
            </a:r>
          </a:p>
        </p:txBody>
      </p:sp>
      <p:pic>
        <p:nvPicPr>
          <p:cNvPr id="4" name="Content Placeholder 3" descr="Screen Shot 2018-02-15 at 12.42.51 AM.png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" r="-474"/>
          <a:stretch/>
        </p:blipFill>
        <p:spPr>
          <a:xfrm>
            <a:off x="2263960" y="1207353"/>
            <a:ext cx="4179561" cy="5292067"/>
          </a:xfrm>
        </p:spPr>
      </p:pic>
      <p:sp>
        <p:nvSpPr>
          <p:cNvPr id="6" name="TextBox 5"/>
          <p:cNvSpPr txBox="1"/>
          <p:nvPr/>
        </p:nvSpPr>
        <p:spPr>
          <a:xfrm>
            <a:off x="956338" y="6433886"/>
            <a:ext cx="6066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software.intel.com</a:t>
            </a:r>
            <a:r>
              <a:rPr lang="en-US" dirty="0"/>
              <a:t>/en-us/articles/</a:t>
            </a:r>
            <a:r>
              <a:rPr lang="en-US" dirty="0" err="1"/>
              <a:t>intel-sdm#combined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6443521" y="5290241"/>
            <a:ext cx="2441694" cy="6463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 must-read for </a:t>
            </a:r>
          </a:p>
          <a:p>
            <a:r>
              <a:rPr lang="en-US" dirty="0"/>
              <a:t>compiler and OS writers</a:t>
            </a:r>
          </a:p>
        </p:txBody>
      </p:sp>
    </p:spTree>
    <p:extLst>
      <p:ext uri="{BB962C8B-B14F-4D97-AF65-F5344CB8AC3E}">
        <p14:creationId xmlns:p14="http://schemas.microsoft.com/office/powerpoint/2010/main" val="4226331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x86 instruction: Moving data 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lvl="1"/>
            <a:r>
              <a:rPr kumimoji="1" lang="en-US" altLang="zh-CN" dirty="0"/>
              <a:t>Copy a quadword (64-bit) from the source operand (first operand) to the destination operand (second operand).</a:t>
            </a:r>
          </a:p>
          <a:p>
            <a:pPr lvl="3"/>
            <a:endParaRPr kumimoji="1" lang="zh-CN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0D4E4E-1AC6-4997-A0D9-1C182BECB734}"/>
              </a:ext>
            </a:extLst>
          </p:cNvPr>
          <p:cNvSpPr txBox="1"/>
          <p:nvPr/>
        </p:nvSpPr>
        <p:spPr>
          <a:xfrm>
            <a:off x="909984" y="4130261"/>
            <a:ext cx="6473824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We use AT&amp;T (instead of Intel) syntax for assembly</a:t>
            </a:r>
          </a:p>
        </p:txBody>
      </p:sp>
    </p:spTree>
    <p:extLst>
      <p:ext uri="{BB962C8B-B14F-4D97-AF65-F5344CB8AC3E}">
        <p14:creationId xmlns:p14="http://schemas.microsoft.com/office/powerpoint/2010/main" val="666000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037539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lvl="1"/>
            <a:r>
              <a:rPr kumimoji="1" lang="en-US" altLang="zh-CN" dirty="0"/>
              <a:t>Copy a quadword (8-bytes) from the source operand to the destination operand.</a:t>
            </a:r>
          </a:p>
          <a:p>
            <a:pPr lvl="3"/>
            <a:endParaRPr kumimoji="1" lang="zh-CN" altLang="en-US" b="1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Moving data </a:t>
            </a:r>
            <a:endParaRPr kumimoji="1" lang="zh-CN" alt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1222858" y="1138535"/>
            <a:ext cx="1397329" cy="978253"/>
            <a:chOff x="1222858" y="1138535"/>
            <a:chExt cx="1397329" cy="978253"/>
          </a:xfrm>
        </p:grpSpPr>
        <p:sp>
          <p:nvSpPr>
            <p:cNvPr id="4" name="Rectangle 3"/>
            <p:cNvSpPr/>
            <p:nvPr/>
          </p:nvSpPr>
          <p:spPr>
            <a:xfrm>
              <a:off x="1222858" y="1600200"/>
              <a:ext cx="344909" cy="516588"/>
            </a:xfrm>
            <a:prstGeom prst="rect">
              <a:avLst/>
            </a:prstGeom>
            <a:noFill/>
            <a:ln w="19050" cmpd="sng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1567767" y="1417638"/>
              <a:ext cx="203810" cy="182562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771577" y="1138535"/>
              <a:ext cx="8486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suffix</a:t>
              </a:r>
            </a:p>
          </p:txBody>
        </p:sp>
      </p:grp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246608"/>
              </p:ext>
            </p:extLst>
          </p:nvPr>
        </p:nvGraphicFramePr>
        <p:xfrm>
          <a:off x="1505710" y="3843066"/>
          <a:ext cx="6096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Suffix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Size (byte)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Quadword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6986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Why using a size suffix?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lvl="1"/>
            <a:r>
              <a:rPr kumimoji="1" lang="en-US" altLang="zh-CN" dirty="0"/>
              <a:t>Support </a:t>
            </a:r>
            <a:r>
              <a:rPr kumimoji="1" lang="en-US" altLang="zh-CN" b="1" dirty="0"/>
              <a:t>full backward compatibility</a:t>
            </a:r>
          </a:p>
          <a:p>
            <a:pPr lvl="2"/>
            <a:r>
              <a:rPr kumimoji="1" lang="en-US" altLang="zh-CN" dirty="0"/>
              <a:t>New processor can run the same binary file compiled for older processors</a:t>
            </a:r>
          </a:p>
          <a:p>
            <a:pPr lvl="1"/>
            <a:r>
              <a:rPr kumimoji="1" lang="en-US" altLang="zh-CN" dirty="0"/>
              <a:t>In the Intel x86 world, a word = 16 bits.</a:t>
            </a:r>
          </a:p>
          <a:p>
            <a:pPr lvl="2"/>
            <a:r>
              <a:rPr kumimoji="1" lang="en-US" altLang="zh-CN" dirty="0"/>
              <a:t>8086 refers to 16 bits as a word</a:t>
            </a:r>
          </a:p>
        </p:txBody>
      </p:sp>
    </p:spTree>
    <p:extLst>
      <p:ext uri="{BB962C8B-B14F-4D97-AF65-F5344CB8AC3E}">
        <p14:creationId xmlns:p14="http://schemas.microsoft.com/office/powerpoint/2010/main" val="283707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Moving data 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Operand Types</a:t>
            </a: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Immediate:</a:t>
            </a:r>
            <a:r>
              <a:rPr lang="en-US" altLang="zh-CN" dirty="0"/>
              <a:t> Constant integer data</a:t>
            </a:r>
          </a:p>
          <a:p>
            <a:pPr lvl="2"/>
            <a:r>
              <a:rPr lang="en-US" altLang="zh-CN" dirty="0"/>
              <a:t>Prefixed with $</a:t>
            </a:r>
          </a:p>
          <a:p>
            <a:pPr lvl="2"/>
            <a:r>
              <a:rPr lang="en-US" altLang="zh-CN" dirty="0" err="1"/>
              <a:t>E.g</a:t>
            </a:r>
            <a:r>
              <a:rPr lang="en-US" altLang="zh-CN" dirty="0"/>
              <a:t>: </a:t>
            </a:r>
            <a:r>
              <a:rPr lang="en-US" altLang="zh-CN" b="1" dirty="0">
                <a:latin typeface="Courier New" pitchFamily="49" charset="0"/>
              </a:rPr>
              <a:t>$0x400</a:t>
            </a:r>
            <a:r>
              <a:rPr lang="en-US" altLang="zh-CN" b="1" dirty="0"/>
              <a:t>, </a:t>
            </a:r>
            <a:r>
              <a:rPr lang="en-US" altLang="zh-CN" b="1" dirty="0">
                <a:latin typeface="Courier New" pitchFamily="49" charset="0"/>
              </a:rPr>
              <a:t>$-533</a:t>
            </a: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Register: </a:t>
            </a:r>
            <a:r>
              <a:rPr lang="en-US" altLang="zh-CN" dirty="0"/>
              <a:t>One of general purpose registers</a:t>
            </a:r>
          </a:p>
          <a:p>
            <a:pPr lvl="2"/>
            <a:r>
              <a:rPr lang="en-US" altLang="zh-CN" dirty="0" err="1"/>
              <a:t>E.g</a:t>
            </a:r>
            <a:r>
              <a:rPr lang="en-US" altLang="zh-CN" dirty="0"/>
              <a:t>: </a:t>
            </a:r>
            <a:r>
              <a:rPr lang="en-US" altLang="zh-CN" b="1" dirty="0">
                <a:latin typeface="Courier New" pitchFamily="49" charset="0"/>
              </a:rPr>
              <a:t>%</a:t>
            </a:r>
            <a:r>
              <a:rPr lang="en-US" altLang="zh-CN" b="1" dirty="0" err="1">
                <a:latin typeface="Courier New" pitchFamily="49" charset="0"/>
              </a:rPr>
              <a:t>rax</a:t>
            </a:r>
            <a:r>
              <a:rPr lang="en-US" altLang="zh-CN" b="1" dirty="0">
                <a:latin typeface="Courier New" pitchFamily="49" charset="0"/>
              </a:rPr>
              <a:t>, %</a:t>
            </a:r>
            <a:r>
              <a:rPr lang="en-US" altLang="zh-CN" b="1" dirty="0" err="1">
                <a:latin typeface="Courier New" pitchFamily="49" charset="0"/>
              </a:rPr>
              <a:t>rsi</a:t>
            </a:r>
            <a:endParaRPr lang="en-US" altLang="zh-CN" b="1" dirty="0">
              <a:latin typeface="Courier New" pitchFamily="49" charset="0"/>
            </a:endParaRP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Memory:</a:t>
            </a:r>
            <a:r>
              <a:rPr lang="en-US" altLang="zh-CN" dirty="0"/>
              <a:t> 8 consecutive bytes of memory </a:t>
            </a:r>
          </a:p>
          <a:p>
            <a:pPr lvl="2"/>
            <a:r>
              <a:rPr lang="en-US" altLang="zh-CN" dirty="0"/>
              <a:t>Indexed by register with various “address modes”</a:t>
            </a:r>
          </a:p>
          <a:p>
            <a:pPr lvl="2"/>
            <a:r>
              <a:rPr lang="en-US" altLang="zh-CN" dirty="0"/>
              <a:t>Simplest example: </a:t>
            </a:r>
            <a:r>
              <a:rPr lang="en-US" altLang="zh-CN" b="1" dirty="0">
                <a:latin typeface="Courier New" pitchFamily="49" charset="0"/>
              </a:rPr>
              <a:t>(%</a:t>
            </a:r>
            <a:r>
              <a:rPr lang="en-US" altLang="zh-CN" b="1" dirty="0" err="1">
                <a:latin typeface="Courier New" pitchFamily="49" charset="0"/>
              </a:rPr>
              <a:t>rax</a:t>
            </a:r>
            <a:r>
              <a:rPr lang="en-US" altLang="zh-CN" b="1" dirty="0">
                <a:latin typeface="Courier New" pitchFamily="49" charset="0"/>
              </a:rPr>
              <a:t>)</a:t>
            </a:r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3535184" y="1224285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18362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</a:t>
            </a:r>
            <a:r>
              <a:rPr lang="en-US" altLang="zh-CN" dirty="0"/>
              <a:t> Operand combinations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1284305" y="1463337"/>
            <a:ext cx="6268474" cy="3623965"/>
            <a:chOff x="228600" y="1752600"/>
            <a:chExt cx="6268474" cy="3623965"/>
          </a:xfrm>
        </p:grpSpPr>
        <p:sp>
          <p:nvSpPr>
            <p:cNvPr id="5" name="Text Box 4"/>
            <p:cNvSpPr txBox="1">
              <a:spLocks noChangeArrowheads="1"/>
            </p:cNvSpPr>
            <p:nvPr/>
          </p:nvSpPr>
          <p:spPr bwMode="auto">
            <a:xfrm>
              <a:off x="228600" y="3771900"/>
              <a:ext cx="861534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b="1" dirty="0" err="1">
                  <a:latin typeface="Consolas"/>
                  <a:cs typeface="Consolas"/>
                </a:rPr>
                <a:t>movq</a:t>
              </a:r>
              <a:endParaRPr lang="en-US" sz="2400" b="1" dirty="0">
                <a:latin typeface="Consolas"/>
                <a:cs typeface="Consolas"/>
              </a:endParaRPr>
            </a:p>
          </p:txBody>
        </p:sp>
        <p:sp>
          <p:nvSpPr>
            <p:cNvPr id="6" name="Text Box 5"/>
            <p:cNvSpPr txBox="1">
              <a:spLocks noChangeArrowheads="1"/>
            </p:cNvSpPr>
            <p:nvPr/>
          </p:nvSpPr>
          <p:spPr bwMode="auto">
            <a:xfrm>
              <a:off x="1600200" y="2705100"/>
              <a:ext cx="859104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Imm</a:t>
              </a:r>
            </a:p>
          </p:txBody>
        </p:sp>
        <p:sp>
          <p:nvSpPr>
            <p:cNvPr id="7" name="Text Box 6"/>
            <p:cNvSpPr txBox="1">
              <a:spLocks noChangeArrowheads="1"/>
            </p:cNvSpPr>
            <p:nvPr/>
          </p:nvSpPr>
          <p:spPr bwMode="auto">
            <a:xfrm>
              <a:off x="1600200" y="3771900"/>
              <a:ext cx="825441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8" name="Text Box 7"/>
            <p:cNvSpPr txBox="1">
              <a:spLocks noChangeArrowheads="1"/>
            </p:cNvSpPr>
            <p:nvPr/>
          </p:nvSpPr>
          <p:spPr bwMode="auto">
            <a:xfrm>
              <a:off x="1600200" y="4914900"/>
              <a:ext cx="944764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9" name="Text Box 8"/>
            <p:cNvSpPr txBox="1">
              <a:spLocks noChangeArrowheads="1"/>
            </p:cNvSpPr>
            <p:nvPr/>
          </p:nvSpPr>
          <p:spPr bwMode="auto">
            <a:xfrm>
              <a:off x="2819400" y="2476500"/>
              <a:ext cx="825441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0" name="Text Box 9"/>
            <p:cNvSpPr txBox="1">
              <a:spLocks noChangeArrowheads="1"/>
            </p:cNvSpPr>
            <p:nvPr/>
          </p:nvSpPr>
          <p:spPr bwMode="auto">
            <a:xfrm>
              <a:off x="2819400" y="2933700"/>
              <a:ext cx="944764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11" name="Text Box 10"/>
            <p:cNvSpPr txBox="1">
              <a:spLocks noChangeArrowheads="1"/>
            </p:cNvSpPr>
            <p:nvPr/>
          </p:nvSpPr>
          <p:spPr bwMode="auto">
            <a:xfrm>
              <a:off x="2819400" y="3619500"/>
              <a:ext cx="825441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2" name="Text Box 11"/>
            <p:cNvSpPr txBox="1">
              <a:spLocks noChangeArrowheads="1"/>
            </p:cNvSpPr>
            <p:nvPr/>
          </p:nvSpPr>
          <p:spPr bwMode="auto">
            <a:xfrm>
              <a:off x="2819400" y="4065588"/>
              <a:ext cx="944764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13" name="Text Box 12"/>
            <p:cNvSpPr txBox="1">
              <a:spLocks noChangeArrowheads="1"/>
            </p:cNvSpPr>
            <p:nvPr/>
          </p:nvSpPr>
          <p:spPr bwMode="auto">
            <a:xfrm>
              <a:off x="2819400" y="4914900"/>
              <a:ext cx="825441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4" name="Text Box 13"/>
            <p:cNvSpPr txBox="1">
              <a:spLocks noChangeArrowheads="1"/>
            </p:cNvSpPr>
            <p:nvPr/>
          </p:nvSpPr>
          <p:spPr bwMode="auto">
            <a:xfrm>
              <a:off x="1447800" y="1752600"/>
              <a:ext cx="1159843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Source</a:t>
              </a:r>
            </a:p>
          </p:txBody>
        </p:sp>
        <p:sp>
          <p:nvSpPr>
            <p:cNvPr id="15" name="Text Box 14"/>
            <p:cNvSpPr txBox="1">
              <a:spLocks noChangeArrowheads="1"/>
            </p:cNvSpPr>
            <p:nvPr/>
          </p:nvSpPr>
          <p:spPr bwMode="auto">
            <a:xfrm>
              <a:off x="2819400" y="1752600"/>
              <a:ext cx="825867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Dest</a:t>
              </a:r>
            </a:p>
          </p:txBody>
        </p:sp>
        <p:sp>
          <p:nvSpPr>
            <p:cNvPr id="16" name="AutoShape 20"/>
            <p:cNvSpPr>
              <a:spLocks/>
            </p:cNvSpPr>
            <p:nvPr/>
          </p:nvSpPr>
          <p:spPr bwMode="auto">
            <a:xfrm>
              <a:off x="1295400" y="2628900"/>
              <a:ext cx="304800" cy="2743200"/>
            </a:xfrm>
            <a:prstGeom prst="leftBrace">
              <a:avLst>
                <a:gd name="adj1" fmla="val 75000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17" name="AutoShape 21"/>
            <p:cNvSpPr>
              <a:spLocks/>
            </p:cNvSpPr>
            <p:nvPr/>
          </p:nvSpPr>
          <p:spPr bwMode="auto">
            <a:xfrm>
              <a:off x="2514600" y="2552700"/>
              <a:ext cx="304800" cy="762000"/>
            </a:xfrm>
            <a:prstGeom prst="leftBrace">
              <a:avLst>
                <a:gd name="adj1" fmla="val 20833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18" name="AutoShape 22"/>
            <p:cNvSpPr>
              <a:spLocks/>
            </p:cNvSpPr>
            <p:nvPr/>
          </p:nvSpPr>
          <p:spPr bwMode="auto">
            <a:xfrm>
              <a:off x="2514600" y="3695700"/>
              <a:ext cx="304800" cy="762000"/>
            </a:xfrm>
            <a:prstGeom prst="leftBrace">
              <a:avLst>
                <a:gd name="adj1" fmla="val 20833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20" name="Text Box 15"/>
            <p:cNvSpPr txBox="1">
              <a:spLocks noChangeArrowheads="1"/>
            </p:cNvSpPr>
            <p:nvPr/>
          </p:nvSpPr>
          <p:spPr bwMode="auto">
            <a:xfrm>
              <a:off x="4056181" y="2476500"/>
              <a:ext cx="2158864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$0x4,%rax</a:t>
              </a:r>
            </a:p>
          </p:txBody>
        </p:sp>
        <p:sp>
          <p:nvSpPr>
            <p:cNvPr id="22" name="Text Box 16"/>
            <p:cNvSpPr txBox="1">
              <a:spLocks noChangeArrowheads="1"/>
            </p:cNvSpPr>
            <p:nvPr/>
          </p:nvSpPr>
          <p:spPr bwMode="auto">
            <a:xfrm>
              <a:off x="4056181" y="2933700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$0x4,(%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)</a:t>
              </a:r>
            </a:p>
          </p:txBody>
        </p:sp>
        <p:sp>
          <p:nvSpPr>
            <p:cNvPr id="24" name="Text Box 17"/>
            <p:cNvSpPr txBox="1">
              <a:spLocks noChangeArrowheads="1"/>
            </p:cNvSpPr>
            <p:nvPr/>
          </p:nvSpPr>
          <p:spPr bwMode="auto">
            <a:xfrm>
              <a:off x="4056181" y="3619500"/>
              <a:ext cx="2158864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,%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endParaRPr lang="en-US" sz="2000" dirty="0">
                <a:latin typeface="Consolas"/>
                <a:cs typeface="Consolas"/>
              </a:endParaRPr>
            </a:p>
          </p:txBody>
        </p:sp>
        <p:sp>
          <p:nvSpPr>
            <p:cNvPr id="26" name="Text Box 18"/>
            <p:cNvSpPr txBox="1">
              <a:spLocks noChangeArrowheads="1"/>
            </p:cNvSpPr>
            <p:nvPr/>
          </p:nvSpPr>
          <p:spPr bwMode="auto">
            <a:xfrm>
              <a:off x="4056181" y="4065587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,(%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r>
                <a:rPr lang="en-US" sz="2000" dirty="0">
                  <a:latin typeface="Consolas"/>
                  <a:cs typeface="Consolas"/>
                </a:rPr>
                <a:t>)</a:t>
              </a:r>
            </a:p>
          </p:txBody>
        </p:sp>
        <p:sp>
          <p:nvSpPr>
            <p:cNvPr id="28" name="Text Box 19"/>
            <p:cNvSpPr txBox="1">
              <a:spLocks noChangeArrowheads="1"/>
            </p:cNvSpPr>
            <p:nvPr/>
          </p:nvSpPr>
          <p:spPr bwMode="auto">
            <a:xfrm>
              <a:off x="4056181" y="4914900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(%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),%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endParaRPr lang="en-US" sz="2000" dirty="0">
                <a:latin typeface="Consolas"/>
                <a:cs typeface="Consolas"/>
              </a:endParaRPr>
            </a:p>
          </p:txBody>
        </p:sp>
        <p:sp>
          <p:nvSpPr>
            <p:cNvPr id="30" name="Text Box 29"/>
            <p:cNvSpPr txBox="1">
              <a:spLocks noChangeArrowheads="1"/>
            </p:cNvSpPr>
            <p:nvPr/>
          </p:nvSpPr>
          <p:spPr bwMode="auto">
            <a:xfrm>
              <a:off x="4526236" y="1752600"/>
              <a:ext cx="1383712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Example</a:t>
              </a:r>
            </a:p>
          </p:txBody>
        </p:sp>
      </p:grpSp>
      <p:sp>
        <p:nvSpPr>
          <p:cNvPr id="31" name="Rectangle 3"/>
          <p:cNvSpPr txBox="1">
            <a:spLocks noChangeArrowheads="1"/>
          </p:cNvSpPr>
          <p:nvPr/>
        </p:nvSpPr>
        <p:spPr>
          <a:xfrm>
            <a:off x="388554" y="5852064"/>
            <a:ext cx="8409362" cy="533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sz="2400" dirty="0">
                <a:solidFill>
                  <a:srgbClr val="C00000"/>
                </a:solidFill>
              </a:rPr>
              <a:t>2. No memory-memory </a:t>
            </a:r>
            <a:r>
              <a:rPr lang="en-US" sz="2400" dirty="0" err="1">
                <a:solidFill>
                  <a:srgbClr val="C00000"/>
                </a:solidFill>
              </a:rPr>
              <a:t>mov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32" name="Rectangle 3"/>
          <p:cNvSpPr txBox="1">
            <a:spLocks noChangeArrowheads="1"/>
          </p:cNvSpPr>
          <p:nvPr/>
        </p:nvSpPr>
        <p:spPr>
          <a:xfrm>
            <a:off x="749519" y="5300314"/>
            <a:ext cx="8140700" cy="533400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sz="2400" dirty="0">
                <a:solidFill>
                  <a:srgbClr val="C00000"/>
                </a:solidFill>
              </a:rPr>
              <a:t> 1. Immediate can only be </a:t>
            </a:r>
            <a:r>
              <a:rPr lang="en-US" sz="2400" i="1" dirty="0">
                <a:solidFill>
                  <a:srgbClr val="C00000"/>
                </a:solidFill>
              </a:rPr>
              <a:t>source</a:t>
            </a:r>
            <a:endParaRPr lang="en-US" i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8416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  </a:t>
            </a:r>
            <a:r>
              <a:rPr lang="en-US" altLang="zh-CN" b="0" i="1" dirty="0">
                <a:latin typeface="Arial"/>
                <a:cs typeface="Arial"/>
              </a:rPr>
              <a:t>Imm, Reg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19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34" name="矩形 33"/>
          <p:cNvSpPr/>
          <p:nvPr/>
        </p:nvSpPr>
        <p:spPr>
          <a:xfrm>
            <a:off x="1800359" y="281938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800359" y="24459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1800359" y="20751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1800359" y="17017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>
                <a:latin typeface="Consolas"/>
                <a:cs typeface="Consolas"/>
              </a:rPr>
              <a:t>movq</a:t>
            </a:r>
            <a:r>
              <a:rPr lang="en-US" altLang="zh-CN" dirty="0">
                <a:latin typeface="Consolas"/>
                <a:cs typeface="Consolas"/>
              </a:rPr>
              <a:t> %</a:t>
            </a:r>
            <a:r>
              <a:rPr lang="en-US" altLang="zh-CN" dirty="0" err="1">
                <a:latin typeface="Consolas"/>
                <a:cs typeface="Consolas"/>
              </a:rPr>
              <a:t>rax</a:t>
            </a:r>
            <a:r>
              <a:rPr lang="en-US" altLang="zh-CN" dirty="0">
                <a:latin typeface="Consolas"/>
                <a:cs typeface="Consolas"/>
              </a:rPr>
              <a:t>,%</a:t>
            </a:r>
            <a:r>
              <a:rPr lang="en-US" altLang="zh-CN" dirty="0" err="1">
                <a:latin typeface="Consolas"/>
                <a:cs typeface="Consolas"/>
              </a:rPr>
              <a:t>rbx</a:t>
            </a:r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1800359" y="31924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804729" y="393993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1809098" y="431336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1816679" y="467942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1816679" y="504700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816679" y="54155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1216294" y="538156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55" name="矩形 54"/>
          <p:cNvSpPr/>
          <p:nvPr/>
        </p:nvSpPr>
        <p:spPr>
          <a:xfrm>
            <a:off x="1800359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6" name="圆角矩形 65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5982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6" name="圆角矩形 75"/>
          <p:cNvSpPr/>
          <p:nvPr/>
        </p:nvSpPr>
        <p:spPr>
          <a:xfrm>
            <a:off x="6727638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8" name="圆角矩形 77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0" name="圆角矩形 79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1" name="圆角矩形 80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2" name="圆角矩形 81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3" name="圆角矩形 82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87" name="矩形 86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9" name="Text Box 15"/>
          <p:cNvSpPr txBox="1">
            <a:spLocks noChangeArrowheads="1"/>
          </p:cNvSpPr>
          <p:nvPr/>
        </p:nvSpPr>
        <p:spPr bwMode="auto">
          <a:xfrm>
            <a:off x="1789120" y="2067527"/>
            <a:ext cx="1961444" cy="369332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latin typeface="Consolas"/>
                <a:cs typeface="Consolas"/>
              </a:rPr>
              <a:t>movq $0x4,%rax</a:t>
            </a:r>
          </a:p>
        </p:txBody>
      </p:sp>
      <p:sp>
        <p:nvSpPr>
          <p:cNvPr id="56" name="矩形 55"/>
          <p:cNvSpPr/>
          <p:nvPr/>
        </p:nvSpPr>
        <p:spPr>
          <a:xfrm>
            <a:off x="370798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359559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359559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359559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359559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359559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370798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72447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76817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66287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2" name="直线箭头连接符 51"/>
          <p:cNvCxnSpPr/>
          <p:nvPr/>
        </p:nvCxnSpPr>
        <p:spPr>
          <a:xfrm flipH="1">
            <a:off x="3744435" y="2288097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矩形 52"/>
          <p:cNvSpPr/>
          <p:nvPr/>
        </p:nvSpPr>
        <p:spPr>
          <a:xfrm>
            <a:off x="3930820" y="2121829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4D2936-17F1-4FCE-A359-EAC832361DC9}"/>
              </a:ext>
            </a:extLst>
          </p:cNvPr>
          <p:cNvSpPr txBox="1"/>
          <p:nvPr/>
        </p:nvSpPr>
        <p:spPr>
          <a:xfrm>
            <a:off x="6727638" y="2474290"/>
            <a:ext cx="157607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/>
                <a:cs typeface="Consolas"/>
              </a:rPr>
              <a:t>movq</a:t>
            </a:r>
            <a:r>
              <a:rPr lang="en-US" sz="1400" dirty="0">
                <a:latin typeface="Consolas"/>
                <a:cs typeface="Consolas"/>
              </a:rPr>
              <a:t> $0x4,%rax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B70A5B-6590-44AA-9CFA-57591BB39166}"/>
              </a:ext>
            </a:extLst>
          </p:cNvPr>
          <p:cNvSpPr txBox="1"/>
          <p:nvPr/>
        </p:nvSpPr>
        <p:spPr>
          <a:xfrm>
            <a:off x="6832861" y="2893710"/>
            <a:ext cx="1194558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  <a:cs typeface="Arial"/>
              </a:rPr>
              <a:t>0x00</a:t>
            </a:r>
            <a:r>
              <a:rPr lang="mr-IN" altLang="zh-CN" sz="1600" dirty="0"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600" dirty="0">
                <a:latin typeface="Consolas" panose="020B0609020204030204" pitchFamily="49" charset="0"/>
                <a:cs typeface="Arial"/>
              </a:rPr>
              <a:t>0004</a:t>
            </a:r>
            <a:endParaRPr lang="zh-CN" altLang="en-US" sz="1600" dirty="0">
              <a:latin typeface="Consolas" panose="020B0609020204030204" pitchFamily="49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88602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</a:t>
            </a:r>
            <a:r>
              <a:rPr lang="en-US" altLang="zh-CN" b="0" i="1" dirty="0">
                <a:latin typeface="Arial"/>
                <a:cs typeface="Arial"/>
              </a:rPr>
              <a:t> Reg, Reg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19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34" name="矩形 33"/>
          <p:cNvSpPr/>
          <p:nvPr/>
        </p:nvSpPr>
        <p:spPr>
          <a:xfrm>
            <a:off x="1800359" y="281938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800359" y="24459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1800359" y="20751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Consolas"/>
                <a:cs typeface="Consolas"/>
              </a:rPr>
              <a:t>movq $0x4,%rax</a:t>
            </a:r>
          </a:p>
        </p:txBody>
      </p:sp>
      <p:sp>
        <p:nvSpPr>
          <p:cNvPr id="37" name="矩形 36"/>
          <p:cNvSpPr/>
          <p:nvPr/>
        </p:nvSpPr>
        <p:spPr>
          <a:xfrm>
            <a:off x="1800359" y="17017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Consolas"/>
                <a:cs typeface="Consolas"/>
              </a:rPr>
              <a:t>movq %rax,%rbx</a:t>
            </a:r>
          </a:p>
        </p:txBody>
      </p:sp>
      <p:sp>
        <p:nvSpPr>
          <p:cNvPr id="38" name="矩形 37"/>
          <p:cNvSpPr/>
          <p:nvPr/>
        </p:nvSpPr>
        <p:spPr>
          <a:xfrm>
            <a:off x="1800359" y="31924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804729" y="393993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1809098" y="431336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1816679" y="467942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1816679" y="504700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1816679" y="54155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1216294" y="538156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55" name="矩形 54"/>
          <p:cNvSpPr/>
          <p:nvPr/>
        </p:nvSpPr>
        <p:spPr>
          <a:xfrm>
            <a:off x="1800359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6" name="圆角矩形 65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</a:rPr>
              <a:t>0058</a:t>
            </a:r>
            <a:endParaRPr lang="zh-CN" altLang="en-US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5982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6" name="圆角矩形 75"/>
          <p:cNvSpPr/>
          <p:nvPr/>
        </p:nvSpPr>
        <p:spPr>
          <a:xfrm>
            <a:off x="6727638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0004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8" name="圆角矩形 77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0" name="圆角矩形 79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1" name="圆角矩形 80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2" name="圆角矩形 81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3" name="圆角矩形 82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87" name="矩形 86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700354" y="2449372"/>
            <a:ext cx="161148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$0x4,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370798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359559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359559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359559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359559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359559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370798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372447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76817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66287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2" name="直线箭头连接符 51"/>
          <p:cNvCxnSpPr/>
          <p:nvPr/>
        </p:nvCxnSpPr>
        <p:spPr>
          <a:xfrm flipH="1">
            <a:off x="3744435" y="1887207"/>
            <a:ext cx="249222" cy="0"/>
          </a:xfrm>
          <a:prstGeom prst="straightConnector1">
            <a:avLst/>
          </a:prstGeom>
          <a:ln>
            <a:solidFill>
              <a:srgbClr val="0000FF"/>
            </a:solidFill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矩形 52"/>
          <p:cNvSpPr/>
          <p:nvPr/>
        </p:nvSpPr>
        <p:spPr>
          <a:xfrm>
            <a:off x="3930820" y="1720939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solidFill>
                  <a:srgbClr val="0000FF"/>
                </a:solidFill>
                <a:latin typeface="Verdana"/>
                <a:cs typeface="Verdana"/>
              </a:rPr>
              <a:t>%rip</a:t>
            </a:r>
            <a:endParaRPr lang="zh-CN" altLang="en-US" sz="1400" b="1" dirty="0">
              <a:solidFill>
                <a:srgbClr val="0000FF"/>
              </a:solidFill>
            </a:endParaRPr>
          </a:p>
        </p:txBody>
      </p:sp>
      <p:sp>
        <p:nvSpPr>
          <p:cNvPr id="4" name="矩形 2">
            <a:extLst>
              <a:ext uri="{FF2B5EF4-FFF2-40B4-BE49-F238E27FC236}">
                <a16:creationId xmlns:a16="http://schemas.microsoft.com/office/drawing/2014/main" id="{CA786A4A-D802-4E5D-A6F3-99EB5B2218B4}"/>
              </a:ext>
            </a:extLst>
          </p:cNvPr>
          <p:cNvSpPr/>
          <p:nvPr/>
        </p:nvSpPr>
        <p:spPr>
          <a:xfrm>
            <a:off x="6716198" y="2458780"/>
            <a:ext cx="1628972" cy="307777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47C681-9C67-4220-B1C1-91A0A7A3268D}"/>
              </a:ext>
            </a:extLst>
          </p:cNvPr>
          <p:cNvSpPr txBox="1"/>
          <p:nvPr/>
        </p:nvSpPr>
        <p:spPr>
          <a:xfrm>
            <a:off x="6908279" y="3336537"/>
            <a:ext cx="132440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0x00</a:t>
            </a:r>
            <a:r>
              <a:rPr lang="mr-IN" altLang="zh-CN" dirty="0"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dirty="0">
                <a:latin typeface="Consolas" panose="020B0609020204030204" pitchFamily="49" charset="0"/>
                <a:cs typeface="Arial"/>
              </a:rPr>
              <a:t>0004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2068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</a:t>
            </a:r>
            <a:r>
              <a:rPr lang="en-US" altLang="zh-CN" b="0" i="1" dirty="0">
                <a:latin typeface="Arial"/>
                <a:cs typeface="Arial"/>
              </a:rPr>
              <a:t> </a:t>
            </a:r>
            <a:r>
              <a:rPr lang="en-US" altLang="zh-CN" b="0" i="1" dirty="0" err="1">
                <a:latin typeface="Arial"/>
                <a:cs typeface="Arial"/>
              </a:rPr>
              <a:t>Mem</a:t>
            </a:r>
            <a:r>
              <a:rPr lang="en-US" altLang="zh-CN" b="0" i="1" dirty="0">
                <a:latin typeface="Arial"/>
                <a:cs typeface="Arial"/>
              </a:rPr>
              <a:t>, Reg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sz="3600" dirty="0"/>
              <a:t>How to represent a “memory” operand?</a:t>
            </a:r>
          </a:p>
          <a:p>
            <a:pPr marL="0" indent="0">
              <a:buNone/>
            </a:pPr>
            <a:endParaRPr kumimoji="1" lang="en-US" altLang="zh-CN" sz="4400" dirty="0"/>
          </a:p>
        </p:txBody>
      </p:sp>
    </p:spTree>
    <p:extLst>
      <p:ext uri="{BB962C8B-B14F-4D97-AF65-F5344CB8AC3E}">
        <p14:creationId xmlns:p14="http://schemas.microsoft.com/office/powerpoint/2010/main" val="1383876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Direct addressing: use register to index memory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(Register)</a:t>
            </a:r>
          </a:p>
          <a:p>
            <a:pPr lvl="1"/>
            <a:r>
              <a:rPr lang="en-US" altLang="zh-CN" dirty="0"/>
              <a:t>The content of the register specifies memory address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movq</a:t>
            </a:r>
            <a:r>
              <a:rPr kumimoji="1" lang="en-US" altLang="zh-CN" dirty="0"/>
              <a:t> (%</a:t>
            </a:r>
            <a:r>
              <a:rPr kumimoji="1" lang="en-US" altLang="zh-CN" dirty="0" err="1"/>
              <a:t>rax</a:t>
            </a:r>
            <a:r>
              <a:rPr kumimoji="1" lang="en-US" altLang="zh-CN" dirty="0"/>
              <a:t>), %</a:t>
            </a:r>
            <a:r>
              <a:rPr kumimoji="1" lang="en-US" altLang="zh-CN" dirty="0" err="1"/>
              <a:t>rbx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66132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movq</a:t>
            </a:r>
            <a:r>
              <a:rPr kumimoji="1" lang="en-US" altLang="zh-CN" dirty="0"/>
              <a:t> </a:t>
            </a:r>
            <a:r>
              <a:rPr kumimoji="1" lang="en-US" altLang="zh-CN" b="0" i="1" dirty="0">
                <a:latin typeface="Arial"/>
                <a:cs typeface="Arial"/>
              </a:rPr>
              <a:t>(%rax), %rbx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800359" y="281938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800359" y="24459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800359" y="20751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800359" y="17017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dirty="0">
                <a:latin typeface="Arial"/>
                <a:cs typeface="Arial"/>
              </a:rPr>
              <a:t>movq </a:t>
            </a:r>
            <a:r>
              <a:rPr lang="en-US" altLang="zh-CN" sz="1400" dirty="0">
                <a:latin typeface="Arial"/>
                <a:cs typeface="Arial"/>
              </a:rPr>
              <a:t>(%rax), %rbx</a:t>
            </a:r>
          </a:p>
        </p:txBody>
      </p:sp>
      <p:sp>
        <p:nvSpPr>
          <p:cNvPr id="11" name="矩形 10"/>
          <p:cNvSpPr/>
          <p:nvPr/>
        </p:nvSpPr>
        <p:spPr>
          <a:xfrm>
            <a:off x="1800359" y="31924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804729" y="393993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809098" y="431336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16679" y="467942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prstClr val="black"/>
                </a:solidFill>
                <a:latin typeface="Arial"/>
                <a:cs typeface="Arial"/>
              </a:rPr>
              <a:t>0x10</a:t>
            </a:r>
            <a:endParaRPr lang="zh-CN" altLang="en-US" sz="20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16679" y="504700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16679" y="54155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16294" y="538156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800359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82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0x18</a:t>
            </a:r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370798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4" name="矩形 53"/>
          <p:cNvSpPr/>
          <p:nvPr/>
        </p:nvSpPr>
        <p:spPr>
          <a:xfrm>
            <a:off x="359559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5" name="矩形 54"/>
          <p:cNvSpPr/>
          <p:nvPr/>
        </p:nvSpPr>
        <p:spPr>
          <a:xfrm>
            <a:off x="359559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56" name="矩形 55"/>
          <p:cNvSpPr/>
          <p:nvPr/>
        </p:nvSpPr>
        <p:spPr>
          <a:xfrm>
            <a:off x="359559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359559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359559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370798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372447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376817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366287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1" name="直线箭头连接符 50"/>
          <p:cNvCxnSpPr/>
          <p:nvPr/>
        </p:nvCxnSpPr>
        <p:spPr>
          <a:xfrm flipH="1">
            <a:off x="3744435" y="186799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2" name="矩形 51"/>
          <p:cNvSpPr/>
          <p:nvPr/>
        </p:nvSpPr>
        <p:spPr>
          <a:xfrm>
            <a:off x="3930820" y="170173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5BE13C-C2AD-4A50-B792-C3EA38994E81}"/>
              </a:ext>
            </a:extLst>
          </p:cNvPr>
          <p:cNvSpPr txBox="1"/>
          <p:nvPr/>
        </p:nvSpPr>
        <p:spPr>
          <a:xfrm>
            <a:off x="6618534" y="2475523"/>
            <a:ext cx="177484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Consolas" panose="020B0609020204030204" pitchFamily="49" charset="0"/>
              </a:rPr>
              <a:t>movq</a:t>
            </a:r>
            <a:r>
              <a:rPr lang="en-US" sz="1400" dirty="0">
                <a:latin typeface="Consolas" panose="020B0609020204030204" pitchFamily="49" charset="0"/>
              </a:rPr>
              <a:t> (%</a:t>
            </a:r>
            <a:r>
              <a:rPr lang="en-US" sz="1400" dirty="0" err="1">
                <a:latin typeface="Consolas" panose="020B0609020204030204" pitchFamily="49" charset="0"/>
              </a:rPr>
              <a:t>rax</a:t>
            </a:r>
            <a:r>
              <a:rPr lang="en-US" sz="1400" dirty="0">
                <a:latin typeface="Consolas" panose="020B0609020204030204" pitchFamily="49" charset="0"/>
              </a:rPr>
              <a:t>),%</a:t>
            </a:r>
            <a:r>
              <a:rPr lang="en-US" sz="1400" dirty="0" err="1">
                <a:latin typeface="Consolas" panose="020B0609020204030204" pitchFamily="49" charset="0"/>
              </a:rPr>
              <a:t>rbx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F4B579-35BC-40AF-A5F5-C792D8DB6EAB}"/>
              </a:ext>
            </a:extLst>
          </p:cNvPr>
          <p:cNvSpPr txBox="1"/>
          <p:nvPr/>
        </p:nvSpPr>
        <p:spPr>
          <a:xfrm>
            <a:off x="248446" y="5999471"/>
            <a:ext cx="5448286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How many bytes are copied? Source? Destination?</a:t>
            </a:r>
          </a:p>
        </p:txBody>
      </p:sp>
    </p:spTree>
    <p:extLst>
      <p:ext uri="{BB962C8B-B14F-4D97-AF65-F5344CB8AC3E}">
        <p14:creationId xmlns:p14="http://schemas.microsoft.com/office/powerpoint/2010/main" val="281196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movq</a:t>
            </a:r>
            <a:r>
              <a:rPr kumimoji="1" lang="en-US" altLang="zh-CN" dirty="0"/>
              <a:t> </a:t>
            </a:r>
            <a:r>
              <a:rPr kumimoji="1" lang="en-US" altLang="zh-CN" b="0" i="1" dirty="0">
                <a:latin typeface="Arial"/>
                <a:cs typeface="Arial"/>
              </a:rPr>
              <a:t>(%rax), %rbx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19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1800359" y="281938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800359" y="24459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800359" y="20751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800359" y="17017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dirty="0">
                <a:latin typeface="Arial"/>
                <a:cs typeface="Arial"/>
              </a:rPr>
              <a:t>movq </a:t>
            </a:r>
            <a:r>
              <a:rPr lang="en-US" altLang="zh-CN" sz="1400" dirty="0">
                <a:latin typeface="Arial"/>
                <a:cs typeface="Arial"/>
              </a:rPr>
              <a:t>(%rax), %rbx</a:t>
            </a:r>
          </a:p>
        </p:txBody>
      </p:sp>
      <p:sp>
        <p:nvSpPr>
          <p:cNvPr id="11" name="矩形 10"/>
          <p:cNvSpPr/>
          <p:nvPr/>
        </p:nvSpPr>
        <p:spPr>
          <a:xfrm>
            <a:off x="1800359" y="31924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804729" y="393993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809098" y="431336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16679" y="467942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prstClr val="black"/>
                </a:solidFill>
                <a:latin typeface="Arial"/>
                <a:cs typeface="Arial"/>
              </a:rPr>
              <a:t>0x10</a:t>
            </a:r>
            <a:endParaRPr lang="zh-CN" altLang="en-US" sz="20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16679" y="504700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16679" y="54155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16294" y="538156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800359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82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0x18</a:t>
            </a:r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75078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(%rax), %rbx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5" name="直线箭头连接符 54"/>
          <p:cNvCxnSpPr>
            <a:endCxn id="14" idx="3"/>
          </p:cNvCxnSpPr>
          <p:nvPr/>
        </p:nvCxnSpPr>
        <p:spPr>
          <a:xfrm rot="10800000" flipV="1">
            <a:off x="3768178" y="2977820"/>
            <a:ext cx="2011614" cy="188832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203087" y="250479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370798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359559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359559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359559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359559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359559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370798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4" name="矩形 63"/>
          <p:cNvSpPr/>
          <p:nvPr/>
        </p:nvSpPr>
        <p:spPr>
          <a:xfrm>
            <a:off x="372447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5" name="矩形 64"/>
          <p:cNvSpPr/>
          <p:nvPr/>
        </p:nvSpPr>
        <p:spPr>
          <a:xfrm>
            <a:off x="376817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366287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67" name="直线箭头连接符 66"/>
          <p:cNvCxnSpPr/>
          <p:nvPr/>
        </p:nvCxnSpPr>
        <p:spPr>
          <a:xfrm flipH="1">
            <a:off x="3744435" y="186799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8" name="矩形 67"/>
          <p:cNvSpPr/>
          <p:nvPr/>
        </p:nvSpPr>
        <p:spPr>
          <a:xfrm>
            <a:off x="3930820" y="170173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87531-C393-4476-8E69-9BDEBF172837}"/>
              </a:ext>
            </a:extLst>
          </p:cNvPr>
          <p:cNvSpPr txBox="1"/>
          <p:nvPr/>
        </p:nvSpPr>
        <p:spPr>
          <a:xfrm>
            <a:off x="7197624" y="330407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0x10</a:t>
            </a:r>
          </a:p>
        </p:txBody>
      </p:sp>
    </p:spTree>
    <p:extLst>
      <p:ext uri="{BB962C8B-B14F-4D97-AF65-F5344CB8AC3E}">
        <p14:creationId xmlns:p14="http://schemas.microsoft.com/office/powerpoint/2010/main" val="2292918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965C9-633D-41E8-9557-B0D584153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74" y="3044825"/>
            <a:ext cx="7772400" cy="1362075"/>
          </a:xfrm>
        </p:spPr>
        <p:txBody>
          <a:bodyPr/>
          <a:lstStyle/>
          <a:p>
            <a:r>
              <a:rPr lang="en-US" dirty="0"/>
              <a:t>Demo: Swap</a:t>
            </a:r>
          </a:p>
        </p:txBody>
      </p:sp>
    </p:spTree>
    <p:extLst>
      <p:ext uri="{BB962C8B-B14F-4D97-AF65-F5344CB8AC3E}">
        <p14:creationId xmlns:p14="http://schemas.microsoft.com/office/powerpoint/2010/main" val="17609787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329637" y="1531113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3831690" y="2677409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505989" y="1750866"/>
            <a:ext cx="457200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3309303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4EE70F3-72FD-5A4E-BC45-04E0B6ED0FAE}"/>
              </a:ext>
            </a:extLst>
          </p:cNvPr>
          <p:cNvGrpSpPr/>
          <p:nvPr/>
        </p:nvGrpSpPr>
        <p:grpSpPr>
          <a:xfrm>
            <a:off x="2786062" y="3066434"/>
            <a:ext cx="3877215" cy="2165520"/>
            <a:chOff x="2786062" y="3066434"/>
            <a:chExt cx="3877215" cy="216552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2C33AD7C-71CC-A042-89DF-EAAC9E7D0ADB}"/>
                </a:ext>
              </a:extLst>
            </p:cNvPr>
            <p:cNvSpPr/>
            <p:nvPr/>
          </p:nvSpPr>
          <p:spPr>
            <a:xfrm>
              <a:off x="3831690" y="3066434"/>
              <a:ext cx="311685" cy="491154"/>
            </a:xfrm>
            <a:prstGeom prst="roundRect">
              <a:avLst/>
            </a:prstGeom>
            <a:noFill/>
            <a:ln w="38100">
              <a:solidFill>
                <a:srgbClr val="FF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AF85C83-A9AE-D849-B93B-4B58A898B64C}"/>
                </a:ext>
              </a:extLst>
            </p:cNvPr>
            <p:cNvCxnSpPr/>
            <p:nvPr/>
          </p:nvCxnSpPr>
          <p:spPr>
            <a:xfrm flipV="1">
              <a:off x="4000502" y="3671888"/>
              <a:ext cx="0" cy="771525"/>
            </a:xfrm>
            <a:prstGeom prst="straightConnector1">
              <a:avLst/>
            </a:prstGeom>
            <a:ln>
              <a:solidFill>
                <a:srgbClr val="FF00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3E4A85-C846-2849-9CAB-D222582B206A}"/>
                </a:ext>
              </a:extLst>
            </p:cNvPr>
            <p:cNvSpPr txBox="1"/>
            <p:nvPr/>
          </p:nvSpPr>
          <p:spPr>
            <a:xfrm>
              <a:off x="2786062" y="4585623"/>
              <a:ext cx="387721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Makes </a:t>
              </a:r>
              <a:r>
                <a:rPr lang="en-US" dirty="0" err="1"/>
                <a:t>gcc</a:t>
              </a:r>
              <a:r>
                <a:rPr lang="en-US" dirty="0"/>
                <a:t> output assembly </a:t>
              </a:r>
            </a:p>
            <a:p>
              <a:r>
                <a:rPr lang="en-US" dirty="0"/>
                <a:t>(human readable machine instructions)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1821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329637" y="1531113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3831690" y="2677409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505989" y="1750866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3309303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24" name="Group 23"/>
          <p:cNvGrpSpPr/>
          <p:nvPr/>
        </p:nvGrpSpPr>
        <p:grpSpPr>
          <a:xfrm>
            <a:off x="6182330" y="1381534"/>
            <a:ext cx="1553937" cy="740832"/>
            <a:chOff x="6182330" y="1381534"/>
            <a:chExt cx="1553937" cy="7408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7118034" y="1750866"/>
              <a:ext cx="618233" cy="371500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6182330" y="1381534"/>
              <a:ext cx="13942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rdi</a:t>
              </a:r>
              <a:r>
                <a:rPr lang="en-US" dirty="0">
                  <a:solidFill>
                    <a:srgbClr val="FF6600"/>
                  </a:solidFill>
                </a:rPr>
                <a:t> stores a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7765032" y="1381534"/>
            <a:ext cx="1373994" cy="1091775"/>
            <a:chOff x="7765032" y="1381534"/>
            <a:chExt cx="1373994" cy="1091775"/>
          </a:xfrm>
        </p:grpSpPr>
        <p:cxnSp>
          <p:nvCxnSpPr>
            <p:cNvPr id="10" name="Straight Arrow Connector 9"/>
            <p:cNvCxnSpPr/>
            <p:nvPr/>
          </p:nvCxnSpPr>
          <p:spPr>
            <a:xfrm flipH="1">
              <a:off x="8003611" y="1750866"/>
              <a:ext cx="467295" cy="722443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7765032" y="1381534"/>
              <a:ext cx="1373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rsi</a:t>
              </a:r>
              <a:r>
                <a:rPr lang="en-US" dirty="0">
                  <a:solidFill>
                    <a:srgbClr val="FF6600"/>
                  </a:solidFill>
                </a:rPr>
                <a:t> stores b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060474" y="2439885"/>
            <a:ext cx="2559490" cy="1645773"/>
            <a:chOff x="6060474" y="2439885"/>
            <a:chExt cx="2559490" cy="1645773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7920066" y="2439885"/>
              <a:ext cx="467295" cy="1169808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6060474" y="3716326"/>
              <a:ext cx="2559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rax</a:t>
              </a:r>
              <a:r>
                <a:rPr lang="en-US" dirty="0">
                  <a:solidFill>
                    <a:srgbClr val="FF6600"/>
                  </a:solidFill>
                </a:rPr>
                <a:t> is local variable </a:t>
              </a:r>
              <a:r>
                <a:rPr lang="en-US" dirty="0" err="1">
                  <a:solidFill>
                    <a:srgbClr val="FF6600"/>
                  </a:solidFill>
                </a:rPr>
                <a:t>tmp</a:t>
              </a:r>
              <a:r>
                <a:rPr lang="en-US" dirty="0">
                  <a:solidFill>
                    <a:srgbClr val="FF6600"/>
                  </a:solidFill>
                </a:rPr>
                <a:t> 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457200" y="2439885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6087576" y="2075793"/>
            <a:ext cx="2901866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992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329637" y="1531113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3831690" y="2677409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505989" y="1750866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3309303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4901637" y="3066434"/>
            <a:ext cx="4110733" cy="1922772"/>
            <a:chOff x="6060474" y="2439885"/>
            <a:chExt cx="4110733" cy="1922772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7920066" y="2439885"/>
              <a:ext cx="467295" cy="1169808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6060474" y="3716326"/>
              <a:ext cx="411073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Use two instructions and %</a:t>
              </a:r>
              <a:r>
                <a:rPr lang="en-US" dirty="0" err="1">
                  <a:solidFill>
                    <a:srgbClr val="FF6600"/>
                  </a:solidFill>
                </a:rPr>
                <a:t>rdx</a:t>
              </a:r>
              <a:r>
                <a:rPr lang="en-US" dirty="0">
                  <a:solidFill>
                    <a:srgbClr val="FF6600"/>
                  </a:solidFill>
                </a:rPr>
                <a:t> to perform</a:t>
              </a:r>
            </a:p>
            <a:p>
              <a:r>
                <a:rPr lang="en-US" dirty="0">
                  <a:solidFill>
                    <a:srgbClr val="FF6600"/>
                  </a:solidFill>
                </a:rPr>
                <a:t>memory to memory move 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457200" y="2811101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6152985" y="2393312"/>
            <a:ext cx="2901866" cy="673122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22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329637" y="1531113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3831690" y="2677409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505989" y="1750866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3309303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3141753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6152985" y="3081719"/>
            <a:ext cx="2901866" cy="402504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256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7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8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2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3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4" name="直线箭头连接符 3"/>
          <p:cNvCxnSpPr/>
          <p:nvPr/>
        </p:nvCxnSpPr>
        <p:spPr>
          <a:xfrm flipH="1">
            <a:off x="4295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5" name="矩形 55"/>
          <p:cNvSpPr/>
          <p:nvPr/>
        </p:nvSpPr>
        <p:spPr>
          <a:xfrm>
            <a:off x="4482368" y="288857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6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7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8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9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90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91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2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3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4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5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6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7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8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9" name="TextBox 98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0076772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295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482368" y="288857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4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5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1022157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68" name="直线箭头连接符 54"/>
          <p:cNvCxnSpPr>
            <a:stCxn id="33" idx="1"/>
          </p:cNvCxnSpPr>
          <p:nvPr/>
        </p:nvCxnSpPr>
        <p:spPr>
          <a:xfrm rot="10800000" flipV="1">
            <a:off x="3752013" y="3048424"/>
            <a:ext cx="2264314" cy="2558726"/>
          </a:xfrm>
          <a:prstGeom prst="bentConnector3">
            <a:avLst>
              <a:gd name="adj1" fmla="val 35979"/>
            </a:avLst>
          </a:prstGeom>
          <a:ln w="38100" cmpd="sng">
            <a:solidFill>
              <a:schemeClr val="tx1"/>
            </a:solidFill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0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9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70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71" name="直线箭头连接符 3"/>
          <p:cNvCxnSpPr/>
          <p:nvPr/>
        </p:nvCxnSpPr>
        <p:spPr>
          <a:xfrm flipH="1">
            <a:off x="4295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2" name="矩形 55"/>
          <p:cNvSpPr/>
          <p:nvPr/>
        </p:nvSpPr>
        <p:spPr>
          <a:xfrm>
            <a:off x="4482368" y="288857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73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76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77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78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9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80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81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82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83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84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85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326288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0050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	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rdx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5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8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4295983" y="27038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4482368" y="253762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807362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8" name="直线箭头连接符 54"/>
          <p:cNvCxnSpPr/>
          <p:nvPr/>
        </p:nvCxnSpPr>
        <p:spPr>
          <a:xfrm rot="10800000" flipV="1">
            <a:off x="3752013" y="4318551"/>
            <a:ext cx="2279156" cy="921027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0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4295983" y="268717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4482368" y="2520908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351655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rdx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8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1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4295983" y="233622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4482368" y="216995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076698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8" name="直线箭头连接符 54"/>
          <p:cNvCxnSpPr>
            <a:endCxn id="78" idx="3"/>
          </p:cNvCxnSpPr>
          <p:nvPr/>
        </p:nvCxnSpPr>
        <p:spPr>
          <a:xfrm rot="10800000" flipV="1">
            <a:off x="4303561" y="4318550"/>
            <a:ext cx="1727608" cy="1288600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4295983" y="231951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4482368" y="215324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3430285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0060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5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8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4295983" y="193513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4482368" y="1768868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5364593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/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6643149" y="2460814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5" name="直线箭头连接符 54"/>
          <p:cNvCxnSpPr>
            <a:stCxn id="33" idx="1"/>
            <a:endCxn id="77" idx="3"/>
          </p:cNvCxnSpPr>
          <p:nvPr/>
        </p:nvCxnSpPr>
        <p:spPr>
          <a:xfrm rot="10800000" flipV="1">
            <a:off x="4303561" y="3048423"/>
            <a:ext cx="1712766" cy="219115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矩形 5"/>
          <p:cNvSpPr/>
          <p:nvPr/>
        </p:nvSpPr>
        <p:spPr>
          <a:xfrm>
            <a:off x="2755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2335742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7"/>
          <p:cNvSpPr/>
          <p:nvPr/>
        </p:nvSpPr>
        <p:spPr>
          <a:xfrm>
            <a:off x="2335742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8"/>
          <p:cNvSpPr/>
          <p:nvPr/>
        </p:nvSpPr>
        <p:spPr>
          <a:xfrm>
            <a:off x="2335742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0"/>
          <p:cNvSpPr/>
          <p:nvPr/>
        </p:nvSpPr>
        <p:spPr>
          <a:xfrm>
            <a:off x="2335742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1"/>
          <p:cNvSpPr/>
          <p:nvPr/>
        </p:nvSpPr>
        <p:spPr>
          <a:xfrm>
            <a:off x="2340112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2344481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2352062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2352062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2352062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1751677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2335742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4295983" y="196856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4482368" y="180229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2330931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2335644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922346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911107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911107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911107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911107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911107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922346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923995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928365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917835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941054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37212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962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656991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5756-DA28-4419-BBCB-7260A744E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29B78-2099-4018-A055-597D984ED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hardware execution</a:t>
            </a:r>
          </a:p>
          <a:p>
            <a:pPr lvl="1"/>
            <a:r>
              <a:rPr lang="en-US" dirty="0"/>
              <a:t>Instructions and data stored in memory</a:t>
            </a:r>
          </a:p>
          <a:p>
            <a:pPr lvl="1"/>
            <a:r>
              <a:rPr lang="en-US" dirty="0"/>
              <a:t>CPU fetches instructions one at a time according to PC </a:t>
            </a:r>
          </a:p>
          <a:p>
            <a:r>
              <a:rPr lang="en-US" dirty="0"/>
              <a:t>X86-64 ISA</a:t>
            </a:r>
          </a:p>
          <a:p>
            <a:pPr lvl="1"/>
            <a:r>
              <a:rPr lang="en-US" dirty="0"/>
              <a:t>%rip (PC), 16 general-purpose registers</a:t>
            </a:r>
          </a:p>
          <a:p>
            <a:pPr lvl="1"/>
            <a:r>
              <a:rPr lang="en-US" dirty="0" err="1"/>
              <a:t>movq</a:t>
            </a:r>
            <a:r>
              <a:rPr lang="en-US" dirty="0"/>
              <a:t> allows copying data across registers or memory ↔register.</a:t>
            </a:r>
          </a:p>
        </p:txBody>
      </p:sp>
    </p:spTree>
    <p:extLst>
      <p:ext uri="{BB962C8B-B14F-4D97-AF65-F5344CB8AC3E}">
        <p14:creationId xmlns:p14="http://schemas.microsoft.com/office/powerpoint/2010/main" val="26854627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Limitation of direct addressing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407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b="1" dirty="0"/>
              <a:t>Issue:</a:t>
            </a:r>
            <a:r>
              <a:rPr kumimoji="1" lang="en-US" altLang="zh-CN" dirty="0"/>
              <a:t> the address must be calculated and stored in the register before each memory access.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6795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Issue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40757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b="1" dirty="0"/>
              <a:t>Issue:</a:t>
            </a:r>
            <a:r>
              <a:rPr kumimoji="1" lang="en-US" altLang="zh-CN" dirty="0"/>
              <a:t> the address must be calculated and stored in the register before each memory access.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637732" y="3079559"/>
            <a:ext cx="43784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 long a[3] = {3, 2, 1};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     a[i] = i;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}</a:t>
            </a:r>
            <a:endParaRPr lang="mr-IN" altLang="zh-CN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457200" y="5044201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7732" y="4657866"/>
            <a:ext cx="6875242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 long a[3] = {1, 2, 3};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dirty="0">
                <a:solidFill>
                  <a:schemeClr val="accent1"/>
                </a:solidFill>
                <a:latin typeface="Arial"/>
                <a:cs typeface="Arial"/>
              </a:rPr>
              <a:t>        </a:t>
            </a:r>
            <a:r>
              <a:rPr lang="en-US" altLang="zh-CN" sz="2000" dirty="0">
                <a:solidFill>
                  <a:schemeClr val="accent1"/>
                </a:solidFill>
                <a:latin typeface="Consolas"/>
                <a:cs typeface="Consolas"/>
              </a:rPr>
              <a:t>1. calculate &amp;a[i] and put result in </a:t>
            </a:r>
            <a:r>
              <a:rPr lang="en-US" altLang="zh-CN" sz="2000" dirty="0" err="1">
                <a:solidFill>
                  <a:schemeClr val="accent1"/>
                </a:solidFill>
                <a:latin typeface="Consolas"/>
                <a:cs typeface="Consolas"/>
              </a:rPr>
              <a:t>reg</a:t>
            </a:r>
            <a:r>
              <a:rPr lang="en-US" altLang="zh-CN" sz="2000" dirty="0">
                <a:solidFill>
                  <a:schemeClr val="accent1"/>
                </a:solidFill>
                <a:latin typeface="Consolas"/>
                <a:cs typeface="Consolas"/>
              </a:rPr>
              <a:t> </a:t>
            </a:r>
          </a:p>
          <a:p>
            <a:r>
              <a:rPr lang="en-US" altLang="zh-CN" sz="2000" dirty="0">
                <a:solidFill>
                  <a:srgbClr val="4F81BD"/>
                </a:solidFill>
                <a:latin typeface="Consolas"/>
                <a:cs typeface="Consolas"/>
              </a:rPr>
              <a:t>    2. </a:t>
            </a:r>
            <a:r>
              <a:rPr lang="en-US" altLang="zh-CN" sz="2000" dirty="0" err="1">
                <a:solidFill>
                  <a:srgbClr val="4F81BD"/>
                </a:solidFill>
                <a:latin typeface="Consolas"/>
                <a:cs typeface="Consolas"/>
              </a:rPr>
              <a:t>mov</a:t>
            </a:r>
            <a:r>
              <a:rPr lang="en-US" altLang="zh-CN" sz="2000" dirty="0">
                <a:solidFill>
                  <a:srgbClr val="4F81BD"/>
                </a:solidFill>
                <a:latin typeface="Consolas"/>
                <a:cs typeface="Consolas"/>
              </a:rPr>
              <a:t> $i, (</a:t>
            </a:r>
            <a:r>
              <a:rPr lang="en-US" altLang="zh-CN" sz="2000" dirty="0" err="1">
                <a:solidFill>
                  <a:srgbClr val="4F81BD"/>
                </a:solidFill>
                <a:latin typeface="Consolas"/>
                <a:cs typeface="Consolas"/>
              </a:rPr>
              <a:t>reg</a:t>
            </a:r>
            <a:r>
              <a:rPr lang="en-US" altLang="zh-CN" sz="2000" dirty="0">
                <a:solidFill>
                  <a:srgbClr val="4F81BD"/>
                </a:solidFill>
                <a:latin typeface="Consolas"/>
                <a:cs typeface="Consolas"/>
              </a:rPr>
              <a:t>)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}</a:t>
            </a:r>
            <a:endParaRPr lang="mr-IN" altLang="zh-CN"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1276224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Observation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457200" y="1417638"/>
            <a:ext cx="43784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 long a[3] = {3, 2, 1};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     a[i] = i;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}</a:t>
            </a:r>
            <a:endParaRPr lang="mr-IN" altLang="zh-CN" sz="2000" dirty="0">
              <a:latin typeface="Consolas"/>
              <a:cs typeface="Consolas"/>
            </a:endParaRPr>
          </a:p>
        </p:txBody>
      </p:sp>
      <p:sp>
        <p:nvSpPr>
          <p:cNvPr id="6" name="内容占位符 2"/>
          <p:cNvSpPr>
            <a:spLocks noGrp="1"/>
          </p:cNvSpPr>
          <p:nvPr>
            <p:ph idx="1"/>
          </p:nvPr>
        </p:nvSpPr>
        <p:spPr>
          <a:xfrm>
            <a:off x="457200" y="3233519"/>
            <a:ext cx="8229600" cy="2892644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dirty="0"/>
              <a:t>a[0], a[1] and a[2] have the same base address:&amp;a[0]</a:t>
            </a:r>
          </a:p>
          <a:p>
            <a:pPr lvl="1"/>
            <a:r>
              <a:rPr kumimoji="1" lang="en-US" altLang="zh-CN" sz="2000" dirty="0"/>
              <a:t>&amp;a[0]: &amp;a[0] + 0</a:t>
            </a:r>
          </a:p>
          <a:p>
            <a:pPr lvl="1"/>
            <a:r>
              <a:rPr kumimoji="1" lang="en-US" altLang="zh-CN" sz="2000" dirty="0"/>
              <a:t>&amp;a[1]: &amp;a[0] + 1</a:t>
            </a:r>
          </a:p>
          <a:p>
            <a:pPr lvl="1"/>
            <a:r>
              <a:rPr kumimoji="1" lang="en-US" altLang="zh-CN" sz="2000" dirty="0"/>
              <a:t>&amp;a[2]: &amp;a[0] + 2</a:t>
            </a:r>
          </a:p>
          <a:p>
            <a:pPr lvl="1"/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77269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Address mode with displacement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kumimoji="1" lang="en-US" altLang="zh-CN" dirty="0"/>
              <a:t>D(Register):  </a:t>
            </a:r>
            <a:r>
              <a:rPr lang="en-US" altLang="zh-CN" dirty="0" err="1"/>
              <a:t>val</a:t>
            </a:r>
            <a:r>
              <a:rPr lang="en-US" altLang="zh-CN" dirty="0"/>
              <a:t>(Register) + D</a:t>
            </a:r>
            <a:endParaRPr kumimoji="1" lang="en-US" altLang="zh-CN" dirty="0"/>
          </a:p>
          <a:p>
            <a:pPr lvl="1"/>
            <a:r>
              <a:rPr lang="en-US" altLang="zh-CN" dirty="0"/>
              <a:t>Register specifies the start of the memory region</a:t>
            </a:r>
          </a:p>
          <a:p>
            <a:pPr lvl="1"/>
            <a:r>
              <a:rPr lang="en-US" altLang="zh-CN" dirty="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622725" y="3304068"/>
            <a:ext cx="1469861" cy="329231"/>
          </a:xfrm>
          <a:prstGeom prst="rect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0x10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矩形 4"/>
          <p:cNvSpPr/>
          <p:nvPr/>
        </p:nvSpPr>
        <p:spPr>
          <a:xfrm>
            <a:off x="1001001" y="3248217"/>
            <a:ext cx="6251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RAX: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740912" y="5157641"/>
            <a:ext cx="10209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/>
              <a:t>20(RAX)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2357655" y="4459373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0x10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53199" y="5516118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000000"/>
                </a:solidFill>
              </a:rPr>
              <a:t>20</a:t>
            </a:r>
            <a:endParaRPr kumimoji="1" lang="zh-CN" altLang="en-US" sz="2000" dirty="0">
              <a:solidFill>
                <a:srgbClr val="000000"/>
              </a:solidFill>
            </a:endParaRPr>
          </a:p>
        </p:txBody>
      </p:sp>
      <p:cxnSp>
        <p:nvCxnSpPr>
          <p:cNvPr id="13" name="肘形连接符 12"/>
          <p:cNvCxnSpPr>
            <a:stCxn id="7" idx="3"/>
            <a:endCxn id="17" idx="0"/>
          </p:cNvCxnSpPr>
          <p:nvPr/>
        </p:nvCxnSpPr>
        <p:spPr>
          <a:xfrm>
            <a:off x="3827516" y="4623989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/>
          <p:cNvSpPr/>
          <p:nvPr/>
        </p:nvSpPr>
        <p:spPr>
          <a:xfrm>
            <a:off x="3923452" y="4963480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 dirty="0">
              <a:solidFill>
                <a:srgbClr val="000000"/>
              </a:solidFill>
            </a:endParaRPr>
          </a:p>
        </p:txBody>
      </p:sp>
      <p:cxnSp>
        <p:nvCxnSpPr>
          <p:cNvPr id="20" name="肘形连接符 19"/>
          <p:cNvCxnSpPr>
            <a:stCxn id="11" idx="3"/>
            <a:endCxn id="17" idx="4"/>
          </p:cNvCxnSpPr>
          <p:nvPr/>
        </p:nvCxnSpPr>
        <p:spPr>
          <a:xfrm flipV="1">
            <a:off x="3770590" y="5327986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3923452" y="4816940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 dirty="0">
                <a:solidFill>
                  <a:srgbClr val="000000"/>
                </a:solidFill>
              </a:rPr>
              <a:t>+</a:t>
            </a:r>
            <a:endParaRPr lang="zh-CN" altLang="en-US" sz="3200" dirty="0"/>
          </a:p>
        </p:txBody>
      </p:sp>
      <p:cxnSp>
        <p:nvCxnSpPr>
          <p:cNvPr id="33" name="直线连接符 32"/>
          <p:cNvCxnSpPr/>
          <p:nvPr/>
        </p:nvCxnSpPr>
        <p:spPr>
          <a:xfrm>
            <a:off x="4312501" y="5137340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矩形 35"/>
          <p:cNvSpPr/>
          <p:nvPr/>
        </p:nvSpPr>
        <p:spPr>
          <a:xfrm>
            <a:off x="1732514" y="4419272"/>
            <a:ext cx="6251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RAX:</a:t>
            </a:r>
            <a:endParaRPr lang="zh-CN" altLang="en-US" dirty="0"/>
          </a:p>
        </p:txBody>
      </p:sp>
      <p:sp>
        <p:nvSpPr>
          <p:cNvPr id="37" name="矩形 36"/>
          <p:cNvSpPr/>
          <p:nvPr/>
        </p:nvSpPr>
        <p:spPr>
          <a:xfrm>
            <a:off x="4640743" y="4963480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0x24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8386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3600" dirty="0"/>
              <a:t>Address mode with displacement</a:t>
            </a:r>
            <a:endParaRPr kumimoji="1" lang="zh-CN" altLang="en-US" sz="3600" dirty="0"/>
          </a:p>
        </p:txBody>
      </p:sp>
      <p:sp>
        <p:nvSpPr>
          <p:cNvPr id="4" name="矩形 3"/>
          <p:cNvSpPr/>
          <p:nvPr/>
        </p:nvSpPr>
        <p:spPr>
          <a:xfrm>
            <a:off x="1637732" y="3079559"/>
            <a:ext cx="43784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 long a[] = {3, 2, 1};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     a[i] = i;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}</a:t>
            </a:r>
            <a:endParaRPr lang="mr-IN" altLang="zh-CN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457200" y="5044201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7732" y="4657866"/>
            <a:ext cx="7134393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 long a[] = {1, 2, 3};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dirty="0">
                <a:solidFill>
                  <a:srgbClr val="4F81BD"/>
                </a:solidFill>
                <a:latin typeface="Consolas"/>
                <a:cs typeface="Consolas"/>
              </a:rPr>
              <a:t>	  </a:t>
            </a:r>
            <a:r>
              <a:rPr lang="en-US" altLang="zh-CN" sz="2000" dirty="0" err="1">
                <a:solidFill>
                  <a:srgbClr val="4F81BD"/>
                </a:solidFill>
                <a:latin typeface="Consolas"/>
                <a:cs typeface="Consolas"/>
              </a:rPr>
              <a:t>mov</a:t>
            </a:r>
            <a:r>
              <a:rPr lang="en-US" altLang="zh-CN" sz="2000" dirty="0">
                <a:solidFill>
                  <a:srgbClr val="4F81BD"/>
                </a:solidFill>
                <a:latin typeface="Consolas"/>
                <a:cs typeface="Consolas"/>
              </a:rPr>
              <a:t> $i, D(</a:t>
            </a:r>
            <a:r>
              <a:rPr lang="en-US" altLang="zh-CN" sz="2000" dirty="0" err="1">
                <a:solidFill>
                  <a:srgbClr val="4F81BD"/>
                </a:solidFill>
                <a:latin typeface="Consolas"/>
                <a:cs typeface="Consolas"/>
              </a:rPr>
              <a:t>reg</a:t>
            </a:r>
            <a:r>
              <a:rPr lang="en-US" altLang="zh-CN" sz="2000" dirty="0">
                <a:solidFill>
                  <a:srgbClr val="4F81BD"/>
                </a:solidFill>
                <a:latin typeface="Consolas"/>
                <a:cs typeface="Consolas"/>
              </a:rPr>
              <a:t>); // D = </a:t>
            </a:r>
            <a:r>
              <a:rPr lang="en-US" altLang="zh-CN" sz="2000" dirty="0" err="1">
                <a:solidFill>
                  <a:srgbClr val="4F81BD"/>
                </a:solidFill>
                <a:latin typeface="Consolas"/>
                <a:cs typeface="Consolas"/>
              </a:rPr>
              <a:t>i</a:t>
            </a:r>
            <a:r>
              <a:rPr lang="en-US" altLang="zh-CN" sz="2000" dirty="0">
                <a:solidFill>
                  <a:srgbClr val="4F81BD"/>
                </a:solidFill>
                <a:latin typeface="Consolas"/>
                <a:cs typeface="Consolas"/>
              </a:rPr>
              <a:t> * 8, </a:t>
            </a:r>
            <a:r>
              <a:rPr lang="en-US" altLang="zh-CN" sz="2000" dirty="0" err="1">
                <a:solidFill>
                  <a:srgbClr val="4F81BD"/>
                </a:solidFill>
                <a:latin typeface="Consolas"/>
                <a:cs typeface="Consolas"/>
              </a:rPr>
              <a:t>reg</a:t>
            </a:r>
            <a:r>
              <a:rPr lang="en-US" altLang="zh-CN" sz="2000" dirty="0">
                <a:solidFill>
                  <a:srgbClr val="4F81BD"/>
                </a:solidFill>
                <a:latin typeface="Consolas"/>
                <a:cs typeface="Consolas"/>
              </a:rPr>
              <a:t> = &amp;a[0]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}</a:t>
            </a:r>
            <a:endParaRPr lang="mr-IN" altLang="zh-CN" sz="2000" dirty="0">
              <a:latin typeface="Consolas"/>
              <a:cs typeface="Consolas"/>
            </a:endParaRP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457200" y="1417639"/>
            <a:ext cx="8229600" cy="1380826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dirty="0"/>
              <a:t>D(Register):  </a:t>
            </a:r>
            <a:r>
              <a:rPr lang="en-US" altLang="zh-CN" dirty="0" err="1"/>
              <a:t>val</a:t>
            </a:r>
            <a:r>
              <a:rPr lang="en-US" altLang="zh-CN" dirty="0"/>
              <a:t>(Register) + D</a:t>
            </a:r>
            <a:endParaRPr kumimoji="1" lang="en-US" altLang="zh-CN" dirty="0"/>
          </a:p>
          <a:p>
            <a:pPr lvl="1"/>
            <a:r>
              <a:rPr lang="en-US" altLang="zh-CN" dirty="0"/>
              <a:t>Register specifies the start of the memory region</a:t>
            </a:r>
          </a:p>
          <a:p>
            <a:pPr lvl="1"/>
            <a:r>
              <a:rPr lang="en-US" altLang="zh-CN" dirty="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249204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Complete Memory Addressing Mode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2377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/>
              <a:t>D(</a:t>
            </a:r>
            <a:r>
              <a:rPr kumimoji="1" lang="en-US" altLang="zh-CN" dirty="0" err="1"/>
              <a:t>Rb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Ri</a:t>
            </a:r>
            <a:r>
              <a:rPr kumimoji="1" lang="en-US" altLang="zh-CN" dirty="0"/>
              <a:t>, S):  </a:t>
            </a:r>
            <a:r>
              <a:rPr kumimoji="1" lang="en-US" altLang="zh-CN" dirty="0" err="1"/>
              <a:t>val</a:t>
            </a:r>
            <a:r>
              <a:rPr kumimoji="1" lang="en-US" altLang="zh-CN" dirty="0"/>
              <a:t>(</a:t>
            </a:r>
            <a:r>
              <a:rPr kumimoji="1" lang="en-US" altLang="zh-CN" dirty="0" err="1"/>
              <a:t>Rb</a:t>
            </a:r>
            <a:r>
              <a:rPr kumimoji="1" lang="en-US" altLang="zh-CN" dirty="0"/>
              <a:t>) + S * </a:t>
            </a:r>
            <a:r>
              <a:rPr kumimoji="1" lang="en-US" altLang="zh-CN" dirty="0" err="1"/>
              <a:t>val</a:t>
            </a:r>
            <a:r>
              <a:rPr kumimoji="1" lang="en-US" altLang="zh-CN" dirty="0"/>
              <a:t>(</a:t>
            </a:r>
            <a:r>
              <a:rPr kumimoji="1" lang="en-US" altLang="zh-CN" dirty="0" err="1"/>
              <a:t>Ri</a:t>
            </a:r>
            <a:r>
              <a:rPr kumimoji="1" lang="en-US" altLang="zh-CN" dirty="0"/>
              <a:t>) + D</a:t>
            </a:r>
          </a:p>
          <a:p>
            <a:pPr lvl="1"/>
            <a:r>
              <a:rPr lang="en-US" altLang="zh-CN" dirty="0" err="1"/>
              <a:t>Rb</a:t>
            </a:r>
            <a:r>
              <a:rPr lang="en-US" altLang="zh-CN" dirty="0"/>
              <a:t>: Base register</a:t>
            </a:r>
          </a:p>
          <a:p>
            <a:pPr lvl="1"/>
            <a:r>
              <a:rPr lang="en-US" altLang="zh-CN" dirty="0"/>
              <a:t>D: Constant “displacement”</a:t>
            </a:r>
          </a:p>
          <a:p>
            <a:pPr lvl="1"/>
            <a:r>
              <a:rPr lang="en-US" altLang="zh-CN" dirty="0" err="1"/>
              <a:t>Ri</a:t>
            </a:r>
            <a:r>
              <a:rPr lang="en-US" altLang="zh-CN" dirty="0"/>
              <a:t>: Index register (not</a:t>
            </a:r>
            <a:r>
              <a:rPr lang="en-US" altLang="zh-CN" dirty="0">
                <a:latin typeface="Consolas"/>
                <a:cs typeface="Consolas"/>
              </a:rPr>
              <a:t> </a:t>
            </a:r>
            <a:r>
              <a:rPr lang="en-US" altLang="zh-CN" b="1" dirty="0">
                <a:latin typeface="Consolas"/>
                <a:cs typeface="Consolas"/>
              </a:rPr>
              <a:t>%</a:t>
            </a:r>
            <a:r>
              <a:rPr lang="en-US" altLang="zh-CN" b="1" dirty="0" err="1">
                <a:latin typeface="Consolas"/>
                <a:cs typeface="Consolas"/>
              </a:rPr>
              <a:t>rsp</a:t>
            </a:r>
            <a:r>
              <a:rPr lang="en-US" altLang="zh-CN" dirty="0">
                <a:latin typeface="Consolas"/>
                <a:cs typeface="Consolas"/>
              </a:rPr>
              <a:t>)</a:t>
            </a:r>
          </a:p>
          <a:p>
            <a:pPr lvl="1"/>
            <a:r>
              <a:rPr lang="en-US" altLang="zh-CN" dirty="0"/>
              <a:t>S: Scale: 1, 2, 4, or 8 </a:t>
            </a:r>
          </a:p>
        </p:txBody>
      </p:sp>
      <p:sp>
        <p:nvSpPr>
          <p:cNvPr id="5" name="矩形 4"/>
          <p:cNvSpPr/>
          <p:nvPr/>
        </p:nvSpPr>
        <p:spPr>
          <a:xfrm>
            <a:off x="2169879" y="5396092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0x8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65423" y="6452837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000000"/>
                </a:solidFill>
              </a:rPr>
              <a:t>4</a:t>
            </a:r>
            <a:endParaRPr kumimoji="1" lang="zh-CN" altLang="en-US" sz="2000" dirty="0">
              <a:solidFill>
                <a:srgbClr val="000000"/>
              </a:solidFill>
            </a:endParaRPr>
          </a:p>
        </p:txBody>
      </p:sp>
      <p:cxnSp>
        <p:nvCxnSpPr>
          <p:cNvPr id="7" name="肘形连接符 6"/>
          <p:cNvCxnSpPr>
            <a:stCxn id="5" idx="3"/>
            <a:endCxn id="8" idx="0"/>
          </p:cNvCxnSpPr>
          <p:nvPr/>
        </p:nvCxnSpPr>
        <p:spPr>
          <a:xfrm>
            <a:off x="3639740" y="5560708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/>
          <p:cNvSpPr/>
          <p:nvPr/>
        </p:nvSpPr>
        <p:spPr>
          <a:xfrm>
            <a:off x="3735676" y="5900199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 dirty="0">
              <a:solidFill>
                <a:srgbClr val="000000"/>
              </a:solidFill>
            </a:endParaRPr>
          </a:p>
        </p:txBody>
      </p:sp>
      <p:cxnSp>
        <p:nvCxnSpPr>
          <p:cNvPr id="9" name="肘形连接符 8"/>
          <p:cNvCxnSpPr>
            <a:stCxn id="6" idx="3"/>
            <a:endCxn id="8" idx="4"/>
          </p:cNvCxnSpPr>
          <p:nvPr/>
        </p:nvCxnSpPr>
        <p:spPr>
          <a:xfrm flipV="1">
            <a:off x="3582814" y="6264705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3735676" y="5813569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 dirty="0">
                <a:solidFill>
                  <a:srgbClr val="000000"/>
                </a:solidFill>
              </a:rPr>
              <a:t>*</a:t>
            </a:r>
            <a:endParaRPr lang="zh-CN" altLang="en-US" sz="3200" dirty="0"/>
          </a:p>
        </p:txBody>
      </p:sp>
      <p:sp>
        <p:nvSpPr>
          <p:cNvPr id="12" name="矩形 11"/>
          <p:cNvSpPr/>
          <p:nvPr/>
        </p:nvSpPr>
        <p:spPr>
          <a:xfrm>
            <a:off x="1604638" y="5355991"/>
            <a:ext cx="588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 err="1"/>
              <a:t>rbx</a:t>
            </a:r>
            <a:r>
              <a:rPr lang="en-US" altLang="zh-CN" sz="2000" dirty="0"/>
              <a:t>:</a:t>
            </a:r>
            <a:endParaRPr lang="zh-CN" altLang="en-US" sz="2000" dirty="0"/>
          </a:p>
        </p:txBody>
      </p:sp>
      <p:sp>
        <p:nvSpPr>
          <p:cNvPr id="13" name="矩形 12"/>
          <p:cNvSpPr/>
          <p:nvPr/>
        </p:nvSpPr>
        <p:spPr>
          <a:xfrm>
            <a:off x="5320260" y="4822651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0x3a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948154" y="3922111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0x10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455110" y="3882010"/>
            <a:ext cx="5766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 err="1"/>
              <a:t>rax</a:t>
            </a:r>
            <a:r>
              <a:rPr lang="en-US" altLang="zh-CN" sz="2000" dirty="0"/>
              <a:t>:</a:t>
            </a:r>
            <a:endParaRPr lang="zh-CN" altLang="en-US" sz="2000" dirty="0"/>
          </a:p>
        </p:txBody>
      </p:sp>
      <p:sp>
        <p:nvSpPr>
          <p:cNvPr id="17" name="矩形 16"/>
          <p:cNvSpPr/>
          <p:nvPr/>
        </p:nvSpPr>
        <p:spPr>
          <a:xfrm>
            <a:off x="2595661" y="6444545"/>
            <a:ext cx="37114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/>
              <a:t>S:</a:t>
            </a:r>
            <a:endParaRPr lang="zh-CN" altLang="en-US" sz="2000" dirty="0"/>
          </a:p>
        </p:txBody>
      </p:sp>
      <p:cxnSp>
        <p:nvCxnSpPr>
          <p:cNvPr id="18" name="肘形连接符 17"/>
          <p:cNvCxnSpPr/>
          <p:nvPr/>
        </p:nvCxnSpPr>
        <p:spPr>
          <a:xfrm rot="16200000" flipH="1">
            <a:off x="4231971" y="4267639"/>
            <a:ext cx="741056" cy="368968"/>
          </a:xfrm>
          <a:prstGeom prst="bentConnector3">
            <a:avLst>
              <a:gd name="adj1" fmla="val 1495"/>
            </a:avLst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椭圆 23"/>
          <p:cNvSpPr/>
          <p:nvPr/>
        </p:nvSpPr>
        <p:spPr>
          <a:xfrm>
            <a:off x="4598841" y="4822651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 dirty="0">
              <a:solidFill>
                <a:srgbClr val="000000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598841" y="4676111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 dirty="0">
                <a:solidFill>
                  <a:srgbClr val="000000"/>
                </a:solidFill>
              </a:rPr>
              <a:t>+</a:t>
            </a:r>
            <a:endParaRPr lang="zh-CN" altLang="en-US" sz="3200" dirty="0"/>
          </a:p>
        </p:txBody>
      </p:sp>
      <p:cxnSp>
        <p:nvCxnSpPr>
          <p:cNvPr id="26" name="直线连接符 25"/>
          <p:cNvCxnSpPr/>
          <p:nvPr/>
        </p:nvCxnSpPr>
        <p:spPr>
          <a:xfrm>
            <a:off x="4987890" y="4996511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/>
          <p:cNvCxnSpPr>
            <a:stCxn id="10" idx="3"/>
            <a:endCxn id="24" idx="4"/>
          </p:cNvCxnSpPr>
          <p:nvPr/>
        </p:nvCxnSpPr>
        <p:spPr>
          <a:xfrm flipV="1">
            <a:off x="4124725" y="5187157"/>
            <a:ext cx="662258" cy="918800"/>
          </a:xfrm>
          <a:prstGeom prst="bentConnector2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矩形 36"/>
          <p:cNvSpPr/>
          <p:nvPr/>
        </p:nvSpPr>
        <p:spPr>
          <a:xfrm>
            <a:off x="4151360" y="6161072"/>
            <a:ext cx="635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/>
              <a:t>0x20</a:t>
            </a:r>
            <a:endParaRPr kumimoji="1" lang="zh-CN" altLang="en-US" dirty="0"/>
          </a:p>
        </p:txBody>
      </p:sp>
      <p:sp>
        <p:nvSpPr>
          <p:cNvPr id="38" name="矩形 37"/>
          <p:cNvSpPr/>
          <p:nvPr/>
        </p:nvSpPr>
        <p:spPr>
          <a:xfrm>
            <a:off x="3853264" y="4826245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000000"/>
                </a:solidFill>
              </a:rPr>
              <a:t>10</a:t>
            </a:r>
            <a:endParaRPr kumimoji="1" lang="zh-CN" altLang="en-US" sz="2000" dirty="0">
              <a:solidFill>
                <a:srgbClr val="000000"/>
              </a:solidFill>
            </a:endParaRPr>
          </a:p>
        </p:txBody>
      </p:sp>
      <p:cxnSp>
        <p:nvCxnSpPr>
          <p:cNvPr id="39" name="肘形连接符 38"/>
          <p:cNvCxnSpPr>
            <a:stCxn id="38" idx="3"/>
            <a:endCxn id="24" idx="2"/>
          </p:cNvCxnSpPr>
          <p:nvPr/>
        </p:nvCxnSpPr>
        <p:spPr>
          <a:xfrm>
            <a:off x="4370655" y="5002619"/>
            <a:ext cx="228186" cy="228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3397244" y="4766882"/>
            <a:ext cx="41109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/>
              <a:t>D:</a:t>
            </a:r>
            <a:endParaRPr lang="zh-CN" altLang="en-US" sz="2000" dirty="0"/>
          </a:p>
        </p:txBody>
      </p:sp>
      <p:sp>
        <p:nvSpPr>
          <p:cNvPr id="4" name="矩形 3"/>
          <p:cNvSpPr/>
          <p:nvPr/>
        </p:nvSpPr>
        <p:spPr>
          <a:xfrm>
            <a:off x="238214" y="3912788"/>
            <a:ext cx="20963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dirty="0">
                <a:latin typeface="Arial"/>
                <a:cs typeface="Arial"/>
              </a:rPr>
              <a:t>10(%</a:t>
            </a:r>
            <a:r>
              <a:rPr kumimoji="1" lang="en-US" altLang="zh-CN" b="1" dirty="0" err="1">
                <a:latin typeface="Arial"/>
                <a:cs typeface="Arial"/>
              </a:rPr>
              <a:t>rax</a:t>
            </a:r>
            <a:r>
              <a:rPr kumimoji="1" lang="en-US" altLang="zh-CN" b="1" dirty="0">
                <a:latin typeface="Arial"/>
                <a:cs typeface="Arial"/>
              </a:rPr>
              <a:t>, %</a:t>
            </a:r>
            <a:r>
              <a:rPr kumimoji="1" lang="en-US" altLang="zh-CN" b="1" dirty="0" err="1">
                <a:latin typeface="Arial"/>
                <a:cs typeface="Arial"/>
              </a:rPr>
              <a:t>rbx</a:t>
            </a:r>
            <a:r>
              <a:rPr kumimoji="1" lang="en-US" altLang="zh-CN" b="1" dirty="0">
                <a:latin typeface="Arial"/>
                <a:cs typeface="Arial"/>
              </a:rPr>
              <a:t>, 4)</a:t>
            </a:r>
            <a:endParaRPr lang="zh-CN" altLang="en-US" b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306770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Complete Memory Addressing Mode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zh-CN" dirty="0"/>
              <a:t>D(</a:t>
            </a:r>
            <a:r>
              <a:rPr kumimoji="1" lang="en-US" altLang="zh-CN" dirty="0" err="1"/>
              <a:t>Rb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Ri</a:t>
            </a:r>
            <a:r>
              <a:rPr kumimoji="1" lang="en-US" altLang="zh-CN" dirty="0"/>
              <a:t>, S):  </a:t>
            </a:r>
            <a:r>
              <a:rPr kumimoji="1" lang="en-US" altLang="zh-CN" dirty="0" err="1"/>
              <a:t>val</a:t>
            </a:r>
            <a:r>
              <a:rPr kumimoji="1" lang="en-US" altLang="zh-CN" dirty="0"/>
              <a:t>(</a:t>
            </a:r>
            <a:r>
              <a:rPr kumimoji="1" lang="en-US" altLang="zh-CN" dirty="0" err="1"/>
              <a:t>Rb</a:t>
            </a:r>
            <a:r>
              <a:rPr kumimoji="1" lang="en-US" altLang="zh-CN" dirty="0"/>
              <a:t>) + S * </a:t>
            </a:r>
            <a:r>
              <a:rPr kumimoji="1" lang="en-US" altLang="zh-CN" dirty="0" err="1"/>
              <a:t>val</a:t>
            </a:r>
            <a:r>
              <a:rPr kumimoji="1" lang="en-US" altLang="zh-CN" dirty="0"/>
              <a:t>(</a:t>
            </a:r>
            <a:r>
              <a:rPr kumimoji="1" lang="en-US" altLang="zh-CN" dirty="0" err="1"/>
              <a:t>Ri</a:t>
            </a:r>
            <a:r>
              <a:rPr kumimoji="1" lang="en-US" altLang="zh-CN" dirty="0"/>
              <a:t>) + D</a:t>
            </a:r>
          </a:p>
          <a:p>
            <a:pPr lvl="1"/>
            <a:r>
              <a:rPr lang="en-US" altLang="zh-CN" dirty="0"/>
              <a:t>D: Constant “displacement”</a:t>
            </a:r>
          </a:p>
          <a:p>
            <a:pPr lvl="1"/>
            <a:r>
              <a:rPr lang="en-US" altLang="zh-CN" dirty="0" err="1"/>
              <a:t>Rb</a:t>
            </a:r>
            <a:r>
              <a:rPr lang="en-US" altLang="zh-CN" dirty="0"/>
              <a:t>: Base register</a:t>
            </a:r>
          </a:p>
          <a:p>
            <a:pPr lvl="1"/>
            <a:r>
              <a:rPr lang="en-US" altLang="zh-CN" dirty="0" err="1"/>
              <a:t>Ri</a:t>
            </a:r>
            <a:r>
              <a:rPr lang="en-US" altLang="zh-CN" dirty="0"/>
              <a:t>: Index register (not</a:t>
            </a:r>
            <a:r>
              <a:rPr lang="en-US" altLang="zh-CN" dirty="0">
                <a:latin typeface="Consolas"/>
                <a:cs typeface="Consolas"/>
              </a:rPr>
              <a:t> </a:t>
            </a:r>
            <a:r>
              <a:rPr lang="en-US" altLang="zh-CN" b="1" dirty="0">
                <a:latin typeface="Consolas"/>
                <a:cs typeface="Consolas"/>
              </a:rPr>
              <a:t>%</a:t>
            </a:r>
            <a:r>
              <a:rPr lang="en-US" altLang="zh-CN" b="1" dirty="0" err="1">
                <a:latin typeface="Consolas"/>
                <a:cs typeface="Consolas"/>
              </a:rPr>
              <a:t>rsp</a:t>
            </a:r>
            <a:r>
              <a:rPr lang="en-US" altLang="zh-CN" dirty="0">
                <a:latin typeface="Consolas"/>
                <a:cs typeface="Consolas"/>
              </a:rPr>
              <a:t>)</a:t>
            </a:r>
          </a:p>
          <a:p>
            <a:pPr lvl="1"/>
            <a:r>
              <a:rPr lang="en-US" altLang="zh-CN" dirty="0"/>
              <a:t>S: Scale: 1, 2, 4, or 8</a:t>
            </a:r>
          </a:p>
          <a:p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If S is 1 or D is 0, they can be omitted</a:t>
            </a:r>
          </a:p>
          <a:p>
            <a:pPr lvl="1"/>
            <a:r>
              <a:rPr lang="en-US" altLang="zh-CN" dirty="0"/>
              <a:t>(</a:t>
            </a:r>
            <a:r>
              <a:rPr lang="en-US" altLang="zh-CN" dirty="0" err="1"/>
              <a:t>Rb</a:t>
            </a:r>
            <a:r>
              <a:rPr lang="en-US" altLang="zh-CN" dirty="0"/>
              <a:t>, </a:t>
            </a:r>
            <a:r>
              <a:rPr lang="en-US" altLang="zh-CN" dirty="0" err="1"/>
              <a:t>Ri</a:t>
            </a:r>
            <a:r>
              <a:rPr lang="en-US" altLang="zh-CN" dirty="0"/>
              <a:t>): </a:t>
            </a:r>
            <a:r>
              <a:rPr lang="en-US" altLang="zh-CN" dirty="0" err="1"/>
              <a:t>val</a:t>
            </a:r>
            <a:r>
              <a:rPr lang="en-US" altLang="zh-CN" dirty="0"/>
              <a:t>(</a:t>
            </a:r>
            <a:r>
              <a:rPr lang="en-US" altLang="zh-CN" dirty="0" err="1"/>
              <a:t>Rb</a:t>
            </a:r>
            <a:r>
              <a:rPr lang="en-US" altLang="zh-CN" dirty="0"/>
              <a:t>) + </a:t>
            </a:r>
            <a:r>
              <a:rPr lang="en-US" altLang="zh-CN" dirty="0" err="1"/>
              <a:t>val</a:t>
            </a:r>
            <a:r>
              <a:rPr lang="en-US" altLang="zh-CN" dirty="0"/>
              <a:t>(</a:t>
            </a:r>
            <a:r>
              <a:rPr lang="en-US" altLang="zh-CN" dirty="0" err="1"/>
              <a:t>Ri</a:t>
            </a:r>
            <a:r>
              <a:rPr lang="en-US" altLang="zh-CN" dirty="0"/>
              <a:t>)</a:t>
            </a:r>
          </a:p>
          <a:p>
            <a:pPr lvl="1"/>
            <a:r>
              <a:rPr lang="en-US" altLang="zh-CN" dirty="0"/>
              <a:t>D(</a:t>
            </a:r>
            <a:r>
              <a:rPr lang="en-US" altLang="zh-CN" dirty="0" err="1"/>
              <a:t>Rb</a:t>
            </a:r>
            <a:r>
              <a:rPr lang="en-US" altLang="zh-CN" dirty="0"/>
              <a:t>, </a:t>
            </a:r>
            <a:r>
              <a:rPr lang="en-US" altLang="zh-CN" dirty="0" err="1"/>
              <a:t>Ri</a:t>
            </a:r>
            <a:r>
              <a:rPr lang="en-US" altLang="zh-CN" dirty="0"/>
              <a:t>): </a:t>
            </a:r>
            <a:r>
              <a:rPr lang="en-US" altLang="zh-CN" dirty="0" err="1"/>
              <a:t>val</a:t>
            </a:r>
            <a:r>
              <a:rPr lang="en-US" altLang="zh-CN" dirty="0"/>
              <a:t>(</a:t>
            </a:r>
            <a:r>
              <a:rPr lang="en-US" altLang="zh-CN" dirty="0" err="1"/>
              <a:t>Rb</a:t>
            </a:r>
            <a:r>
              <a:rPr lang="en-US" altLang="zh-CN" dirty="0"/>
              <a:t>) + </a:t>
            </a:r>
            <a:r>
              <a:rPr lang="en-US" altLang="zh-CN" dirty="0" err="1"/>
              <a:t>val</a:t>
            </a:r>
            <a:r>
              <a:rPr lang="en-US" altLang="zh-CN" dirty="0"/>
              <a:t>(</a:t>
            </a:r>
            <a:r>
              <a:rPr lang="en-US" altLang="zh-CN" dirty="0" err="1"/>
              <a:t>Ri</a:t>
            </a:r>
            <a:r>
              <a:rPr lang="en-US" altLang="zh-CN" dirty="0"/>
              <a:t>) + D</a:t>
            </a:r>
          </a:p>
          <a:p>
            <a:pPr lvl="1"/>
            <a:r>
              <a:rPr lang="en-US" altLang="zh-CN" dirty="0"/>
              <a:t>(</a:t>
            </a:r>
            <a:r>
              <a:rPr lang="en-US" altLang="zh-CN" dirty="0" err="1"/>
              <a:t>Rb</a:t>
            </a:r>
            <a:r>
              <a:rPr lang="en-US" altLang="zh-CN" dirty="0"/>
              <a:t>, </a:t>
            </a:r>
            <a:r>
              <a:rPr lang="en-US" altLang="zh-CN" dirty="0" err="1"/>
              <a:t>Ri</a:t>
            </a:r>
            <a:r>
              <a:rPr lang="en-US" altLang="zh-CN" dirty="0"/>
              <a:t>, S): </a:t>
            </a:r>
            <a:r>
              <a:rPr lang="en-US" altLang="zh-CN" dirty="0" err="1"/>
              <a:t>val</a:t>
            </a:r>
            <a:r>
              <a:rPr lang="en-US" altLang="zh-CN" dirty="0"/>
              <a:t>(</a:t>
            </a:r>
            <a:r>
              <a:rPr lang="en-US" altLang="zh-CN" dirty="0" err="1"/>
              <a:t>Rb</a:t>
            </a:r>
            <a:r>
              <a:rPr lang="en-US" altLang="zh-CN" dirty="0"/>
              <a:t>) + S * </a:t>
            </a:r>
            <a:r>
              <a:rPr lang="en-US" altLang="zh-CN" dirty="0" err="1"/>
              <a:t>val</a:t>
            </a:r>
            <a:r>
              <a:rPr lang="en-US" altLang="zh-CN" dirty="0"/>
              <a:t>(</a:t>
            </a:r>
            <a:r>
              <a:rPr lang="en-US" altLang="zh-CN" dirty="0" err="1"/>
              <a:t>Ri</a:t>
            </a:r>
            <a:r>
              <a:rPr lang="en-US" altLang="zh-CN" dirty="0"/>
              <a:t>)</a:t>
            </a:r>
          </a:p>
          <a:p>
            <a:pPr marL="457200" lvl="1" indent="0">
              <a:buNone/>
            </a:pPr>
            <a:r>
              <a:rPr lang="en-US" altLang="zh-CN" dirty="0"/>
              <a:t> 	</a:t>
            </a:r>
          </a:p>
        </p:txBody>
      </p:sp>
    </p:spTree>
    <p:extLst>
      <p:ext uri="{BB962C8B-B14F-4D97-AF65-F5344CB8AC3E}">
        <p14:creationId xmlns:p14="http://schemas.microsoft.com/office/powerpoint/2010/main" val="6731486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1754611"/>
              </p:ext>
            </p:extLst>
          </p:nvPr>
        </p:nvGraphicFramePr>
        <p:xfrm>
          <a:off x="1014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 dirty="0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 dirty="0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312335"/>
              </p:ext>
            </p:extLst>
          </p:nvPr>
        </p:nvGraphicFramePr>
        <p:xfrm>
          <a:off x="1014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321738"/>
              </p:ext>
            </p:extLst>
          </p:nvPr>
        </p:nvGraphicFramePr>
        <p:xfrm>
          <a:off x="1066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89086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239857"/>
              </p:ext>
            </p:extLst>
          </p:nvPr>
        </p:nvGraphicFramePr>
        <p:xfrm>
          <a:off x="1014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 dirty="0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 dirty="0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58391"/>
              </p:ext>
            </p:extLst>
          </p:nvPr>
        </p:nvGraphicFramePr>
        <p:xfrm>
          <a:off x="1014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83669"/>
              </p:ext>
            </p:extLst>
          </p:nvPr>
        </p:nvGraphicFramePr>
        <p:xfrm>
          <a:off x="1066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1734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1821846"/>
              </p:ext>
            </p:extLst>
          </p:nvPr>
        </p:nvGraphicFramePr>
        <p:xfrm>
          <a:off x="1014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 dirty="0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 dirty="0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086398"/>
              </p:ext>
            </p:extLst>
          </p:nvPr>
        </p:nvGraphicFramePr>
        <p:xfrm>
          <a:off x="1014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50754"/>
              </p:ext>
            </p:extLst>
          </p:nvPr>
        </p:nvGraphicFramePr>
        <p:xfrm>
          <a:off x="1066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8608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1821846"/>
              </p:ext>
            </p:extLst>
          </p:nvPr>
        </p:nvGraphicFramePr>
        <p:xfrm>
          <a:off x="1014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 dirty="0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 dirty="0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727113"/>
              </p:ext>
            </p:extLst>
          </p:nvPr>
        </p:nvGraphicFramePr>
        <p:xfrm>
          <a:off x="1014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9680140"/>
              </p:ext>
            </p:extLst>
          </p:nvPr>
        </p:nvGraphicFramePr>
        <p:xfrm>
          <a:off x="1066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8608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1821846"/>
              </p:ext>
            </p:extLst>
          </p:nvPr>
        </p:nvGraphicFramePr>
        <p:xfrm>
          <a:off x="1014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 dirty="0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 dirty="0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697445"/>
              </p:ext>
            </p:extLst>
          </p:nvPr>
        </p:nvGraphicFramePr>
        <p:xfrm>
          <a:off x="1014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2*0xf000 + 0x80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0x1e080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93359"/>
              </p:ext>
            </p:extLst>
          </p:nvPr>
        </p:nvGraphicFramePr>
        <p:xfrm>
          <a:off x="1066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8608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03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1784195" y="251601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$1, 8(%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784195" y="214257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$2, 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784195" y="177178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84195" y="288905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88565" y="4313685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a[3]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92934" y="468680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a[2]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00515" y="5052862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a[1]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515" y="542043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a[0]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0515" y="57889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00129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784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a[4]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 dirty="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$1, 8(%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026651" y="270285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213036" y="252482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1779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a[5]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784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a[6]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70798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359559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59559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359559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359559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59559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70798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372447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4" name="矩形 73"/>
          <p:cNvSpPr/>
          <p:nvPr/>
        </p:nvSpPr>
        <p:spPr>
          <a:xfrm>
            <a:off x="376817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366287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6" name="矩形 75"/>
          <p:cNvSpPr/>
          <p:nvPr/>
        </p:nvSpPr>
        <p:spPr>
          <a:xfrm>
            <a:off x="389506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287525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03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1784195" y="251601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$1, 8(%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784195" y="214257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$2, 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784195" y="177178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84195" y="288905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88565" y="4313685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a[3]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92934" y="468680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a[2]: 1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00515" y="5052862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a[1]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515" y="542043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a[0]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0515" y="57889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00129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784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a[4]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 dirty="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$1, 8(%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026651" y="270285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213036" y="252482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1779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a[5]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784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a[6]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70798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359559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59559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359559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359559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59559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70798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372447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4" name="矩形 73"/>
          <p:cNvSpPr/>
          <p:nvPr/>
        </p:nvSpPr>
        <p:spPr>
          <a:xfrm>
            <a:off x="376817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366287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6" name="矩形 75"/>
          <p:cNvSpPr/>
          <p:nvPr/>
        </p:nvSpPr>
        <p:spPr>
          <a:xfrm>
            <a:off x="389506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281196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03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1784195" y="251601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$1, 8(%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784195" y="214257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$2, 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784195" y="177178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84195" y="288905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88565" y="4313685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a[3]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92934" y="4686802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a[2]: 2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00515" y="5052862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a[1]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515" y="542043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a[0]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0515" y="57889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00129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784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a[4]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$1, (%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026651" y="236187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213036" y="218384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1779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a[5]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784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a[6]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70798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359559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59559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359559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359559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59559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70798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372447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4" name="矩形 73"/>
          <p:cNvSpPr/>
          <p:nvPr/>
        </p:nvSpPr>
        <p:spPr>
          <a:xfrm>
            <a:off x="376817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366287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6" name="矩形 75"/>
          <p:cNvSpPr/>
          <p:nvPr/>
        </p:nvSpPr>
        <p:spPr>
          <a:xfrm>
            <a:off x="389506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21774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mov</a:t>
            </a:r>
            <a:r>
              <a:rPr kumimoji="1" lang="en-US" altLang="zh-CN" dirty="0"/>
              <a:t>{</a:t>
            </a:r>
            <a:r>
              <a:rPr kumimoji="1" lang="en-US" altLang="zh-CN" dirty="0" err="1"/>
              <a:t>bwlq</a:t>
            </a:r>
            <a:r>
              <a:rPr kumimoji="1" lang="en-US" altLang="zh-CN" dirty="0"/>
              <a:t>}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729233"/>
              </p:ext>
            </p:extLst>
          </p:nvPr>
        </p:nvGraphicFramePr>
        <p:xfrm>
          <a:off x="378796" y="1726504"/>
          <a:ext cx="8308004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828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5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="1" dirty="0" err="1">
                          <a:latin typeface="Arial"/>
                          <a:cs typeface="Arial"/>
                        </a:rPr>
                        <a:t>movb</a:t>
                      </a:r>
                      <a:r>
                        <a:rPr lang="en-US" altLang="zh-CN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dirty="0" err="1">
                          <a:latin typeface="Arial"/>
                          <a:cs typeface="Arial"/>
                        </a:rPr>
                        <a:t>src</a:t>
                      </a:r>
                      <a:r>
                        <a:rPr lang="en-US" altLang="zh-CN" dirty="0">
                          <a:latin typeface="Arial"/>
                          <a:cs typeface="Arial"/>
                        </a:rPr>
                        <a:t>,</a:t>
                      </a:r>
                      <a:r>
                        <a:rPr lang="en-US" altLang="zh-CN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baseline="0" dirty="0" err="1">
                          <a:latin typeface="Arial"/>
                          <a:cs typeface="Arial"/>
                        </a:rPr>
                        <a:t>dest</a:t>
                      </a:r>
                      <a:endParaRPr lang="zh-CN" altLang="en-US" dirty="0">
                        <a:latin typeface="Arial"/>
                        <a:cs typeface="Arial"/>
                      </a:endParaRPr>
                    </a:p>
                    <a:p>
                      <a:pPr algn="l"/>
                      <a:endParaRPr lang="zh-CN" altLang="en-US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Copy a </a:t>
                      </a:r>
                      <a:r>
                        <a:rPr kumimoji="1" lang="en-US" altLang="zh-CN" b="1" dirty="0">
                          <a:latin typeface="Arial"/>
                          <a:cs typeface="Arial"/>
                        </a:rPr>
                        <a:t>byte</a:t>
                      </a:r>
                      <a:r>
                        <a:rPr kumimoji="1" lang="en-US" altLang="zh-CN" b="1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from the source operand to the destination operand. e.g., </a:t>
                      </a:r>
                      <a:r>
                        <a:rPr kumimoji="1" lang="en-US" altLang="zh-CN" b="1" dirty="0" err="1">
                          <a:latin typeface="Arial"/>
                          <a:cs typeface="Arial"/>
                        </a:rPr>
                        <a:t>movb</a:t>
                      </a:r>
                      <a:r>
                        <a:rPr kumimoji="1" lang="en-US" altLang="zh-CN" b="0" dirty="0">
                          <a:latin typeface="Arial"/>
                          <a:cs typeface="Arial"/>
                        </a:rPr>
                        <a:t> %al, %</a:t>
                      </a:r>
                      <a:r>
                        <a:rPr kumimoji="1" lang="en-US" altLang="zh-CN" b="0" dirty="0" err="1">
                          <a:latin typeface="Arial"/>
                          <a:cs typeface="Arial"/>
                        </a:rPr>
                        <a:t>bl</a:t>
                      </a:r>
                      <a:endParaRPr kumimoji="1" lang="en-US" altLang="zh-CN" b="0" dirty="0">
                        <a:latin typeface="Arial"/>
                        <a:cs typeface="Arial"/>
                      </a:endParaRPr>
                    </a:p>
                    <a:p>
                      <a:pPr algn="l"/>
                      <a:endParaRPr lang="zh-CN" altLang="en-US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="1" dirty="0" err="1">
                          <a:latin typeface="Arial"/>
                          <a:cs typeface="Arial"/>
                        </a:rPr>
                        <a:t>movw</a:t>
                      </a:r>
                      <a:r>
                        <a:rPr lang="en-US" altLang="zh-CN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dirty="0" err="1">
                          <a:latin typeface="Arial"/>
                          <a:cs typeface="Arial"/>
                        </a:rPr>
                        <a:t>src</a:t>
                      </a:r>
                      <a:r>
                        <a:rPr lang="en-US" altLang="zh-CN" dirty="0">
                          <a:latin typeface="Arial"/>
                          <a:cs typeface="Arial"/>
                        </a:rPr>
                        <a:t>,</a:t>
                      </a:r>
                      <a:r>
                        <a:rPr lang="en-US" altLang="zh-CN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baseline="0" dirty="0" err="1">
                          <a:latin typeface="Arial"/>
                          <a:cs typeface="Arial"/>
                        </a:rPr>
                        <a:t>dest</a:t>
                      </a:r>
                      <a:endParaRPr lang="zh-CN" altLang="en-US" dirty="0">
                        <a:latin typeface="Arial"/>
                        <a:cs typeface="Arial"/>
                      </a:endParaRPr>
                    </a:p>
                    <a:p>
                      <a:pPr algn="l"/>
                      <a:endParaRPr lang="zh-CN" altLang="en-US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Copy a </a:t>
                      </a:r>
                      <a:r>
                        <a:rPr kumimoji="1" lang="en-US" altLang="zh-CN" b="1" dirty="0">
                          <a:latin typeface="Arial"/>
                          <a:cs typeface="Arial"/>
                        </a:rPr>
                        <a:t>word</a:t>
                      </a:r>
                      <a:r>
                        <a:rPr kumimoji="1" lang="en-US" altLang="zh-CN" b="1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from the source operand to the destination operand.</a:t>
                      </a:r>
                      <a:r>
                        <a:rPr kumimoji="1" lang="en-US" altLang="zh-CN" b="1" dirty="0">
                          <a:latin typeface="Arial"/>
                          <a:cs typeface="Arial"/>
                        </a:rPr>
                        <a:t> </a:t>
                      </a: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e.g., </a:t>
                      </a:r>
                      <a:r>
                        <a:rPr kumimoji="1" lang="en-US" altLang="zh-CN" b="1" dirty="0">
                          <a:latin typeface="Arial"/>
                          <a:cs typeface="Arial"/>
                        </a:rPr>
                        <a:t> </a:t>
                      </a:r>
                      <a:r>
                        <a:rPr kumimoji="1" lang="en-US" altLang="zh-CN" b="1" dirty="0" err="1">
                          <a:latin typeface="Arial"/>
                          <a:cs typeface="Arial"/>
                        </a:rPr>
                        <a:t>movw</a:t>
                      </a:r>
                      <a:r>
                        <a:rPr kumimoji="1" lang="en-US" altLang="zh-CN" b="0" dirty="0">
                          <a:latin typeface="Arial"/>
                          <a:cs typeface="Arial"/>
                        </a:rPr>
                        <a:t> %ax, %</a:t>
                      </a:r>
                      <a:r>
                        <a:rPr kumimoji="1" lang="en-US" altLang="zh-CN" b="0" dirty="0" err="1">
                          <a:latin typeface="Arial"/>
                          <a:cs typeface="Arial"/>
                        </a:rPr>
                        <a:t>bx</a:t>
                      </a:r>
                      <a:endParaRPr kumimoji="1" lang="en-US" altLang="zh-CN" dirty="0">
                        <a:latin typeface="Arial"/>
                        <a:cs typeface="Arial"/>
                      </a:endParaRPr>
                    </a:p>
                    <a:p>
                      <a:pPr algn="l"/>
                      <a:endParaRPr lang="zh-CN" altLang="en-US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="1" dirty="0" err="1">
                          <a:latin typeface="Arial"/>
                          <a:cs typeface="Arial"/>
                        </a:rPr>
                        <a:t>movl</a:t>
                      </a:r>
                      <a:r>
                        <a:rPr lang="en-US" altLang="zh-CN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dirty="0" err="1">
                          <a:latin typeface="Arial"/>
                          <a:cs typeface="Arial"/>
                        </a:rPr>
                        <a:t>src</a:t>
                      </a:r>
                      <a:r>
                        <a:rPr lang="en-US" altLang="zh-CN" dirty="0">
                          <a:latin typeface="Arial"/>
                          <a:cs typeface="Arial"/>
                        </a:rPr>
                        <a:t>,</a:t>
                      </a:r>
                      <a:r>
                        <a:rPr lang="en-US" altLang="zh-CN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baseline="0" dirty="0" err="1">
                          <a:latin typeface="Arial"/>
                          <a:cs typeface="Arial"/>
                        </a:rPr>
                        <a:t>dest</a:t>
                      </a:r>
                      <a:endParaRPr lang="zh-CN" altLang="en-US" dirty="0">
                        <a:latin typeface="Arial"/>
                        <a:cs typeface="Arial"/>
                      </a:endParaRPr>
                    </a:p>
                    <a:p>
                      <a:pPr algn="l"/>
                      <a:endParaRPr lang="zh-CN" altLang="en-US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Copy a </a:t>
                      </a:r>
                      <a:r>
                        <a:rPr kumimoji="1" lang="en-US" altLang="zh-CN" b="1" dirty="0">
                          <a:latin typeface="Arial"/>
                          <a:cs typeface="Arial"/>
                        </a:rPr>
                        <a:t>long </a:t>
                      </a:r>
                      <a:r>
                        <a:rPr kumimoji="1" lang="en-US" altLang="zh-CN" b="0" dirty="0">
                          <a:latin typeface="Arial"/>
                          <a:cs typeface="Arial"/>
                        </a:rPr>
                        <a:t>(32 bits) </a:t>
                      </a: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from the source operand to the destination operand. e.g., </a:t>
                      </a:r>
                      <a:r>
                        <a:rPr kumimoji="1" lang="en-US" altLang="zh-CN" b="1" dirty="0" err="1">
                          <a:latin typeface="Arial"/>
                          <a:cs typeface="Arial"/>
                        </a:rPr>
                        <a:t>movl</a:t>
                      </a:r>
                      <a:r>
                        <a:rPr kumimoji="1" lang="en-US" altLang="zh-CN" b="0" dirty="0">
                          <a:latin typeface="Arial"/>
                          <a:cs typeface="Arial"/>
                        </a:rPr>
                        <a:t> %</a:t>
                      </a:r>
                      <a:r>
                        <a:rPr kumimoji="1" lang="en-US" altLang="zh-CN" b="0" dirty="0" err="1">
                          <a:latin typeface="Arial"/>
                          <a:cs typeface="Arial"/>
                        </a:rPr>
                        <a:t>eax</a:t>
                      </a:r>
                      <a:r>
                        <a:rPr kumimoji="1" lang="en-US" altLang="zh-CN" b="0" dirty="0">
                          <a:latin typeface="Arial"/>
                          <a:cs typeface="Arial"/>
                        </a:rPr>
                        <a:t>, %</a:t>
                      </a:r>
                      <a:r>
                        <a:rPr kumimoji="1" lang="en-US" altLang="zh-CN" b="0" dirty="0" err="1">
                          <a:latin typeface="Arial"/>
                          <a:cs typeface="Arial"/>
                        </a:rPr>
                        <a:t>ebx</a:t>
                      </a:r>
                      <a:endParaRPr kumimoji="1" lang="en-US" altLang="zh-CN" dirty="0">
                        <a:latin typeface="Arial"/>
                        <a:cs typeface="Arial"/>
                      </a:endParaRP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CN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b="1" dirty="0" err="1">
                          <a:latin typeface="Arial"/>
                          <a:cs typeface="Arial"/>
                        </a:rPr>
                        <a:t>movq</a:t>
                      </a:r>
                      <a:r>
                        <a:rPr lang="en-US" altLang="zh-CN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dirty="0" err="1">
                          <a:latin typeface="Arial"/>
                          <a:cs typeface="Arial"/>
                        </a:rPr>
                        <a:t>src</a:t>
                      </a:r>
                      <a:r>
                        <a:rPr lang="en-US" altLang="zh-CN" dirty="0">
                          <a:latin typeface="Arial"/>
                          <a:cs typeface="Arial"/>
                        </a:rPr>
                        <a:t>,</a:t>
                      </a:r>
                      <a:r>
                        <a:rPr lang="en-US" altLang="zh-CN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baseline="0" dirty="0" err="1">
                          <a:latin typeface="Arial"/>
                          <a:cs typeface="Arial"/>
                        </a:rPr>
                        <a:t>dest</a:t>
                      </a:r>
                      <a:endParaRPr lang="zh-CN" altLang="en-US" dirty="0">
                        <a:latin typeface="Arial"/>
                        <a:cs typeface="Arial"/>
                      </a:endParaRPr>
                    </a:p>
                    <a:p>
                      <a:pPr algn="l"/>
                      <a:endParaRPr lang="zh-CN" altLang="en-US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Copy a </a:t>
                      </a:r>
                      <a:r>
                        <a:rPr kumimoji="1" lang="en-US" altLang="zh-CN" b="1" dirty="0" err="1">
                          <a:latin typeface="Arial"/>
                          <a:cs typeface="Arial"/>
                        </a:rPr>
                        <a:t>quadword</a:t>
                      </a:r>
                      <a:r>
                        <a:rPr kumimoji="1" lang="en-US" altLang="zh-CN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kumimoji="1" lang="en-US" altLang="zh-CN" dirty="0">
                          <a:latin typeface="Arial"/>
                          <a:cs typeface="Arial"/>
                        </a:rPr>
                        <a:t>from the source operand to the destination operand. e.g., </a:t>
                      </a:r>
                      <a:r>
                        <a:rPr kumimoji="1" lang="en-US" altLang="zh-CN" b="1" dirty="0" err="1">
                          <a:latin typeface="Arial"/>
                          <a:cs typeface="Arial"/>
                        </a:rPr>
                        <a:t>movq</a:t>
                      </a:r>
                      <a:r>
                        <a:rPr kumimoji="1" lang="en-US" altLang="zh-CN" b="0" dirty="0">
                          <a:latin typeface="Arial"/>
                          <a:cs typeface="Arial"/>
                        </a:rPr>
                        <a:t> %</a:t>
                      </a:r>
                      <a:r>
                        <a:rPr kumimoji="1" lang="en-US" altLang="zh-CN" b="0" dirty="0" err="1">
                          <a:latin typeface="Arial"/>
                          <a:cs typeface="Arial"/>
                        </a:rPr>
                        <a:t>rax</a:t>
                      </a:r>
                      <a:r>
                        <a:rPr kumimoji="1" lang="en-US" altLang="zh-CN" b="0" dirty="0">
                          <a:latin typeface="Arial"/>
                          <a:cs typeface="Arial"/>
                        </a:rPr>
                        <a:t>, %</a:t>
                      </a:r>
                      <a:r>
                        <a:rPr kumimoji="1" lang="en-US" altLang="zh-CN" b="0" dirty="0" err="1">
                          <a:latin typeface="Arial"/>
                          <a:cs typeface="Arial"/>
                        </a:rPr>
                        <a:t>rbx</a:t>
                      </a:r>
                      <a:endParaRPr kumimoji="1" lang="en-US" altLang="zh-CN" dirty="0">
                        <a:latin typeface="Arial"/>
                        <a:cs typeface="Arial"/>
                      </a:endParaRP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zh-CN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47308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The lea instruction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b="1" dirty="0" err="1"/>
              <a:t>leaq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Source, </a:t>
            </a:r>
            <a:r>
              <a:rPr kumimoji="1" lang="en-US" altLang="zh-CN" i="1" dirty="0" err="1"/>
              <a:t>Dest</a:t>
            </a:r>
            <a:r>
              <a:rPr kumimoji="1" lang="en-US" altLang="zh-CN" dirty="0"/>
              <a:t> </a:t>
            </a:r>
          </a:p>
          <a:p>
            <a:pPr lvl="1"/>
            <a:r>
              <a:rPr kumimoji="1" lang="en-US" altLang="zh-CN" dirty="0"/>
              <a:t>load effective address: set </a:t>
            </a:r>
            <a:r>
              <a:rPr kumimoji="1" lang="en-US" altLang="zh-CN" i="1" dirty="0" err="1"/>
              <a:t>Dest</a:t>
            </a:r>
            <a:r>
              <a:rPr kumimoji="1" lang="en-US" altLang="zh-CN" dirty="0"/>
              <a:t> to the address denoted by </a:t>
            </a:r>
            <a:r>
              <a:rPr kumimoji="1" lang="en-US" altLang="zh-CN" i="1" dirty="0"/>
              <a:t>Source </a:t>
            </a:r>
            <a:r>
              <a:rPr kumimoji="1" lang="en-US" altLang="zh-CN" dirty="0"/>
              <a:t>address mode expression</a:t>
            </a:r>
          </a:p>
          <a:p>
            <a:pPr marL="457200" lvl="1" indent="0">
              <a:buNone/>
            </a:pP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pPr lvl="1"/>
            <a:endParaRPr kumimoji="1" lang="en-US" altLang="zh-CN" dirty="0"/>
          </a:p>
          <a:p>
            <a:endParaRPr kumimoji="1" lang="zh-CN" altLang="en-US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13591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03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1784194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784194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bx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rcx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784194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84194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dirty="0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88564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92933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300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00514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200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514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100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0514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00129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784194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200" b="1" dirty="0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  8(%rdi)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%r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bx</a:t>
            </a:r>
            <a:endParaRPr lang="mr-IN" altLang="zh-CN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744435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3930820" y="288857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1779383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784096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70798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359559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59559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359559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359559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59559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70798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372447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4" name="矩形 73"/>
          <p:cNvSpPr/>
          <p:nvPr/>
        </p:nvSpPr>
        <p:spPr>
          <a:xfrm>
            <a:off x="376817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366287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6" name="矩形 75"/>
          <p:cNvSpPr/>
          <p:nvPr/>
        </p:nvSpPr>
        <p:spPr>
          <a:xfrm>
            <a:off x="389506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101194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03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1784194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784194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bx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rcx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784194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84194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dirty="0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88564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92933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300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00514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200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514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100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0514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00129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784194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200" b="1" dirty="0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  8(%rdi)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%r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bx</a:t>
            </a:r>
            <a:endParaRPr lang="mr-IN" altLang="zh-CN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744435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3930820" y="288857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1779383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784096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70798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359559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59559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359559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359559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59559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70798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372447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4" name="矩形 73"/>
          <p:cNvSpPr/>
          <p:nvPr/>
        </p:nvSpPr>
        <p:spPr>
          <a:xfrm>
            <a:off x="376817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366287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6" name="矩形 75"/>
          <p:cNvSpPr/>
          <p:nvPr/>
        </p:nvSpPr>
        <p:spPr>
          <a:xfrm>
            <a:off x="389506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551475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 common usage of </a:t>
            </a:r>
            <a:r>
              <a:rPr kumimoji="1" lang="en-US" altLang="zh-CN" dirty="0" err="1"/>
              <a:t>leaq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Compute expressions: x + K*y + d (K=1, 2, 4, or 8)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457200" y="3012719"/>
            <a:ext cx="26895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Consolas"/>
                <a:cs typeface="Consolas"/>
              </a:rPr>
              <a:t>long m3(long x)</a:t>
            </a:r>
          </a:p>
          <a:p>
            <a:r>
              <a:rPr lang="en-US" altLang="zh-CN" dirty="0">
                <a:latin typeface="Consolas"/>
                <a:cs typeface="Consolas"/>
              </a:rPr>
              <a:t>{</a:t>
            </a:r>
          </a:p>
          <a:p>
            <a:r>
              <a:rPr lang="en-US" altLang="zh-CN" dirty="0">
                <a:latin typeface="Consolas"/>
                <a:cs typeface="Consolas"/>
              </a:rPr>
              <a:t>  return x*3;</a:t>
            </a:r>
          </a:p>
          <a:p>
            <a:r>
              <a:rPr lang="en-US" altLang="zh-CN" dirty="0">
                <a:latin typeface="Consolas"/>
                <a:cs typeface="Consolas"/>
              </a:rPr>
              <a:t>}</a:t>
            </a:r>
          </a:p>
        </p:txBody>
      </p:sp>
      <p:sp>
        <p:nvSpPr>
          <p:cNvPr id="7" name="右箭头 6"/>
          <p:cNvSpPr/>
          <p:nvPr/>
        </p:nvSpPr>
        <p:spPr>
          <a:xfrm>
            <a:off x="3331436" y="3030521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681553" y="3050214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mr-IN" altLang="zh-CN" dirty="0">
              <a:latin typeface="Consolas"/>
              <a:cs typeface="Consolas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780534" y="4766004"/>
            <a:ext cx="480281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 dirty="0">
                <a:latin typeface="Arial"/>
                <a:cs typeface="Arial"/>
              </a:rPr>
              <a:t>Assume %</a:t>
            </a:r>
            <a:r>
              <a:rPr lang="en-US" altLang="zh-CN" sz="2400" b="1" dirty="0" err="1">
                <a:latin typeface="Arial"/>
                <a:cs typeface="Arial"/>
              </a:rPr>
              <a:t>rdi</a:t>
            </a:r>
            <a:r>
              <a:rPr lang="en-US" altLang="zh-CN" sz="2400" b="1" dirty="0">
                <a:latin typeface="Arial"/>
                <a:cs typeface="Arial"/>
              </a:rPr>
              <a:t> has the value of x</a:t>
            </a:r>
            <a:endParaRPr lang="zh-CN" altLang="en-US" sz="2400" b="1" dirty="0">
              <a:latin typeface="Arial"/>
              <a:cs typeface="Arial"/>
            </a:endParaRPr>
          </a:p>
        </p:txBody>
      </p:sp>
      <p:sp>
        <p:nvSpPr>
          <p:cNvPr id="9" name="矩形 7"/>
          <p:cNvSpPr/>
          <p:nvPr/>
        </p:nvSpPr>
        <p:spPr>
          <a:xfrm>
            <a:off x="4833953" y="3202614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>
                <a:latin typeface="Consolas"/>
                <a:cs typeface="Consolas"/>
              </a:rPr>
              <a:t>leaq </a:t>
            </a:r>
            <a:r>
              <a:rPr lang="mr-IN" altLang="zh-CN" dirty="0">
                <a:latin typeface="Consolas"/>
                <a:cs typeface="Consolas"/>
              </a:rPr>
              <a:t>(%rdi, %rdi,2), %rax</a:t>
            </a:r>
          </a:p>
        </p:txBody>
      </p:sp>
    </p:spTree>
    <p:extLst>
      <p:ext uri="{BB962C8B-B14F-4D97-AF65-F5344CB8AC3E}">
        <p14:creationId xmlns:p14="http://schemas.microsoft.com/office/powerpoint/2010/main" val="2232686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 dirty="0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11828" y="2361322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sz="1800" dirty="0" err="1">
                <a:latin typeface="Consolas"/>
                <a:cs typeface="Consolas"/>
              </a:rPr>
              <a:t>leaq</a:t>
            </a:r>
            <a:r>
              <a:rPr lang="en-US" sz="1800" dirty="0">
                <a:latin typeface="Consolas"/>
                <a:cs typeface="Consolas"/>
              </a:rPr>
              <a:t>	(%rdi,%rsi,2), %</a:t>
            </a:r>
            <a:r>
              <a:rPr lang="en-US" sz="1800" dirty="0" err="1">
                <a:latin typeface="Consolas"/>
                <a:cs typeface="Consolas"/>
              </a:rPr>
              <a:t>rax</a:t>
            </a:r>
            <a:endParaRPr lang="en-US" sz="1800" dirty="0">
              <a:latin typeface="Consolas"/>
              <a:cs typeface="Consolas"/>
            </a:endParaRPr>
          </a:p>
          <a:p>
            <a:r>
              <a:rPr lang="en-US" sz="1800" dirty="0" err="1">
                <a:latin typeface="Consolas"/>
                <a:cs typeface="Consolas"/>
              </a:rPr>
              <a:t>leaq</a:t>
            </a:r>
            <a:r>
              <a:rPr lang="en-US" sz="1800" dirty="0">
                <a:latin typeface="Consolas"/>
                <a:cs typeface="Consolas"/>
              </a:rPr>
              <a:t>	(%rax,%rax,4), %</a:t>
            </a:r>
            <a:r>
              <a:rPr lang="en-US" sz="1800" dirty="0" err="1">
                <a:latin typeface="Consolas"/>
                <a:cs typeface="Consolas"/>
              </a:rPr>
              <a:t>rax</a:t>
            </a:r>
            <a:endParaRPr lang="en-US" sz="1800" dirty="0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914400" y="1392439"/>
            <a:ext cx="742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/>
                <a:cs typeface="Arial"/>
              </a:rPr>
              <a:t>Suppose %</a:t>
            </a:r>
            <a:r>
              <a:rPr lang="en-US" sz="2000" dirty="0" err="1">
                <a:latin typeface="Arial"/>
                <a:cs typeface="Arial"/>
              </a:rPr>
              <a:t>rdi</a:t>
            </a:r>
            <a:r>
              <a:rPr lang="en-US" sz="2000" dirty="0">
                <a:latin typeface="Arial"/>
                <a:cs typeface="Arial"/>
              </a:rPr>
              <a:t>, %</a:t>
            </a:r>
            <a:r>
              <a:rPr lang="en-US" sz="2000" dirty="0" err="1">
                <a:latin typeface="Arial"/>
                <a:cs typeface="Arial"/>
              </a:rPr>
              <a:t>rsi</a:t>
            </a:r>
            <a:r>
              <a:rPr lang="en-US" sz="2000" dirty="0">
                <a:latin typeface="Arial"/>
                <a:cs typeface="Arial"/>
              </a:rPr>
              <a:t>, %</a:t>
            </a:r>
            <a:r>
              <a:rPr lang="en-US" sz="2000" dirty="0" err="1">
                <a:latin typeface="Arial"/>
                <a:cs typeface="Arial"/>
              </a:rPr>
              <a:t>rax</a:t>
            </a:r>
            <a:r>
              <a:rPr lang="en-US" sz="2000" dirty="0">
                <a:latin typeface="Arial"/>
                <a:cs typeface="Arial"/>
              </a:rPr>
              <a:t> contains variable x, y, s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268910" y="1974247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/>
                <a:cs typeface="Consolas"/>
              </a:rPr>
              <a:t>l</a:t>
            </a:r>
            <a:r>
              <a:rPr lang="en-US" sz="1800" dirty="0">
                <a:latin typeface="Consolas"/>
                <a:cs typeface="Consolas"/>
              </a:rPr>
              <a:t>ong</a:t>
            </a:r>
            <a:r>
              <a:rPr lang="en-US" dirty="0">
                <a:latin typeface="Consolas"/>
                <a:cs typeface="Consolas"/>
              </a:rPr>
              <a:t> </a:t>
            </a:r>
            <a:r>
              <a:rPr lang="en-US" sz="1800" dirty="0">
                <a:latin typeface="Consolas"/>
                <a:cs typeface="Consolas"/>
              </a:rPr>
              <a:t>f(long x, long y)</a:t>
            </a:r>
          </a:p>
          <a:p>
            <a:r>
              <a:rPr lang="en-US" sz="1800" dirty="0">
                <a:latin typeface="Consolas"/>
                <a:cs typeface="Consolas"/>
              </a:rPr>
              <a:t>{</a:t>
            </a:r>
          </a:p>
          <a:p>
            <a:r>
              <a:rPr lang="en-US" sz="1800" dirty="0">
                <a:latin typeface="Consolas"/>
                <a:cs typeface="Consolas"/>
              </a:rPr>
              <a:t>	long s = 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??</a:t>
            </a:r>
            <a:r>
              <a:rPr lang="en-US" sz="1800" dirty="0">
                <a:latin typeface="Consolas"/>
                <a:cs typeface="Consolas"/>
              </a:rPr>
              <a:t>;</a:t>
            </a:r>
          </a:p>
          <a:p>
            <a:r>
              <a:rPr lang="da-DK" sz="1800" dirty="0">
                <a:latin typeface="Consolas"/>
                <a:cs typeface="Consolas"/>
              </a:rPr>
              <a:t>   </a:t>
            </a:r>
            <a:r>
              <a:rPr lang="da-DK" dirty="0">
                <a:latin typeface="Consolas"/>
                <a:cs typeface="Consolas"/>
              </a:rPr>
              <a:t> </a:t>
            </a:r>
            <a:r>
              <a:rPr lang="da-DK" sz="1800" dirty="0">
                <a:latin typeface="Consolas"/>
                <a:cs typeface="Consolas"/>
              </a:rPr>
              <a:t>return s;</a:t>
            </a:r>
          </a:p>
          <a:p>
            <a:r>
              <a:rPr lang="da-DK" sz="1800" dirty="0">
                <a:latin typeface="Consolas"/>
                <a:cs typeface="Consolas"/>
              </a:rPr>
              <a:t>}</a:t>
            </a:r>
            <a:endParaRPr lang="en-US" sz="1800" dirty="0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4111309" y="2451246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950205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 dirty="0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11828" y="2361322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sz="1800" dirty="0" err="1">
                <a:latin typeface="Consolas"/>
                <a:cs typeface="Consolas"/>
              </a:rPr>
              <a:t>leaq</a:t>
            </a:r>
            <a:r>
              <a:rPr lang="en-US" sz="1800" dirty="0">
                <a:latin typeface="Consolas"/>
                <a:cs typeface="Consolas"/>
              </a:rPr>
              <a:t>	(%rdi,%rsi,2), %</a:t>
            </a:r>
            <a:r>
              <a:rPr lang="en-US" sz="1800" dirty="0" err="1">
                <a:latin typeface="Consolas"/>
                <a:cs typeface="Consolas"/>
              </a:rPr>
              <a:t>rax</a:t>
            </a:r>
            <a:endParaRPr lang="en-US" sz="1800" dirty="0">
              <a:latin typeface="Consolas"/>
              <a:cs typeface="Consolas"/>
            </a:endParaRPr>
          </a:p>
          <a:p>
            <a:r>
              <a:rPr lang="en-US" sz="1800" dirty="0" err="1">
                <a:latin typeface="Consolas"/>
                <a:cs typeface="Consolas"/>
              </a:rPr>
              <a:t>leaq</a:t>
            </a:r>
            <a:r>
              <a:rPr lang="en-US" sz="1800" dirty="0">
                <a:latin typeface="Consolas"/>
                <a:cs typeface="Consolas"/>
              </a:rPr>
              <a:t>	(%rax,%rax,4), %</a:t>
            </a:r>
            <a:r>
              <a:rPr lang="en-US" sz="1800" dirty="0" err="1">
                <a:latin typeface="Consolas"/>
                <a:cs typeface="Consolas"/>
              </a:rPr>
              <a:t>rax</a:t>
            </a:r>
            <a:endParaRPr lang="en-US" sz="1800" dirty="0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914400" y="1392439"/>
            <a:ext cx="742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/>
                <a:cs typeface="Arial"/>
              </a:rPr>
              <a:t>Suppose %</a:t>
            </a:r>
            <a:r>
              <a:rPr lang="en-US" sz="2000" dirty="0" err="1">
                <a:latin typeface="Arial"/>
                <a:cs typeface="Arial"/>
              </a:rPr>
              <a:t>rdi</a:t>
            </a:r>
            <a:r>
              <a:rPr lang="en-US" sz="2000" dirty="0">
                <a:latin typeface="Arial"/>
                <a:cs typeface="Arial"/>
              </a:rPr>
              <a:t>, %</a:t>
            </a:r>
            <a:r>
              <a:rPr lang="en-US" sz="2000" dirty="0" err="1">
                <a:latin typeface="Arial"/>
                <a:cs typeface="Arial"/>
              </a:rPr>
              <a:t>rsi</a:t>
            </a:r>
            <a:r>
              <a:rPr lang="en-US" sz="2000" dirty="0">
                <a:latin typeface="Arial"/>
                <a:cs typeface="Arial"/>
              </a:rPr>
              <a:t>, %</a:t>
            </a:r>
            <a:r>
              <a:rPr lang="en-US" sz="2000" dirty="0" err="1">
                <a:latin typeface="Arial"/>
                <a:cs typeface="Arial"/>
              </a:rPr>
              <a:t>rax</a:t>
            </a:r>
            <a:r>
              <a:rPr lang="en-US" sz="2000" dirty="0">
                <a:latin typeface="Arial"/>
                <a:cs typeface="Arial"/>
              </a:rPr>
              <a:t> contains variable x, y, s </a:t>
            </a:r>
            <a:r>
              <a:rPr lang="en-US" sz="2000" dirty="0" err="1">
                <a:latin typeface="Arial"/>
                <a:cs typeface="Arial"/>
              </a:rPr>
              <a:t>respsectively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68910" y="1974247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/>
                <a:cs typeface="Consolas"/>
              </a:rPr>
              <a:t>l</a:t>
            </a:r>
            <a:r>
              <a:rPr lang="en-US" sz="1800" dirty="0">
                <a:latin typeface="Consolas"/>
                <a:cs typeface="Consolas"/>
              </a:rPr>
              <a:t>ong</a:t>
            </a:r>
            <a:r>
              <a:rPr lang="en-US" dirty="0">
                <a:latin typeface="Consolas"/>
                <a:cs typeface="Consolas"/>
              </a:rPr>
              <a:t> </a:t>
            </a:r>
            <a:r>
              <a:rPr lang="en-US" sz="1800" dirty="0">
                <a:latin typeface="Consolas"/>
                <a:cs typeface="Consolas"/>
              </a:rPr>
              <a:t>f(long x, long y)</a:t>
            </a:r>
          </a:p>
          <a:p>
            <a:r>
              <a:rPr lang="en-US" sz="1800" dirty="0">
                <a:latin typeface="Consolas"/>
                <a:cs typeface="Consolas"/>
              </a:rPr>
              <a:t>{</a:t>
            </a:r>
          </a:p>
          <a:p>
            <a:r>
              <a:rPr lang="en-US" sz="1800" dirty="0">
                <a:latin typeface="Consolas"/>
                <a:cs typeface="Consolas"/>
              </a:rPr>
              <a:t>	long s = 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5(x + 2y)</a:t>
            </a:r>
            <a:r>
              <a:rPr lang="en-US" sz="1800" dirty="0">
                <a:latin typeface="Consolas"/>
                <a:cs typeface="Consolas"/>
              </a:rPr>
              <a:t>;</a:t>
            </a:r>
          </a:p>
          <a:p>
            <a:r>
              <a:rPr lang="da-DK" sz="1800" dirty="0">
                <a:latin typeface="Consolas"/>
                <a:cs typeface="Consolas"/>
              </a:rPr>
              <a:t>   </a:t>
            </a:r>
            <a:r>
              <a:rPr lang="da-DK" dirty="0">
                <a:latin typeface="Consolas"/>
                <a:cs typeface="Consolas"/>
              </a:rPr>
              <a:t> </a:t>
            </a:r>
            <a:r>
              <a:rPr lang="da-DK" sz="1800" dirty="0">
                <a:latin typeface="Consolas"/>
                <a:cs typeface="Consolas"/>
              </a:rPr>
              <a:t>return s;</a:t>
            </a:r>
          </a:p>
          <a:p>
            <a:r>
              <a:rPr lang="da-DK" sz="1800" dirty="0">
                <a:latin typeface="Consolas"/>
                <a:cs typeface="Consolas"/>
              </a:rPr>
              <a:t>}</a:t>
            </a:r>
            <a:endParaRPr lang="en-US" sz="1800" dirty="0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4111309" y="2451246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3150828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 dirty="0"/>
              <a:t>Basic Arithmetic Operations</a:t>
            </a:r>
          </a:p>
        </p:txBody>
      </p:sp>
      <p:sp>
        <p:nvSpPr>
          <p:cNvPr id="8" name="Rectangle 4"/>
          <p:cNvSpPr txBox="1">
            <a:spLocks noChangeArrowheads="1"/>
          </p:cNvSpPr>
          <p:nvPr/>
        </p:nvSpPr>
        <p:spPr>
          <a:xfrm>
            <a:off x="396875" y="1362075"/>
            <a:ext cx="7896225" cy="4972050"/>
          </a:xfrm>
          <a:prstGeom prst="rect">
            <a:avLst/>
          </a:prstGeom>
          <a:ln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2" indent="0">
              <a:buFont typeface="Arial" pitchFamily="34" charset="0"/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addq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</a:t>
            </a:r>
            <a:r>
              <a:rPr lang="en-US" dirty="0">
                <a:ea typeface="Calibri Italic" charset="0"/>
                <a:sym typeface="Calibri Italic" charset="0"/>
              </a:rPr>
              <a:t>, 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+ </a:t>
            </a:r>
            <a:r>
              <a:rPr lang="en-US" dirty="0" err="1"/>
              <a:t>Src</a:t>
            </a:r>
            <a:endParaRPr lang="en-US" dirty="0"/>
          </a:p>
          <a:p>
            <a:pPr marL="285750" lvl="2" indent="0">
              <a:buFont typeface="Arial" pitchFamily="34" charset="0"/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subq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</a:t>
            </a:r>
            <a:r>
              <a:rPr lang="en-US" dirty="0">
                <a:ea typeface="Calibri Italic" charset="0"/>
                <a:sym typeface="Calibri Italic" charset="0"/>
              </a:rPr>
              <a:t>, 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</a:t>
            </a:r>
            <a:r>
              <a:rPr lang="en-US" dirty="0">
                <a:ea typeface="Calibri Italic" charset="0"/>
                <a:sym typeface="Symbol"/>
              </a:rPr>
              <a:t></a:t>
            </a:r>
            <a:r>
              <a:rPr lang="en-US" dirty="0"/>
              <a:t> </a:t>
            </a:r>
            <a:r>
              <a:rPr lang="en-US" dirty="0" err="1"/>
              <a:t>Src</a:t>
            </a:r>
            <a:endParaRPr lang="en-US" dirty="0"/>
          </a:p>
          <a:p>
            <a:pPr marL="285750" lvl="2" indent="0">
              <a:buFont typeface="Arial" pitchFamily="34" charset="0"/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imulq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</a:t>
            </a:r>
            <a:r>
              <a:rPr lang="en-US" dirty="0">
                <a:ea typeface="Calibri Italic" charset="0"/>
                <a:sym typeface="Calibri Italic" charset="0"/>
              </a:rPr>
              <a:t>, 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* </a:t>
            </a:r>
            <a:r>
              <a:rPr lang="en-US" dirty="0" err="1"/>
              <a:t>Src</a:t>
            </a:r>
            <a:endParaRPr lang="en-US" dirty="0"/>
          </a:p>
          <a:p>
            <a:pPr marL="285750" lvl="2" indent="0">
              <a:buFont typeface="Arial" pitchFamily="34" charset="0"/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 dirty="0">
              <a:sym typeface="Courier New Bold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dirty="0" err="1">
                <a:sym typeface="Courier New Bold" charset="0"/>
              </a:rPr>
              <a:t>incq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sym typeface="Calibri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ea typeface="Calibri Italic" charset="0"/>
                <a:sym typeface="Calibri Italic" charset="0"/>
              </a:rPr>
              <a:t> = 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ea typeface="Calibri Italic" charset="0"/>
                <a:sym typeface="Calibri Italic" charset="0"/>
              </a:rPr>
              <a:t> + 1</a:t>
            </a:r>
            <a:endParaRPr lang="en-US" dirty="0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dirty="0" err="1">
                <a:sym typeface="Courier New Bold" charset="0"/>
              </a:rPr>
              <a:t>decq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sym typeface="Calibri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ea typeface="Calibri Italic" charset="0"/>
                <a:sym typeface="Calibri Italic" charset="0"/>
              </a:rPr>
              <a:t> = 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ea typeface="Calibri Italic" charset="0"/>
                <a:sym typeface="Calibri Italic" charset="0"/>
              </a:rPr>
              <a:t> </a:t>
            </a:r>
            <a:r>
              <a:rPr lang="en-US" dirty="0">
                <a:ea typeface="Calibri Italic" charset="0"/>
                <a:sym typeface="Symbol"/>
              </a:rPr>
              <a:t></a:t>
            </a:r>
            <a:r>
              <a:rPr lang="en-US" dirty="0">
                <a:ea typeface="Calibri Italic" charset="0"/>
                <a:sym typeface="Calibri Italic" charset="0"/>
              </a:rPr>
              <a:t> 1</a:t>
            </a:r>
            <a:endParaRPr lang="en-US" dirty="0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dirty="0" err="1">
                <a:sym typeface="Courier New Bold" charset="0"/>
              </a:rPr>
              <a:t>negq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sym typeface="Calibri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ea typeface="Calibri Italic" charset="0"/>
                <a:sym typeface="Calibri Italic" charset="0"/>
              </a:rPr>
              <a:t> = </a:t>
            </a:r>
            <a:r>
              <a:rPr lang="en-US" dirty="0">
                <a:ea typeface="Calibri Italic" charset="0"/>
                <a:sym typeface="Symbol"/>
              </a:rPr>
              <a:t> 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endParaRPr lang="en-US" dirty="0">
              <a:sym typeface="Calibri Italic" charset="0"/>
            </a:endParaRPr>
          </a:p>
          <a:p>
            <a:pPr marL="285750" lvl="2" indent="0">
              <a:buFont typeface="Arial" pitchFamily="34" charset="0"/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 dirty="0">
              <a:sym typeface="Courier New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210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 dirty="0"/>
              <a:t>Bitwise Operations</a:t>
            </a:r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1"/>
            <a:ext cx="8229600" cy="3368404"/>
          </a:xfrm>
          <a:ln/>
        </p:spPr>
        <p:txBody>
          <a:bodyPr/>
          <a:lstStyle/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salq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Src,Dest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&lt;&lt; </a:t>
            </a:r>
            <a:r>
              <a:rPr lang="en-US" dirty="0" err="1"/>
              <a:t>Src</a:t>
            </a:r>
            <a:r>
              <a:rPr lang="en-US" dirty="0"/>
              <a:t>	Arithmetic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sarq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Src,Dest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&gt;&gt; </a:t>
            </a:r>
            <a:r>
              <a:rPr lang="en-US" dirty="0" err="1"/>
              <a:t>Src</a:t>
            </a:r>
            <a:r>
              <a:rPr lang="en-US" dirty="0"/>
              <a:t>        Arithmetic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shlq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Src,Dest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&lt;&lt; </a:t>
            </a:r>
            <a:r>
              <a:rPr lang="en-US" dirty="0" err="1"/>
              <a:t>Src</a:t>
            </a:r>
            <a:r>
              <a:rPr lang="en-US" dirty="0"/>
              <a:t>	Logical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shrq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Src,Dest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&gt;&gt; </a:t>
            </a:r>
            <a:r>
              <a:rPr lang="en-US" dirty="0" err="1"/>
              <a:t>Src</a:t>
            </a:r>
            <a:r>
              <a:rPr lang="en-US" dirty="0"/>
              <a:t>	Logical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xorq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Src,Dest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^ </a:t>
            </a:r>
            <a:r>
              <a:rPr lang="en-US" dirty="0" err="1"/>
              <a:t>Src</a:t>
            </a:r>
            <a:endParaRPr lang="en-US" dirty="0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andq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Src,Dest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&amp; </a:t>
            </a:r>
            <a:r>
              <a:rPr lang="en-US" dirty="0" err="1"/>
              <a:t>Src</a:t>
            </a:r>
            <a:endParaRPr lang="en-US" dirty="0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dirty="0" err="1">
                <a:sym typeface="Courier New Bold" charset="0"/>
              </a:rPr>
              <a:t>orq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Src,Dest</a:t>
            </a:r>
            <a:r>
              <a:rPr lang="en-US" dirty="0"/>
              <a:t>	</a:t>
            </a:r>
            <a:r>
              <a:rPr lang="en-US" dirty="0" err="1"/>
              <a:t>Dest</a:t>
            </a:r>
            <a:r>
              <a:rPr lang="en-US" dirty="0"/>
              <a:t> = </a:t>
            </a:r>
            <a:r>
              <a:rPr lang="en-US" dirty="0" err="1"/>
              <a:t>Dest</a:t>
            </a:r>
            <a:r>
              <a:rPr lang="en-US" dirty="0"/>
              <a:t> | </a:t>
            </a:r>
            <a:r>
              <a:rPr lang="en-US" dirty="0" err="1"/>
              <a:t>Src</a:t>
            </a:r>
            <a:endParaRPr lang="en-US" dirty="0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dirty="0" err="1">
                <a:sym typeface="Courier New Bold" charset="0"/>
              </a:rPr>
              <a:t>notq</a:t>
            </a:r>
            <a:r>
              <a:rPr lang="en-US" dirty="0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sym typeface="Calibri Italic" charset="0"/>
              </a:rPr>
              <a:t>	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r>
              <a:rPr lang="en-US" dirty="0">
                <a:ea typeface="Calibri Italic" charset="0"/>
                <a:sym typeface="Calibri Italic" charset="0"/>
              </a:rPr>
              <a:t> = ~</a:t>
            </a:r>
            <a:r>
              <a:rPr lang="en-US" dirty="0" err="1">
                <a:ea typeface="Calibri Italic" charset="0"/>
                <a:sym typeface="Calibri Italic" charset="0"/>
              </a:rPr>
              <a:t>Dest</a:t>
            </a:r>
            <a:endParaRPr lang="en-US" dirty="0">
              <a:sym typeface="Calibri Italic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163716" y="1758551"/>
            <a:ext cx="1005783" cy="809492"/>
            <a:chOff x="8163716" y="1758551"/>
            <a:chExt cx="1005783" cy="809492"/>
          </a:xfrm>
        </p:grpSpPr>
        <p:sp>
          <p:nvSpPr>
            <p:cNvPr id="6" name="Freeform 5"/>
            <p:cNvSpPr/>
            <p:nvPr/>
          </p:nvSpPr>
          <p:spPr>
            <a:xfrm>
              <a:off x="8163716" y="1758551"/>
              <a:ext cx="321018" cy="809492"/>
            </a:xfrm>
            <a:custGeom>
              <a:avLst/>
              <a:gdLst>
                <a:gd name="connsiteX0" fmla="*/ 0 w 321018"/>
                <a:gd name="connsiteY0" fmla="*/ 0 h 809492"/>
                <a:gd name="connsiteX1" fmla="*/ 320965 w 321018"/>
                <a:gd name="connsiteY1" fmla="*/ 376832 h 809492"/>
                <a:gd name="connsiteX2" fmla="*/ 27910 w 321018"/>
                <a:gd name="connsiteY2" fmla="*/ 809492 h 809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1018" h="809492">
                  <a:moveTo>
                    <a:pt x="0" y="0"/>
                  </a:moveTo>
                  <a:cubicBezTo>
                    <a:pt x="158156" y="120958"/>
                    <a:pt x="316313" y="241917"/>
                    <a:pt x="320965" y="376832"/>
                  </a:cubicBezTo>
                  <a:cubicBezTo>
                    <a:pt x="325617" y="511747"/>
                    <a:pt x="27910" y="809492"/>
                    <a:pt x="27910" y="809492"/>
                  </a:cubicBezTo>
                </a:path>
              </a:pathLst>
            </a:cu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484734" y="2020501"/>
              <a:ext cx="6847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same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610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03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1784194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784194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784194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84194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88564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92933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300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00514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200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514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100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0514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00129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784194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</a:t>
            </a:r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744435" y="237260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3930820" y="220634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1779383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784096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70798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359559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59559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359559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359559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59559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70798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372447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4" name="矩形 73"/>
          <p:cNvSpPr/>
          <p:nvPr/>
        </p:nvSpPr>
        <p:spPr>
          <a:xfrm>
            <a:off x="376817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366287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6" name="矩形 75"/>
          <p:cNvSpPr/>
          <p:nvPr/>
        </p:nvSpPr>
        <p:spPr>
          <a:xfrm>
            <a:off x="389506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317083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779792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03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1784194" y="25042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784194" y="21308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784194" y="17600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84194" y="28772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88564" y="43019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92933" y="46868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300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00514" y="50528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201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00514" y="54204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100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00514" y="57889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00129" y="57549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1784194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16198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16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31169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44725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16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dirty="0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 b="1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2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, 8</a:t>
            </a:r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2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16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16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41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6741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36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37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9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28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34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347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6013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98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6002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9930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95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94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92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744435" y="237260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3930820" y="220634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1779383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784096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370798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359559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359559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359559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359559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359559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370798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372447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4" name="矩形 73"/>
          <p:cNvSpPr/>
          <p:nvPr/>
        </p:nvSpPr>
        <p:spPr>
          <a:xfrm>
            <a:off x="376817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366287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6" name="矩形 75"/>
          <p:cNvSpPr/>
          <p:nvPr/>
        </p:nvSpPr>
        <p:spPr>
          <a:xfrm>
            <a:off x="389506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2337988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81297</TotalTime>
  <Words>5488</Words>
  <Application>Microsoft Macintosh PowerPoint</Application>
  <PresentationFormat>On-screen Show (4:3)</PresentationFormat>
  <Paragraphs>1528</Paragraphs>
  <Slides>70</Slides>
  <Notes>9</Notes>
  <HiddenSlides>27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5" baseType="lpstr">
      <vt:lpstr>Calibri Bold</vt:lpstr>
      <vt:lpstr>Calibri Italic</vt:lpstr>
      <vt:lpstr>ヒラギノ角ゴ ProN W6</vt:lpstr>
      <vt:lpstr>Arial</vt:lpstr>
      <vt:lpstr>Calibri</vt:lpstr>
      <vt:lpstr>Consolas</vt:lpstr>
      <vt:lpstr>Courier New</vt:lpstr>
      <vt:lpstr>Courier New Bold</vt:lpstr>
      <vt:lpstr>Gill Sans</vt:lpstr>
      <vt:lpstr>Tahoma</vt:lpstr>
      <vt:lpstr>Times New Roman</vt:lpstr>
      <vt:lpstr>Verdana</vt:lpstr>
      <vt:lpstr>Wingdings</vt:lpstr>
      <vt:lpstr>Wingdings 2</vt:lpstr>
      <vt:lpstr>CloudVisor-Austin</vt:lpstr>
      <vt:lpstr>Machine Program: Basics</vt:lpstr>
      <vt:lpstr>Lesson plan</vt:lpstr>
      <vt:lpstr>Can we build a machine to execute C directly?</vt:lpstr>
      <vt:lpstr>Why not directly execute C?</vt:lpstr>
      <vt:lpstr>C vs. assembly vs. machine code</vt:lpstr>
      <vt:lpstr>C vs. machine code</vt:lpstr>
      <vt:lpstr>How CPU executes a program</vt:lpstr>
      <vt:lpstr>How CPU executes a program</vt:lpstr>
      <vt:lpstr>Register – temporary storage area built into a CPU</vt:lpstr>
      <vt:lpstr>Steps of execution in CPU</vt:lpstr>
      <vt:lpstr>Instruction Set Architecture (ISA)</vt:lpstr>
      <vt:lpstr>X86-64 ISA: registers</vt:lpstr>
      <vt:lpstr>X86-64 general purpose registers: 8-byte </vt:lpstr>
      <vt:lpstr>X86-64 general purpose registers: 4-byte </vt:lpstr>
      <vt:lpstr>X86-64 general purpose registers: 2-byte </vt:lpstr>
      <vt:lpstr>X86-64 general purpose registers: 1-byte </vt:lpstr>
      <vt:lpstr>x86-64 execution</vt:lpstr>
      <vt:lpstr>X86 ISA</vt:lpstr>
      <vt:lpstr>x86 instruction: Moving data </vt:lpstr>
      <vt:lpstr>Moving data </vt:lpstr>
      <vt:lpstr>Why using a size suffix?</vt:lpstr>
      <vt:lpstr>Moving data </vt:lpstr>
      <vt:lpstr>movq Operand combinations</vt:lpstr>
      <vt:lpstr>movq  Imm, Reg</vt:lpstr>
      <vt:lpstr>movq Reg, Reg</vt:lpstr>
      <vt:lpstr>movq Mem, Reg</vt:lpstr>
      <vt:lpstr>Direct addressing: use register to index memory</vt:lpstr>
      <vt:lpstr>movq (%rax), %rbx</vt:lpstr>
      <vt:lpstr>movq (%rax), %rbx</vt:lpstr>
      <vt:lpstr>Demo: Swap</vt:lpstr>
      <vt:lpstr>swap function</vt:lpstr>
      <vt:lpstr>swap function</vt:lpstr>
      <vt:lpstr>swap function</vt:lpstr>
      <vt:lpstr>swap function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Summary</vt:lpstr>
      <vt:lpstr>Limitation of direct addressing</vt:lpstr>
      <vt:lpstr>Issue</vt:lpstr>
      <vt:lpstr>Observation</vt:lpstr>
      <vt:lpstr>Address mode with displacement</vt:lpstr>
      <vt:lpstr>Address mode with displacement</vt:lpstr>
      <vt:lpstr>Complete Memory Addressing Mode</vt:lpstr>
      <vt:lpstr>Complete Memory Addressing Mode</vt:lpstr>
      <vt:lpstr>Address Computation Examples</vt:lpstr>
      <vt:lpstr>Address Computation Examples</vt:lpstr>
      <vt:lpstr>Address Computation Examples</vt:lpstr>
      <vt:lpstr>Address Computation Examples</vt:lpstr>
      <vt:lpstr>Address Computation Examples</vt:lpstr>
      <vt:lpstr>Example</vt:lpstr>
      <vt:lpstr>Example</vt:lpstr>
      <vt:lpstr>Example</vt:lpstr>
      <vt:lpstr>mov{bwlq}</vt:lpstr>
      <vt:lpstr>The lea instruction</vt:lpstr>
      <vt:lpstr>Example</vt:lpstr>
      <vt:lpstr>Example</vt:lpstr>
      <vt:lpstr>A common usage of leaq</vt:lpstr>
      <vt:lpstr>Arithmetic Expression Puzzle</vt:lpstr>
      <vt:lpstr>Arithmetic Expression Puzzle</vt:lpstr>
      <vt:lpstr>Basic Arithmetic Operations</vt:lpstr>
      <vt:lpstr>Bitwise Operations</vt:lpstr>
      <vt:lpstr>Example</vt:lpstr>
      <vt:lpstr>Example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8769</cp:revision>
  <cp:lastPrinted>2019-10-07T15:04:06Z</cp:lastPrinted>
  <dcterms:created xsi:type="dcterms:W3CDTF">2012-08-17T04:52:30Z</dcterms:created>
  <dcterms:modified xsi:type="dcterms:W3CDTF">2026-02-18T15:33:03Z</dcterms:modified>
</cp:coreProperties>
</file>