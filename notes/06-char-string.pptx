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95" r:id="rId2"/>
    <p:sldId id="305" r:id="rId3"/>
    <p:sldId id="306" r:id="rId4"/>
    <p:sldId id="307" r:id="rId5"/>
    <p:sldId id="339" r:id="rId6"/>
    <p:sldId id="308" r:id="rId7"/>
    <p:sldId id="309" r:id="rId8"/>
    <p:sldId id="310" r:id="rId9"/>
    <p:sldId id="311" r:id="rId10"/>
    <p:sldId id="312" r:id="rId11"/>
    <p:sldId id="313" r:id="rId12"/>
    <p:sldId id="314" r:id="rId13"/>
    <p:sldId id="315" r:id="rId14"/>
    <p:sldId id="316" r:id="rId15"/>
    <p:sldId id="317" r:id="rId16"/>
    <p:sldId id="318" r:id="rId17"/>
    <p:sldId id="319" r:id="rId18"/>
    <p:sldId id="320" r:id="rId19"/>
    <p:sldId id="321" r:id="rId20"/>
    <p:sldId id="322" r:id="rId21"/>
    <p:sldId id="340" r:id="rId22"/>
    <p:sldId id="323" r:id="rId23"/>
    <p:sldId id="324" r:id="rId24"/>
    <p:sldId id="325" r:id="rId25"/>
    <p:sldId id="326" r:id="rId26"/>
    <p:sldId id="327" r:id="rId27"/>
    <p:sldId id="328" r:id="rId28"/>
    <p:sldId id="329" r:id="rId29"/>
    <p:sldId id="330" r:id="rId30"/>
    <p:sldId id="331" r:id="rId31"/>
    <p:sldId id="332" r:id="rId32"/>
    <p:sldId id="333" r:id="rId33"/>
    <p:sldId id="334" r:id="rId34"/>
    <p:sldId id="335" r:id="rId35"/>
    <p:sldId id="336" r:id="rId36"/>
    <p:sldId id="337" r:id="rId37"/>
    <p:sldId id="338" r:id="rId38"/>
    <p:sldId id="267" r:id="rId39"/>
    <p:sldId id="268" r:id="rId40"/>
    <p:sldId id="269" r:id="rId41"/>
    <p:sldId id="270" r:id="rId42"/>
    <p:sldId id="271" r:id="rId43"/>
    <p:sldId id="272" r:id="rId44"/>
    <p:sldId id="273" r:id="rId45"/>
    <p:sldId id="274" r:id="rId46"/>
    <p:sldId id="275" r:id="rId47"/>
    <p:sldId id="276" r:id="rId48"/>
    <p:sldId id="277" r:id="rId49"/>
    <p:sldId id="278" r:id="rId50"/>
    <p:sldId id="350" r:id="rId51"/>
    <p:sldId id="279" r:id="rId52"/>
    <p:sldId id="280" r:id="rId53"/>
    <p:sldId id="281" r:id="rId54"/>
    <p:sldId id="282" r:id="rId55"/>
    <p:sldId id="283" r:id="rId56"/>
    <p:sldId id="284" r:id="rId57"/>
    <p:sldId id="285" r:id="rId58"/>
    <p:sldId id="286" r:id="rId59"/>
    <p:sldId id="287" r:id="rId60"/>
    <p:sldId id="288" r:id="rId61"/>
    <p:sldId id="289" r:id="rId62"/>
    <p:sldId id="290" r:id="rId63"/>
    <p:sldId id="291" r:id="rId64"/>
    <p:sldId id="292" r:id="rId65"/>
    <p:sldId id="293" r:id="rId66"/>
    <p:sldId id="294" r:id="rId6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599"/>
    <p:restoredTop sz="94710"/>
  </p:normalViewPr>
  <p:slideViewPr>
    <p:cSldViewPr snapToGrid="0" snapToObjects="1">
      <p:cViewPr varScale="1">
        <p:scale>
          <a:sx n="113" d="100"/>
          <a:sy n="113" d="100"/>
        </p:scale>
        <p:origin x="155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616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4E6D30-F667-6B40-A3A3-6FED85F0F940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DD10FE-166C-2042-87EE-6C1AD62FDB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901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609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60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60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931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35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776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60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353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184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48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485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40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285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03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998A3A-B3F1-C640-8709-1356562CC12B}" type="datetimeFigureOut">
              <a:rPr lang="en-US" smtClean="0"/>
              <a:t>9/28/26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25855E-C2C9-C742-A0B2-BA3F4A237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116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0000FF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Arrays &amp; Pointers</a:t>
            </a:r>
            <a:br>
              <a:rPr lang="en-US" dirty="0"/>
            </a:br>
            <a:r>
              <a:rPr lang="en-US" dirty="0"/>
              <a:t>Characters &amp; strings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14765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268" y="274638"/>
            <a:ext cx="8797239" cy="1143000"/>
          </a:xfrm>
        </p:spPr>
        <p:txBody>
          <a:bodyPr>
            <a:normAutofit/>
          </a:bodyPr>
          <a:lstStyle/>
          <a:p>
            <a:r>
              <a:rPr lang="en-US" dirty="0"/>
              <a:t>What we’ve learnt and today’s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Bitwise operations</a:t>
            </a:r>
          </a:p>
          <a:p>
            <a:r>
              <a:rPr lang="en-US" dirty="0"/>
              <a:t>Pointers: they are addresses</a:t>
            </a:r>
          </a:p>
          <a:p>
            <a:pPr lvl="1"/>
            <a:r>
              <a:rPr lang="en-US" dirty="0"/>
              <a:t>With pointers arguments, a </a:t>
            </a:r>
            <a:r>
              <a:rPr lang="en-US" dirty="0" err="1"/>
              <a:t>callee</a:t>
            </a:r>
            <a:r>
              <a:rPr lang="en-US" dirty="0"/>
              <a:t> can modify local variables in the caller.</a:t>
            </a:r>
          </a:p>
          <a:p>
            <a:r>
              <a:rPr lang="en-US" dirty="0"/>
              <a:t>Arrays: contiguous elements of the same type</a:t>
            </a:r>
          </a:p>
          <a:p>
            <a:pPr lvl="1"/>
            <a:r>
              <a:rPr lang="en-US" dirty="0"/>
              <a:t>Using pointers (w/ pointer arithmetic) to access array elements</a:t>
            </a:r>
          </a:p>
        </p:txBody>
      </p:sp>
    </p:spTree>
    <p:extLst>
      <p:ext uri="{BB962C8B-B14F-4D97-AF65-F5344CB8AC3E}">
        <p14:creationId xmlns:p14="http://schemas.microsoft.com/office/powerpoint/2010/main" val="4292702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Array: a collection of </a:t>
            </a:r>
            <a:r>
              <a:rPr lang="en-US" u="sng" dirty="0"/>
              <a:t>contiguous</a:t>
            </a:r>
            <a:r>
              <a:rPr lang="en-US" dirty="0"/>
              <a:t> objects with the same type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2350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850593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6" name="矩形 3"/>
          <p:cNvSpPr/>
          <p:nvPr/>
        </p:nvSpPr>
        <p:spPr>
          <a:xfrm>
            <a:off x="4027463" y="1557901"/>
            <a:ext cx="241941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a[3];</a:t>
            </a:r>
          </a:p>
        </p:txBody>
      </p:sp>
      <p:sp>
        <p:nvSpPr>
          <p:cNvPr id="47" name="矩形 39"/>
          <p:cNvSpPr/>
          <p:nvPr/>
        </p:nvSpPr>
        <p:spPr>
          <a:xfrm>
            <a:off x="1856425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0" name="矩形 61"/>
          <p:cNvSpPr/>
          <p:nvPr/>
        </p:nvSpPr>
        <p:spPr>
          <a:xfrm>
            <a:off x="1853509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53" name="矩形 40"/>
          <p:cNvSpPr/>
          <p:nvPr/>
        </p:nvSpPr>
        <p:spPr>
          <a:xfrm>
            <a:off x="1835215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857760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77368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8423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77368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483" y="5828078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9609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0726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4531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67809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</p:spTree>
    <p:extLst>
      <p:ext uri="{BB962C8B-B14F-4D97-AF65-F5344CB8AC3E}">
        <p14:creationId xmlns:p14="http://schemas.microsoft.com/office/powerpoint/2010/main" val="3621665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865971" y="2873410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871803" y="4017080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868887" y="5135494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850593" y="25173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873138" y="619628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92746" y="584074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3801" y="4781063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2746" y="365716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7861" y="5832431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4987" y="58370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6104" y="478041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9909" y="361697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83187" y="2550014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402746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3" name="Rounded Rectangular Callout 2"/>
          <p:cNvSpPr/>
          <p:nvPr/>
        </p:nvSpPr>
        <p:spPr>
          <a:xfrm>
            <a:off x="4182874" y="5826021"/>
            <a:ext cx="1794633" cy="924985"/>
          </a:xfrm>
          <a:prstGeom prst="wedgeRoundRectCallout">
            <a:avLst>
              <a:gd name="adj1" fmla="val -87200"/>
              <a:gd name="adj2" fmla="val -55683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Assuming little Endian machine</a:t>
            </a:r>
          </a:p>
        </p:txBody>
      </p:sp>
    </p:spTree>
    <p:extLst>
      <p:ext uri="{BB962C8B-B14F-4D97-AF65-F5344CB8AC3E}">
        <p14:creationId xmlns:p14="http://schemas.microsoft.com/office/powerpoint/2010/main" val="1026664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865971" y="2873410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871803" y="4017080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868887" y="5135494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850593" y="251730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873138" y="619628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992746" y="584074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3801" y="4781063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92746" y="3657161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7861" y="5832431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4987" y="58370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6104" y="478041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69909" y="3616970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83187" y="2550014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402746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3" name="Rounded Rectangular Callout 2"/>
          <p:cNvSpPr/>
          <p:nvPr/>
        </p:nvSpPr>
        <p:spPr>
          <a:xfrm>
            <a:off x="4182874" y="5826021"/>
            <a:ext cx="1794633" cy="924985"/>
          </a:xfrm>
          <a:prstGeom prst="wedgeRoundRectCallout">
            <a:avLst>
              <a:gd name="adj1" fmla="val -87200"/>
              <a:gd name="adj2" fmla="val -55683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Assuming Little Endian machine</a:t>
            </a:r>
          </a:p>
        </p:txBody>
      </p:sp>
    </p:spTree>
    <p:extLst>
      <p:ext uri="{BB962C8B-B14F-4D97-AF65-F5344CB8AC3E}">
        <p14:creationId xmlns:p14="http://schemas.microsoft.com/office/powerpoint/2010/main" val="2183023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446807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452639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449723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445234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453974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573582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44637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3582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5823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940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0745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4023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54728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82882" y="2013323"/>
            <a:ext cx="490428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697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891940" y="897373"/>
            <a:ext cx="2453645" cy="1668036"/>
            <a:chOff x="891940" y="897373"/>
            <a:chExt cx="2453645" cy="1668036"/>
          </a:xfrm>
        </p:grpSpPr>
        <p:sp>
          <p:nvSpPr>
            <p:cNvPr id="58" name="TextBox 57"/>
            <p:cNvSpPr txBox="1"/>
            <p:nvPr/>
          </p:nvSpPr>
          <p:spPr>
            <a:xfrm>
              <a:off x="891940" y="2145551"/>
              <a:ext cx="3880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p:</a:t>
              </a:r>
            </a:p>
          </p:txBody>
        </p:sp>
        <p:sp>
          <p:nvSpPr>
            <p:cNvPr id="19" name="矩形 40"/>
            <p:cNvSpPr/>
            <p:nvPr/>
          </p:nvSpPr>
          <p:spPr>
            <a:xfrm>
              <a:off x="1446807" y="897373"/>
              <a:ext cx="1091998" cy="1615578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50000"/>
                </a:lnSpc>
              </a:pPr>
              <a:endParaRPr kumimoji="1" lang="zh-CN" altLang="en-US" sz="3600" b="1" dirty="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2968" y="2196077"/>
              <a:ext cx="752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0x200</a:t>
              </a:r>
            </a:p>
          </p:txBody>
        </p:sp>
      </p:grpSp>
      <p:cxnSp>
        <p:nvCxnSpPr>
          <p:cNvPr id="5" name="Elbow Connector 4"/>
          <p:cNvCxnSpPr>
            <a:endCxn id="55" idx="3"/>
          </p:cNvCxnSpPr>
          <p:nvPr/>
        </p:nvCxnSpPr>
        <p:spPr>
          <a:xfrm rot="16200000" flipH="1">
            <a:off x="619821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矩形 3"/>
          <p:cNvSpPr/>
          <p:nvPr/>
        </p:nvSpPr>
        <p:spPr>
          <a:xfrm>
            <a:off x="3682882" y="3412562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*p);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0983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p); //output?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6397" y="2924149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7756" y="3427951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1</a:t>
            </a:r>
          </a:p>
        </p:txBody>
      </p:sp>
      <p:sp>
        <p:nvSpPr>
          <p:cNvPr id="26" name="矩形 3"/>
          <p:cNvSpPr/>
          <p:nvPr/>
        </p:nvSpPr>
        <p:spPr>
          <a:xfrm>
            <a:off x="3682882" y="2457659"/>
            <a:ext cx="490428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//equivalent to p = a; </a:t>
            </a:r>
          </a:p>
        </p:txBody>
      </p:sp>
    </p:spTree>
    <p:extLst>
      <p:ext uri="{BB962C8B-B14F-4D97-AF65-F5344CB8AC3E}">
        <p14:creationId xmlns:p14="http://schemas.microsoft.com/office/powerpoint/2010/main" val="3788354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8" grpId="0"/>
      <p:bldP spid="30" grpId="0"/>
      <p:bldP spid="9" grpId="0"/>
      <p:bldP spid="33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arithmetic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50172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56004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48599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8002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947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305" y="2145551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305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110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7388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50172" y="897373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33" y="21960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cxnSp>
        <p:nvCxnSpPr>
          <p:cNvPr id="5" name="Elbow Connector 4"/>
          <p:cNvCxnSpPr>
            <a:endCxn id="55" idx="3"/>
          </p:cNvCxnSpPr>
          <p:nvPr/>
        </p:nvCxnSpPr>
        <p:spPr>
          <a:xfrm rot="16200000" flipH="1">
            <a:off x="523186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矩形 3"/>
          <p:cNvSpPr/>
          <p:nvPr/>
        </p:nvSpPr>
        <p:spPr>
          <a:xfrm>
            <a:off x="3668533" y="2945816"/>
            <a:ext cx="472516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p + 1; //equivalent to p++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1706" y="4961376"/>
            <a:ext cx="5509591" cy="1200328"/>
          </a:xfrm>
          <a:prstGeom prst="rect">
            <a:avLst/>
          </a:prstGeom>
          <a:solidFill>
            <a:srgbClr val="8EB4E3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Rule of pointer arithmetic:</a:t>
            </a:r>
          </a:p>
          <a:p>
            <a:r>
              <a:rPr lang="en-US" sz="2400" dirty="0" err="1"/>
              <a:t>p+i</a:t>
            </a:r>
            <a:r>
              <a:rPr lang="en-US" sz="2400" dirty="0"/>
              <a:t> has address of </a:t>
            </a:r>
            <a:r>
              <a:rPr lang="en-US" sz="2400" i="1" dirty="0" err="1"/>
              <a:t>i</a:t>
            </a:r>
            <a:r>
              <a:rPr lang="en-US" sz="2400" dirty="0" err="1"/>
              <a:t>-th</a:t>
            </a:r>
            <a:r>
              <a:rPr lang="en-US" sz="2400" dirty="0"/>
              <a:t> object after p, i.e.</a:t>
            </a:r>
          </a:p>
          <a:p>
            <a:r>
              <a:rPr lang="en-US" sz="2400" dirty="0" err="1"/>
              <a:t>p+i’s</a:t>
            </a:r>
            <a:r>
              <a:rPr lang="en-US" sz="2400" dirty="0"/>
              <a:t> value is p’s value plus </a:t>
            </a:r>
            <a:r>
              <a:rPr lang="en-US" sz="2400" dirty="0" err="1"/>
              <a:t>i</a:t>
            </a:r>
            <a:r>
              <a:rPr lang="en-US" sz="2400" dirty="0"/>
              <a:t>*</a:t>
            </a:r>
            <a:r>
              <a:rPr lang="en-US" sz="2400" dirty="0" err="1"/>
              <a:t>sizeof</a:t>
            </a:r>
            <a:r>
              <a:rPr lang="en-US" sz="2400" dirty="0"/>
              <a:t>(object) </a:t>
            </a:r>
          </a:p>
        </p:txBody>
      </p:sp>
      <p:cxnSp>
        <p:nvCxnSpPr>
          <p:cNvPr id="26" name="Elbow Connector 25"/>
          <p:cNvCxnSpPr>
            <a:endCxn id="56" idx="3"/>
          </p:cNvCxnSpPr>
          <p:nvPr/>
        </p:nvCxnSpPr>
        <p:spPr>
          <a:xfrm rot="16200000" flipH="1">
            <a:off x="1038553" y="2799310"/>
            <a:ext cx="3166630" cy="1157502"/>
          </a:xfrm>
          <a:prstGeom prst="bentConnector4">
            <a:avLst>
              <a:gd name="adj1" fmla="val 435"/>
              <a:gd name="adj2" fmla="val 119749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 3"/>
          <p:cNvSpPr/>
          <p:nvPr/>
        </p:nvSpPr>
        <p:spPr>
          <a:xfrm>
            <a:off x="3682882" y="4146369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*p);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3654790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06397" y="3657956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37756" y="4161758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77266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4" grpId="0" animBg="1"/>
      <p:bldP spid="29" grpId="0"/>
      <p:bldP spid="30" grpId="0"/>
      <p:bldP spid="31" grpId="0"/>
      <p:bldP spid="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arithmetic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50172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56004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48599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8002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947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305" y="2145551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305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110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7388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50172" y="897373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33" y="21960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1706" y="4961376"/>
            <a:ext cx="5509591" cy="1200328"/>
          </a:xfrm>
          <a:prstGeom prst="rect">
            <a:avLst/>
          </a:prstGeom>
          <a:solidFill>
            <a:srgbClr val="8EB4E3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Rule of pointer arithmetic:</a:t>
            </a:r>
          </a:p>
          <a:p>
            <a:r>
              <a:rPr lang="en-US" sz="2400" dirty="0" err="1"/>
              <a:t>p+i</a:t>
            </a:r>
            <a:r>
              <a:rPr lang="en-US" sz="2400" dirty="0"/>
              <a:t> has address of </a:t>
            </a:r>
            <a:r>
              <a:rPr lang="en-US" sz="2400" i="1" dirty="0" err="1"/>
              <a:t>i</a:t>
            </a:r>
            <a:r>
              <a:rPr lang="en-US" sz="2400" dirty="0" err="1"/>
              <a:t>-th</a:t>
            </a:r>
            <a:r>
              <a:rPr lang="en-US" sz="2400" dirty="0"/>
              <a:t> object after p, i.e.</a:t>
            </a:r>
          </a:p>
          <a:p>
            <a:r>
              <a:rPr lang="en-US" sz="2400" dirty="0" err="1"/>
              <a:t>p+i’s</a:t>
            </a:r>
            <a:r>
              <a:rPr lang="en-US" sz="2400" dirty="0"/>
              <a:t> value is p’s value plus </a:t>
            </a:r>
            <a:r>
              <a:rPr lang="en-US" sz="2400" dirty="0" err="1"/>
              <a:t>i</a:t>
            </a:r>
            <a:r>
              <a:rPr lang="en-US" sz="2400" dirty="0"/>
              <a:t>*</a:t>
            </a:r>
            <a:r>
              <a:rPr lang="en-US" sz="2400" dirty="0" err="1"/>
              <a:t>sizeof</a:t>
            </a:r>
            <a:r>
              <a:rPr lang="en-US" sz="2400" dirty="0"/>
              <a:t>(object) </a:t>
            </a:r>
          </a:p>
        </p:txBody>
      </p:sp>
      <p:sp>
        <p:nvSpPr>
          <p:cNvPr id="29" name="矩形 3"/>
          <p:cNvSpPr/>
          <p:nvPr/>
        </p:nvSpPr>
        <p:spPr>
          <a:xfrm>
            <a:off x="3682882" y="3414665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*(p+2));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3086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p+2);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4763" y="2979324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6122" y="3483126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3</a:t>
            </a:r>
          </a:p>
        </p:txBody>
      </p:sp>
      <p:cxnSp>
        <p:nvCxnSpPr>
          <p:cNvPr id="34" name="Elbow Connector 33"/>
          <p:cNvCxnSpPr>
            <a:endCxn id="55" idx="3"/>
          </p:cNvCxnSpPr>
          <p:nvPr/>
        </p:nvCxnSpPr>
        <p:spPr>
          <a:xfrm rot="16200000" flipH="1">
            <a:off x="523186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377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Pointer arithmetic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36431" y="5079410"/>
            <a:ext cx="1091998" cy="36477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36431" y="5463698"/>
            <a:ext cx="1091998" cy="3550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832664"/>
            <a:ext cx="1091998" cy="35926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22626" y="470748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96333" y="54907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96333" y="5121445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4708" y="4266920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9188" y="5436278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9188" y="5063588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413121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char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22626" y="3091904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5086" y="4339115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1706" y="4961376"/>
            <a:ext cx="5509591" cy="1200328"/>
          </a:xfrm>
          <a:prstGeom prst="rect">
            <a:avLst/>
          </a:prstGeom>
          <a:solidFill>
            <a:srgbClr val="8EB4E3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Rule of pointer arithmetic:</a:t>
            </a:r>
          </a:p>
          <a:p>
            <a:r>
              <a:rPr lang="en-US" sz="2400" dirty="0" err="1"/>
              <a:t>p+i</a:t>
            </a:r>
            <a:r>
              <a:rPr lang="en-US" sz="2400" dirty="0"/>
              <a:t> has address of </a:t>
            </a:r>
            <a:r>
              <a:rPr lang="en-US" sz="2400" i="1" dirty="0" err="1"/>
              <a:t>i</a:t>
            </a:r>
            <a:r>
              <a:rPr lang="en-US" sz="2400" dirty="0" err="1"/>
              <a:t>-th</a:t>
            </a:r>
            <a:r>
              <a:rPr lang="en-US" sz="2400" dirty="0"/>
              <a:t> object after p, i.e.</a:t>
            </a:r>
          </a:p>
          <a:p>
            <a:r>
              <a:rPr lang="en-US" sz="2400" dirty="0" err="1"/>
              <a:t>p+i’s</a:t>
            </a:r>
            <a:r>
              <a:rPr lang="en-US" sz="2400" dirty="0"/>
              <a:t> value is p’s value plus </a:t>
            </a:r>
            <a:r>
              <a:rPr lang="en-US" sz="2400" dirty="0" err="1"/>
              <a:t>i</a:t>
            </a:r>
            <a:r>
              <a:rPr lang="en-US" sz="2400" dirty="0"/>
              <a:t>*</a:t>
            </a:r>
            <a:r>
              <a:rPr lang="en-US" sz="2400" dirty="0" err="1"/>
              <a:t>sizeof</a:t>
            </a:r>
            <a:r>
              <a:rPr lang="en-US" sz="2400" dirty="0"/>
              <a:t>(object) </a:t>
            </a:r>
          </a:p>
        </p:txBody>
      </p:sp>
      <p:sp>
        <p:nvSpPr>
          <p:cNvPr id="29" name="矩形 3"/>
          <p:cNvSpPr/>
          <p:nvPr/>
        </p:nvSpPr>
        <p:spPr>
          <a:xfrm>
            <a:off x="3682882" y="3414665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*(p+2));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3086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p+2);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4763" y="2979324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6122" y="3483126"/>
            <a:ext cx="301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3</a:t>
            </a:r>
          </a:p>
        </p:txBody>
      </p:sp>
      <p:cxnSp>
        <p:nvCxnSpPr>
          <p:cNvPr id="34" name="Elbow Connector 33"/>
          <p:cNvCxnSpPr>
            <a:endCxn id="55" idx="3"/>
          </p:cNvCxnSpPr>
          <p:nvPr/>
        </p:nvCxnSpPr>
        <p:spPr>
          <a:xfrm rot="16200000" flipH="1">
            <a:off x="1527220" y="4318710"/>
            <a:ext cx="2168596" cy="1236092"/>
          </a:xfrm>
          <a:prstGeom prst="bentConnector4">
            <a:avLst>
              <a:gd name="adj1" fmla="val -95"/>
              <a:gd name="adj2" fmla="val 118494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867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 and pointer</a:t>
            </a:r>
            <a:endParaRPr kumimoji="1" lang="zh-CN" altLang="en-US" dirty="0"/>
          </a:p>
        </p:txBody>
      </p:sp>
      <p:sp>
        <p:nvSpPr>
          <p:cNvPr id="33" name="矩形 3"/>
          <p:cNvSpPr/>
          <p:nvPr/>
        </p:nvSpPr>
        <p:spPr>
          <a:xfrm>
            <a:off x="1459754" y="1813467"/>
            <a:ext cx="6464241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a[10];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*p;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//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a is alias for &amp;a[0];</a:t>
            </a:r>
          </a:p>
          <a:p>
            <a:endParaRPr lang="en-US" altLang="zh-CN" sz="2000" dirty="0">
              <a:solidFill>
                <a:srgbClr val="3366FF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for 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= 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&lt; 10;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++) {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  *(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 = 0; // 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p[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] is alias for *(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</a:t>
            </a:r>
          </a:p>
          <a:p>
            <a:endParaRPr lang="en-US" altLang="zh-CN" sz="2000" dirty="0"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  <a:sym typeface="Wingdings"/>
              </a:rPr>
              <a:t>}</a:t>
            </a:r>
            <a:endParaRPr lang="en-US" altLang="zh-CN" sz="2000" dirty="0">
              <a:latin typeface="Consolas"/>
              <a:ea typeface="宋体" pitchFamily="2" charset="-122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64618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Array and pointer</a:t>
            </a:r>
            <a:endParaRPr kumimoji="1" lang="zh-CN" altLang="en-US" dirty="0"/>
          </a:p>
        </p:txBody>
      </p:sp>
      <p:sp>
        <p:nvSpPr>
          <p:cNvPr id="33" name="矩形 3"/>
          <p:cNvSpPr/>
          <p:nvPr/>
        </p:nvSpPr>
        <p:spPr>
          <a:xfrm>
            <a:off x="1459754" y="1813467"/>
            <a:ext cx="6464241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a[10];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 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*p;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//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a is alias for &amp;a[0];</a:t>
            </a:r>
          </a:p>
          <a:p>
            <a:endParaRPr lang="en-US" altLang="zh-CN" sz="2000" dirty="0">
              <a:solidFill>
                <a:srgbClr val="3366FF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for 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= 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&lt; 10; 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++) {</a:t>
            </a:r>
          </a:p>
          <a:p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   *(</a:t>
            </a:r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 = 0; // 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p[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] is alias for *(</a:t>
            </a:r>
            <a:r>
              <a:rPr lang="en-US" altLang="zh-CN" sz="2000" dirty="0" err="1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p+i</a:t>
            </a:r>
            <a:r>
              <a:rPr lang="en-US" altLang="zh-CN" sz="2000" dirty="0">
                <a:solidFill>
                  <a:srgbClr val="3366FF"/>
                </a:solidFill>
                <a:latin typeface="Consolas"/>
                <a:ea typeface="宋体" pitchFamily="2" charset="-122"/>
                <a:cs typeface="Consolas"/>
                <a:sym typeface="Wingdings"/>
              </a:rPr>
              <a:t>)</a:t>
            </a:r>
          </a:p>
          <a:p>
            <a:endParaRPr lang="en-US" altLang="zh-CN" sz="2000" dirty="0">
              <a:latin typeface="Consolas"/>
              <a:ea typeface="宋体" pitchFamily="2" charset="-122"/>
              <a:cs typeface="Consolas"/>
              <a:sym typeface="Wingdings"/>
            </a:endParaRPr>
          </a:p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  <a:sym typeface="Wingdings"/>
              </a:rPr>
              <a:t>}</a:t>
            </a:r>
            <a:endParaRPr lang="en-US" altLang="zh-CN" sz="2000" dirty="0">
              <a:latin typeface="Consolas"/>
              <a:ea typeface="宋体" pitchFamily="2" charset="-122"/>
              <a:cs typeface="Consolas"/>
            </a:endParaRPr>
          </a:p>
        </p:txBody>
      </p:sp>
      <p:sp>
        <p:nvSpPr>
          <p:cNvPr id="36" name="矩形 3"/>
          <p:cNvSpPr/>
          <p:nvPr/>
        </p:nvSpPr>
        <p:spPr>
          <a:xfrm>
            <a:off x="1459754" y="2766363"/>
            <a:ext cx="1618732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p = a;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</p:txBody>
      </p:sp>
      <p:sp>
        <p:nvSpPr>
          <p:cNvPr id="37" name="矩形 3"/>
          <p:cNvSpPr/>
          <p:nvPr/>
        </p:nvSpPr>
        <p:spPr>
          <a:xfrm>
            <a:off x="1905072" y="3987711"/>
            <a:ext cx="1753219" cy="400110"/>
          </a:xfrm>
          <a:prstGeom prst="rect">
            <a:avLst/>
          </a:prstGeom>
          <a:solidFill>
            <a:srgbClr val="FFFFFF"/>
          </a:solidFill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p[</a:t>
            </a:r>
            <a:r>
              <a:rPr lang="en-US" altLang="zh-CN" sz="2000" dirty="0" err="1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i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ea typeface="宋体" pitchFamily="2" charset="-122"/>
                <a:cs typeface="Consolas"/>
              </a:rPr>
              <a:t>] = 0;</a:t>
            </a:r>
            <a:endParaRPr lang="en-US" altLang="zh-CN" sz="2000" dirty="0">
              <a:solidFill>
                <a:srgbClr val="000000"/>
              </a:solidFill>
              <a:latin typeface="Consolas"/>
              <a:ea typeface="宋体" pitchFamily="2" charset="-122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35871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23031" y="0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Out of bound access?</a:t>
            </a:r>
            <a:endParaRPr kumimoji="1" lang="zh-CN" altLang="en-US" dirty="0"/>
          </a:p>
        </p:txBody>
      </p:sp>
      <p:sp>
        <p:nvSpPr>
          <p:cNvPr id="32" name="矩形 61"/>
          <p:cNvSpPr/>
          <p:nvPr/>
        </p:nvSpPr>
        <p:spPr>
          <a:xfrm>
            <a:off x="1350172" y="2869057"/>
            <a:ext cx="1091998" cy="11485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0x3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47" name="矩形 39"/>
          <p:cNvSpPr/>
          <p:nvPr/>
        </p:nvSpPr>
        <p:spPr>
          <a:xfrm>
            <a:off x="1356004" y="4012727"/>
            <a:ext cx="1091998" cy="111841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0x2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0" name="矩形 61"/>
          <p:cNvSpPr/>
          <p:nvPr/>
        </p:nvSpPr>
        <p:spPr>
          <a:xfrm>
            <a:off x="1353088" y="5131141"/>
            <a:ext cx="1091998" cy="106078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0x0</a:t>
            </a:r>
          </a:p>
          <a:p>
            <a:pPr algn="ctr"/>
            <a:r>
              <a:rPr kumimoji="1" lang="en-US" altLang="zh-CN" dirty="0">
                <a:solidFill>
                  <a:srgbClr val="3366FF"/>
                </a:solidFill>
              </a:rPr>
              <a:t>0x1</a:t>
            </a:r>
            <a:endParaRPr kumimoji="1" lang="zh-CN" altLang="en-US" dirty="0">
              <a:solidFill>
                <a:srgbClr val="3366FF"/>
              </a:solidFill>
            </a:endParaRPr>
          </a:p>
        </p:txBody>
      </p:sp>
      <p:sp>
        <p:nvSpPr>
          <p:cNvPr id="53" name="矩形 40"/>
          <p:cNvSpPr/>
          <p:nvPr/>
        </p:nvSpPr>
        <p:spPr>
          <a:xfrm>
            <a:off x="1348599" y="2512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4" name="矩形 40"/>
          <p:cNvSpPr/>
          <p:nvPr/>
        </p:nvSpPr>
        <p:spPr>
          <a:xfrm>
            <a:off x="1357339" y="6191927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en-US" altLang="zh-CN" sz="3600" b="1" dirty="0"/>
              <a:t>...</a:t>
            </a:r>
            <a:endParaRPr kumimoji="1" lang="zh-CN" altLang="en-US" sz="36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2476947" y="583638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8002" y="4776710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76947" y="3652808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305" y="2145551"/>
            <a:ext cx="388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p: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188" y="5832664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a[0]: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305" y="477605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a[1]: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4110" y="3612617"/>
            <a:ext cx="66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a[2]: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7388" y="2545661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0x10c</a:t>
            </a:r>
          </a:p>
        </p:txBody>
      </p:sp>
      <p:sp>
        <p:nvSpPr>
          <p:cNvPr id="17" name="矩形 3"/>
          <p:cNvSpPr/>
          <p:nvPr/>
        </p:nvSpPr>
        <p:spPr>
          <a:xfrm>
            <a:off x="3668533" y="1557901"/>
            <a:ext cx="319248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a[3] = {1, 2, 3};</a:t>
            </a:r>
          </a:p>
        </p:txBody>
      </p:sp>
      <p:sp>
        <p:nvSpPr>
          <p:cNvPr id="18" name="矩形 3"/>
          <p:cNvSpPr/>
          <p:nvPr/>
        </p:nvSpPr>
        <p:spPr>
          <a:xfrm>
            <a:off x="3668533" y="2117194"/>
            <a:ext cx="319248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int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 *p;</a:t>
            </a:r>
          </a:p>
          <a:p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 = &amp;a[0]; </a:t>
            </a:r>
          </a:p>
        </p:txBody>
      </p:sp>
      <p:sp>
        <p:nvSpPr>
          <p:cNvPr id="19" name="矩形 40"/>
          <p:cNvSpPr/>
          <p:nvPr/>
        </p:nvSpPr>
        <p:spPr>
          <a:xfrm>
            <a:off x="1350172" y="897373"/>
            <a:ext cx="1091998" cy="1615578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21" name="TextBox 20"/>
          <p:cNvSpPr txBox="1"/>
          <p:nvPr/>
        </p:nvSpPr>
        <p:spPr>
          <a:xfrm>
            <a:off x="352062" y="5832664"/>
            <a:ext cx="3761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96333" y="2196077"/>
            <a:ext cx="75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0x200</a:t>
            </a:r>
          </a:p>
        </p:txBody>
      </p:sp>
      <p:sp>
        <p:nvSpPr>
          <p:cNvPr id="29" name="矩形 3"/>
          <p:cNvSpPr/>
          <p:nvPr/>
        </p:nvSpPr>
        <p:spPr>
          <a:xfrm>
            <a:off x="3682882" y="3414665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*(p+3)); //output? </a:t>
            </a:r>
          </a:p>
        </p:txBody>
      </p:sp>
      <p:sp>
        <p:nvSpPr>
          <p:cNvPr id="30" name="矩形 3"/>
          <p:cNvSpPr/>
          <p:nvPr/>
        </p:nvSpPr>
        <p:spPr>
          <a:xfrm>
            <a:off x="3682882" y="2923086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p+3); //output?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4763" y="2979324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7455" y="3857119"/>
            <a:ext cx="22176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??</a:t>
            </a:r>
          </a:p>
          <a:p>
            <a:r>
              <a:rPr lang="en-US" dirty="0">
                <a:solidFill>
                  <a:srgbClr val="0000FF"/>
                </a:solidFill>
              </a:rPr>
              <a:t>can be any value</a:t>
            </a:r>
          </a:p>
          <a:p>
            <a:r>
              <a:rPr lang="en-US" dirty="0">
                <a:solidFill>
                  <a:srgbClr val="0000FF"/>
                </a:solidFill>
              </a:rPr>
              <a:t>or segmentation fault</a:t>
            </a:r>
          </a:p>
        </p:txBody>
      </p:sp>
      <p:cxnSp>
        <p:nvCxnSpPr>
          <p:cNvPr id="34" name="Elbow Connector 33"/>
          <p:cNvCxnSpPr>
            <a:endCxn id="55" idx="3"/>
          </p:cNvCxnSpPr>
          <p:nvPr/>
        </p:nvCxnSpPr>
        <p:spPr>
          <a:xfrm rot="16200000" flipH="1">
            <a:off x="523186" y="3314676"/>
            <a:ext cx="4226308" cy="1186448"/>
          </a:xfrm>
          <a:prstGeom prst="bentConnector4">
            <a:avLst>
              <a:gd name="adj1" fmla="val -204"/>
              <a:gd name="adj2" fmla="val 119268"/>
            </a:avLst>
          </a:prstGeom>
          <a:ln>
            <a:headEnd type="oval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矩形 3"/>
          <p:cNvSpPr/>
          <p:nvPr/>
        </p:nvSpPr>
        <p:spPr>
          <a:xfrm>
            <a:off x="3682882" y="5667746"/>
            <a:ext cx="528221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(“%d\n”, a[3]); //output? </a:t>
            </a:r>
          </a:p>
        </p:txBody>
      </p:sp>
      <p:sp>
        <p:nvSpPr>
          <p:cNvPr id="28" name="矩形 3"/>
          <p:cNvSpPr/>
          <p:nvPr/>
        </p:nvSpPr>
        <p:spPr>
          <a:xfrm>
            <a:off x="3682882" y="5176167"/>
            <a:ext cx="475188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 err="1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Consolas"/>
                <a:ea typeface="宋体" pitchFamily="2" charset="-122"/>
                <a:cs typeface="Consolas"/>
              </a:rPr>
              <a:t>(“%p\n”, &amp;a[3]); //output?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4720" y="5201600"/>
            <a:ext cx="733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0x10c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7455" y="5832664"/>
            <a:ext cx="22176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??</a:t>
            </a:r>
          </a:p>
          <a:p>
            <a:r>
              <a:rPr lang="en-US" dirty="0">
                <a:solidFill>
                  <a:srgbClr val="0000FF"/>
                </a:solidFill>
              </a:rPr>
              <a:t>can be any value</a:t>
            </a:r>
          </a:p>
          <a:p>
            <a:r>
              <a:rPr lang="en-US" dirty="0">
                <a:solidFill>
                  <a:srgbClr val="0000FF"/>
                </a:solidFill>
              </a:rPr>
              <a:t>or segmentation fault</a:t>
            </a:r>
          </a:p>
        </p:txBody>
      </p:sp>
    </p:spTree>
    <p:extLst>
      <p:ext uri="{BB962C8B-B14F-4D97-AF65-F5344CB8AC3E}">
        <p14:creationId xmlns:p14="http://schemas.microsoft.com/office/powerpoint/2010/main" val="1127559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33" grpId="0"/>
      <p:bldP spid="27" grpId="0"/>
      <p:bldP spid="28" grpId="0"/>
      <p:bldP spid="35" grpId="0"/>
      <p:bldP spid="3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Example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2060" y="1600200"/>
            <a:ext cx="9389220" cy="45259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#include &lt;stdio.h&gt;</a:t>
            </a:r>
          </a:p>
          <a:p>
            <a:pPr marL="0" indent="0">
              <a:buNone/>
            </a:pP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int main() {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a[</a:t>
            </a:r>
            <a:r>
              <a:rPr kumimoji="1" lang="en-US" altLang="zh-CN" sz="2400" dirty="0">
                <a:latin typeface="Consolas"/>
                <a:cs typeface="Consolas"/>
              </a:rPr>
              <a:t>3</a:t>
            </a:r>
            <a:r>
              <a:rPr kumimoji="1" lang="mr-IN" altLang="zh-CN" sz="2400" dirty="0">
                <a:latin typeface="Consolas"/>
                <a:cs typeface="Consolas"/>
              </a:rPr>
              <a:t>] = {100, 200, 300};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*p = a;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*p = 400;</a:t>
            </a: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=0;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&lt;3;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(“%d ”,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(“\n”);</a:t>
            </a: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2611" y="6111395"/>
            <a:ext cx="1222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3366FF"/>
                </a:solidFill>
              </a:rPr>
              <a:t>Output?</a:t>
            </a:r>
            <a:endParaRPr lang="en-US" dirty="0">
              <a:solidFill>
                <a:srgbClr val="3366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04971" y="6111395"/>
            <a:ext cx="1727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400 200 300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5059007" y="3456517"/>
            <a:ext cx="1642187" cy="812253"/>
          </a:xfrm>
          <a:prstGeom prst="wedgeRoundRectCallout">
            <a:avLst>
              <a:gd name="adj1" fmla="val -215510"/>
              <a:gd name="adj2" fmla="val -18290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0000"/>
                </a:solidFill>
              </a:rPr>
              <a:t>same as:</a:t>
            </a:r>
          </a:p>
          <a:p>
            <a:r>
              <a:rPr lang="en-US" sz="2000" dirty="0">
                <a:solidFill>
                  <a:srgbClr val="000000"/>
                </a:solidFill>
              </a:rPr>
              <a:t>p[0] = 400;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4354959" y="1417638"/>
            <a:ext cx="1642187" cy="1091919"/>
          </a:xfrm>
          <a:prstGeom prst="wedgeRoundRectCallout">
            <a:avLst>
              <a:gd name="adj1" fmla="val -165073"/>
              <a:gd name="adj2" fmla="val 142165"/>
              <a:gd name="adj3" fmla="val 16667"/>
            </a:avLst>
          </a:prstGeom>
          <a:solidFill>
            <a:schemeClr val="tx2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0000"/>
                </a:solidFill>
              </a:rPr>
              <a:t>same as:</a:t>
            </a:r>
          </a:p>
          <a:p>
            <a:r>
              <a:rPr lang="en-US" sz="2000" dirty="0" err="1">
                <a:solidFill>
                  <a:srgbClr val="000000"/>
                </a:solidFill>
              </a:rPr>
              <a:t>int</a:t>
            </a:r>
            <a:r>
              <a:rPr lang="en-US" sz="2000" dirty="0">
                <a:solidFill>
                  <a:srgbClr val="000000"/>
                </a:solidFill>
              </a:rPr>
              <a:t> *p;</a:t>
            </a:r>
          </a:p>
          <a:p>
            <a:r>
              <a:rPr lang="en-US" sz="2000" dirty="0">
                <a:solidFill>
                  <a:srgbClr val="000000"/>
                </a:solidFill>
              </a:rPr>
              <a:t>p = a;</a:t>
            </a:r>
          </a:p>
        </p:txBody>
      </p:sp>
    </p:spTree>
    <p:extLst>
      <p:ext uri="{BB962C8B-B14F-4D97-AF65-F5344CB8AC3E}">
        <p14:creationId xmlns:p14="http://schemas.microsoft.com/office/powerpoint/2010/main" val="57486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24857" y="3485304"/>
            <a:ext cx="2229704" cy="753180"/>
          </a:xfrm>
          <a:prstGeom prst="rect">
            <a:avLst/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Another Example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02060" y="1600200"/>
            <a:ext cx="9389220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#include &lt;stdio.h&gt;</a:t>
            </a:r>
          </a:p>
          <a:p>
            <a:pPr marL="0" indent="0">
              <a:buNone/>
            </a:pP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int main() {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a[</a:t>
            </a:r>
            <a:r>
              <a:rPr kumimoji="1" lang="en-US" altLang="zh-CN" sz="2400" dirty="0">
                <a:latin typeface="Consolas"/>
                <a:cs typeface="Consolas"/>
              </a:rPr>
              <a:t>3</a:t>
            </a:r>
            <a:r>
              <a:rPr kumimoji="1" lang="mr-IN" altLang="zh-CN" sz="2400" dirty="0">
                <a:latin typeface="Consolas"/>
                <a:cs typeface="Consolas"/>
              </a:rPr>
              <a:t>] = {100, 200, 300};</a:t>
            </a: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int *p = a;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p++;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*p = 400;</a:t>
            </a: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=0;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&lt;3;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(“%d ”,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}</a:t>
            </a:r>
          </a:p>
          <a:p>
            <a:pPr marL="0" indent="0"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(“\n”);</a:t>
            </a:r>
            <a:endParaRPr kumimoji="1" lang="mr-IN" altLang="zh-CN" sz="24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2611" y="6111395"/>
            <a:ext cx="1222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3366FF"/>
                </a:solidFill>
              </a:rPr>
              <a:t>Output?</a:t>
            </a:r>
            <a:endParaRPr lang="en-US" dirty="0">
              <a:solidFill>
                <a:srgbClr val="3366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04971" y="6111395"/>
            <a:ext cx="1727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100 400 300</a:t>
            </a:r>
          </a:p>
        </p:txBody>
      </p:sp>
      <p:sp>
        <p:nvSpPr>
          <p:cNvPr id="9" name="Rounded Rectangular Callout 8"/>
          <p:cNvSpPr/>
          <p:nvPr/>
        </p:nvSpPr>
        <p:spPr>
          <a:xfrm>
            <a:off x="3325314" y="3219476"/>
            <a:ext cx="2020069" cy="812253"/>
          </a:xfrm>
          <a:prstGeom prst="wedgeRoundRectCallout">
            <a:avLst>
              <a:gd name="adj1" fmla="val -90978"/>
              <a:gd name="adj2" fmla="val 30971"/>
              <a:gd name="adj3" fmla="val 16667"/>
            </a:avLst>
          </a:prstGeom>
          <a:solidFill>
            <a:srgbClr val="8EB4E3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rgbClr val="000000"/>
                </a:solidFill>
              </a:rPr>
              <a:t>equivalent to</a:t>
            </a:r>
          </a:p>
          <a:p>
            <a:r>
              <a:rPr lang="en-US" sz="2000" dirty="0">
                <a:solidFill>
                  <a:srgbClr val="000000"/>
                </a:solidFill>
              </a:rPr>
              <a:t>*(++p) = 400;</a:t>
            </a:r>
          </a:p>
          <a:p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217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Pass array to function via pointer</a:t>
            </a: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162542" y="1708359"/>
            <a:ext cx="8395546" cy="49771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// multiply every array element by 2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void multiply2</a:t>
            </a:r>
            <a:r>
              <a:rPr kumimoji="1" lang="mr-IN" altLang="zh-CN" sz="2400" dirty="0">
                <a:latin typeface="Consolas"/>
                <a:cs typeface="Consolas"/>
              </a:rPr>
              <a:t>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*a</a:t>
            </a:r>
            <a:r>
              <a:rPr kumimoji="1" lang="mr-IN" altLang="zh-CN" sz="2400" dirty="0">
                <a:latin typeface="Consolas"/>
                <a:cs typeface="Consolas"/>
              </a:rPr>
              <a:t>) {</a:t>
            </a:r>
          </a:p>
          <a:p>
            <a:pPr marL="0" indent="0">
              <a:buFont typeface="Arial" pitchFamily="34" charset="0"/>
              <a:buNone/>
            </a:pP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???;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	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 *= 2;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main()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a[2] = {1, 2};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multiply2(a);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2;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(“a[%d]=%d”,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46621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Pass array to function via pointer</a:t>
            </a: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162542" y="1708359"/>
            <a:ext cx="8395546" cy="49771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// multiply every array element by 2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void multiply2</a:t>
            </a:r>
            <a:r>
              <a:rPr kumimoji="1" lang="mr-IN" altLang="zh-CN" sz="2400" dirty="0">
                <a:latin typeface="Consolas"/>
                <a:cs typeface="Consolas"/>
              </a:rPr>
              <a:t>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*a, </a:t>
            </a:r>
            <a:r>
              <a:rPr kumimoji="1"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n</a:t>
            </a:r>
            <a:r>
              <a:rPr kumimoji="1" lang="mr-IN" altLang="zh-CN" sz="2400" dirty="0">
                <a:latin typeface="Consolas"/>
                <a:cs typeface="Consolas"/>
              </a:rPr>
              <a:t>) {</a:t>
            </a:r>
          </a:p>
          <a:p>
            <a:pPr marL="0" indent="0">
              <a:buFont typeface="Arial" pitchFamily="34" charset="0"/>
              <a:buNone/>
            </a:pPr>
            <a:endParaRPr kumimoji="1" lang="mr-IN" altLang="zh-CN" sz="12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  </a:t>
            </a:r>
            <a:r>
              <a:rPr kumimoji="1" lang="en-US" altLang="zh-CN" sz="2400" dirty="0">
                <a:latin typeface="Consolas"/>
                <a:cs typeface="Consolas"/>
              </a:rPr>
              <a:t>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</a:t>
            </a:r>
            <a:r>
              <a:rPr kumimoji="1"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n</a:t>
            </a:r>
            <a:r>
              <a:rPr kumimoji="1" lang="en-US" altLang="zh-CN" sz="2400" dirty="0">
                <a:latin typeface="Consolas"/>
                <a:cs typeface="Consolas"/>
              </a:rPr>
              <a:t>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	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 *= 2; // (*(</a:t>
            </a:r>
            <a:r>
              <a:rPr kumimoji="1" lang="en-US" altLang="zh-CN" sz="2400" dirty="0" err="1">
                <a:latin typeface="Consolas"/>
                <a:cs typeface="Consolas"/>
              </a:rPr>
              <a:t>a+i</a:t>
            </a:r>
            <a:r>
              <a:rPr kumimoji="1" lang="en-US" altLang="zh-CN" sz="2400" dirty="0">
                <a:latin typeface="Consolas"/>
                <a:cs typeface="Consolas"/>
              </a:rPr>
              <a:t>)) *= 2;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mr-IN" altLang="zh-CN" sz="2400" dirty="0">
                <a:latin typeface="Consolas"/>
                <a:cs typeface="Consolas"/>
              </a:rPr>
              <a:t>}</a:t>
            </a: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endParaRPr kumimoji="1" lang="en-US" altLang="zh-CN" sz="2400" dirty="0">
              <a:latin typeface="Consolas"/>
              <a:cs typeface="Consolas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main()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a[2] = {1, 2};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multiply2(a, </a:t>
            </a:r>
            <a:r>
              <a:rPr kumimoji="1"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2</a:t>
            </a:r>
            <a:r>
              <a:rPr kumimoji="1" lang="en-US" altLang="zh-CN" sz="2400" dirty="0">
                <a:latin typeface="Consolas"/>
                <a:cs typeface="Consolas"/>
              </a:rPr>
              <a:t>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for (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0;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&lt; 2;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++) {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    </a:t>
            </a:r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(“a[%d]=%d”,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, a[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]);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   }</a:t>
            </a:r>
          </a:p>
          <a:p>
            <a:pPr marL="0" indent="0">
              <a:buFont typeface="Arial" pitchFamily="34" charset="0"/>
              <a:buNone/>
            </a:pPr>
            <a:r>
              <a:rPr kumimoji="1" lang="en-US" altLang="zh-CN" sz="2400" dirty="0"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35103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7543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</a:p>
          <a:p>
            <a:r>
              <a:rPr kumimoji="1" lang="en-US" altLang="zh-CN" sz="2400" dirty="0" err="1">
                <a:latin typeface="Consolas"/>
                <a:cs typeface="Consolas"/>
              </a:rPr>
              <a:t>printf</a:t>
            </a:r>
            <a:r>
              <a:rPr kumimoji="1" lang="en-US" altLang="zh-CN" sz="2400" dirty="0">
                <a:latin typeface="Consolas"/>
                <a:cs typeface="Consolas"/>
              </a:rPr>
              <a:t>(“%x\n”, *c);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77755" y="3650497"/>
            <a:ext cx="7220535" cy="523220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  <a:latin typeface="Verdana"/>
                <a:ea typeface="宋体" pitchFamily="2" charset="-122"/>
                <a:cs typeface="Verdana"/>
              </a:rPr>
              <a:t>Output? </a:t>
            </a:r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(when running on Intel laptop) </a:t>
            </a:r>
            <a:endParaRPr lang="zh-CN" altLang="en-US" sz="24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729037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612023" y="373337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12023" y="338087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612023" y="408691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12023" y="584304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8746" y="5848734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747312" y="589138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45402" y="555711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48324" y="519317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59180" y="4825196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769140" y="4467018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766737" y="4131000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778607" y="3768706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779132" y="3422095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609107" y="4434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09107" y="478925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607197" y="514344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612023" y="5493537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3125568" y="5861513"/>
            <a:ext cx="74797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2575183" y="6060659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4339525" y="3329542"/>
            <a:ext cx="4383983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Intel laptop is small endian</a:t>
            </a:r>
          </a:p>
          <a:p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*c is 0x78</a:t>
            </a:r>
            <a:endParaRPr lang="zh-CN" altLang="en-US" sz="2400" dirty="0">
              <a:latin typeface="Verdana"/>
              <a:cs typeface="Verdan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39525" y="4407031"/>
            <a:ext cx="42294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What is c+1? p+1?</a:t>
            </a:r>
          </a:p>
        </p:txBody>
      </p:sp>
    </p:spTree>
    <p:extLst>
      <p:ext uri="{BB962C8B-B14F-4D97-AF65-F5344CB8AC3E}">
        <p14:creationId xmlns:p14="http://schemas.microsoft.com/office/powerpoint/2010/main" val="1210671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549347" y="370970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549347" y="3357213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1549347" y="4063250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549347" y="581938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096070" y="5825069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2684636" y="5867717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682726" y="5533447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685648" y="5169507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696504" y="4801531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706464" y="4443353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704061" y="4107335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2715931" y="3745041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2716456" y="3398430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1546431" y="441041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1546431" y="476558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544521" y="511977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549347" y="5469872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062892" y="5837848"/>
            <a:ext cx="74797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3512507" y="6036994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线箭头连接符 23"/>
          <p:cNvCxnSpPr/>
          <p:nvPr/>
        </p:nvCxnSpPr>
        <p:spPr>
          <a:xfrm flipH="1" flipV="1">
            <a:off x="3533360" y="5690846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4155053" y="5475002"/>
            <a:ext cx="6405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Verdana"/>
                <a:cs typeface="Verdana"/>
              </a:rPr>
              <a:t>c+1</a:t>
            </a:r>
            <a:endParaRPr lang="zh-CN" altLang="en-US" dirty="0"/>
          </a:p>
        </p:txBody>
      </p:sp>
      <p:cxnSp>
        <p:nvCxnSpPr>
          <p:cNvPr id="26" name="直线箭头连接符 23"/>
          <p:cNvCxnSpPr/>
          <p:nvPr/>
        </p:nvCxnSpPr>
        <p:spPr>
          <a:xfrm flipH="1" flipV="1">
            <a:off x="3548587" y="4661733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矩形 2"/>
          <p:cNvSpPr/>
          <p:nvPr/>
        </p:nvSpPr>
        <p:spPr>
          <a:xfrm>
            <a:off x="4170280" y="4445889"/>
            <a:ext cx="6641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Verdana"/>
                <a:cs typeface="Verdana"/>
              </a:rPr>
              <a:t>p+1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30483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612023" y="373337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612023" y="338087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612023" y="408691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12023" y="584304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58746" y="5848734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747312" y="589138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745402" y="555711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748324" y="519317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759180" y="4825196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769140" y="4467018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766737" y="4131000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778607" y="3768706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779132" y="3422095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609107" y="4434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609107" y="478925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607197" y="514344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612023" y="5493537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3125568" y="5861513"/>
            <a:ext cx="74797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2575183" y="6060659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18768" y="5055487"/>
            <a:ext cx="5684218" cy="40011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/>
                <a:cs typeface="Consolas"/>
              </a:rPr>
              <a:t>assert(</a:t>
            </a:r>
            <a:r>
              <a:rPr lang="en-US" sz="2000" dirty="0" err="1">
                <a:latin typeface="Consolas"/>
                <a:cs typeface="Consolas"/>
              </a:rPr>
              <a:t>p+i</a:t>
            </a:r>
            <a:r>
              <a:rPr lang="en-US" sz="2000" dirty="0">
                <a:latin typeface="Consolas"/>
                <a:cs typeface="Consolas"/>
              </a:rPr>
              <a:t> == (char *)p + </a:t>
            </a:r>
            <a:r>
              <a:rPr lang="en-US" sz="2000" dirty="0" err="1">
                <a:latin typeface="Consolas"/>
                <a:cs typeface="Consolas"/>
              </a:rPr>
              <a:t>i</a:t>
            </a:r>
            <a:r>
              <a:rPr lang="en-US" sz="2000" dirty="0">
                <a:latin typeface="Consolas"/>
                <a:cs typeface="Consolas"/>
              </a:rPr>
              <a:t>*</a:t>
            </a:r>
            <a:r>
              <a:rPr lang="en-US" sz="2000" dirty="0" err="1">
                <a:latin typeface="Consolas"/>
                <a:cs typeface="Consolas"/>
              </a:rPr>
              <a:t>sizeof</a:t>
            </a:r>
            <a:r>
              <a:rPr lang="en-US" sz="2000" dirty="0">
                <a:latin typeface="Consolas"/>
                <a:cs typeface="Consolas"/>
              </a:rPr>
              <a:t>(*p))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4775040" y="5557112"/>
            <a:ext cx="4095993" cy="1124051"/>
            <a:chOff x="4775040" y="5557112"/>
            <a:chExt cx="4095993" cy="112405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7295065" y="5557112"/>
              <a:ext cx="433677" cy="50445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4775040" y="6034832"/>
              <a:ext cx="409599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sizeof</a:t>
              </a:r>
              <a:r>
                <a:rPr lang="en-US" dirty="0"/>
                <a:t>(*p), or </a:t>
              </a:r>
              <a:r>
                <a:rPr lang="en-US" dirty="0" err="1"/>
                <a:t>sizeof</a:t>
              </a:r>
              <a:r>
                <a:rPr lang="en-US" dirty="0"/>
                <a:t>(</a:t>
              </a:r>
              <a:r>
                <a:rPr lang="en-US" dirty="0" err="1"/>
                <a:t>int</a:t>
              </a:r>
              <a:r>
                <a:rPr lang="en-US" dirty="0"/>
                <a:t>) is a C built-in that</a:t>
              </a:r>
            </a:p>
            <a:p>
              <a:r>
                <a:rPr lang="en-US" dirty="0"/>
                <a:t>returns size of object/expression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6186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356900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latin typeface="Consolas"/>
                <a:cs typeface="Consolas"/>
              </a:rPr>
              <a:t>int a = 0x12345678;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int *p = &amp;a;</a:t>
            </a:r>
          </a:p>
          <a:p>
            <a:endParaRPr kumimoji="1" lang="en-US" altLang="zh-CN" sz="6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char *c = (char *)p;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74450" y="3733374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74450" y="3380878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endParaRPr kumimoji="1" lang="zh-CN" altLang="en-US" sz="3600" b="1" dirty="0"/>
          </a:p>
        </p:txBody>
      </p:sp>
      <p:sp>
        <p:nvSpPr>
          <p:cNvPr id="7" name="矩形 6"/>
          <p:cNvSpPr/>
          <p:nvPr/>
        </p:nvSpPr>
        <p:spPr>
          <a:xfrm>
            <a:off x="774450" y="408691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774450" y="5843049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0x78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1173" y="5848734"/>
            <a:ext cx="4666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Consolas"/>
                <a:ea typeface="宋体" pitchFamily="2" charset="-122"/>
                <a:cs typeface="Consolas"/>
              </a:rPr>
              <a:t>a:</a:t>
            </a:r>
            <a:endParaRPr lang="zh-CN" altLang="en-US" sz="2000" dirty="0"/>
          </a:p>
        </p:txBody>
      </p:sp>
      <p:sp>
        <p:nvSpPr>
          <p:cNvPr id="10" name="矩形 9"/>
          <p:cNvSpPr/>
          <p:nvPr/>
        </p:nvSpPr>
        <p:spPr>
          <a:xfrm>
            <a:off x="1909739" y="589138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0x104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907829" y="555711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0x105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910751" y="5193172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0x106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921607" y="4825196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0x107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931567" y="4467018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0x108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929164" y="4131000"/>
            <a:ext cx="82787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0x109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941034" y="3768706"/>
            <a:ext cx="82065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0x10a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941559" y="3422095"/>
            <a:ext cx="82526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600" dirty="0">
                <a:latin typeface="Verdana"/>
                <a:ea typeface="宋体" pitchFamily="2" charset="-122"/>
                <a:cs typeface="Verdana"/>
              </a:rPr>
              <a:t>0x10b</a:t>
            </a:r>
            <a:endParaRPr lang="zh-CN" altLang="en-US" sz="1600" dirty="0">
              <a:latin typeface="Verdana"/>
              <a:cs typeface="Verdan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771534" y="4434076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771534" y="478925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0x12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769624" y="5143444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0x34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774450" y="5493537"/>
            <a:ext cx="1091998" cy="356106"/>
          </a:xfrm>
          <a:prstGeom prst="rect">
            <a:avLst/>
          </a:prstGeom>
          <a:pattFill prst="ltUpDiag">
            <a:fgClr>
              <a:schemeClr val="accent1"/>
            </a:fgClr>
            <a:bgClr>
              <a:prstClr val="white"/>
            </a:bgClr>
          </a:patt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0x56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3287995" y="5861513"/>
            <a:ext cx="65780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solidFill>
                  <a:srgbClr val="000000"/>
                </a:solidFill>
                <a:latin typeface="Verdana"/>
                <a:cs typeface="Verdana"/>
              </a:rPr>
              <a:t>p, c</a:t>
            </a:r>
            <a:endParaRPr lang="zh-CN" altLang="en-US" sz="2000" dirty="0">
              <a:solidFill>
                <a:srgbClr val="000000"/>
              </a:solidFill>
              <a:latin typeface="Verdana"/>
              <a:cs typeface="Verdana"/>
            </a:endParaRPr>
          </a:p>
        </p:txBody>
      </p:sp>
      <p:cxnSp>
        <p:nvCxnSpPr>
          <p:cNvPr id="23" name="直线箭头连接符 22"/>
          <p:cNvCxnSpPr>
            <a:stCxn id="22" idx="1"/>
            <a:endCxn id="10" idx="3"/>
          </p:cNvCxnSpPr>
          <p:nvPr/>
        </p:nvCxnSpPr>
        <p:spPr>
          <a:xfrm flipH="1" flipV="1">
            <a:off x="2737610" y="6060659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线箭头连接符 23"/>
          <p:cNvCxnSpPr/>
          <p:nvPr/>
        </p:nvCxnSpPr>
        <p:spPr>
          <a:xfrm flipH="1" flipV="1">
            <a:off x="2758463" y="5714511"/>
            <a:ext cx="550385" cy="9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矩形 2"/>
          <p:cNvSpPr/>
          <p:nvPr/>
        </p:nvSpPr>
        <p:spPr>
          <a:xfrm>
            <a:off x="3380156" y="5498667"/>
            <a:ext cx="6405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Verdana"/>
                <a:cs typeface="Verdana"/>
              </a:rPr>
              <a:t>c+1</a:t>
            </a:r>
            <a:endParaRPr lang="zh-CN" altLang="en-US" dirty="0"/>
          </a:p>
        </p:txBody>
      </p:sp>
      <p:sp>
        <p:nvSpPr>
          <p:cNvPr id="25" name="矩形 24"/>
          <p:cNvSpPr/>
          <p:nvPr/>
        </p:nvSpPr>
        <p:spPr>
          <a:xfrm>
            <a:off x="3594841" y="3136820"/>
            <a:ext cx="5091959" cy="1200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for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&lt; 4;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print(“%x “, c[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4260603" y="5830672"/>
            <a:ext cx="457362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  <a:latin typeface="Verdana"/>
                <a:ea typeface="宋体" pitchFamily="2" charset="-122"/>
                <a:cs typeface="Verdana"/>
              </a:rPr>
              <a:t>What about big endian?</a:t>
            </a:r>
            <a:endParaRPr lang="zh-CN" altLang="en-US" sz="2400" dirty="0">
              <a:latin typeface="Verdana"/>
              <a:cs typeface="Verdana"/>
            </a:endParaRPr>
          </a:p>
        </p:txBody>
      </p:sp>
      <p:sp>
        <p:nvSpPr>
          <p:cNvPr id="27" name="矩形 25"/>
          <p:cNvSpPr/>
          <p:nvPr/>
        </p:nvSpPr>
        <p:spPr>
          <a:xfrm>
            <a:off x="3741450" y="4573243"/>
            <a:ext cx="521088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Verdana"/>
                <a:ea typeface="宋体" pitchFamily="2" charset="-122"/>
                <a:cs typeface="Verdana"/>
              </a:rPr>
              <a:t>Output: 0x78 0x56 0x34 0x12</a:t>
            </a:r>
            <a:endParaRPr lang="zh-CN" altLang="en-US" sz="20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933386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69022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Another example of 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576882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 err="1">
                <a:latin typeface="Consolas"/>
                <a:cs typeface="Consolas"/>
              </a:rPr>
              <a:t>bool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is_normalized_float</a:t>
            </a:r>
            <a:r>
              <a:rPr kumimoji="1" lang="en-US" altLang="zh-CN" sz="2400" dirty="0">
                <a:latin typeface="Consolas"/>
                <a:cs typeface="Consolas"/>
              </a:rPr>
              <a:t>(float f)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{</a:t>
            </a: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470300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2142" y="274638"/>
            <a:ext cx="8454658" cy="114300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Another example of pointer casting</a:t>
            </a:r>
            <a:endParaRPr kumimoji="1" lang="zh-CN" altLang="en-US" dirty="0"/>
          </a:p>
        </p:txBody>
      </p:sp>
      <p:sp>
        <p:nvSpPr>
          <p:cNvPr id="33" name="文本框 32"/>
          <p:cNvSpPr txBox="1"/>
          <p:nvPr/>
        </p:nvSpPr>
        <p:spPr>
          <a:xfrm>
            <a:off x="457200" y="1446548"/>
            <a:ext cx="6614912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 err="1">
                <a:latin typeface="Consolas"/>
                <a:cs typeface="Consolas"/>
              </a:rPr>
              <a:t>bool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is_normalized_float</a:t>
            </a:r>
            <a:r>
              <a:rPr kumimoji="1" lang="en-US" altLang="zh-CN" sz="2400" dirty="0">
                <a:latin typeface="Consolas"/>
                <a:cs typeface="Consolas"/>
              </a:rPr>
              <a:t>(float f)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{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    unsigned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;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    </a:t>
            </a:r>
            <a:r>
              <a:rPr kumimoji="1" lang="en-US" altLang="zh-CN" sz="2400" dirty="0" err="1">
                <a:latin typeface="Consolas"/>
                <a:cs typeface="Consolas"/>
              </a:rPr>
              <a:t>i</a:t>
            </a:r>
            <a:r>
              <a:rPr kumimoji="1" lang="en-US" altLang="zh-CN" sz="2400" dirty="0">
                <a:latin typeface="Consolas"/>
                <a:cs typeface="Consolas"/>
              </a:rPr>
              <a:t> = *(unsigned </a:t>
            </a: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*)&amp;f;</a:t>
            </a: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    unsigned </a:t>
            </a:r>
            <a:r>
              <a:rPr kumimoji="1" lang="en-US" altLang="zh-CN" sz="2400" dirty="0" err="1">
                <a:latin typeface="Consolas"/>
                <a:cs typeface="Consolas"/>
              </a:rPr>
              <a:t>exp</a:t>
            </a:r>
            <a:r>
              <a:rPr kumimoji="1" lang="en-US" altLang="zh-CN" sz="2400" dirty="0">
                <a:latin typeface="Consolas"/>
                <a:cs typeface="Consolas"/>
              </a:rPr>
              <a:t> = (i&amp;0x7fffffff)&gt;&gt;23;</a:t>
            </a:r>
          </a:p>
          <a:p>
            <a:r>
              <a:rPr kumimoji="1" lang="en-US" altLang="zh-CN" sz="2400" dirty="0">
                <a:latin typeface="Consolas"/>
                <a:cs typeface="Consolas"/>
              </a:rPr>
              <a:t>    return (</a:t>
            </a:r>
            <a:r>
              <a:rPr kumimoji="1" lang="en-US" altLang="zh-CN" sz="2400" dirty="0" err="1">
                <a:latin typeface="Consolas"/>
                <a:cs typeface="Consolas"/>
              </a:rPr>
              <a:t>exp</a:t>
            </a:r>
            <a:r>
              <a:rPr kumimoji="1" lang="en-US" altLang="zh-CN" sz="2400" dirty="0">
                <a:latin typeface="Consolas"/>
                <a:cs typeface="Consolas"/>
              </a:rPr>
              <a:t> != 0 &amp;&amp; </a:t>
            </a:r>
            <a:r>
              <a:rPr kumimoji="1" lang="en-US" altLang="zh-CN" sz="2400" dirty="0" err="1">
                <a:latin typeface="Consolas"/>
                <a:cs typeface="Consolas"/>
              </a:rPr>
              <a:t>exp</a:t>
            </a:r>
            <a:r>
              <a:rPr kumimoji="1" lang="en-US" altLang="zh-CN" sz="2400" dirty="0">
                <a:latin typeface="Consolas"/>
                <a:cs typeface="Consolas"/>
              </a:rPr>
              <a:t> != 255);</a:t>
            </a:r>
          </a:p>
          <a:p>
            <a:endParaRPr kumimoji="1" lang="en-US" altLang="zh-CN" sz="2400" dirty="0">
              <a:latin typeface="Consolas"/>
              <a:cs typeface="Consolas"/>
            </a:endParaRPr>
          </a:p>
          <a:p>
            <a:r>
              <a:rPr kumimoji="1" lang="en-US" altLang="zh-CN" sz="2400" dirty="0">
                <a:latin typeface="Consolas"/>
                <a:cs typeface="Consolas"/>
              </a:rPr>
              <a:t>}</a:t>
            </a:r>
            <a:endParaRPr kumimoji="1"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7492624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37504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sz="3200" dirty="0"/>
              <a:t>sizeof(</a:t>
            </a:r>
            <a:r>
              <a:rPr kumimoji="1" lang="en-US" altLang="zh-CN" sz="3200" dirty="0">
                <a:latin typeface="Consolas"/>
                <a:cs typeface="Consolas"/>
              </a:rPr>
              <a:t>type</a:t>
            </a:r>
            <a:r>
              <a:rPr kumimoji="1" lang="en-US" altLang="zh-CN" sz="3200" dirty="0"/>
              <a:t>)</a:t>
            </a:r>
          </a:p>
          <a:p>
            <a:pPr lvl="1"/>
            <a:r>
              <a:rPr kumimoji="1" lang="en-US" altLang="zh-CN" sz="2800" dirty="0"/>
              <a:t>Returns size in bytes of the object representation of type</a:t>
            </a:r>
          </a:p>
          <a:p>
            <a:pPr lvl="1"/>
            <a:endParaRPr kumimoji="1" lang="en-US" altLang="zh-CN" sz="2800" dirty="0"/>
          </a:p>
          <a:p>
            <a:pPr marL="0" indent="0">
              <a:buNone/>
            </a:pPr>
            <a:r>
              <a:rPr kumimoji="1" lang="en-US" altLang="zh-CN" sz="3200" dirty="0"/>
              <a:t>sizeof(expression)</a:t>
            </a:r>
          </a:p>
          <a:p>
            <a:pPr lvl="1"/>
            <a:r>
              <a:rPr kumimoji="1" lang="en-US" altLang="zh-CN" sz="2800" dirty="0"/>
              <a:t>Returns size in bytes of the type that would be returned by expression, if evaluated.</a:t>
            </a:r>
          </a:p>
          <a:p>
            <a:endParaRPr kumimoji="1" lang="en-US" altLang="zh-CN" sz="3200" dirty="0"/>
          </a:p>
          <a:p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167831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1242575"/>
              </p:ext>
            </p:extLst>
          </p:nvPr>
        </p:nvGraphicFramePr>
        <p:xfrm>
          <a:off x="457200" y="1748945"/>
          <a:ext cx="837565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8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sizeof(long)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sizeof(float)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sizeof(double)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4937739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614880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5770496"/>
              </p:ext>
            </p:extLst>
          </p:nvPr>
        </p:nvGraphicFramePr>
        <p:xfrm>
          <a:off x="457200" y="1748945"/>
          <a:ext cx="837565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87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8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sizeof(long)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sizeof(float)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sizeof(double)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4937739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41422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74688156"/>
              </p:ext>
            </p:extLst>
          </p:nvPr>
        </p:nvGraphicFramePr>
        <p:xfrm>
          <a:off x="457200" y="1748945"/>
          <a:ext cx="8375649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80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1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expr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 + 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char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c[10];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sizeof(c)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de-DE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[0])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*p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= </a:t>
                      </a: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(p)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5532719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410489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4800" dirty="0">
                <a:latin typeface="Arial"/>
                <a:cs typeface="Arial"/>
              </a:rPr>
              <a:t>function </a:t>
            </a:r>
            <a:r>
              <a:rPr kumimoji="1" lang="en-US" altLang="zh-CN" sz="4800" i="1" dirty="0">
                <a:latin typeface="Arial"/>
                <a:cs typeface="Arial"/>
              </a:rPr>
              <a:t>sizeof</a:t>
            </a:r>
            <a:endParaRPr kumimoji="1" lang="zh-CN" altLang="en-US" sz="4800" i="1" dirty="0">
              <a:latin typeface="Arial"/>
              <a:cs typeface="Arial"/>
            </a:endParaRPr>
          </a:p>
        </p:txBody>
      </p:sp>
      <p:graphicFrame>
        <p:nvGraphicFramePr>
          <p:cNvPr id="4" name="内容占位符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5172762"/>
              </p:ext>
            </p:extLst>
          </p:nvPr>
        </p:nvGraphicFramePr>
        <p:xfrm>
          <a:off x="457200" y="1748945"/>
          <a:ext cx="8375649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80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2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1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expr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result (bytes)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a = 0; long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b = 0;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sizeof(a + b)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char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c[10];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sizeof(c)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10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 </a:t>
                      </a:r>
                      <a:r>
                        <a:rPr lang="en-US" altLang="zh-CN" sz="2400" baseline="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baseline="0" dirty="0">
                          <a:latin typeface="Arial"/>
                          <a:cs typeface="Arial"/>
                        </a:rPr>
                        <a:t>[10];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>
                          <a:latin typeface="Arial"/>
                          <a:cs typeface="Arial"/>
                        </a:rPr>
                        <a:t>sizeof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de-DE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de-DE" altLang="zh-CN" sz="2400" dirty="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10 * 4 = 40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[0])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4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int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 *p = </a:t>
                      </a: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arr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;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 dirty="0" err="1">
                          <a:latin typeface="Arial"/>
                          <a:cs typeface="Arial"/>
                        </a:rPr>
                        <a:t>sizeof</a:t>
                      </a:r>
                      <a:r>
                        <a:rPr lang="en-US" altLang="zh-CN" sz="2400" dirty="0">
                          <a:latin typeface="Arial"/>
                          <a:cs typeface="Arial"/>
                        </a:rPr>
                        <a:t>(p)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Arial"/>
                          <a:cs typeface="Arial"/>
                        </a:rPr>
                        <a:t>8</a:t>
                      </a:r>
                      <a:endParaRPr lang="zh-CN" altLang="en-US" sz="2400" dirty="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矩形 4"/>
          <p:cNvSpPr/>
          <p:nvPr/>
        </p:nvSpPr>
        <p:spPr>
          <a:xfrm>
            <a:off x="3622735" y="5630236"/>
            <a:ext cx="23403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cs typeface="Arial"/>
              </a:rPr>
              <a:t>64 bits machine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653413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</a:rPr>
              <a:t>Undefined behavior 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" name="矩形 3"/>
          <p:cNvSpPr/>
          <p:nvPr/>
        </p:nvSpPr>
        <p:spPr>
          <a:xfrm>
            <a:off x="476903" y="2171389"/>
            <a:ext cx="8209897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Arial"/>
                <a:cs typeface="Arial"/>
              </a:rPr>
              <a:t>In computer programming, undefined behavior (UB) is the result of executing computer code whose behavior is not prescribed by the language specification.</a:t>
            </a:r>
            <a:endParaRPr lang="zh-CN" altLang="en-US" sz="2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05855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</a:rPr>
              <a:t>Classic undefined behaviors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239694"/>
            <a:ext cx="8229600" cy="5294661"/>
          </a:xfrm>
        </p:spPr>
        <p:txBody>
          <a:bodyPr>
            <a:normAutofit fontScale="77500" lnSpcReduction="20000"/>
          </a:bodyPr>
          <a:lstStyle/>
          <a:p>
            <a:r>
              <a:rPr kumimoji="1" lang="en-US" altLang="zh-CN" dirty="0"/>
              <a:t>Use an uninitialized variable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a;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b = a + 1;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out of bound array access</a:t>
            </a:r>
            <a:endParaRPr kumimoji="1" lang="en-US" altLang="zh-CN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dirty="0" err="1">
                <a:latin typeface="Consolas"/>
                <a:cs typeface="Consolas"/>
              </a:rPr>
              <a:t>int</a:t>
            </a:r>
            <a:r>
              <a:rPr kumimoji="1" lang="en-US" altLang="zh-CN" dirty="0">
                <a:latin typeface="Consolas"/>
                <a:cs typeface="Consolas"/>
              </a:rPr>
              <a:t> a[2] = {1, 2};</a:t>
            </a:r>
          </a:p>
          <a:p>
            <a:pPr marL="0" indent="0">
              <a:buNone/>
            </a:pPr>
            <a:r>
              <a:rPr kumimoji="1" lang="en-US" altLang="zh-CN" dirty="0" err="1">
                <a:latin typeface="Consolas"/>
                <a:cs typeface="Consolas"/>
              </a:rPr>
              <a:t>int</a:t>
            </a:r>
            <a:r>
              <a:rPr kumimoji="1" lang="en-US" altLang="zh-CN" dirty="0">
                <a:latin typeface="Consolas"/>
                <a:cs typeface="Consolas"/>
              </a:rPr>
              <a:t> *p = a</a:t>
            </a:r>
          </a:p>
          <a:p>
            <a:pPr marL="0" indent="0">
              <a:buNone/>
            </a:pPr>
            <a:r>
              <a:rPr kumimoji="1" lang="en-US" altLang="zh-CN" dirty="0">
                <a:latin typeface="Consolas"/>
                <a:cs typeface="Consolas"/>
              </a:rPr>
              <a:t>*(p+3) = 3;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Divide by zero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 = 1 / 0;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integer overflow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a = 0x7fffffff</a:t>
            </a:r>
          </a:p>
          <a:p>
            <a:pPr marL="0" indent="0">
              <a:buNone/>
            </a:pPr>
            <a:r>
              <a:rPr kumimoji="1" lang="en-US" altLang="zh-CN" sz="2400" dirty="0" err="1">
                <a:latin typeface="Consolas"/>
                <a:cs typeface="Consolas"/>
              </a:rPr>
              <a:t>int</a:t>
            </a:r>
            <a:r>
              <a:rPr kumimoji="1" lang="en-US" altLang="zh-CN" sz="2400" dirty="0">
                <a:latin typeface="Consolas"/>
                <a:cs typeface="Consolas"/>
              </a:rPr>
              <a:t> b = a + 1 </a:t>
            </a:r>
          </a:p>
        </p:txBody>
      </p:sp>
    </p:spTree>
    <p:extLst>
      <p:ext uri="{BB962C8B-B14F-4D97-AF65-F5344CB8AC3E}">
        <p14:creationId xmlns:p14="http://schemas.microsoft.com/office/powerpoint/2010/main" val="26984389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 fontScale="90000"/>
          </a:bodyPr>
          <a:lstStyle/>
          <a:p>
            <a:r>
              <a:rPr kumimoji="1" lang="en-US" altLang="zh-CN" dirty="0">
                <a:solidFill>
                  <a:schemeClr val="bg2">
                    <a:lumMod val="25000"/>
                  </a:schemeClr>
                </a:solidFill>
              </a:rPr>
              <a:t>Why does C have undefined behavior?</a:t>
            </a:r>
            <a:endParaRPr kumimoji="1"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/>
              <a:t>Simplify compiler’s implementation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Enable better performance</a:t>
            </a:r>
          </a:p>
          <a:p>
            <a:endParaRPr kumimoji="1" lang="en-US" altLang="zh-CN" dirty="0"/>
          </a:p>
          <a:p>
            <a:endParaRPr kumimoji="1" lang="en-US" altLang="zh-CN" dirty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42271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/>
              <a:t>Use uninitialized variables</a:t>
            </a:r>
          </a:p>
          <a:p>
            <a:pPr lvl="1">
              <a:buFont typeface="Symbol" charset="2"/>
              <a:buChar char="-"/>
            </a:pPr>
            <a:r>
              <a:rPr kumimoji="1" lang="en-US" altLang="zh-CN" dirty="0"/>
              <a:t>Avoid memory write</a:t>
            </a:r>
          </a:p>
          <a:p>
            <a:r>
              <a:rPr kumimoji="1" lang="en-US" altLang="zh-CN" dirty="0"/>
              <a:t>Out-of-bound array access</a:t>
            </a:r>
          </a:p>
          <a:p>
            <a:pPr lvl="1"/>
            <a:r>
              <a:rPr kumimoji="1" lang="en-US" altLang="zh-CN" dirty="0"/>
              <a:t>Avoid runtime bound checking</a:t>
            </a:r>
          </a:p>
          <a:p>
            <a:pPr lvl="1"/>
            <a:endParaRPr kumimoji="1" lang="en-US" altLang="zh-CN" dirty="0"/>
          </a:p>
          <a:p>
            <a:r>
              <a:rPr kumimoji="1" lang="en-US" altLang="zh-CN" dirty="0"/>
              <a:t>Divided by zero</a:t>
            </a:r>
          </a:p>
          <a:p>
            <a:pPr marL="0" indent="0">
              <a:buNone/>
            </a:pPr>
            <a:endParaRPr kumimoji="1" lang="en-US" altLang="zh-CN" dirty="0"/>
          </a:p>
          <a:p>
            <a:r>
              <a:rPr kumimoji="1" lang="en-US" altLang="zh-CN" dirty="0"/>
              <a:t>integer overflow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5075452" y="4060831"/>
            <a:ext cx="655385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6600" dirty="0">
                <a:solidFill>
                  <a:srgbClr val="FF0000"/>
                </a:solidFill>
                <a:latin typeface="Arial"/>
                <a:cs typeface="Arial"/>
              </a:rPr>
              <a:t>?</a:t>
            </a:r>
            <a:endParaRPr lang="zh-CN" altLang="en-US" sz="6600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4559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 undefined 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kumimoji="1" lang="en-US" altLang="zh-CN" dirty="0"/>
              <a:t>At instruction set level, different architectures handle them in different ways: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Divided by zero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X86 raises an exception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MIPS and PowerPC silently ignore it. 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integer overflow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X86 wraps around (with flags set)</a:t>
            </a:r>
          </a:p>
          <a:p>
            <a:pPr>
              <a:buFont typeface="Symbol" charset="2"/>
              <a:buChar char="-"/>
            </a:pPr>
            <a:r>
              <a:rPr kumimoji="1" lang="en-US" altLang="zh-CN" dirty="0"/>
              <a:t>MIPS raises an exception. </a:t>
            </a:r>
          </a:p>
          <a:p>
            <a:pPr>
              <a:buFont typeface="Symbol" charset="2"/>
              <a:buChar char="-"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612689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CN" dirty="0"/>
              <a:t>Assumption: Unlike Java, C compilers trust the programmer not to submit code that has undefined behavior</a:t>
            </a:r>
          </a:p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r>
              <a:rPr kumimoji="1" lang="en-US" altLang="zh-CN" dirty="0"/>
              <a:t>The compiler optimizes this code under this assumption</a:t>
            </a:r>
          </a:p>
          <a:p>
            <a:pPr marL="0" indent="0">
              <a:buNone/>
            </a:pPr>
            <a:r>
              <a:rPr kumimoji="1" lang="en-US" altLang="zh-CN" dirty="0">
                <a:sym typeface="Wingdings"/>
              </a:rPr>
              <a:t> Compiler may remove the code or rewrite the code in a way that programmer did not anticipate</a:t>
            </a:r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23127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396186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#include &lt;</a:t>
            </a:r>
            <a:r>
              <a:rPr lang="en-US" altLang="zh-CN" sz="1800" dirty="0" err="1">
                <a:latin typeface="Consolas"/>
                <a:cs typeface="Consolas"/>
              </a:rPr>
              <a:t>stdio.h</a:t>
            </a:r>
            <a:r>
              <a:rPr lang="en-US" altLang="zh-CN" sz="1800" dirty="0">
                <a:latin typeface="Consolas"/>
                <a:cs typeface="Consolas"/>
              </a:rPr>
              <a:t>&gt;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void foo(</a:t>
            </a: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a)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if(a+100 &lt; a) {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  </a:t>
            </a:r>
            <a:r>
              <a:rPr lang="en-US" altLang="zh-CN" sz="1800" dirty="0" err="1">
                <a:latin typeface="Consolas"/>
                <a:cs typeface="Consolas"/>
              </a:rPr>
              <a:t>printf</a:t>
            </a:r>
            <a:r>
              <a:rPr lang="en-US" altLang="zh-CN" sz="1800" dirty="0">
                <a:latin typeface="Consolas"/>
                <a:cs typeface="Consolas"/>
              </a:rPr>
              <a:t>(”overflowed\n");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   return;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}</a:t>
            </a:r>
          </a:p>
          <a:p>
            <a:endParaRPr lang="mr-IN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</a:t>
            </a:r>
            <a:r>
              <a:rPr lang="en-US" altLang="zh-CN" sz="1800" dirty="0" err="1">
                <a:latin typeface="Consolas"/>
                <a:cs typeface="Consolas"/>
              </a:rPr>
              <a:t>printf</a:t>
            </a:r>
            <a:r>
              <a:rPr lang="en-US" altLang="zh-CN" sz="1800" dirty="0">
                <a:latin typeface="Consolas"/>
                <a:cs typeface="Consolas"/>
              </a:rPr>
              <a:t>(”normal is boring\n");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main()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foo(100);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foo(0x7fffffff);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pPr marL="0" indent="0">
              <a:buNone/>
            </a:pPr>
            <a:endParaRPr kumimoji="1" lang="en-US" altLang="zh-CN" sz="18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3732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Classic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undefined</a:t>
            </a:r>
            <a:r>
              <a:rPr kumimoji="1" lang="en-US" altLang="zh-CN" dirty="0"/>
              <a:t> </a:t>
            </a:r>
            <a:r>
              <a:rPr kumimoji="1" lang="en-US" altLang="zh-CN" sz="3600" dirty="0">
                <a:solidFill>
                  <a:schemeClr val="bg2">
                    <a:lumMod val="25000"/>
                  </a:schemeClr>
                </a:solidFill>
              </a:rPr>
              <a:t>behaviors</a:t>
            </a:r>
            <a:endParaRPr kumimoji="1" lang="zh-CN" altLang="en-US" sz="36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396186"/>
            <a:ext cx="8229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#include &lt;</a:t>
            </a:r>
            <a:r>
              <a:rPr lang="en-US" altLang="zh-CN" sz="1800" dirty="0" err="1">
                <a:latin typeface="Consolas"/>
                <a:cs typeface="Consolas"/>
              </a:rPr>
              <a:t>stdio.h</a:t>
            </a:r>
            <a:r>
              <a:rPr lang="en-US" altLang="zh-CN" sz="1800" dirty="0">
                <a:latin typeface="Consolas"/>
                <a:cs typeface="Consolas"/>
              </a:rPr>
              <a:t>&gt;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void foo(</a:t>
            </a: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a)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</a:t>
            </a:r>
            <a:r>
              <a:rPr lang="mr-IN" altLang="zh-CN" sz="1800" strike="sngStrike" dirty="0">
                <a:latin typeface="Consolas"/>
                <a:cs typeface="Consolas"/>
              </a:rPr>
              <a:t>if(a+100 &lt; a) {</a:t>
            </a:r>
          </a:p>
          <a:p>
            <a:pPr marL="0" indent="0">
              <a:buNone/>
            </a:pPr>
            <a:r>
              <a:rPr lang="en-US" altLang="zh-CN" sz="1800" strike="sngStrike" dirty="0">
                <a:latin typeface="Consolas"/>
                <a:cs typeface="Consolas"/>
              </a:rPr>
              <a:t>    </a:t>
            </a:r>
            <a:r>
              <a:rPr lang="en-US" altLang="zh-CN" sz="1800" strike="sngStrike" dirty="0" err="1">
                <a:latin typeface="Consolas"/>
                <a:cs typeface="Consolas"/>
              </a:rPr>
              <a:t>printf</a:t>
            </a:r>
            <a:r>
              <a:rPr lang="en-US" altLang="zh-CN" sz="1800" strike="sngStrike" dirty="0">
                <a:latin typeface="Consolas"/>
                <a:cs typeface="Consolas"/>
              </a:rPr>
              <a:t>(“overflowed\n");</a:t>
            </a:r>
          </a:p>
          <a:p>
            <a:pPr marL="0" indent="0">
              <a:buNone/>
            </a:pPr>
            <a:r>
              <a:rPr lang="mr-IN" altLang="zh-CN" sz="1800" strike="sngStrike" dirty="0">
                <a:latin typeface="Consolas"/>
                <a:cs typeface="Consolas"/>
              </a:rPr>
              <a:t>     return;</a:t>
            </a:r>
          </a:p>
          <a:p>
            <a:pPr marL="0" indent="0">
              <a:buNone/>
            </a:pPr>
            <a:r>
              <a:rPr lang="mr-IN" altLang="zh-CN" sz="1800" strike="sngStrike" dirty="0">
                <a:latin typeface="Consolas"/>
                <a:cs typeface="Consolas"/>
              </a:rPr>
              <a:t>  }</a:t>
            </a:r>
          </a:p>
          <a:p>
            <a:endParaRPr lang="mr-IN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</a:t>
            </a:r>
            <a:r>
              <a:rPr lang="en-US" altLang="zh-CN" sz="1800" dirty="0" err="1">
                <a:latin typeface="Consolas"/>
                <a:cs typeface="Consolas"/>
              </a:rPr>
              <a:t>printf</a:t>
            </a:r>
            <a:r>
              <a:rPr lang="en-US" altLang="zh-CN" sz="1800" dirty="0">
                <a:latin typeface="Consolas"/>
                <a:cs typeface="Consolas"/>
              </a:rPr>
              <a:t>(“normal is boring\n");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endParaRPr lang="en-US" altLang="zh-CN" sz="18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1800" dirty="0" err="1">
                <a:latin typeface="Consolas"/>
                <a:cs typeface="Consolas"/>
              </a:rPr>
              <a:t>int</a:t>
            </a:r>
            <a:r>
              <a:rPr lang="en-US" altLang="zh-CN" sz="1800" dirty="0">
                <a:latin typeface="Consolas"/>
                <a:cs typeface="Consolas"/>
              </a:rPr>
              <a:t> main() {</a:t>
            </a:r>
          </a:p>
          <a:p>
            <a:pPr marL="0" indent="0">
              <a:buNone/>
            </a:pPr>
            <a:r>
              <a:rPr lang="mr-IN" altLang="zh-CN" sz="1800" dirty="0">
                <a:latin typeface="Consolas"/>
                <a:cs typeface="Consolas"/>
              </a:rPr>
              <a:t>  foo(100);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  foo(0x7fffffff);</a:t>
            </a:r>
          </a:p>
          <a:p>
            <a:pPr marL="0" indent="0">
              <a:buNone/>
            </a:pPr>
            <a:r>
              <a:rPr lang="en-US" altLang="zh-CN" sz="1800" dirty="0">
                <a:latin typeface="Consolas"/>
                <a:cs typeface="Consolas"/>
              </a:rPr>
              <a:t>}</a:t>
            </a:r>
          </a:p>
          <a:p>
            <a:pPr marL="0" indent="0">
              <a:buNone/>
            </a:pPr>
            <a:endParaRPr kumimoji="1" lang="en-US" altLang="zh-CN" sz="1800" dirty="0">
              <a:latin typeface="Consolas"/>
              <a:cs typeface="Consolas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211653" y="2158895"/>
            <a:ext cx="40049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b="1" dirty="0" err="1">
                <a:solidFill>
                  <a:srgbClr val="FF0000"/>
                </a:solidFill>
                <a:latin typeface="Arial"/>
                <a:cs typeface="Arial"/>
              </a:rPr>
              <a:t>gcc</a:t>
            </a:r>
            <a:r>
              <a:rPr kumimoji="1" lang="en-US" altLang="zh-CN" sz="2000" b="1" dirty="0">
                <a:solidFill>
                  <a:srgbClr val="FF0000"/>
                </a:solidFill>
                <a:latin typeface="Arial"/>
                <a:cs typeface="Arial"/>
              </a:rPr>
              <a:t> removes the check with O3</a:t>
            </a:r>
            <a:endParaRPr lang="zh-CN" altLang="en-US" sz="2000" b="1" dirty="0">
              <a:solidFill>
                <a:srgbClr val="FF000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53511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Characters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833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represent text characters?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851" y="1600200"/>
            <a:ext cx="8509949" cy="4958403"/>
          </a:xfrm>
        </p:spPr>
        <p:txBody>
          <a:bodyPr/>
          <a:lstStyle/>
          <a:p>
            <a:r>
              <a:rPr lang="en-US" dirty="0"/>
              <a:t>How to associate bit patterns to integers?</a:t>
            </a:r>
          </a:p>
          <a:p>
            <a:pPr lvl="1"/>
            <a:r>
              <a:rPr lang="en-US" dirty="0"/>
              <a:t>base 2</a:t>
            </a:r>
          </a:p>
          <a:p>
            <a:pPr lvl="1"/>
            <a:r>
              <a:rPr lang="en-US" dirty="0"/>
              <a:t>2’s complement</a:t>
            </a:r>
          </a:p>
          <a:p>
            <a:r>
              <a:rPr lang="en-US" dirty="0"/>
              <a:t>How to associate bit patterns to floats? </a:t>
            </a:r>
          </a:p>
          <a:p>
            <a:pPr lvl="1"/>
            <a:r>
              <a:rPr lang="en-US" dirty="0"/>
              <a:t>IEEE floating point representation (based on normalized scientific notation)</a:t>
            </a:r>
          </a:p>
          <a:p>
            <a:r>
              <a:rPr lang="en-US" dirty="0"/>
              <a:t>How to associate bit patterns to characters?</a:t>
            </a:r>
          </a:p>
          <a:p>
            <a:pPr lvl="1"/>
            <a:r>
              <a:rPr lang="en-US" dirty="0"/>
              <a:t>by convention</a:t>
            </a:r>
          </a:p>
          <a:p>
            <a:pPr lvl="1"/>
            <a:r>
              <a:rPr lang="en-US" dirty="0"/>
              <a:t>ASCII, UTF</a:t>
            </a:r>
          </a:p>
        </p:txBody>
      </p:sp>
    </p:spTree>
    <p:extLst>
      <p:ext uri="{BB962C8B-B14F-4D97-AF65-F5344CB8AC3E}">
        <p14:creationId xmlns:p14="http://schemas.microsoft.com/office/powerpoint/2010/main" val="3193515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ASCII: American Standard Code for Information Exchange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6426" y="1608976"/>
            <a:ext cx="8686800" cy="2345476"/>
          </a:xfrm>
        </p:spPr>
        <p:txBody>
          <a:bodyPr>
            <a:normAutofit fontScale="92500"/>
          </a:bodyPr>
          <a:lstStyle/>
          <a:p>
            <a:r>
              <a:rPr lang="en-US" dirty="0"/>
              <a:t>Developed in 60s, based on the English alphabet</a:t>
            </a:r>
          </a:p>
          <a:p>
            <a:r>
              <a:rPr lang="en-US" dirty="0"/>
              <a:t>use one byte (</a:t>
            </a:r>
            <a:r>
              <a:rPr lang="en-US" dirty="0">
                <a:solidFill>
                  <a:srgbClr val="0000FF"/>
                </a:solidFill>
              </a:rPr>
              <a:t>with MSB=0</a:t>
            </a:r>
            <a:r>
              <a:rPr lang="en-US" dirty="0"/>
              <a:t>) to represent each character</a:t>
            </a:r>
          </a:p>
          <a:p>
            <a:r>
              <a:rPr lang="en-US" dirty="0"/>
              <a:t>How many unique characters can be represented?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37020" y="4253801"/>
            <a:ext cx="8086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3366FF"/>
                </a:solidFill>
              </a:rPr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38700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875px-ASCII-Table-wide.svg.png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958" b="-5958"/>
          <a:stretch>
            <a:fillRect/>
          </a:stretch>
        </p:blipFill>
        <p:spPr>
          <a:xfrm>
            <a:off x="1" y="0"/>
            <a:ext cx="9144000" cy="7442728"/>
          </a:xfrm>
        </p:spPr>
      </p:pic>
    </p:spTree>
    <p:extLst>
      <p:ext uri="{BB962C8B-B14F-4D97-AF65-F5344CB8AC3E}">
        <p14:creationId xmlns:p14="http://schemas.microsoft.com/office/powerpoint/2010/main" val="17530102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1: </a:t>
            </a:r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5" name="矩形 3"/>
          <p:cNvSpPr/>
          <p:nvPr/>
        </p:nvSpPr>
        <p:spPr>
          <a:xfrm>
            <a:off x="724768" y="1698590"/>
            <a:ext cx="7962032" cy="4985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tolower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lowercase character for c if c is an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uppercase letter. Otherwise, it returns c.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char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char c = ‘A’;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c =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(c);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...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888730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1: </a:t>
            </a:r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5" name="矩形 3"/>
          <p:cNvSpPr/>
          <p:nvPr/>
        </p:nvSpPr>
        <p:spPr>
          <a:xfrm>
            <a:off x="724768" y="1698590"/>
            <a:ext cx="7962032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tolower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lowercase character for c if c is an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uppercase letter. Otherwise, it returns c.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char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    // test if c is an uppercase letter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 if (c &lt; ‘A’ || c &gt; ‘Z’)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return c;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}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05568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1: </a:t>
            </a:r>
            <a:r>
              <a:rPr lang="en-US" dirty="0" err="1"/>
              <a:t>tolower</a:t>
            </a:r>
            <a:endParaRPr lang="en-US" dirty="0"/>
          </a:p>
        </p:txBody>
      </p:sp>
      <p:sp>
        <p:nvSpPr>
          <p:cNvPr id="5" name="矩形 3"/>
          <p:cNvSpPr/>
          <p:nvPr/>
        </p:nvSpPr>
        <p:spPr>
          <a:xfrm>
            <a:off x="724768" y="1698590"/>
            <a:ext cx="7962032" cy="4616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tolower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lowercase character for c if c is an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uppercase letter. Otherwise, it returns c.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char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    // test if c is an uppercase letter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 if (c &lt; ‘A’ || c &gt; ‘Z’)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return c;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}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return c + (‘a’ – ‘A’);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50769" y="5754853"/>
            <a:ext cx="3699751" cy="8309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C’s standard library includes</a:t>
            </a:r>
          </a:p>
          <a:p>
            <a:r>
              <a:rPr lang="en-US" sz="2400" dirty="0" err="1"/>
              <a:t>tolower</a:t>
            </a:r>
            <a:r>
              <a:rPr lang="en-US" sz="2400" dirty="0"/>
              <a:t>, </a:t>
            </a:r>
            <a:r>
              <a:rPr lang="en-US" sz="2400" dirty="0" err="1"/>
              <a:t>toupper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179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2: </a:t>
            </a:r>
            <a:r>
              <a:rPr lang="en-US" dirty="0" err="1"/>
              <a:t>toDigit</a:t>
            </a:r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209006" y="1492652"/>
            <a:ext cx="9115864" cy="4985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toDigit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integer for c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if c is a valid digit character,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e.g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‘1’, ‘2’,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Otherwise, it returns -1.</a:t>
            </a: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d =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(‘8’);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printf</a:t>
            </a:r>
            <a:r>
              <a:rPr lang="en-US" altLang="zh-CN" sz="2400" dirty="0">
                <a:latin typeface="Consolas"/>
                <a:cs typeface="Consolas"/>
              </a:rPr>
              <a:t>(“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is %d, multiply-by-2 %d\n”, d, 2*d);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747889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2: </a:t>
            </a:r>
            <a:r>
              <a:rPr lang="en-US" dirty="0" err="1"/>
              <a:t>toDigit</a:t>
            </a:r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209006" y="1492652"/>
            <a:ext cx="9115864" cy="4985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toDigit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integer for c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if c is a valid digit character,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e.g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‘1’, ‘2’,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Otherwise, it returns -1.</a:t>
            </a: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// test if c is a valid character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if (c &lt; ‘0’ || c &gt; ‘9’)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 return -1;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}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d =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(‘8’);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printf</a:t>
            </a:r>
            <a:r>
              <a:rPr lang="en-US" altLang="zh-CN" sz="2400" dirty="0">
                <a:latin typeface="Consolas"/>
                <a:cs typeface="Consolas"/>
              </a:rPr>
              <a:t>(“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is %d, multiply-by-2 %d\n”, d, 2*d);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3005183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exercise 2: </a:t>
            </a:r>
            <a:r>
              <a:rPr lang="en-US" dirty="0" err="1"/>
              <a:t>toDigit</a:t>
            </a:r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209006" y="1492652"/>
            <a:ext cx="9115864" cy="4985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toDigit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returns the corresponding integer for c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if c is a valid digit character,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e.g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‘1’, ‘2’,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Otherwise, it returns -1.</a:t>
            </a: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(char c)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// test if c is a valid character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if (c &lt; ‘0’ || c &gt; ‘9’)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 return -1;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}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return c – ‘0’;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</a:p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d = </a:t>
            </a:r>
            <a:r>
              <a:rPr lang="en-US" altLang="zh-CN" sz="2400" dirty="0" err="1">
                <a:latin typeface="Consolas"/>
                <a:cs typeface="Consolas"/>
              </a:rPr>
              <a:t>toDigit</a:t>
            </a:r>
            <a:r>
              <a:rPr lang="en-US" altLang="zh-CN" sz="2400" dirty="0">
                <a:latin typeface="Consolas"/>
                <a:cs typeface="Consolas"/>
              </a:rPr>
              <a:t>(‘8’);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latin typeface="Consolas"/>
                <a:cs typeface="Consolas"/>
              </a:rPr>
              <a:t>printf</a:t>
            </a:r>
            <a:r>
              <a:rPr lang="en-US" altLang="zh-CN" sz="2400" dirty="0">
                <a:latin typeface="Consolas"/>
                <a:cs typeface="Consolas"/>
              </a:rPr>
              <a:t>(“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is %d, multiply-by-2 %d\n”, d, 2*d);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945007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Modern Standard: </a:t>
            </a:r>
            <a:r>
              <a:rPr lang="en-US" dirty="0" err="1"/>
              <a:t>UniCode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773" y="1208663"/>
            <a:ext cx="8815419" cy="3061552"/>
          </a:xfrm>
        </p:spPr>
        <p:txBody>
          <a:bodyPr>
            <a:normAutofit/>
          </a:bodyPr>
          <a:lstStyle/>
          <a:p>
            <a:r>
              <a:rPr lang="en-US" dirty="0"/>
              <a:t>ASCII can only represent 128 characters</a:t>
            </a:r>
          </a:p>
          <a:p>
            <a:pPr lvl="1"/>
            <a:r>
              <a:rPr lang="en-US" dirty="0"/>
              <a:t>How about Chinese, Korean, all of the worlds languages? Symbols? </a:t>
            </a:r>
            <a:r>
              <a:rPr lang="en-US" dirty="0" err="1"/>
              <a:t>Emojis</a:t>
            </a:r>
            <a:r>
              <a:rPr lang="en-US" dirty="0"/>
              <a:t>?</a:t>
            </a:r>
          </a:p>
          <a:p>
            <a:r>
              <a:rPr lang="en-US" dirty="0"/>
              <a:t>Unicode standard represents &gt;135,000 characters</a:t>
            </a:r>
          </a:p>
        </p:txBody>
      </p:sp>
      <p:pic>
        <p:nvPicPr>
          <p:cNvPr id="4" name="Picture 3" descr="Screen Shot 2018-02-08 at 1.49.59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9052" y="3420650"/>
            <a:ext cx="6134100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48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UTF-8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UTF-8 is one encoding form for Unicode</a:t>
            </a:r>
          </a:p>
          <a:p>
            <a:pPr lvl="1"/>
            <a:r>
              <a:rPr lang="en-US" dirty="0"/>
              <a:t>use 1, 2, or 4 byte to represent a character</a:t>
            </a:r>
          </a:p>
          <a:p>
            <a:pPr lvl="1"/>
            <a:r>
              <a:rPr lang="en-US" dirty="0"/>
              <a:t>Unicode for ASCII characters have the same ASCII value </a:t>
            </a:r>
            <a:r>
              <a:rPr lang="en-US" dirty="0">
                <a:sym typeface="Wingdings"/>
              </a:rPr>
              <a:t> UTF-8 one byte code is the same as ASCII</a:t>
            </a:r>
            <a:endParaRPr lang="en-US" dirty="0"/>
          </a:p>
          <a:p>
            <a:r>
              <a:rPr lang="en-US" dirty="0"/>
              <a:t>C has no primitive support for Unicode</a:t>
            </a:r>
          </a:p>
        </p:txBody>
      </p:sp>
    </p:spTree>
    <p:extLst>
      <p:ext uri="{BB962C8B-B14F-4D97-AF65-F5344CB8AC3E}">
        <p14:creationId xmlns:p14="http://schemas.microsoft.com/office/powerpoint/2010/main" val="2994530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268" y="274638"/>
            <a:ext cx="8797239" cy="1143000"/>
          </a:xfrm>
        </p:spPr>
        <p:txBody>
          <a:bodyPr>
            <a:normAutofit/>
          </a:bodyPr>
          <a:lstStyle/>
          <a:p>
            <a:r>
              <a:rPr lang="en-US" dirty="0"/>
              <a:t>What we’ve learnt and today’s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Bitwise operations</a:t>
            </a:r>
          </a:p>
          <a:p>
            <a:r>
              <a:rPr lang="en-US" dirty="0"/>
              <a:t>Pointers &amp; arrays</a:t>
            </a:r>
          </a:p>
          <a:p>
            <a:r>
              <a:rPr lang="en-US" dirty="0"/>
              <a:t>ASCII characters</a:t>
            </a:r>
          </a:p>
          <a:p>
            <a:r>
              <a:rPr lang="en-US" dirty="0"/>
              <a:t>Today’s lesson:</a:t>
            </a:r>
          </a:p>
          <a:p>
            <a:pPr lvl="1"/>
            <a:r>
              <a:rPr lang="en-US" dirty="0"/>
              <a:t>String</a:t>
            </a:r>
          </a:p>
          <a:p>
            <a:pPr lvl="1"/>
            <a:r>
              <a:rPr lang="en-US" dirty="0" err="1"/>
              <a:t>Struct</a:t>
            </a:r>
            <a:endParaRPr lang="en-US" dirty="0"/>
          </a:p>
          <a:p>
            <a:pPr lvl="1"/>
            <a:r>
              <a:rPr lang="en-US" dirty="0" err="1"/>
              <a:t>Malloc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955417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 Strings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0108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278700"/>
            <a:ext cx="8686800" cy="2541791"/>
          </a:xfrm>
        </p:spPr>
        <p:txBody>
          <a:bodyPr>
            <a:normAutofit/>
          </a:bodyPr>
          <a:lstStyle/>
          <a:p>
            <a:r>
              <a:rPr lang="en-US" dirty="0"/>
              <a:t>String is represented as an array of chars.</a:t>
            </a:r>
          </a:p>
          <a:p>
            <a:pPr lvl="1"/>
            <a:r>
              <a:rPr lang="en-US" dirty="0"/>
              <a:t>Array has no space to encode its length.</a:t>
            </a:r>
          </a:p>
          <a:p>
            <a:r>
              <a:rPr lang="en-US" dirty="0"/>
              <a:t>How to determine string length?</a:t>
            </a:r>
          </a:p>
          <a:p>
            <a:pPr lvl="1"/>
            <a:r>
              <a:rPr lang="en-US" dirty="0"/>
              <a:t>explicitly pass around an integer representing length</a:t>
            </a:r>
          </a:p>
          <a:p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457200" y="3820491"/>
            <a:ext cx="7962032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dirty="0" err="1">
                <a:solidFill>
                  <a:srgbClr val="0000FF"/>
                </a:solidFill>
                <a:latin typeface="Consolas"/>
                <a:cs typeface="Consolas"/>
              </a:rPr>
              <a:t>tolower_string</a:t>
            </a:r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 turns every character in character array s </a:t>
            </a:r>
          </a:p>
          <a:p>
            <a:r>
              <a:rPr lang="en-US" altLang="zh-CN" dirty="0">
                <a:solidFill>
                  <a:srgbClr val="0000FF"/>
                </a:solidFill>
                <a:latin typeface="Consolas"/>
                <a:cs typeface="Consolas"/>
              </a:rPr>
              <a:t>// into lower case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latin typeface="Consolas"/>
                <a:cs typeface="Consolas"/>
              </a:rPr>
              <a:t>tolower_string</a:t>
            </a:r>
            <a:r>
              <a:rPr lang="en-US" altLang="zh-CN" sz="2400" dirty="0">
                <a:latin typeface="Consolas"/>
                <a:cs typeface="Consolas"/>
              </a:rPr>
              <a:t>(char *s,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len</a:t>
            </a:r>
            <a:r>
              <a:rPr lang="en-US" altLang="zh-CN" sz="2400" dirty="0">
                <a:latin typeface="Consolas"/>
                <a:cs typeface="Consolas"/>
              </a:rPr>
              <a:t>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	  for (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 = 0;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 &lt; </a:t>
            </a:r>
            <a:r>
              <a:rPr lang="en-US" altLang="zh-CN" sz="2400" dirty="0" err="1">
                <a:latin typeface="Consolas"/>
                <a:cs typeface="Consolas"/>
              </a:rPr>
              <a:t>len</a:t>
            </a:r>
            <a:r>
              <a:rPr lang="en-US" altLang="zh-CN" sz="2400" dirty="0">
                <a:latin typeface="Consolas"/>
                <a:cs typeface="Consolas"/>
              </a:rPr>
              <a:t>;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++)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  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}  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43152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4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2928" y="1277473"/>
            <a:ext cx="8686800" cy="27561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String is represented as an array of chars.</a:t>
            </a:r>
          </a:p>
          <a:p>
            <a:pPr lvl="1"/>
            <a:r>
              <a:rPr lang="en-US" dirty="0"/>
              <a:t>Array has no space to encode its length.</a:t>
            </a:r>
          </a:p>
          <a:p>
            <a:r>
              <a:rPr lang="en-US" dirty="0"/>
              <a:t>How to determine string length?</a:t>
            </a:r>
          </a:p>
          <a:p>
            <a:pPr lvl="1"/>
            <a:r>
              <a:rPr lang="en-US" dirty="0"/>
              <a:t>explicitly pass around an integer representing length</a:t>
            </a:r>
          </a:p>
          <a:p>
            <a:pPr lvl="1"/>
            <a:r>
              <a:rPr lang="en-US" dirty="0">
                <a:solidFill>
                  <a:srgbClr val="3366FF"/>
                </a:solidFill>
              </a:rPr>
              <a:t>C string stores a NULL character to mark the end (by convention)</a:t>
            </a:r>
          </a:p>
        </p:txBody>
      </p:sp>
      <p:sp>
        <p:nvSpPr>
          <p:cNvPr id="4" name="矩形 3"/>
          <p:cNvSpPr/>
          <p:nvPr/>
        </p:nvSpPr>
        <p:spPr>
          <a:xfrm>
            <a:off x="457200" y="4166464"/>
            <a:ext cx="796203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latin typeface="Consolas"/>
                <a:cs typeface="Consolas"/>
              </a:rPr>
              <a:t>tolower_string</a:t>
            </a:r>
            <a:r>
              <a:rPr lang="en-US" altLang="zh-CN" sz="2400" dirty="0">
                <a:latin typeface="Consolas"/>
                <a:cs typeface="Consolas"/>
              </a:rPr>
              <a:t>(char *s) {</a:t>
            </a:r>
          </a:p>
          <a:p>
            <a:endParaRPr lang="en-US" altLang="zh-CN" sz="2400" dirty="0">
              <a:latin typeface="Consolas"/>
              <a:cs typeface="Consolas"/>
            </a:endParaRPr>
          </a:p>
          <a:p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8101764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8946"/>
            <a:ext cx="8229600" cy="1143000"/>
          </a:xfrm>
        </p:spPr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2928" y="1211946"/>
            <a:ext cx="8686800" cy="275612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String is represented as an array of chars.</a:t>
            </a:r>
          </a:p>
          <a:p>
            <a:pPr lvl="1"/>
            <a:r>
              <a:rPr lang="en-US" dirty="0"/>
              <a:t>Array has no space to encode its length.</a:t>
            </a:r>
          </a:p>
          <a:p>
            <a:r>
              <a:rPr lang="en-US" dirty="0"/>
              <a:t>How to determine string length?</a:t>
            </a:r>
          </a:p>
          <a:p>
            <a:pPr lvl="1"/>
            <a:r>
              <a:rPr lang="en-US" dirty="0"/>
              <a:t>explicitly pass around an integer representing length</a:t>
            </a:r>
          </a:p>
          <a:p>
            <a:pPr lvl="1"/>
            <a:r>
              <a:rPr lang="en-US" dirty="0"/>
              <a:t>C string stores a NULL character to mark the end (by convention)</a:t>
            </a:r>
          </a:p>
        </p:txBody>
      </p:sp>
      <p:sp>
        <p:nvSpPr>
          <p:cNvPr id="4" name="矩形 3"/>
          <p:cNvSpPr/>
          <p:nvPr/>
        </p:nvSpPr>
        <p:spPr>
          <a:xfrm>
            <a:off x="457200" y="3968073"/>
            <a:ext cx="7962032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latin typeface="Consolas"/>
                <a:cs typeface="Consolas"/>
              </a:rPr>
              <a:t>tolower_string</a:t>
            </a:r>
            <a:r>
              <a:rPr lang="en-US" altLang="zh-CN" sz="2400" dirty="0">
                <a:latin typeface="Consolas"/>
                <a:cs typeface="Consolas"/>
              </a:rPr>
              <a:t>(char *s)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while (s[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 != ‘\0’) {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latin typeface="Consolas"/>
                <a:cs typeface="Consolas"/>
              </a:rPr>
              <a:t>tolower</a:t>
            </a:r>
            <a:r>
              <a:rPr lang="en-US" altLang="zh-CN" sz="2400" dirty="0">
                <a:latin typeface="Consolas"/>
                <a:cs typeface="Consolas"/>
              </a:rPr>
              <a:t>(s[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latin typeface="Consolas"/>
                <a:cs typeface="Consolas"/>
              </a:rPr>
              <a:t>i</a:t>
            </a:r>
            <a:r>
              <a:rPr lang="en-US" altLang="zh-CN" sz="2400" dirty="0"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 }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}</a:t>
            </a:r>
            <a:endParaRPr lang="zh-CN" altLang="en-US" sz="24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2765068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string?</a:t>
            </a:r>
          </a:p>
        </p:txBody>
      </p:sp>
      <p:sp>
        <p:nvSpPr>
          <p:cNvPr id="4" name="矩形 3"/>
          <p:cNvSpPr/>
          <p:nvPr/>
        </p:nvSpPr>
        <p:spPr>
          <a:xfrm>
            <a:off x="328581" y="2324270"/>
            <a:ext cx="5163008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*h;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 = s;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0" y="1628086"/>
            <a:ext cx="4041040" cy="1667291"/>
            <a:chOff x="0" y="1628086"/>
            <a:chExt cx="4041040" cy="1667291"/>
          </a:xfrm>
        </p:grpSpPr>
        <p:cxnSp>
          <p:nvCxnSpPr>
            <p:cNvPr id="6" name="Straight Arrow Connector 5"/>
            <p:cNvCxnSpPr/>
            <p:nvPr/>
          </p:nvCxnSpPr>
          <p:spPr>
            <a:xfrm flipH="1">
              <a:off x="964642" y="2089751"/>
              <a:ext cx="1205802" cy="12056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0" y="1628086"/>
              <a:ext cx="4041040" cy="461665"/>
            </a:xfrm>
            <a:prstGeom prst="rect">
              <a:avLst/>
            </a:prstGeom>
            <a:solidFill>
              <a:srgbClr val="DCE6F2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does this make a copy of  “hi”?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5053098" y="4119721"/>
            <a:ext cx="1752337" cy="1972891"/>
            <a:chOff x="5053098" y="4119721"/>
            <a:chExt cx="1752337" cy="1972891"/>
          </a:xfrm>
        </p:grpSpPr>
        <p:sp>
          <p:nvSpPr>
            <p:cNvPr id="10" name="矩形 3"/>
            <p:cNvSpPr/>
            <p:nvPr/>
          </p:nvSpPr>
          <p:spPr>
            <a:xfrm>
              <a:off x="5713437" y="4486649"/>
              <a:ext cx="1091998" cy="1232305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>
                <a:lnSpc>
                  <a:spcPct val="50000"/>
                </a:lnSpc>
              </a:pPr>
              <a:r>
                <a:rPr kumimoji="1" lang="mr-IN" altLang="zh-CN" sz="3600" b="1" dirty="0">
                  <a:solidFill>
                    <a:prstClr val="black"/>
                  </a:solidFill>
                </a:rPr>
                <a:t>…</a:t>
              </a:r>
              <a:endParaRPr kumimoji="1" lang="zh-CN" altLang="en-US" dirty="0"/>
            </a:p>
          </p:txBody>
        </p:sp>
        <p:sp>
          <p:nvSpPr>
            <p:cNvPr id="21" name="矩形 44"/>
            <p:cNvSpPr/>
            <p:nvPr/>
          </p:nvSpPr>
          <p:spPr>
            <a:xfrm>
              <a:off x="5713437" y="4126286"/>
              <a:ext cx="1091998" cy="366927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7" name="矩形 37"/>
            <p:cNvSpPr/>
            <p:nvPr/>
          </p:nvSpPr>
          <p:spPr>
            <a:xfrm>
              <a:off x="5053098" y="5723280"/>
              <a:ext cx="43849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>
                  <a:latin typeface="Consolas"/>
                  <a:ea typeface="宋体" pitchFamily="2" charset="-122"/>
                  <a:cs typeface="Consolas"/>
                </a:rPr>
                <a:t>h:</a:t>
              </a:r>
              <a:endParaRPr lang="zh-CN" altLang="en-US" dirty="0"/>
            </a:p>
          </p:txBody>
        </p:sp>
        <p:sp>
          <p:nvSpPr>
            <p:cNvPr id="30" name="矩形 5"/>
            <p:cNvSpPr/>
            <p:nvPr/>
          </p:nvSpPr>
          <p:spPr>
            <a:xfrm>
              <a:off x="5713437" y="5718954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31" name="Left Bracket 30"/>
            <p:cNvSpPr/>
            <p:nvPr/>
          </p:nvSpPr>
          <p:spPr>
            <a:xfrm>
              <a:off x="5531193" y="4119721"/>
              <a:ext cx="231116" cy="1955339"/>
            </a:xfrm>
            <a:prstGeom prst="lef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5931858" y="3480620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9182" y="6228509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grpSp>
        <p:nvGrpSpPr>
          <p:cNvPr id="40" name="Group 39"/>
          <p:cNvGrpSpPr/>
          <p:nvPr/>
        </p:nvGrpSpPr>
        <p:grpSpPr>
          <a:xfrm>
            <a:off x="5053098" y="1801050"/>
            <a:ext cx="4065151" cy="1679570"/>
            <a:chOff x="5053098" y="1801050"/>
            <a:chExt cx="4065151" cy="1679570"/>
          </a:xfrm>
        </p:grpSpPr>
        <p:grpSp>
          <p:nvGrpSpPr>
            <p:cNvPr id="38" name="Group 37"/>
            <p:cNvGrpSpPr/>
            <p:nvPr/>
          </p:nvGrpSpPr>
          <p:grpSpPr>
            <a:xfrm>
              <a:off x="5053098" y="2433900"/>
              <a:ext cx="4065151" cy="1046720"/>
              <a:chOff x="5004279" y="5384483"/>
              <a:chExt cx="4065151" cy="1046720"/>
            </a:xfrm>
          </p:grpSpPr>
          <p:sp>
            <p:nvSpPr>
              <p:cNvPr id="12" name="矩形 5"/>
              <p:cNvSpPr/>
              <p:nvPr/>
            </p:nvSpPr>
            <p:spPr>
              <a:xfrm>
                <a:off x="5676802" y="5384484"/>
                <a:ext cx="1091998" cy="356106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0x00</a:t>
                </a:r>
                <a:endParaRPr kumimoji="1" lang="zh-CN" altLang="en-US" dirty="0"/>
              </a:p>
            </p:txBody>
          </p:sp>
          <p:sp>
            <p:nvSpPr>
              <p:cNvPr id="16" name="矩形 9"/>
              <p:cNvSpPr/>
              <p:nvPr/>
            </p:nvSpPr>
            <p:spPr>
              <a:xfrm>
                <a:off x="5676802" y="5694460"/>
                <a:ext cx="1091998" cy="356106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‘</a:t>
                </a:r>
                <a:r>
                  <a:rPr kumimoji="1" lang="en-US" altLang="zh-CN" dirty="0" err="1"/>
                  <a:t>i</a:t>
                </a:r>
                <a:r>
                  <a:rPr kumimoji="1" lang="en-US" altLang="zh-CN" dirty="0"/>
                  <a:t>’</a:t>
                </a:r>
                <a:endParaRPr kumimoji="1" lang="zh-CN" altLang="en-US" dirty="0"/>
              </a:p>
            </p:txBody>
          </p:sp>
          <p:sp>
            <p:nvSpPr>
              <p:cNvPr id="18" name="矩形 11"/>
              <p:cNvSpPr/>
              <p:nvPr/>
            </p:nvSpPr>
            <p:spPr>
              <a:xfrm>
                <a:off x="5676802" y="6048001"/>
                <a:ext cx="1091998" cy="356106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‘h’</a:t>
                </a:r>
                <a:endParaRPr kumimoji="1" lang="zh-CN" altLang="en-US" dirty="0"/>
              </a:p>
            </p:txBody>
          </p:sp>
          <p:sp>
            <p:nvSpPr>
              <p:cNvPr id="23" name="矩形 37"/>
              <p:cNvSpPr/>
              <p:nvPr/>
            </p:nvSpPr>
            <p:spPr>
              <a:xfrm>
                <a:off x="5004279" y="6034775"/>
                <a:ext cx="43849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CN" dirty="0">
                    <a:latin typeface="Consolas"/>
                    <a:ea typeface="宋体" pitchFamily="2" charset="-122"/>
                    <a:cs typeface="Consolas"/>
                  </a:rPr>
                  <a:t>s:</a:t>
                </a:r>
                <a:endParaRPr lang="zh-CN" altLang="en-US" dirty="0"/>
              </a:p>
            </p:txBody>
          </p:sp>
          <p:sp>
            <p:nvSpPr>
              <p:cNvPr id="26" name="Left Bracket 25"/>
              <p:cNvSpPr/>
              <p:nvPr/>
            </p:nvSpPr>
            <p:spPr>
              <a:xfrm>
                <a:off x="5482374" y="5384483"/>
                <a:ext cx="191512" cy="1019623"/>
              </a:xfrm>
              <a:prstGeom prst="leftBracket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6768800" y="6061871"/>
                <a:ext cx="23006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0xdeadbefef12345678</a:t>
                </a:r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5991765" y="1801050"/>
              <a:ext cx="4566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...</a:t>
              </a: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5713437" y="4137107"/>
            <a:ext cx="1101266" cy="1955505"/>
            <a:chOff x="5713437" y="4137107"/>
            <a:chExt cx="1101266" cy="1955505"/>
          </a:xfrm>
        </p:grpSpPr>
        <p:sp>
          <p:nvSpPr>
            <p:cNvPr id="41" name="矩形 5"/>
            <p:cNvSpPr/>
            <p:nvPr/>
          </p:nvSpPr>
          <p:spPr>
            <a:xfrm>
              <a:off x="5713437" y="5736506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0x78</a:t>
              </a:r>
              <a:endParaRPr kumimoji="1" lang="zh-CN" altLang="en-US" dirty="0"/>
            </a:p>
          </p:txBody>
        </p:sp>
        <p:sp>
          <p:nvSpPr>
            <p:cNvPr id="42" name="矩形 5"/>
            <p:cNvSpPr/>
            <p:nvPr/>
          </p:nvSpPr>
          <p:spPr>
            <a:xfrm>
              <a:off x="5722705" y="4137107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0xde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6475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string?</a:t>
            </a:r>
          </a:p>
        </p:txBody>
      </p:sp>
      <p:sp>
        <p:nvSpPr>
          <p:cNvPr id="5" name="矩形 3"/>
          <p:cNvSpPr/>
          <p:nvPr/>
        </p:nvSpPr>
        <p:spPr>
          <a:xfrm>
            <a:off x="939519" y="1809870"/>
            <a:ext cx="5521605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char h[3];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 = s;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grpSp>
        <p:nvGrpSpPr>
          <p:cNvPr id="44" name="Group 43"/>
          <p:cNvGrpSpPr/>
          <p:nvPr/>
        </p:nvGrpSpPr>
        <p:grpSpPr>
          <a:xfrm>
            <a:off x="1527349" y="1186805"/>
            <a:ext cx="4041040" cy="1667291"/>
            <a:chOff x="1527349" y="1186805"/>
            <a:chExt cx="4041040" cy="1667291"/>
          </a:xfrm>
        </p:grpSpPr>
        <p:cxnSp>
          <p:nvCxnSpPr>
            <p:cNvPr id="6" name="Straight Arrow Connector 5"/>
            <p:cNvCxnSpPr/>
            <p:nvPr/>
          </p:nvCxnSpPr>
          <p:spPr>
            <a:xfrm flipH="1">
              <a:off x="2491991" y="1648470"/>
              <a:ext cx="1205802" cy="1205626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527349" y="1186805"/>
              <a:ext cx="4041040" cy="461665"/>
            </a:xfrm>
            <a:prstGeom prst="rect">
              <a:avLst/>
            </a:prstGeom>
            <a:solidFill>
              <a:srgbClr val="DCE6F2"/>
            </a:solidFill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does this make a copy of  “hi”?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699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417638"/>
            <a:ext cx="661684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char h[3];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(h, s);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678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047912"/>
            <a:ext cx="6616840" cy="600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 {  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while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!= ‘\0’)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	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latin typeface="Consolas"/>
                <a:cs typeface="Consolas"/>
              </a:rPr>
              <a:t>   char h[3];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(h, s);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3943" y="3333308"/>
            <a:ext cx="4290057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 err="1"/>
              <a:t>strcpy</a:t>
            </a:r>
            <a:r>
              <a:rPr lang="en-US" sz="2400" dirty="0"/>
              <a:t> is included in C </a:t>
            </a:r>
            <a:r>
              <a:rPr lang="en-US" sz="2400" dirty="0" err="1"/>
              <a:t>std</a:t>
            </a:r>
            <a:r>
              <a:rPr lang="en-US" sz="2400" dirty="0"/>
              <a:t> library.</a:t>
            </a:r>
          </a:p>
        </p:txBody>
      </p:sp>
    </p:spTree>
    <p:extLst>
      <p:ext uri="{BB962C8B-B14F-4D97-AF65-F5344CB8AC3E}">
        <p14:creationId xmlns:p14="http://schemas.microsoft.com/office/powerpoint/2010/main" val="1001064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047912"/>
            <a:ext cx="6616840" cy="600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 {  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while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!= ‘\0’)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	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  char h[2];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strcpy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(h, s);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29316" y="4629602"/>
            <a:ext cx="3957484" cy="830997"/>
          </a:xfrm>
          <a:prstGeom prst="rect">
            <a:avLst/>
          </a:prstGeom>
          <a:solidFill>
            <a:srgbClr val="F2DCDB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Results in out-of-bound write!</a:t>
            </a:r>
          </a:p>
          <a:p>
            <a:r>
              <a:rPr lang="en-US" sz="2400" dirty="0"/>
              <a:t>Buffer overflow!</a:t>
            </a:r>
          </a:p>
        </p:txBody>
      </p:sp>
    </p:spTree>
    <p:extLst>
      <p:ext uri="{BB962C8B-B14F-4D97-AF65-F5344CB8AC3E}">
        <p14:creationId xmlns:p14="http://schemas.microsoft.com/office/powerpoint/2010/main" val="41954112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/>
              <a:t>Copying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047912"/>
            <a:ext cx="7533250" cy="6001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void </a:t>
            </a:r>
            <a:r>
              <a:rPr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strncpy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char *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, </a:t>
            </a:r>
            <a:r>
              <a:rPr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n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 {  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while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!= ‘\0’ &amp;&amp;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&lt; n)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dst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 =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src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	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s[3]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   char h[2];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FF0000"/>
                </a:solidFill>
                <a:latin typeface="Consolas"/>
                <a:cs typeface="Consolas"/>
              </a:rPr>
              <a:t>strncpy</a:t>
            </a:r>
            <a:r>
              <a:rPr lang="en-US" altLang="zh-CN" sz="2400" dirty="0">
                <a:solidFill>
                  <a:srgbClr val="FF0000"/>
                </a:solidFill>
                <a:latin typeface="Consolas"/>
                <a:cs typeface="Consolas"/>
              </a:rPr>
              <a:t>(h, s, 2);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h[0] = ‘H’;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(“s=%s h=%s\n”,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s,h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53943" y="3333308"/>
            <a:ext cx="445176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 err="1"/>
              <a:t>strncpy</a:t>
            </a:r>
            <a:r>
              <a:rPr lang="en-US" sz="2400" dirty="0"/>
              <a:t> is included in C </a:t>
            </a:r>
            <a:r>
              <a:rPr lang="en-US" sz="2400" dirty="0" err="1"/>
              <a:t>std</a:t>
            </a:r>
            <a:r>
              <a:rPr lang="en-US" sz="2400" dirty="0"/>
              <a:t> library.</a:t>
            </a:r>
          </a:p>
        </p:txBody>
      </p:sp>
    </p:spTree>
    <p:extLst>
      <p:ext uri="{BB962C8B-B14F-4D97-AF65-F5344CB8AC3E}">
        <p14:creationId xmlns:p14="http://schemas.microsoft.com/office/powerpoint/2010/main" val="209656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different way of initializing string</a:t>
            </a:r>
          </a:p>
        </p:txBody>
      </p:sp>
      <p:sp>
        <p:nvSpPr>
          <p:cNvPr id="4" name="矩形 3"/>
          <p:cNvSpPr/>
          <p:nvPr/>
        </p:nvSpPr>
        <p:spPr>
          <a:xfrm>
            <a:off x="199962" y="1576322"/>
            <a:ext cx="5523581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s1[3]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//equivalent to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//char s1[3] = “hi”;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*s2 = “bye”;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s1[0] = ‘H’;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s2[0] = ‘B’;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(“s1=%s s2=%s\n”,s1,s2);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957609" y="895372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grpSp>
        <p:nvGrpSpPr>
          <p:cNvPr id="71" name="Group 70"/>
          <p:cNvGrpSpPr/>
          <p:nvPr/>
        </p:nvGrpSpPr>
        <p:grpSpPr>
          <a:xfrm>
            <a:off x="3933871" y="3016529"/>
            <a:ext cx="2023738" cy="523220"/>
            <a:chOff x="2779059" y="2340393"/>
            <a:chExt cx="2023738" cy="523220"/>
          </a:xfrm>
        </p:grpSpPr>
        <p:sp>
          <p:nvSpPr>
            <p:cNvPr id="66" name="TextBox 65"/>
            <p:cNvSpPr txBox="1"/>
            <p:nvPr/>
          </p:nvSpPr>
          <p:spPr>
            <a:xfrm>
              <a:off x="4178933" y="2340393"/>
              <a:ext cx="62386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OK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 flipH="1">
              <a:off x="2779059" y="2584824"/>
              <a:ext cx="139987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/>
          <p:cNvGrpSpPr/>
          <p:nvPr/>
        </p:nvGrpSpPr>
        <p:grpSpPr>
          <a:xfrm>
            <a:off x="2785738" y="3444499"/>
            <a:ext cx="6117306" cy="523220"/>
            <a:chOff x="2785738" y="2741845"/>
            <a:chExt cx="6117306" cy="523220"/>
          </a:xfrm>
        </p:grpSpPr>
        <p:sp>
          <p:nvSpPr>
            <p:cNvPr id="69" name="TextBox 68"/>
            <p:cNvSpPr txBox="1"/>
            <p:nvPr/>
          </p:nvSpPr>
          <p:spPr>
            <a:xfrm>
              <a:off x="4185612" y="2741845"/>
              <a:ext cx="47174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Segmentation fault (bus error)</a:t>
              </a:r>
            </a:p>
          </p:txBody>
        </p:sp>
        <p:cxnSp>
          <p:nvCxnSpPr>
            <p:cNvPr id="70" name="Straight Arrow Connector 69"/>
            <p:cNvCxnSpPr/>
            <p:nvPr/>
          </p:nvCxnSpPr>
          <p:spPr>
            <a:xfrm flipH="1">
              <a:off x="2785738" y="3003455"/>
              <a:ext cx="1399874" cy="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53390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different way of initializing string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15704" y="1268788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40" name="矩形 3"/>
          <p:cNvSpPr/>
          <p:nvPr/>
        </p:nvSpPr>
        <p:spPr>
          <a:xfrm>
            <a:off x="5750761" y="3578764"/>
            <a:ext cx="1091998" cy="123230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50000"/>
              </a:lnSpc>
            </a:pPr>
            <a:r>
              <a:rPr kumimoji="1" lang="mr-IN" altLang="zh-CN" sz="3600" b="1" dirty="0">
                <a:solidFill>
                  <a:prstClr val="black"/>
                </a:solidFill>
              </a:rPr>
              <a:t>…</a:t>
            </a:r>
            <a:endParaRPr kumimoji="1" lang="zh-CN" altLang="en-US" dirty="0"/>
          </a:p>
        </p:txBody>
      </p:sp>
      <p:sp>
        <p:nvSpPr>
          <p:cNvPr id="41" name="矩形 44"/>
          <p:cNvSpPr/>
          <p:nvPr/>
        </p:nvSpPr>
        <p:spPr>
          <a:xfrm>
            <a:off x="5750761" y="3218401"/>
            <a:ext cx="1091998" cy="36692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0x00</a:t>
            </a:r>
            <a:endParaRPr kumimoji="1" lang="zh-CN" altLang="en-US" dirty="0"/>
          </a:p>
        </p:txBody>
      </p:sp>
      <p:sp>
        <p:nvSpPr>
          <p:cNvPr id="42" name="矩形 37"/>
          <p:cNvSpPr/>
          <p:nvPr/>
        </p:nvSpPr>
        <p:spPr>
          <a:xfrm>
            <a:off x="5090422" y="4815395"/>
            <a:ext cx="5654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/>
                <a:ea typeface="宋体" pitchFamily="2" charset="-122"/>
                <a:cs typeface="Consolas"/>
              </a:rPr>
              <a:t>s2:</a:t>
            </a:r>
            <a:endParaRPr lang="zh-CN" altLang="en-US" dirty="0"/>
          </a:p>
        </p:txBody>
      </p:sp>
      <p:grpSp>
        <p:nvGrpSpPr>
          <p:cNvPr id="43" name="Group 42"/>
          <p:cNvGrpSpPr/>
          <p:nvPr/>
        </p:nvGrpSpPr>
        <p:grpSpPr>
          <a:xfrm>
            <a:off x="5078849" y="1787625"/>
            <a:ext cx="4065151" cy="1046720"/>
            <a:chOff x="5004279" y="5384483"/>
            <a:chExt cx="4065151" cy="1046720"/>
          </a:xfrm>
        </p:grpSpPr>
        <p:sp>
          <p:nvSpPr>
            <p:cNvPr id="44" name="矩形 5"/>
            <p:cNvSpPr/>
            <p:nvPr/>
          </p:nvSpPr>
          <p:spPr>
            <a:xfrm>
              <a:off x="5676802" y="5384484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0x00</a:t>
              </a:r>
              <a:endParaRPr kumimoji="1" lang="zh-CN" altLang="en-US" dirty="0"/>
            </a:p>
          </p:txBody>
        </p:sp>
        <p:sp>
          <p:nvSpPr>
            <p:cNvPr id="46" name="矩形 9"/>
            <p:cNvSpPr/>
            <p:nvPr/>
          </p:nvSpPr>
          <p:spPr>
            <a:xfrm>
              <a:off x="5676802" y="5694460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‘</a:t>
              </a:r>
              <a:r>
                <a:rPr kumimoji="1" lang="en-US" altLang="zh-CN" dirty="0" err="1"/>
                <a:t>i</a:t>
              </a:r>
              <a:r>
                <a:rPr kumimoji="1" lang="en-US" altLang="zh-CN" dirty="0"/>
                <a:t>’</a:t>
              </a:r>
              <a:endParaRPr kumimoji="1" lang="zh-CN" altLang="en-US" dirty="0"/>
            </a:p>
          </p:txBody>
        </p:sp>
        <p:sp>
          <p:nvSpPr>
            <p:cNvPr id="47" name="矩形 11"/>
            <p:cNvSpPr/>
            <p:nvPr/>
          </p:nvSpPr>
          <p:spPr>
            <a:xfrm>
              <a:off x="5676802" y="6048001"/>
              <a:ext cx="1091998" cy="356106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‘h’</a:t>
              </a:r>
              <a:endParaRPr kumimoji="1" lang="zh-CN" altLang="en-US" dirty="0"/>
            </a:p>
          </p:txBody>
        </p:sp>
        <p:sp>
          <p:nvSpPr>
            <p:cNvPr id="48" name="矩形 37"/>
            <p:cNvSpPr/>
            <p:nvPr/>
          </p:nvSpPr>
          <p:spPr>
            <a:xfrm>
              <a:off x="5004279" y="6034775"/>
              <a:ext cx="56540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dirty="0">
                  <a:latin typeface="Consolas"/>
                  <a:ea typeface="宋体" pitchFamily="2" charset="-122"/>
                  <a:cs typeface="Consolas"/>
                </a:rPr>
                <a:t>s1:</a:t>
              </a:r>
              <a:endParaRPr lang="zh-CN" altLang="en-US" dirty="0"/>
            </a:p>
          </p:txBody>
        </p:sp>
        <p:sp>
          <p:nvSpPr>
            <p:cNvPr id="49" name="Left Bracket 48"/>
            <p:cNvSpPr/>
            <p:nvPr/>
          </p:nvSpPr>
          <p:spPr>
            <a:xfrm>
              <a:off x="5569682" y="5384483"/>
              <a:ext cx="104203" cy="1019623"/>
            </a:xfrm>
            <a:prstGeom prst="leftBracket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768800" y="6061871"/>
              <a:ext cx="23006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0xdeadbefef12345678</a:t>
              </a:r>
            </a:p>
          </p:txBody>
        </p:sp>
      </p:grpSp>
      <p:sp>
        <p:nvSpPr>
          <p:cNvPr id="51" name="矩形 5"/>
          <p:cNvSpPr/>
          <p:nvPr/>
        </p:nvSpPr>
        <p:spPr>
          <a:xfrm>
            <a:off x="5750761" y="4811069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0x21</a:t>
            </a:r>
            <a:endParaRPr kumimoji="1" lang="zh-CN" altLang="en-US" dirty="0"/>
          </a:p>
        </p:txBody>
      </p:sp>
      <p:sp>
        <p:nvSpPr>
          <p:cNvPr id="52" name="Left Bracket 51"/>
          <p:cNvSpPr/>
          <p:nvPr/>
        </p:nvSpPr>
        <p:spPr>
          <a:xfrm>
            <a:off x="5568517" y="3211836"/>
            <a:ext cx="231116" cy="1955339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5969182" y="2572735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69182" y="4905565"/>
            <a:ext cx="456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...</a:t>
            </a:r>
          </a:p>
        </p:txBody>
      </p:sp>
      <p:sp>
        <p:nvSpPr>
          <p:cNvPr id="56" name="矩形 5"/>
          <p:cNvSpPr/>
          <p:nvPr/>
        </p:nvSpPr>
        <p:spPr>
          <a:xfrm>
            <a:off x="5767479" y="539497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0x00</a:t>
            </a:r>
            <a:endParaRPr kumimoji="1" lang="zh-CN" altLang="en-US" dirty="0"/>
          </a:p>
        </p:txBody>
      </p:sp>
      <p:sp>
        <p:nvSpPr>
          <p:cNvPr id="58" name="矩形 9"/>
          <p:cNvSpPr/>
          <p:nvPr/>
        </p:nvSpPr>
        <p:spPr>
          <a:xfrm>
            <a:off x="5767479" y="5704951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‘e’</a:t>
            </a:r>
            <a:endParaRPr kumimoji="1" lang="zh-CN" altLang="en-US" dirty="0"/>
          </a:p>
        </p:txBody>
      </p:sp>
      <p:sp>
        <p:nvSpPr>
          <p:cNvPr id="59" name="矩形 11"/>
          <p:cNvSpPr/>
          <p:nvPr/>
        </p:nvSpPr>
        <p:spPr>
          <a:xfrm>
            <a:off x="5767479" y="6058492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‘y’</a:t>
            </a:r>
            <a:endParaRPr kumimoji="1" lang="zh-CN" altLang="en-US" dirty="0"/>
          </a:p>
        </p:txBody>
      </p:sp>
      <p:sp>
        <p:nvSpPr>
          <p:cNvPr id="61" name="TextBox 60"/>
          <p:cNvSpPr txBox="1"/>
          <p:nvPr/>
        </p:nvSpPr>
        <p:spPr>
          <a:xfrm>
            <a:off x="6859477" y="6360068"/>
            <a:ext cx="2273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0x0000000087654321</a:t>
            </a:r>
          </a:p>
        </p:txBody>
      </p:sp>
      <p:sp>
        <p:nvSpPr>
          <p:cNvPr id="62" name="矩形 11"/>
          <p:cNvSpPr/>
          <p:nvPr/>
        </p:nvSpPr>
        <p:spPr>
          <a:xfrm>
            <a:off x="5761893" y="6388945"/>
            <a:ext cx="1091998" cy="35610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‘b’</a:t>
            </a:r>
            <a:endParaRPr kumimoji="1" lang="zh-CN" altLang="en-US" dirty="0"/>
          </a:p>
        </p:txBody>
      </p:sp>
      <p:sp>
        <p:nvSpPr>
          <p:cNvPr id="63" name="Rectangle 62"/>
          <p:cNvSpPr/>
          <p:nvPr/>
        </p:nvSpPr>
        <p:spPr>
          <a:xfrm>
            <a:off x="5799633" y="5428784"/>
            <a:ext cx="1098285" cy="1300615"/>
          </a:xfrm>
          <a:prstGeom prst="rect">
            <a:avLst/>
          </a:prstGeom>
          <a:solidFill>
            <a:schemeClr val="accent1">
              <a:lumMod val="40000"/>
              <a:lumOff val="60000"/>
              <a:alpha val="38000"/>
            </a:schemeClr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Left Brace 63"/>
          <p:cNvSpPr/>
          <p:nvPr/>
        </p:nvSpPr>
        <p:spPr>
          <a:xfrm>
            <a:off x="5090422" y="5539523"/>
            <a:ext cx="478095" cy="102444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TextBox 64"/>
          <p:cNvSpPr txBox="1"/>
          <p:nvPr/>
        </p:nvSpPr>
        <p:spPr>
          <a:xfrm>
            <a:off x="3995875" y="5876391"/>
            <a:ext cx="10829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read-only</a:t>
            </a:r>
          </a:p>
          <a:p>
            <a:r>
              <a:rPr lang="en-US" dirty="0"/>
              <a:t>memory</a:t>
            </a:r>
          </a:p>
        </p:txBody>
      </p:sp>
      <p:sp>
        <p:nvSpPr>
          <p:cNvPr id="3" name="Freeform 2"/>
          <p:cNvSpPr/>
          <p:nvPr/>
        </p:nvSpPr>
        <p:spPr>
          <a:xfrm>
            <a:off x="6693647" y="4140366"/>
            <a:ext cx="1109148" cy="2493516"/>
          </a:xfrm>
          <a:custGeom>
            <a:avLst/>
            <a:gdLst>
              <a:gd name="connsiteX0" fmla="*/ 0 w 1109148"/>
              <a:gd name="connsiteY0" fmla="*/ 28222 h 2493516"/>
              <a:gd name="connsiteX1" fmla="*/ 1030941 w 1109148"/>
              <a:gd name="connsiteY1" fmla="*/ 282222 h 2493516"/>
              <a:gd name="connsiteX2" fmla="*/ 956235 w 1109148"/>
              <a:gd name="connsiteY2" fmla="*/ 2060222 h 2493516"/>
              <a:gd name="connsiteX3" fmla="*/ 313765 w 1109148"/>
              <a:gd name="connsiteY3" fmla="*/ 2493516 h 2493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09148" h="2493516">
                <a:moveTo>
                  <a:pt x="0" y="28222"/>
                </a:moveTo>
                <a:cubicBezTo>
                  <a:pt x="435784" y="-14112"/>
                  <a:pt x="871569" y="-56445"/>
                  <a:pt x="1030941" y="282222"/>
                </a:cubicBezTo>
                <a:cubicBezTo>
                  <a:pt x="1190314" y="620889"/>
                  <a:pt x="1075764" y="1691673"/>
                  <a:pt x="956235" y="2060222"/>
                </a:cubicBezTo>
                <a:cubicBezTo>
                  <a:pt x="836706" y="2428771"/>
                  <a:pt x="313765" y="2493516"/>
                  <a:pt x="313765" y="2493516"/>
                </a:cubicBezTo>
              </a:path>
            </a:pathLst>
          </a:custGeom>
          <a:ln>
            <a:headEnd type="oval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矩形 3"/>
          <p:cNvSpPr/>
          <p:nvPr/>
        </p:nvSpPr>
        <p:spPr>
          <a:xfrm>
            <a:off x="199962" y="1576322"/>
            <a:ext cx="5523581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s1[3] = {‘h’,‘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’,‘\0’};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//equivalent to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//char s1[3] = “hi”;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char *s2 = “bye”;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s1[0] = ‘H’;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s2[0] = ‘B’;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(“s1=%s s2=%s\n”,s1,s2);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8533150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Atoi</a:t>
            </a:r>
            <a:r>
              <a:rPr lang="en-US" dirty="0"/>
              <a:t> function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417638"/>
            <a:ext cx="661684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sz="2000" dirty="0" err="1">
                <a:solidFill>
                  <a:srgbClr val="0000FF"/>
                </a:solidFill>
                <a:latin typeface="Consolas"/>
                <a:cs typeface="Consolas"/>
              </a:rPr>
              <a:t>atoi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 returns the integer </a:t>
            </a:r>
          </a:p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corresponding to the string of digits</a:t>
            </a: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atoi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*s)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main()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char *s= “123”;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(“integer is %d\n”,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atoi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(s));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67087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Atoi</a:t>
            </a:r>
            <a:r>
              <a:rPr lang="en-US" dirty="0"/>
              <a:t> function</a:t>
            </a:r>
          </a:p>
        </p:txBody>
      </p:sp>
      <p:sp>
        <p:nvSpPr>
          <p:cNvPr id="4" name="矩形 3"/>
          <p:cNvSpPr/>
          <p:nvPr/>
        </p:nvSpPr>
        <p:spPr>
          <a:xfrm>
            <a:off x="939520" y="1417638"/>
            <a:ext cx="6616840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</a:t>
            </a:r>
            <a:r>
              <a:rPr lang="en-US" altLang="zh-CN" sz="2000" dirty="0" err="1">
                <a:solidFill>
                  <a:srgbClr val="0000FF"/>
                </a:solidFill>
                <a:latin typeface="Consolas"/>
                <a:cs typeface="Consolas"/>
              </a:rPr>
              <a:t>atoi</a:t>
            </a:r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 returns the integer </a:t>
            </a:r>
          </a:p>
          <a:p>
            <a:r>
              <a:rPr lang="en-US" altLang="zh-CN" sz="2000" dirty="0">
                <a:solidFill>
                  <a:srgbClr val="0000FF"/>
                </a:solidFill>
                <a:latin typeface="Consolas"/>
                <a:cs typeface="Consolas"/>
              </a:rPr>
              <a:t>// corresponding to the string of digits</a:t>
            </a: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atoi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(char *s) {</a:t>
            </a:r>
          </a:p>
          <a:p>
            <a:r>
              <a:rPr lang="en-US" sz="2400" dirty="0"/>
              <a:t>     </a:t>
            </a:r>
            <a:r>
              <a:rPr lang="en-US" sz="2400" dirty="0" err="1"/>
              <a:t>int</a:t>
            </a:r>
            <a:r>
              <a:rPr lang="en-US" sz="2400" dirty="0"/>
              <a:t> result = 0;</a:t>
            </a:r>
          </a:p>
          <a:p>
            <a:r>
              <a:rPr lang="en-US" sz="2400" dirty="0"/>
              <a:t>     </a:t>
            </a:r>
            <a:r>
              <a:rPr lang="en-US" sz="2400" dirty="0" err="1"/>
              <a:t>int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= 0;</a:t>
            </a:r>
          </a:p>
          <a:p>
            <a:r>
              <a:rPr lang="en-US" sz="2400" dirty="0"/>
              <a:t>     while (s[</a:t>
            </a:r>
            <a:r>
              <a:rPr lang="en-US" sz="2400" dirty="0" err="1"/>
              <a:t>i</a:t>
            </a:r>
            <a:r>
              <a:rPr lang="en-US" sz="2400" dirty="0"/>
              <a:t>] &gt;= '0' &amp;&amp; s[</a:t>
            </a:r>
            <a:r>
              <a:rPr lang="en-US" sz="2400" dirty="0" err="1"/>
              <a:t>i</a:t>
            </a:r>
            <a:r>
              <a:rPr lang="en-US" sz="2400" dirty="0"/>
              <a:t>] &lt;= '9') {</a:t>
            </a:r>
          </a:p>
          <a:p>
            <a:r>
              <a:rPr lang="en-US" sz="2400" dirty="0"/>
              <a:t>			result = result * 10 + (s[</a:t>
            </a:r>
            <a:r>
              <a:rPr lang="en-US" sz="2400" dirty="0" err="1"/>
              <a:t>i</a:t>
            </a:r>
            <a:r>
              <a:rPr lang="en-US" sz="2400" dirty="0"/>
              <a:t>] -'0');</a:t>
            </a:r>
          </a:p>
          <a:p>
            <a:r>
              <a:rPr lang="en-US" sz="2400" dirty="0"/>
              <a:t>                    </a:t>
            </a:r>
            <a:r>
              <a:rPr lang="en-US" sz="2400" dirty="0" err="1"/>
              <a:t>i</a:t>
            </a:r>
            <a:r>
              <a:rPr lang="en-US" sz="2400" dirty="0"/>
              <a:t>++;</a:t>
            </a:r>
          </a:p>
          <a:p>
            <a:r>
              <a:rPr lang="en-US" sz="2400" dirty="0"/>
              <a:t>      }</a:t>
            </a:r>
          </a:p>
          <a:p>
            <a:r>
              <a:rPr lang="en-US" sz="2400" dirty="0"/>
              <a:t>	return result;</a:t>
            </a:r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513523"/>
              </p:ext>
            </p:extLst>
          </p:nvPr>
        </p:nvGraphicFramePr>
        <p:xfrm>
          <a:off x="2032000" y="5531687"/>
          <a:ext cx="6096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‘1’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‘2’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‘3’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‘\0’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3339808" y="5992095"/>
            <a:ext cx="1639091" cy="721785"/>
            <a:chOff x="1936206" y="5902528"/>
            <a:chExt cx="1639091" cy="721785"/>
          </a:xfrm>
        </p:grpSpPr>
        <p:cxnSp>
          <p:nvCxnSpPr>
            <p:cNvPr id="8" name="Straight Arrow Connector 7"/>
            <p:cNvCxnSpPr/>
            <p:nvPr/>
          </p:nvCxnSpPr>
          <p:spPr>
            <a:xfrm flipV="1">
              <a:off x="2465294" y="5902528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1936206" y="6254981"/>
              <a:ext cx="1639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 = 1*10+2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088606" y="6021897"/>
            <a:ext cx="1058177" cy="754816"/>
            <a:chOff x="1936206" y="5869497"/>
            <a:chExt cx="1058177" cy="754816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2315882" y="5869497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1936206" y="6254981"/>
              <a:ext cx="1058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 = 1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4978899" y="6046488"/>
            <a:ext cx="1756085" cy="612999"/>
            <a:chOff x="1587252" y="5902528"/>
            <a:chExt cx="1756085" cy="612999"/>
          </a:xfrm>
        </p:grpSpPr>
        <p:cxnSp>
          <p:nvCxnSpPr>
            <p:cNvPr id="16" name="Straight Arrow Connector 15"/>
            <p:cNvCxnSpPr/>
            <p:nvPr/>
          </p:nvCxnSpPr>
          <p:spPr>
            <a:xfrm flipV="1">
              <a:off x="2465294" y="5902528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1587252" y="6146195"/>
              <a:ext cx="17560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result = 12*10+3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734984" y="6046488"/>
            <a:ext cx="1011966" cy="721785"/>
            <a:chOff x="1936206" y="5902528"/>
            <a:chExt cx="1011966" cy="721785"/>
          </a:xfrm>
        </p:grpSpPr>
        <p:cxnSp>
          <p:nvCxnSpPr>
            <p:cNvPr id="19" name="Straight Arrow Connector 18"/>
            <p:cNvCxnSpPr/>
            <p:nvPr/>
          </p:nvCxnSpPr>
          <p:spPr>
            <a:xfrm flipV="1">
              <a:off x="2465294" y="5902528"/>
              <a:ext cx="1" cy="29806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1936206" y="6254981"/>
              <a:ext cx="101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end loop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2991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of pointers</a:t>
            </a:r>
          </a:p>
        </p:txBody>
      </p:sp>
      <p:sp>
        <p:nvSpPr>
          <p:cNvPr id="4" name="矩形 3"/>
          <p:cNvSpPr/>
          <p:nvPr/>
        </p:nvSpPr>
        <p:spPr>
          <a:xfrm>
            <a:off x="199962" y="1576322"/>
            <a:ext cx="5989823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char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* names[3] =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“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alice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”,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“bob”,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“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clark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”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}; </a:t>
            </a:r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</a:p>
        </p:txBody>
      </p:sp>
      <p:sp>
        <p:nvSpPr>
          <p:cNvPr id="9" name="Left Brace 8"/>
          <p:cNvSpPr/>
          <p:nvPr/>
        </p:nvSpPr>
        <p:spPr>
          <a:xfrm>
            <a:off x="5209065" y="1417638"/>
            <a:ext cx="541696" cy="27779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4113893" y="2524169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3*8 bytes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4582048" y="1417638"/>
            <a:ext cx="2260711" cy="2794014"/>
            <a:chOff x="4582048" y="1417638"/>
            <a:chExt cx="2260711" cy="2794014"/>
          </a:xfrm>
        </p:grpSpPr>
        <p:grpSp>
          <p:nvGrpSpPr>
            <p:cNvPr id="21" name="Group 20"/>
            <p:cNvGrpSpPr/>
            <p:nvPr/>
          </p:nvGrpSpPr>
          <p:grpSpPr>
            <a:xfrm>
              <a:off x="5750761" y="1417638"/>
              <a:ext cx="1091998" cy="2777939"/>
              <a:chOff x="5750761" y="1417638"/>
              <a:chExt cx="1091998" cy="2777939"/>
            </a:xfrm>
          </p:grpSpPr>
          <p:sp>
            <p:nvSpPr>
              <p:cNvPr id="5" name="矩形 5"/>
              <p:cNvSpPr/>
              <p:nvPr/>
            </p:nvSpPr>
            <p:spPr>
              <a:xfrm>
                <a:off x="5750761" y="3247152"/>
                <a:ext cx="1091998" cy="948425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5750761" y="1417638"/>
                <a:ext cx="1091998" cy="865013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8" name="矩形 5"/>
              <p:cNvSpPr/>
              <p:nvPr/>
            </p:nvSpPr>
            <p:spPr>
              <a:xfrm>
                <a:off x="5750761" y="2282652"/>
                <a:ext cx="1091998" cy="964500"/>
              </a:xfrm>
              <a:prstGeom prst="rect">
                <a:avLst/>
              </a:prstGeom>
              <a:ln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</p:grpSp>
        <p:sp>
          <p:nvSpPr>
            <p:cNvPr id="11" name="TextBox 10"/>
            <p:cNvSpPr txBox="1"/>
            <p:nvPr/>
          </p:nvSpPr>
          <p:spPr>
            <a:xfrm>
              <a:off x="4582048" y="3842320"/>
              <a:ext cx="8678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names: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5991916" y="1748565"/>
            <a:ext cx="1762443" cy="4797687"/>
            <a:chOff x="5991916" y="1748565"/>
            <a:chExt cx="1762443" cy="4797687"/>
          </a:xfrm>
        </p:grpSpPr>
        <p:sp>
          <p:nvSpPr>
            <p:cNvPr id="13" name="TextBox 12"/>
            <p:cNvSpPr txBox="1"/>
            <p:nvPr/>
          </p:nvSpPr>
          <p:spPr>
            <a:xfrm>
              <a:off x="5991916" y="4999327"/>
              <a:ext cx="10376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“</a:t>
              </a:r>
              <a:r>
                <a:rPr lang="en-US" sz="2400" dirty="0" err="1"/>
                <a:t>clark</a:t>
              </a:r>
              <a:r>
                <a:rPr lang="en-US" sz="2400" dirty="0"/>
                <a:t>”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056612" y="5521962"/>
              <a:ext cx="927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“bob”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056612" y="6084587"/>
              <a:ext cx="10142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“</a:t>
              </a:r>
              <a:r>
                <a:rPr lang="en-US" sz="2400" dirty="0" err="1"/>
                <a:t>alice</a:t>
              </a:r>
              <a:r>
                <a:rPr lang="en-US" sz="2400" dirty="0"/>
                <a:t>”</a:t>
              </a:r>
            </a:p>
          </p:txBody>
        </p:sp>
        <p:sp>
          <p:nvSpPr>
            <p:cNvPr id="18" name="Freeform 17"/>
            <p:cNvSpPr/>
            <p:nvPr/>
          </p:nvSpPr>
          <p:spPr>
            <a:xfrm>
              <a:off x="6270171" y="1748565"/>
              <a:ext cx="1484188" cy="3524037"/>
            </a:xfrm>
            <a:custGeom>
              <a:avLst/>
              <a:gdLst>
                <a:gd name="connsiteX0" fmla="*/ 0 w 1484188"/>
                <a:gd name="connsiteY0" fmla="*/ 67911 h 3524037"/>
                <a:gd name="connsiteX1" fmla="*/ 1270112 w 1484188"/>
                <a:gd name="connsiteY1" fmla="*/ 357261 h 3524037"/>
                <a:gd name="connsiteX2" fmla="*/ 1414808 w 1484188"/>
                <a:gd name="connsiteY2" fmla="*/ 2832812 h 3524037"/>
                <a:gd name="connsiteX3" fmla="*/ 546631 w 1484188"/>
                <a:gd name="connsiteY3" fmla="*/ 3524037 h 3524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4188" h="3524037">
                  <a:moveTo>
                    <a:pt x="0" y="67911"/>
                  </a:moveTo>
                  <a:cubicBezTo>
                    <a:pt x="517155" y="-17823"/>
                    <a:pt x="1034311" y="-103556"/>
                    <a:pt x="1270112" y="357261"/>
                  </a:cubicBezTo>
                  <a:cubicBezTo>
                    <a:pt x="1505913" y="818078"/>
                    <a:pt x="1535388" y="2305016"/>
                    <a:pt x="1414808" y="2832812"/>
                  </a:cubicBezTo>
                  <a:cubicBezTo>
                    <a:pt x="1294228" y="3360608"/>
                    <a:pt x="546631" y="3524037"/>
                    <a:pt x="546631" y="3524037"/>
                  </a:cubicBezTo>
                </a:path>
              </a:pathLst>
            </a:custGeom>
            <a:ln>
              <a:headEnd type="oval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6189785" y="2607566"/>
              <a:ext cx="1193589" cy="3261358"/>
            </a:xfrm>
            <a:custGeom>
              <a:avLst/>
              <a:gdLst>
                <a:gd name="connsiteX0" fmla="*/ 0 w 1193589"/>
                <a:gd name="connsiteY0" fmla="*/ 157335 h 3261358"/>
                <a:gd name="connsiteX1" fmla="*/ 964641 w 1193589"/>
                <a:gd name="connsiteY1" fmla="*/ 285935 h 3261358"/>
                <a:gd name="connsiteX2" fmla="*/ 1173647 w 1193589"/>
                <a:gd name="connsiteY2" fmla="*/ 2777561 h 3261358"/>
                <a:gd name="connsiteX3" fmla="*/ 610939 w 1193589"/>
                <a:gd name="connsiteY3" fmla="*/ 3259812 h 326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93589" h="3261358">
                  <a:moveTo>
                    <a:pt x="0" y="157335"/>
                  </a:moveTo>
                  <a:cubicBezTo>
                    <a:pt x="384516" y="3283"/>
                    <a:pt x="769033" y="-150769"/>
                    <a:pt x="964641" y="285935"/>
                  </a:cubicBezTo>
                  <a:cubicBezTo>
                    <a:pt x="1160249" y="722639"/>
                    <a:pt x="1232597" y="2281915"/>
                    <a:pt x="1173647" y="2777561"/>
                  </a:cubicBezTo>
                  <a:cubicBezTo>
                    <a:pt x="1114697" y="3273207"/>
                    <a:pt x="862818" y="3266509"/>
                    <a:pt x="610939" y="3259812"/>
                  </a:cubicBezTo>
                </a:path>
              </a:pathLst>
            </a:custGeom>
            <a:ln>
              <a:headEnd type="oval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Freeform 19"/>
            <p:cNvSpPr/>
            <p:nvPr/>
          </p:nvSpPr>
          <p:spPr>
            <a:xfrm>
              <a:off x="6189785" y="3576697"/>
              <a:ext cx="1216788" cy="2883123"/>
            </a:xfrm>
            <a:custGeom>
              <a:avLst/>
              <a:gdLst>
                <a:gd name="connsiteX0" fmla="*/ 0 w 1216788"/>
                <a:gd name="connsiteY0" fmla="*/ 168780 h 2883123"/>
                <a:gd name="connsiteX1" fmla="*/ 964641 w 1216788"/>
                <a:gd name="connsiteY1" fmla="*/ 249155 h 2883123"/>
                <a:gd name="connsiteX2" fmla="*/ 1205802 w 1216788"/>
                <a:gd name="connsiteY2" fmla="*/ 2547881 h 2883123"/>
                <a:gd name="connsiteX3" fmla="*/ 707404 w 1216788"/>
                <a:gd name="connsiteY3" fmla="*/ 2869381 h 288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6788" h="2883123">
                  <a:moveTo>
                    <a:pt x="0" y="168780"/>
                  </a:moveTo>
                  <a:cubicBezTo>
                    <a:pt x="381837" y="10709"/>
                    <a:pt x="763674" y="-147362"/>
                    <a:pt x="964641" y="249155"/>
                  </a:cubicBezTo>
                  <a:cubicBezTo>
                    <a:pt x="1165608" y="645672"/>
                    <a:pt x="1248675" y="2111177"/>
                    <a:pt x="1205802" y="2547881"/>
                  </a:cubicBezTo>
                  <a:cubicBezTo>
                    <a:pt x="1162929" y="2984585"/>
                    <a:pt x="707404" y="2869381"/>
                    <a:pt x="707404" y="2869381"/>
                  </a:cubicBezTo>
                </a:path>
              </a:pathLst>
            </a:custGeom>
            <a:ln>
              <a:headEnd type="oval"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矩形 3"/>
          <p:cNvSpPr/>
          <p:nvPr/>
        </p:nvSpPr>
        <p:spPr>
          <a:xfrm>
            <a:off x="150140" y="3782164"/>
            <a:ext cx="5989823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>
                <a:latin typeface="Consolas"/>
                <a:cs typeface="Consolas"/>
              </a:rPr>
              <a:t>char **</a:t>
            </a:r>
            <a:r>
              <a:rPr lang="en-US" altLang="zh-CN" sz="2400" dirty="0" err="1">
                <a:latin typeface="Consolas"/>
                <a:cs typeface="Consolas"/>
              </a:rPr>
              <a:t>namep</a:t>
            </a:r>
            <a:r>
              <a:rPr lang="en-US" altLang="zh-CN" sz="2400" dirty="0">
                <a:latin typeface="Consolas"/>
                <a:cs typeface="Consolas"/>
              </a:rPr>
              <a:t>;</a:t>
            </a: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namep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names;</a:t>
            </a:r>
          </a:p>
          <a:p>
            <a:endParaRPr lang="en-US" altLang="zh-CN" sz="2400" dirty="0">
              <a:solidFill>
                <a:srgbClr val="000000"/>
              </a:solidFill>
              <a:latin typeface="Consolas"/>
              <a:cs typeface="Consolas"/>
            </a:endParaRPr>
          </a:p>
          <a:p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(“name is %s”,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namep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[1]);</a:t>
            </a:r>
          </a:p>
          <a:p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6664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24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most commonly used array of pointers: </a:t>
            </a:r>
            <a:r>
              <a:rPr lang="en-US" dirty="0" err="1"/>
              <a:t>argv</a:t>
            </a:r>
            <a:endParaRPr lang="en-US" dirty="0"/>
          </a:p>
        </p:txBody>
      </p:sp>
      <p:sp>
        <p:nvSpPr>
          <p:cNvPr id="4" name="矩形 3"/>
          <p:cNvSpPr/>
          <p:nvPr/>
        </p:nvSpPr>
        <p:spPr>
          <a:xfrm>
            <a:off x="199962" y="1576322"/>
            <a:ext cx="832104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main(</a:t>
            </a:r>
            <a:r>
              <a:rPr lang="en-US" altLang="zh-CN" sz="2400" dirty="0" err="1">
                <a:latin typeface="Consolas"/>
                <a:cs typeface="Consolas"/>
              </a:rPr>
              <a:t>int</a:t>
            </a:r>
            <a:r>
              <a:rPr lang="en-US" altLang="zh-CN" sz="2400" dirty="0">
                <a:latin typeface="Consolas"/>
                <a:cs typeface="Consolas"/>
              </a:rPr>
              <a:t> </a:t>
            </a:r>
            <a:r>
              <a:rPr lang="en-US" altLang="zh-CN" sz="2400" dirty="0" err="1">
                <a:latin typeface="Consolas"/>
                <a:cs typeface="Consolas"/>
              </a:rPr>
              <a:t>argc</a:t>
            </a:r>
            <a:r>
              <a:rPr lang="en-US" altLang="zh-CN" sz="2400" dirty="0">
                <a:latin typeface="Consolas"/>
                <a:cs typeface="Consolas"/>
              </a:rPr>
              <a:t>, char **</a:t>
            </a:r>
            <a:r>
              <a:rPr lang="en-US" altLang="zh-CN" sz="2400" dirty="0" err="1">
                <a:latin typeface="Consolas"/>
                <a:cs typeface="Consolas"/>
              </a:rPr>
              <a:t>argv</a:t>
            </a:r>
            <a:r>
              <a:rPr lang="en-US" altLang="zh-CN" sz="2400" dirty="0">
                <a:latin typeface="Consolas"/>
                <a:cs typeface="Consolas"/>
              </a:rPr>
              <a:t>)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for (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int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= 0;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&lt;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argc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;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++) {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  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printf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(“%s\n”, 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argv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[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i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]);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  }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}</a:t>
            </a:r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sp>
        <p:nvSpPr>
          <p:cNvPr id="5" name="矩形 3"/>
          <p:cNvSpPr/>
          <p:nvPr/>
        </p:nvSpPr>
        <p:spPr>
          <a:xfrm>
            <a:off x="199962" y="4037046"/>
            <a:ext cx="8321040" cy="830997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Consolas"/>
                <a:cs typeface="Consolas"/>
              </a:rPr>
              <a:t>$ ./</a:t>
            </a:r>
            <a:r>
              <a:rPr lang="en-US" altLang="zh-CN" sz="2400" dirty="0" err="1">
                <a:latin typeface="Consolas"/>
                <a:cs typeface="Consolas"/>
              </a:rPr>
              <a:t>a.out</a:t>
            </a:r>
            <a:r>
              <a:rPr lang="en-US" altLang="zh-CN" sz="2400" dirty="0">
                <a:latin typeface="Consolas"/>
                <a:cs typeface="Consolas"/>
              </a:rPr>
              <a:t> 1 2 3 </a:t>
            </a:r>
          </a:p>
          <a:p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./</a:t>
            </a:r>
            <a:r>
              <a:rPr lang="en-US" altLang="zh-CN" sz="2400" dirty="0" err="1">
                <a:solidFill>
                  <a:srgbClr val="000000"/>
                </a:solidFill>
                <a:latin typeface="Consolas"/>
                <a:cs typeface="Consolas"/>
              </a:rPr>
              <a:t>a.out</a:t>
            </a:r>
            <a:r>
              <a:rPr lang="en-US" altLang="zh-CN" sz="2400" dirty="0">
                <a:solidFill>
                  <a:srgbClr val="000000"/>
                </a:solidFill>
                <a:latin typeface="Consolas"/>
                <a:cs typeface="Consolas"/>
              </a:rPr>
              <a:t> 1 2 3</a:t>
            </a:r>
            <a:endParaRPr lang="en-US" altLang="zh-CN" dirty="0">
              <a:solidFill>
                <a:srgbClr val="000000"/>
              </a:solidFill>
              <a:latin typeface="Consolas"/>
              <a:cs typeface="Consolas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926353" y="4868043"/>
            <a:ext cx="4844145" cy="991584"/>
            <a:chOff x="926353" y="4868043"/>
            <a:chExt cx="4844145" cy="991584"/>
          </a:xfrm>
        </p:grpSpPr>
        <p:sp>
          <p:nvSpPr>
            <p:cNvPr id="6" name="TextBox 5"/>
            <p:cNvSpPr txBox="1"/>
            <p:nvPr/>
          </p:nvSpPr>
          <p:spPr>
            <a:xfrm>
              <a:off x="926353" y="5397962"/>
              <a:ext cx="48441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argv</a:t>
              </a:r>
              <a:r>
                <a:rPr lang="en-US" sz="2400" dirty="0"/>
                <a:t>[0] is the name of the executable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H="1" flipV="1">
              <a:off x="1090706" y="4868043"/>
              <a:ext cx="388470" cy="529919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00616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14620</TotalTime>
  <Words>4284</Words>
  <Application>Microsoft Macintosh PowerPoint</Application>
  <PresentationFormat>On-screen Show (4:3)</PresentationFormat>
  <Paragraphs>962</Paragraphs>
  <Slides>66</Slides>
  <Notes>3</Notes>
  <HiddenSlides>29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3" baseType="lpstr">
      <vt:lpstr>Arial</vt:lpstr>
      <vt:lpstr>Calibri</vt:lpstr>
      <vt:lpstr>Consolas</vt:lpstr>
      <vt:lpstr>Symbol</vt:lpstr>
      <vt:lpstr>Verdana</vt:lpstr>
      <vt:lpstr>Wingdings</vt:lpstr>
      <vt:lpstr>Office Theme</vt:lpstr>
      <vt:lpstr>Arrays &amp; Pointers Characters &amp; strings</vt:lpstr>
      <vt:lpstr>What we’ve learnt and today’s plan</vt:lpstr>
      <vt:lpstr>Array: a collection of contiguous objects with the same type </vt:lpstr>
      <vt:lpstr>Array</vt:lpstr>
      <vt:lpstr>Array</vt:lpstr>
      <vt:lpstr>Array</vt:lpstr>
      <vt:lpstr>Array</vt:lpstr>
      <vt:lpstr>Pointer arithmetic</vt:lpstr>
      <vt:lpstr>Pointer arithmetic</vt:lpstr>
      <vt:lpstr>Pointer arithmetic</vt:lpstr>
      <vt:lpstr>Array and pointer</vt:lpstr>
      <vt:lpstr>Array and pointer</vt:lpstr>
      <vt:lpstr>Out of bound access?</vt:lpstr>
      <vt:lpstr>Example</vt:lpstr>
      <vt:lpstr>Another Example</vt:lpstr>
      <vt:lpstr>Pass array to function via pointer</vt:lpstr>
      <vt:lpstr>Pass array to function via pointer</vt:lpstr>
      <vt:lpstr>Pointer casting</vt:lpstr>
      <vt:lpstr>Pointer casting</vt:lpstr>
      <vt:lpstr>Pointer casting</vt:lpstr>
      <vt:lpstr>Pointer casting</vt:lpstr>
      <vt:lpstr>Pointer casting</vt:lpstr>
      <vt:lpstr>Another example of pointer casting</vt:lpstr>
      <vt:lpstr>Another example of pointer casting</vt:lpstr>
      <vt:lpstr>function sizeof</vt:lpstr>
      <vt:lpstr>function sizeof</vt:lpstr>
      <vt:lpstr>function sizeof</vt:lpstr>
      <vt:lpstr>function sizeof</vt:lpstr>
      <vt:lpstr>function sizeof</vt:lpstr>
      <vt:lpstr>Undefined behavior </vt:lpstr>
      <vt:lpstr>Classic undefined behaviors</vt:lpstr>
      <vt:lpstr>Why does C have undefined behavior?</vt:lpstr>
      <vt:lpstr>Classic undefined behaviors</vt:lpstr>
      <vt:lpstr>Classic undefined behaviors</vt:lpstr>
      <vt:lpstr>Classic undefined behaviors</vt:lpstr>
      <vt:lpstr>Classic undefined behaviors</vt:lpstr>
      <vt:lpstr>Classic undefined behaviors</vt:lpstr>
      <vt:lpstr>Characters</vt:lpstr>
      <vt:lpstr>How to represent text characters?</vt:lpstr>
      <vt:lpstr>ASCII: American Standard Code for Information Exchange</vt:lpstr>
      <vt:lpstr>PowerPoint Presentation</vt:lpstr>
      <vt:lpstr>C exercise 1: tolower</vt:lpstr>
      <vt:lpstr>C exercise 1: tolower</vt:lpstr>
      <vt:lpstr>C exercise 1: tolower</vt:lpstr>
      <vt:lpstr>C exercise 2: toDigit</vt:lpstr>
      <vt:lpstr>C exercise 2: toDigit</vt:lpstr>
      <vt:lpstr>C exercise 2: toDigit</vt:lpstr>
      <vt:lpstr>The Modern Standard: UniCode</vt:lpstr>
      <vt:lpstr>UTF-8</vt:lpstr>
      <vt:lpstr>What we’ve learnt and today’s plan</vt:lpstr>
      <vt:lpstr>C Strings</vt:lpstr>
      <vt:lpstr>Strings</vt:lpstr>
      <vt:lpstr>Strings</vt:lpstr>
      <vt:lpstr>Strings</vt:lpstr>
      <vt:lpstr>Copying string?</vt:lpstr>
      <vt:lpstr>Copying string?</vt:lpstr>
      <vt:lpstr>Copying string</vt:lpstr>
      <vt:lpstr>Copying string</vt:lpstr>
      <vt:lpstr>Copying string</vt:lpstr>
      <vt:lpstr>Copying string</vt:lpstr>
      <vt:lpstr>A different way of initializing string</vt:lpstr>
      <vt:lpstr>A different way of initializing string</vt:lpstr>
      <vt:lpstr>The Atoi function</vt:lpstr>
      <vt:lpstr>The Atoi function</vt:lpstr>
      <vt:lpstr>Array of pointers</vt:lpstr>
      <vt:lpstr>The most commonly used array of pointers: argv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111</cp:revision>
  <cp:lastPrinted>2019-02-20T19:27:05Z</cp:lastPrinted>
  <dcterms:created xsi:type="dcterms:W3CDTF">2018-09-26T03:34:32Z</dcterms:created>
  <dcterms:modified xsi:type="dcterms:W3CDTF">2026-09-28T17:21:46Z</dcterms:modified>
</cp:coreProperties>
</file>