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webextensions/webextension1.xml" ContentType="application/vnd.ms-office.webextension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webextensions/webextension2.xml" ContentType="application/vnd.ms-office.webextension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webextensions/webextension3.xml" ContentType="application/vnd.ms-office.webextension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webextensions/webextension4.xml" ContentType="application/vnd.ms-office.webextension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ink/ink1.xml" ContentType="application/inkml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66"/>
  </p:notesMasterIdLst>
  <p:handoutMasterIdLst>
    <p:handoutMasterId r:id="rId67"/>
  </p:handoutMasterIdLst>
  <p:sldIdLst>
    <p:sldId id="256" r:id="rId2"/>
    <p:sldId id="981" r:id="rId3"/>
    <p:sldId id="843" r:id="rId4"/>
    <p:sldId id="850" r:id="rId5"/>
    <p:sldId id="844" r:id="rId6"/>
    <p:sldId id="1037" r:id="rId7"/>
    <p:sldId id="1043" r:id="rId8"/>
    <p:sldId id="1038" r:id="rId9"/>
    <p:sldId id="968" r:id="rId10"/>
    <p:sldId id="971" r:id="rId11"/>
    <p:sldId id="851" r:id="rId12"/>
    <p:sldId id="977" r:id="rId13"/>
    <p:sldId id="980" r:id="rId14"/>
    <p:sldId id="1041" r:id="rId15"/>
    <p:sldId id="886" r:id="rId16"/>
    <p:sldId id="845" r:id="rId17"/>
    <p:sldId id="1042" r:id="rId18"/>
    <p:sldId id="871" r:id="rId19"/>
    <p:sldId id="852" r:id="rId20"/>
    <p:sldId id="992" r:id="rId21"/>
    <p:sldId id="1040" r:id="rId22"/>
    <p:sldId id="982" r:id="rId23"/>
    <p:sldId id="993" r:id="rId24"/>
    <p:sldId id="994" r:id="rId25"/>
    <p:sldId id="983" r:id="rId26"/>
    <p:sldId id="1045" r:id="rId27"/>
    <p:sldId id="1044" r:id="rId28"/>
    <p:sldId id="905" r:id="rId29"/>
    <p:sldId id="1046" r:id="rId30"/>
    <p:sldId id="915" r:id="rId31"/>
    <p:sldId id="917" r:id="rId32"/>
    <p:sldId id="987" r:id="rId33"/>
    <p:sldId id="991" r:id="rId34"/>
    <p:sldId id="986" r:id="rId35"/>
    <p:sldId id="919" r:id="rId36"/>
    <p:sldId id="1047" r:id="rId37"/>
    <p:sldId id="1049" r:id="rId38"/>
    <p:sldId id="1050" r:id="rId39"/>
    <p:sldId id="1048" r:id="rId40"/>
    <p:sldId id="1051" r:id="rId41"/>
    <p:sldId id="924" r:id="rId42"/>
    <p:sldId id="966" r:id="rId43"/>
    <p:sldId id="956" r:id="rId44"/>
    <p:sldId id="1052" r:id="rId45"/>
    <p:sldId id="1053" r:id="rId46"/>
    <p:sldId id="988" r:id="rId47"/>
    <p:sldId id="1034" r:id="rId48"/>
    <p:sldId id="989" r:id="rId49"/>
    <p:sldId id="1035" r:id="rId50"/>
    <p:sldId id="1033" r:id="rId51"/>
    <p:sldId id="1032" r:id="rId52"/>
    <p:sldId id="937" r:id="rId53"/>
    <p:sldId id="938" r:id="rId54"/>
    <p:sldId id="939" r:id="rId55"/>
    <p:sldId id="959" r:id="rId56"/>
    <p:sldId id="967" r:id="rId57"/>
    <p:sldId id="866" r:id="rId58"/>
    <p:sldId id="943" r:id="rId59"/>
    <p:sldId id="945" r:id="rId60"/>
    <p:sldId id="962" r:id="rId61"/>
    <p:sldId id="949" r:id="rId62"/>
    <p:sldId id="950" r:id="rId63"/>
    <p:sldId id="1036" r:id="rId64"/>
    <p:sldId id="990" r:id="rId6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9CF6"/>
    <a:srgbClr val="FCD5B5"/>
    <a:srgbClr val="3366FF"/>
    <a:srgbClr val="FF0066"/>
    <a:srgbClr val="F2F2F2"/>
    <a:srgbClr val="3F9335"/>
    <a:srgbClr val="125B32"/>
    <a:srgbClr val="21C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5DFB482-7E5C-D84A-BA0E-6CD0D2EB3C52}" v="70" dt="2026-09-09T18:49:22.68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75" autoAdjust="0"/>
    <p:restoredTop sz="87202" autoAdjust="0"/>
  </p:normalViewPr>
  <p:slideViewPr>
    <p:cSldViewPr snapToGrid="0" snapToObjects="1">
      <p:cViewPr varScale="1">
        <p:scale>
          <a:sx n="101" d="100"/>
          <a:sy n="101" d="100"/>
        </p:scale>
        <p:origin x="456" y="1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5000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 varScale="1">
      <p:scale>
        <a:sx n="1" d="1"/>
        <a:sy n="1" d="1"/>
      </p:scale>
      <p:origin x="0" y="-335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handoutMaster" Target="handoutMasters/handout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615FF3-9FA2-1C4A-AAEA-4750F890D655}" type="datetimeFigureOut">
              <a:rPr lang="en-US" smtClean="0"/>
              <a:t>9/9/26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94E59E-8276-2140-BA34-7EF057B926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31614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6T14:55:14.7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52 0 8124,'-6'10'-439,"-4"0"178,4-7 222,-7 10 154,11-12-175,-4 12-297,-1-11 357,6 4 0,1-6 0,8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180D89-5C43-EF4A-AA48-38E879565468}" type="datetimeFigureOut">
              <a:rPr lang="en-US" smtClean="0"/>
              <a:t>9/9/26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56610F-FCBD-844B-B814-9F48A27EB7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828965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24902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505368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5037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128+4+2 = 134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9645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C1A1EE-1CBF-6ECD-7D0E-8A78F2082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A96CB1-A284-9892-FA74-88FC536A34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71D7CC-59CE-61CB-FFA0-B52FF990A1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128+4+2 = 134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B4ED6F-7BB6-863E-D87E-34482FF1E5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389462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CN" dirty="0"/>
              <a:t>Why byte?</a:t>
            </a:r>
          </a:p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79919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CN" dirty="0"/>
              <a:t>Why byte?</a:t>
            </a:r>
          </a:p>
          <a:p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79919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7850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7946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D18908-F846-8264-7F99-27226F9B0B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46FC30-C338-4990-2BD3-3BBBA44779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822978-7CD1-02F2-3148-B45E859C9F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EA76BB-232B-AA29-183F-ADD2A918B8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98462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332112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800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644D2-D682-E5AD-EBCB-045CF3808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50D782-909A-793C-0CE7-9296D3BE74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0B3A6D-3A0E-AF6A-C596-E6C0E7A97C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029F51-F56D-0B46-212E-26740373D8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4226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25528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57298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472412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07391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58996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982058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77404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3019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2D147F-079F-4846-994D-0DB4A1A045D4}" type="datetime1">
              <a:rPr lang="zh-CN" altLang="en-US" smtClean="0"/>
              <a:t>2026/9/9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0671-2720-6742-BF3B-130F38BFD6C2}" type="datetime1">
              <a:rPr lang="zh-CN" altLang="en-US" smtClean="0"/>
              <a:t>2026/9/9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2FF912-C460-F747-A5A7-E580342BDBD8}" type="datetime1">
              <a:rPr lang="zh-CN" altLang="en-US" smtClean="0"/>
              <a:t>2026/9/9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B1225-B413-9941-B6FE-722B9F1A3838}" type="datetime1">
              <a:rPr lang="zh-CN" altLang="en-US" smtClean="0"/>
              <a:t>2026/9/9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4F182-DE75-D141-B72A-8599E29248A5}" type="datetime1">
              <a:rPr lang="zh-CN" altLang="en-US" smtClean="0"/>
              <a:t>2026/9/9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8C2D7A-8A1B-DA48-9B0B-0DEE102746F0}" type="datetime1">
              <a:rPr lang="zh-CN" altLang="en-US" smtClean="0"/>
              <a:t>2026/9/9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53C787-59C9-0445-8F38-642A8469076F}" type="datetime1">
              <a:rPr lang="zh-CN" altLang="en-US" smtClean="0"/>
              <a:t>2026/9/9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50209-807A-E542-A52E-D898C2D2B27F}" type="datetime1">
              <a:rPr lang="zh-CN" altLang="en-US" smtClean="0"/>
              <a:t>2026/9/9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Drag picture to placeholder or click icon to add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27158-6770-8C48-8082-76913598A291}" type="datetime1">
              <a:rPr lang="zh-CN" altLang="en-US" smtClean="0"/>
              <a:t>2026/9/9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491736-879B-FE48-95EC-EDE8A01D99DB}" type="datetime1">
              <a:rPr lang="zh-CN" altLang="en-US" smtClean="0"/>
              <a:t>2026/9/9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7160F-44E5-DA43-A440-B77513F80BF6}" type="datetime1">
              <a:rPr lang="zh-CN" altLang="en-US" smtClean="0"/>
              <a:t>2026/9/9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19FEBD-E571-1443-AA22-BB9E67C15179}" type="datetime1">
              <a:rPr lang="zh-CN" altLang="en-US" smtClean="0"/>
              <a:t>2026/9/9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E625D3-B44C-8840-A520-1CC9BA577CA1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000" b="1" i="0" kern="1200">
          <a:solidFill>
            <a:srgbClr val="3366FF"/>
          </a:solidFill>
          <a:latin typeface="Tahoma"/>
          <a:ea typeface="+mj-ea"/>
          <a:cs typeface="Tahoma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2800" kern="1200">
          <a:solidFill>
            <a:schemeClr val="tx1"/>
          </a:solidFill>
          <a:latin typeface="Arial"/>
          <a:ea typeface="+mn-ea"/>
          <a:cs typeface="Arial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400" kern="1200">
          <a:solidFill>
            <a:schemeClr val="tx1"/>
          </a:solidFill>
          <a:latin typeface="Arial"/>
          <a:ea typeface="+mn-ea"/>
          <a:cs typeface="Arial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Arial"/>
          <a:ea typeface="+mn-ea"/>
          <a:cs typeface="Arial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1800" kern="1200">
          <a:solidFill>
            <a:schemeClr val="tx1"/>
          </a:solidFill>
          <a:latin typeface="Arial"/>
          <a:ea typeface="+mn-ea"/>
          <a:cs typeface="Arial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1800" kern="1200">
          <a:solidFill>
            <a:schemeClr val="tx1"/>
          </a:solidFill>
          <a:latin typeface="Arial"/>
          <a:ea typeface="+mn-ea"/>
          <a:cs typeface="Arial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microsoft.com/office/2011/relationships/webextension" Target="../webextensions/webextension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emf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microsoft.com/office/2011/relationships/webextension" Target="../webextensions/webextension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tiff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microsoft.com/office/2011/relationships/webextension" Target="../webextensions/webextension3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microsoft.com/office/2011/relationships/webextension" Target="../webextensions/webextension4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emf"/><Relationship Id="rId4" Type="http://schemas.openxmlformats.org/officeDocument/2006/relationships/oleObject" Target="../embeddings/oleObject3.bin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jpeg"/><Relationship Id="rId4" Type="http://schemas.openxmlformats.org/officeDocument/2006/relationships/hyperlink" Target="https://www.google.com/search?q=horror+emoji&amp;sxsrf=ALeKk023Cg8v6mBb4dBnCigKDVHttKuVnQ:1599190544923&amp;tbm=isch&amp;source=iu&amp;ictx=1&amp;fir=mRA8SveDhQ3W1M%252CUPoFfhQCjcfNQM%252C_&amp;vet=1&amp;usg=AI4_-kQ7WjfKC1eoMxncH-0B4nXVPpngCQ&amp;sa=X&amp;ved=2ahUKEwihvO6Cyc7rAhWPgXIEHao1DM0Q_h0wAnoECAwQBg#imgrc=mRA8SveDhQ3W1M" TargetMode="Externa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.xml"/><Relationship Id="rId5" Type="http://schemas.openxmlformats.org/officeDocument/2006/relationships/image" Target="../media/image25.jpeg"/><Relationship Id="rId4" Type="http://schemas.openxmlformats.org/officeDocument/2006/relationships/hyperlink" Target="https://www.google.com/search?q=horror+emoji&amp;sxsrf=ALeKk023Cg8v6mBb4dBnCigKDVHttKuVnQ:1599190544923&amp;tbm=isch&amp;source=iu&amp;ictx=1&amp;fir=mRA8SveDhQ3W1M%252CUPoFfhQCjcfNQM%252C_&amp;vet=1&amp;usg=AI4_-kQ7WjfKC1eoMxncH-0B4nXVPpngCQ&amp;sa=X&amp;ved=2ahUKEwihvO6Cyc7rAhWPgXIEHao1DM0Q_h0wAnoECAwQBg#imgrc=mRA8SveDhQ3W1M" TargetMode="Externa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jpeg"/><Relationship Id="rId4" Type="http://schemas.openxmlformats.org/officeDocument/2006/relationships/hyperlink" Target="https://www.google.com/search?q=horror+emoji&amp;sxsrf=ALeKk023Cg8v6mBb4dBnCigKDVHttKuVnQ:1599190544923&amp;tbm=isch&amp;source=iu&amp;ictx=1&amp;fir=mRA8SveDhQ3W1M%252CUPoFfhQCjcfNQM%252C_&amp;vet=1&amp;usg=AI4_-kQ7WjfKC1eoMxncH-0B4nXVPpngCQ&amp;sa=X&amp;ved=2ahUKEwihvO6Cyc7rAhWPgXIEHao1DM0Q_h0wAnoECAwQBg#imgrc=mRA8SveDhQ3W1M" TargetMode="Externa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jpeg"/><Relationship Id="rId4" Type="http://schemas.openxmlformats.org/officeDocument/2006/relationships/hyperlink" Target="https://www.google.com/search?q=horror+emoji&amp;sxsrf=ALeKk023Cg8v6mBb4dBnCigKDVHttKuVnQ:1599190544923&amp;tbm=isch&amp;source=iu&amp;ictx=1&amp;fir=mRA8SveDhQ3W1M%252CUPoFfhQCjcfNQM%252C_&amp;vet=1&amp;usg=AI4_-kQ7WjfKC1eoMxncH-0B4nXVPpngCQ&amp;sa=X&amp;ved=2ahUKEwihvO6Cyc7rAhWPgXIEHao1DM0Q_h0wAnoECAwQBg#imgrc=mRA8SveDhQ3W1M" TargetMode="Externa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2007578"/>
            <a:ext cx="9144000" cy="1788655"/>
          </a:xfrm>
        </p:spPr>
        <p:txBody>
          <a:bodyPr>
            <a:noAutofit/>
          </a:bodyPr>
          <a:lstStyle/>
          <a:p>
            <a:r>
              <a:rPr lang="en-US" sz="4800" b="0" dirty="0">
                <a:solidFill>
                  <a:schemeClr val="tx1"/>
                </a:solidFill>
                <a:latin typeface="Arial"/>
                <a:ea typeface="Verdana" pitchFamily="34" charset="0"/>
                <a:cs typeface="Arial"/>
              </a:rPr>
              <a:t>Bits, Bytes, </a:t>
            </a:r>
            <a:r>
              <a:rPr lang="en-US" sz="4800" b="0" dirty="0" err="1">
                <a:solidFill>
                  <a:schemeClr val="tx1"/>
                </a:solidFill>
                <a:latin typeface="Arial"/>
                <a:ea typeface="Verdana" pitchFamily="34" charset="0"/>
                <a:cs typeface="Arial"/>
              </a:rPr>
              <a:t>Ints</a:t>
            </a:r>
            <a:endParaRPr lang="en-US" sz="4800" b="0" dirty="0">
              <a:solidFill>
                <a:schemeClr val="tx1"/>
              </a:solidFill>
              <a:latin typeface="Arial"/>
              <a:ea typeface="Verdana" pitchFamily="34" charset="0"/>
              <a:cs typeface="Arial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3784163" y="3796233"/>
            <a:ext cx="157056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400" dirty="0">
                <a:latin typeface="Arial"/>
                <a:ea typeface="Verdana" pitchFamily="34" charset="0"/>
                <a:cs typeface="Arial"/>
              </a:rPr>
              <a:t>Jinyang Li</a:t>
            </a:r>
          </a:p>
        </p:txBody>
      </p:sp>
      <p:sp>
        <p:nvSpPr>
          <p:cNvPr id="4" name="矩形 10"/>
          <p:cNvSpPr/>
          <p:nvPr/>
        </p:nvSpPr>
        <p:spPr>
          <a:xfrm>
            <a:off x="3498424" y="5691884"/>
            <a:ext cx="4482894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4200" kern="1200">
                <a:solidFill>
                  <a:srgbClr val="000000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1pPr>
            <a:lvl2pPr marL="457200" algn="ctr" rtl="0" fontAlgn="base">
              <a:spcBef>
                <a:spcPct val="0"/>
              </a:spcBef>
              <a:spcAft>
                <a:spcPct val="0"/>
              </a:spcAft>
              <a:defRPr sz="4200" kern="1200">
                <a:solidFill>
                  <a:srgbClr val="000000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2pPr>
            <a:lvl3pPr marL="914400" algn="ctr" rtl="0" fontAlgn="base">
              <a:spcBef>
                <a:spcPct val="0"/>
              </a:spcBef>
              <a:spcAft>
                <a:spcPct val="0"/>
              </a:spcAft>
              <a:defRPr sz="4200" kern="1200">
                <a:solidFill>
                  <a:srgbClr val="000000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3pPr>
            <a:lvl4pPr marL="1371600" algn="ctr" rtl="0" fontAlgn="base">
              <a:spcBef>
                <a:spcPct val="0"/>
              </a:spcBef>
              <a:spcAft>
                <a:spcPct val="0"/>
              </a:spcAft>
              <a:defRPr sz="4200" kern="1200">
                <a:solidFill>
                  <a:srgbClr val="000000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4pPr>
            <a:lvl5pPr marL="1828800" algn="ctr" rtl="0" fontAlgn="base">
              <a:spcBef>
                <a:spcPct val="0"/>
              </a:spcBef>
              <a:spcAft>
                <a:spcPct val="0"/>
              </a:spcAft>
              <a:defRPr sz="4200" kern="1200">
                <a:solidFill>
                  <a:srgbClr val="000000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5pPr>
            <a:lvl6pPr marL="2286000" algn="l" defTabSz="457200" rtl="0" eaLnBrk="1" latinLnBrk="0" hangingPunct="1">
              <a:defRPr sz="4200" kern="1200">
                <a:solidFill>
                  <a:srgbClr val="000000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6pPr>
            <a:lvl7pPr marL="2743200" algn="l" defTabSz="457200" rtl="0" eaLnBrk="1" latinLnBrk="0" hangingPunct="1">
              <a:defRPr sz="4200" kern="1200">
                <a:solidFill>
                  <a:srgbClr val="000000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7pPr>
            <a:lvl8pPr marL="3200400" algn="l" defTabSz="457200" rtl="0" eaLnBrk="1" latinLnBrk="0" hangingPunct="1">
              <a:defRPr sz="4200" kern="1200">
                <a:solidFill>
                  <a:srgbClr val="000000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8pPr>
            <a:lvl9pPr marL="3657600" algn="l" defTabSz="457200" rtl="0" eaLnBrk="1" latinLnBrk="0" hangingPunct="1">
              <a:defRPr sz="4200" kern="1200">
                <a:solidFill>
                  <a:srgbClr val="000000"/>
                </a:solidFill>
                <a:latin typeface="Gill Sans" charset="0"/>
                <a:ea typeface="ヒラギノ角ゴ ProN W3" charset="-128"/>
                <a:cs typeface="ヒラギノ角ゴ ProN W3" charset="-128"/>
                <a:sym typeface="Gill Sans" charset="0"/>
              </a:defRPr>
            </a:lvl9pPr>
          </a:lstStyle>
          <a:p>
            <a:r>
              <a:rPr lang="en-US" altLang="zh-CN" sz="2400" dirty="0"/>
              <a:t>Some slides are due to Tiger Wang</a:t>
            </a:r>
            <a:endParaRPr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753609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831"/>
    </mc:Choice>
    <mc:Fallback xmlns="">
      <p:transition spd="slow" advTm="383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9057C0-56B5-432D-960B-C4EACD245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Lesson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88728B-DE0F-474C-A02E-C6E5330170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253" y="1600200"/>
            <a:ext cx="8729002" cy="4525963"/>
          </a:xfrm>
        </p:spPr>
        <p:txBody>
          <a:bodyPr>
            <a:normAutofit/>
          </a:bodyPr>
          <a:lstStyle/>
          <a:p>
            <a:r>
              <a:rPr lang="en-US" dirty="0"/>
              <a:t>How computers represent integers in binary formats</a:t>
            </a:r>
          </a:p>
          <a:p>
            <a:pPr lvl="1"/>
            <a:r>
              <a:rPr lang="en-US" dirty="0"/>
              <a:t>Bit, Byte</a:t>
            </a:r>
          </a:p>
          <a:p>
            <a:r>
              <a:rPr lang="en-US" dirty="0"/>
              <a:t>How to make binary formats readable to humans</a:t>
            </a:r>
          </a:p>
          <a:p>
            <a:pPr lvl="1"/>
            <a:r>
              <a:rPr lang="en-US" dirty="0"/>
              <a:t>Hex notation</a:t>
            </a:r>
          </a:p>
          <a:p>
            <a:r>
              <a:rPr lang="en-US" dirty="0"/>
              <a:t>How computers add/subtract integers</a:t>
            </a:r>
          </a:p>
          <a:p>
            <a:r>
              <a:rPr lang="en-US" dirty="0"/>
              <a:t>Unsigned vs. signed integer representation</a:t>
            </a:r>
          </a:p>
        </p:txBody>
      </p:sp>
    </p:spTree>
    <p:extLst>
      <p:ext uri="{BB962C8B-B14F-4D97-AF65-F5344CB8AC3E}">
        <p14:creationId xmlns:p14="http://schemas.microsoft.com/office/powerpoint/2010/main" val="41083337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-32769" y="188043"/>
            <a:ext cx="9310255" cy="1143000"/>
          </a:xfrm>
        </p:spPr>
        <p:txBody>
          <a:bodyPr>
            <a:normAutofit fontScale="90000"/>
          </a:bodyPr>
          <a:lstStyle/>
          <a:p>
            <a:r>
              <a:rPr kumimoji="1" lang="en-US" altLang="zh-CN" sz="3500" dirty="0">
                <a:latin typeface="Arial"/>
                <a:cs typeface="Arial"/>
              </a:rPr>
              <a:t>We used to process information as </a:t>
            </a:r>
            <a:br>
              <a:rPr kumimoji="1" lang="en-US" altLang="zh-CN" sz="3500" dirty="0">
                <a:latin typeface="Arial"/>
                <a:cs typeface="Arial"/>
              </a:rPr>
            </a:br>
            <a:r>
              <a:rPr kumimoji="1" lang="en-US" altLang="zh-CN" sz="3500" dirty="0">
                <a:latin typeface="Arial"/>
                <a:cs typeface="Arial"/>
              </a:rPr>
              <a:t>analog signals</a:t>
            </a:r>
            <a:endParaRPr kumimoji="1" lang="zh-CN" altLang="en-US" sz="3500" dirty="0">
              <a:latin typeface="Arial"/>
              <a:cs typeface="Arial"/>
            </a:endParaRPr>
          </a:p>
        </p:txBody>
      </p:sp>
      <p:pic>
        <p:nvPicPr>
          <p:cNvPr id="6" name="Picture 5" descr="images.jp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232" y="1690580"/>
            <a:ext cx="1002708" cy="750820"/>
          </a:xfrm>
          <a:prstGeom prst="rect">
            <a:avLst/>
          </a:prstGeom>
        </p:spPr>
      </p:pic>
      <p:pic>
        <p:nvPicPr>
          <p:cNvPr id="7" name="Picture 8" descr="images.jp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3523" y="1690580"/>
            <a:ext cx="943189" cy="706252"/>
          </a:xfrm>
          <a:prstGeom prst="rect">
            <a:avLst/>
          </a:prstGeom>
        </p:spPr>
      </p:pic>
      <p:sp>
        <p:nvSpPr>
          <p:cNvPr id="10" name="TextBox 13"/>
          <p:cNvSpPr txBox="1"/>
          <p:nvPr/>
        </p:nvSpPr>
        <p:spPr>
          <a:xfrm>
            <a:off x="445644" y="2822125"/>
            <a:ext cx="62710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Verdana"/>
                <a:cs typeface="Verdana"/>
              </a:rPr>
              <a:t>Analog signals: smooth and continuous</a:t>
            </a:r>
          </a:p>
        </p:txBody>
      </p:sp>
      <p:pic>
        <p:nvPicPr>
          <p:cNvPr id="11" name="Picture 14" descr="51c8bb1ece395fef60000001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18" y="3484346"/>
            <a:ext cx="4701279" cy="2837511"/>
          </a:xfrm>
          <a:prstGeom prst="rect">
            <a:avLst/>
          </a:prstGeom>
        </p:spPr>
      </p:pic>
      <p:sp>
        <p:nvSpPr>
          <p:cNvPr id="14" name="TextBox 15"/>
          <p:cNvSpPr txBox="1"/>
          <p:nvPr/>
        </p:nvSpPr>
        <p:spPr>
          <a:xfrm>
            <a:off x="172790" y="6098457"/>
            <a:ext cx="88991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rial"/>
                <a:cs typeface="Arial"/>
              </a:rPr>
              <a:t>Analog components: resistors, capacitors</a:t>
            </a:r>
            <a:r>
              <a:rPr lang="en-US" altLang="zh-CN" sz="2400" dirty="0">
                <a:latin typeface="Arial"/>
                <a:cs typeface="Arial"/>
              </a:rPr>
              <a:t>,</a:t>
            </a:r>
            <a:r>
              <a:rPr lang="zh-CN" altLang="en-US" sz="2400" dirty="0">
                <a:latin typeface="Arial"/>
                <a:cs typeface="Arial"/>
              </a:rPr>
              <a:t> </a:t>
            </a:r>
            <a:r>
              <a:rPr lang="en-US" altLang="zh-CN" sz="2400" dirty="0">
                <a:latin typeface="Arial"/>
                <a:cs typeface="Arial"/>
              </a:rPr>
              <a:t>inductors,</a:t>
            </a:r>
            <a:r>
              <a:rPr lang="zh-CN" altLang="en-US" sz="2400" dirty="0">
                <a:latin typeface="Arial"/>
                <a:cs typeface="Arial"/>
              </a:rPr>
              <a:t> </a:t>
            </a:r>
            <a:r>
              <a:rPr lang="en-US" altLang="zh-CN" sz="2400" dirty="0">
                <a:latin typeface="Arial"/>
                <a:cs typeface="Arial"/>
              </a:rPr>
              <a:t>diodes, etc.</a:t>
            </a:r>
            <a:endParaRPr lang="en-US" sz="2400" dirty="0"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530689" y="3244334"/>
            <a:ext cx="1846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endParaRPr lang="en-US" altLang="zh-CN" dirty="0"/>
          </a:p>
        </p:txBody>
      </p:sp>
      <p:sp>
        <p:nvSpPr>
          <p:cNvPr id="17" name="矩形 16"/>
          <p:cNvSpPr/>
          <p:nvPr/>
        </p:nvSpPr>
        <p:spPr>
          <a:xfrm>
            <a:off x="4886757" y="3747508"/>
            <a:ext cx="4012383" cy="12311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/>
                <a:ea typeface="Verdana" pitchFamily="34" charset="0"/>
                <a:cs typeface="Arial"/>
              </a:rPr>
              <a:t>Hard</a:t>
            </a:r>
          </a:p>
          <a:p>
            <a:endParaRPr lang="en-US" altLang="zh-CN" sz="5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/>
              <a:ea typeface="Verdana" pitchFamily="34" charset="0"/>
              <a:cs typeface="Arial"/>
            </a:endParaRPr>
          </a:p>
          <a:p>
            <a:pPr marL="800100" lvl="1" indent="-342900">
              <a:buAutoNum type="arabicPeriod"/>
            </a:pPr>
            <a:r>
              <a:rPr lang="en-US" altLang="zh-CN" sz="2000" b="1" dirty="0">
                <a:latin typeface="Arial"/>
                <a:ea typeface="Verdana" pitchFamily="34" charset="0"/>
                <a:cs typeface="Arial"/>
              </a:rPr>
              <a:t>Difficult to design</a:t>
            </a:r>
          </a:p>
          <a:p>
            <a:pPr marL="800100" lvl="1" indent="-342900">
              <a:buAutoNum type="arabicPeriod"/>
            </a:pPr>
            <a:endParaRPr lang="en-US" altLang="zh-CN" sz="500" b="1" dirty="0">
              <a:latin typeface="Arial"/>
              <a:ea typeface="Verdana" pitchFamily="34" charset="0"/>
              <a:cs typeface="Arial"/>
            </a:endParaRPr>
          </a:p>
          <a:p>
            <a:pPr marL="800100" lvl="1" indent="-342900">
              <a:buAutoNum type="arabicPeriod"/>
            </a:pPr>
            <a:r>
              <a:rPr lang="en-US" altLang="zh-CN" sz="2000" b="1" dirty="0">
                <a:latin typeface="Arial"/>
                <a:ea typeface="Verdana" pitchFamily="34" charset="0"/>
                <a:cs typeface="Arial"/>
              </a:rPr>
              <a:t>Susceptible to noise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E885EFB-4966-2244-AB46-BFC7D8B153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8789" y="1343850"/>
            <a:ext cx="4448466" cy="1563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03147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7653"/>
            <a:ext cx="8229600" cy="1143000"/>
          </a:xfrm>
        </p:spPr>
        <p:txBody>
          <a:bodyPr>
            <a:normAutofit fontScale="90000"/>
          </a:bodyPr>
          <a:lstStyle/>
          <a:p>
            <a:r>
              <a:rPr kumimoji="1" lang="en-US" altLang="zh-CN" dirty="0">
                <a:latin typeface="Arial"/>
                <a:cs typeface="Arial"/>
              </a:rPr>
              <a:t>Now, we process information in digital format</a:t>
            </a:r>
            <a:endParaRPr kumimoji="1" lang="en-US" sz="3600" dirty="0">
              <a:latin typeface="Arial"/>
              <a:cs typeface="Arial"/>
            </a:endParaRPr>
          </a:p>
        </p:txBody>
      </p:sp>
      <p:pic>
        <p:nvPicPr>
          <p:cNvPr id="15" name="Picture 14" descr="51c9c1f8ce395fda22000000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774" y="3775003"/>
            <a:ext cx="4759843" cy="20021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78022" y="2833756"/>
            <a:ext cx="52886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2400">
                <a:latin typeface="Verdana"/>
                <a:cs typeface="Verdana"/>
              </a:defRPr>
            </a:lvl1pPr>
          </a:lstStyle>
          <a:p>
            <a:r>
              <a:rPr lang="en-US" dirty="0"/>
              <a:t>Digital signals: discrete (0 or 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639" y="5834183"/>
            <a:ext cx="77923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Verdana"/>
                <a:cs typeface="Verdana"/>
              </a:rPr>
              <a:t>Digital components: transistors, logic gates </a:t>
            </a:r>
            <a:r>
              <a:rPr lang="mr-IN" sz="2400" dirty="0">
                <a:latin typeface="Verdana"/>
                <a:cs typeface="Verdana"/>
              </a:rPr>
              <a:t>…</a:t>
            </a:r>
            <a:endParaRPr lang="en-US" sz="2400" dirty="0">
              <a:latin typeface="Verdana"/>
              <a:cs typeface="Verdana"/>
            </a:endParaRPr>
          </a:p>
        </p:txBody>
      </p:sp>
      <p:pic>
        <p:nvPicPr>
          <p:cNvPr id="22" name="Picture 9" descr="imgres.jp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251" y="1645503"/>
            <a:ext cx="902689" cy="844325"/>
          </a:xfrm>
          <a:prstGeom prst="rect">
            <a:avLst/>
          </a:prstGeom>
        </p:spPr>
      </p:pic>
      <p:pic>
        <p:nvPicPr>
          <p:cNvPr id="23" name="Picture 13" descr="51c495ebce395f1b5a000000.pn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0995" y="1425931"/>
            <a:ext cx="3902239" cy="1104192"/>
          </a:xfrm>
          <a:prstGeom prst="rect">
            <a:avLst/>
          </a:prstGeom>
        </p:spPr>
      </p:pic>
      <p:pic>
        <p:nvPicPr>
          <p:cNvPr id="24" name="Picture 10" descr="imgres.jp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0611" y="1690580"/>
            <a:ext cx="846101" cy="791396"/>
          </a:xfrm>
          <a:prstGeom prst="rect">
            <a:avLst/>
          </a:prstGeom>
        </p:spPr>
      </p:pic>
      <p:sp>
        <p:nvSpPr>
          <p:cNvPr id="26" name="矩形 25"/>
          <p:cNvSpPr/>
          <p:nvPr/>
        </p:nvSpPr>
        <p:spPr>
          <a:xfrm>
            <a:off x="5193269" y="3307750"/>
            <a:ext cx="4991051" cy="12311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400" b="1" dirty="0">
                <a:solidFill>
                  <a:srgbClr val="3366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itchFamily="34" charset="0"/>
                <a:ea typeface="Verdana" pitchFamily="34" charset="0"/>
                <a:cs typeface="Verdana" pitchFamily="34" charset="0"/>
              </a:rPr>
              <a:t>Easier</a:t>
            </a:r>
          </a:p>
          <a:p>
            <a:endParaRPr lang="en-US" altLang="zh-CN" sz="5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Verdana" pitchFamily="34" charset="0"/>
              <a:ea typeface="Verdana" pitchFamily="34" charset="0"/>
              <a:cs typeface="Verdana" pitchFamily="34" charset="0"/>
            </a:endParaRPr>
          </a:p>
          <a:p>
            <a:pPr marL="800100" lvl="1" indent="-342900">
              <a:buAutoNum type="arabicPeriod"/>
            </a:pPr>
            <a:r>
              <a:rPr lang="en-US" altLang="zh-CN" sz="2000" b="1" dirty="0">
                <a:latin typeface="Verdana" pitchFamily="34" charset="0"/>
                <a:ea typeface="Verdana" pitchFamily="34" charset="0"/>
                <a:cs typeface="Verdana" pitchFamily="34" charset="0"/>
              </a:rPr>
              <a:t>Easier to design</a:t>
            </a:r>
            <a:endParaRPr lang="en-US" altLang="zh-CN" dirty="0">
              <a:latin typeface="Verdana" pitchFamily="34" charset="0"/>
              <a:ea typeface="Verdana" pitchFamily="34" charset="0"/>
              <a:cs typeface="Verdana" pitchFamily="34" charset="0"/>
            </a:endParaRPr>
          </a:p>
          <a:p>
            <a:pPr marL="800100" lvl="1" indent="-342900">
              <a:buAutoNum type="arabicPeriod"/>
            </a:pPr>
            <a:endParaRPr lang="en-US" altLang="zh-CN" sz="500" b="1" dirty="0">
              <a:latin typeface="Verdana" pitchFamily="34" charset="0"/>
              <a:ea typeface="Verdana" pitchFamily="34" charset="0"/>
              <a:cs typeface="Verdana" pitchFamily="34" charset="0"/>
            </a:endParaRPr>
          </a:p>
          <a:p>
            <a:pPr marL="800100" lvl="1" indent="-342900">
              <a:buAutoNum type="arabicPeriod"/>
            </a:pPr>
            <a:r>
              <a:rPr lang="en-US" altLang="zh-CN" sz="2000" b="1" dirty="0">
                <a:latin typeface="Verdana" pitchFamily="34" charset="0"/>
                <a:ea typeface="Verdana" pitchFamily="34" charset="0"/>
                <a:cs typeface="Verdana" pitchFamily="34" charset="0"/>
              </a:rPr>
              <a:t>Robust to noise</a:t>
            </a:r>
          </a:p>
        </p:txBody>
      </p:sp>
      <p:sp>
        <p:nvSpPr>
          <p:cNvPr id="4" name="矩形 3"/>
          <p:cNvSpPr/>
          <p:nvPr/>
        </p:nvSpPr>
        <p:spPr>
          <a:xfrm>
            <a:off x="1511364" y="2382444"/>
            <a:ext cx="38933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Verdana"/>
                <a:cs typeface="Verdana"/>
              </a:rPr>
              <a:t>1</a:t>
            </a:r>
            <a:r>
              <a:rPr lang="zh-CN" altLang="en-US" dirty="0">
                <a:latin typeface="Verdana"/>
                <a:cs typeface="Verdana"/>
              </a:rPr>
              <a:t> </a:t>
            </a:r>
            <a:r>
              <a:rPr lang="en-US" altLang="zh-CN" dirty="0">
                <a:latin typeface="Verdana"/>
                <a:cs typeface="Verdana"/>
              </a:rPr>
              <a:t> 0</a:t>
            </a:r>
            <a:r>
              <a:rPr lang="zh-CN" altLang="en-US" dirty="0">
                <a:latin typeface="Verdana"/>
                <a:cs typeface="Verdana"/>
              </a:rPr>
              <a:t>  </a:t>
            </a:r>
            <a:r>
              <a:rPr lang="en-US" altLang="zh-CN" dirty="0">
                <a:latin typeface="Verdana"/>
                <a:cs typeface="Verdana"/>
              </a:rPr>
              <a:t>1  0   1  0  1  0  1  0   1  0</a:t>
            </a:r>
            <a:endParaRPr lang="zh-CN" altLang="en-US" dirty="0">
              <a:latin typeface="Verdana"/>
              <a:cs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10559071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kumimoji="1" lang="en-US" altLang="zh-CN" sz="3600" dirty="0">
                <a:latin typeface="Arial"/>
                <a:cs typeface="Arial"/>
              </a:rPr>
              <a:t>Digital information is represented in bits</a:t>
            </a:r>
            <a:endParaRPr kumimoji="1" lang="zh-CN" altLang="en-US" sz="3600" dirty="0">
              <a:latin typeface="Arial"/>
              <a:cs typeface="Arial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199" y="1600200"/>
            <a:ext cx="8535343" cy="4525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1" lang="en-US" altLang="zh-CN" dirty="0">
                <a:latin typeface="Verdana"/>
                <a:cs typeface="Verdana"/>
              </a:rPr>
              <a:t>Bit = Binary digit,  0 or 1</a:t>
            </a:r>
          </a:p>
          <a:p>
            <a:pPr marL="0" indent="0">
              <a:buNone/>
            </a:pPr>
            <a:endParaRPr kumimoji="1" lang="en-US" altLang="zh-CN" dirty="0">
              <a:latin typeface="Verdana"/>
              <a:cs typeface="Verdana"/>
            </a:endParaRPr>
          </a:p>
          <a:p>
            <a:r>
              <a:rPr kumimoji="1" lang="en-US" altLang="zh-CN" dirty="0">
                <a:latin typeface="Verdana"/>
                <a:cs typeface="Verdana"/>
              </a:rPr>
              <a:t>1 bit </a:t>
            </a:r>
            <a:r>
              <a:rPr kumimoji="1" lang="en-US" altLang="zh-CN" dirty="0">
                <a:latin typeface="Verdana"/>
                <a:cs typeface="Verdana"/>
                <a:sym typeface="Wingdings" pitchFamily="2" charset="2"/>
              </a:rPr>
              <a:t> 2 possible values (aka bit patterns)</a:t>
            </a:r>
            <a:endParaRPr kumimoji="1" lang="en-US" altLang="zh-CN" dirty="0">
              <a:latin typeface="Verdana"/>
              <a:cs typeface="Verdana"/>
            </a:endParaRPr>
          </a:p>
          <a:p>
            <a:pPr lvl="1"/>
            <a:r>
              <a:rPr kumimoji="1" lang="en-US" altLang="zh-CN" dirty="0">
                <a:solidFill>
                  <a:prstClr val="black"/>
                </a:solidFill>
                <a:latin typeface="Verdana"/>
                <a:cs typeface="Verdana"/>
              </a:rPr>
              <a:t>1 English alphabet </a:t>
            </a:r>
            <a:r>
              <a:rPr kumimoji="1" lang="en-US" altLang="zh-CN" dirty="0">
                <a:solidFill>
                  <a:prstClr val="black"/>
                </a:solidFill>
                <a:latin typeface="Verdana"/>
                <a:cs typeface="Verdana"/>
                <a:sym typeface="Wingdings" pitchFamily="2" charset="2"/>
              </a:rPr>
              <a:t> </a:t>
            </a:r>
            <a:r>
              <a:rPr kumimoji="1" lang="en-US" altLang="zh-CN" dirty="0">
                <a:solidFill>
                  <a:prstClr val="black"/>
                </a:solidFill>
                <a:latin typeface="Verdana"/>
                <a:cs typeface="Verdana"/>
              </a:rPr>
              <a:t>26 “values” (characters)</a:t>
            </a:r>
          </a:p>
          <a:p>
            <a:pPr marL="0" indent="0">
              <a:buNone/>
            </a:pPr>
            <a:endParaRPr kumimoji="1" lang="en-US" altLang="zh-CN" dirty="0">
              <a:latin typeface="Verdana"/>
              <a:cs typeface="Verdana"/>
            </a:endParaRPr>
          </a:p>
          <a:p>
            <a:r>
              <a:rPr kumimoji="1" lang="en-US" altLang="zh-CN" dirty="0">
                <a:latin typeface="Verdana"/>
                <a:cs typeface="Verdana"/>
              </a:rPr>
              <a:t>Need more values? Use more bits!</a:t>
            </a:r>
          </a:p>
        </p:txBody>
      </p:sp>
    </p:spTree>
    <p:extLst>
      <p:ext uri="{BB962C8B-B14F-4D97-AF65-F5344CB8AC3E}">
        <p14:creationId xmlns:p14="http://schemas.microsoft.com/office/powerpoint/2010/main" val="31916598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D20D65-1DD5-A4E7-1F54-A63098C92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AA4B6-CE5E-1FCA-8E69-465E74E9CC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B9B0F8F0-130D-4DE6-340C-AEEEE19AB490}"/>
              </a:ext>
            </a:extLst>
          </p:cNvPr>
          <p:cNvSpPr txBox="1">
            <a:spLocks/>
          </p:cNvSpPr>
          <p:nvPr/>
        </p:nvSpPr>
        <p:spPr>
          <a:xfrm>
            <a:off x="229011" y="1971332"/>
            <a:ext cx="8685978" cy="8192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How many possible 2-bit patterns?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363682-CC31-1D31-544B-0B4680DD0781}"/>
              </a:ext>
            </a:extLst>
          </p:cNvPr>
          <p:cNvSpPr txBox="1"/>
          <p:nvPr/>
        </p:nvSpPr>
        <p:spPr>
          <a:xfrm>
            <a:off x="1930500" y="3815570"/>
            <a:ext cx="538929" cy="584776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3200" dirty="0"/>
              <a:t>b</a:t>
            </a:r>
            <a:r>
              <a:rPr lang="en-US" sz="3200" baseline="-25000" dirty="0"/>
              <a:t>1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C6AAB4-A2C4-5743-5A83-C7BD3C3B1020}"/>
              </a:ext>
            </a:extLst>
          </p:cNvPr>
          <p:cNvSpPr txBox="1"/>
          <p:nvPr/>
        </p:nvSpPr>
        <p:spPr>
          <a:xfrm>
            <a:off x="2423394" y="3814921"/>
            <a:ext cx="538929" cy="584776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3200" dirty="0"/>
              <a:t>b</a:t>
            </a:r>
            <a:r>
              <a:rPr lang="en-US" sz="3200" baseline="-25000" dirty="0"/>
              <a:t>0</a:t>
            </a:r>
            <a:endParaRPr lang="en-US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90A9166-374C-3D0B-3893-0C94C0AA9355}"/>
              </a:ext>
            </a:extLst>
          </p:cNvPr>
          <p:cNvCxnSpPr/>
          <p:nvPr/>
        </p:nvCxnSpPr>
        <p:spPr>
          <a:xfrm>
            <a:off x="1548590" y="3742580"/>
            <a:ext cx="324610" cy="270376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4D541BB3-8135-EC88-1635-738CAEB183D1}"/>
              </a:ext>
            </a:extLst>
          </p:cNvPr>
          <p:cNvSpPr txBox="1"/>
          <p:nvPr/>
        </p:nvSpPr>
        <p:spPr>
          <a:xfrm>
            <a:off x="366374" y="3247594"/>
            <a:ext cx="30852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b</a:t>
            </a:r>
            <a:r>
              <a:rPr lang="en-US" sz="2000" baseline="-25000" dirty="0"/>
              <a:t>0 </a:t>
            </a:r>
            <a:r>
              <a:rPr lang="en-US" sz="2000" dirty="0"/>
              <a:t>or b</a:t>
            </a:r>
            <a:r>
              <a:rPr lang="en-US" sz="2000" baseline="-25000" dirty="0"/>
              <a:t>1 </a:t>
            </a:r>
            <a:r>
              <a:rPr lang="en-US" sz="2000" dirty="0"/>
              <a:t>can be either 0 or 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B466235-91D5-AE74-FEEF-6F0F2AEB656A}"/>
              </a:ext>
            </a:extLst>
          </p:cNvPr>
          <p:cNvSpPr txBox="1"/>
          <p:nvPr/>
        </p:nvSpPr>
        <p:spPr>
          <a:xfrm>
            <a:off x="3719515" y="3872713"/>
            <a:ext cx="47810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All 2-bit patterns: 00, 01, 10, 11</a:t>
            </a:r>
          </a:p>
        </p:txBody>
      </p:sp>
    </p:spTree>
    <p:extLst>
      <p:ext uri="{BB962C8B-B14F-4D97-AF65-F5344CB8AC3E}">
        <p14:creationId xmlns:p14="http://schemas.microsoft.com/office/powerpoint/2010/main" val="552263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we="http://schemas.microsoft.com/office/webextensions/webextension/2010/11" xmlns:pca="http://schemas.microsoft.com/office/powerpoint/2013/contentapp">
        <mc:Choice Requires="we pca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5898E720-02F2-B1FE-755D-6C00F7A21098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428076097"/>
                  </p:ext>
                </p:extLst>
              </p:nvPr>
            </p:nvGraphicFramePr>
            <p:xfrm>
              <a:off x="0" y="0"/>
              <a:ext cx="9144000" cy="685800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 xmlns="">
          <p:pic>
            <p:nvPicPr>
              <p:cNvPr id="4" name="Content Placeholder 3">
                <a:extLst>
                  <a:ext uri="{FF2B5EF4-FFF2-40B4-BE49-F238E27FC236}">
                    <a16:creationId xmlns:a16="http://schemas.microsoft.com/office/drawing/2014/main" id="{5898E720-02F2-B1FE-755D-6C00F7A2109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0"/>
                <a:ext cx="9144000" cy="685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8207836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BD9E6-2CBA-9332-E3DD-58E10F828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FC5EB6-BE8E-8F45-4518-E2EBAF107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5E3F1A-F9EB-85A1-4A37-BE43588715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4377" y="1417638"/>
            <a:ext cx="8685978" cy="905319"/>
          </a:xfrm>
        </p:spPr>
        <p:txBody>
          <a:bodyPr>
            <a:normAutofit/>
          </a:bodyPr>
          <a:lstStyle/>
          <a:p>
            <a:r>
              <a:rPr lang="en-US" dirty="0"/>
              <a:t>How many n-bit patterns?</a:t>
            </a:r>
          </a:p>
          <a:p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520DEE-5C6E-37CF-CF3E-4A815D327912}"/>
              </a:ext>
            </a:extLst>
          </p:cNvPr>
          <p:cNvSpPr txBox="1"/>
          <p:nvPr/>
        </p:nvSpPr>
        <p:spPr>
          <a:xfrm>
            <a:off x="1154704" y="2117292"/>
            <a:ext cx="1731564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3200" dirty="0"/>
              <a:t>b</a:t>
            </a:r>
            <a:r>
              <a:rPr lang="en-US" sz="3200" baseline="-25000" dirty="0"/>
              <a:t>n-1 …</a:t>
            </a:r>
            <a:r>
              <a:rPr lang="en-US" sz="3200" dirty="0"/>
              <a:t>b</a:t>
            </a:r>
            <a:r>
              <a:rPr lang="en-US" sz="3200" baseline="-25000" dirty="0"/>
              <a:t>1</a:t>
            </a:r>
            <a:r>
              <a:rPr lang="en-US" sz="3200" dirty="0"/>
              <a:t>b</a:t>
            </a:r>
            <a:r>
              <a:rPr lang="en-US" sz="3200" baseline="-25000" dirty="0"/>
              <a:t>0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B7F6DCF-E43C-1B07-2837-2F27E59D812C}"/>
              </a:ext>
            </a:extLst>
          </p:cNvPr>
          <p:cNvSpPr txBox="1"/>
          <p:nvPr/>
        </p:nvSpPr>
        <p:spPr>
          <a:xfrm>
            <a:off x="4170217" y="2225013"/>
            <a:ext cx="23621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All n-bit patterns: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A5AD9C-661C-56D7-FC84-CE76CE50F95D}"/>
              </a:ext>
            </a:extLst>
          </p:cNvPr>
          <p:cNvSpPr txBox="1"/>
          <p:nvPr/>
        </p:nvSpPr>
        <p:spPr>
          <a:xfrm>
            <a:off x="4322617" y="2750123"/>
            <a:ext cx="3241963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0…00</a:t>
            </a:r>
          </a:p>
          <a:p>
            <a:r>
              <a:rPr lang="en-US" sz="2800" dirty="0"/>
              <a:t>0…01</a:t>
            </a:r>
          </a:p>
          <a:p>
            <a:r>
              <a:rPr lang="en-US" sz="2800" dirty="0"/>
              <a:t>0…10</a:t>
            </a:r>
          </a:p>
          <a:p>
            <a:r>
              <a:rPr lang="en-US" sz="2800" dirty="0"/>
              <a:t>0…11</a:t>
            </a:r>
          </a:p>
          <a:p>
            <a:r>
              <a:rPr lang="en-US" sz="2800" dirty="0"/>
              <a:t>…</a:t>
            </a:r>
          </a:p>
          <a:p>
            <a:r>
              <a:rPr lang="en-US" sz="2800" dirty="0"/>
              <a:t>1…11</a:t>
            </a:r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FB96ADE4-1320-E0CE-820E-F33447E2CD77}"/>
              </a:ext>
            </a:extLst>
          </p:cNvPr>
          <p:cNvSpPr/>
          <p:nvPr/>
        </p:nvSpPr>
        <p:spPr>
          <a:xfrm>
            <a:off x="5569527" y="3020287"/>
            <a:ext cx="609600" cy="2119745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267C819-C840-FE3F-5A00-A00F32E611A2}"/>
              </a:ext>
            </a:extLst>
          </p:cNvPr>
          <p:cNvSpPr txBox="1"/>
          <p:nvPr/>
        </p:nvSpPr>
        <p:spPr>
          <a:xfrm>
            <a:off x="6179127" y="3756993"/>
            <a:ext cx="8936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2</a:t>
            </a:r>
            <a:r>
              <a:rPr lang="en-US" sz="3600" baseline="30000" dirty="0"/>
              <a:t>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19751A3-0FDE-D042-A2FC-29356ED3EBD2}"/>
              </a:ext>
            </a:extLst>
          </p:cNvPr>
          <p:cNvSpPr txBox="1"/>
          <p:nvPr/>
        </p:nvSpPr>
        <p:spPr>
          <a:xfrm>
            <a:off x="1154704" y="5820541"/>
            <a:ext cx="1503938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3200" dirty="0"/>
              <a:t>b</a:t>
            </a:r>
            <a:r>
              <a:rPr lang="en-US" sz="3200" baseline="-25000" dirty="0"/>
              <a:t>7 …</a:t>
            </a:r>
            <a:r>
              <a:rPr lang="en-US" sz="3200" dirty="0"/>
              <a:t>b</a:t>
            </a:r>
            <a:r>
              <a:rPr lang="en-US" sz="3200" baseline="-25000" dirty="0"/>
              <a:t>1</a:t>
            </a:r>
            <a:r>
              <a:rPr lang="en-US" sz="3200" dirty="0"/>
              <a:t>b</a:t>
            </a:r>
            <a:r>
              <a:rPr lang="en-US" sz="3200" baseline="-25000" dirty="0"/>
              <a:t>0</a:t>
            </a:r>
            <a:endParaRPr lang="en-US" dirty="0"/>
          </a:p>
        </p:txBody>
      </p:sp>
      <p:sp>
        <p:nvSpPr>
          <p:cNvPr id="18" name="Right Arrow 17">
            <a:extLst>
              <a:ext uri="{FF2B5EF4-FFF2-40B4-BE49-F238E27FC236}">
                <a16:creationId xmlns:a16="http://schemas.microsoft.com/office/drawing/2014/main" id="{582ED6D8-393C-6A68-2A3E-05D4A6A274A0}"/>
              </a:ext>
            </a:extLst>
          </p:cNvPr>
          <p:cNvSpPr/>
          <p:nvPr/>
        </p:nvSpPr>
        <p:spPr>
          <a:xfrm>
            <a:off x="2886268" y="5962286"/>
            <a:ext cx="1661098" cy="443030"/>
          </a:xfrm>
          <a:prstGeom prst="rightArrow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5341E50-2DCC-D7E9-20F7-76C28249C74C}"/>
              </a:ext>
            </a:extLst>
          </p:cNvPr>
          <p:cNvSpPr txBox="1"/>
          <p:nvPr/>
        </p:nvSpPr>
        <p:spPr>
          <a:xfrm>
            <a:off x="4634362" y="5820541"/>
            <a:ext cx="20435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2</a:t>
            </a:r>
            <a:r>
              <a:rPr lang="en-US" sz="3600" baseline="30000" dirty="0"/>
              <a:t>8 </a:t>
            </a:r>
            <a:r>
              <a:rPr lang="en-US" sz="3600" dirty="0"/>
              <a:t>= 256</a:t>
            </a:r>
          </a:p>
        </p:txBody>
      </p:sp>
    </p:spTree>
    <p:extLst>
      <p:ext uri="{BB962C8B-B14F-4D97-AF65-F5344CB8AC3E}">
        <p14:creationId xmlns:p14="http://schemas.microsoft.com/office/powerpoint/2010/main" val="14573616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60960" y="274638"/>
            <a:ext cx="9235439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Digression: All self-respecting CS students should memorize powers of 2</a:t>
            </a:r>
          </a:p>
        </p:txBody>
      </p:sp>
      <p:grpSp>
        <p:nvGrpSpPr>
          <p:cNvPr id="28" name="Group 27"/>
          <p:cNvGrpSpPr/>
          <p:nvPr/>
        </p:nvGrpSpPr>
        <p:grpSpPr>
          <a:xfrm>
            <a:off x="2962423" y="1661089"/>
            <a:ext cx="1762021" cy="4677219"/>
            <a:chOff x="2957671" y="1491854"/>
            <a:chExt cx="1762021" cy="4677219"/>
          </a:xfrm>
        </p:grpSpPr>
        <p:sp>
          <p:nvSpPr>
            <p:cNvPr id="7" name="TextBox 6"/>
            <p:cNvSpPr txBox="1"/>
            <p:nvPr/>
          </p:nvSpPr>
          <p:spPr>
            <a:xfrm>
              <a:off x="2963333" y="1491854"/>
              <a:ext cx="117351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</a:t>
              </a:r>
              <a:r>
                <a:rPr lang="en-US" sz="2800" baseline="30000" dirty="0"/>
                <a:t>0</a:t>
              </a:r>
              <a:r>
                <a:rPr lang="en-US" sz="2800" dirty="0"/>
                <a:t>   = 1 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960502" y="1839852"/>
              <a:ext cx="117351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</a:t>
              </a:r>
              <a:r>
                <a:rPr lang="en-US" sz="2800" baseline="30000" dirty="0"/>
                <a:t>1</a:t>
              </a:r>
              <a:r>
                <a:rPr lang="en-US" sz="2800" dirty="0"/>
                <a:t>   = 2 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960502" y="2329198"/>
              <a:ext cx="117351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</a:t>
              </a:r>
              <a:r>
                <a:rPr lang="en-US" sz="2800" baseline="30000" dirty="0"/>
                <a:t>2</a:t>
              </a:r>
              <a:r>
                <a:rPr lang="en-US" sz="2800" dirty="0"/>
                <a:t>   = 4 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960502" y="2740382"/>
              <a:ext cx="117351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</a:t>
              </a:r>
              <a:r>
                <a:rPr lang="en-US" sz="2800" baseline="30000" dirty="0"/>
                <a:t>3</a:t>
              </a:r>
              <a:r>
                <a:rPr lang="en-US" sz="2800" dirty="0"/>
                <a:t>   = 8 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2963333" y="3075215"/>
              <a:ext cx="135550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</a:t>
              </a:r>
              <a:r>
                <a:rPr lang="en-US" sz="2800" baseline="30000" dirty="0"/>
                <a:t>4</a:t>
              </a:r>
              <a:r>
                <a:rPr lang="en-US" sz="2800" dirty="0"/>
                <a:t>   = 16 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2963333" y="3476479"/>
              <a:ext cx="135550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</a:t>
              </a:r>
              <a:r>
                <a:rPr lang="en-US" sz="2800" baseline="30000" dirty="0"/>
                <a:t>5</a:t>
              </a:r>
              <a:r>
                <a:rPr lang="en-US" sz="2800" dirty="0"/>
                <a:t>   = 32 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2960502" y="3999699"/>
              <a:ext cx="135550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</a:t>
              </a:r>
              <a:r>
                <a:rPr lang="en-US" sz="2800" baseline="30000" dirty="0"/>
                <a:t>6</a:t>
              </a:r>
              <a:r>
                <a:rPr lang="en-US" sz="2800" dirty="0"/>
                <a:t>   = 64 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2957671" y="4347697"/>
              <a:ext cx="153750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</a:t>
              </a:r>
              <a:r>
                <a:rPr lang="en-US" sz="2800" baseline="30000" dirty="0"/>
                <a:t>7</a:t>
              </a:r>
              <a:r>
                <a:rPr lang="en-US" sz="2800" dirty="0"/>
                <a:t>   = 128 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2957671" y="4837043"/>
              <a:ext cx="153750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</a:t>
              </a:r>
              <a:r>
                <a:rPr lang="en-US" sz="2800" baseline="30000" dirty="0"/>
                <a:t>8</a:t>
              </a:r>
              <a:r>
                <a:rPr lang="en-US" sz="2800" dirty="0"/>
                <a:t>   = 256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2957671" y="5248227"/>
              <a:ext cx="153750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</a:t>
              </a:r>
              <a:r>
                <a:rPr lang="en-US" sz="2800" baseline="30000" dirty="0"/>
                <a:t>9</a:t>
              </a:r>
              <a:r>
                <a:rPr lang="en-US" sz="2800" dirty="0"/>
                <a:t>   = 512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2957671" y="5645853"/>
              <a:ext cx="176202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2</a:t>
              </a:r>
              <a:r>
                <a:rPr lang="en-US" sz="2800" baseline="30000" dirty="0"/>
                <a:t>10</a:t>
              </a:r>
              <a:r>
                <a:rPr lang="en-US" sz="2800" dirty="0"/>
                <a:t>  = 1024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08647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Digression: approximations of powers of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6966" y="2046218"/>
            <a:ext cx="17620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2</a:t>
            </a:r>
            <a:r>
              <a:rPr lang="en-US" sz="2800" baseline="30000" dirty="0"/>
              <a:t>10</a:t>
            </a:r>
            <a:r>
              <a:rPr lang="en-US" sz="2800" dirty="0"/>
              <a:t>  = 1024 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3196707" y="1947300"/>
            <a:ext cx="2107634" cy="707886"/>
            <a:chOff x="3196707" y="1947300"/>
            <a:chExt cx="2107634" cy="707886"/>
          </a:xfrm>
        </p:grpSpPr>
        <p:sp>
          <p:nvSpPr>
            <p:cNvPr id="3" name="TextBox 2"/>
            <p:cNvSpPr txBox="1"/>
            <p:nvPr/>
          </p:nvSpPr>
          <p:spPr>
            <a:xfrm>
              <a:off x="3196707" y="1947300"/>
              <a:ext cx="440145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/>
                <a:t>≈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739489" y="2046218"/>
              <a:ext cx="156485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10</a:t>
              </a:r>
              <a:r>
                <a:rPr lang="en-US" sz="2800" baseline="30000" dirty="0"/>
                <a:t>3 </a:t>
              </a:r>
              <a:r>
                <a:rPr lang="en-US" sz="2800" dirty="0"/>
                <a:t> (Kilo)</a:t>
              </a:r>
              <a:endParaRPr lang="en-US" sz="2800" baseline="30000" dirty="0"/>
            </a:p>
          </p:txBody>
        </p:sp>
      </p:grpSp>
      <p:sp>
        <p:nvSpPr>
          <p:cNvPr id="17" name="TextBox 16"/>
          <p:cNvSpPr txBox="1"/>
          <p:nvPr/>
        </p:nvSpPr>
        <p:spPr>
          <a:xfrm>
            <a:off x="1224130" y="2893448"/>
            <a:ext cx="6093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2</a:t>
            </a:r>
            <a:r>
              <a:rPr lang="en-US" sz="2800" baseline="30000" dirty="0"/>
              <a:t>20</a:t>
            </a:r>
            <a:r>
              <a:rPr lang="en-US" sz="2800" dirty="0"/>
              <a:t>   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1851170" y="2708782"/>
            <a:ext cx="3359184" cy="707886"/>
            <a:chOff x="1851170" y="2708782"/>
            <a:chExt cx="3359184" cy="707886"/>
          </a:xfrm>
        </p:grpSpPr>
        <p:sp>
          <p:nvSpPr>
            <p:cNvPr id="18" name="TextBox 17"/>
            <p:cNvSpPr txBox="1"/>
            <p:nvPr/>
          </p:nvSpPr>
          <p:spPr>
            <a:xfrm flipH="1">
              <a:off x="1851170" y="2708782"/>
              <a:ext cx="1134981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≈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2321678" y="2886672"/>
              <a:ext cx="288867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10</a:t>
              </a:r>
              <a:r>
                <a:rPr lang="en-US" sz="2800" baseline="30000" dirty="0"/>
                <a:t>3*2 </a:t>
              </a:r>
              <a:r>
                <a:rPr lang="en-US" sz="2800" dirty="0"/>
                <a:t>= 10</a:t>
              </a:r>
              <a:r>
                <a:rPr lang="en-US" sz="2800" baseline="30000" dirty="0"/>
                <a:t>6 </a:t>
              </a:r>
              <a:r>
                <a:rPr lang="en-US" sz="2800" dirty="0"/>
                <a:t> (Mega)</a:t>
              </a:r>
              <a:endParaRPr lang="en-US" sz="2800" baseline="30000" dirty="0"/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1239473" y="3782840"/>
            <a:ext cx="6093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2</a:t>
            </a:r>
            <a:r>
              <a:rPr lang="en-US" sz="2800" baseline="30000" dirty="0"/>
              <a:t>30</a:t>
            </a:r>
            <a:r>
              <a:rPr lang="en-US" sz="2800" dirty="0"/>
              <a:t>   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918005" y="3598174"/>
            <a:ext cx="3129758" cy="707886"/>
            <a:chOff x="1918005" y="3598174"/>
            <a:chExt cx="3129758" cy="707886"/>
          </a:xfrm>
        </p:grpSpPr>
        <p:sp>
          <p:nvSpPr>
            <p:cNvPr id="26" name="TextBox 25"/>
            <p:cNvSpPr txBox="1"/>
            <p:nvPr/>
          </p:nvSpPr>
          <p:spPr>
            <a:xfrm flipH="1">
              <a:off x="1918005" y="3598174"/>
              <a:ext cx="1134981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≈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2337021" y="3776064"/>
              <a:ext cx="271074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10</a:t>
              </a:r>
              <a:r>
                <a:rPr lang="en-US" sz="2800" baseline="30000" dirty="0"/>
                <a:t>3*3 </a:t>
              </a:r>
              <a:r>
                <a:rPr lang="en-US" sz="2800" dirty="0"/>
                <a:t>= 10</a:t>
              </a:r>
              <a:r>
                <a:rPr lang="en-US" sz="2800" baseline="30000" dirty="0"/>
                <a:t>9 </a:t>
              </a:r>
              <a:r>
                <a:rPr lang="en-US" sz="2800" dirty="0"/>
                <a:t> (Giga)</a:t>
              </a:r>
              <a:endParaRPr lang="en-US" sz="2800" baseline="30000" dirty="0"/>
            </a:p>
          </p:txBody>
        </p:sp>
      </p:grpSp>
      <p:sp>
        <p:nvSpPr>
          <p:cNvPr id="29" name="TextBox 28"/>
          <p:cNvSpPr txBox="1"/>
          <p:nvPr/>
        </p:nvSpPr>
        <p:spPr>
          <a:xfrm>
            <a:off x="1262547" y="4634925"/>
            <a:ext cx="6093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2</a:t>
            </a:r>
            <a:r>
              <a:rPr lang="en-US" sz="2800" baseline="30000" dirty="0"/>
              <a:t>40</a:t>
            </a:r>
            <a:r>
              <a:rPr lang="en-US" sz="2800" dirty="0"/>
              <a:t>   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1889587" y="4450259"/>
            <a:ext cx="3272044" cy="707886"/>
            <a:chOff x="1889587" y="4450259"/>
            <a:chExt cx="3272044" cy="707886"/>
          </a:xfrm>
        </p:grpSpPr>
        <p:sp>
          <p:nvSpPr>
            <p:cNvPr id="30" name="TextBox 29"/>
            <p:cNvSpPr txBox="1"/>
            <p:nvPr/>
          </p:nvSpPr>
          <p:spPr>
            <a:xfrm flipH="1">
              <a:off x="1889587" y="4450259"/>
              <a:ext cx="1134981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≈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2360095" y="4628149"/>
              <a:ext cx="280153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10</a:t>
              </a:r>
              <a:r>
                <a:rPr lang="en-US" sz="2800" baseline="30000" dirty="0"/>
                <a:t>3*4 </a:t>
              </a:r>
              <a:r>
                <a:rPr lang="en-US" sz="2800" dirty="0"/>
                <a:t>= 10</a:t>
              </a:r>
              <a:r>
                <a:rPr lang="en-US" sz="2800" baseline="30000" dirty="0"/>
                <a:t>12 </a:t>
              </a:r>
              <a:r>
                <a:rPr lang="en-US" sz="2800" dirty="0"/>
                <a:t> (Tera)</a:t>
              </a:r>
              <a:endParaRPr lang="en-US" sz="2800" baseline="30000" dirty="0"/>
            </a:p>
          </p:txBody>
        </p:sp>
      </p:grpSp>
      <p:sp>
        <p:nvSpPr>
          <p:cNvPr id="32" name="TextBox 31"/>
          <p:cNvSpPr txBox="1"/>
          <p:nvPr/>
        </p:nvSpPr>
        <p:spPr>
          <a:xfrm>
            <a:off x="1262547" y="5522138"/>
            <a:ext cx="6093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2</a:t>
            </a:r>
            <a:r>
              <a:rPr lang="en-US" sz="2800" baseline="30000" dirty="0"/>
              <a:t>50</a:t>
            </a:r>
            <a:r>
              <a:rPr lang="en-US" sz="2800" dirty="0"/>
              <a:t>   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1889587" y="5337472"/>
            <a:ext cx="3304297" cy="707886"/>
            <a:chOff x="1889587" y="5337472"/>
            <a:chExt cx="3304297" cy="707886"/>
          </a:xfrm>
        </p:grpSpPr>
        <p:sp>
          <p:nvSpPr>
            <p:cNvPr id="33" name="TextBox 32"/>
            <p:cNvSpPr txBox="1"/>
            <p:nvPr/>
          </p:nvSpPr>
          <p:spPr>
            <a:xfrm flipH="1">
              <a:off x="1889587" y="5337472"/>
              <a:ext cx="1134981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≈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2360095" y="5515362"/>
              <a:ext cx="283378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10</a:t>
              </a:r>
              <a:r>
                <a:rPr lang="en-US" sz="2800" baseline="30000" dirty="0"/>
                <a:t>3*5 </a:t>
              </a:r>
              <a:r>
                <a:rPr lang="en-US" sz="2800" dirty="0"/>
                <a:t>= 10</a:t>
              </a:r>
              <a:r>
                <a:rPr lang="en-US" sz="2800" baseline="30000" dirty="0"/>
                <a:t>15 </a:t>
              </a:r>
              <a:r>
                <a:rPr lang="en-US" sz="2800" dirty="0"/>
                <a:t> (Peta)</a:t>
              </a:r>
              <a:endParaRPr lang="en-US" sz="2800" baseline="30000" dirty="0"/>
            </a:p>
          </p:txBody>
        </p:sp>
      </p:grpSp>
    </p:spTree>
    <p:extLst>
      <p:ext uri="{BB962C8B-B14F-4D97-AF65-F5344CB8AC3E}">
        <p14:creationId xmlns:p14="http://schemas.microsoft.com/office/powerpoint/2010/main" val="31539052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20" grpId="0"/>
      <p:bldP spid="29" grpId="0"/>
      <p:bldP spid="3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527361"/>
            <a:ext cx="8229600" cy="1143000"/>
          </a:xfrm>
        </p:spPr>
        <p:txBody>
          <a:bodyPr>
            <a:normAutofit/>
          </a:bodyPr>
          <a:lstStyle/>
          <a:p>
            <a:r>
              <a:rPr kumimoji="1" lang="en-US" altLang="zh-CN" dirty="0">
                <a:latin typeface="Arial"/>
                <a:cs typeface="Arial"/>
              </a:rPr>
              <a:t>Represent non-negative integer</a:t>
            </a:r>
            <a:endParaRPr kumimoji="1" lang="zh-CN" altLang="en-US" dirty="0">
              <a:latin typeface="Arial"/>
              <a:cs typeface="Arial"/>
            </a:endParaRPr>
          </a:p>
        </p:txBody>
      </p:sp>
      <p:sp>
        <p:nvSpPr>
          <p:cNvPr id="4" name="内容占位符 2"/>
          <p:cNvSpPr txBox="1">
            <a:spLocks/>
          </p:cNvSpPr>
          <p:nvPr/>
        </p:nvSpPr>
        <p:spPr>
          <a:xfrm>
            <a:off x="457200" y="1670361"/>
            <a:ext cx="8652358" cy="15304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r>
              <a:rPr kumimoji="1" lang="en-US" altLang="zh-CN" dirty="0">
                <a:latin typeface="Verdana"/>
                <a:cs typeface="Verdana"/>
              </a:rPr>
              <a:t>bits: b</a:t>
            </a:r>
            <a:r>
              <a:rPr kumimoji="1" lang="en-US" altLang="zh-CN" baseline="-25000" dirty="0">
                <a:latin typeface="Verdana"/>
                <a:cs typeface="Verdana"/>
              </a:rPr>
              <a:t>1</a:t>
            </a:r>
            <a:r>
              <a:rPr kumimoji="1" lang="en-US" altLang="zh-CN" dirty="0">
                <a:latin typeface="Verdana"/>
                <a:cs typeface="Verdana"/>
              </a:rPr>
              <a:t>b</a:t>
            </a:r>
            <a:r>
              <a:rPr kumimoji="1" lang="en-US" altLang="zh-CN" baseline="-25000" dirty="0">
                <a:latin typeface="Verdana"/>
                <a:cs typeface="Verdana"/>
              </a:rPr>
              <a:t>0</a:t>
            </a:r>
            <a:r>
              <a:rPr kumimoji="1" lang="en-US" altLang="zh-CN" dirty="0">
                <a:latin typeface="Verdana"/>
                <a:cs typeface="Verdana"/>
              </a:rPr>
              <a:t> </a:t>
            </a:r>
            <a:endParaRPr kumimoji="1" lang="en-US" altLang="zh-CN" baseline="-25000" dirty="0">
              <a:latin typeface="Verdana"/>
              <a:cs typeface="Verdana"/>
            </a:endParaRPr>
          </a:p>
          <a:p>
            <a:pPr marL="0" indent="0">
              <a:buFont typeface="Arial" pitchFamily="34" charset="0"/>
              <a:buNone/>
            </a:pPr>
            <a:r>
              <a:rPr kumimoji="1" lang="en-US" altLang="zh-CN" dirty="0">
                <a:solidFill>
                  <a:srgbClr val="3366FF"/>
                </a:solidFill>
                <a:latin typeface="Verdana"/>
                <a:cs typeface="Verdana"/>
              </a:rPr>
              <a:t>Goal</a:t>
            </a:r>
            <a:r>
              <a:rPr kumimoji="1" lang="en-US" altLang="zh-CN" dirty="0">
                <a:latin typeface="Verdana"/>
                <a:cs typeface="Verdana"/>
              </a:rPr>
              <a:t>: map each bit pattern to an integer</a:t>
            </a:r>
            <a:endParaRPr kumimoji="1" lang="en-US" altLang="zh-CN" sz="2400" dirty="0">
              <a:latin typeface="Verdana"/>
              <a:cs typeface="Verdana"/>
            </a:endParaRPr>
          </a:p>
          <a:p>
            <a:pPr marL="0" indent="0">
              <a:buFont typeface="Arial" pitchFamily="34" charset="0"/>
              <a:buNone/>
            </a:pPr>
            <a:endParaRPr kumimoji="1" lang="zh-CN" altLang="en-US" dirty="0">
              <a:latin typeface="Verdana"/>
              <a:cs typeface="Verdana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E30C3B7-3FF1-4F44-8927-EB6009B03AFC}"/>
              </a:ext>
            </a:extLst>
          </p:cNvPr>
          <p:cNvGrpSpPr/>
          <p:nvPr/>
        </p:nvGrpSpPr>
        <p:grpSpPr>
          <a:xfrm>
            <a:off x="3487038" y="385563"/>
            <a:ext cx="2919813" cy="1037404"/>
            <a:chOff x="3487038" y="385563"/>
            <a:chExt cx="2919813" cy="1037404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2D1BA46-6E7A-41B2-B922-8A3FE6A5FE13}"/>
                </a:ext>
              </a:extLst>
            </p:cNvPr>
            <p:cNvCxnSpPr>
              <a:cxnSpLocks/>
              <a:endCxn id="11" idx="3"/>
            </p:cNvCxnSpPr>
            <p:nvPr/>
          </p:nvCxnSpPr>
          <p:spPr>
            <a:xfrm flipV="1">
              <a:off x="3487038" y="527165"/>
              <a:ext cx="2908995" cy="895802"/>
            </a:xfrm>
            <a:prstGeom prst="line">
              <a:avLst/>
            </a:prstGeom>
            <a:ln w="571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3613F1F-2ABC-4F16-90DE-78C66A61408C}"/>
                </a:ext>
              </a:extLst>
            </p:cNvPr>
            <p:cNvSpPr txBox="1"/>
            <p:nvPr/>
          </p:nvSpPr>
          <p:spPr>
            <a:xfrm rot="21107586">
              <a:off x="4294234" y="385563"/>
              <a:ext cx="211261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1" lang="en-US" altLang="zh-CN" sz="3200" b="1" dirty="0">
                  <a:solidFill>
                    <a:srgbClr val="C00000"/>
                  </a:solidFill>
                  <a:latin typeface="Arial"/>
                  <a:cs typeface="Arial"/>
                </a:rPr>
                <a:t>unsigned</a:t>
              </a:r>
              <a:endParaRPr lang="en-US" sz="3200" b="1" dirty="0">
                <a:solidFill>
                  <a:srgbClr val="C00000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C8B748D0-79A4-4F87-92E5-FD4873246779}"/>
              </a:ext>
            </a:extLst>
          </p:cNvPr>
          <p:cNvGrpSpPr/>
          <p:nvPr/>
        </p:nvGrpSpPr>
        <p:grpSpPr>
          <a:xfrm>
            <a:off x="711585" y="3559995"/>
            <a:ext cx="5226173" cy="2248693"/>
            <a:chOff x="711585" y="3559995"/>
            <a:chExt cx="5226173" cy="2248693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AF742E0-1684-45A2-945F-68080D94920A}"/>
                </a:ext>
              </a:extLst>
            </p:cNvPr>
            <p:cNvSpPr txBox="1"/>
            <p:nvPr/>
          </p:nvSpPr>
          <p:spPr>
            <a:xfrm>
              <a:off x="2941856" y="3559995"/>
              <a:ext cx="1090363" cy="2248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sz="2400" dirty="0"/>
                <a:t>00 </a:t>
              </a:r>
              <a:r>
                <a:rPr lang="en-US" sz="2400" dirty="0">
                  <a:sym typeface="Wingdings" panose="05000000000000000000" pitchFamily="2" charset="2"/>
                </a:rPr>
                <a:t> 0</a:t>
              </a:r>
            </a:p>
            <a:p>
              <a:pPr>
                <a:lnSpc>
                  <a:spcPct val="150000"/>
                </a:lnSpc>
              </a:pPr>
              <a:r>
                <a:rPr lang="en-US" sz="2400" dirty="0">
                  <a:sym typeface="Wingdings" panose="05000000000000000000" pitchFamily="2" charset="2"/>
                </a:rPr>
                <a:t>01  1</a:t>
              </a:r>
            </a:p>
            <a:p>
              <a:pPr>
                <a:lnSpc>
                  <a:spcPct val="150000"/>
                </a:lnSpc>
              </a:pPr>
              <a:r>
                <a:rPr lang="en-US" sz="2400" dirty="0">
                  <a:sym typeface="Wingdings" panose="05000000000000000000" pitchFamily="2" charset="2"/>
                </a:rPr>
                <a:t>10  2</a:t>
              </a:r>
            </a:p>
            <a:p>
              <a:pPr>
                <a:lnSpc>
                  <a:spcPct val="150000"/>
                </a:lnSpc>
              </a:pPr>
              <a:r>
                <a:rPr lang="en-US" sz="2400" dirty="0">
                  <a:sym typeface="Wingdings" panose="05000000000000000000" pitchFamily="2" charset="2"/>
                </a:rPr>
                <a:t>11  3</a:t>
              </a:r>
              <a:endParaRPr lang="en-US" sz="2400" dirty="0"/>
            </a:p>
          </p:txBody>
        </p:sp>
        <p:sp>
          <p:nvSpPr>
            <p:cNvPr id="12" name="Left Brace 11">
              <a:extLst>
                <a:ext uri="{FF2B5EF4-FFF2-40B4-BE49-F238E27FC236}">
                  <a16:creationId xmlns:a16="http://schemas.microsoft.com/office/drawing/2014/main" id="{39383FE3-D0F5-4879-9143-479B002D76ED}"/>
                </a:ext>
              </a:extLst>
            </p:cNvPr>
            <p:cNvSpPr/>
            <p:nvPr/>
          </p:nvSpPr>
          <p:spPr>
            <a:xfrm>
              <a:off x="2635321" y="3847672"/>
              <a:ext cx="246580" cy="1803115"/>
            </a:xfrm>
            <a:prstGeom prst="lef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Left Brace 14">
              <a:extLst>
                <a:ext uri="{FF2B5EF4-FFF2-40B4-BE49-F238E27FC236}">
                  <a16:creationId xmlns:a16="http://schemas.microsoft.com/office/drawing/2014/main" id="{FA065441-062D-470D-AD9F-F3A9412E5A4A}"/>
                </a:ext>
              </a:extLst>
            </p:cNvPr>
            <p:cNvSpPr/>
            <p:nvPr/>
          </p:nvSpPr>
          <p:spPr>
            <a:xfrm rot="10800000">
              <a:off x="4073704" y="3847672"/>
              <a:ext cx="246580" cy="1803115"/>
            </a:xfrm>
            <a:prstGeom prst="leftBrace">
              <a:avLst>
                <a:gd name="adj1" fmla="val 8333"/>
                <a:gd name="adj2" fmla="val 50285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6D57B8A1-3742-4470-AE5E-FC6C7F8EFC8A}"/>
                </a:ext>
              </a:extLst>
            </p:cNvPr>
            <p:cNvSpPr txBox="1"/>
            <p:nvPr/>
          </p:nvSpPr>
          <p:spPr>
            <a:xfrm>
              <a:off x="711585" y="4582543"/>
              <a:ext cx="200099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2-bits </a:t>
              </a:r>
              <a:r>
                <a:rPr lang="en-US" dirty="0">
                  <a:sym typeface="Wingdings" pitchFamily="2" charset="2"/>
                </a:rPr>
                <a:t></a:t>
              </a:r>
              <a:r>
                <a:rPr lang="en-US" dirty="0"/>
                <a:t> 4 patterns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593C2316-7270-4151-85FF-3B921D9260ED}"/>
                </a:ext>
              </a:extLst>
            </p:cNvPr>
            <p:cNvSpPr txBox="1"/>
            <p:nvPr/>
          </p:nvSpPr>
          <p:spPr>
            <a:xfrm>
              <a:off x="4572000" y="4582543"/>
              <a:ext cx="13657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Range: [0, 3]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320757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ular Callout 6"/>
          <p:cNvSpPr/>
          <p:nvPr/>
        </p:nvSpPr>
        <p:spPr>
          <a:xfrm>
            <a:off x="1419464" y="5769229"/>
            <a:ext cx="4199467" cy="999067"/>
          </a:xfrm>
          <a:prstGeom prst="wedgeRoundRectCallout">
            <a:avLst>
              <a:gd name="adj1" fmla="val 39817"/>
              <a:gd name="adj2" fmla="val -111050"/>
              <a:gd name="adj3" fmla="val 16667"/>
            </a:avLst>
          </a:prstGeom>
          <a:solidFill>
            <a:srgbClr val="B9CDE5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000" dirty="0">
                <a:solidFill>
                  <a:schemeClr val="tx1"/>
                </a:solidFill>
                <a:latin typeface="Verdana"/>
                <a:cs typeface="Verdana"/>
              </a:rPr>
              <a:t>b</a:t>
            </a:r>
            <a:r>
              <a:rPr kumimoji="1" lang="en-US" altLang="zh-CN" sz="2000" baseline="-25000" dirty="0">
                <a:solidFill>
                  <a:schemeClr val="tx1"/>
                </a:solidFill>
                <a:latin typeface="Verdana"/>
                <a:cs typeface="Verdana"/>
              </a:rPr>
              <a:t>i</a:t>
            </a:r>
            <a:r>
              <a:rPr kumimoji="1" lang="en-US" altLang="zh-CN" sz="2000" dirty="0">
                <a:solidFill>
                  <a:schemeClr val="tx1"/>
                </a:solidFill>
                <a:latin typeface="Verdana"/>
                <a:cs typeface="Verdana"/>
              </a:rPr>
              <a:t> is bit at </a:t>
            </a:r>
            <a:r>
              <a:rPr kumimoji="1" lang="en-US" altLang="zh-CN" sz="2000" dirty="0" err="1">
                <a:solidFill>
                  <a:schemeClr val="tx1"/>
                </a:solidFill>
                <a:latin typeface="Verdana"/>
                <a:cs typeface="Verdana"/>
              </a:rPr>
              <a:t>i-th</a:t>
            </a:r>
            <a:r>
              <a:rPr kumimoji="1" lang="en-US" altLang="zh-CN" sz="2000" dirty="0">
                <a:solidFill>
                  <a:schemeClr val="tx1"/>
                </a:solidFill>
                <a:latin typeface="Verdana"/>
                <a:cs typeface="Verdana"/>
              </a:rPr>
              <a:t> position (from right to left, starting at </a:t>
            </a:r>
            <a:r>
              <a:rPr kumimoji="1" lang="en-US" altLang="zh-CN" sz="2000" dirty="0" err="1">
                <a:solidFill>
                  <a:schemeClr val="tx1"/>
                </a:solidFill>
                <a:latin typeface="Verdana"/>
                <a:cs typeface="Verdana"/>
              </a:rPr>
              <a:t>i</a:t>
            </a:r>
            <a:r>
              <a:rPr kumimoji="1" lang="en-US" altLang="zh-CN" sz="2000" dirty="0">
                <a:solidFill>
                  <a:schemeClr val="tx1"/>
                </a:solidFill>
                <a:latin typeface="Verdana"/>
                <a:cs typeface="Verdana"/>
              </a:rPr>
              <a:t>=0)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>
                <a:latin typeface="Arial"/>
                <a:cs typeface="Arial"/>
              </a:rPr>
              <a:t>Represent unsigned integer</a:t>
            </a:r>
            <a:endParaRPr kumimoji="1" lang="zh-CN" altLang="en-US" dirty="0">
              <a:latin typeface="Arial"/>
              <a:cs typeface="Arial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4042" y="3416715"/>
            <a:ext cx="8499958" cy="31703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1" lang="en-US" altLang="zh-CN" dirty="0">
                <a:latin typeface="Verdana"/>
                <a:cs typeface="Verdana"/>
              </a:rPr>
              <a:t>Base-2 representation:</a:t>
            </a:r>
          </a:p>
          <a:p>
            <a:pPr marL="0" indent="0">
              <a:buNone/>
            </a:pPr>
            <a:endParaRPr kumimoji="1" lang="en-US" altLang="zh-CN" dirty="0">
              <a:latin typeface="Verdana"/>
              <a:cs typeface="Verdana"/>
            </a:endParaRPr>
          </a:p>
          <a:p>
            <a:pPr marL="0" indent="0">
              <a:buNone/>
            </a:pPr>
            <a:r>
              <a:rPr kumimoji="1" lang="en-US" altLang="zh-CN" sz="3200" dirty="0">
                <a:latin typeface="Verdana"/>
                <a:cs typeface="Verdana"/>
              </a:rPr>
              <a:t>b</a:t>
            </a:r>
            <a:r>
              <a:rPr kumimoji="1" lang="en-US" altLang="zh-CN" sz="3200" baseline="-25000" dirty="0">
                <a:latin typeface="Verdana"/>
                <a:cs typeface="Verdana"/>
              </a:rPr>
              <a:t>n-1</a:t>
            </a:r>
            <a:r>
              <a:rPr kumimoji="1" lang="en-US" altLang="zh-CN" sz="3200" dirty="0">
                <a:latin typeface="Verdana"/>
                <a:cs typeface="Verdana"/>
              </a:rPr>
              <a:t>b</a:t>
            </a:r>
            <a:r>
              <a:rPr kumimoji="1" lang="en-US" altLang="zh-CN" sz="3200" baseline="-25000" dirty="0">
                <a:latin typeface="Verdana"/>
                <a:cs typeface="Verdana"/>
              </a:rPr>
              <a:t>n-2</a:t>
            </a:r>
            <a:r>
              <a:rPr kumimoji="1" lang="mr-IN" altLang="zh-CN" sz="3200" dirty="0">
                <a:latin typeface="Verdana"/>
                <a:cs typeface="Verdana"/>
              </a:rPr>
              <a:t>…</a:t>
            </a:r>
            <a:r>
              <a:rPr kumimoji="1" lang="en-US" altLang="zh-CN" sz="3200" dirty="0">
                <a:latin typeface="Verdana"/>
                <a:cs typeface="Verdana"/>
              </a:rPr>
              <a:t>b</a:t>
            </a:r>
            <a:r>
              <a:rPr kumimoji="1" lang="en-US" altLang="zh-CN" sz="3200" baseline="-25000" dirty="0">
                <a:latin typeface="Verdana"/>
                <a:cs typeface="Verdana"/>
              </a:rPr>
              <a:t>2</a:t>
            </a:r>
            <a:r>
              <a:rPr kumimoji="1" lang="en-US" altLang="zh-CN" sz="3200" dirty="0">
                <a:latin typeface="Verdana"/>
                <a:cs typeface="Verdana"/>
              </a:rPr>
              <a:t>b</a:t>
            </a:r>
            <a:r>
              <a:rPr kumimoji="1" lang="en-US" altLang="zh-CN" sz="3200" baseline="-25000" dirty="0">
                <a:latin typeface="Verdana"/>
                <a:cs typeface="Verdana"/>
              </a:rPr>
              <a:t>1</a:t>
            </a:r>
            <a:r>
              <a:rPr kumimoji="1" lang="en-US" altLang="zh-CN" sz="3200" dirty="0">
                <a:latin typeface="Verdana"/>
                <a:cs typeface="Verdana"/>
              </a:rPr>
              <a:t>b</a:t>
            </a:r>
            <a:r>
              <a:rPr kumimoji="1" lang="en-US" altLang="zh-CN" sz="3200" baseline="-25000" dirty="0">
                <a:latin typeface="Verdana"/>
                <a:cs typeface="Verdana"/>
              </a:rPr>
              <a:t>0</a:t>
            </a:r>
            <a:r>
              <a:rPr kumimoji="1" lang="en-US" altLang="zh-CN" sz="3200" dirty="0">
                <a:latin typeface="Verdana"/>
                <a:cs typeface="Verdana"/>
              </a:rPr>
              <a:t> </a:t>
            </a:r>
            <a:r>
              <a:rPr kumimoji="1" lang="en-US" altLang="zh-CN" sz="3200" dirty="0">
                <a:solidFill>
                  <a:prstClr val="black"/>
                </a:solidFill>
                <a:latin typeface="Verdana"/>
                <a:cs typeface="Verdana"/>
              </a:rPr>
              <a:t>= </a:t>
            </a:r>
            <a:endParaRPr kumimoji="1" lang="en-US" altLang="zh-CN" sz="3200" baseline="-25000" dirty="0">
              <a:latin typeface="Verdana"/>
              <a:cs typeface="Verdana"/>
            </a:endParaRPr>
          </a:p>
        </p:txBody>
      </p:sp>
      <p:sp>
        <p:nvSpPr>
          <p:cNvPr id="4" name="内容占位符 2"/>
          <p:cNvSpPr txBox="1">
            <a:spLocks/>
          </p:cNvSpPr>
          <p:nvPr/>
        </p:nvSpPr>
        <p:spPr>
          <a:xfrm>
            <a:off x="609600" y="1417638"/>
            <a:ext cx="8499958" cy="7879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r>
              <a:rPr kumimoji="1" lang="en-US" altLang="zh-CN" sz="3200" dirty="0">
                <a:latin typeface="Verdana"/>
                <a:cs typeface="Verdana"/>
              </a:rPr>
              <a:t>Bit pattern: b</a:t>
            </a:r>
            <a:r>
              <a:rPr kumimoji="1" lang="en-US" altLang="zh-CN" sz="3200" baseline="-25000" dirty="0">
                <a:latin typeface="Verdana"/>
                <a:cs typeface="Verdana"/>
              </a:rPr>
              <a:t>n-1</a:t>
            </a:r>
            <a:r>
              <a:rPr kumimoji="1" lang="en-US" altLang="zh-CN" sz="3200" dirty="0">
                <a:latin typeface="Verdana"/>
                <a:cs typeface="Verdana"/>
              </a:rPr>
              <a:t>b</a:t>
            </a:r>
            <a:r>
              <a:rPr kumimoji="1" lang="en-US" altLang="zh-CN" sz="3200" baseline="-25000" dirty="0">
                <a:latin typeface="Verdana"/>
                <a:cs typeface="Verdana"/>
              </a:rPr>
              <a:t>n-2</a:t>
            </a:r>
            <a:r>
              <a:rPr kumimoji="1" lang="mr-IN" altLang="zh-CN" sz="3200" dirty="0">
                <a:latin typeface="Verdana"/>
                <a:cs typeface="Verdana"/>
              </a:rPr>
              <a:t>…</a:t>
            </a:r>
            <a:r>
              <a:rPr kumimoji="1" lang="en-US" altLang="zh-CN" sz="3200" dirty="0">
                <a:latin typeface="Verdana"/>
                <a:cs typeface="Verdana"/>
              </a:rPr>
              <a:t>b</a:t>
            </a:r>
            <a:r>
              <a:rPr kumimoji="1" lang="en-US" altLang="zh-CN" sz="3200" baseline="-25000" dirty="0">
                <a:latin typeface="Verdana"/>
                <a:cs typeface="Verdana"/>
              </a:rPr>
              <a:t>2</a:t>
            </a:r>
            <a:r>
              <a:rPr kumimoji="1" lang="en-US" altLang="zh-CN" sz="3200" dirty="0">
                <a:latin typeface="Verdana"/>
                <a:cs typeface="Verdana"/>
              </a:rPr>
              <a:t>b</a:t>
            </a:r>
            <a:r>
              <a:rPr kumimoji="1" lang="en-US" altLang="zh-CN" sz="3200" baseline="-25000" dirty="0">
                <a:latin typeface="Verdana"/>
                <a:cs typeface="Verdana"/>
              </a:rPr>
              <a:t>1</a:t>
            </a:r>
            <a:r>
              <a:rPr kumimoji="1" lang="en-US" altLang="zh-CN" sz="3200" dirty="0">
                <a:latin typeface="Verdana"/>
                <a:cs typeface="Verdana"/>
              </a:rPr>
              <a:t>b</a:t>
            </a:r>
            <a:r>
              <a:rPr kumimoji="1" lang="en-US" altLang="zh-CN" sz="3200" baseline="-25000" dirty="0">
                <a:latin typeface="Verdana"/>
                <a:cs typeface="Verdana"/>
              </a:rPr>
              <a:t>0</a:t>
            </a:r>
            <a:r>
              <a:rPr kumimoji="1" lang="en-US" altLang="zh-CN" sz="3200" dirty="0">
                <a:latin typeface="Verdana"/>
                <a:cs typeface="Verdana"/>
              </a:rPr>
              <a:t> </a:t>
            </a:r>
            <a:endParaRPr kumimoji="1" lang="en-US" altLang="zh-CN" dirty="0">
              <a:latin typeface="Verdana"/>
              <a:cs typeface="Verdana"/>
            </a:endParaRPr>
          </a:p>
          <a:p>
            <a:pPr marL="0" indent="0">
              <a:buFont typeface="Arial" pitchFamily="34" charset="0"/>
              <a:buNone/>
            </a:pPr>
            <a:endParaRPr kumimoji="1" lang="zh-CN" altLang="en-US" dirty="0">
              <a:latin typeface="Verdana"/>
              <a:cs typeface="Verdana"/>
            </a:endParaRPr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26633829"/>
              </p:ext>
            </p:extLst>
          </p:nvPr>
        </p:nvGraphicFramePr>
        <p:xfrm>
          <a:off x="4425094" y="4176065"/>
          <a:ext cx="1592610" cy="133334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546100" imgH="457200" progId="Equation.3">
                  <p:embed/>
                </p:oleObj>
              </mc:Choice>
              <mc:Fallback>
                <p:oleObj name="Equation" r:id="rId3" imgW="546100" imgH="457200" progId="Equation.3">
                  <p:embed/>
                  <p:pic>
                    <p:nvPicPr>
                      <p:cNvPr id="6" name="Object 5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425094" y="4176065"/>
                        <a:ext cx="1592610" cy="133334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Rounded Rectangular Callout 4">
            <a:extLst>
              <a:ext uri="{FF2B5EF4-FFF2-40B4-BE49-F238E27FC236}">
                <a16:creationId xmlns:a16="http://schemas.microsoft.com/office/drawing/2014/main" id="{BC331185-E752-446C-9176-4221BE638D00}"/>
              </a:ext>
            </a:extLst>
          </p:cNvPr>
          <p:cNvSpPr/>
          <p:nvPr/>
        </p:nvSpPr>
        <p:spPr>
          <a:xfrm>
            <a:off x="1419464" y="2328598"/>
            <a:ext cx="3152535" cy="558799"/>
          </a:xfrm>
          <a:prstGeom prst="wedgeRoundRectCallout">
            <a:avLst>
              <a:gd name="adj1" fmla="val 62107"/>
              <a:gd name="adj2" fmla="val -100585"/>
              <a:gd name="adj3" fmla="val 16667"/>
            </a:avLst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dirty="0">
                <a:solidFill>
                  <a:schemeClr val="tx1"/>
                </a:solidFill>
                <a:latin typeface="Verdana"/>
                <a:cs typeface="Verdana"/>
              </a:rPr>
              <a:t>Range: [0, 2</a:t>
            </a:r>
            <a:r>
              <a:rPr lang="en-US" altLang="zh-CN" sz="2400" baseline="30000" dirty="0">
                <a:solidFill>
                  <a:schemeClr val="tx1"/>
                </a:solidFill>
                <a:latin typeface="Verdana"/>
                <a:cs typeface="Verdana"/>
              </a:rPr>
              <a:t>n </a:t>
            </a:r>
            <a:r>
              <a:rPr lang="en-US" altLang="zh-CN" sz="2400" dirty="0">
                <a:solidFill>
                  <a:schemeClr val="tx1"/>
                </a:solidFill>
              </a:rPr>
              <a:t>-1]</a:t>
            </a:r>
            <a:endParaRPr lang="en-US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3992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3" grpId="0" uiExpand="1" build="p"/>
      <p:bldP spid="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>
                <a:latin typeface="Arial"/>
                <a:cs typeface="Arial"/>
              </a:rPr>
              <a:t>Examples</a:t>
            </a:r>
            <a:endParaRPr kumimoji="1" lang="zh-CN" altLang="en-US" dirty="0">
              <a:latin typeface="Arial"/>
              <a:cs typeface="Arial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1831539"/>
            <a:ext cx="8686800" cy="3170351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sz="3200" dirty="0">
                <a:latin typeface="Consolas"/>
                <a:cs typeface="Consolas"/>
              </a:rPr>
              <a:t>Bit pattern:	   </a:t>
            </a:r>
            <a:r>
              <a:rPr lang="en-US" altLang="zh-CN" sz="3200" dirty="0">
                <a:solidFill>
                  <a:srgbClr val="0000FF"/>
                </a:solidFill>
                <a:latin typeface="Consolas"/>
                <a:cs typeface="Consolas"/>
              </a:rPr>
              <a:t>00000110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zh-CN" sz="3200" dirty="0">
                <a:latin typeface="Consolas"/>
                <a:cs typeface="Consolas"/>
              </a:rPr>
              <a:t>Value: </a:t>
            </a:r>
            <a:r>
              <a:rPr lang="en-US" altLang="zh-CN" sz="2400" dirty="0">
                <a:solidFill>
                  <a:srgbClr val="0000FF"/>
                </a:solidFill>
                <a:latin typeface="Consolas"/>
                <a:cs typeface="Consolas"/>
              </a:rPr>
              <a:t>0</a:t>
            </a:r>
            <a:r>
              <a:rPr lang="en-US" altLang="zh-CN" sz="2400" dirty="0">
                <a:latin typeface="Consolas"/>
                <a:cs typeface="Consolas"/>
              </a:rPr>
              <a:t>*2</a:t>
            </a:r>
            <a:r>
              <a:rPr lang="en-US" altLang="zh-CN" sz="2400" baseline="30000" dirty="0">
                <a:latin typeface="Consolas"/>
                <a:cs typeface="Consolas"/>
              </a:rPr>
              <a:t>7</a:t>
            </a:r>
            <a:r>
              <a:rPr lang="en-US" altLang="zh-CN" sz="2400" dirty="0">
                <a:latin typeface="Consolas"/>
                <a:cs typeface="Consolas"/>
              </a:rPr>
              <a:t>+</a:t>
            </a:r>
            <a:r>
              <a:rPr lang="en-US" altLang="zh-CN" sz="2400" dirty="0">
                <a:solidFill>
                  <a:srgbClr val="0000FF"/>
                </a:solidFill>
                <a:latin typeface="Consolas"/>
                <a:cs typeface="Consolas"/>
              </a:rPr>
              <a:t>0</a:t>
            </a:r>
            <a:r>
              <a:rPr lang="en-US" altLang="zh-CN" sz="2400" dirty="0">
                <a:latin typeface="Consolas"/>
                <a:cs typeface="Consolas"/>
              </a:rPr>
              <a:t>*2</a:t>
            </a:r>
            <a:r>
              <a:rPr lang="en-US" altLang="zh-CN" sz="2400" baseline="30000" dirty="0">
                <a:latin typeface="Consolas"/>
                <a:cs typeface="Consolas"/>
              </a:rPr>
              <a:t>6</a:t>
            </a:r>
            <a:r>
              <a:rPr lang="en-US" altLang="zh-CN" sz="2400" dirty="0">
                <a:latin typeface="Consolas"/>
                <a:cs typeface="Consolas"/>
              </a:rPr>
              <a:t>+</a:t>
            </a:r>
            <a:r>
              <a:rPr lang="en-US" altLang="zh-CN" sz="2400" dirty="0">
                <a:solidFill>
                  <a:srgbClr val="0000FF"/>
                </a:solidFill>
                <a:latin typeface="Consolas"/>
                <a:cs typeface="Consolas"/>
              </a:rPr>
              <a:t>0</a:t>
            </a:r>
            <a:r>
              <a:rPr lang="en-US" altLang="zh-CN" sz="2400" dirty="0">
                <a:latin typeface="Consolas"/>
                <a:cs typeface="Consolas"/>
              </a:rPr>
              <a:t>*2</a:t>
            </a:r>
            <a:r>
              <a:rPr lang="en-US" altLang="zh-CN" sz="2400" baseline="30000" dirty="0">
                <a:latin typeface="Consolas"/>
                <a:cs typeface="Consolas"/>
              </a:rPr>
              <a:t>5</a:t>
            </a:r>
            <a:r>
              <a:rPr lang="en-US" altLang="zh-CN" sz="2400" dirty="0">
                <a:latin typeface="Consolas"/>
                <a:cs typeface="Consolas"/>
              </a:rPr>
              <a:t>+</a:t>
            </a:r>
            <a:r>
              <a:rPr lang="en-US" altLang="zh-CN" sz="2400" dirty="0">
                <a:solidFill>
                  <a:srgbClr val="0000FF"/>
                </a:solidFill>
                <a:latin typeface="Consolas"/>
                <a:cs typeface="Consolas"/>
              </a:rPr>
              <a:t>0</a:t>
            </a:r>
            <a:r>
              <a:rPr lang="en-US" altLang="zh-CN" sz="2400" dirty="0">
                <a:latin typeface="Consolas"/>
                <a:cs typeface="Consolas"/>
              </a:rPr>
              <a:t>*2</a:t>
            </a:r>
            <a:r>
              <a:rPr lang="en-US" altLang="zh-CN" sz="2400" baseline="30000" dirty="0">
                <a:latin typeface="Consolas"/>
                <a:cs typeface="Consolas"/>
              </a:rPr>
              <a:t>4</a:t>
            </a:r>
            <a:r>
              <a:rPr lang="en-US" altLang="zh-CN" sz="2400" dirty="0">
                <a:latin typeface="Consolas"/>
                <a:cs typeface="Consolas"/>
              </a:rPr>
              <a:t>+</a:t>
            </a:r>
            <a:r>
              <a:rPr lang="en-US" altLang="zh-CN" sz="2400" dirty="0">
                <a:solidFill>
                  <a:srgbClr val="0000FF"/>
                </a:solidFill>
                <a:latin typeface="Consolas"/>
                <a:cs typeface="Consolas"/>
              </a:rPr>
              <a:t>0</a:t>
            </a:r>
            <a:r>
              <a:rPr lang="en-US" altLang="zh-CN" sz="2400" dirty="0">
                <a:latin typeface="Consolas"/>
                <a:cs typeface="Consolas"/>
              </a:rPr>
              <a:t>*2</a:t>
            </a:r>
            <a:r>
              <a:rPr lang="en-US" altLang="zh-CN" sz="2400" baseline="30000" dirty="0">
                <a:latin typeface="Consolas"/>
                <a:cs typeface="Consolas"/>
              </a:rPr>
              <a:t>3</a:t>
            </a:r>
            <a:r>
              <a:rPr lang="en-US" altLang="zh-CN" sz="2400" dirty="0">
                <a:latin typeface="Consolas"/>
                <a:cs typeface="Consolas"/>
              </a:rPr>
              <a:t>+</a:t>
            </a:r>
            <a:r>
              <a:rPr lang="en-US" altLang="zh-CN" sz="2400" dirty="0">
                <a:solidFill>
                  <a:srgbClr val="0000FF"/>
                </a:solidFill>
                <a:latin typeface="Consolas"/>
                <a:cs typeface="Consolas"/>
              </a:rPr>
              <a:t>1</a:t>
            </a:r>
            <a:r>
              <a:rPr lang="en-US" altLang="zh-CN" sz="2400" dirty="0">
                <a:latin typeface="Consolas"/>
                <a:cs typeface="Consolas"/>
              </a:rPr>
              <a:t>*2</a:t>
            </a:r>
            <a:r>
              <a:rPr lang="en-US" altLang="zh-CN" sz="2400" baseline="30000" dirty="0">
                <a:latin typeface="Consolas"/>
                <a:cs typeface="Consolas"/>
              </a:rPr>
              <a:t>2</a:t>
            </a:r>
            <a:r>
              <a:rPr lang="en-US" altLang="zh-CN" sz="2400" dirty="0">
                <a:latin typeface="Consolas"/>
                <a:cs typeface="Consolas"/>
              </a:rPr>
              <a:t>+</a:t>
            </a:r>
            <a:r>
              <a:rPr lang="en-US" altLang="zh-CN" sz="2400" dirty="0">
                <a:solidFill>
                  <a:srgbClr val="0000FF"/>
                </a:solidFill>
                <a:latin typeface="Consolas"/>
                <a:cs typeface="Consolas"/>
              </a:rPr>
              <a:t>1</a:t>
            </a:r>
            <a:r>
              <a:rPr lang="en-US" altLang="zh-CN" sz="2400" dirty="0">
                <a:latin typeface="Consolas"/>
                <a:cs typeface="Consolas"/>
              </a:rPr>
              <a:t>*2</a:t>
            </a:r>
            <a:r>
              <a:rPr lang="en-US" altLang="zh-CN" sz="2400" baseline="30000" dirty="0">
                <a:latin typeface="Consolas"/>
                <a:cs typeface="Consolas"/>
              </a:rPr>
              <a:t>1</a:t>
            </a:r>
            <a:r>
              <a:rPr lang="en-US" altLang="zh-CN" sz="2400" dirty="0">
                <a:latin typeface="Consolas"/>
                <a:cs typeface="Consolas"/>
              </a:rPr>
              <a:t>+</a:t>
            </a:r>
            <a:r>
              <a:rPr lang="en-US" altLang="zh-CN" sz="2400" dirty="0">
                <a:solidFill>
                  <a:srgbClr val="0000FF"/>
                </a:solidFill>
                <a:latin typeface="Consolas"/>
                <a:cs typeface="Consolas"/>
              </a:rPr>
              <a:t>0</a:t>
            </a:r>
            <a:r>
              <a:rPr lang="en-US" altLang="zh-CN" sz="2400" dirty="0">
                <a:latin typeface="Consolas"/>
                <a:cs typeface="Consolas"/>
              </a:rPr>
              <a:t>*2</a:t>
            </a:r>
            <a:r>
              <a:rPr lang="en-US" altLang="zh-CN" sz="2400" baseline="30000" dirty="0">
                <a:latin typeface="Consolas"/>
                <a:cs typeface="Consolas"/>
              </a:rPr>
              <a:t>0 </a:t>
            </a:r>
            <a:r>
              <a:rPr lang="en-US" altLang="zh-CN" sz="2400" dirty="0">
                <a:latin typeface="Consolas"/>
                <a:cs typeface="Consolas"/>
              </a:rPr>
              <a:t>= 6</a:t>
            </a:r>
            <a:endParaRPr lang="en-US" altLang="zh-CN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5592662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5B0FBC-1243-9F50-D9A7-C99DB0AE0E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9" name="Content Placeholder 8">
                <a:extLst>
                  <a:ext uri="{FF2B5EF4-FFF2-40B4-BE49-F238E27FC236}">
                    <a16:creationId xmlns:a16="http://schemas.microsoft.com/office/drawing/2014/main" id="{47102F89-4E54-6C4A-E242-DB72231A4F47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766988049"/>
                  </p:ext>
                </p:extLst>
              </p:nvPr>
            </p:nvGraphicFramePr>
            <p:xfrm>
              <a:off x="0" y="0"/>
              <a:ext cx="9144000" cy="685800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3"/>
              </a:graphicData>
            </a:graphic>
          </p:graphicFrame>
        </mc:Choice>
        <mc:Fallback>
          <p:pic>
            <p:nvPicPr>
              <p:cNvPr id="9" name="Content Placeholder 8">
                <a:extLst>
                  <a:ext uri="{FF2B5EF4-FFF2-40B4-BE49-F238E27FC236}">
                    <a16:creationId xmlns:a16="http://schemas.microsoft.com/office/drawing/2014/main" id="{47102F89-4E54-6C4A-E242-DB72231A4F4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0" y="0"/>
                <a:ext cx="9144000" cy="6858000"/>
              </a:xfrm>
              <a:prstGeom prst="rect">
                <a:avLst/>
              </a:prstGeom>
            </p:spPr>
          </p:pic>
        </mc:Fallback>
      </mc:AlternateContent>
      <p:sp>
        <p:nvSpPr>
          <p:cNvPr id="8" name="Title 7">
            <a:extLst>
              <a:ext uri="{FF2B5EF4-FFF2-40B4-BE49-F238E27FC236}">
                <a16:creationId xmlns:a16="http://schemas.microsoft.com/office/drawing/2014/main" id="{55D88A66-A945-CECE-6364-B5D8D3771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2261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60251" y="123528"/>
            <a:ext cx="8229600" cy="1143000"/>
          </a:xfrm>
        </p:spPr>
        <p:txBody>
          <a:bodyPr/>
          <a:lstStyle/>
          <a:p>
            <a:r>
              <a:rPr kumimoji="1" lang="en-US" altLang="zh-CN" dirty="0"/>
              <a:t>Byte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72428" y="1153339"/>
            <a:ext cx="8984268" cy="2275661"/>
          </a:xfrm>
        </p:spPr>
        <p:txBody>
          <a:bodyPr>
            <a:normAutofit fontScale="92500"/>
          </a:bodyPr>
          <a:lstStyle/>
          <a:p>
            <a:pPr>
              <a:lnSpc>
                <a:spcPct val="120000"/>
              </a:lnSpc>
            </a:pPr>
            <a:r>
              <a:rPr lang="en-US" altLang="zh-CN" dirty="0">
                <a:latin typeface="Verdana"/>
                <a:cs typeface="Verdana"/>
              </a:rPr>
              <a:t>Byte: a fixed size group of bits</a:t>
            </a:r>
          </a:p>
          <a:p>
            <a:pPr lvl="1">
              <a:lnSpc>
                <a:spcPct val="120000"/>
              </a:lnSpc>
            </a:pPr>
            <a:r>
              <a:rPr lang="en-US" altLang="zh-CN" dirty="0">
                <a:latin typeface="Verdana"/>
                <a:cs typeface="Verdana"/>
              </a:rPr>
              <a:t>The term is coined by Werner Buchholz (IBM).</a:t>
            </a:r>
          </a:p>
          <a:p>
            <a:pPr lvl="1">
              <a:lnSpc>
                <a:spcPct val="120000"/>
              </a:lnSpc>
            </a:pPr>
            <a:r>
              <a:rPr lang="en-US" altLang="zh-CN" dirty="0">
                <a:latin typeface="Verdana"/>
                <a:cs typeface="Verdana"/>
              </a:rPr>
              <a:t>Long </a:t>
            </a:r>
            <a:r>
              <a:rPr lang="en-US" altLang="zh-CN" dirty="0" err="1">
                <a:latin typeface="Verdana"/>
                <a:cs typeface="Verdana"/>
              </a:rPr>
              <a:t>long</a:t>
            </a:r>
            <a:r>
              <a:rPr lang="en-US" altLang="zh-CN" dirty="0">
                <a:latin typeface="Verdana"/>
                <a:cs typeface="Verdana"/>
              </a:rPr>
              <a:t> ago, different vendors use different byte sizes</a:t>
            </a:r>
          </a:p>
          <a:p>
            <a:pPr>
              <a:lnSpc>
                <a:spcPct val="120000"/>
              </a:lnSpc>
            </a:pPr>
            <a:r>
              <a:rPr lang="en-US" altLang="zh-CN" dirty="0">
                <a:latin typeface="Verdana"/>
                <a:cs typeface="Verdana"/>
              </a:rPr>
              <a:t>Now: Byte is 8-bit</a:t>
            </a:r>
          </a:p>
          <a:p>
            <a:pPr marL="914400" lvl="2" indent="0">
              <a:lnSpc>
                <a:spcPct val="120000"/>
              </a:lnSpc>
              <a:buNone/>
            </a:pPr>
            <a:endParaRPr lang="en-US" altLang="zh-CN" dirty="0">
              <a:latin typeface="Verdana"/>
              <a:cs typeface="Verdana"/>
            </a:endParaRPr>
          </a:p>
          <a:p>
            <a:pPr lvl="1">
              <a:lnSpc>
                <a:spcPct val="120000"/>
              </a:lnSpc>
            </a:pPr>
            <a:endParaRPr lang="en-US" altLang="zh-CN" dirty="0">
              <a:latin typeface="Verdana"/>
              <a:cs typeface="Verdana"/>
            </a:endParaRPr>
          </a:p>
          <a:p>
            <a:pPr marL="0" indent="0">
              <a:buNone/>
            </a:pPr>
            <a:endParaRPr kumimoji="1" lang="en-US" altLang="zh-CN" dirty="0">
              <a:latin typeface="Verdana"/>
              <a:cs typeface="Verdana"/>
            </a:endParaRPr>
          </a:p>
          <a:p>
            <a:pPr marL="0" indent="0">
              <a:buNone/>
            </a:pPr>
            <a:endParaRPr kumimoji="1" lang="en-US" altLang="zh-CN" dirty="0">
              <a:latin typeface="Verdana"/>
              <a:cs typeface="Verdana"/>
            </a:endParaRPr>
          </a:p>
          <a:p>
            <a:pPr marL="0" indent="0">
              <a:buNone/>
            </a:pPr>
            <a:endParaRPr kumimoji="1" lang="en-US" altLang="zh-CN" dirty="0">
              <a:latin typeface="Verdana"/>
              <a:cs typeface="Verdana"/>
            </a:endParaRPr>
          </a:p>
          <a:p>
            <a:pPr marL="0" indent="0">
              <a:buNone/>
            </a:pPr>
            <a:endParaRPr kumimoji="1" lang="en-US" altLang="zh-CN" dirty="0">
              <a:latin typeface="Verdana"/>
              <a:cs typeface="Verdana"/>
            </a:endParaRP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7521" y="1056594"/>
            <a:ext cx="782153" cy="918636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09AA1344-A36F-4D66-AE49-C003831E20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167" y="3327823"/>
            <a:ext cx="1464413" cy="1954991"/>
          </a:xfrm>
          <a:prstGeom prst="rect">
            <a:avLst/>
          </a:prstGeom>
        </p:spPr>
      </p:pic>
      <p:sp>
        <p:nvSpPr>
          <p:cNvPr id="6" name="矩形 4">
            <a:extLst>
              <a:ext uri="{FF2B5EF4-FFF2-40B4-BE49-F238E27FC236}">
                <a16:creationId xmlns:a16="http://schemas.microsoft.com/office/drawing/2014/main" id="{A3F9894C-5E3B-4552-A3F9-40AC0520B14F}"/>
              </a:ext>
            </a:extLst>
          </p:cNvPr>
          <p:cNvSpPr/>
          <p:nvPr/>
        </p:nvSpPr>
        <p:spPr>
          <a:xfrm>
            <a:off x="0" y="5462820"/>
            <a:ext cx="277927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latin typeface="Arial"/>
                <a:cs typeface="Arial"/>
              </a:rPr>
              <a:t>IBM System/360, 1964</a:t>
            </a:r>
            <a:endParaRPr lang="zh-CN" altLang="en-US" sz="2000" dirty="0">
              <a:latin typeface="Arial"/>
              <a:cs typeface="Arial"/>
            </a:endParaRPr>
          </a:p>
        </p:txBody>
      </p:sp>
      <p:sp>
        <p:nvSpPr>
          <p:cNvPr id="10" name="矩形 10">
            <a:extLst>
              <a:ext uri="{FF2B5EF4-FFF2-40B4-BE49-F238E27FC236}">
                <a16:creationId xmlns:a16="http://schemas.microsoft.com/office/drawing/2014/main" id="{BFE02A86-677A-4946-9BAC-9FB5F684EAE0}"/>
              </a:ext>
            </a:extLst>
          </p:cNvPr>
          <p:cNvSpPr/>
          <p:nvPr/>
        </p:nvSpPr>
        <p:spPr>
          <a:xfrm>
            <a:off x="72427" y="5846321"/>
            <a:ext cx="299152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4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Introduced 8-bit byte</a:t>
            </a:r>
            <a:endParaRPr lang="zh-CN" altLang="en-US" sz="2400" dirty="0">
              <a:solidFill>
                <a:schemeClr val="tx2">
                  <a:lumMod val="60000"/>
                  <a:lumOff val="40000"/>
                </a:schemeClr>
              </a:solidFill>
              <a:latin typeface="Arial"/>
              <a:cs typeface="Arial"/>
            </a:endParaRPr>
          </a:p>
        </p:txBody>
      </p:sp>
      <p:sp>
        <p:nvSpPr>
          <p:cNvPr id="12" name="右箭头 7">
            <a:extLst>
              <a:ext uri="{FF2B5EF4-FFF2-40B4-BE49-F238E27FC236}">
                <a16:creationId xmlns:a16="http://schemas.microsoft.com/office/drawing/2014/main" id="{BE713634-0660-422D-A452-6A066C35762A}"/>
              </a:ext>
            </a:extLst>
          </p:cNvPr>
          <p:cNvSpPr/>
          <p:nvPr/>
        </p:nvSpPr>
        <p:spPr>
          <a:xfrm>
            <a:off x="2313556" y="3934774"/>
            <a:ext cx="720765" cy="594980"/>
          </a:xfrm>
          <a:prstGeom prst="rightArrow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14" name="图片 12">
            <a:extLst>
              <a:ext uri="{FF2B5EF4-FFF2-40B4-BE49-F238E27FC236}">
                <a16:creationId xmlns:a16="http://schemas.microsoft.com/office/drawing/2014/main" id="{C9BDA3BE-4034-4DDA-B55B-DD5977DE04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92997" y="3751701"/>
            <a:ext cx="2364109" cy="971841"/>
          </a:xfrm>
          <a:prstGeom prst="rect">
            <a:avLst/>
          </a:prstGeom>
        </p:spPr>
      </p:pic>
      <p:sp>
        <p:nvSpPr>
          <p:cNvPr id="16" name="矩形 13">
            <a:extLst>
              <a:ext uri="{FF2B5EF4-FFF2-40B4-BE49-F238E27FC236}">
                <a16:creationId xmlns:a16="http://schemas.microsoft.com/office/drawing/2014/main" id="{240A46FE-93DC-4184-B296-DACA398D2E43}"/>
              </a:ext>
            </a:extLst>
          </p:cNvPr>
          <p:cNvSpPr/>
          <p:nvPr/>
        </p:nvSpPr>
        <p:spPr>
          <a:xfrm>
            <a:off x="3561742" y="5410008"/>
            <a:ext cx="202436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latin typeface="Arial"/>
                <a:cs typeface="Arial"/>
              </a:rPr>
              <a:t>Intel 8080, 1974</a:t>
            </a:r>
            <a:endParaRPr lang="zh-CN" altLang="en-US" sz="2000" dirty="0">
              <a:latin typeface="Arial"/>
              <a:cs typeface="Arial"/>
            </a:endParaRPr>
          </a:p>
        </p:txBody>
      </p:sp>
      <p:sp>
        <p:nvSpPr>
          <p:cNvPr id="18" name="矩形 14">
            <a:extLst>
              <a:ext uri="{FF2B5EF4-FFF2-40B4-BE49-F238E27FC236}">
                <a16:creationId xmlns:a16="http://schemas.microsoft.com/office/drawing/2014/main" id="{1632B0B1-17A9-4C13-B0A6-8F1FF90C9B25}"/>
              </a:ext>
            </a:extLst>
          </p:cNvPr>
          <p:cNvSpPr/>
          <p:nvPr/>
        </p:nvSpPr>
        <p:spPr>
          <a:xfrm>
            <a:off x="3418905" y="5864493"/>
            <a:ext cx="230619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4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Widely adopted</a:t>
            </a:r>
            <a:endParaRPr lang="zh-CN" altLang="en-US" sz="2400" dirty="0">
              <a:solidFill>
                <a:schemeClr val="tx2">
                  <a:lumMod val="60000"/>
                  <a:lumOff val="40000"/>
                </a:schemeClr>
              </a:solidFill>
              <a:latin typeface="Arial"/>
              <a:cs typeface="Arial"/>
            </a:endParaRPr>
          </a:p>
        </p:txBody>
      </p:sp>
      <p:sp>
        <p:nvSpPr>
          <p:cNvPr id="20" name="右箭头 15">
            <a:extLst>
              <a:ext uri="{FF2B5EF4-FFF2-40B4-BE49-F238E27FC236}">
                <a16:creationId xmlns:a16="http://schemas.microsoft.com/office/drawing/2014/main" id="{77EDE942-9454-4E57-A659-AF95486F6B66}"/>
              </a:ext>
            </a:extLst>
          </p:cNvPr>
          <p:cNvSpPr/>
          <p:nvPr/>
        </p:nvSpPr>
        <p:spPr>
          <a:xfrm>
            <a:off x="5921052" y="3934774"/>
            <a:ext cx="720765" cy="594980"/>
          </a:xfrm>
          <a:prstGeom prst="rightArrow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22" name="图片 17">
            <a:extLst>
              <a:ext uri="{FF2B5EF4-FFF2-40B4-BE49-F238E27FC236}">
                <a16:creationId xmlns:a16="http://schemas.microsoft.com/office/drawing/2014/main" id="{03E1310E-E0B2-494B-B3D6-D607957158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24873" y="3407917"/>
            <a:ext cx="1895715" cy="1602398"/>
          </a:xfrm>
          <a:prstGeom prst="rect">
            <a:avLst/>
          </a:prstGeom>
        </p:spPr>
      </p:pic>
      <p:sp>
        <p:nvSpPr>
          <p:cNvPr id="24" name="矩形 18">
            <a:extLst>
              <a:ext uri="{FF2B5EF4-FFF2-40B4-BE49-F238E27FC236}">
                <a16:creationId xmlns:a16="http://schemas.microsoft.com/office/drawing/2014/main" id="{EF4855B7-A935-424F-A721-DC97FF1F15B3}"/>
              </a:ext>
            </a:extLst>
          </p:cNvPr>
          <p:cNvSpPr/>
          <p:nvPr/>
        </p:nvSpPr>
        <p:spPr>
          <a:xfrm>
            <a:off x="6340685" y="5411200"/>
            <a:ext cx="237990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dirty="0">
                <a:latin typeface="Arial"/>
                <a:cs typeface="Arial"/>
              </a:rPr>
              <a:t>Modern processors</a:t>
            </a:r>
            <a:endParaRPr lang="zh-CN" altLang="en-US" sz="2000" dirty="0">
              <a:latin typeface="Arial"/>
              <a:cs typeface="Arial"/>
            </a:endParaRPr>
          </a:p>
        </p:txBody>
      </p:sp>
      <p:sp>
        <p:nvSpPr>
          <p:cNvPr id="26" name="矩形 19">
            <a:extLst>
              <a:ext uri="{FF2B5EF4-FFF2-40B4-BE49-F238E27FC236}">
                <a16:creationId xmlns:a16="http://schemas.microsoft.com/office/drawing/2014/main" id="{19D2D3B5-6343-4B71-AD51-23DC7A7BD6E8}"/>
              </a:ext>
            </a:extLst>
          </p:cNvPr>
          <p:cNvSpPr/>
          <p:nvPr/>
        </p:nvSpPr>
        <p:spPr>
          <a:xfrm>
            <a:off x="6341015" y="5846320"/>
            <a:ext cx="200086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400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Standardized</a:t>
            </a:r>
            <a:endParaRPr lang="zh-CN" altLang="en-US" sz="2400" dirty="0">
              <a:solidFill>
                <a:schemeClr val="tx2">
                  <a:lumMod val="60000"/>
                  <a:lumOff val="40000"/>
                </a:schemeClr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857040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Byte</a:t>
            </a:r>
            <a:endParaRPr kumimoji="1" lang="zh-CN" altLang="en-US" dirty="0"/>
          </a:p>
        </p:txBody>
      </p:sp>
      <p:cxnSp>
        <p:nvCxnSpPr>
          <p:cNvPr id="41" name="直线箭头连接符 40"/>
          <p:cNvCxnSpPr/>
          <p:nvPr/>
        </p:nvCxnSpPr>
        <p:spPr>
          <a:xfrm>
            <a:off x="3775199" y="2392298"/>
            <a:ext cx="1262661" cy="1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矩形 41"/>
          <p:cNvSpPr/>
          <p:nvPr/>
        </p:nvSpPr>
        <p:spPr>
          <a:xfrm>
            <a:off x="3775199" y="2540423"/>
            <a:ext cx="149271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2000" dirty="0">
                <a:latin typeface="Verdana"/>
                <a:cs typeface="Verdana"/>
              </a:rPr>
              <a:t>00111010</a:t>
            </a:r>
            <a:endParaRPr lang="zh-CN" altLang="en-US" sz="2000" dirty="0"/>
          </a:p>
        </p:txBody>
      </p:sp>
      <p:sp>
        <p:nvSpPr>
          <p:cNvPr id="24" name="矩形 43"/>
          <p:cNvSpPr/>
          <p:nvPr/>
        </p:nvSpPr>
        <p:spPr>
          <a:xfrm>
            <a:off x="1674130" y="4525626"/>
            <a:ext cx="6238210" cy="830997"/>
          </a:xfrm>
          <a:prstGeom prst="rect">
            <a:avLst/>
          </a:prstGeom>
          <a:solidFill>
            <a:srgbClr val="DCE6F2"/>
          </a:solidFill>
        </p:spPr>
        <p:txBody>
          <a:bodyPr wrap="square">
            <a:spAutoFit/>
          </a:bodyPr>
          <a:lstStyle/>
          <a:p>
            <a:r>
              <a:rPr kumimoji="1" lang="en-US" altLang="zh-CN" sz="2400" dirty="0">
                <a:latin typeface="Verdana"/>
                <a:cs typeface="Verdana"/>
              </a:rPr>
              <a:t>Byte is the smallest unit of information storage, computation and transfer </a:t>
            </a:r>
          </a:p>
        </p:txBody>
      </p:sp>
      <p:grpSp>
        <p:nvGrpSpPr>
          <p:cNvPr id="21" name="组 4">
            <a:extLst>
              <a:ext uri="{FF2B5EF4-FFF2-40B4-BE49-F238E27FC236}">
                <a16:creationId xmlns:a16="http://schemas.microsoft.com/office/drawing/2014/main" id="{981132F0-EB56-4ECF-A2C7-9E7D15E0AF2C}"/>
              </a:ext>
            </a:extLst>
          </p:cNvPr>
          <p:cNvGrpSpPr/>
          <p:nvPr/>
        </p:nvGrpSpPr>
        <p:grpSpPr>
          <a:xfrm>
            <a:off x="1714912" y="1533470"/>
            <a:ext cx="1951499" cy="2384595"/>
            <a:chOff x="1819074" y="2932245"/>
            <a:chExt cx="1951499" cy="2384595"/>
          </a:xfrm>
        </p:grpSpPr>
        <p:sp>
          <p:nvSpPr>
            <p:cNvPr id="22" name="矩形 15">
              <a:extLst>
                <a:ext uri="{FF2B5EF4-FFF2-40B4-BE49-F238E27FC236}">
                  <a16:creationId xmlns:a16="http://schemas.microsoft.com/office/drawing/2014/main" id="{249F84C4-1073-474F-B7CF-A47BAA1B9E00}"/>
                </a:ext>
              </a:extLst>
            </p:cNvPr>
            <p:cNvSpPr/>
            <p:nvPr/>
          </p:nvSpPr>
          <p:spPr>
            <a:xfrm>
              <a:off x="1819074" y="4049901"/>
              <a:ext cx="1951499" cy="373433"/>
            </a:xfrm>
            <a:prstGeom prst="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fi-FI" altLang="zh-CN" sz="2400" dirty="0">
                  <a:solidFill>
                    <a:prstClr val="black"/>
                  </a:solidFill>
                  <a:latin typeface="Arial"/>
                  <a:cs typeface="Arial"/>
                </a:rPr>
                <a:t>10101110 </a:t>
              </a:r>
              <a:endParaRPr lang="zh-CN" altLang="en-US" sz="2400" dirty="0">
                <a:solidFill>
                  <a:prstClr val="black"/>
                </a:solidFill>
                <a:latin typeface="Arial"/>
                <a:cs typeface="Arial"/>
              </a:endParaRPr>
            </a:p>
          </p:txBody>
        </p:sp>
        <p:sp>
          <p:nvSpPr>
            <p:cNvPr id="23" name="矩形 16">
              <a:extLst>
                <a:ext uri="{FF2B5EF4-FFF2-40B4-BE49-F238E27FC236}">
                  <a16:creationId xmlns:a16="http://schemas.microsoft.com/office/drawing/2014/main" id="{FD2A453D-ABC7-4D70-AE33-E9E3A1FB8D26}"/>
                </a:ext>
              </a:extLst>
            </p:cNvPr>
            <p:cNvSpPr/>
            <p:nvPr/>
          </p:nvSpPr>
          <p:spPr>
            <a:xfrm>
              <a:off x="1819074" y="3676468"/>
              <a:ext cx="1951499" cy="373433"/>
            </a:xfrm>
            <a:prstGeom prst="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is-IS" altLang="zh-CN" sz="2400" dirty="0">
                  <a:solidFill>
                    <a:prstClr val="black"/>
                  </a:solidFill>
                  <a:latin typeface="Arial"/>
                  <a:cs typeface="Arial"/>
                </a:rPr>
                <a:t>11001010 </a:t>
              </a:r>
              <a:endParaRPr kumimoji="1" lang="zh-CN" altLang="en-US" sz="2000" dirty="0">
                <a:solidFill>
                  <a:schemeClr val="tx1"/>
                </a:solidFill>
                <a:latin typeface="Verdana"/>
                <a:cs typeface="Verdana"/>
              </a:endParaRPr>
            </a:p>
          </p:txBody>
        </p:sp>
        <p:sp>
          <p:nvSpPr>
            <p:cNvPr id="25" name="矩形 17">
              <a:extLst>
                <a:ext uri="{FF2B5EF4-FFF2-40B4-BE49-F238E27FC236}">
                  <a16:creationId xmlns:a16="http://schemas.microsoft.com/office/drawing/2014/main" id="{054B5E9D-EA6C-41D8-B73E-DAA3C217D0EF}"/>
                </a:ext>
              </a:extLst>
            </p:cNvPr>
            <p:cNvSpPr/>
            <p:nvPr/>
          </p:nvSpPr>
          <p:spPr>
            <a:xfrm>
              <a:off x="1819074" y="3305678"/>
              <a:ext cx="1951499" cy="373433"/>
            </a:xfrm>
            <a:prstGeom prst="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sz="2400" dirty="0">
                  <a:solidFill>
                    <a:prstClr val="black"/>
                  </a:solidFill>
                  <a:latin typeface="Arial"/>
                  <a:cs typeface="Arial"/>
                </a:rPr>
                <a:t>00001110</a:t>
              </a:r>
              <a:r>
                <a:rPr lang="en-US" altLang="zh-CN" sz="2000" b="1" dirty="0">
                  <a:latin typeface="Courier New" charset="0"/>
                  <a:cs typeface="宋体" charset="0"/>
                </a:rPr>
                <a:t> </a:t>
              </a:r>
              <a:endParaRPr kumimoji="1" lang="zh-CN" altLang="en-US" sz="2000" dirty="0">
                <a:solidFill>
                  <a:schemeClr val="tx1"/>
                </a:solidFill>
                <a:latin typeface="Verdana"/>
                <a:cs typeface="Verdana"/>
              </a:endParaRPr>
            </a:p>
          </p:txBody>
        </p:sp>
        <p:sp>
          <p:nvSpPr>
            <p:cNvPr id="26" name="矩形 18">
              <a:extLst>
                <a:ext uri="{FF2B5EF4-FFF2-40B4-BE49-F238E27FC236}">
                  <a16:creationId xmlns:a16="http://schemas.microsoft.com/office/drawing/2014/main" id="{C0EEAA68-B633-4D0F-82F8-A4FAB9ED4DF2}"/>
                </a:ext>
              </a:extLst>
            </p:cNvPr>
            <p:cNvSpPr/>
            <p:nvPr/>
          </p:nvSpPr>
          <p:spPr>
            <a:xfrm>
              <a:off x="1819074" y="2932245"/>
              <a:ext cx="1951499" cy="373433"/>
            </a:xfrm>
            <a:prstGeom prst="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sz="2400" dirty="0">
                  <a:solidFill>
                    <a:prstClr val="black"/>
                  </a:solidFill>
                  <a:latin typeface="Arial"/>
                  <a:cs typeface="Arial"/>
                </a:rPr>
                <a:t>00011010</a:t>
              </a:r>
              <a:endParaRPr lang="zh-CN" altLang="en-US" sz="2400" dirty="0">
                <a:solidFill>
                  <a:prstClr val="black"/>
                </a:solidFill>
                <a:latin typeface="Arial"/>
                <a:cs typeface="Arial"/>
              </a:endParaRPr>
            </a:p>
          </p:txBody>
        </p:sp>
        <p:sp>
          <p:nvSpPr>
            <p:cNvPr id="43" name="矩形 19">
              <a:extLst>
                <a:ext uri="{FF2B5EF4-FFF2-40B4-BE49-F238E27FC236}">
                  <a16:creationId xmlns:a16="http://schemas.microsoft.com/office/drawing/2014/main" id="{B372A0D8-465F-4349-925D-0C04CD1A210D}"/>
                </a:ext>
              </a:extLst>
            </p:cNvPr>
            <p:cNvSpPr/>
            <p:nvPr/>
          </p:nvSpPr>
          <p:spPr>
            <a:xfrm>
              <a:off x="2274652" y="4916730"/>
              <a:ext cx="1219980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kumimoji="1" lang="en-US" altLang="zh-CN" sz="2000" dirty="0">
                  <a:latin typeface="Verdana"/>
                  <a:cs typeface="Verdana"/>
                </a:rPr>
                <a:t>Memory</a:t>
              </a:r>
              <a:endParaRPr lang="zh-CN" altLang="en-US" sz="2000" dirty="0"/>
            </a:p>
          </p:txBody>
        </p:sp>
        <p:sp>
          <p:nvSpPr>
            <p:cNvPr id="45" name="矩形 27">
              <a:extLst>
                <a:ext uri="{FF2B5EF4-FFF2-40B4-BE49-F238E27FC236}">
                  <a16:creationId xmlns:a16="http://schemas.microsoft.com/office/drawing/2014/main" id="{375E2E41-D4CD-4E10-93BB-F2FB17C7258D}"/>
                </a:ext>
              </a:extLst>
            </p:cNvPr>
            <p:cNvSpPr/>
            <p:nvPr/>
          </p:nvSpPr>
          <p:spPr>
            <a:xfrm>
              <a:off x="1819074" y="4423334"/>
              <a:ext cx="1951499" cy="373433"/>
            </a:xfrm>
            <a:prstGeom prst="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sz="2800" dirty="0">
                  <a:solidFill>
                    <a:prstClr val="black"/>
                  </a:solidFill>
                  <a:latin typeface="Arial"/>
                  <a:cs typeface="Arial"/>
                </a:rPr>
                <a:t>......</a:t>
              </a:r>
              <a:endParaRPr lang="zh-CN" altLang="en-US" sz="2800" dirty="0">
                <a:solidFill>
                  <a:prstClr val="black"/>
                </a:solidFill>
                <a:latin typeface="Arial"/>
                <a:cs typeface="Arial"/>
              </a:endParaRPr>
            </a:p>
          </p:txBody>
        </p:sp>
      </p:grpSp>
      <p:pic>
        <p:nvPicPr>
          <p:cNvPr id="35842" name="Picture 2">
            <a:extLst>
              <a:ext uri="{FF2B5EF4-FFF2-40B4-BE49-F238E27FC236}">
                <a16:creationId xmlns:a16="http://schemas.microsoft.com/office/drawing/2014/main" id="{CEA47D93-C52E-4655-B369-A7FAFE6064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19009" y="1386762"/>
            <a:ext cx="1860578" cy="1849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矩形 19">
            <a:extLst>
              <a:ext uri="{FF2B5EF4-FFF2-40B4-BE49-F238E27FC236}">
                <a16:creationId xmlns:a16="http://schemas.microsoft.com/office/drawing/2014/main" id="{7937C4B0-7706-47AF-8C33-6FF00C1BC9F3}"/>
              </a:ext>
            </a:extLst>
          </p:cNvPr>
          <p:cNvSpPr/>
          <p:nvPr/>
        </p:nvSpPr>
        <p:spPr>
          <a:xfrm>
            <a:off x="5672627" y="3397992"/>
            <a:ext cx="70564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2000" dirty="0">
                <a:latin typeface="Verdana"/>
                <a:cs typeface="Verdana"/>
              </a:rPr>
              <a:t>CPU</a:t>
            </a:r>
            <a:endParaRPr lang="zh-CN" altLang="en-US" sz="2000" dirty="0"/>
          </a:p>
        </p:txBody>
      </p:sp>
      <p:sp>
        <p:nvSpPr>
          <p:cNvPr id="47" name="矩形 43">
            <a:extLst>
              <a:ext uri="{FF2B5EF4-FFF2-40B4-BE49-F238E27FC236}">
                <a16:creationId xmlns:a16="http://schemas.microsoft.com/office/drawing/2014/main" id="{2C3EE132-160C-4460-B3B1-23BDAF4F20D6}"/>
              </a:ext>
            </a:extLst>
          </p:cNvPr>
          <p:cNvSpPr/>
          <p:nvPr/>
        </p:nvSpPr>
        <p:spPr>
          <a:xfrm>
            <a:off x="714055" y="6103489"/>
            <a:ext cx="7972745" cy="461665"/>
          </a:xfrm>
          <a:prstGeom prst="rect">
            <a:avLst/>
          </a:prstGeom>
          <a:solidFill>
            <a:srgbClr val="DCE6F2"/>
          </a:solidFill>
        </p:spPr>
        <p:txBody>
          <a:bodyPr wrap="square">
            <a:spAutoFit/>
          </a:bodyPr>
          <a:lstStyle/>
          <a:p>
            <a:r>
              <a:rPr kumimoji="1" lang="en-US" altLang="zh-CN" sz="2400" dirty="0">
                <a:latin typeface="Verdana"/>
                <a:cs typeface="Verdana"/>
              </a:rPr>
              <a:t>Integers are represented by 1,2,4, or 8 bytes.</a:t>
            </a:r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4932950A-F61E-41F6-A2FF-80A0E5B10575}"/>
              </a:ext>
            </a:extLst>
          </p:cNvPr>
          <p:cNvSpPr/>
          <p:nvPr/>
        </p:nvSpPr>
        <p:spPr>
          <a:xfrm>
            <a:off x="4875088" y="5476126"/>
            <a:ext cx="443921" cy="461665"/>
          </a:xfrm>
          <a:prstGeom prst="downArrow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1236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47" grpId="0" animBg="1"/>
      <p:bldP spid="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D40943-B650-64E2-1E5E-F892993DF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Range of unsigned integer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ECCD861-B83B-CC6E-6F75-A5244A0745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9970307"/>
              </p:ext>
            </p:extLst>
          </p:nvPr>
        </p:nvGraphicFramePr>
        <p:xfrm>
          <a:off x="942109" y="1396999"/>
          <a:ext cx="7412182" cy="4604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37070">
                  <a:extLst>
                    <a:ext uri="{9D8B030D-6E8A-4147-A177-3AD203B41FA5}">
                      <a16:colId xmlns:a16="http://schemas.microsoft.com/office/drawing/2014/main" val="114250396"/>
                    </a:ext>
                  </a:extLst>
                </a:gridCol>
                <a:gridCol w="3075112">
                  <a:extLst>
                    <a:ext uri="{9D8B030D-6E8A-4147-A177-3AD203B41FA5}">
                      <a16:colId xmlns:a16="http://schemas.microsoft.com/office/drawing/2014/main" val="2078822561"/>
                    </a:ext>
                  </a:extLst>
                </a:gridCol>
              </a:tblGrid>
              <a:tr h="884382">
                <a:tc>
                  <a:txBody>
                    <a:bodyPr/>
                    <a:lstStyle/>
                    <a:p>
                      <a:pPr algn="ctr"/>
                      <a:r>
                        <a:rPr lang="en-US" sz="3200" dirty="0"/>
                        <a:t>Size of unsigned int (bytes)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/>
                        <a:t>Range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703125"/>
                  </a:ext>
                </a:extLst>
              </a:tr>
              <a:tr h="884382">
                <a:tc>
                  <a:txBody>
                    <a:bodyPr/>
                    <a:lstStyle/>
                    <a:p>
                      <a:pPr algn="ctr"/>
                      <a:r>
                        <a:rPr lang="en-US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dirty="0"/>
                        <a:t>[0, 2</a:t>
                      </a:r>
                      <a:r>
                        <a:rPr lang="en-US" sz="3200" baseline="30000" dirty="0"/>
                        <a:t>8</a:t>
                      </a:r>
                      <a:r>
                        <a:rPr lang="en-US" sz="3200" dirty="0"/>
                        <a:t>-1]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56832"/>
                  </a:ext>
                </a:extLst>
              </a:tr>
              <a:tr h="884382">
                <a:tc>
                  <a:txBody>
                    <a:bodyPr/>
                    <a:lstStyle/>
                    <a:p>
                      <a:pPr algn="ctr"/>
                      <a:r>
                        <a:rPr lang="en-US" sz="3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dirty="0"/>
                        <a:t>[0, 2</a:t>
                      </a:r>
                      <a:r>
                        <a:rPr lang="en-US" sz="3200" baseline="30000" dirty="0"/>
                        <a:t>16</a:t>
                      </a:r>
                      <a:r>
                        <a:rPr lang="en-US" sz="3200" dirty="0"/>
                        <a:t>-1]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8033523"/>
                  </a:ext>
                </a:extLst>
              </a:tr>
              <a:tr h="884382">
                <a:tc>
                  <a:txBody>
                    <a:bodyPr/>
                    <a:lstStyle/>
                    <a:p>
                      <a:pPr algn="ctr"/>
                      <a:r>
                        <a:rPr lang="en-US" sz="32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dirty="0"/>
                        <a:t>[0, 2</a:t>
                      </a:r>
                      <a:r>
                        <a:rPr lang="en-US" sz="3200" baseline="30000" dirty="0"/>
                        <a:t>32</a:t>
                      </a:r>
                      <a:r>
                        <a:rPr lang="en-US" sz="3200" dirty="0"/>
                        <a:t>-1]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5851409"/>
                  </a:ext>
                </a:extLst>
              </a:tr>
              <a:tr h="884382">
                <a:tc>
                  <a:txBody>
                    <a:bodyPr/>
                    <a:lstStyle/>
                    <a:p>
                      <a:pPr algn="ctr"/>
                      <a:r>
                        <a:rPr lang="en-US" sz="32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dirty="0"/>
                        <a:t>[0, 2</a:t>
                      </a:r>
                      <a:r>
                        <a:rPr lang="en-US" sz="3200" baseline="30000" dirty="0"/>
                        <a:t>64</a:t>
                      </a:r>
                      <a:r>
                        <a:rPr lang="en-US" sz="3200" dirty="0"/>
                        <a:t>-1]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2222602"/>
                  </a:ext>
                </a:extLst>
              </a:tr>
            </a:tbl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DB112DF7-1822-7A43-7328-1A514470A025}"/>
              </a:ext>
            </a:extLst>
          </p:cNvPr>
          <p:cNvSpPr/>
          <p:nvPr/>
        </p:nvSpPr>
        <p:spPr>
          <a:xfrm>
            <a:off x="5306291" y="2466109"/>
            <a:ext cx="3048000" cy="858982"/>
          </a:xfrm>
          <a:prstGeom prst="rect">
            <a:avLst/>
          </a:prstGeom>
          <a:solidFill>
            <a:schemeClr val="accent1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36965D9-080D-2ED0-B64E-A9CF4EE9AA4F}"/>
              </a:ext>
            </a:extLst>
          </p:cNvPr>
          <p:cNvSpPr/>
          <p:nvPr/>
        </p:nvSpPr>
        <p:spPr>
          <a:xfrm>
            <a:off x="5306291" y="3374736"/>
            <a:ext cx="3048000" cy="858982"/>
          </a:xfrm>
          <a:prstGeom prst="rect">
            <a:avLst/>
          </a:prstGeom>
          <a:solidFill>
            <a:schemeClr val="accent1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84D97A8-F88B-F2A2-8D24-193AE8C3E7E4}"/>
              </a:ext>
            </a:extLst>
          </p:cNvPr>
          <p:cNvSpPr/>
          <p:nvPr/>
        </p:nvSpPr>
        <p:spPr>
          <a:xfrm>
            <a:off x="5306291" y="4283363"/>
            <a:ext cx="3048000" cy="858982"/>
          </a:xfrm>
          <a:prstGeom prst="rect">
            <a:avLst/>
          </a:prstGeom>
          <a:solidFill>
            <a:schemeClr val="accent1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C5551F5-6B56-6F7C-459F-F5B6518CC5EA}"/>
              </a:ext>
            </a:extLst>
          </p:cNvPr>
          <p:cNvSpPr/>
          <p:nvPr/>
        </p:nvSpPr>
        <p:spPr>
          <a:xfrm>
            <a:off x="5306291" y="5191990"/>
            <a:ext cx="3048000" cy="858982"/>
          </a:xfrm>
          <a:prstGeom prst="rect">
            <a:avLst/>
          </a:prstGeom>
          <a:solidFill>
            <a:schemeClr val="accent1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4706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CN" dirty="0">
                <a:latin typeface="Arial"/>
                <a:cs typeface="Arial"/>
              </a:rPr>
              <a:t>Most and least significant bit/byte</a:t>
            </a:r>
            <a:endParaRPr kumimoji="1" lang="zh-CN" altLang="en-US" dirty="0">
              <a:latin typeface="Arial"/>
              <a:cs typeface="Arial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265568" y="1600200"/>
            <a:ext cx="9145560" cy="452596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kumimoji="1" lang="en-US" altLang="zh-CN" sz="2400" dirty="0" err="1">
                <a:solidFill>
                  <a:srgbClr val="0000FF"/>
                </a:solidFill>
                <a:latin typeface="Verdana"/>
                <a:cs typeface="Verdana"/>
              </a:rPr>
              <a:t>msb</a:t>
            </a:r>
            <a:r>
              <a:rPr kumimoji="1" lang="en-US" altLang="zh-CN" sz="2400" dirty="0">
                <a:latin typeface="Verdana"/>
                <a:cs typeface="Verdana"/>
              </a:rPr>
              <a:t>: bit position with the largest positional value</a:t>
            </a:r>
          </a:p>
          <a:p>
            <a:pPr marL="0" indent="0">
              <a:buNone/>
            </a:pPr>
            <a:r>
              <a:rPr kumimoji="1" lang="en-US" altLang="zh-CN" sz="2400" dirty="0" err="1">
                <a:solidFill>
                  <a:srgbClr val="0000FF"/>
                </a:solidFill>
                <a:latin typeface="Verdana"/>
                <a:cs typeface="Verdana"/>
              </a:rPr>
              <a:t>lsb</a:t>
            </a:r>
            <a:r>
              <a:rPr kumimoji="1" lang="en-US" altLang="zh-CN" sz="2400" dirty="0">
                <a:latin typeface="Verdana"/>
                <a:cs typeface="Verdana"/>
              </a:rPr>
              <a:t>: bit position with the smallest positional value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zh-CN" dirty="0">
              <a:latin typeface="Verdana"/>
              <a:cs typeface="Verdana"/>
            </a:endParaRPr>
          </a:p>
          <a:p>
            <a:pPr>
              <a:lnSpc>
                <a:spcPct val="90000"/>
              </a:lnSpc>
              <a:buFontTx/>
              <a:buNone/>
            </a:pPr>
            <a:endParaRPr lang="en-US" altLang="zh-CN" dirty="0">
              <a:latin typeface="Verdana"/>
              <a:cs typeface="Verdana"/>
            </a:endParaRP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1-byte unsigned int: 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zh-C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10011010</a:t>
            </a:r>
          </a:p>
          <a:p>
            <a:pPr marL="0" indent="0">
              <a:buNone/>
            </a:pPr>
            <a:endParaRPr kumimoji="1" lang="en-US" altLang="zh-CN" dirty="0">
              <a:latin typeface="Consolas"/>
              <a:cs typeface="Consolas"/>
            </a:endParaRPr>
          </a:p>
          <a:p>
            <a:pPr marL="0" indent="0">
              <a:buNone/>
            </a:pPr>
            <a:endParaRPr kumimoji="1" lang="en-US" altLang="zh-CN" dirty="0">
              <a:latin typeface="Consolas"/>
              <a:cs typeface="Consolas"/>
            </a:endParaRP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4-byte unsigned int: 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zh-C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90000"/>
              </a:lnSpc>
              <a:buFontTx/>
              <a:buNone/>
            </a:pP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01110011 10001101 01010011 11011010</a:t>
            </a:r>
          </a:p>
          <a:p>
            <a:pPr marL="0" indent="0">
              <a:buNone/>
            </a:pPr>
            <a:endParaRPr kumimoji="1" lang="en-US" altLang="zh-CN" dirty="0">
              <a:latin typeface="Verdana"/>
              <a:cs typeface="Verdana"/>
            </a:endParaRPr>
          </a:p>
          <a:p>
            <a:pPr marL="0" indent="0">
              <a:buNone/>
            </a:pPr>
            <a:endParaRPr kumimoji="1" lang="zh-CN" altLang="en-US" dirty="0">
              <a:latin typeface="Verdana"/>
              <a:cs typeface="Verdana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95C0E3F-6558-48AC-8DBC-59B6C44BA4EF}"/>
              </a:ext>
            </a:extLst>
          </p:cNvPr>
          <p:cNvGrpSpPr/>
          <p:nvPr/>
        </p:nvGrpSpPr>
        <p:grpSpPr>
          <a:xfrm>
            <a:off x="395555" y="5969285"/>
            <a:ext cx="2943545" cy="755151"/>
            <a:chOff x="395555" y="5969285"/>
            <a:chExt cx="2943545" cy="755151"/>
          </a:xfrm>
        </p:grpSpPr>
        <p:sp>
          <p:nvSpPr>
            <p:cNvPr id="5" name="Speech Bubble: Rectangle with Corners Rounded 4">
              <a:extLst>
                <a:ext uri="{FF2B5EF4-FFF2-40B4-BE49-F238E27FC236}">
                  <a16:creationId xmlns:a16="http://schemas.microsoft.com/office/drawing/2014/main" id="{87C12C25-CB7F-448C-801E-A2B8C72C8FBB}"/>
                </a:ext>
              </a:extLst>
            </p:cNvPr>
            <p:cNvSpPr/>
            <p:nvPr/>
          </p:nvSpPr>
          <p:spPr>
            <a:xfrm>
              <a:off x="924673" y="6231276"/>
              <a:ext cx="2414427" cy="493160"/>
            </a:xfrm>
            <a:prstGeom prst="wedgeRoundRectCallout">
              <a:avLst>
                <a:gd name="adj1" fmla="val -38714"/>
                <a:gd name="adj2" fmla="val -86458"/>
                <a:gd name="adj3" fmla="val 16667"/>
              </a:avLst>
            </a:prstGeom>
            <a:solidFill>
              <a:schemeClr val="tx2">
                <a:lumMod val="20000"/>
                <a:lumOff val="80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Most significant byte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AA112EBA-C111-40B7-8C0E-A69063E80A79}"/>
                </a:ext>
              </a:extLst>
            </p:cNvPr>
            <p:cNvCxnSpPr/>
            <p:nvPr/>
          </p:nvCxnSpPr>
          <p:spPr>
            <a:xfrm>
              <a:off x="395555" y="5969285"/>
              <a:ext cx="132536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A46185C-AF94-4DF2-ABB5-96A250280798}"/>
              </a:ext>
            </a:extLst>
          </p:cNvPr>
          <p:cNvGrpSpPr/>
          <p:nvPr/>
        </p:nvGrpSpPr>
        <p:grpSpPr>
          <a:xfrm>
            <a:off x="5017214" y="5969285"/>
            <a:ext cx="3010326" cy="755151"/>
            <a:chOff x="5017214" y="5969285"/>
            <a:chExt cx="3010326" cy="755151"/>
          </a:xfrm>
        </p:grpSpPr>
        <p:sp>
          <p:nvSpPr>
            <p:cNvPr id="7" name="Speech Bubble: Rectangle with Corners Rounded 6">
              <a:extLst>
                <a:ext uri="{FF2B5EF4-FFF2-40B4-BE49-F238E27FC236}">
                  <a16:creationId xmlns:a16="http://schemas.microsoft.com/office/drawing/2014/main" id="{27822EB0-E6AA-48D5-AD32-F3C49D9D1256}"/>
                </a:ext>
              </a:extLst>
            </p:cNvPr>
            <p:cNvSpPr/>
            <p:nvPr/>
          </p:nvSpPr>
          <p:spPr>
            <a:xfrm>
              <a:off x="5613113" y="6231276"/>
              <a:ext cx="2414427" cy="493160"/>
            </a:xfrm>
            <a:prstGeom prst="wedgeRoundRectCallout">
              <a:avLst>
                <a:gd name="adj1" fmla="val -38714"/>
                <a:gd name="adj2" fmla="val -86458"/>
                <a:gd name="adj3" fmla="val 16667"/>
              </a:avLst>
            </a:prstGeom>
            <a:solidFill>
              <a:schemeClr val="tx2">
                <a:lumMod val="20000"/>
                <a:lumOff val="80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Least significant byte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0F201E6C-F08B-4524-B171-A3B3D6E964B4}"/>
                </a:ext>
              </a:extLst>
            </p:cNvPr>
            <p:cNvCxnSpPr/>
            <p:nvPr/>
          </p:nvCxnSpPr>
          <p:spPr>
            <a:xfrm>
              <a:off x="5017214" y="5969285"/>
              <a:ext cx="132536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52104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sz="3200" dirty="0"/>
              <a:t>Describing bit patterns in a human-readable way</a:t>
            </a:r>
            <a:endParaRPr kumimoji="1" lang="zh-CN" altLang="en-US" sz="3200" dirty="0"/>
          </a:p>
        </p:txBody>
      </p:sp>
      <p:sp>
        <p:nvSpPr>
          <p:cNvPr id="4" name="矩形 3"/>
          <p:cNvSpPr/>
          <p:nvPr/>
        </p:nvSpPr>
        <p:spPr>
          <a:xfrm>
            <a:off x="594421" y="1904065"/>
            <a:ext cx="326243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b="1" dirty="0">
                <a:latin typeface="Courier New" charset="0"/>
                <a:cs typeface="宋体" charset="0"/>
              </a:rPr>
              <a:t>1-byte int: 10101110</a:t>
            </a:r>
            <a:endParaRPr lang="zh-CN" altLang="en-US" sz="20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2C83DD4-7D05-E446-A30E-4BD55210B7E0}"/>
              </a:ext>
            </a:extLst>
          </p:cNvPr>
          <p:cNvSpPr txBox="1"/>
          <p:nvPr/>
        </p:nvSpPr>
        <p:spPr>
          <a:xfrm>
            <a:off x="594421" y="2847305"/>
            <a:ext cx="7411699" cy="40011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unsigned int a = </a:t>
            </a: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0b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10101110;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8FDA2EC-3CE3-624B-90C5-D6A45B811BDB}"/>
              </a:ext>
            </a:extLst>
          </p:cNvPr>
          <p:cNvGrpSpPr/>
          <p:nvPr/>
        </p:nvGrpSpPr>
        <p:grpSpPr>
          <a:xfrm>
            <a:off x="1308139" y="3406884"/>
            <a:ext cx="4972138" cy="1567543"/>
            <a:chOff x="2088976" y="4956098"/>
            <a:chExt cx="4972138" cy="1567543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99DDB19D-554F-804D-8CF7-729AC5F174E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93571" y="4956098"/>
              <a:ext cx="1567543" cy="1567543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4C1748D-A010-2E4E-842E-53E680C768E8}"/>
                </a:ext>
              </a:extLst>
            </p:cNvPr>
            <p:cNvSpPr txBox="1"/>
            <p:nvPr/>
          </p:nvSpPr>
          <p:spPr>
            <a:xfrm>
              <a:off x="2088976" y="5739869"/>
              <a:ext cx="363009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FF0066"/>
                  </a:solidFill>
                </a:rPr>
                <a:t>If I ask you to type a 4-byte int, …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BBCB038D-C31D-4D5E-9C97-FEB7BEDBB268}"/>
              </a:ext>
            </a:extLst>
          </p:cNvPr>
          <p:cNvSpPr txBox="1"/>
          <p:nvPr/>
        </p:nvSpPr>
        <p:spPr>
          <a:xfrm>
            <a:off x="594421" y="2319264"/>
            <a:ext cx="1275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program: </a:t>
            </a:r>
          </a:p>
        </p:txBody>
      </p:sp>
    </p:spTree>
    <p:extLst>
      <p:ext uri="{BB962C8B-B14F-4D97-AF65-F5344CB8AC3E}">
        <p14:creationId xmlns:p14="http://schemas.microsoft.com/office/powerpoint/2010/main" val="3546701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9ECD7-082D-4A11-B0B4-EDD58C3DD2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782" y="43883"/>
            <a:ext cx="9010436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Describing a bit pattern: hex notation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A11074C-E4F4-4CA9-95EA-AACE357D0279}"/>
              </a:ext>
            </a:extLst>
          </p:cNvPr>
          <p:cNvSpPr txBox="1"/>
          <p:nvPr/>
        </p:nvSpPr>
        <p:spPr>
          <a:xfrm>
            <a:off x="1137287" y="1144380"/>
            <a:ext cx="65675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Use one (hex) symbol to represent a group of 4 bits</a:t>
            </a:r>
          </a:p>
        </p:txBody>
      </p:sp>
      <p:graphicFrame>
        <p:nvGraphicFramePr>
          <p:cNvPr id="25" name="Table 20">
            <a:extLst>
              <a:ext uri="{FF2B5EF4-FFF2-40B4-BE49-F238E27FC236}">
                <a16:creationId xmlns:a16="http://schemas.microsoft.com/office/drawing/2014/main" id="{8FE566F8-4074-44C9-BADA-6BAAEA8FC0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3701220"/>
              </p:ext>
            </p:extLst>
          </p:nvPr>
        </p:nvGraphicFramePr>
        <p:xfrm>
          <a:off x="4305311" y="2521463"/>
          <a:ext cx="1486545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580">
                  <a:extLst>
                    <a:ext uri="{9D8B030D-6E8A-4147-A177-3AD203B41FA5}">
                      <a16:colId xmlns:a16="http://schemas.microsoft.com/office/drawing/2014/main" val="1714552586"/>
                    </a:ext>
                  </a:extLst>
                </a:gridCol>
                <a:gridCol w="637965">
                  <a:extLst>
                    <a:ext uri="{9D8B030D-6E8A-4147-A177-3AD203B41FA5}">
                      <a16:colId xmlns:a16="http://schemas.microsoft.com/office/drawing/2014/main" val="3703513589"/>
                    </a:ext>
                  </a:extLst>
                </a:gridCol>
              </a:tblGrid>
              <a:tr h="328280">
                <a:tc>
                  <a:txBody>
                    <a:bodyPr/>
                    <a:lstStyle/>
                    <a:p>
                      <a:r>
                        <a:rPr lang="en-US" sz="1600" dirty="0"/>
                        <a:t>Binary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Hex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1877342"/>
                  </a:ext>
                </a:extLst>
              </a:tr>
              <a:tr h="328280">
                <a:tc>
                  <a:txBody>
                    <a:bodyPr/>
                    <a:lstStyle/>
                    <a:p>
                      <a:r>
                        <a:rPr lang="en-US" sz="1600" dirty="0"/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7464276"/>
                  </a:ext>
                </a:extLst>
              </a:tr>
              <a:tr h="328280">
                <a:tc>
                  <a:txBody>
                    <a:bodyPr/>
                    <a:lstStyle/>
                    <a:p>
                      <a:r>
                        <a:rPr lang="en-US" sz="1600" dirty="0"/>
                        <a:t>1001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3926852"/>
                  </a:ext>
                </a:extLst>
              </a:tr>
              <a:tr h="328280">
                <a:tc>
                  <a:txBody>
                    <a:bodyPr/>
                    <a:lstStyle/>
                    <a:p>
                      <a:r>
                        <a:rPr lang="en-US" sz="1600" dirty="0"/>
                        <a:t>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6669854"/>
                  </a:ext>
                </a:extLst>
              </a:tr>
              <a:tr h="328280">
                <a:tc>
                  <a:txBody>
                    <a:bodyPr/>
                    <a:lstStyle/>
                    <a:p>
                      <a:r>
                        <a:rPr lang="en-US" sz="1600" dirty="0"/>
                        <a:t>1011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5335722"/>
                  </a:ext>
                </a:extLst>
              </a:tr>
              <a:tr h="328280">
                <a:tc>
                  <a:txBody>
                    <a:bodyPr/>
                    <a:lstStyle/>
                    <a:p>
                      <a:r>
                        <a:rPr lang="en-US" sz="1600" dirty="0"/>
                        <a:t>1100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3023000"/>
                  </a:ext>
                </a:extLst>
              </a:tr>
              <a:tr h="328280">
                <a:tc>
                  <a:txBody>
                    <a:bodyPr/>
                    <a:lstStyle/>
                    <a:p>
                      <a:r>
                        <a:rPr lang="en-US" sz="1600" dirty="0"/>
                        <a:t>1101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5211239"/>
                  </a:ext>
                </a:extLst>
              </a:tr>
              <a:tr h="328280">
                <a:tc>
                  <a:txBody>
                    <a:bodyPr/>
                    <a:lstStyle/>
                    <a:p>
                      <a:r>
                        <a:rPr lang="en-US" sz="1600" dirty="0"/>
                        <a:t>1110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2446180"/>
                  </a:ext>
                </a:extLst>
              </a:tr>
              <a:tr h="328280">
                <a:tc>
                  <a:txBody>
                    <a:bodyPr/>
                    <a:lstStyle/>
                    <a:p>
                      <a:r>
                        <a:rPr lang="en-US" sz="1600" dirty="0"/>
                        <a:t>1111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2376438"/>
                  </a:ext>
                </a:extLst>
              </a:tr>
            </a:tbl>
          </a:graphicData>
        </a:graphic>
      </p:graphicFrame>
      <p:graphicFrame>
        <p:nvGraphicFramePr>
          <p:cNvPr id="20" name="Table 20">
            <a:extLst>
              <a:ext uri="{FF2B5EF4-FFF2-40B4-BE49-F238E27FC236}">
                <a16:creationId xmlns:a16="http://schemas.microsoft.com/office/drawing/2014/main" id="{B190A6BB-F9E7-4CB7-B728-3D6D23A386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9537382"/>
              </p:ext>
            </p:extLst>
          </p:nvPr>
        </p:nvGraphicFramePr>
        <p:xfrm>
          <a:off x="2488498" y="2504167"/>
          <a:ext cx="1473902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1641">
                  <a:extLst>
                    <a:ext uri="{9D8B030D-6E8A-4147-A177-3AD203B41FA5}">
                      <a16:colId xmlns:a16="http://schemas.microsoft.com/office/drawing/2014/main" val="1714552586"/>
                    </a:ext>
                  </a:extLst>
                </a:gridCol>
                <a:gridCol w="612261">
                  <a:extLst>
                    <a:ext uri="{9D8B030D-6E8A-4147-A177-3AD203B41FA5}">
                      <a16:colId xmlns:a16="http://schemas.microsoft.com/office/drawing/2014/main" val="3703513589"/>
                    </a:ext>
                  </a:extLst>
                </a:gridCol>
              </a:tblGrid>
              <a:tr h="328280">
                <a:tc>
                  <a:txBody>
                    <a:bodyPr/>
                    <a:lstStyle/>
                    <a:p>
                      <a:r>
                        <a:rPr lang="en-US" sz="1600" dirty="0"/>
                        <a:t>Binary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Hex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1877342"/>
                  </a:ext>
                </a:extLst>
              </a:tr>
              <a:tr h="328280">
                <a:tc>
                  <a:txBody>
                    <a:bodyPr/>
                    <a:lstStyle/>
                    <a:p>
                      <a:r>
                        <a:rPr lang="en-US" sz="1600" dirty="0"/>
                        <a:t>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7464276"/>
                  </a:ext>
                </a:extLst>
              </a:tr>
              <a:tr h="328280">
                <a:tc>
                  <a:txBody>
                    <a:bodyPr/>
                    <a:lstStyle/>
                    <a:p>
                      <a:r>
                        <a:rPr lang="en-US" sz="1600" dirty="0"/>
                        <a:t>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3926852"/>
                  </a:ext>
                </a:extLst>
              </a:tr>
              <a:tr h="328280">
                <a:tc>
                  <a:txBody>
                    <a:bodyPr/>
                    <a:lstStyle/>
                    <a:p>
                      <a:r>
                        <a:rPr lang="en-US" sz="1600" dirty="0"/>
                        <a:t>0010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6669854"/>
                  </a:ext>
                </a:extLst>
              </a:tr>
              <a:tr h="328280">
                <a:tc>
                  <a:txBody>
                    <a:bodyPr/>
                    <a:lstStyle/>
                    <a:p>
                      <a:r>
                        <a:rPr lang="en-US" sz="1600" dirty="0"/>
                        <a:t>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5335722"/>
                  </a:ext>
                </a:extLst>
              </a:tr>
              <a:tr h="328280">
                <a:tc>
                  <a:txBody>
                    <a:bodyPr/>
                    <a:lstStyle/>
                    <a:p>
                      <a:r>
                        <a:rPr lang="en-US" sz="1600" dirty="0"/>
                        <a:t>0100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3023000"/>
                  </a:ext>
                </a:extLst>
              </a:tr>
              <a:tr h="328280">
                <a:tc>
                  <a:txBody>
                    <a:bodyPr/>
                    <a:lstStyle/>
                    <a:p>
                      <a:r>
                        <a:rPr lang="en-US" sz="1600" dirty="0"/>
                        <a:t>0101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5211239"/>
                  </a:ext>
                </a:extLst>
              </a:tr>
              <a:tr h="328280">
                <a:tc>
                  <a:txBody>
                    <a:bodyPr/>
                    <a:lstStyle/>
                    <a:p>
                      <a:r>
                        <a:rPr lang="en-US" sz="1600" dirty="0"/>
                        <a:t>0110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2446180"/>
                  </a:ext>
                </a:extLst>
              </a:tr>
              <a:tr h="328280">
                <a:tc>
                  <a:txBody>
                    <a:bodyPr/>
                    <a:lstStyle/>
                    <a:p>
                      <a:r>
                        <a:rPr lang="en-US" sz="1600" dirty="0"/>
                        <a:t>0111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237643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186B699-D558-87AB-FE6F-08BC7D47EB01}"/>
              </a:ext>
            </a:extLst>
          </p:cNvPr>
          <p:cNvSpPr txBox="1"/>
          <p:nvPr/>
        </p:nvSpPr>
        <p:spPr>
          <a:xfrm>
            <a:off x="2018818" y="5799862"/>
            <a:ext cx="53365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n-bit binary pattern </a:t>
            </a:r>
            <a:r>
              <a:rPr lang="en-US" sz="2400" dirty="0">
                <a:sym typeface="Wingdings" pitchFamily="2" charset="2"/>
              </a:rPr>
              <a:t>    n/4 hex symbols</a:t>
            </a:r>
            <a:endParaRPr lang="en-US" sz="2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435BEBF-E4B3-1598-76E6-94C6FF82D4F9}"/>
              </a:ext>
            </a:extLst>
          </p:cNvPr>
          <p:cNvSpPr/>
          <p:nvPr/>
        </p:nvSpPr>
        <p:spPr>
          <a:xfrm>
            <a:off x="5091726" y="5817158"/>
            <a:ext cx="568692" cy="50702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??</a:t>
            </a:r>
          </a:p>
        </p:txBody>
      </p:sp>
    </p:spTree>
    <p:extLst>
      <p:ext uri="{BB962C8B-B14F-4D97-AF65-F5344CB8AC3E}">
        <p14:creationId xmlns:p14="http://schemas.microsoft.com/office/powerpoint/2010/main" val="34672691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3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47F95C-F17C-1E42-09EC-5901E9706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1925FA-D202-7F1A-8A5E-C4C46E75CD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782" y="43883"/>
            <a:ext cx="9010436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Describing a bit pattern: hex notation</a:t>
            </a:r>
          </a:p>
        </p:txBody>
      </p:sp>
      <p:sp>
        <p:nvSpPr>
          <p:cNvPr id="5" name="矩形 3">
            <a:extLst>
              <a:ext uri="{FF2B5EF4-FFF2-40B4-BE49-F238E27FC236}">
                <a16:creationId xmlns:a16="http://schemas.microsoft.com/office/drawing/2014/main" id="{9FDCA786-29E1-D284-18C7-7EC752F66DF5}"/>
              </a:ext>
            </a:extLst>
          </p:cNvPr>
          <p:cNvSpPr/>
          <p:nvPr/>
        </p:nvSpPr>
        <p:spPr>
          <a:xfrm>
            <a:off x="3313200" y="2377170"/>
            <a:ext cx="215956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3200" b="1" dirty="0">
                <a:latin typeface="Courier New" charset="0"/>
                <a:cs typeface="宋体" charset="0"/>
              </a:rPr>
              <a:t>10101110</a:t>
            </a:r>
            <a:endParaRPr lang="zh-CN" altLang="en-US" sz="3200" b="1" dirty="0"/>
          </a:p>
        </p:txBody>
      </p:sp>
      <p:sp>
        <p:nvSpPr>
          <p:cNvPr id="9" name="Left Brace 8">
            <a:extLst>
              <a:ext uri="{FF2B5EF4-FFF2-40B4-BE49-F238E27FC236}">
                <a16:creationId xmlns:a16="http://schemas.microsoft.com/office/drawing/2014/main" id="{7A1AE65C-119A-B04F-673D-65FF47E3DADE}"/>
              </a:ext>
            </a:extLst>
          </p:cNvPr>
          <p:cNvSpPr/>
          <p:nvPr/>
        </p:nvSpPr>
        <p:spPr>
          <a:xfrm rot="16200000">
            <a:off x="3701835" y="2654197"/>
            <a:ext cx="402085" cy="868170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358FE510-B203-7D1E-BD46-98156BAE40B7}"/>
              </a:ext>
            </a:extLst>
          </p:cNvPr>
          <p:cNvSpPr/>
          <p:nvPr/>
        </p:nvSpPr>
        <p:spPr>
          <a:xfrm rot="16200000">
            <a:off x="4703822" y="2654197"/>
            <a:ext cx="402085" cy="868170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FF5DAA2-2F21-C9E0-B3D3-1311CD5995BE}"/>
              </a:ext>
            </a:extLst>
          </p:cNvPr>
          <p:cNvGrpSpPr/>
          <p:nvPr/>
        </p:nvGrpSpPr>
        <p:grpSpPr>
          <a:xfrm>
            <a:off x="948359" y="4474084"/>
            <a:ext cx="7591333" cy="770540"/>
            <a:chOff x="782105" y="6077401"/>
            <a:chExt cx="7495744" cy="718932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2637C2E-952D-8C67-5DB9-1BA8D970E8D4}"/>
                </a:ext>
              </a:extLst>
            </p:cNvPr>
            <p:cNvSpPr txBox="1"/>
            <p:nvPr/>
          </p:nvSpPr>
          <p:spPr>
            <a:xfrm>
              <a:off x="866150" y="6396223"/>
              <a:ext cx="7411699" cy="40011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latin typeface="Consolas" panose="020B0609020204030204" pitchFamily="49" charset="0"/>
                  <a:cs typeface="Consolas" panose="020B0609020204030204" pitchFamily="49" charset="0"/>
                </a:rPr>
                <a:t>unsigned int a = </a:t>
              </a:r>
              <a:r>
                <a:rPr lang="en-US" sz="2000" dirty="0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0x</a:t>
              </a:r>
              <a:r>
                <a:rPr lang="en-US" sz="2000" dirty="0">
                  <a:latin typeface="Consolas" panose="020B0609020204030204" pitchFamily="49" charset="0"/>
                  <a:cs typeface="Consolas" panose="020B0609020204030204" pitchFamily="49" charset="0"/>
                </a:rPr>
                <a:t>ae</a:t>
              </a:r>
              <a:r>
                <a:rPr lang="en-US" altLang="zh-CN" sz="2000" dirty="0">
                  <a:latin typeface="Consolas" panose="020B0609020204030204" pitchFamily="49" charset="0"/>
                  <a:cs typeface="Consolas" panose="020B0609020204030204" pitchFamily="49" charset="0"/>
                </a:rPr>
                <a:t>;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35652C3-3663-11EF-1D49-2742EB2761A9}"/>
                </a:ext>
              </a:extLst>
            </p:cNvPr>
            <p:cNvSpPr txBox="1"/>
            <p:nvPr/>
          </p:nvSpPr>
          <p:spPr>
            <a:xfrm>
              <a:off x="782105" y="6077401"/>
              <a:ext cx="127586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C program: 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12CD7109-735E-F661-407B-B6EB20A09C89}"/>
              </a:ext>
            </a:extLst>
          </p:cNvPr>
          <p:cNvSpPr txBox="1"/>
          <p:nvPr/>
        </p:nvSpPr>
        <p:spPr>
          <a:xfrm>
            <a:off x="3847457" y="3394362"/>
            <a:ext cx="3962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Bradley Hand" pitchFamily="2" charset="77"/>
              </a:rPr>
              <a:t>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22BE5C-BCB6-D655-5D77-925B9C317ACF}"/>
              </a:ext>
            </a:extLst>
          </p:cNvPr>
          <p:cNvSpPr txBox="1"/>
          <p:nvPr/>
        </p:nvSpPr>
        <p:spPr>
          <a:xfrm>
            <a:off x="4736238" y="3372928"/>
            <a:ext cx="340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Bradley Hand" pitchFamily="2" charset="77"/>
              </a:rPr>
              <a:t>e</a:t>
            </a:r>
          </a:p>
        </p:txBody>
      </p:sp>
    </p:spTree>
    <p:extLst>
      <p:ext uri="{BB962C8B-B14F-4D97-AF65-F5344CB8AC3E}">
        <p14:creationId xmlns:p14="http://schemas.microsoft.com/office/powerpoint/2010/main" val="26619741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48FFF6-11A5-4A27-A96D-25F3DFCCC31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Breakout time!</a:t>
            </a:r>
          </a:p>
        </p:txBody>
      </p:sp>
      <p:pic>
        <p:nvPicPr>
          <p:cNvPr id="37892" name="Picture 4" descr="Tea Party 432*432 transprent Png Free Download - Heart, Cup, Teapot. -  CleanPNG / KissPNG">
            <a:extLst>
              <a:ext uri="{FF2B5EF4-FFF2-40B4-BE49-F238E27FC236}">
                <a16:creationId xmlns:a16="http://schemas.microsoft.com/office/drawing/2014/main" id="{12DD4D09-CDF4-4B24-878B-46BDA8ED9E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4000" b="93333" l="5778" r="93778">
                        <a14:foregroundMark x1="40444" y1="8889" x2="40444" y2="8889"/>
                        <a14:foregroundMark x1="36000" y1="5778" x2="36000" y2="5778"/>
                        <a14:foregroundMark x1="47556" y1="5333" x2="47556" y2="5333"/>
                        <a14:foregroundMark x1="23556" y1="4000" x2="23556" y2="4000"/>
                        <a14:foregroundMark x1="6222" y1="18667" x2="6222" y2="18667"/>
                        <a14:foregroundMark x1="93778" y1="74667" x2="93778" y2="74667"/>
                        <a14:foregroundMark x1="80889" y1="56889" x2="80889" y2="56889"/>
                        <a14:foregroundMark x1="48000" y1="70667" x2="48000" y2="70667"/>
                        <a14:foregroundMark x1="48000" y1="81778" x2="48000" y2="81778"/>
                        <a14:foregroundMark x1="82222" y1="57333" x2="82222" y2="57333"/>
                        <a14:foregroundMark x1="73778" y1="93333" x2="73778" y2="93333"/>
                        <a14:backgroundMark x1="79111" y1="57778" x2="79111" y2="57778"/>
                        <a14:backgroundMark x1="80000" y1="56000" x2="80000" y2="56000"/>
                        <a14:backgroundMark x1="81333" y1="59556" x2="81333" y2="59556"/>
                        <a14:backgroundMark x1="81333" y1="59556" x2="81333" y2="59556"/>
                        <a14:backgroundMark x1="81333" y1="59556" x2="78222" y2="5688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800" y="2181591"/>
            <a:ext cx="2143125" cy="2143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907186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915D2-0C4C-4153-B584-4FCE1ED89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Breakout 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57690F-8B1D-4E5F-9114-DEE89246E6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What's the least significant bit of any even number?</a:t>
            </a:r>
          </a:p>
          <a:p>
            <a:r>
              <a:rPr lang="en-US" dirty="0"/>
              <a:t>Write the hex notation of this 2-byte bit pattern: </a:t>
            </a:r>
            <a:r>
              <a:rPr lang="en-US" dirty="0">
                <a:latin typeface="Consolas" panose="020B0609020204030204" pitchFamily="49" charset="0"/>
              </a:rPr>
              <a:t>1111000011000011</a:t>
            </a:r>
            <a:r>
              <a:rPr lang="en-US" dirty="0"/>
              <a:t> </a:t>
            </a:r>
          </a:p>
          <a:p>
            <a:r>
              <a:rPr lang="en-US" dirty="0"/>
              <a:t>What's the decimal value of unsigned int: </a:t>
            </a:r>
            <a:r>
              <a:rPr lang="en-US" dirty="0">
                <a:latin typeface="Consolas" panose="020B0609020204030204" pitchFamily="49" charset="0"/>
              </a:rPr>
              <a:t>0xff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9A796D-E969-477B-9E23-6970C6EAF572}"/>
              </a:ext>
            </a:extLst>
          </p:cNvPr>
          <p:cNvSpPr txBox="1"/>
          <p:nvPr/>
        </p:nvSpPr>
        <p:spPr>
          <a:xfrm>
            <a:off x="3184988" y="2096466"/>
            <a:ext cx="301686" cy="36933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51C602-2EBA-40EC-B5BC-C57E9B55BD23}"/>
              </a:ext>
            </a:extLst>
          </p:cNvPr>
          <p:cNvSpPr txBox="1"/>
          <p:nvPr/>
        </p:nvSpPr>
        <p:spPr>
          <a:xfrm>
            <a:off x="4572000" y="3068768"/>
            <a:ext cx="944489" cy="36933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0xf0c2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AE2F0BE-529E-4B43-9E7F-6F8C80ADE155}"/>
              </a:ext>
            </a:extLst>
          </p:cNvPr>
          <p:cNvSpPr txBox="1"/>
          <p:nvPr/>
        </p:nvSpPr>
        <p:spPr>
          <a:xfrm>
            <a:off x="5587428" y="4077666"/>
            <a:ext cx="535724" cy="36933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255</a:t>
            </a:r>
          </a:p>
        </p:txBody>
      </p:sp>
    </p:spTree>
    <p:extLst>
      <p:ext uri="{BB962C8B-B14F-4D97-AF65-F5344CB8AC3E}">
        <p14:creationId xmlns:p14="http://schemas.microsoft.com/office/powerpoint/2010/main" val="1471173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35103F-0882-1D49-B89A-C6A002242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have we learnt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C6E72E-16A1-7E41-AB99-5EA23809AC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computers represent integers</a:t>
            </a:r>
          </a:p>
          <a:p>
            <a:pPr lvl="1"/>
            <a:r>
              <a:rPr lang="en-US" dirty="0"/>
              <a:t>Bit, Byte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Hex notation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34DBB3-DDC2-C143-BB8C-125A695BFEE8}"/>
              </a:ext>
            </a:extLst>
          </p:cNvPr>
          <p:cNvSpPr txBox="1"/>
          <p:nvPr/>
        </p:nvSpPr>
        <p:spPr>
          <a:xfrm>
            <a:off x="768333" y="2704564"/>
            <a:ext cx="52484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</a:rPr>
              <a:t>Q: What is </a:t>
            </a:r>
            <a:r>
              <a:rPr lang="en-US" sz="2800" dirty="0">
                <a:solidFill>
                  <a:srgbClr val="0000FF"/>
                </a:solidFill>
                <a:latin typeface="Courier" pitchFamily="2" charset="0"/>
              </a:rPr>
              <a:t>10000010</a:t>
            </a:r>
            <a:r>
              <a:rPr lang="en-US" sz="2800" dirty="0">
                <a:solidFill>
                  <a:srgbClr val="0000FF"/>
                </a:solidFill>
              </a:rPr>
              <a:t> in decimal?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B545DD-C933-B448-A55B-D636575B5717}"/>
              </a:ext>
            </a:extLst>
          </p:cNvPr>
          <p:cNvSpPr txBox="1"/>
          <p:nvPr/>
        </p:nvSpPr>
        <p:spPr>
          <a:xfrm>
            <a:off x="793745" y="4606672"/>
            <a:ext cx="47892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</a:rPr>
              <a:t>Q: What is </a:t>
            </a:r>
            <a:r>
              <a:rPr lang="en-US" sz="2800" dirty="0">
                <a:solidFill>
                  <a:srgbClr val="0000FF"/>
                </a:solidFill>
                <a:latin typeface="Courier" pitchFamily="2" charset="0"/>
              </a:rPr>
              <a:t>10001111</a:t>
            </a:r>
            <a:r>
              <a:rPr lang="en-US" sz="2800" dirty="0">
                <a:solidFill>
                  <a:srgbClr val="0000FF"/>
                </a:solidFill>
              </a:rPr>
              <a:t> in hex?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02E220-72EB-EE49-9736-B56AC6FD4039}"/>
              </a:ext>
            </a:extLst>
          </p:cNvPr>
          <p:cNvSpPr txBox="1"/>
          <p:nvPr/>
        </p:nvSpPr>
        <p:spPr>
          <a:xfrm>
            <a:off x="6111101" y="2704564"/>
            <a:ext cx="9797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A: 130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05F798-C5A4-454D-8A9F-419160877D0E}"/>
              </a:ext>
            </a:extLst>
          </p:cNvPr>
          <p:cNvSpPr txBox="1"/>
          <p:nvPr/>
        </p:nvSpPr>
        <p:spPr>
          <a:xfrm>
            <a:off x="6049488" y="4668227"/>
            <a:ext cx="10983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A: 0x8F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B4A359-89B2-EF8A-6CDC-F5E21DD25AF6}"/>
              </a:ext>
            </a:extLst>
          </p:cNvPr>
          <p:cNvSpPr txBox="1"/>
          <p:nvPr/>
        </p:nvSpPr>
        <p:spPr>
          <a:xfrm>
            <a:off x="768333" y="3139936"/>
            <a:ext cx="81612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</a:rPr>
              <a:t>Q: What's the least significant bit of any even number?</a:t>
            </a:r>
          </a:p>
        </p:txBody>
      </p:sp>
    </p:spTree>
    <p:extLst>
      <p:ext uri="{BB962C8B-B14F-4D97-AF65-F5344CB8AC3E}">
        <p14:creationId xmlns:p14="http://schemas.microsoft.com/office/powerpoint/2010/main" val="3362401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  <p:bldP spid="8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9057C0-56B5-432D-960B-C4EACD245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Lesson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88728B-DE0F-474C-A02E-C6E5330170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How computers represent integers</a:t>
            </a:r>
          </a:p>
          <a:p>
            <a:pPr lvl="1"/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Bit, Byte</a:t>
            </a: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Hex notation</a:t>
            </a:r>
          </a:p>
          <a:p>
            <a:r>
              <a:rPr lang="en-US" dirty="0"/>
              <a:t>How computers add/subtract integers</a:t>
            </a:r>
          </a:p>
          <a:p>
            <a:r>
              <a:rPr lang="en-US" dirty="0"/>
              <a:t>Signed integer representation</a:t>
            </a:r>
          </a:p>
          <a:p>
            <a:pPr lvl="1"/>
            <a:r>
              <a:rPr lang="en-US" dirty="0"/>
              <a:t>2’s complement</a:t>
            </a:r>
          </a:p>
          <a:p>
            <a:r>
              <a:rPr lang="en-US" dirty="0"/>
              <a:t>A short history of processors: </a:t>
            </a:r>
          </a:p>
          <a:p>
            <a:pPr lvl="1"/>
            <a:r>
              <a:rPr lang="en-US" dirty="0"/>
              <a:t>from 8-bit to 64-bit machines</a:t>
            </a:r>
          </a:p>
          <a:p>
            <a:r>
              <a:rPr lang="en-US" dirty="0"/>
              <a:t>Byte ordering: big vs. small endian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74939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6D6AD5-51F9-D8BA-6F63-F0319E0354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What’s the result?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021F85-F0AF-E84E-DA14-60BEAAE100B5}"/>
              </a:ext>
            </a:extLst>
          </p:cNvPr>
          <p:cNvSpPr txBox="1"/>
          <p:nvPr/>
        </p:nvSpPr>
        <p:spPr>
          <a:xfrm>
            <a:off x="601472" y="1536174"/>
            <a:ext cx="5646928" cy="378565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#include &lt;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stdio.h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</a:p>
          <a:p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main(void) {</a:t>
            </a:r>
          </a:p>
          <a:p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unsigned char a = 0b10000010;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unsigned char b = 0b10000011;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unsigned char c = a + b;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printf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("%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hhu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\n", c);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B9F4403-2C31-C2B5-62A0-062340D0A92A}"/>
              </a:ext>
            </a:extLst>
          </p:cNvPr>
          <p:cNvSpPr txBox="1"/>
          <p:nvPr/>
        </p:nvSpPr>
        <p:spPr>
          <a:xfrm>
            <a:off x="822960" y="5677432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godbolt.org</a:t>
            </a:r>
            <a:r>
              <a:rPr lang="en-US" dirty="0"/>
              <a:t>/z/Esb1q8KKf</a:t>
            </a:r>
          </a:p>
        </p:txBody>
      </p:sp>
    </p:spTree>
    <p:extLst>
      <p:ext uri="{BB962C8B-B14F-4D97-AF65-F5344CB8AC3E}">
        <p14:creationId xmlns:p14="http://schemas.microsoft.com/office/powerpoint/2010/main" val="415144043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7D6ABD-0650-22DF-D148-3427E6CEB8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4" name="Add-in 3">
                <a:extLst>
                  <a:ext uri="{FF2B5EF4-FFF2-40B4-BE49-F238E27FC236}">
                    <a16:creationId xmlns:a16="http://schemas.microsoft.com/office/drawing/2014/main" id="{0A817A71-ADDC-847C-86F9-EE34FB9198D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59899839"/>
                  </p:ext>
                </p:extLst>
              </p:nvPr>
            </p:nvGraphicFramePr>
            <p:xfrm>
              <a:off x="101600" y="274638"/>
              <a:ext cx="8953500" cy="6456362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3"/>
              </a:graphicData>
            </a:graphic>
          </p:graphicFrame>
        </mc:Choice>
        <mc:Fallback>
          <p:pic>
            <p:nvPicPr>
              <p:cNvPr id="4" name="Add-in 3">
                <a:extLst>
                  <a:ext uri="{FF2B5EF4-FFF2-40B4-BE49-F238E27FC236}">
                    <a16:creationId xmlns:a16="http://schemas.microsoft.com/office/drawing/2014/main" id="{0A817A71-ADDC-847C-86F9-EE34FB9198D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1600" y="274638"/>
                <a:ext cx="8953500" cy="6456362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9000655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CN" dirty="0"/>
              <a:t>How computers add </a:t>
            </a:r>
            <a:br>
              <a:rPr kumimoji="1" lang="en-US" altLang="zh-CN" dirty="0"/>
            </a:br>
            <a:r>
              <a:rPr kumimoji="1" lang="en-US" altLang="zh-CN" dirty="0"/>
              <a:t>(unsigned integers)</a:t>
            </a:r>
            <a:endParaRPr kumimoji="1" lang="zh-CN" altLang="en-US" dirty="0"/>
          </a:p>
        </p:txBody>
      </p:sp>
      <p:sp>
        <p:nvSpPr>
          <p:cNvPr id="13" name="Rectangle 4"/>
          <p:cNvSpPr/>
          <p:nvPr/>
        </p:nvSpPr>
        <p:spPr>
          <a:xfrm>
            <a:off x="2992418" y="2566599"/>
            <a:ext cx="251222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>
                <a:latin typeface="Verdana"/>
                <a:cs typeface="Verdana"/>
              </a:rPr>
              <a:t>0 0 0 0 0 0 1 1</a:t>
            </a:r>
          </a:p>
        </p:txBody>
      </p:sp>
      <p:sp>
        <p:nvSpPr>
          <p:cNvPr id="14" name="Rectangle 5"/>
          <p:cNvSpPr/>
          <p:nvPr/>
        </p:nvSpPr>
        <p:spPr>
          <a:xfrm>
            <a:off x="2875199" y="3173831"/>
            <a:ext cx="273023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>
                <a:latin typeface="Verdana"/>
                <a:cs typeface="Verdana"/>
              </a:rPr>
              <a:t> 0 0 0 0 0 0 1 0 </a:t>
            </a:r>
          </a:p>
        </p:txBody>
      </p:sp>
      <p:sp>
        <p:nvSpPr>
          <p:cNvPr id="15" name="TextBox 6"/>
          <p:cNvSpPr txBox="1"/>
          <p:nvPr/>
        </p:nvSpPr>
        <p:spPr>
          <a:xfrm>
            <a:off x="1945629" y="3185362"/>
            <a:ext cx="4363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Verdana"/>
                <a:cs typeface="Verdana"/>
              </a:rPr>
              <a:t>+</a:t>
            </a:r>
          </a:p>
        </p:txBody>
      </p:sp>
      <p:cxnSp>
        <p:nvCxnSpPr>
          <p:cNvPr id="16" name="Straight Connector 8"/>
          <p:cNvCxnSpPr/>
          <p:nvPr/>
        </p:nvCxnSpPr>
        <p:spPr>
          <a:xfrm>
            <a:off x="2163798" y="3829736"/>
            <a:ext cx="374949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3C5F0FFF-9EB8-346B-E64C-E0E334F7FAB7}"/>
              </a:ext>
            </a:extLst>
          </p:cNvPr>
          <p:cNvSpPr txBox="1"/>
          <p:nvPr/>
        </p:nvSpPr>
        <p:spPr>
          <a:xfrm>
            <a:off x="1892045" y="4177225"/>
            <a:ext cx="37133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Result: _ _ _ _ _ _ _ _</a:t>
            </a:r>
          </a:p>
        </p:txBody>
      </p:sp>
    </p:spTree>
    <p:extLst>
      <p:ext uri="{BB962C8B-B14F-4D97-AF65-F5344CB8AC3E}">
        <p14:creationId xmlns:p14="http://schemas.microsoft.com/office/powerpoint/2010/main" val="26235840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75C5EA-FB64-7422-42F3-BA64A71CE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88D5A65-0D51-CDE6-FE0A-55301120D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CN" dirty="0"/>
              <a:t>How computers add </a:t>
            </a:r>
            <a:br>
              <a:rPr kumimoji="1" lang="en-US" altLang="zh-CN" dirty="0"/>
            </a:br>
            <a:r>
              <a:rPr kumimoji="1" lang="en-US" altLang="zh-CN" dirty="0"/>
              <a:t>(unsigned integers)</a:t>
            </a:r>
            <a:endParaRPr kumimoji="1" lang="zh-CN" altLang="en-US" dirty="0"/>
          </a:p>
        </p:txBody>
      </p:sp>
      <p:sp>
        <p:nvSpPr>
          <p:cNvPr id="13" name="Rectangle 4">
            <a:extLst>
              <a:ext uri="{FF2B5EF4-FFF2-40B4-BE49-F238E27FC236}">
                <a16:creationId xmlns:a16="http://schemas.microsoft.com/office/drawing/2014/main" id="{79D81797-2598-234D-B5B5-91693499307A}"/>
              </a:ext>
            </a:extLst>
          </p:cNvPr>
          <p:cNvSpPr/>
          <p:nvPr/>
        </p:nvSpPr>
        <p:spPr>
          <a:xfrm>
            <a:off x="2992418" y="2566599"/>
            <a:ext cx="251222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>
                <a:latin typeface="Verdana"/>
                <a:cs typeface="Verdana"/>
              </a:rPr>
              <a:t>1 0 0 0 0 0 1 1</a:t>
            </a:r>
          </a:p>
        </p:txBody>
      </p:sp>
      <p:sp>
        <p:nvSpPr>
          <p:cNvPr id="14" name="Rectangle 5">
            <a:extLst>
              <a:ext uri="{FF2B5EF4-FFF2-40B4-BE49-F238E27FC236}">
                <a16:creationId xmlns:a16="http://schemas.microsoft.com/office/drawing/2014/main" id="{B3CA077A-6F71-79A5-339D-7D14884545BA}"/>
              </a:ext>
            </a:extLst>
          </p:cNvPr>
          <p:cNvSpPr/>
          <p:nvPr/>
        </p:nvSpPr>
        <p:spPr>
          <a:xfrm>
            <a:off x="2875199" y="3173831"/>
            <a:ext cx="273023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>
                <a:latin typeface="Verdana"/>
                <a:cs typeface="Verdana"/>
              </a:rPr>
              <a:t> 1 0 0 0 0 0 1 0 </a:t>
            </a:r>
          </a:p>
        </p:txBody>
      </p:sp>
      <p:sp>
        <p:nvSpPr>
          <p:cNvPr id="15" name="TextBox 6">
            <a:extLst>
              <a:ext uri="{FF2B5EF4-FFF2-40B4-BE49-F238E27FC236}">
                <a16:creationId xmlns:a16="http://schemas.microsoft.com/office/drawing/2014/main" id="{37BB0FE0-8A09-16EC-2A6F-DBC4CD344CA0}"/>
              </a:ext>
            </a:extLst>
          </p:cNvPr>
          <p:cNvSpPr txBox="1"/>
          <p:nvPr/>
        </p:nvSpPr>
        <p:spPr>
          <a:xfrm>
            <a:off x="1945629" y="3185362"/>
            <a:ext cx="4363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Verdana"/>
                <a:cs typeface="Verdana"/>
              </a:rPr>
              <a:t>+</a:t>
            </a:r>
          </a:p>
        </p:txBody>
      </p:sp>
      <p:cxnSp>
        <p:nvCxnSpPr>
          <p:cNvPr id="16" name="Straight Connector 8">
            <a:extLst>
              <a:ext uri="{FF2B5EF4-FFF2-40B4-BE49-F238E27FC236}">
                <a16:creationId xmlns:a16="http://schemas.microsoft.com/office/drawing/2014/main" id="{D729D54D-87B5-5E9D-6C68-90C5422D0013}"/>
              </a:ext>
            </a:extLst>
          </p:cNvPr>
          <p:cNvCxnSpPr/>
          <p:nvPr/>
        </p:nvCxnSpPr>
        <p:spPr>
          <a:xfrm>
            <a:off x="2163798" y="3829736"/>
            <a:ext cx="374949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1861B269-1E98-37C5-5A9A-6BD156C030D6}"/>
              </a:ext>
            </a:extLst>
          </p:cNvPr>
          <p:cNvSpPr txBox="1"/>
          <p:nvPr/>
        </p:nvSpPr>
        <p:spPr>
          <a:xfrm>
            <a:off x="1892045" y="4177225"/>
            <a:ext cx="37133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Result: _ _ _ _ _ _ _ _</a:t>
            </a:r>
          </a:p>
        </p:txBody>
      </p:sp>
    </p:spTree>
    <p:extLst>
      <p:ext uri="{BB962C8B-B14F-4D97-AF65-F5344CB8AC3E}">
        <p14:creationId xmlns:p14="http://schemas.microsoft.com/office/powerpoint/2010/main" val="56299554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CN" dirty="0"/>
              <a:t>How to represent signed numbers? </a:t>
            </a:r>
            <a:br>
              <a:rPr kumimoji="1" lang="en-US" altLang="zh-CN" dirty="0"/>
            </a:br>
            <a:r>
              <a:rPr kumimoji="1" lang="en-US" altLang="zh-CN" dirty="0"/>
              <a:t>signed magnitude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1600200"/>
            <a:ext cx="8686800" cy="4525963"/>
          </a:xfrm>
        </p:spPr>
        <p:txBody>
          <a:bodyPr/>
          <a:lstStyle/>
          <a:p>
            <a:pPr marL="0" indent="0">
              <a:buNone/>
            </a:pPr>
            <a:r>
              <a:rPr kumimoji="1" lang="en-US" altLang="zh-CN" dirty="0">
                <a:latin typeface="Verdana"/>
                <a:cs typeface="Verdana"/>
              </a:rPr>
              <a:t>Most significant bit (MSB) represents the sign</a:t>
            </a:r>
          </a:p>
          <a:p>
            <a:pPr marL="457200" lvl="1" indent="0">
              <a:buNone/>
            </a:pP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" name="Rectangle 4"/>
          <p:cNvSpPr/>
          <p:nvPr/>
        </p:nvSpPr>
        <p:spPr>
          <a:xfrm>
            <a:off x="1316229" y="2423286"/>
            <a:ext cx="2912952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600" dirty="0">
                <a:solidFill>
                  <a:srgbClr val="FF0000"/>
                </a:solidFill>
                <a:latin typeface="Verdana"/>
                <a:cs typeface="Verdana"/>
              </a:rPr>
              <a:t>0</a:t>
            </a:r>
            <a:r>
              <a:rPr lang="en-US" sz="2600" dirty="0">
                <a:latin typeface="Verdana"/>
                <a:cs typeface="Verdana"/>
              </a:rPr>
              <a:t> 0 0 0 0 0 0 1</a:t>
            </a:r>
            <a:r>
              <a:rPr lang="en-US" sz="2600" baseline="-25000" dirty="0">
                <a:latin typeface="Verdana"/>
                <a:cs typeface="Verdana"/>
              </a:rP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1316229" y="3225452"/>
            <a:ext cx="284229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600" dirty="0">
                <a:solidFill>
                  <a:srgbClr val="FF0000"/>
                </a:solidFill>
                <a:latin typeface="Verdana"/>
                <a:cs typeface="Verdana"/>
              </a:rPr>
              <a:t>1</a:t>
            </a:r>
            <a:r>
              <a:rPr lang="en-US" sz="2600" dirty="0">
                <a:latin typeface="Verdana"/>
                <a:cs typeface="Verdana"/>
              </a:rPr>
              <a:t> 0 0 0 0 0 0 1</a:t>
            </a:r>
            <a:r>
              <a:rPr lang="en-US" altLang="zh-CN" sz="2600" baseline="-25000" dirty="0">
                <a:latin typeface="Verdana"/>
                <a:cs typeface="Verdana"/>
              </a:rPr>
              <a:t>2</a:t>
            </a:r>
            <a:endParaRPr lang="en-US" sz="2600" dirty="0">
              <a:latin typeface="Verdana"/>
              <a:cs typeface="Verdana"/>
            </a:endParaRPr>
          </a:p>
        </p:txBody>
      </p:sp>
      <p:cxnSp>
        <p:nvCxnSpPr>
          <p:cNvPr id="7" name="直线箭头连接符 6"/>
          <p:cNvCxnSpPr/>
          <p:nvPr/>
        </p:nvCxnSpPr>
        <p:spPr>
          <a:xfrm>
            <a:off x="4196444" y="2672291"/>
            <a:ext cx="445641" cy="0"/>
          </a:xfrm>
          <a:prstGeom prst="straightConnector1">
            <a:avLst/>
          </a:prstGeom>
          <a:ln w="3175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线箭头连接符 8"/>
          <p:cNvCxnSpPr/>
          <p:nvPr/>
        </p:nvCxnSpPr>
        <p:spPr>
          <a:xfrm>
            <a:off x="4196444" y="3493084"/>
            <a:ext cx="445641" cy="0"/>
          </a:xfrm>
          <a:prstGeom prst="straightConnector1">
            <a:avLst/>
          </a:prstGeom>
          <a:ln w="3175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 4"/>
          <p:cNvSpPr/>
          <p:nvPr/>
        </p:nvSpPr>
        <p:spPr>
          <a:xfrm>
            <a:off x="4989195" y="2414929"/>
            <a:ext cx="396638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600" dirty="0">
                <a:latin typeface="Verdana"/>
                <a:cs typeface="Verdana"/>
              </a:rPr>
              <a:t>1</a:t>
            </a:r>
            <a:endParaRPr lang="en-US" sz="2600" baseline="-25000" dirty="0">
              <a:latin typeface="Verdana"/>
              <a:cs typeface="Verdana"/>
            </a:endParaRPr>
          </a:p>
        </p:txBody>
      </p:sp>
      <p:sp>
        <p:nvSpPr>
          <p:cNvPr id="11" name="Rectangle 4"/>
          <p:cNvSpPr/>
          <p:nvPr/>
        </p:nvSpPr>
        <p:spPr>
          <a:xfrm>
            <a:off x="4837786" y="3223037"/>
            <a:ext cx="548047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600" dirty="0">
                <a:solidFill>
                  <a:srgbClr val="FF0000"/>
                </a:solidFill>
                <a:latin typeface="Verdana"/>
                <a:cs typeface="Verdana"/>
              </a:rPr>
              <a:t>-</a:t>
            </a:r>
            <a:r>
              <a:rPr lang="en-US" sz="2600" dirty="0">
                <a:latin typeface="Verdana"/>
                <a:cs typeface="Verdana"/>
              </a:rPr>
              <a:t>1</a:t>
            </a:r>
            <a:endParaRPr lang="en-US" sz="2600" baseline="-25000" dirty="0">
              <a:latin typeface="Verdana"/>
              <a:cs typeface="Verdana"/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0EF8431-D6C8-4B3E-BFD2-8269FD61DEA4}"/>
              </a:ext>
            </a:extLst>
          </p:cNvPr>
          <p:cNvGrpSpPr/>
          <p:nvPr/>
        </p:nvGrpSpPr>
        <p:grpSpPr>
          <a:xfrm>
            <a:off x="1025361" y="4455581"/>
            <a:ext cx="3749493" cy="1277863"/>
            <a:chOff x="1025361" y="4455581"/>
            <a:chExt cx="3749493" cy="1277863"/>
          </a:xfrm>
        </p:grpSpPr>
        <p:sp>
          <p:nvSpPr>
            <p:cNvPr id="12" name="Rectangle 4"/>
            <p:cNvSpPr/>
            <p:nvPr/>
          </p:nvSpPr>
          <p:spPr>
            <a:xfrm>
              <a:off x="1828581" y="4455581"/>
              <a:ext cx="2700980" cy="49244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600" dirty="0">
                  <a:latin typeface="Verdana"/>
                  <a:cs typeface="Verdana"/>
                </a:rPr>
                <a:t>0 0 0 0 0 0 0 1</a:t>
              </a:r>
            </a:p>
          </p:txBody>
        </p:sp>
        <p:sp>
          <p:nvSpPr>
            <p:cNvPr id="13" name="Rectangle 5"/>
            <p:cNvSpPr/>
            <p:nvPr/>
          </p:nvSpPr>
          <p:spPr>
            <a:xfrm>
              <a:off x="1711362" y="5062813"/>
              <a:ext cx="2818199" cy="49244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600" dirty="0">
                  <a:latin typeface="Verdana"/>
                  <a:cs typeface="Verdana"/>
                </a:rPr>
                <a:t> 1 0 0 0 0 0 0 1 </a:t>
              </a:r>
            </a:p>
          </p:txBody>
        </p:sp>
        <p:sp>
          <p:nvSpPr>
            <p:cNvPr id="14" name="TextBox 6"/>
            <p:cNvSpPr txBox="1"/>
            <p:nvPr/>
          </p:nvSpPr>
          <p:spPr>
            <a:xfrm>
              <a:off x="1213517" y="5055089"/>
              <a:ext cx="457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600" dirty="0">
                  <a:latin typeface="Verdana"/>
                  <a:cs typeface="Verdana"/>
                </a:rPr>
                <a:t>+</a:t>
              </a:r>
            </a:p>
          </p:txBody>
        </p:sp>
        <p:cxnSp>
          <p:nvCxnSpPr>
            <p:cNvPr id="15" name="Straight Connector 8"/>
            <p:cNvCxnSpPr>
              <a:cxnSpLocks/>
            </p:cNvCxnSpPr>
            <p:nvPr/>
          </p:nvCxnSpPr>
          <p:spPr>
            <a:xfrm>
              <a:off x="1025361" y="5733444"/>
              <a:ext cx="374949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Rectangle 9"/>
          <p:cNvSpPr/>
          <p:nvPr/>
        </p:nvSpPr>
        <p:spPr>
          <a:xfrm>
            <a:off x="1711362" y="5961762"/>
            <a:ext cx="2818199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600" dirty="0">
                <a:latin typeface="Verdana"/>
                <a:cs typeface="Verdana"/>
              </a:rPr>
              <a:t> 1 0 0 0 0 0 1 0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E2FFECF-855D-4081-B6B9-BEA851B9717A}"/>
              </a:ext>
            </a:extLst>
          </p:cNvPr>
          <p:cNvGrpSpPr/>
          <p:nvPr/>
        </p:nvGrpSpPr>
        <p:grpSpPr>
          <a:xfrm>
            <a:off x="1782567" y="2844827"/>
            <a:ext cx="3206628" cy="438389"/>
            <a:chOff x="1782567" y="2844827"/>
            <a:chExt cx="3206628" cy="438389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BE8A62A-4371-4EC8-8F0F-3324D7140AB9}"/>
                </a:ext>
              </a:extLst>
            </p:cNvPr>
            <p:cNvCxnSpPr/>
            <p:nvPr/>
          </p:nvCxnSpPr>
          <p:spPr>
            <a:xfrm>
              <a:off x="1782567" y="2844827"/>
              <a:ext cx="2049694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Speech Bubble: Rectangle with Corners Rounded 16">
              <a:extLst>
                <a:ext uri="{FF2B5EF4-FFF2-40B4-BE49-F238E27FC236}">
                  <a16:creationId xmlns:a16="http://schemas.microsoft.com/office/drawing/2014/main" id="{49DC9D92-46C8-4759-BDA6-8715E2AF9AE1}"/>
                </a:ext>
              </a:extLst>
            </p:cNvPr>
            <p:cNvSpPr/>
            <p:nvPr/>
          </p:nvSpPr>
          <p:spPr>
            <a:xfrm>
              <a:off x="3554859" y="2954443"/>
              <a:ext cx="1434336" cy="328773"/>
            </a:xfrm>
            <a:prstGeom prst="wedgeRoundRectCallout">
              <a:avLst>
                <a:gd name="adj1" fmla="val -96818"/>
                <a:gd name="adj2" fmla="val -60938"/>
                <a:gd name="adj3" fmla="val 16667"/>
              </a:avLst>
            </a:prstGeom>
            <a:solidFill>
              <a:schemeClr val="accent1">
                <a:lumMod val="40000"/>
                <a:lumOff val="60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magnitude</a:t>
              </a:r>
            </a:p>
          </p:txBody>
        </p:sp>
      </p:grpSp>
      <p:sp>
        <p:nvSpPr>
          <p:cNvPr id="19" name="Speech Bubble: Rectangle with Corners Rounded 18">
            <a:extLst>
              <a:ext uri="{FF2B5EF4-FFF2-40B4-BE49-F238E27FC236}">
                <a16:creationId xmlns:a16="http://schemas.microsoft.com/office/drawing/2014/main" id="{79121A0A-049A-4222-8ABE-FEBC9F3D3725}"/>
              </a:ext>
            </a:extLst>
          </p:cNvPr>
          <p:cNvSpPr/>
          <p:nvPr/>
        </p:nvSpPr>
        <p:spPr>
          <a:xfrm>
            <a:off x="636965" y="3061065"/>
            <a:ext cx="769729" cy="328773"/>
          </a:xfrm>
          <a:prstGeom prst="wedgeRoundRectCallout">
            <a:avLst>
              <a:gd name="adj1" fmla="val 58620"/>
              <a:gd name="adj2" fmla="val -93749"/>
              <a:gd name="adj3" fmla="val 16667"/>
            </a:avLst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sign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23FB16E-B1FE-4402-9F88-8F0F29BE85C7}"/>
              </a:ext>
            </a:extLst>
          </p:cNvPr>
          <p:cNvGrpSpPr/>
          <p:nvPr/>
        </p:nvGrpSpPr>
        <p:grpSpPr>
          <a:xfrm>
            <a:off x="5488337" y="5055089"/>
            <a:ext cx="2118569" cy="770843"/>
            <a:chOff x="5223369" y="5740741"/>
            <a:chExt cx="2118569" cy="770843"/>
          </a:xfrm>
        </p:grpSpPr>
        <p:sp>
          <p:nvSpPr>
            <p:cNvPr id="21" name="Rectangle 4">
              <a:extLst>
                <a:ext uri="{FF2B5EF4-FFF2-40B4-BE49-F238E27FC236}">
                  <a16:creationId xmlns:a16="http://schemas.microsoft.com/office/drawing/2014/main" id="{A8289FC4-71EF-40DA-84FC-EF2D5FD508BF}"/>
                </a:ext>
              </a:extLst>
            </p:cNvPr>
            <p:cNvSpPr/>
            <p:nvPr/>
          </p:nvSpPr>
          <p:spPr>
            <a:xfrm>
              <a:off x="5223369" y="5928214"/>
              <a:ext cx="1377538" cy="49244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zh-CN" altLang="en-US" sz="2600" dirty="0">
                  <a:latin typeface="Verdana"/>
                  <a:cs typeface="Verdana"/>
                </a:rPr>
                <a:t> </a:t>
              </a:r>
              <a:r>
                <a:rPr lang="en-US" altLang="zh-CN" sz="2600" dirty="0">
                  <a:solidFill>
                    <a:srgbClr val="FF0000"/>
                  </a:solidFill>
                  <a:latin typeface="Verdana"/>
                  <a:cs typeface="Verdana"/>
                </a:rPr>
                <a:t>-</a:t>
              </a:r>
              <a:r>
                <a:rPr lang="en-US" altLang="zh-CN" sz="2600" dirty="0">
                  <a:latin typeface="Verdana"/>
                  <a:cs typeface="Verdana"/>
                </a:rPr>
                <a:t>2</a:t>
              </a:r>
              <a:r>
                <a:rPr lang="zh-CN" altLang="en-US" sz="2600" dirty="0">
                  <a:latin typeface="Verdana"/>
                  <a:cs typeface="Verdana"/>
                </a:rPr>
                <a:t> </a:t>
              </a:r>
              <a:r>
                <a:rPr lang="en-US" altLang="zh-CN" sz="2600" dirty="0">
                  <a:latin typeface="Verdana"/>
                  <a:cs typeface="Verdana"/>
                </a:rPr>
                <a:t>???</a:t>
              </a:r>
              <a:endParaRPr lang="en-US" sz="2600" baseline="-25000" dirty="0">
                <a:latin typeface="Verdana"/>
                <a:cs typeface="Verdana"/>
              </a:endParaRPr>
            </a:p>
          </p:txBody>
        </p:sp>
        <p:pic>
          <p:nvPicPr>
            <p:cNvPr id="23" name="图片 18">
              <a:extLst>
                <a:ext uri="{FF2B5EF4-FFF2-40B4-BE49-F238E27FC236}">
                  <a16:creationId xmlns:a16="http://schemas.microsoft.com/office/drawing/2014/main" id="{5E323245-E27B-4918-8E94-39C2681E0D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600907" y="5740741"/>
              <a:ext cx="741031" cy="770843"/>
            </a:xfrm>
            <a:prstGeom prst="rect">
              <a:avLst/>
            </a:prstGeom>
          </p:spPr>
        </p:pic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B7914728-3006-4E67-A3CA-63E5728674A2}"/>
              </a:ext>
            </a:extLst>
          </p:cNvPr>
          <p:cNvSpPr txBox="1"/>
          <p:nvPr/>
        </p:nvSpPr>
        <p:spPr>
          <a:xfrm>
            <a:off x="5111809" y="5961762"/>
            <a:ext cx="3678379" cy="70788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000" dirty="0"/>
              <a:t>☹Need different h/w for signed </a:t>
            </a:r>
          </a:p>
          <a:p>
            <a:r>
              <a:rPr lang="en-US" sz="2000" dirty="0"/>
              <a:t>vs. unsigned computation</a:t>
            </a:r>
          </a:p>
        </p:txBody>
      </p:sp>
    </p:spTree>
    <p:extLst>
      <p:ext uri="{BB962C8B-B14F-4D97-AF65-F5344CB8AC3E}">
        <p14:creationId xmlns:p14="http://schemas.microsoft.com/office/powerpoint/2010/main" val="3071679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9" grpId="0" animBg="1"/>
      <p:bldP spid="22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CN" dirty="0"/>
              <a:t>How to represent signed numbers? Two’s complement</a:t>
            </a:r>
            <a:endParaRPr kumimoji="1" lang="zh-CN" altLang="en-US" dirty="0"/>
          </a:p>
        </p:txBody>
      </p:sp>
      <p:sp>
        <p:nvSpPr>
          <p:cNvPr id="3" name="矩形 2"/>
          <p:cNvSpPr/>
          <p:nvPr/>
        </p:nvSpPr>
        <p:spPr>
          <a:xfrm>
            <a:off x="47446" y="2783178"/>
            <a:ext cx="1767695" cy="6324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sz="2800" dirty="0">
                <a:latin typeface="Consolas" panose="020B0609020204030204" pitchFamily="49" charset="0"/>
                <a:cs typeface="Arial"/>
              </a:rPr>
              <a:t>10010110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zh-CN" sz="1100" dirty="0">
              <a:latin typeface="Arial"/>
              <a:cs typeface="Arial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85537" y="1699604"/>
            <a:ext cx="218521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2800" dirty="0">
                <a:latin typeface="Arial"/>
                <a:cs typeface="Arial"/>
              </a:rPr>
              <a:t>Unsigned int</a:t>
            </a:r>
            <a:endParaRPr lang="zh-CN" altLang="en-US" sz="2800" dirty="0">
              <a:latin typeface="Arial"/>
              <a:cs typeface="Arial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1756881" y="2791261"/>
            <a:ext cx="7310062" cy="4247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sz="2400" dirty="0">
                <a:latin typeface="Arial"/>
                <a:cs typeface="Arial"/>
              </a:rPr>
              <a:t>= 1*2</a:t>
            </a:r>
            <a:r>
              <a:rPr lang="en-US" altLang="zh-CN" sz="2400" baseline="30000" dirty="0">
                <a:latin typeface="Arial"/>
                <a:cs typeface="Arial"/>
              </a:rPr>
              <a:t>7 </a:t>
            </a:r>
            <a:r>
              <a:rPr lang="en-US" altLang="zh-CN" sz="2400" dirty="0">
                <a:latin typeface="Arial"/>
                <a:cs typeface="Arial"/>
              </a:rPr>
              <a:t>+ 0*2</a:t>
            </a:r>
            <a:r>
              <a:rPr lang="en-US" altLang="zh-CN" sz="2400" baseline="30000" dirty="0">
                <a:latin typeface="Arial"/>
                <a:cs typeface="Arial"/>
              </a:rPr>
              <a:t>6 </a:t>
            </a:r>
            <a:r>
              <a:rPr lang="en-US" altLang="zh-CN" sz="2400" dirty="0">
                <a:latin typeface="Arial"/>
                <a:cs typeface="Arial"/>
              </a:rPr>
              <a:t>+ 0*2</a:t>
            </a:r>
            <a:r>
              <a:rPr lang="en-US" altLang="zh-CN" sz="2400" baseline="30000" dirty="0">
                <a:latin typeface="Arial"/>
                <a:cs typeface="Arial"/>
              </a:rPr>
              <a:t>5 </a:t>
            </a:r>
            <a:r>
              <a:rPr lang="en-US" altLang="zh-CN" sz="2400" dirty="0">
                <a:latin typeface="Arial"/>
                <a:cs typeface="Arial"/>
              </a:rPr>
              <a:t>+ 1*2</a:t>
            </a:r>
            <a:r>
              <a:rPr lang="en-US" altLang="zh-CN" sz="2400" baseline="30000" dirty="0">
                <a:latin typeface="Arial"/>
                <a:cs typeface="Arial"/>
              </a:rPr>
              <a:t>4 </a:t>
            </a:r>
            <a:r>
              <a:rPr lang="en-US" altLang="zh-CN" sz="2400" dirty="0">
                <a:latin typeface="Arial"/>
                <a:cs typeface="Arial"/>
              </a:rPr>
              <a:t>+ 0*2</a:t>
            </a:r>
            <a:r>
              <a:rPr lang="en-US" altLang="zh-CN" sz="2400" baseline="30000" dirty="0">
                <a:latin typeface="Arial"/>
                <a:cs typeface="Arial"/>
              </a:rPr>
              <a:t>3 </a:t>
            </a:r>
            <a:r>
              <a:rPr lang="en-US" altLang="zh-CN" sz="2400" dirty="0">
                <a:latin typeface="Arial"/>
                <a:cs typeface="Arial"/>
              </a:rPr>
              <a:t>+ 1*2</a:t>
            </a:r>
            <a:r>
              <a:rPr lang="en-US" altLang="zh-CN" sz="2400" baseline="30000" dirty="0">
                <a:latin typeface="Arial"/>
                <a:cs typeface="Arial"/>
              </a:rPr>
              <a:t>2 </a:t>
            </a:r>
            <a:r>
              <a:rPr lang="en-US" altLang="zh-CN" sz="2400" dirty="0">
                <a:latin typeface="Arial"/>
                <a:cs typeface="Arial"/>
              </a:rPr>
              <a:t>+ 1*2</a:t>
            </a:r>
            <a:r>
              <a:rPr lang="en-US" altLang="zh-CN" sz="2400" baseline="30000" dirty="0">
                <a:latin typeface="Arial"/>
                <a:cs typeface="Arial"/>
              </a:rPr>
              <a:t>1 </a:t>
            </a:r>
            <a:r>
              <a:rPr lang="en-US" altLang="zh-CN" sz="2400" dirty="0">
                <a:latin typeface="Arial"/>
                <a:cs typeface="Arial"/>
              </a:rPr>
              <a:t>+ 0*2</a:t>
            </a:r>
            <a:r>
              <a:rPr lang="en-US" altLang="zh-CN" sz="2400" baseline="30000" dirty="0">
                <a:latin typeface="Arial"/>
                <a:cs typeface="Arial"/>
              </a:rPr>
              <a:t>0</a:t>
            </a:r>
          </a:p>
        </p:txBody>
      </p:sp>
      <p:sp>
        <p:nvSpPr>
          <p:cNvPr id="4" name="矩形 10">
            <a:extLst>
              <a:ext uri="{FF2B5EF4-FFF2-40B4-BE49-F238E27FC236}">
                <a16:creationId xmlns:a16="http://schemas.microsoft.com/office/drawing/2014/main" id="{1A01F67C-5704-4CCF-AA80-BF5AAE4AEE61}"/>
              </a:ext>
            </a:extLst>
          </p:cNvPr>
          <p:cNvSpPr/>
          <p:nvPr/>
        </p:nvSpPr>
        <p:spPr>
          <a:xfrm>
            <a:off x="152912" y="3715200"/>
            <a:ext cx="1784463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kumimoji="1" lang="en-US" altLang="zh-CN" sz="2800" dirty="0">
                <a:latin typeface="Arial"/>
                <a:cs typeface="Arial"/>
              </a:rPr>
              <a:t>Signed int</a:t>
            </a:r>
            <a:endParaRPr lang="zh-CN" altLang="en-US" sz="2800" dirty="0">
              <a:latin typeface="Arial"/>
              <a:cs typeface="Arial"/>
            </a:endParaRPr>
          </a:p>
        </p:txBody>
      </p:sp>
      <p:sp>
        <p:nvSpPr>
          <p:cNvPr id="14" name="矩形 2">
            <a:extLst>
              <a:ext uri="{FF2B5EF4-FFF2-40B4-BE49-F238E27FC236}">
                <a16:creationId xmlns:a16="http://schemas.microsoft.com/office/drawing/2014/main" id="{4295C744-1103-46CF-89E0-4054D17B4B92}"/>
              </a:ext>
            </a:extLst>
          </p:cNvPr>
          <p:cNvSpPr/>
          <p:nvPr/>
        </p:nvSpPr>
        <p:spPr>
          <a:xfrm>
            <a:off x="47446" y="2253875"/>
            <a:ext cx="1767695" cy="6324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sz="2800" dirty="0">
                <a:latin typeface="Consolas" panose="020B0609020204030204" pitchFamily="49" charset="0"/>
                <a:cs typeface="Arial"/>
              </a:rPr>
              <a:t>00010110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zh-CN" sz="1100" dirty="0">
              <a:latin typeface="Arial"/>
              <a:cs typeface="Arial"/>
            </a:endParaRPr>
          </a:p>
        </p:txBody>
      </p:sp>
      <p:sp>
        <p:nvSpPr>
          <p:cNvPr id="16" name="矩形 9">
            <a:extLst>
              <a:ext uri="{FF2B5EF4-FFF2-40B4-BE49-F238E27FC236}">
                <a16:creationId xmlns:a16="http://schemas.microsoft.com/office/drawing/2014/main" id="{B6A5ADA5-736E-4E00-AF6B-920DCD06C022}"/>
              </a:ext>
            </a:extLst>
          </p:cNvPr>
          <p:cNvSpPr/>
          <p:nvPr/>
        </p:nvSpPr>
        <p:spPr>
          <a:xfrm>
            <a:off x="1756881" y="2261958"/>
            <a:ext cx="7310062" cy="4247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sz="2400" dirty="0">
                <a:latin typeface="Arial"/>
                <a:cs typeface="Arial"/>
              </a:rPr>
              <a:t>= 0*2</a:t>
            </a:r>
            <a:r>
              <a:rPr lang="en-US" altLang="zh-CN" sz="2400" baseline="30000" dirty="0">
                <a:latin typeface="Arial"/>
                <a:cs typeface="Arial"/>
              </a:rPr>
              <a:t>7 </a:t>
            </a:r>
            <a:r>
              <a:rPr lang="en-US" altLang="zh-CN" sz="2400" dirty="0">
                <a:latin typeface="Arial"/>
                <a:cs typeface="Arial"/>
              </a:rPr>
              <a:t>+ 0*2</a:t>
            </a:r>
            <a:r>
              <a:rPr lang="en-US" altLang="zh-CN" sz="2400" baseline="30000" dirty="0">
                <a:latin typeface="Arial"/>
                <a:cs typeface="Arial"/>
              </a:rPr>
              <a:t>6 </a:t>
            </a:r>
            <a:r>
              <a:rPr lang="en-US" altLang="zh-CN" sz="2400" dirty="0">
                <a:latin typeface="Arial"/>
                <a:cs typeface="Arial"/>
              </a:rPr>
              <a:t>+ 0*2</a:t>
            </a:r>
            <a:r>
              <a:rPr lang="en-US" altLang="zh-CN" sz="2400" baseline="30000" dirty="0">
                <a:latin typeface="Arial"/>
                <a:cs typeface="Arial"/>
              </a:rPr>
              <a:t>5 </a:t>
            </a:r>
            <a:r>
              <a:rPr lang="en-US" altLang="zh-CN" sz="2400" dirty="0">
                <a:latin typeface="Arial"/>
                <a:cs typeface="Arial"/>
              </a:rPr>
              <a:t>+ 1*2</a:t>
            </a:r>
            <a:r>
              <a:rPr lang="en-US" altLang="zh-CN" sz="2400" baseline="30000" dirty="0">
                <a:latin typeface="Arial"/>
                <a:cs typeface="Arial"/>
              </a:rPr>
              <a:t>4 </a:t>
            </a:r>
            <a:r>
              <a:rPr lang="en-US" altLang="zh-CN" sz="2400" dirty="0">
                <a:latin typeface="Arial"/>
                <a:cs typeface="Arial"/>
              </a:rPr>
              <a:t>+ 0*2</a:t>
            </a:r>
            <a:r>
              <a:rPr lang="en-US" altLang="zh-CN" sz="2400" baseline="30000" dirty="0">
                <a:latin typeface="Arial"/>
                <a:cs typeface="Arial"/>
              </a:rPr>
              <a:t>3 </a:t>
            </a:r>
            <a:r>
              <a:rPr lang="en-US" altLang="zh-CN" sz="2400" dirty="0">
                <a:latin typeface="Arial"/>
                <a:cs typeface="Arial"/>
              </a:rPr>
              <a:t>+ 1*2</a:t>
            </a:r>
            <a:r>
              <a:rPr lang="en-US" altLang="zh-CN" sz="2400" baseline="30000" dirty="0">
                <a:latin typeface="Arial"/>
                <a:cs typeface="Arial"/>
              </a:rPr>
              <a:t>2 </a:t>
            </a:r>
            <a:r>
              <a:rPr lang="en-US" altLang="zh-CN" sz="2400" dirty="0">
                <a:latin typeface="Arial"/>
                <a:cs typeface="Arial"/>
              </a:rPr>
              <a:t>+ 1*2</a:t>
            </a:r>
            <a:r>
              <a:rPr lang="en-US" altLang="zh-CN" sz="2400" baseline="30000" dirty="0">
                <a:latin typeface="Arial"/>
                <a:cs typeface="Arial"/>
              </a:rPr>
              <a:t>1 </a:t>
            </a:r>
            <a:r>
              <a:rPr lang="en-US" altLang="zh-CN" sz="2400" dirty="0">
                <a:latin typeface="Arial"/>
                <a:cs typeface="Arial"/>
              </a:rPr>
              <a:t>+ 0*2</a:t>
            </a:r>
            <a:r>
              <a:rPr lang="en-US" altLang="zh-CN" sz="2400" baseline="30000" dirty="0">
                <a:latin typeface="Arial"/>
                <a:cs typeface="Arial"/>
              </a:rPr>
              <a:t>0</a:t>
            </a:r>
          </a:p>
        </p:txBody>
      </p:sp>
      <p:sp>
        <p:nvSpPr>
          <p:cNvPr id="18" name="矩形 2">
            <a:extLst>
              <a:ext uri="{FF2B5EF4-FFF2-40B4-BE49-F238E27FC236}">
                <a16:creationId xmlns:a16="http://schemas.microsoft.com/office/drawing/2014/main" id="{D16769A9-A176-4C92-82AA-E2547046EC0E}"/>
              </a:ext>
            </a:extLst>
          </p:cNvPr>
          <p:cNvSpPr/>
          <p:nvPr/>
        </p:nvSpPr>
        <p:spPr>
          <a:xfrm>
            <a:off x="148476" y="5145373"/>
            <a:ext cx="1767695" cy="6324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sz="2800" dirty="0">
                <a:latin typeface="Consolas" panose="020B0609020204030204" pitchFamily="49" charset="0"/>
                <a:cs typeface="Arial"/>
              </a:rPr>
              <a:t>10010110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zh-CN" sz="1100" dirty="0">
              <a:latin typeface="Arial"/>
              <a:cs typeface="Arial"/>
            </a:endParaRPr>
          </a:p>
        </p:txBody>
      </p:sp>
      <p:sp>
        <p:nvSpPr>
          <p:cNvPr id="20" name="矩形 9">
            <a:extLst>
              <a:ext uri="{FF2B5EF4-FFF2-40B4-BE49-F238E27FC236}">
                <a16:creationId xmlns:a16="http://schemas.microsoft.com/office/drawing/2014/main" id="{5D8CEFBA-AFB3-4A84-864B-874FC4E12CAE}"/>
              </a:ext>
            </a:extLst>
          </p:cNvPr>
          <p:cNvSpPr/>
          <p:nvPr/>
        </p:nvSpPr>
        <p:spPr>
          <a:xfrm>
            <a:off x="1857910" y="5153456"/>
            <a:ext cx="7440201" cy="4247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sz="2400" dirty="0">
                <a:latin typeface="Arial"/>
                <a:cs typeface="Arial"/>
              </a:rPr>
              <a:t>= 1*(</a:t>
            </a:r>
            <a:r>
              <a:rPr lang="en-US" altLang="zh-CN" sz="2400" dirty="0">
                <a:solidFill>
                  <a:srgbClr val="FF0000"/>
                </a:solidFill>
                <a:latin typeface="Arial"/>
                <a:cs typeface="Arial"/>
              </a:rPr>
              <a:t>-2</a:t>
            </a:r>
            <a:r>
              <a:rPr lang="en-US" altLang="zh-CN" sz="2400" baseline="30000" dirty="0">
                <a:solidFill>
                  <a:srgbClr val="FF0000"/>
                </a:solidFill>
                <a:latin typeface="Arial"/>
                <a:cs typeface="Arial"/>
              </a:rPr>
              <a:t>7</a:t>
            </a:r>
            <a:r>
              <a:rPr lang="en-US" altLang="zh-CN" sz="2400" dirty="0">
                <a:latin typeface="Arial"/>
                <a:cs typeface="Arial"/>
              </a:rPr>
              <a:t>)</a:t>
            </a:r>
            <a:r>
              <a:rPr lang="en-US" altLang="zh-CN" sz="2400" baseline="30000" dirty="0">
                <a:latin typeface="Arial"/>
                <a:cs typeface="Arial"/>
              </a:rPr>
              <a:t> </a:t>
            </a:r>
            <a:r>
              <a:rPr lang="en-US" altLang="zh-CN" sz="2400" dirty="0">
                <a:latin typeface="Arial"/>
                <a:cs typeface="Arial"/>
              </a:rPr>
              <a:t>+0*2</a:t>
            </a:r>
            <a:r>
              <a:rPr lang="en-US" altLang="zh-CN" sz="2400" baseline="30000" dirty="0">
                <a:latin typeface="Arial"/>
                <a:cs typeface="Arial"/>
              </a:rPr>
              <a:t>6 </a:t>
            </a:r>
            <a:r>
              <a:rPr lang="en-US" altLang="zh-CN" sz="2400" dirty="0">
                <a:latin typeface="Arial"/>
                <a:cs typeface="Arial"/>
              </a:rPr>
              <a:t>+0*2</a:t>
            </a:r>
            <a:r>
              <a:rPr lang="en-US" altLang="zh-CN" sz="2400" baseline="30000" dirty="0">
                <a:latin typeface="Arial"/>
                <a:cs typeface="Arial"/>
              </a:rPr>
              <a:t>5 </a:t>
            </a:r>
            <a:r>
              <a:rPr lang="en-US" altLang="zh-CN" sz="2400" dirty="0">
                <a:latin typeface="Arial"/>
                <a:cs typeface="Arial"/>
              </a:rPr>
              <a:t>+1*2</a:t>
            </a:r>
            <a:r>
              <a:rPr lang="en-US" altLang="zh-CN" sz="2400" baseline="30000" dirty="0">
                <a:latin typeface="Arial"/>
                <a:cs typeface="Arial"/>
              </a:rPr>
              <a:t>4 </a:t>
            </a:r>
            <a:r>
              <a:rPr lang="en-US" altLang="zh-CN" sz="2400" dirty="0">
                <a:latin typeface="Arial"/>
                <a:cs typeface="Arial"/>
              </a:rPr>
              <a:t>+0*2</a:t>
            </a:r>
            <a:r>
              <a:rPr lang="en-US" altLang="zh-CN" sz="2400" baseline="30000" dirty="0">
                <a:latin typeface="Arial"/>
                <a:cs typeface="Arial"/>
              </a:rPr>
              <a:t>3 </a:t>
            </a:r>
            <a:r>
              <a:rPr lang="en-US" altLang="zh-CN" sz="2400" dirty="0">
                <a:latin typeface="Arial"/>
                <a:cs typeface="Arial"/>
              </a:rPr>
              <a:t>+1*2</a:t>
            </a:r>
            <a:r>
              <a:rPr lang="en-US" altLang="zh-CN" sz="2400" baseline="30000" dirty="0">
                <a:latin typeface="Arial"/>
                <a:cs typeface="Arial"/>
              </a:rPr>
              <a:t>2 </a:t>
            </a:r>
            <a:r>
              <a:rPr lang="en-US" altLang="zh-CN" sz="2400" dirty="0">
                <a:latin typeface="Arial"/>
                <a:cs typeface="Arial"/>
              </a:rPr>
              <a:t>+1*2</a:t>
            </a:r>
            <a:r>
              <a:rPr lang="en-US" altLang="zh-CN" sz="2400" baseline="30000" dirty="0">
                <a:latin typeface="Arial"/>
                <a:cs typeface="Arial"/>
              </a:rPr>
              <a:t>1</a:t>
            </a:r>
            <a:r>
              <a:rPr lang="en-US" altLang="zh-CN" sz="2400" dirty="0">
                <a:latin typeface="Arial"/>
                <a:cs typeface="Arial"/>
              </a:rPr>
              <a:t>+0*2</a:t>
            </a:r>
            <a:r>
              <a:rPr lang="en-US" altLang="zh-CN" sz="2400" baseline="30000" dirty="0">
                <a:latin typeface="Arial"/>
                <a:cs typeface="Arial"/>
              </a:rPr>
              <a:t>0</a:t>
            </a:r>
          </a:p>
        </p:txBody>
      </p:sp>
      <p:sp>
        <p:nvSpPr>
          <p:cNvPr id="22" name="矩形 2">
            <a:extLst>
              <a:ext uri="{FF2B5EF4-FFF2-40B4-BE49-F238E27FC236}">
                <a16:creationId xmlns:a16="http://schemas.microsoft.com/office/drawing/2014/main" id="{71EB923D-6870-4DFA-9A6C-39A48DF6BFBD}"/>
              </a:ext>
            </a:extLst>
          </p:cNvPr>
          <p:cNvSpPr/>
          <p:nvPr/>
        </p:nvSpPr>
        <p:spPr>
          <a:xfrm>
            <a:off x="124503" y="4522668"/>
            <a:ext cx="1767695" cy="6324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sz="2800" dirty="0">
                <a:latin typeface="Consolas" panose="020B0609020204030204" pitchFamily="49" charset="0"/>
                <a:cs typeface="Arial"/>
              </a:rPr>
              <a:t>00010110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zh-CN" sz="1100" dirty="0">
              <a:latin typeface="Arial"/>
              <a:cs typeface="Arial"/>
            </a:endParaRPr>
          </a:p>
        </p:txBody>
      </p:sp>
      <p:sp>
        <p:nvSpPr>
          <p:cNvPr id="24" name="矩形 9">
            <a:extLst>
              <a:ext uri="{FF2B5EF4-FFF2-40B4-BE49-F238E27FC236}">
                <a16:creationId xmlns:a16="http://schemas.microsoft.com/office/drawing/2014/main" id="{732ED226-CD00-4BCE-BADC-23898012A80F}"/>
              </a:ext>
            </a:extLst>
          </p:cNvPr>
          <p:cNvSpPr/>
          <p:nvPr/>
        </p:nvSpPr>
        <p:spPr>
          <a:xfrm>
            <a:off x="1833938" y="4530751"/>
            <a:ext cx="7310062" cy="4247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sz="2400" dirty="0">
                <a:latin typeface="Arial"/>
                <a:cs typeface="Arial"/>
              </a:rPr>
              <a:t>= 0*(</a:t>
            </a:r>
            <a:r>
              <a:rPr lang="en-US" altLang="zh-CN" sz="2400" dirty="0">
                <a:solidFill>
                  <a:srgbClr val="FF0000"/>
                </a:solidFill>
                <a:latin typeface="Arial"/>
                <a:cs typeface="Arial"/>
              </a:rPr>
              <a:t>-2</a:t>
            </a:r>
            <a:r>
              <a:rPr lang="en-US" altLang="zh-CN" sz="2400" baseline="30000" dirty="0">
                <a:solidFill>
                  <a:srgbClr val="FF0000"/>
                </a:solidFill>
                <a:latin typeface="Arial"/>
                <a:cs typeface="Arial"/>
              </a:rPr>
              <a:t>7</a:t>
            </a:r>
            <a:r>
              <a:rPr lang="en-US" altLang="zh-CN" sz="2400" dirty="0">
                <a:latin typeface="Arial"/>
                <a:cs typeface="Arial"/>
              </a:rPr>
              <a:t>)</a:t>
            </a:r>
            <a:r>
              <a:rPr lang="en-US" altLang="zh-CN" sz="2400" baseline="30000" dirty="0">
                <a:latin typeface="Arial"/>
                <a:cs typeface="Arial"/>
              </a:rPr>
              <a:t> </a:t>
            </a:r>
            <a:r>
              <a:rPr lang="en-US" altLang="zh-CN" sz="2400" dirty="0">
                <a:latin typeface="Arial"/>
                <a:cs typeface="Arial"/>
              </a:rPr>
              <a:t>+0*2</a:t>
            </a:r>
            <a:r>
              <a:rPr lang="en-US" altLang="zh-CN" sz="2400" baseline="30000" dirty="0">
                <a:latin typeface="Arial"/>
                <a:cs typeface="Arial"/>
              </a:rPr>
              <a:t>6 </a:t>
            </a:r>
            <a:r>
              <a:rPr lang="en-US" altLang="zh-CN" sz="2400" dirty="0">
                <a:latin typeface="Arial"/>
                <a:cs typeface="Arial"/>
              </a:rPr>
              <a:t>+0*2</a:t>
            </a:r>
            <a:r>
              <a:rPr lang="en-US" altLang="zh-CN" sz="2400" baseline="30000" dirty="0">
                <a:latin typeface="Arial"/>
                <a:cs typeface="Arial"/>
              </a:rPr>
              <a:t>5 </a:t>
            </a:r>
            <a:r>
              <a:rPr lang="en-US" altLang="zh-CN" sz="2400" dirty="0">
                <a:latin typeface="Arial"/>
                <a:cs typeface="Arial"/>
              </a:rPr>
              <a:t>+1*2</a:t>
            </a:r>
            <a:r>
              <a:rPr lang="en-US" altLang="zh-CN" sz="2400" baseline="30000" dirty="0">
                <a:latin typeface="Arial"/>
                <a:cs typeface="Arial"/>
              </a:rPr>
              <a:t>4 </a:t>
            </a:r>
            <a:r>
              <a:rPr lang="en-US" altLang="zh-CN" sz="2400" dirty="0">
                <a:latin typeface="Arial"/>
                <a:cs typeface="Arial"/>
              </a:rPr>
              <a:t>+0*2</a:t>
            </a:r>
            <a:r>
              <a:rPr lang="en-US" altLang="zh-CN" sz="2400" baseline="30000" dirty="0">
                <a:latin typeface="Arial"/>
                <a:cs typeface="Arial"/>
              </a:rPr>
              <a:t>3 </a:t>
            </a:r>
            <a:r>
              <a:rPr lang="en-US" altLang="zh-CN" sz="2400" dirty="0">
                <a:latin typeface="Arial"/>
                <a:cs typeface="Arial"/>
              </a:rPr>
              <a:t>+1*2</a:t>
            </a:r>
            <a:r>
              <a:rPr lang="en-US" altLang="zh-CN" sz="2400" baseline="30000" dirty="0">
                <a:latin typeface="Arial"/>
                <a:cs typeface="Arial"/>
              </a:rPr>
              <a:t>2 </a:t>
            </a:r>
            <a:r>
              <a:rPr lang="en-US" altLang="zh-CN" sz="2400" dirty="0">
                <a:latin typeface="Arial"/>
                <a:cs typeface="Arial"/>
              </a:rPr>
              <a:t>+1*2</a:t>
            </a:r>
            <a:r>
              <a:rPr lang="en-US" altLang="zh-CN" sz="2400" baseline="30000" dirty="0">
                <a:latin typeface="Arial"/>
                <a:cs typeface="Arial"/>
              </a:rPr>
              <a:t>1</a:t>
            </a:r>
            <a:r>
              <a:rPr lang="en-US" altLang="zh-CN" sz="2400" dirty="0">
                <a:latin typeface="Arial"/>
                <a:cs typeface="Arial"/>
              </a:rPr>
              <a:t>+0*2</a:t>
            </a:r>
            <a:r>
              <a:rPr lang="en-US" altLang="zh-CN" sz="2400" baseline="30000" dirty="0">
                <a:latin typeface="Arial"/>
                <a:cs typeface="Arial"/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28182106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E09DC-AC9E-4C2C-A95A-4FC7B39B77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336" y="0"/>
            <a:ext cx="8229600" cy="1143000"/>
          </a:xfrm>
        </p:spPr>
        <p:txBody>
          <a:bodyPr/>
          <a:lstStyle/>
          <a:p>
            <a:r>
              <a:rPr lang="en-US" dirty="0"/>
              <a:t>Two’s complement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2F0A745D-4CD8-4AA0-9A14-A272BA7C20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8538489"/>
              </p:ext>
            </p:extLst>
          </p:nvPr>
        </p:nvGraphicFramePr>
        <p:xfrm>
          <a:off x="780368" y="1034051"/>
          <a:ext cx="4556334" cy="5626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8167">
                  <a:extLst>
                    <a:ext uri="{9D8B030D-6E8A-4147-A177-3AD203B41FA5}">
                      <a16:colId xmlns:a16="http://schemas.microsoft.com/office/drawing/2014/main" val="3789552872"/>
                    </a:ext>
                  </a:extLst>
                </a:gridCol>
                <a:gridCol w="2278167">
                  <a:extLst>
                    <a:ext uri="{9D8B030D-6E8A-4147-A177-3AD203B41FA5}">
                      <a16:colId xmlns:a16="http://schemas.microsoft.com/office/drawing/2014/main" val="4131334432"/>
                    </a:ext>
                  </a:extLst>
                </a:gridCol>
              </a:tblGrid>
              <a:tr h="51145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Bit pattern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Unsigned value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2828844"/>
                  </a:ext>
                </a:extLst>
              </a:tr>
              <a:tr h="51145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00000000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8530705"/>
                  </a:ext>
                </a:extLst>
              </a:tr>
              <a:tr h="51145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00000001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3000686"/>
                  </a:ext>
                </a:extLst>
              </a:tr>
              <a:tr h="51145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00000010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2419029"/>
                  </a:ext>
                </a:extLst>
              </a:tr>
              <a:tr h="51145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9232294"/>
                  </a:ext>
                </a:extLst>
              </a:tr>
              <a:tr h="51145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01111111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2</a:t>
                      </a:r>
                      <a:r>
                        <a:rPr lang="en-US" baseline="3000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7</a:t>
                      </a:r>
                      <a:r>
                        <a:rPr lang="en-US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-1 = 127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731706"/>
                  </a:ext>
                </a:extLst>
              </a:tr>
              <a:tr h="51145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10000000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2</a:t>
                      </a:r>
                      <a:r>
                        <a:rPr lang="en-US" baseline="3000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7 </a:t>
                      </a:r>
                      <a:r>
                        <a:rPr lang="en-US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= 128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697751"/>
                  </a:ext>
                </a:extLst>
              </a:tr>
              <a:tr h="51145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10000001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2</a:t>
                      </a:r>
                      <a:r>
                        <a:rPr lang="en-US" baseline="3000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7 </a:t>
                      </a:r>
                      <a:r>
                        <a:rPr lang="en-US" baseline="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+1= </a:t>
                      </a:r>
                      <a:r>
                        <a:rPr lang="en-US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129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9255419"/>
                  </a:ext>
                </a:extLst>
              </a:tr>
              <a:tr h="51145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10000010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2</a:t>
                      </a:r>
                      <a:r>
                        <a:rPr lang="en-US" baseline="3000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7</a:t>
                      </a:r>
                      <a:r>
                        <a:rPr lang="en-US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+2=130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2463229"/>
                  </a:ext>
                </a:extLst>
              </a:tr>
              <a:tr h="51145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latin typeface="Verdana" panose="020B0604030504040204" pitchFamily="34" charset="0"/>
                        <a:ea typeface="Verdana" panose="020B0604030504040204" pitchFamily="34" charset="0"/>
                        <a:cs typeface="Verdana" panose="020B060403050404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1192177"/>
                  </a:ext>
                </a:extLst>
              </a:tr>
              <a:tr h="51145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11111111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2</a:t>
                      </a:r>
                      <a:r>
                        <a:rPr lang="en-US" baseline="3000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8</a:t>
                      </a:r>
                      <a:r>
                        <a:rPr lang="en-US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-1 = 255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4549943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99FE6F9-D815-B2C9-4664-EF7979FABA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3976356"/>
              </p:ext>
            </p:extLst>
          </p:nvPr>
        </p:nvGraphicFramePr>
        <p:xfrm>
          <a:off x="5336702" y="1034051"/>
          <a:ext cx="2278167" cy="5626016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278167">
                  <a:extLst>
                    <a:ext uri="{9D8B030D-6E8A-4147-A177-3AD203B41FA5}">
                      <a16:colId xmlns:a16="http://schemas.microsoft.com/office/drawing/2014/main" val="4131334432"/>
                    </a:ext>
                  </a:extLst>
                </a:gridCol>
              </a:tblGrid>
              <a:tr h="51145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Signed value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2828844"/>
                  </a:ext>
                </a:extLst>
              </a:tr>
              <a:tr h="51145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8530705"/>
                  </a:ext>
                </a:extLst>
              </a:tr>
              <a:tr h="51145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3000686"/>
                  </a:ext>
                </a:extLst>
              </a:tr>
              <a:tr h="51145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3875284"/>
                  </a:ext>
                </a:extLst>
              </a:tr>
              <a:tr h="51145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9232294"/>
                  </a:ext>
                </a:extLst>
              </a:tr>
              <a:tr h="51145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2</a:t>
                      </a:r>
                      <a:r>
                        <a:rPr lang="en-US" baseline="3000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7</a:t>
                      </a:r>
                      <a:r>
                        <a:rPr lang="en-US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-1 = 127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731706"/>
                  </a:ext>
                </a:extLst>
              </a:tr>
              <a:tr h="51145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-2</a:t>
                      </a:r>
                      <a:r>
                        <a:rPr lang="en-US" baseline="3000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7      </a:t>
                      </a:r>
                      <a:r>
                        <a:rPr lang="en-US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= -128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697751"/>
                  </a:ext>
                </a:extLst>
              </a:tr>
              <a:tr h="51145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-2</a:t>
                      </a:r>
                      <a:r>
                        <a:rPr lang="en-US" baseline="3000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7 </a:t>
                      </a:r>
                      <a:r>
                        <a:rPr lang="en-US" baseline="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+1= </a:t>
                      </a:r>
                      <a:r>
                        <a:rPr lang="en-US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-127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9255419"/>
                  </a:ext>
                </a:extLst>
              </a:tr>
              <a:tr h="51145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-2</a:t>
                      </a:r>
                      <a:r>
                        <a:rPr lang="en-US" baseline="3000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7 </a:t>
                      </a:r>
                      <a:r>
                        <a:rPr lang="en-US" baseline="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+2= </a:t>
                      </a:r>
                      <a:r>
                        <a:rPr lang="en-US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-126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6945303"/>
                  </a:ext>
                </a:extLst>
              </a:tr>
              <a:tr h="511456">
                <a:tc>
                  <a:txBody>
                    <a:bodyPr/>
                    <a:lstStyle/>
                    <a:p>
                      <a:pPr algn="ctr"/>
                      <a:endParaRPr lang="en-US" dirty="0">
                        <a:latin typeface="Verdana" panose="020B0604030504040204" pitchFamily="34" charset="0"/>
                        <a:ea typeface="Verdana" panose="020B0604030504040204" pitchFamily="34" charset="0"/>
                        <a:cs typeface="Verdana" panose="020B060403050404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1192177"/>
                  </a:ext>
                </a:extLst>
              </a:tr>
              <a:tr h="51145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-2</a:t>
                      </a:r>
                      <a:r>
                        <a:rPr lang="en-US" baseline="3000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7</a:t>
                      </a:r>
                      <a:r>
                        <a:rPr lang="en-US" baseline="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+(</a:t>
                      </a:r>
                      <a:r>
                        <a:rPr lang="en-US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2</a:t>
                      </a:r>
                      <a:r>
                        <a:rPr lang="en-US" baseline="30000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7</a:t>
                      </a:r>
                      <a:r>
                        <a:rPr lang="en-US" dirty="0"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-1) = -1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45499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555863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E09DC-AC9E-4C2C-A95A-4FC7B39B77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9836" y="129712"/>
            <a:ext cx="8229600" cy="1143000"/>
          </a:xfrm>
        </p:spPr>
        <p:txBody>
          <a:bodyPr/>
          <a:lstStyle/>
          <a:p>
            <a:r>
              <a:rPr lang="en-US" dirty="0"/>
              <a:t>Two’s complement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C303B9-BED3-47DA-8181-EBF176F2F5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1" y="5147410"/>
            <a:ext cx="8229600" cy="654978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What is the width of the signed integer being enumerated?</a:t>
            </a:r>
          </a:p>
        </p:txBody>
      </p:sp>
      <p:pic>
        <p:nvPicPr>
          <p:cNvPr id="43010" name="Picture 2" descr="Can't Sleep">
            <a:extLst>
              <a:ext uri="{FF2B5EF4-FFF2-40B4-BE49-F238E27FC236}">
                <a16:creationId xmlns:a16="http://schemas.microsoft.com/office/drawing/2014/main" id="{41DDA42F-95BF-449E-91B0-3D848532AA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199" y="1599329"/>
            <a:ext cx="8375515" cy="2761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F734044-90D1-4519-8AF4-DAC68905FC84}"/>
              </a:ext>
            </a:extLst>
          </p:cNvPr>
          <p:cNvSpPr txBox="1"/>
          <p:nvPr/>
        </p:nvSpPr>
        <p:spPr>
          <a:xfrm>
            <a:off x="7052956" y="4360985"/>
            <a:ext cx="16338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Source: xkcd.com</a:t>
            </a:r>
          </a:p>
        </p:txBody>
      </p:sp>
    </p:spTree>
    <p:extLst>
      <p:ext uri="{BB962C8B-B14F-4D97-AF65-F5344CB8AC3E}">
        <p14:creationId xmlns:p14="http://schemas.microsoft.com/office/powerpoint/2010/main" val="31274983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81247-70ED-47DF-8601-097FF5811C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Basic facts of 2’s complement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A32234-EEA8-410F-9FBC-0DC39BB87B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6103" y="4972692"/>
            <a:ext cx="8311793" cy="1433246"/>
          </a:xfrm>
        </p:spPr>
        <p:txBody>
          <a:bodyPr>
            <a:normAutofit/>
          </a:bodyPr>
          <a:lstStyle/>
          <a:p>
            <a:r>
              <a:rPr lang="en-US" dirty="0"/>
              <a:t>Negative numbers </a:t>
            </a:r>
            <a:r>
              <a:rPr lang="en-US" dirty="0">
                <a:sym typeface="Wingdings" panose="05000000000000000000" pitchFamily="2" charset="2"/>
              </a:rPr>
              <a:t> </a:t>
            </a:r>
            <a:r>
              <a:rPr lang="en-US" dirty="0" err="1">
                <a:sym typeface="Wingdings" panose="05000000000000000000" pitchFamily="2" charset="2"/>
              </a:rPr>
              <a:t>MSBit</a:t>
            </a:r>
            <a:r>
              <a:rPr lang="en-US" dirty="0">
                <a:sym typeface="Wingdings" panose="05000000000000000000" pitchFamily="2" charset="2"/>
              </a:rPr>
              <a:t>=1</a:t>
            </a:r>
          </a:p>
          <a:p>
            <a:r>
              <a:rPr lang="en-US" dirty="0">
                <a:sym typeface="Wingdings" panose="05000000000000000000" pitchFamily="2" charset="2"/>
              </a:rPr>
              <a:t>A sequence of 1’s </a:t>
            </a:r>
            <a:r>
              <a:rPr lang="en-US" sz="2000" dirty="0">
                <a:sym typeface="Wingdings" panose="05000000000000000000" pitchFamily="2" charset="2"/>
              </a:rPr>
              <a:t>(e.g. </a:t>
            </a:r>
            <a:r>
              <a:rPr lang="en-US" sz="2000" dirty="0">
                <a:latin typeface="Consolas" panose="020B0609020204030204" pitchFamily="49" charset="0"/>
                <a:sym typeface="Wingdings" panose="05000000000000000000" pitchFamily="2" charset="2"/>
              </a:rPr>
              <a:t>0xff, 0xffffffff</a:t>
            </a:r>
            <a:r>
              <a:rPr lang="en-US" sz="2000" dirty="0">
                <a:sym typeface="Wingdings" panose="05000000000000000000" pitchFamily="2" charset="2"/>
              </a:rPr>
              <a:t>) </a:t>
            </a:r>
            <a:r>
              <a:rPr lang="en-US" sz="3200" dirty="0">
                <a:sym typeface="Wingdings" panose="05000000000000000000" pitchFamily="2" charset="2"/>
              </a:rPr>
              <a:t> -1</a:t>
            </a:r>
            <a:endParaRPr lang="en-US" sz="2000" dirty="0">
              <a:sym typeface="Wingdings" panose="05000000000000000000" pitchFamily="2" charset="2"/>
            </a:endParaRP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6D2D8F16-9082-40F2-AED6-02E4218C47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2713422"/>
              </p:ext>
            </p:extLst>
          </p:nvPr>
        </p:nvGraphicFramePr>
        <p:xfrm>
          <a:off x="559942" y="1739741"/>
          <a:ext cx="7638836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4674">
                  <a:extLst>
                    <a:ext uri="{9D8B030D-6E8A-4147-A177-3AD203B41FA5}">
                      <a16:colId xmlns:a16="http://schemas.microsoft.com/office/drawing/2014/main" val="2765752398"/>
                    </a:ext>
                  </a:extLst>
                </a:gridCol>
                <a:gridCol w="2327096">
                  <a:extLst>
                    <a:ext uri="{9D8B030D-6E8A-4147-A177-3AD203B41FA5}">
                      <a16:colId xmlns:a16="http://schemas.microsoft.com/office/drawing/2014/main" val="2688178002"/>
                    </a:ext>
                  </a:extLst>
                </a:gridCol>
                <a:gridCol w="2239767">
                  <a:extLst>
                    <a:ext uri="{9D8B030D-6E8A-4147-A177-3AD203B41FA5}">
                      <a16:colId xmlns:a16="http://schemas.microsoft.com/office/drawing/2014/main" val="1794786188"/>
                    </a:ext>
                  </a:extLst>
                </a:gridCol>
                <a:gridCol w="2147299">
                  <a:extLst>
                    <a:ext uri="{9D8B030D-6E8A-4147-A177-3AD203B41FA5}">
                      <a16:colId xmlns:a16="http://schemas.microsoft.com/office/drawing/2014/main" val="1263138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Size (bytes)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Bit pattern of smallest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Bit pattern of largest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Range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55406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73722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84246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94871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995983"/>
                  </a:ext>
                </a:extLst>
              </a:tr>
            </a:tbl>
          </a:graphicData>
        </a:graphic>
      </p:graphicFrame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95C2E8ED-A9BF-4D62-A18D-D615476AB1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0618882"/>
              </p:ext>
            </p:extLst>
          </p:nvPr>
        </p:nvGraphicFramePr>
        <p:xfrm>
          <a:off x="1524856" y="2379821"/>
          <a:ext cx="6735567" cy="14833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45189">
                  <a:extLst>
                    <a:ext uri="{9D8B030D-6E8A-4147-A177-3AD203B41FA5}">
                      <a16:colId xmlns:a16="http://schemas.microsoft.com/office/drawing/2014/main" val="3997209552"/>
                    </a:ext>
                  </a:extLst>
                </a:gridCol>
                <a:gridCol w="2245189">
                  <a:extLst>
                    <a:ext uri="{9D8B030D-6E8A-4147-A177-3AD203B41FA5}">
                      <a16:colId xmlns:a16="http://schemas.microsoft.com/office/drawing/2014/main" val="1770839421"/>
                    </a:ext>
                  </a:extLst>
                </a:gridCol>
                <a:gridCol w="2245189">
                  <a:extLst>
                    <a:ext uri="{9D8B030D-6E8A-4147-A177-3AD203B41FA5}">
                      <a16:colId xmlns:a16="http://schemas.microsoft.com/office/drawing/2014/main" val="25188821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nsolas" panose="020B0609020204030204" pitchFamily="49" charset="0"/>
                        </a:rPr>
                        <a:t>0x80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nsolas" panose="020B0609020204030204" pitchFamily="49" charset="0"/>
                        </a:rPr>
                        <a:t>0x7f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[-2</a:t>
                      </a:r>
                      <a:r>
                        <a:rPr lang="en-US" baseline="30000" dirty="0"/>
                        <a:t>7</a:t>
                      </a:r>
                      <a:r>
                        <a:rPr lang="en-US" dirty="0"/>
                        <a:t>, 2</a:t>
                      </a:r>
                      <a:r>
                        <a:rPr lang="en-US" baseline="30000" dirty="0"/>
                        <a:t>7</a:t>
                      </a:r>
                      <a:r>
                        <a:rPr lang="en-US" dirty="0"/>
                        <a:t>-1]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58676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latin typeface="Consolas" panose="020B0609020204030204" pitchFamily="49" charset="0"/>
                        </a:rPr>
                        <a:t>0x8000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latin typeface="Consolas" panose="020B0609020204030204" pitchFamily="49" charset="0"/>
                        </a:rPr>
                        <a:t>0x7fff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[-2</a:t>
                      </a:r>
                      <a:r>
                        <a:rPr lang="en-US" baseline="30000" dirty="0"/>
                        <a:t>15</a:t>
                      </a:r>
                      <a:r>
                        <a:rPr lang="en-US" dirty="0"/>
                        <a:t>, 2</a:t>
                      </a:r>
                      <a:r>
                        <a:rPr lang="en-US" baseline="30000" dirty="0"/>
                        <a:t>15</a:t>
                      </a:r>
                      <a:r>
                        <a:rPr lang="en-US" dirty="0"/>
                        <a:t>-1]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6086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latin typeface="Consolas" panose="020B0609020204030204" pitchFamily="49" charset="0"/>
                        </a:rPr>
                        <a:t>0x80000000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latin typeface="Consolas" panose="020B0609020204030204" pitchFamily="49" charset="0"/>
                        </a:rPr>
                        <a:t>0x7fffffff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[-2</a:t>
                      </a:r>
                      <a:r>
                        <a:rPr lang="en-US" baseline="30000" dirty="0"/>
                        <a:t>31</a:t>
                      </a:r>
                      <a:r>
                        <a:rPr lang="en-US" dirty="0"/>
                        <a:t>, 2</a:t>
                      </a:r>
                      <a:r>
                        <a:rPr lang="en-US" baseline="30000" dirty="0"/>
                        <a:t>31</a:t>
                      </a:r>
                      <a:r>
                        <a:rPr lang="en-US" dirty="0"/>
                        <a:t>-1]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656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latin typeface="Consolas" panose="020B0609020204030204" pitchFamily="49" charset="0"/>
                        </a:rPr>
                        <a:t>0x8000000000000000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latin typeface="Consolas" panose="020B0609020204030204" pitchFamily="49" charset="0"/>
                        </a:rPr>
                        <a:t>0x7fffffffffffffff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[-2</a:t>
                      </a:r>
                      <a:r>
                        <a:rPr lang="en-US" baseline="30000"/>
                        <a:t>63</a:t>
                      </a:r>
                      <a:r>
                        <a:rPr lang="en-US" dirty="0"/>
                        <a:t>, 2</a:t>
                      </a:r>
                      <a:r>
                        <a:rPr lang="en-US" baseline="30000" dirty="0"/>
                        <a:t>63</a:t>
                      </a:r>
                      <a:r>
                        <a:rPr lang="en-US" dirty="0"/>
                        <a:t>-1]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9265463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27BDD2F6-9CA8-4DE2-9FCB-6A5A7BEAA5B8}"/>
              </a:ext>
            </a:extLst>
          </p:cNvPr>
          <p:cNvSpPr txBox="1"/>
          <p:nvPr/>
        </p:nvSpPr>
        <p:spPr>
          <a:xfrm>
            <a:off x="498297" y="1370409"/>
            <a:ext cx="1113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Signed 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707FB3-6513-4DE2-9CED-AE9037BFBEB1}"/>
              </a:ext>
            </a:extLst>
          </p:cNvPr>
          <p:cNvSpPr txBox="1"/>
          <p:nvPr/>
        </p:nvSpPr>
        <p:spPr>
          <a:xfrm>
            <a:off x="498297" y="4018748"/>
            <a:ext cx="54833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🤔 Home exercise: make a similar table for unsigned int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2ADD1A-6101-45F4-8594-0D1C2EA82388}"/>
              </a:ext>
            </a:extLst>
          </p:cNvPr>
          <p:cNvSpPr txBox="1"/>
          <p:nvPr/>
        </p:nvSpPr>
        <p:spPr>
          <a:xfrm>
            <a:off x="8768993" y="467474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854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9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CN" dirty="0"/>
              <a:t>Two’s complement: 8-bit signed integer</a:t>
            </a:r>
            <a:endParaRPr kumimoji="1" lang="zh-CN" altLang="en-US" dirty="0"/>
          </a:p>
        </p:txBody>
      </p:sp>
      <p:sp>
        <p:nvSpPr>
          <p:cNvPr id="10" name="矩形 2">
            <a:extLst>
              <a:ext uri="{FF2B5EF4-FFF2-40B4-BE49-F238E27FC236}">
                <a16:creationId xmlns:a16="http://schemas.microsoft.com/office/drawing/2014/main" id="{F850787F-D8DD-41FC-B552-B2389047E7E6}"/>
              </a:ext>
            </a:extLst>
          </p:cNvPr>
          <p:cNvSpPr/>
          <p:nvPr/>
        </p:nvSpPr>
        <p:spPr>
          <a:xfrm>
            <a:off x="296214" y="2593280"/>
            <a:ext cx="1614195" cy="497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sz="2100" dirty="0">
                <a:latin typeface="Consolas" panose="020B0609020204030204" pitchFamily="49" charset="0"/>
                <a:cs typeface="Arial"/>
              </a:rPr>
              <a:t>11111011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zh-CN" sz="825" dirty="0">
              <a:latin typeface="Arial"/>
              <a:cs typeface="Arial"/>
            </a:endParaRPr>
          </a:p>
        </p:txBody>
      </p:sp>
      <p:sp>
        <p:nvSpPr>
          <p:cNvPr id="12" name="矩形 9">
            <a:extLst>
              <a:ext uri="{FF2B5EF4-FFF2-40B4-BE49-F238E27FC236}">
                <a16:creationId xmlns:a16="http://schemas.microsoft.com/office/drawing/2014/main" id="{372AD337-35E5-40DF-B748-E50B3EFA63C1}"/>
              </a:ext>
            </a:extLst>
          </p:cNvPr>
          <p:cNvSpPr/>
          <p:nvPr/>
        </p:nvSpPr>
        <p:spPr>
          <a:xfrm>
            <a:off x="1910409" y="2593280"/>
            <a:ext cx="5980462" cy="3416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dirty="0">
                <a:latin typeface="Arial"/>
                <a:cs typeface="Arial"/>
              </a:rPr>
              <a:t>= 1*(</a:t>
            </a:r>
            <a:r>
              <a:rPr lang="en-US" altLang="zh-CN" dirty="0">
                <a:solidFill>
                  <a:srgbClr val="FF0000"/>
                </a:solidFill>
                <a:latin typeface="Arial"/>
                <a:cs typeface="Arial"/>
              </a:rPr>
              <a:t>-2</a:t>
            </a:r>
            <a:r>
              <a:rPr lang="en-US" altLang="zh-CN" baseline="30000" dirty="0">
                <a:solidFill>
                  <a:srgbClr val="FF0000"/>
                </a:solidFill>
                <a:latin typeface="Arial"/>
                <a:cs typeface="Arial"/>
              </a:rPr>
              <a:t>7</a:t>
            </a:r>
            <a:r>
              <a:rPr lang="en-US" altLang="zh-CN" dirty="0">
                <a:latin typeface="Arial"/>
                <a:cs typeface="Arial"/>
              </a:rPr>
              <a:t>)</a:t>
            </a:r>
            <a:r>
              <a:rPr lang="en-US" altLang="zh-CN" baseline="30000" dirty="0">
                <a:latin typeface="Arial"/>
                <a:cs typeface="Arial"/>
              </a:rPr>
              <a:t> </a:t>
            </a:r>
            <a:r>
              <a:rPr lang="en-US" altLang="zh-CN" dirty="0">
                <a:latin typeface="Arial"/>
                <a:cs typeface="Arial"/>
              </a:rPr>
              <a:t>+1*2</a:t>
            </a:r>
            <a:r>
              <a:rPr lang="en-US" altLang="zh-CN" baseline="30000" dirty="0">
                <a:latin typeface="Arial"/>
                <a:cs typeface="Arial"/>
              </a:rPr>
              <a:t>6 </a:t>
            </a:r>
            <a:r>
              <a:rPr lang="en-US" altLang="zh-CN" dirty="0">
                <a:latin typeface="Arial"/>
                <a:cs typeface="Arial"/>
              </a:rPr>
              <a:t>+1*2</a:t>
            </a:r>
            <a:r>
              <a:rPr lang="en-US" altLang="zh-CN" baseline="30000" dirty="0">
                <a:latin typeface="Arial"/>
                <a:cs typeface="Arial"/>
              </a:rPr>
              <a:t>5 </a:t>
            </a:r>
            <a:r>
              <a:rPr lang="en-US" altLang="zh-CN" dirty="0">
                <a:latin typeface="Arial"/>
                <a:cs typeface="Arial"/>
              </a:rPr>
              <a:t>+1*2</a:t>
            </a:r>
            <a:r>
              <a:rPr lang="en-US" altLang="zh-CN" baseline="30000" dirty="0">
                <a:latin typeface="Arial"/>
                <a:cs typeface="Arial"/>
              </a:rPr>
              <a:t>4 </a:t>
            </a:r>
            <a:r>
              <a:rPr lang="en-US" altLang="zh-CN" dirty="0">
                <a:latin typeface="Arial"/>
                <a:cs typeface="Arial"/>
              </a:rPr>
              <a:t>+1*2</a:t>
            </a:r>
            <a:r>
              <a:rPr lang="en-US" altLang="zh-CN" baseline="30000" dirty="0">
                <a:latin typeface="Arial"/>
                <a:cs typeface="Arial"/>
              </a:rPr>
              <a:t>3 </a:t>
            </a:r>
            <a:r>
              <a:rPr lang="en-US" altLang="zh-CN" dirty="0">
                <a:latin typeface="Arial"/>
                <a:cs typeface="Arial"/>
              </a:rPr>
              <a:t>+0*2</a:t>
            </a:r>
            <a:r>
              <a:rPr lang="en-US" altLang="zh-CN" baseline="30000" dirty="0">
                <a:latin typeface="Arial"/>
                <a:cs typeface="Arial"/>
              </a:rPr>
              <a:t>2 </a:t>
            </a:r>
            <a:r>
              <a:rPr lang="en-US" altLang="zh-CN" dirty="0">
                <a:latin typeface="Arial"/>
                <a:cs typeface="Arial"/>
              </a:rPr>
              <a:t>+1*2</a:t>
            </a:r>
            <a:r>
              <a:rPr lang="en-US" altLang="zh-CN" baseline="30000" dirty="0">
                <a:latin typeface="Arial"/>
                <a:cs typeface="Arial"/>
              </a:rPr>
              <a:t>1</a:t>
            </a:r>
            <a:r>
              <a:rPr lang="en-US" altLang="zh-CN" dirty="0">
                <a:latin typeface="Arial"/>
                <a:cs typeface="Arial"/>
              </a:rPr>
              <a:t>+0*2</a:t>
            </a:r>
            <a:r>
              <a:rPr lang="en-US" altLang="zh-CN" baseline="30000" dirty="0">
                <a:latin typeface="Arial"/>
                <a:cs typeface="Arial"/>
              </a:rPr>
              <a:t>0 </a:t>
            </a:r>
            <a:r>
              <a:rPr lang="en-US" altLang="zh-CN" dirty="0">
                <a:latin typeface="Arial"/>
                <a:cs typeface="Arial"/>
              </a:rPr>
              <a:t>= -5</a:t>
            </a:r>
          </a:p>
        </p:txBody>
      </p:sp>
      <p:sp>
        <p:nvSpPr>
          <p:cNvPr id="14" name="矩形 2">
            <a:extLst>
              <a:ext uri="{FF2B5EF4-FFF2-40B4-BE49-F238E27FC236}">
                <a16:creationId xmlns:a16="http://schemas.microsoft.com/office/drawing/2014/main" id="{51671CD2-7D03-4F10-9329-5CA5B40EDF7E}"/>
              </a:ext>
            </a:extLst>
          </p:cNvPr>
          <p:cNvSpPr/>
          <p:nvPr/>
        </p:nvSpPr>
        <p:spPr>
          <a:xfrm>
            <a:off x="293512" y="3708992"/>
            <a:ext cx="1616897" cy="497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sz="2100" dirty="0">
                <a:latin typeface="Consolas" panose="020B0609020204030204" pitchFamily="49" charset="0"/>
                <a:cs typeface="Arial"/>
              </a:rPr>
              <a:t>11111111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zh-CN" sz="825" dirty="0">
              <a:latin typeface="Arial"/>
              <a:cs typeface="Arial"/>
            </a:endParaRPr>
          </a:p>
        </p:txBody>
      </p:sp>
      <p:sp>
        <p:nvSpPr>
          <p:cNvPr id="16" name="矩形 9">
            <a:extLst>
              <a:ext uri="{FF2B5EF4-FFF2-40B4-BE49-F238E27FC236}">
                <a16:creationId xmlns:a16="http://schemas.microsoft.com/office/drawing/2014/main" id="{5F6804C7-D64B-49E9-8FEE-CDC6C26926BE}"/>
              </a:ext>
            </a:extLst>
          </p:cNvPr>
          <p:cNvSpPr/>
          <p:nvPr/>
        </p:nvSpPr>
        <p:spPr>
          <a:xfrm>
            <a:off x="1888785" y="3741258"/>
            <a:ext cx="830048" cy="3416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dirty="0">
                <a:latin typeface="Arial"/>
                <a:cs typeface="Arial"/>
              </a:rPr>
              <a:t>= -1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2C4B014-D9F6-45D0-A864-1C867DE8E956}"/>
              </a:ext>
            </a:extLst>
          </p:cNvPr>
          <p:cNvSpPr/>
          <p:nvPr/>
        </p:nvSpPr>
        <p:spPr>
          <a:xfrm>
            <a:off x="296214" y="2227973"/>
            <a:ext cx="1614195" cy="497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sz="2100" dirty="0">
                <a:latin typeface="Consolas" panose="020B0609020204030204" pitchFamily="49" charset="0"/>
                <a:cs typeface="Arial"/>
              </a:rPr>
              <a:t>00000101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zh-CN" sz="825" dirty="0">
              <a:latin typeface="Arial"/>
              <a:cs typeface="Arial"/>
            </a:endParaRPr>
          </a:p>
        </p:txBody>
      </p:sp>
      <p:sp>
        <p:nvSpPr>
          <p:cNvPr id="4" name="矩形 9">
            <a:extLst>
              <a:ext uri="{FF2B5EF4-FFF2-40B4-BE49-F238E27FC236}">
                <a16:creationId xmlns:a16="http://schemas.microsoft.com/office/drawing/2014/main" id="{9867A258-50B8-4403-9CAC-17E8EC9B3EE0}"/>
              </a:ext>
            </a:extLst>
          </p:cNvPr>
          <p:cNvSpPr/>
          <p:nvPr/>
        </p:nvSpPr>
        <p:spPr>
          <a:xfrm>
            <a:off x="1910409" y="2227973"/>
            <a:ext cx="5980462" cy="3416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dirty="0">
                <a:latin typeface="Arial"/>
                <a:cs typeface="Arial"/>
              </a:rPr>
              <a:t>= 0*(</a:t>
            </a:r>
            <a:r>
              <a:rPr lang="en-US" altLang="zh-CN" dirty="0">
                <a:solidFill>
                  <a:srgbClr val="FF0000"/>
                </a:solidFill>
                <a:latin typeface="Arial"/>
                <a:cs typeface="Arial"/>
              </a:rPr>
              <a:t>-2</a:t>
            </a:r>
            <a:r>
              <a:rPr lang="en-US" altLang="zh-CN" baseline="30000" dirty="0">
                <a:solidFill>
                  <a:srgbClr val="FF0000"/>
                </a:solidFill>
                <a:latin typeface="Arial"/>
                <a:cs typeface="Arial"/>
              </a:rPr>
              <a:t>7</a:t>
            </a:r>
            <a:r>
              <a:rPr lang="en-US" altLang="zh-CN" dirty="0">
                <a:latin typeface="Arial"/>
                <a:cs typeface="Arial"/>
              </a:rPr>
              <a:t>)</a:t>
            </a:r>
            <a:r>
              <a:rPr lang="en-US" altLang="zh-CN" baseline="30000" dirty="0">
                <a:latin typeface="Arial"/>
                <a:cs typeface="Arial"/>
              </a:rPr>
              <a:t> </a:t>
            </a:r>
            <a:r>
              <a:rPr lang="en-US" altLang="zh-CN" dirty="0">
                <a:latin typeface="Arial"/>
                <a:cs typeface="Arial"/>
              </a:rPr>
              <a:t>+0*2</a:t>
            </a:r>
            <a:r>
              <a:rPr lang="en-US" altLang="zh-CN" baseline="30000" dirty="0">
                <a:latin typeface="Arial"/>
                <a:cs typeface="Arial"/>
              </a:rPr>
              <a:t>6 </a:t>
            </a:r>
            <a:r>
              <a:rPr lang="en-US" altLang="zh-CN" dirty="0">
                <a:latin typeface="Arial"/>
                <a:cs typeface="Arial"/>
              </a:rPr>
              <a:t>+0*2</a:t>
            </a:r>
            <a:r>
              <a:rPr lang="en-US" altLang="zh-CN" baseline="30000" dirty="0">
                <a:latin typeface="Arial"/>
                <a:cs typeface="Arial"/>
              </a:rPr>
              <a:t>5 </a:t>
            </a:r>
            <a:r>
              <a:rPr lang="en-US" altLang="zh-CN" dirty="0">
                <a:latin typeface="Arial"/>
                <a:cs typeface="Arial"/>
              </a:rPr>
              <a:t>+0*2</a:t>
            </a:r>
            <a:r>
              <a:rPr lang="en-US" altLang="zh-CN" baseline="30000" dirty="0">
                <a:latin typeface="Arial"/>
                <a:cs typeface="Arial"/>
              </a:rPr>
              <a:t>4 </a:t>
            </a:r>
            <a:r>
              <a:rPr lang="en-US" altLang="zh-CN" dirty="0">
                <a:latin typeface="Arial"/>
                <a:cs typeface="Arial"/>
              </a:rPr>
              <a:t>+0*2</a:t>
            </a:r>
            <a:r>
              <a:rPr lang="en-US" altLang="zh-CN" baseline="30000" dirty="0">
                <a:latin typeface="Arial"/>
                <a:cs typeface="Arial"/>
              </a:rPr>
              <a:t>3 </a:t>
            </a:r>
            <a:r>
              <a:rPr lang="en-US" altLang="zh-CN" dirty="0">
                <a:latin typeface="Arial"/>
                <a:cs typeface="Arial"/>
              </a:rPr>
              <a:t>+1*2</a:t>
            </a:r>
            <a:r>
              <a:rPr lang="en-US" altLang="zh-CN" baseline="30000" dirty="0">
                <a:latin typeface="Arial"/>
                <a:cs typeface="Arial"/>
              </a:rPr>
              <a:t>2 </a:t>
            </a:r>
            <a:r>
              <a:rPr lang="en-US" altLang="zh-CN" dirty="0">
                <a:latin typeface="Arial"/>
                <a:cs typeface="Arial"/>
              </a:rPr>
              <a:t>+0*2</a:t>
            </a:r>
            <a:r>
              <a:rPr lang="en-US" altLang="zh-CN" baseline="30000" dirty="0">
                <a:latin typeface="Arial"/>
                <a:cs typeface="Arial"/>
              </a:rPr>
              <a:t>1</a:t>
            </a:r>
            <a:r>
              <a:rPr lang="en-US" altLang="zh-CN" dirty="0">
                <a:latin typeface="Arial"/>
                <a:cs typeface="Arial"/>
              </a:rPr>
              <a:t>+1*2</a:t>
            </a:r>
            <a:r>
              <a:rPr lang="en-US" altLang="zh-CN" baseline="30000" dirty="0">
                <a:latin typeface="Arial"/>
                <a:cs typeface="Arial"/>
              </a:rPr>
              <a:t>0 </a:t>
            </a:r>
            <a:r>
              <a:rPr lang="en-US" altLang="zh-CN" dirty="0">
                <a:latin typeface="Arial"/>
                <a:cs typeface="Arial"/>
              </a:rPr>
              <a:t>= 5</a:t>
            </a:r>
          </a:p>
        </p:txBody>
      </p:sp>
      <p:sp>
        <p:nvSpPr>
          <p:cNvPr id="5" name="矩形 2">
            <a:extLst>
              <a:ext uri="{FF2B5EF4-FFF2-40B4-BE49-F238E27FC236}">
                <a16:creationId xmlns:a16="http://schemas.microsoft.com/office/drawing/2014/main" id="{6F384AA2-3CA9-4D7A-BCF4-16965E8E7B05}"/>
              </a:ext>
            </a:extLst>
          </p:cNvPr>
          <p:cNvSpPr/>
          <p:nvPr/>
        </p:nvSpPr>
        <p:spPr>
          <a:xfrm>
            <a:off x="296214" y="3380532"/>
            <a:ext cx="1616897" cy="497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sz="2100" dirty="0">
                <a:latin typeface="Consolas" panose="020B0609020204030204" pitchFamily="49" charset="0"/>
                <a:cs typeface="Arial"/>
              </a:rPr>
              <a:t>00000000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zh-CN" sz="825" dirty="0">
              <a:latin typeface="Arial"/>
              <a:cs typeface="Arial"/>
            </a:endParaRPr>
          </a:p>
        </p:txBody>
      </p:sp>
      <p:sp>
        <p:nvSpPr>
          <p:cNvPr id="6" name="矩形 9">
            <a:extLst>
              <a:ext uri="{FF2B5EF4-FFF2-40B4-BE49-F238E27FC236}">
                <a16:creationId xmlns:a16="http://schemas.microsoft.com/office/drawing/2014/main" id="{4BCD8CF8-6B6B-4D45-8EC7-0EAF1B0D0D1B}"/>
              </a:ext>
            </a:extLst>
          </p:cNvPr>
          <p:cNvSpPr/>
          <p:nvPr/>
        </p:nvSpPr>
        <p:spPr>
          <a:xfrm>
            <a:off x="1891486" y="3412799"/>
            <a:ext cx="830048" cy="3416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dirty="0">
                <a:latin typeface="Arial"/>
                <a:cs typeface="Arial"/>
              </a:rPr>
              <a:t>= 0</a:t>
            </a:r>
          </a:p>
        </p:txBody>
      </p:sp>
      <p:sp>
        <p:nvSpPr>
          <p:cNvPr id="20" name="矩形 2">
            <a:extLst>
              <a:ext uri="{FF2B5EF4-FFF2-40B4-BE49-F238E27FC236}">
                <a16:creationId xmlns:a16="http://schemas.microsoft.com/office/drawing/2014/main" id="{D62F9181-1C89-4865-8E7B-926FAF400B8F}"/>
              </a:ext>
            </a:extLst>
          </p:cNvPr>
          <p:cNvSpPr/>
          <p:nvPr/>
        </p:nvSpPr>
        <p:spPr>
          <a:xfrm>
            <a:off x="293512" y="4037451"/>
            <a:ext cx="1616897" cy="497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sz="2100" dirty="0">
                <a:latin typeface="Consolas" panose="020B0609020204030204" pitchFamily="49" charset="0"/>
                <a:cs typeface="Arial"/>
              </a:rPr>
              <a:t>10000000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zh-CN" sz="825" dirty="0">
              <a:latin typeface="Arial"/>
              <a:cs typeface="Arial"/>
            </a:endParaRPr>
          </a:p>
        </p:txBody>
      </p:sp>
      <p:sp>
        <p:nvSpPr>
          <p:cNvPr id="22" name="矩形 9">
            <a:extLst>
              <a:ext uri="{FF2B5EF4-FFF2-40B4-BE49-F238E27FC236}">
                <a16:creationId xmlns:a16="http://schemas.microsoft.com/office/drawing/2014/main" id="{9ACD6CFF-F41D-4687-8E06-83E0E4006B49}"/>
              </a:ext>
            </a:extLst>
          </p:cNvPr>
          <p:cNvSpPr/>
          <p:nvPr/>
        </p:nvSpPr>
        <p:spPr>
          <a:xfrm>
            <a:off x="1888785" y="4069718"/>
            <a:ext cx="1648132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</a:pPr>
            <a:r>
              <a:rPr lang="en-US" altLang="zh-CN" dirty="0">
                <a:latin typeface="Arial"/>
                <a:cs typeface="Arial"/>
              </a:rPr>
              <a:t>= -2</a:t>
            </a:r>
            <a:r>
              <a:rPr lang="en-US" altLang="zh-CN" baseline="30000" dirty="0">
                <a:latin typeface="Arial"/>
                <a:cs typeface="Arial"/>
              </a:rPr>
              <a:t>7</a:t>
            </a:r>
            <a:r>
              <a:rPr lang="en-US" altLang="zh-CN" dirty="0">
                <a:latin typeface="Arial"/>
                <a:cs typeface="Arial"/>
              </a:rPr>
              <a:t>= -128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zh-CN" baseline="30000" dirty="0">
              <a:latin typeface="Arial"/>
              <a:cs typeface="Arial"/>
            </a:endParaRPr>
          </a:p>
        </p:txBody>
      </p:sp>
      <p:sp>
        <p:nvSpPr>
          <p:cNvPr id="24" name="矩形 2">
            <a:extLst>
              <a:ext uri="{FF2B5EF4-FFF2-40B4-BE49-F238E27FC236}">
                <a16:creationId xmlns:a16="http://schemas.microsoft.com/office/drawing/2014/main" id="{F7B94D22-7DE9-42FC-9625-A69A19173361}"/>
              </a:ext>
            </a:extLst>
          </p:cNvPr>
          <p:cNvSpPr/>
          <p:nvPr/>
        </p:nvSpPr>
        <p:spPr>
          <a:xfrm>
            <a:off x="293512" y="4375821"/>
            <a:ext cx="1616897" cy="497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sz="2100" dirty="0">
                <a:latin typeface="Consolas" panose="020B0609020204030204" pitchFamily="49" charset="0"/>
                <a:cs typeface="Arial"/>
              </a:rPr>
              <a:t>01111111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zh-CN" sz="825" dirty="0">
              <a:latin typeface="Arial"/>
              <a:cs typeface="Arial"/>
            </a:endParaRPr>
          </a:p>
        </p:txBody>
      </p:sp>
      <p:sp>
        <p:nvSpPr>
          <p:cNvPr id="26" name="矩形 9">
            <a:extLst>
              <a:ext uri="{FF2B5EF4-FFF2-40B4-BE49-F238E27FC236}">
                <a16:creationId xmlns:a16="http://schemas.microsoft.com/office/drawing/2014/main" id="{12867A8E-AFCC-4C8F-9E50-0D4BDB67928F}"/>
              </a:ext>
            </a:extLst>
          </p:cNvPr>
          <p:cNvSpPr/>
          <p:nvPr/>
        </p:nvSpPr>
        <p:spPr>
          <a:xfrm>
            <a:off x="1888785" y="4408088"/>
            <a:ext cx="1648133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</a:pPr>
            <a:r>
              <a:rPr lang="en-US" altLang="zh-CN" dirty="0">
                <a:latin typeface="Arial"/>
                <a:cs typeface="Arial"/>
              </a:rPr>
              <a:t>= 2</a:t>
            </a:r>
            <a:r>
              <a:rPr lang="en-US" altLang="zh-CN" baseline="30000" dirty="0">
                <a:latin typeface="Arial"/>
                <a:cs typeface="Arial"/>
              </a:rPr>
              <a:t>7</a:t>
            </a:r>
            <a:r>
              <a:rPr lang="en-US" altLang="zh-CN" dirty="0">
                <a:latin typeface="Arial"/>
                <a:cs typeface="Arial"/>
              </a:rPr>
              <a:t>-1= 127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zh-CN" baseline="30000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00673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FA094-65C2-2A81-80D8-51CF0A6540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How do computers add?</a:t>
            </a:r>
            <a:br>
              <a:rPr lang="en-US" dirty="0"/>
            </a:br>
            <a:r>
              <a:rPr lang="en-US" dirty="0"/>
              <a:t>(2’s complement)</a:t>
            </a:r>
          </a:p>
        </p:txBody>
      </p:sp>
      <p:sp>
        <p:nvSpPr>
          <p:cNvPr id="4" name="矩形 2">
            <a:extLst>
              <a:ext uri="{FF2B5EF4-FFF2-40B4-BE49-F238E27FC236}">
                <a16:creationId xmlns:a16="http://schemas.microsoft.com/office/drawing/2014/main" id="{1F3171F2-A98D-070B-1262-E1940FAA1D10}"/>
              </a:ext>
            </a:extLst>
          </p:cNvPr>
          <p:cNvSpPr/>
          <p:nvPr/>
        </p:nvSpPr>
        <p:spPr>
          <a:xfrm>
            <a:off x="3168002" y="3429000"/>
            <a:ext cx="3321698" cy="5943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1 1 1 1 1 0 1 1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zh-CN" sz="825" dirty="0">
              <a:latin typeface="Arial"/>
              <a:cs typeface="Arial"/>
            </a:endParaRPr>
          </a:p>
        </p:txBody>
      </p:sp>
      <p:sp>
        <p:nvSpPr>
          <p:cNvPr id="5" name="矩形 2">
            <a:extLst>
              <a:ext uri="{FF2B5EF4-FFF2-40B4-BE49-F238E27FC236}">
                <a16:creationId xmlns:a16="http://schemas.microsoft.com/office/drawing/2014/main" id="{0FD79681-CFED-0A6E-6A58-D7B0051459ED}"/>
              </a:ext>
            </a:extLst>
          </p:cNvPr>
          <p:cNvSpPr/>
          <p:nvPr/>
        </p:nvSpPr>
        <p:spPr>
          <a:xfrm>
            <a:off x="3168002" y="2639456"/>
            <a:ext cx="3004198" cy="5943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0 0 0 0 0 1 0 1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zh-CN" sz="825" dirty="0">
              <a:latin typeface="Arial"/>
              <a:cs typeface="Arial"/>
            </a:endParaRP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63B7FDC9-823D-45EA-11D8-2EA9F50DF1DD}"/>
              </a:ext>
            </a:extLst>
          </p:cNvPr>
          <p:cNvSpPr txBox="1"/>
          <p:nvPr/>
        </p:nvSpPr>
        <p:spPr>
          <a:xfrm>
            <a:off x="2402829" y="3429000"/>
            <a:ext cx="4363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Verdana"/>
                <a:cs typeface="Verdana"/>
              </a:rPr>
              <a:t>+</a:t>
            </a:r>
          </a:p>
        </p:txBody>
      </p:sp>
      <p:cxnSp>
        <p:nvCxnSpPr>
          <p:cNvPr id="7" name="Straight Connector 8">
            <a:extLst>
              <a:ext uri="{FF2B5EF4-FFF2-40B4-BE49-F238E27FC236}">
                <a16:creationId xmlns:a16="http://schemas.microsoft.com/office/drawing/2014/main" id="{44B2AC98-A063-232D-B571-E7514B225A5F}"/>
              </a:ext>
            </a:extLst>
          </p:cNvPr>
          <p:cNvCxnSpPr/>
          <p:nvPr/>
        </p:nvCxnSpPr>
        <p:spPr>
          <a:xfrm>
            <a:off x="2620998" y="4073374"/>
            <a:ext cx="374949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C0601B1-CEDE-1234-2735-B9F4021BA0E9}"/>
              </a:ext>
            </a:extLst>
          </p:cNvPr>
          <p:cNvSpPr txBox="1"/>
          <p:nvPr/>
        </p:nvSpPr>
        <p:spPr>
          <a:xfrm>
            <a:off x="1790445" y="4601308"/>
            <a:ext cx="42907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Result: _ _ _ _ _ _ _ _</a:t>
            </a:r>
          </a:p>
        </p:txBody>
      </p:sp>
    </p:spTree>
    <p:extLst>
      <p:ext uri="{BB962C8B-B14F-4D97-AF65-F5344CB8AC3E}">
        <p14:creationId xmlns:p14="http://schemas.microsoft.com/office/powerpoint/2010/main" val="351300924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1E8A1-4AD5-3507-3E03-A972EA9B4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E19B5C-BD67-753B-7555-A6A282F44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What’s the result?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C3A5F0-49AF-8661-314A-046684881BDD}"/>
              </a:ext>
            </a:extLst>
          </p:cNvPr>
          <p:cNvSpPr txBox="1"/>
          <p:nvPr/>
        </p:nvSpPr>
        <p:spPr>
          <a:xfrm>
            <a:off x="601472" y="1536174"/>
            <a:ext cx="5646928" cy="378565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#include &lt;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stdio.h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</a:p>
          <a:p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main(void) {</a:t>
            </a:r>
          </a:p>
          <a:p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char a = 0b11111111;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char b = 0b00000001;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char c = a + b;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printf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("%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hhd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\n", c);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FE8833A-1D0C-6E3F-1D0F-F65FF606B2C0}"/>
              </a:ext>
            </a:extLst>
          </p:cNvPr>
          <p:cNvSpPr txBox="1"/>
          <p:nvPr/>
        </p:nvSpPr>
        <p:spPr>
          <a:xfrm>
            <a:off x="822960" y="5677432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godbolt.org</a:t>
            </a:r>
            <a:r>
              <a:rPr lang="en-US" dirty="0"/>
              <a:t>/z/4qGoGvTe4</a:t>
            </a:r>
          </a:p>
        </p:txBody>
      </p:sp>
    </p:spTree>
    <p:extLst>
      <p:ext uri="{BB962C8B-B14F-4D97-AF65-F5344CB8AC3E}">
        <p14:creationId xmlns:p14="http://schemas.microsoft.com/office/powerpoint/2010/main" val="92732941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4" name="Add-in 3">
                <a:extLst>
                  <a:ext uri="{FF2B5EF4-FFF2-40B4-BE49-F238E27FC236}">
                    <a16:creationId xmlns:a16="http://schemas.microsoft.com/office/drawing/2014/main" id="{C161C741-A77E-5D4D-A6F6-4C09700B151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48656248"/>
                  </p:ext>
                </p:extLst>
              </p:nvPr>
            </p:nvGraphicFramePr>
            <p:xfrm>
              <a:off x="0" y="0"/>
              <a:ext cx="9055100" cy="673100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3"/>
              </a:graphicData>
            </a:graphic>
          </p:graphicFrame>
        </mc:Choice>
        <mc:Fallback>
          <p:pic>
            <p:nvPicPr>
              <p:cNvPr id="4" name="Add-in 3">
                <a:extLst>
                  <a:ext uri="{FF2B5EF4-FFF2-40B4-BE49-F238E27FC236}">
                    <a16:creationId xmlns:a16="http://schemas.microsoft.com/office/drawing/2014/main" id="{C161C741-A77E-5D4D-A6F6-4C09700B151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0" y="0"/>
                <a:ext cx="9055100" cy="6731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00337860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22B67F-CC3A-AC95-18D9-7547E79C6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EFDA25-AE22-289F-DE05-F27ABD9057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How do computers add?</a:t>
            </a:r>
            <a:br>
              <a:rPr lang="en-US" dirty="0"/>
            </a:br>
            <a:r>
              <a:rPr lang="en-US" dirty="0"/>
              <a:t>(2’s complement)</a:t>
            </a:r>
          </a:p>
        </p:txBody>
      </p:sp>
      <p:sp>
        <p:nvSpPr>
          <p:cNvPr id="4" name="矩形 2">
            <a:extLst>
              <a:ext uri="{FF2B5EF4-FFF2-40B4-BE49-F238E27FC236}">
                <a16:creationId xmlns:a16="http://schemas.microsoft.com/office/drawing/2014/main" id="{EDB8CE4D-24EE-9D9A-8356-0DAA944E8438}"/>
              </a:ext>
            </a:extLst>
          </p:cNvPr>
          <p:cNvSpPr/>
          <p:nvPr/>
        </p:nvSpPr>
        <p:spPr>
          <a:xfrm>
            <a:off x="3168002" y="3429000"/>
            <a:ext cx="3321698" cy="5943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0 0 0 0 0 0 0 1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zh-CN" sz="825" dirty="0">
              <a:latin typeface="Arial"/>
              <a:cs typeface="Arial"/>
            </a:endParaRPr>
          </a:p>
        </p:txBody>
      </p:sp>
      <p:sp>
        <p:nvSpPr>
          <p:cNvPr id="5" name="矩形 2">
            <a:extLst>
              <a:ext uri="{FF2B5EF4-FFF2-40B4-BE49-F238E27FC236}">
                <a16:creationId xmlns:a16="http://schemas.microsoft.com/office/drawing/2014/main" id="{F62DA354-B60A-DA95-AE2D-48439200E36D}"/>
              </a:ext>
            </a:extLst>
          </p:cNvPr>
          <p:cNvSpPr/>
          <p:nvPr/>
        </p:nvSpPr>
        <p:spPr>
          <a:xfrm>
            <a:off x="3168002" y="2639456"/>
            <a:ext cx="3004198" cy="5943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0 1 1 1 1 1 1 1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zh-CN" sz="825" dirty="0">
              <a:latin typeface="Arial"/>
              <a:cs typeface="Arial"/>
            </a:endParaRP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FE222623-D506-EFDC-C415-3A93BDC432CB}"/>
              </a:ext>
            </a:extLst>
          </p:cNvPr>
          <p:cNvSpPr txBox="1"/>
          <p:nvPr/>
        </p:nvSpPr>
        <p:spPr>
          <a:xfrm>
            <a:off x="2402829" y="3429000"/>
            <a:ext cx="4363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Verdana"/>
                <a:cs typeface="Verdana"/>
              </a:rPr>
              <a:t>+</a:t>
            </a:r>
          </a:p>
        </p:txBody>
      </p:sp>
      <p:cxnSp>
        <p:nvCxnSpPr>
          <p:cNvPr id="7" name="Straight Connector 8">
            <a:extLst>
              <a:ext uri="{FF2B5EF4-FFF2-40B4-BE49-F238E27FC236}">
                <a16:creationId xmlns:a16="http://schemas.microsoft.com/office/drawing/2014/main" id="{27073486-FDD0-3774-A347-ED12B8AE3C29}"/>
              </a:ext>
            </a:extLst>
          </p:cNvPr>
          <p:cNvCxnSpPr/>
          <p:nvPr/>
        </p:nvCxnSpPr>
        <p:spPr>
          <a:xfrm>
            <a:off x="2620998" y="4073374"/>
            <a:ext cx="374949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C8BA138-4AE3-E958-8A0D-BAC56038D11D}"/>
              </a:ext>
            </a:extLst>
          </p:cNvPr>
          <p:cNvSpPr txBox="1"/>
          <p:nvPr/>
        </p:nvSpPr>
        <p:spPr>
          <a:xfrm>
            <a:off x="1790445" y="4601308"/>
            <a:ext cx="42907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Result: _ _ _ _ _ _ _ _</a:t>
            </a:r>
          </a:p>
        </p:txBody>
      </p:sp>
    </p:spTree>
    <p:extLst>
      <p:ext uri="{BB962C8B-B14F-4D97-AF65-F5344CB8AC3E}">
        <p14:creationId xmlns:p14="http://schemas.microsoft.com/office/powerpoint/2010/main" val="183095691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23D942-95FF-3DDD-4CA3-BEF1CB335D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do computers subtract?</a:t>
            </a:r>
          </a:p>
        </p:txBody>
      </p:sp>
      <p:sp>
        <p:nvSpPr>
          <p:cNvPr id="4" name="矩形 2">
            <a:extLst>
              <a:ext uri="{FF2B5EF4-FFF2-40B4-BE49-F238E27FC236}">
                <a16:creationId xmlns:a16="http://schemas.microsoft.com/office/drawing/2014/main" id="{76463CEA-86AE-52D4-A5CF-C6E558207F73}"/>
              </a:ext>
            </a:extLst>
          </p:cNvPr>
          <p:cNvSpPr/>
          <p:nvPr/>
        </p:nvSpPr>
        <p:spPr>
          <a:xfrm>
            <a:off x="1743792" y="3136900"/>
            <a:ext cx="2559698" cy="53899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sz="2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0 0 0 0 0 1 0 1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zh-CN" sz="825" dirty="0">
              <a:latin typeface="Arial"/>
              <a:cs typeface="Arial"/>
            </a:endParaRPr>
          </a:p>
        </p:txBody>
      </p:sp>
      <p:sp>
        <p:nvSpPr>
          <p:cNvPr id="5" name="矩形 2">
            <a:extLst>
              <a:ext uri="{FF2B5EF4-FFF2-40B4-BE49-F238E27FC236}">
                <a16:creationId xmlns:a16="http://schemas.microsoft.com/office/drawing/2014/main" id="{F52B8B1E-13BB-9DCC-CA21-149C6106A2B3}"/>
              </a:ext>
            </a:extLst>
          </p:cNvPr>
          <p:cNvSpPr/>
          <p:nvPr/>
        </p:nvSpPr>
        <p:spPr>
          <a:xfrm>
            <a:off x="1743792" y="2514407"/>
            <a:ext cx="3004198" cy="53899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sz="2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0 0 0 0 0 1 0 1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zh-CN" sz="825" dirty="0">
              <a:latin typeface="Arial"/>
              <a:cs typeface="Arial"/>
            </a:endParaRP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F5243CE-C912-1C2C-1878-B9845D01B25B}"/>
              </a:ext>
            </a:extLst>
          </p:cNvPr>
          <p:cNvSpPr txBox="1"/>
          <p:nvPr/>
        </p:nvSpPr>
        <p:spPr>
          <a:xfrm>
            <a:off x="1138086" y="3130679"/>
            <a:ext cx="3241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Verdana"/>
                <a:cs typeface="Verdana"/>
              </a:rPr>
              <a:t>-</a:t>
            </a:r>
          </a:p>
        </p:txBody>
      </p:sp>
      <p:cxnSp>
        <p:nvCxnSpPr>
          <p:cNvPr id="7" name="Straight Connector 8">
            <a:extLst>
              <a:ext uri="{FF2B5EF4-FFF2-40B4-BE49-F238E27FC236}">
                <a16:creationId xmlns:a16="http://schemas.microsoft.com/office/drawing/2014/main" id="{2996E82A-80E7-D320-A593-0274785C6BB0}"/>
              </a:ext>
            </a:extLst>
          </p:cNvPr>
          <p:cNvCxnSpPr>
            <a:cxnSpLocks/>
          </p:cNvCxnSpPr>
          <p:nvPr/>
        </p:nvCxnSpPr>
        <p:spPr>
          <a:xfrm>
            <a:off x="1138086" y="3675894"/>
            <a:ext cx="303250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F671F11-EC95-7F0B-E641-B977B638C5ED}"/>
              </a:ext>
            </a:extLst>
          </p:cNvPr>
          <p:cNvSpPr txBox="1"/>
          <p:nvPr/>
        </p:nvSpPr>
        <p:spPr>
          <a:xfrm>
            <a:off x="1712451" y="3878876"/>
            <a:ext cx="37133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_ _ _ _ _ _ _ _</a:t>
            </a:r>
          </a:p>
        </p:txBody>
      </p:sp>
      <p:sp>
        <p:nvSpPr>
          <p:cNvPr id="11" name="Multiply 10">
            <a:extLst>
              <a:ext uri="{FF2B5EF4-FFF2-40B4-BE49-F238E27FC236}">
                <a16:creationId xmlns:a16="http://schemas.microsoft.com/office/drawing/2014/main" id="{42DDFEFE-2730-6867-CB2B-569C3C1626C4}"/>
              </a:ext>
            </a:extLst>
          </p:cNvPr>
          <p:cNvSpPr/>
          <p:nvPr/>
        </p:nvSpPr>
        <p:spPr>
          <a:xfrm>
            <a:off x="2067919" y="2211394"/>
            <a:ext cx="1649096" cy="2855898"/>
          </a:xfrm>
          <a:prstGeom prst="mathMultiply">
            <a:avLst>
              <a:gd name="adj1" fmla="val 10503"/>
            </a:avLst>
          </a:prstGeom>
          <a:solidFill>
            <a:srgbClr val="FF0000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0000"/>
              </a:solidFill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796C999-C4B9-57A1-9B3A-6C2E40B85CEA}"/>
              </a:ext>
            </a:extLst>
          </p:cNvPr>
          <p:cNvGrpSpPr/>
          <p:nvPr/>
        </p:nvGrpSpPr>
        <p:grpSpPr>
          <a:xfrm>
            <a:off x="5263776" y="2508186"/>
            <a:ext cx="3716492" cy="1847763"/>
            <a:chOff x="5263776" y="2508186"/>
            <a:chExt cx="3716492" cy="1847763"/>
          </a:xfrm>
        </p:grpSpPr>
        <p:sp>
          <p:nvSpPr>
            <p:cNvPr id="12" name="矩形 2">
              <a:extLst>
                <a:ext uri="{FF2B5EF4-FFF2-40B4-BE49-F238E27FC236}">
                  <a16:creationId xmlns:a16="http://schemas.microsoft.com/office/drawing/2014/main" id="{CF91CADF-AADA-A542-7E85-C691FF49E1EC}"/>
                </a:ext>
              </a:extLst>
            </p:cNvPr>
            <p:cNvSpPr/>
            <p:nvPr/>
          </p:nvSpPr>
          <p:spPr>
            <a:xfrm>
              <a:off x="5869481" y="3130679"/>
              <a:ext cx="3110787" cy="53899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90000"/>
                </a:lnSpc>
                <a:buFontTx/>
                <a:buNone/>
              </a:pPr>
              <a:r>
                <a:rPr lang="en-US" altLang="zh-CN" sz="2400" dirty="0">
                  <a:latin typeface="Calibri" panose="020F0502020204030204" pitchFamily="34" charset="0"/>
                  <a:ea typeface="Verdana" panose="020B0604030504040204" pitchFamily="34" charset="0"/>
                  <a:cs typeface="Calibri" panose="020F0502020204030204" pitchFamily="34" charset="0"/>
                </a:rPr>
                <a:t>2’s complement of -b</a:t>
              </a:r>
            </a:p>
            <a:p>
              <a:pPr>
                <a:lnSpc>
                  <a:spcPct val="90000"/>
                </a:lnSpc>
                <a:buFontTx/>
                <a:buNone/>
              </a:pPr>
              <a:endParaRPr lang="en-US" altLang="zh-CN" sz="825" dirty="0">
                <a:latin typeface="Arial"/>
                <a:cs typeface="Arial"/>
              </a:endParaRPr>
            </a:p>
          </p:txBody>
        </p:sp>
        <p:sp>
          <p:nvSpPr>
            <p:cNvPr id="13" name="矩形 2">
              <a:extLst>
                <a:ext uri="{FF2B5EF4-FFF2-40B4-BE49-F238E27FC236}">
                  <a16:creationId xmlns:a16="http://schemas.microsoft.com/office/drawing/2014/main" id="{CD7144B0-3EC5-AFDF-15C2-56BFB5B2D39E}"/>
                </a:ext>
              </a:extLst>
            </p:cNvPr>
            <p:cNvSpPr/>
            <p:nvPr/>
          </p:nvSpPr>
          <p:spPr>
            <a:xfrm>
              <a:off x="5869482" y="2508186"/>
              <a:ext cx="3004198" cy="53899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90000"/>
                </a:lnSpc>
                <a:buFontTx/>
                <a:buNone/>
              </a:pPr>
              <a:r>
                <a:rPr lang="en-US" altLang="zh-CN" sz="2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</a:rPr>
                <a:t>0 0 0 0 0 1 0 1</a:t>
              </a:r>
            </a:p>
            <a:p>
              <a:pPr>
                <a:lnSpc>
                  <a:spcPct val="90000"/>
                </a:lnSpc>
                <a:buFontTx/>
                <a:buNone/>
              </a:pPr>
              <a:endParaRPr lang="en-US" altLang="zh-CN" sz="825" dirty="0">
                <a:latin typeface="Arial"/>
                <a:cs typeface="Arial"/>
              </a:endParaRPr>
            </a:p>
          </p:txBody>
        </p:sp>
        <p:sp>
          <p:nvSpPr>
            <p:cNvPr id="14" name="TextBox 6">
              <a:extLst>
                <a:ext uri="{FF2B5EF4-FFF2-40B4-BE49-F238E27FC236}">
                  <a16:creationId xmlns:a16="http://schemas.microsoft.com/office/drawing/2014/main" id="{77FB450F-85C3-EADE-3A3F-9062E1346C72}"/>
                </a:ext>
              </a:extLst>
            </p:cNvPr>
            <p:cNvSpPr txBox="1"/>
            <p:nvPr/>
          </p:nvSpPr>
          <p:spPr>
            <a:xfrm>
              <a:off x="5263776" y="3124458"/>
              <a:ext cx="32412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latin typeface="Verdana"/>
                  <a:cs typeface="Verdana"/>
                </a:rPr>
                <a:t>+</a:t>
              </a:r>
            </a:p>
          </p:txBody>
        </p:sp>
        <p:cxnSp>
          <p:nvCxnSpPr>
            <p:cNvPr id="15" name="Straight Connector 8">
              <a:extLst>
                <a:ext uri="{FF2B5EF4-FFF2-40B4-BE49-F238E27FC236}">
                  <a16:creationId xmlns:a16="http://schemas.microsoft.com/office/drawing/2014/main" id="{8AE99198-6DD0-2C8E-B4E2-1A14BBCBAB07}"/>
                </a:ext>
              </a:extLst>
            </p:cNvPr>
            <p:cNvCxnSpPr>
              <a:cxnSpLocks/>
            </p:cNvCxnSpPr>
            <p:nvPr/>
          </p:nvCxnSpPr>
          <p:spPr>
            <a:xfrm>
              <a:off x="5263776" y="3669673"/>
              <a:ext cx="303250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031E1D2-EBE0-A189-DD8E-461407B1BDC7}"/>
                </a:ext>
              </a:extLst>
            </p:cNvPr>
            <p:cNvSpPr txBox="1"/>
            <p:nvPr/>
          </p:nvSpPr>
          <p:spPr>
            <a:xfrm>
              <a:off x="5869481" y="3894284"/>
              <a:ext cx="274415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</a:rPr>
                <a:t>_ _ _ _ _ _ _ _</a:t>
              </a: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CDA791AA-3343-73E9-579A-F1305A383679}"/>
              </a:ext>
            </a:extLst>
          </p:cNvPr>
          <p:cNvSpPr txBox="1"/>
          <p:nvPr/>
        </p:nvSpPr>
        <p:spPr>
          <a:xfrm>
            <a:off x="208404" y="2508186"/>
            <a:ext cx="4138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a: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DB68467-60D1-FA19-4F09-B22DEE63B0D6}"/>
              </a:ext>
            </a:extLst>
          </p:cNvPr>
          <p:cNvSpPr txBox="1"/>
          <p:nvPr/>
        </p:nvSpPr>
        <p:spPr>
          <a:xfrm>
            <a:off x="229910" y="3119198"/>
            <a:ext cx="4283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869E176-50C6-7A0F-EDC7-F0537DBB0A13}"/>
              </a:ext>
            </a:extLst>
          </p:cNvPr>
          <p:cNvSpPr txBox="1"/>
          <p:nvPr/>
        </p:nvSpPr>
        <p:spPr>
          <a:xfrm>
            <a:off x="-32261" y="3894284"/>
            <a:ext cx="978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result:</a:t>
            </a:r>
          </a:p>
        </p:txBody>
      </p:sp>
    </p:spTree>
    <p:extLst>
      <p:ext uri="{BB962C8B-B14F-4D97-AF65-F5344CB8AC3E}">
        <p14:creationId xmlns:p14="http://schemas.microsoft.com/office/powerpoint/2010/main" val="14465151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CN" dirty="0"/>
              <a:t>2’s complement: find a number’s negation</a:t>
            </a:r>
            <a:endParaRPr kumimoji="1" lang="zh-CN" alt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33D9BEE-5650-4F20-A8FF-7D5FF6C56E4E}"/>
              </a:ext>
            </a:extLst>
          </p:cNvPr>
          <p:cNvGrpSpPr/>
          <p:nvPr/>
        </p:nvGrpSpPr>
        <p:grpSpPr>
          <a:xfrm>
            <a:off x="456821" y="2079154"/>
            <a:ext cx="1518199" cy="586149"/>
            <a:chOff x="609093" y="1629205"/>
            <a:chExt cx="2024266" cy="781532"/>
          </a:xfrm>
        </p:grpSpPr>
        <p:sp>
          <p:nvSpPr>
            <p:cNvPr id="5" name="矩形 2">
              <a:extLst>
                <a:ext uri="{FF2B5EF4-FFF2-40B4-BE49-F238E27FC236}">
                  <a16:creationId xmlns:a16="http://schemas.microsoft.com/office/drawing/2014/main" id="{6A49BDCE-2938-4C39-B01F-1CD9466AED4E}"/>
                </a:ext>
              </a:extLst>
            </p:cNvPr>
            <p:cNvSpPr/>
            <p:nvPr/>
          </p:nvSpPr>
          <p:spPr>
            <a:xfrm>
              <a:off x="609093" y="1629205"/>
              <a:ext cx="2024266" cy="66325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90000"/>
                </a:lnSpc>
                <a:buFontTx/>
                <a:buNone/>
              </a:pPr>
              <a:r>
                <a:rPr lang="en-US" altLang="zh-CN" sz="2100" dirty="0">
                  <a:latin typeface="Consolas" panose="020B0609020204030204" pitchFamily="49" charset="0"/>
                  <a:cs typeface="Arial"/>
                </a:rPr>
                <a:t>00000101</a:t>
              </a:r>
            </a:p>
            <a:p>
              <a:pPr>
                <a:lnSpc>
                  <a:spcPct val="90000"/>
                </a:lnSpc>
                <a:buFontTx/>
                <a:buNone/>
              </a:pPr>
              <a:endParaRPr lang="en-US" altLang="zh-CN" sz="825" dirty="0">
                <a:latin typeface="Arial"/>
                <a:cs typeface="Arial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928836D-9914-42CA-AC7D-8292C1231698}"/>
                </a:ext>
              </a:extLst>
            </p:cNvPr>
            <p:cNvSpPr txBox="1"/>
            <p:nvPr/>
          </p:nvSpPr>
          <p:spPr>
            <a:xfrm>
              <a:off x="1449859" y="2010628"/>
              <a:ext cx="658728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>
                  <a:solidFill>
                    <a:schemeClr val="accent1"/>
                  </a:solidFill>
                </a:rPr>
                <a:t>(5)</a:t>
              </a:r>
              <a:r>
                <a:rPr lang="en-US" sz="1350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4C3438B-FA29-4EBC-9EEB-2D9CACD0FA57}"/>
              </a:ext>
            </a:extLst>
          </p:cNvPr>
          <p:cNvCxnSpPr/>
          <p:nvPr/>
        </p:nvCxnSpPr>
        <p:spPr>
          <a:xfrm>
            <a:off x="2245841" y="2163977"/>
            <a:ext cx="136851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7484957-6E50-4DBE-BBD1-D01F8A245A9B}"/>
              </a:ext>
            </a:extLst>
          </p:cNvPr>
          <p:cNvSpPr txBox="1"/>
          <p:nvPr/>
        </p:nvSpPr>
        <p:spPr>
          <a:xfrm>
            <a:off x="4074641" y="2262658"/>
            <a:ext cx="546945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>
                <a:solidFill>
                  <a:schemeClr val="accent1"/>
                </a:solidFill>
              </a:rPr>
              <a:t>(-5)</a:t>
            </a:r>
            <a:r>
              <a:rPr lang="en-US" sz="1350" baseline="-25000" dirty="0">
                <a:solidFill>
                  <a:schemeClr val="accent1"/>
                </a:solidFill>
              </a:rPr>
              <a:t>10</a:t>
            </a:r>
          </a:p>
        </p:txBody>
      </p:sp>
      <p:sp>
        <p:nvSpPr>
          <p:cNvPr id="12" name="矩形 2">
            <a:extLst>
              <a:ext uri="{FF2B5EF4-FFF2-40B4-BE49-F238E27FC236}">
                <a16:creationId xmlns:a16="http://schemas.microsoft.com/office/drawing/2014/main" id="{612E82F0-15E7-4FD2-B39D-A3F2D4BB268A}"/>
              </a:ext>
            </a:extLst>
          </p:cNvPr>
          <p:cNvSpPr/>
          <p:nvPr/>
        </p:nvSpPr>
        <p:spPr>
          <a:xfrm>
            <a:off x="4116707" y="1984154"/>
            <a:ext cx="707724" cy="497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sz="2100" dirty="0">
                <a:latin typeface="Consolas" panose="020B0609020204030204" pitchFamily="49" charset="0"/>
                <a:cs typeface="Arial"/>
              </a:rPr>
              <a:t>??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zh-CN" sz="825" dirty="0">
              <a:latin typeface="Arial"/>
              <a:cs typeface="Arial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7307DFF-55F9-4D29-92AE-A756FDB02474}"/>
              </a:ext>
            </a:extLst>
          </p:cNvPr>
          <p:cNvSpPr txBox="1"/>
          <p:nvPr/>
        </p:nvSpPr>
        <p:spPr>
          <a:xfrm>
            <a:off x="571501" y="2791763"/>
            <a:ext cx="3409395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/>
              <a:t>A useful trick to do negation: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15EA14D-1FF1-4E59-B6F6-80A03071BBFD}"/>
              </a:ext>
            </a:extLst>
          </p:cNvPr>
          <p:cNvSpPr txBox="1"/>
          <p:nvPr/>
        </p:nvSpPr>
        <p:spPr>
          <a:xfrm>
            <a:off x="571500" y="3272884"/>
            <a:ext cx="18669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Step-1: flip all bits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B1C02A5-BA44-4C21-88A3-12FEB8EF58CF}"/>
              </a:ext>
            </a:extLst>
          </p:cNvPr>
          <p:cNvSpPr txBox="1"/>
          <p:nvPr/>
        </p:nvSpPr>
        <p:spPr>
          <a:xfrm>
            <a:off x="603817" y="4447177"/>
            <a:ext cx="14293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Step-2: add 1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5975A1B-5193-40E8-9D79-5EE08276F631}"/>
              </a:ext>
            </a:extLst>
          </p:cNvPr>
          <p:cNvGrpSpPr/>
          <p:nvPr/>
        </p:nvGrpSpPr>
        <p:grpSpPr>
          <a:xfrm>
            <a:off x="3614354" y="3628269"/>
            <a:ext cx="3052638" cy="2368140"/>
            <a:chOff x="8078498" y="2661121"/>
            <a:chExt cx="4070182" cy="3157521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952944C1-5BD6-41A3-9C79-8BFB23FB1B2A}"/>
                </a:ext>
              </a:extLst>
            </p:cNvPr>
            <p:cNvGrpSpPr/>
            <p:nvPr/>
          </p:nvGrpSpPr>
          <p:grpSpPr>
            <a:xfrm>
              <a:off x="8238575" y="2661121"/>
              <a:ext cx="2781554" cy="663258"/>
              <a:chOff x="725036" y="4104902"/>
              <a:chExt cx="2781554" cy="663258"/>
            </a:xfrm>
          </p:grpSpPr>
          <p:sp>
            <p:nvSpPr>
              <p:cNvPr id="18" name="矩形 2">
                <a:extLst>
                  <a:ext uri="{FF2B5EF4-FFF2-40B4-BE49-F238E27FC236}">
                    <a16:creationId xmlns:a16="http://schemas.microsoft.com/office/drawing/2014/main" id="{C04DC114-B770-456D-A522-AAAFBD424EB0}"/>
                  </a:ext>
                </a:extLst>
              </p:cNvPr>
              <p:cNvSpPr/>
              <p:nvPr/>
            </p:nvSpPr>
            <p:spPr>
              <a:xfrm>
                <a:off x="725036" y="4104902"/>
                <a:ext cx="2376229" cy="66325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90000"/>
                  </a:lnSpc>
                  <a:buFontTx/>
                  <a:buNone/>
                </a:pPr>
                <a:r>
                  <a:rPr lang="en-US" altLang="zh-CN" sz="2100" dirty="0">
                    <a:latin typeface="Consolas" panose="020B0609020204030204" pitchFamily="49" charset="0"/>
                    <a:cs typeface="Arial"/>
                  </a:rPr>
                  <a:t>00000101</a:t>
                </a:r>
              </a:p>
              <a:p>
                <a:pPr>
                  <a:lnSpc>
                    <a:spcPct val="90000"/>
                  </a:lnSpc>
                  <a:buFontTx/>
                  <a:buNone/>
                </a:pPr>
                <a:endParaRPr lang="en-US" altLang="zh-CN" sz="825" dirty="0">
                  <a:latin typeface="Arial"/>
                  <a:cs typeface="Arial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15A6200-D86C-4C20-9114-10F9EF646553}"/>
                  </a:ext>
                </a:extLst>
              </p:cNvPr>
              <p:cNvSpPr txBox="1"/>
              <p:nvPr/>
            </p:nvSpPr>
            <p:spPr>
              <a:xfrm>
                <a:off x="2847862" y="4121410"/>
                <a:ext cx="658728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>
                    <a:solidFill>
                      <a:schemeClr val="accent1"/>
                    </a:solidFill>
                  </a:rPr>
                  <a:t>(5)</a:t>
                </a:r>
                <a:r>
                  <a:rPr lang="en-US" sz="1350" baseline="-25000" dirty="0">
                    <a:solidFill>
                      <a:schemeClr val="accent1"/>
                    </a:solidFill>
                  </a:rPr>
                  <a:t>10</a:t>
                </a:r>
              </a:p>
            </p:txBody>
          </p:sp>
        </p:grp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1B0DDFD0-60AA-4730-8B62-FBCC5AB926CB}"/>
                </a:ext>
              </a:extLst>
            </p:cNvPr>
            <p:cNvCxnSpPr>
              <a:cxnSpLocks/>
            </p:cNvCxnSpPr>
            <p:nvPr/>
          </p:nvCxnSpPr>
          <p:spPr>
            <a:xfrm>
              <a:off x="9525398" y="3171333"/>
              <a:ext cx="0" cy="6385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矩形 2">
              <a:extLst>
                <a:ext uri="{FF2B5EF4-FFF2-40B4-BE49-F238E27FC236}">
                  <a16:creationId xmlns:a16="http://schemas.microsoft.com/office/drawing/2014/main" id="{E6E43CD7-ECDB-4385-BD04-3B4B0A199D18}"/>
                </a:ext>
              </a:extLst>
            </p:cNvPr>
            <p:cNvSpPr/>
            <p:nvPr/>
          </p:nvSpPr>
          <p:spPr>
            <a:xfrm>
              <a:off x="8238575" y="3980323"/>
              <a:ext cx="2294639" cy="66325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90000"/>
                </a:lnSpc>
                <a:buFontTx/>
                <a:buNone/>
              </a:pPr>
              <a:r>
                <a:rPr lang="en-US" altLang="zh-CN" sz="2100" dirty="0">
                  <a:latin typeface="Consolas" panose="020B0609020204030204" pitchFamily="49" charset="0"/>
                  <a:cs typeface="Arial"/>
                </a:rPr>
                <a:t>11111010</a:t>
              </a:r>
            </a:p>
            <a:p>
              <a:pPr>
                <a:lnSpc>
                  <a:spcPct val="90000"/>
                </a:lnSpc>
                <a:buFontTx/>
                <a:buNone/>
              </a:pPr>
              <a:endParaRPr lang="en-US" altLang="zh-CN" sz="825" dirty="0">
                <a:latin typeface="Arial"/>
                <a:cs typeface="Arial"/>
              </a:endParaRPr>
            </a:p>
          </p:txBody>
        </p:sp>
        <p:sp>
          <p:nvSpPr>
            <p:cNvPr id="28" name="矩形 2">
              <a:extLst>
                <a:ext uri="{FF2B5EF4-FFF2-40B4-BE49-F238E27FC236}">
                  <a16:creationId xmlns:a16="http://schemas.microsoft.com/office/drawing/2014/main" id="{BE63AA40-CD85-45C2-8F47-6D029B82CB04}"/>
                </a:ext>
              </a:extLst>
            </p:cNvPr>
            <p:cNvSpPr/>
            <p:nvPr/>
          </p:nvSpPr>
          <p:spPr>
            <a:xfrm>
              <a:off x="10285280" y="4523420"/>
              <a:ext cx="1863400" cy="52475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90000"/>
                </a:lnSpc>
                <a:buFontTx/>
                <a:buNone/>
              </a:pPr>
              <a:r>
                <a:rPr lang="en-US" altLang="zh-CN" sz="1350" dirty="0">
                  <a:latin typeface="Consolas" panose="020B0609020204030204" pitchFamily="49" charset="0"/>
                  <a:cs typeface="Arial"/>
                </a:rPr>
                <a:t>+00000001</a:t>
              </a:r>
            </a:p>
            <a:p>
              <a:pPr>
                <a:lnSpc>
                  <a:spcPct val="90000"/>
                </a:lnSpc>
                <a:buFontTx/>
                <a:buNone/>
              </a:pPr>
              <a:endParaRPr lang="en-US" altLang="zh-CN" sz="825" dirty="0">
                <a:latin typeface="Arial"/>
                <a:cs typeface="Arial"/>
              </a:endParaRPr>
            </a:p>
          </p:txBody>
        </p:sp>
        <p:sp>
          <p:nvSpPr>
            <p:cNvPr id="32" name="矩形 2">
              <a:extLst>
                <a:ext uri="{FF2B5EF4-FFF2-40B4-BE49-F238E27FC236}">
                  <a16:creationId xmlns:a16="http://schemas.microsoft.com/office/drawing/2014/main" id="{FD404E70-CAA0-45A6-B733-D3197DC4512E}"/>
                </a:ext>
              </a:extLst>
            </p:cNvPr>
            <p:cNvSpPr/>
            <p:nvPr/>
          </p:nvSpPr>
          <p:spPr>
            <a:xfrm>
              <a:off x="8078498" y="5155383"/>
              <a:ext cx="2783366" cy="66325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90000"/>
                </a:lnSpc>
                <a:buFontTx/>
                <a:buNone/>
              </a:pPr>
              <a:r>
                <a:rPr lang="en-US" altLang="zh-CN" sz="2100" dirty="0">
                  <a:latin typeface="Consolas" panose="020B0609020204030204" pitchFamily="49" charset="0"/>
                  <a:cs typeface="Arial"/>
                </a:rPr>
                <a:t> 11111011</a:t>
              </a:r>
            </a:p>
            <a:p>
              <a:pPr>
                <a:lnSpc>
                  <a:spcPct val="90000"/>
                </a:lnSpc>
                <a:buFontTx/>
                <a:buNone/>
              </a:pPr>
              <a:endParaRPr lang="en-US" altLang="zh-CN" sz="825" dirty="0">
                <a:latin typeface="Arial"/>
                <a:cs typeface="Arial"/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A1751C9-C4E5-42F6-BE2C-6F9F33EB0BBC}"/>
                </a:ext>
              </a:extLst>
            </p:cNvPr>
            <p:cNvSpPr txBox="1"/>
            <p:nvPr/>
          </p:nvSpPr>
          <p:spPr>
            <a:xfrm>
              <a:off x="10406965" y="5239950"/>
              <a:ext cx="729260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>
                  <a:solidFill>
                    <a:schemeClr val="accent1"/>
                  </a:solidFill>
                </a:rPr>
                <a:t>(-5)</a:t>
              </a:r>
              <a:r>
                <a:rPr lang="en-US" sz="1350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7AD1CC3B-9EBF-4FAA-BF57-96D739082B59}"/>
                </a:ext>
              </a:extLst>
            </p:cNvPr>
            <p:cNvCxnSpPr>
              <a:cxnSpLocks/>
            </p:cNvCxnSpPr>
            <p:nvPr/>
          </p:nvCxnSpPr>
          <p:spPr>
            <a:xfrm>
              <a:off x="9525398" y="4451648"/>
              <a:ext cx="0" cy="6385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D908746-FEF0-4138-80B8-92A95E5FD5C8}"/>
                </a:ext>
              </a:extLst>
            </p:cNvPr>
            <p:cNvSpPr txBox="1"/>
            <p:nvPr/>
          </p:nvSpPr>
          <p:spPr>
            <a:xfrm>
              <a:off x="9613916" y="3305956"/>
              <a:ext cx="1658660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Step-1: flip bits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1A4D451-1EDA-40F5-88AE-C6E83ADAF9F7}"/>
                </a:ext>
              </a:extLst>
            </p:cNvPr>
            <p:cNvSpPr txBox="1"/>
            <p:nvPr/>
          </p:nvSpPr>
          <p:spPr>
            <a:xfrm>
              <a:off x="9562592" y="4499966"/>
              <a:ext cx="914866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Step-2: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36629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1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2" grpId="0"/>
      <p:bldP spid="13" grpId="0"/>
      <p:bldP spid="16" grpId="0"/>
      <p:bldP spid="26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Why does the negation trick work</a:t>
            </a:r>
          </a:p>
        </p:txBody>
      </p:sp>
      <p:graphicFrame>
        <p:nvGraphicFramePr>
          <p:cNvPr id="4" name="Object 3"/>
          <p:cNvGraphicFramePr>
            <a:graphicFrameLocks noChangeAspect="1"/>
          </p:cNvGraphicFramePr>
          <p:nvPr/>
        </p:nvGraphicFramePr>
        <p:xfrm>
          <a:off x="2180035" y="4499534"/>
          <a:ext cx="1657350" cy="48458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825500" imgH="241300" progId="Equation.3">
                  <p:embed/>
                </p:oleObj>
              </mc:Choice>
              <mc:Fallback>
                <p:oleObj name="Equation" r:id="rId2" imgW="825500" imgH="241300" progId="Equation.3">
                  <p:embed/>
                  <p:pic>
                    <p:nvPicPr>
                      <p:cNvPr id="4" name="Object 3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180035" y="4499534"/>
                        <a:ext cx="1657350" cy="48458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Rounded Rectangular Callout 6"/>
          <p:cNvSpPr/>
          <p:nvPr/>
        </p:nvSpPr>
        <p:spPr>
          <a:xfrm>
            <a:off x="2180035" y="3219451"/>
            <a:ext cx="2044700" cy="901700"/>
          </a:xfrm>
          <a:prstGeom prst="wedgeRoundRectCallout">
            <a:avLst>
              <a:gd name="adj1" fmla="val -38336"/>
              <a:gd name="adj2" fmla="val -88676"/>
              <a:gd name="adj3" fmla="val 16667"/>
            </a:avLst>
          </a:prstGeom>
          <a:solidFill>
            <a:srgbClr val="B9CDE5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0" dirty="0">
                <a:solidFill>
                  <a:srgbClr val="000000"/>
                </a:solidFill>
              </a:rPr>
              <a:t>b with bits flipped</a:t>
            </a:r>
          </a:p>
        </p:txBody>
      </p:sp>
      <p:graphicFrame>
        <p:nvGraphicFramePr>
          <p:cNvPr id="8" name="Object 7"/>
          <p:cNvGraphicFramePr>
            <a:graphicFrameLocks noChangeAspect="1"/>
          </p:cNvGraphicFramePr>
          <p:nvPr/>
        </p:nvGraphicFramePr>
        <p:xfrm>
          <a:off x="1689498" y="2525316"/>
          <a:ext cx="2882503" cy="48458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435100" imgH="241300" progId="Equation.3">
                  <p:embed/>
                </p:oleObj>
              </mc:Choice>
              <mc:Fallback>
                <p:oleObj name="Equation" r:id="rId4" imgW="1435100" imgH="241300" progId="Equation.3">
                  <p:embed/>
                  <p:pic>
                    <p:nvPicPr>
                      <p:cNvPr id="8" name="Object 7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689498" y="2525316"/>
                        <a:ext cx="2882503" cy="48458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74118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199" y="274638"/>
            <a:ext cx="8583769" cy="1143000"/>
          </a:xfrm>
        </p:spPr>
        <p:txBody>
          <a:bodyPr>
            <a:normAutofit fontScale="90000"/>
          </a:bodyPr>
          <a:lstStyle/>
          <a:p>
            <a:r>
              <a:rPr kumimoji="1" lang="en-US" altLang="zh-CN" dirty="0"/>
              <a:t>Using negation trick to find the bit-pattern of a negative number</a:t>
            </a:r>
            <a:endParaRPr kumimoji="1" lang="zh-CN" alt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E1C400-4656-41DD-8F62-C4CEB83DAFA7}"/>
              </a:ext>
            </a:extLst>
          </p:cNvPr>
          <p:cNvGrpSpPr/>
          <p:nvPr/>
        </p:nvGrpSpPr>
        <p:grpSpPr>
          <a:xfrm>
            <a:off x="1950200" y="2963946"/>
            <a:ext cx="6249586" cy="709453"/>
            <a:chOff x="1697066" y="3977132"/>
            <a:chExt cx="8332781" cy="94593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639B3CE-819C-4606-A58C-5736DD8D758E}"/>
                </a:ext>
              </a:extLst>
            </p:cNvPr>
            <p:cNvSpPr txBox="1"/>
            <p:nvPr/>
          </p:nvSpPr>
          <p:spPr>
            <a:xfrm>
              <a:off x="2717761" y="4307516"/>
              <a:ext cx="7312086" cy="6155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The bit pattern of 8-bit signed integer -33?</a:t>
              </a:r>
            </a:p>
          </p:txBody>
        </p:sp>
        <p:pic>
          <p:nvPicPr>
            <p:cNvPr id="7" name="Picture 2" descr="Bang good Buzzer Alarm Push Button Lottery Trivia Quiz Game Red Light With  Sound - US$11.99-arrival notice">
              <a:extLst>
                <a:ext uri="{FF2B5EF4-FFF2-40B4-BE49-F238E27FC236}">
                  <a16:creationId xmlns:a16="http://schemas.microsoft.com/office/drawing/2014/main" id="{FD0A6C60-8247-42B6-B00E-2EE961FBC83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97066" y="3977132"/>
              <a:ext cx="941561" cy="9415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BF093EC-C6DB-7D48-A9FA-552E9318F088}"/>
              </a:ext>
            </a:extLst>
          </p:cNvPr>
          <p:cNvSpPr txBox="1"/>
          <p:nvPr/>
        </p:nvSpPr>
        <p:spPr>
          <a:xfrm>
            <a:off x="1950200" y="4154596"/>
            <a:ext cx="5598520" cy="10618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dirty="0">
                <a:solidFill>
                  <a:srgbClr val="FF0000"/>
                </a:solidFill>
              </a:rPr>
              <a:t>Answer: </a:t>
            </a:r>
          </a:p>
          <a:p>
            <a:r>
              <a:rPr lang="en-US" sz="2100" dirty="0"/>
              <a:t>33 = (00100001)</a:t>
            </a:r>
            <a:r>
              <a:rPr lang="en-US" sz="2100" baseline="-25000" dirty="0"/>
              <a:t>2</a:t>
            </a:r>
          </a:p>
          <a:p>
            <a:r>
              <a:rPr lang="en-US" sz="2100" dirty="0"/>
              <a:t>Apply negation trick: (11011110)</a:t>
            </a:r>
            <a:r>
              <a:rPr lang="en-US" sz="2100" baseline="-25000" dirty="0"/>
              <a:t>2</a:t>
            </a:r>
            <a:r>
              <a:rPr lang="en-US" sz="2100" dirty="0"/>
              <a:t>+1=(11011111)</a:t>
            </a:r>
            <a:r>
              <a:rPr lang="en-US" sz="2100" baseline="-250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563954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4E9DE5-21B2-8B73-0E62-01BCF8103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85AC29-F386-F880-4ACB-558F9AE8C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do computers subtract?</a:t>
            </a:r>
          </a:p>
        </p:txBody>
      </p:sp>
      <p:sp>
        <p:nvSpPr>
          <p:cNvPr id="4" name="矩形 2">
            <a:extLst>
              <a:ext uri="{FF2B5EF4-FFF2-40B4-BE49-F238E27FC236}">
                <a16:creationId xmlns:a16="http://schemas.microsoft.com/office/drawing/2014/main" id="{7033EE99-95A0-FEB7-4D66-02F13BB61FEC}"/>
              </a:ext>
            </a:extLst>
          </p:cNvPr>
          <p:cNvSpPr/>
          <p:nvPr/>
        </p:nvSpPr>
        <p:spPr>
          <a:xfrm>
            <a:off x="1743792" y="3136900"/>
            <a:ext cx="2559698" cy="53899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sz="2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0 0 0 0 0 1 0 1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zh-CN" sz="825" dirty="0">
              <a:latin typeface="Arial"/>
              <a:cs typeface="Arial"/>
            </a:endParaRPr>
          </a:p>
        </p:txBody>
      </p:sp>
      <p:sp>
        <p:nvSpPr>
          <p:cNvPr id="5" name="矩形 2">
            <a:extLst>
              <a:ext uri="{FF2B5EF4-FFF2-40B4-BE49-F238E27FC236}">
                <a16:creationId xmlns:a16="http://schemas.microsoft.com/office/drawing/2014/main" id="{47DC5AA1-ACD6-A086-8DCA-3DB13CE9C84D}"/>
              </a:ext>
            </a:extLst>
          </p:cNvPr>
          <p:cNvSpPr/>
          <p:nvPr/>
        </p:nvSpPr>
        <p:spPr>
          <a:xfrm>
            <a:off x="1743792" y="2514407"/>
            <a:ext cx="3004198" cy="53899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sz="2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0 0 0 0 0 1 0 1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zh-CN" sz="825" dirty="0">
              <a:latin typeface="Arial"/>
              <a:cs typeface="Arial"/>
            </a:endParaRP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4CD3A0C1-89D0-9192-B453-6300233ACF21}"/>
              </a:ext>
            </a:extLst>
          </p:cNvPr>
          <p:cNvSpPr txBox="1"/>
          <p:nvPr/>
        </p:nvSpPr>
        <p:spPr>
          <a:xfrm>
            <a:off x="1138086" y="3130679"/>
            <a:ext cx="3241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Verdana"/>
                <a:cs typeface="Verdana"/>
              </a:rPr>
              <a:t>-</a:t>
            </a:r>
          </a:p>
        </p:txBody>
      </p:sp>
      <p:cxnSp>
        <p:nvCxnSpPr>
          <p:cNvPr id="7" name="Straight Connector 8">
            <a:extLst>
              <a:ext uri="{FF2B5EF4-FFF2-40B4-BE49-F238E27FC236}">
                <a16:creationId xmlns:a16="http://schemas.microsoft.com/office/drawing/2014/main" id="{61BD14C7-96DA-2209-AFE4-69FB5A8D1C91}"/>
              </a:ext>
            </a:extLst>
          </p:cNvPr>
          <p:cNvCxnSpPr>
            <a:cxnSpLocks/>
          </p:cNvCxnSpPr>
          <p:nvPr/>
        </p:nvCxnSpPr>
        <p:spPr>
          <a:xfrm>
            <a:off x="1138086" y="3675894"/>
            <a:ext cx="303250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AAC445F5-494C-3FB7-807C-6E0B7C96F088}"/>
              </a:ext>
            </a:extLst>
          </p:cNvPr>
          <p:cNvSpPr txBox="1"/>
          <p:nvPr/>
        </p:nvSpPr>
        <p:spPr>
          <a:xfrm>
            <a:off x="1712451" y="3878876"/>
            <a:ext cx="37133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_ _ _ _ _ _ _ _</a:t>
            </a:r>
          </a:p>
        </p:txBody>
      </p:sp>
      <p:sp>
        <p:nvSpPr>
          <p:cNvPr id="11" name="Multiply 10">
            <a:extLst>
              <a:ext uri="{FF2B5EF4-FFF2-40B4-BE49-F238E27FC236}">
                <a16:creationId xmlns:a16="http://schemas.microsoft.com/office/drawing/2014/main" id="{4FF02788-7597-FCF5-5759-DC0BBA75F705}"/>
              </a:ext>
            </a:extLst>
          </p:cNvPr>
          <p:cNvSpPr/>
          <p:nvPr/>
        </p:nvSpPr>
        <p:spPr>
          <a:xfrm>
            <a:off x="2067919" y="2211394"/>
            <a:ext cx="1649096" cy="2855898"/>
          </a:xfrm>
          <a:prstGeom prst="mathMultiply">
            <a:avLst>
              <a:gd name="adj1" fmla="val 10503"/>
            </a:avLst>
          </a:prstGeom>
          <a:solidFill>
            <a:srgbClr val="FF0000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0000"/>
              </a:solidFill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3638AD4-F7E8-D2F9-59E3-2EBCB510CAAE}"/>
              </a:ext>
            </a:extLst>
          </p:cNvPr>
          <p:cNvGrpSpPr/>
          <p:nvPr/>
        </p:nvGrpSpPr>
        <p:grpSpPr>
          <a:xfrm>
            <a:off x="4526057" y="2508186"/>
            <a:ext cx="3609904" cy="2355940"/>
            <a:chOff x="5263776" y="2508186"/>
            <a:chExt cx="3609904" cy="2355940"/>
          </a:xfrm>
        </p:grpSpPr>
        <p:sp>
          <p:nvSpPr>
            <p:cNvPr id="13" name="矩形 2">
              <a:extLst>
                <a:ext uri="{FF2B5EF4-FFF2-40B4-BE49-F238E27FC236}">
                  <a16:creationId xmlns:a16="http://schemas.microsoft.com/office/drawing/2014/main" id="{53DA9626-0608-3A4A-FB92-FC267AE137C3}"/>
                </a:ext>
              </a:extLst>
            </p:cNvPr>
            <p:cNvSpPr/>
            <p:nvPr/>
          </p:nvSpPr>
          <p:spPr>
            <a:xfrm>
              <a:off x="5869482" y="2508186"/>
              <a:ext cx="3004198" cy="53899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90000"/>
                </a:lnSpc>
                <a:buFontTx/>
                <a:buNone/>
              </a:pPr>
              <a:r>
                <a:rPr lang="en-US" altLang="zh-CN" sz="2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</a:rPr>
                <a:t>0 0 0 0 0 1 0 1</a:t>
              </a:r>
            </a:p>
            <a:p>
              <a:pPr>
                <a:lnSpc>
                  <a:spcPct val="90000"/>
                </a:lnSpc>
                <a:buFontTx/>
                <a:buNone/>
              </a:pPr>
              <a:endParaRPr lang="en-US" altLang="zh-CN" sz="825" dirty="0">
                <a:latin typeface="Arial"/>
                <a:cs typeface="Arial"/>
              </a:endParaRPr>
            </a:p>
          </p:txBody>
        </p:sp>
        <p:sp>
          <p:nvSpPr>
            <p:cNvPr id="14" name="TextBox 6">
              <a:extLst>
                <a:ext uri="{FF2B5EF4-FFF2-40B4-BE49-F238E27FC236}">
                  <a16:creationId xmlns:a16="http://schemas.microsoft.com/office/drawing/2014/main" id="{D127B5A1-922E-910F-52A0-8ECE1EBF32AF}"/>
                </a:ext>
              </a:extLst>
            </p:cNvPr>
            <p:cNvSpPr txBox="1"/>
            <p:nvPr/>
          </p:nvSpPr>
          <p:spPr>
            <a:xfrm>
              <a:off x="5263776" y="3124458"/>
              <a:ext cx="32412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latin typeface="Verdana"/>
                  <a:cs typeface="Verdana"/>
                </a:rPr>
                <a:t>+</a:t>
              </a:r>
            </a:p>
          </p:txBody>
        </p:sp>
        <p:cxnSp>
          <p:nvCxnSpPr>
            <p:cNvPr id="15" name="Straight Connector 8">
              <a:extLst>
                <a:ext uri="{FF2B5EF4-FFF2-40B4-BE49-F238E27FC236}">
                  <a16:creationId xmlns:a16="http://schemas.microsoft.com/office/drawing/2014/main" id="{5A0C7BEB-127F-7FDA-42E7-8CA0165D8382}"/>
                </a:ext>
              </a:extLst>
            </p:cNvPr>
            <p:cNvCxnSpPr>
              <a:cxnSpLocks/>
            </p:cNvCxnSpPr>
            <p:nvPr/>
          </p:nvCxnSpPr>
          <p:spPr>
            <a:xfrm>
              <a:off x="5581132" y="4109708"/>
              <a:ext cx="303250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10CFD82-C71E-0A9D-2C76-B803FE330C03}"/>
                </a:ext>
              </a:extLst>
            </p:cNvPr>
            <p:cNvSpPr txBox="1"/>
            <p:nvPr/>
          </p:nvSpPr>
          <p:spPr>
            <a:xfrm>
              <a:off x="5869482" y="4402461"/>
              <a:ext cx="274415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latin typeface="Verdana" panose="020B0604030504040204" pitchFamily="34" charset="0"/>
                  <a:ea typeface="Verdana" panose="020B0604030504040204" pitchFamily="34" charset="0"/>
                  <a:cs typeface="Verdana" panose="020B0604030504040204" pitchFamily="34" charset="0"/>
                </a:rPr>
                <a:t>_ _ _ _ _ _ _ _</a:t>
              </a: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A4153B4E-611F-1F98-BC6C-A1E5536EBF95}"/>
              </a:ext>
            </a:extLst>
          </p:cNvPr>
          <p:cNvSpPr txBox="1"/>
          <p:nvPr/>
        </p:nvSpPr>
        <p:spPr>
          <a:xfrm>
            <a:off x="208404" y="2508186"/>
            <a:ext cx="4138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a: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71B2C7D-BBE6-D34C-3C41-8C8B8091A0A3}"/>
              </a:ext>
            </a:extLst>
          </p:cNvPr>
          <p:cNvSpPr txBox="1"/>
          <p:nvPr/>
        </p:nvSpPr>
        <p:spPr>
          <a:xfrm>
            <a:off x="229910" y="3119198"/>
            <a:ext cx="4283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A11156D-A0C4-AAB3-DCB2-891134CF9C84}"/>
              </a:ext>
            </a:extLst>
          </p:cNvPr>
          <p:cNvSpPr txBox="1"/>
          <p:nvPr/>
        </p:nvSpPr>
        <p:spPr>
          <a:xfrm>
            <a:off x="-32261" y="3894284"/>
            <a:ext cx="978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result:</a:t>
            </a:r>
          </a:p>
        </p:txBody>
      </p:sp>
      <p:sp>
        <p:nvSpPr>
          <p:cNvPr id="9" name="矩形 2">
            <a:extLst>
              <a:ext uri="{FF2B5EF4-FFF2-40B4-BE49-F238E27FC236}">
                <a16:creationId xmlns:a16="http://schemas.microsoft.com/office/drawing/2014/main" id="{47D64C88-7701-8DB9-A8BD-95648EA04D07}"/>
              </a:ext>
            </a:extLst>
          </p:cNvPr>
          <p:cNvSpPr/>
          <p:nvPr/>
        </p:nvSpPr>
        <p:spPr>
          <a:xfrm>
            <a:off x="5112532" y="3080533"/>
            <a:ext cx="2559698" cy="53899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sz="2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1 1 1 1 1 0 1 0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zh-CN" sz="825" dirty="0">
              <a:latin typeface="Arial"/>
              <a:cs typeface="Arial"/>
            </a:endParaRPr>
          </a:p>
        </p:txBody>
      </p:sp>
      <p:sp>
        <p:nvSpPr>
          <p:cNvPr id="20" name="矩形 2">
            <a:extLst>
              <a:ext uri="{FF2B5EF4-FFF2-40B4-BE49-F238E27FC236}">
                <a16:creationId xmlns:a16="http://schemas.microsoft.com/office/drawing/2014/main" id="{1BEDC052-E5AA-9D6A-52FE-99DC49CB61E1}"/>
              </a:ext>
            </a:extLst>
          </p:cNvPr>
          <p:cNvSpPr/>
          <p:nvPr/>
        </p:nvSpPr>
        <p:spPr>
          <a:xfrm>
            <a:off x="5131763" y="3649712"/>
            <a:ext cx="3004198" cy="53899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en-US" altLang="zh-CN" sz="24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0 0 0 0 0 0 0 1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zh-CN" sz="825" dirty="0">
              <a:latin typeface="Arial"/>
              <a:cs typeface="Arial"/>
            </a:endParaRPr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3057A7C9-6251-AF16-0AD0-7320C2BE90A0}"/>
              </a:ext>
            </a:extLst>
          </p:cNvPr>
          <p:cNvSpPr/>
          <p:nvPr/>
        </p:nvSpPr>
        <p:spPr>
          <a:xfrm>
            <a:off x="6662265" y="2891771"/>
            <a:ext cx="1054100" cy="194908"/>
          </a:xfrm>
          <a:custGeom>
            <a:avLst/>
            <a:gdLst>
              <a:gd name="csX0" fmla="*/ 1054100 w 1054100"/>
              <a:gd name="csY0" fmla="*/ 17108 h 194908"/>
              <a:gd name="csX1" fmla="*/ 254000 w 1054100"/>
              <a:gd name="csY1" fmla="*/ 17108 h 194908"/>
              <a:gd name="csX2" fmla="*/ 0 w 1054100"/>
              <a:gd name="csY2" fmla="*/ 194908 h 19490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54100" h="194908">
                <a:moveTo>
                  <a:pt x="1054100" y="17108"/>
                </a:moveTo>
                <a:cubicBezTo>
                  <a:pt x="741891" y="2291"/>
                  <a:pt x="429683" y="-12525"/>
                  <a:pt x="254000" y="17108"/>
                </a:cubicBezTo>
                <a:cubicBezTo>
                  <a:pt x="78317" y="46741"/>
                  <a:pt x="39158" y="120824"/>
                  <a:pt x="0" y="194908"/>
                </a:cubicBezTo>
              </a:path>
            </a:pathLst>
          </a:custGeom>
          <a:ln>
            <a:tailEnd type="stealth" w="lg" len="lg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4C3000C-B55D-CE54-6036-4EC815BF9405}"/>
              </a:ext>
            </a:extLst>
          </p:cNvPr>
          <p:cNvSpPr txBox="1"/>
          <p:nvPr/>
        </p:nvSpPr>
        <p:spPr>
          <a:xfrm>
            <a:off x="7716365" y="2722313"/>
            <a:ext cx="14478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~b (flipped b)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C89BED7-8895-70FC-A8ED-8BB4CF9BF3FA}"/>
              </a:ext>
            </a:extLst>
          </p:cNvPr>
          <p:cNvSpPr txBox="1"/>
          <p:nvPr/>
        </p:nvSpPr>
        <p:spPr>
          <a:xfrm>
            <a:off x="1101512" y="5608611"/>
            <a:ext cx="72975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Works for both unsigned and signed subtraction!</a:t>
            </a:r>
          </a:p>
        </p:txBody>
      </p:sp>
    </p:spTree>
    <p:extLst>
      <p:ext uri="{BB962C8B-B14F-4D97-AF65-F5344CB8AC3E}">
        <p14:creationId xmlns:p14="http://schemas.microsoft.com/office/powerpoint/2010/main" val="3928288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2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556D2D-1850-5A57-7CFC-E9EAEC466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How do computers add and subtract?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350047-6B7D-6589-2F43-429EA613D8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854200"/>
            <a:ext cx="8597900" cy="452596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Same h/w mechanism for signed or unsigned integers</a:t>
            </a:r>
          </a:p>
          <a:p>
            <a:r>
              <a:rPr lang="en-US" dirty="0"/>
              <a:t>Subtracting is done by adding negated b</a:t>
            </a:r>
          </a:p>
          <a:p>
            <a:r>
              <a:rPr lang="en-US" dirty="0"/>
              <a:t>Different overflow conditions for unsigned/signed</a:t>
            </a:r>
          </a:p>
          <a:p>
            <a:pPr lvl="1"/>
            <a:r>
              <a:rPr lang="en-US" dirty="0"/>
              <a:t>Unsigned: </a:t>
            </a:r>
          </a:p>
          <a:p>
            <a:pPr lvl="2"/>
            <a:r>
              <a:rPr lang="en-US" dirty="0"/>
              <a:t>Add: carry out of </a:t>
            </a:r>
            <a:r>
              <a:rPr lang="en-US" dirty="0" err="1"/>
              <a:t>msb</a:t>
            </a:r>
            <a:endParaRPr lang="en-US" dirty="0"/>
          </a:p>
          <a:p>
            <a:pPr lvl="2"/>
            <a:r>
              <a:rPr lang="en-US" dirty="0"/>
              <a:t>Subtract: no carry out of </a:t>
            </a:r>
            <a:r>
              <a:rPr lang="en-US" dirty="0" err="1"/>
              <a:t>msb</a:t>
            </a:r>
            <a:r>
              <a:rPr lang="en-US" dirty="0"/>
              <a:t> (aka borrow out of </a:t>
            </a:r>
            <a:r>
              <a:rPr lang="en-US" dirty="0" err="1"/>
              <a:t>msb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Signed:</a:t>
            </a:r>
          </a:p>
          <a:p>
            <a:pPr lvl="2"/>
            <a:r>
              <a:rPr lang="en-US" dirty="0"/>
              <a:t>Add: operands have same signs, result has opposite sign</a:t>
            </a:r>
          </a:p>
          <a:p>
            <a:pPr lvl="2"/>
            <a:r>
              <a:rPr lang="en-US" dirty="0"/>
              <a:t>Subtract: operands have different signs, result has opposite sign from a.</a:t>
            </a:r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950164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011A438D-7DEF-2FAD-F103-C91C37B572DF}"/>
              </a:ext>
            </a:extLst>
          </p:cNvPr>
          <p:cNvSpPr/>
          <p:nvPr/>
        </p:nvSpPr>
        <p:spPr>
          <a:xfrm>
            <a:off x="3850494" y="3657600"/>
            <a:ext cx="4836305" cy="3200400"/>
          </a:xfrm>
          <a:prstGeom prst="rect">
            <a:avLst/>
          </a:prstGeom>
          <a:solidFill>
            <a:srgbClr val="FF9CF6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F25676-9D53-4230-B70A-EEB0F22A1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6880" y="274638"/>
            <a:ext cx="6929919" cy="1143000"/>
          </a:xfrm>
        </p:spPr>
        <p:txBody>
          <a:bodyPr>
            <a:normAutofit/>
          </a:bodyPr>
          <a:lstStyle/>
          <a:p>
            <a:r>
              <a:rPr lang="en-US" dirty="0"/>
              <a:t>Unsigned addition</a:t>
            </a:r>
          </a:p>
        </p:txBody>
      </p:sp>
      <p:pic>
        <p:nvPicPr>
          <p:cNvPr id="12" name="图片 10">
            <a:extLst>
              <a:ext uri="{FF2B5EF4-FFF2-40B4-BE49-F238E27FC236}">
                <a16:creationId xmlns:a16="http://schemas.microsoft.com/office/drawing/2014/main" id="{FDFA2FD5-FFA1-44F7-8B70-889437DF7C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397" y="354806"/>
            <a:ext cx="775784" cy="79901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4BEAEE3-72EF-4A41-9D7E-36D4940C70B8}"/>
              </a:ext>
            </a:extLst>
          </p:cNvPr>
          <p:cNvSpPr txBox="1"/>
          <p:nvPr/>
        </p:nvSpPr>
        <p:spPr>
          <a:xfrm>
            <a:off x="762358" y="485589"/>
            <a:ext cx="29607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/>
              <a:t>🤔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24828D4D-1BAE-4282-94D5-30D337575B88}"/>
              </a:ext>
            </a:extLst>
          </p:cNvPr>
          <p:cNvGrpSpPr/>
          <p:nvPr/>
        </p:nvGrpSpPr>
        <p:grpSpPr>
          <a:xfrm>
            <a:off x="624397" y="1470328"/>
            <a:ext cx="3038142" cy="960968"/>
            <a:chOff x="-50944" y="3310806"/>
            <a:chExt cx="3038142" cy="960968"/>
          </a:xfrm>
        </p:grpSpPr>
        <p:sp>
          <p:nvSpPr>
            <p:cNvPr id="4" name="Rectangle 4">
              <a:extLst>
                <a:ext uri="{FF2B5EF4-FFF2-40B4-BE49-F238E27FC236}">
                  <a16:creationId xmlns:a16="http://schemas.microsoft.com/office/drawing/2014/main" id="{C9EFC118-8F86-4DD7-AE77-F6D17236C2EB}"/>
                </a:ext>
              </a:extLst>
            </p:cNvPr>
            <p:cNvSpPr/>
            <p:nvPr/>
          </p:nvSpPr>
          <p:spPr>
            <a:xfrm>
              <a:off x="281081" y="3391104"/>
              <a:ext cx="2137244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0 0 0 0 0 0 0 1</a:t>
              </a:r>
            </a:p>
          </p:txBody>
        </p:sp>
        <p:sp>
          <p:nvSpPr>
            <p:cNvPr id="5" name="Rectangle 5">
              <a:extLst>
                <a:ext uri="{FF2B5EF4-FFF2-40B4-BE49-F238E27FC236}">
                  <a16:creationId xmlns:a16="http://schemas.microsoft.com/office/drawing/2014/main" id="{4121829A-DA7A-45E1-93C8-1DE1721DA781}"/>
                </a:ext>
              </a:extLst>
            </p:cNvPr>
            <p:cNvSpPr/>
            <p:nvPr/>
          </p:nvSpPr>
          <p:spPr>
            <a:xfrm>
              <a:off x="168999" y="3791215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0 0 0 0 0 0 1 1 </a:t>
              </a: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B70DD393-3404-454E-AD08-3EDD5B4BD261}"/>
                </a:ext>
              </a:extLst>
            </p:cNvPr>
            <p:cNvSpPr txBox="1"/>
            <p:nvPr/>
          </p:nvSpPr>
          <p:spPr>
            <a:xfrm>
              <a:off x="-50944" y="3721956"/>
              <a:ext cx="457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600" dirty="0">
                  <a:latin typeface="Verdana"/>
                  <a:cs typeface="Verdana"/>
                </a:rPr>
                <a:t>+</a:t>
              </a:r>
            </a:p>
          </p:txBody>
        </p:sp>
        <p:cxnSp>
          <p:nvCxnSpPr>
            <p:cNvPr id="7" name="Straight Connector 8">
              <a:extLst>
                <a:ext uri="{FF2B5EF4-FFF2-40B4-BE49-F238E27FC236}">
                  <a16:creationId xmlns:a16="http://schemas.microsoft.com/office/drawing/2014/main" id="{AB49439F-65FF-4FD3-A10C-A9696BD25008}"/>
                </a:ext>
              </a:extLst>
            </p:cNvPr>
            <p:cNvCxnSpPr>
              <a:cxnSpLocks/>
            </p:cNvCxnSpPr>
            <p:nvPr/>
          </p:nvCxnSpPr>
          <p:spPr>
            <a:xfrm>
              <a:off x="179952" y="4271774"/>
              <a:ext cx="264559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95831B9-3A8C-428C-9D94-5DC0845C56D8}"/>
                </a:ext>
              </a:extLst>
            </p:cNvPr>
            <p:cNvSpPr txBox="1"/>
            <p:nvPr/>
          </p:nvSpPr>
          <p:spPr>
            <a:xfrm>
              <a:off x="2275951" y="3310806"/>
              <a:ext cx="599844" cy="880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(1)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  <a:endParaRPr lang="en-US" dirty="0">
                <a:solidFill>
                  <a:schemeClr val="accent1"/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(3)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1FBC9AB-5B4C-4158-8509-A1CBCD59359F}"/>
              </a:ext>
            </a:extLst>
          </p:cNvPr>
          <p:cNvGrpSpPr/>
          <p:nvPr/>
        </p:nvGrpSpPr>
        <p:grpSpPr>
          <a:xfrm>
            <a:off x="4140427" y="1461480"/>
            <a:ext cx="3149087" cy="956312"/>
            <a:chOff x="2870575" y="3311987"/>
            <a:chExt cx="3149087" cy="956312"/>
          </a:xfrm>
        </p:grpSpPr>
        <p:sp>
          <p:nvSpPr>
            <p:cNvPr id="19" name="Rectangle 4">
              <a:extLst>
                <a:ext uri="{FF2B5EF4-FFF2-40B4-BE49-F238E27FC236}">
                  <a16:creationId xmlns:a16="http://schemas.microsoft.com/office/drawing/2014/main" id="{7AEF195B-0084-4156-96AA-1F37551112F7}"/>
                </a:ext>
              </a:extLst>
            </p:cNvPr>
            <p:cNvSpPr/>
            <p:nvPr/>
          </p:nvSpPr>
          <p:spPr>
            <a:xfrm>
              <a:off x="3195989" y="3392285"/>
              <a:ext cx="2137244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0 0 0 0 0 0 0 1</a:t>
              </a:r>
            </a:p>
          </p:txBody>
        </p:sp>
        <p:sp>
          <p:nvSpPr>
            <p:cNvPr id="20" name="Rectangle 5">
              <a:extLst>
                <a:ext uri="{FF2B5EF4-FFF2-40B4-BE49-F238E27FC236}">
                  <a16:creationId xmlns:a16="http://schemas.microsoft.com/office/drawing/2014/main" id="{4D3C6B0C-B973-46DD-A5EC-A8A5644FC0FF}"/>
                </a:ext>
              </a:extLst>
            </p:cNvPr>
            <p:cNvSpPr/>
            <p:nvPr/>
          </p:nvSpPr>
          <p:spPr>
            <a:xfrm>
              <a:off x="3083907" y="3792396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1 0 0 0 0 0 0 1 </a:t>
              </a:r>
            </a:p>
          </p:txBody>
        </p:sp>
        <p:sp>
          <p:nvSpPr>
            <p:cNvPr id="21" name="TextBox 6">
              <a:extLst>
                <a:ext uri="{FF2B5EF4-FFF2-40B4-BE49-F238E27FC236}">
                  <a16:creationId xmlns:a16="http://schemas.microsoft.com/office/drawing/2014/main" id="{7C8F95D0-3626-4D41-9104-82519F33AA77}"/>
                </a:ext>
              </a:extLst>
            </p:cNvPr>
            <p:cNvSpPr txBox="1"/>
            <p:nvPr/>
          </p:nvSpPr>
          <p:spPr>
            <a:xfrm>
              <a:off x="2870575" y="3728880"/>
              <a:ext cx="457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600" dirty="0">
                  <a:latin typeface="Verdana"/>
                  <a:cs typeface="Verdana"/>
                </a:rPr>
                <a:t>+</a:t>
              </a:r>
            </a:p>
          </p:txBody>
        </p:sp>
        <p:cxnSp>
          <p:nvCxnSpPr>
            <p:cNvPr id="22" name="Straight Connector 8">
              <a:extLst>
                <a:ext uri="{FF2B5EF4-FFF2-40B4-BE49-F238E27FC236}">
                  <a16:creationId xmlns:a16="http://schemas.microsoft.com/office/drawing/2014/main" id="{79555BF1-3517-4E26-A4A2-8CF0177E4FD3}"/>
                </a:ext>
              </a:extLst>
            </p:cNvPr>
            <p:cNvCxnSpPr>
              <a:cxnSpLocks/>
            </p:cNvCxnSpPr>
            <p:nvPr/>
          </p:nvCxnSpPr>
          <p:spPr>
            <a:xfrm>
              <a:off x="3037852" y="4268299"/>
              <a:ext cx="264559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BF08002-8FD7-4714-8191-30F0148AD3A5}"/>
                </a:ext>
              </a:extLst>
            </p:cNvPr>
            <p:cNvSpPr txBox="1"/>
            <p:nvPr/>
          </p:nvSpPr>
          <p:spPr>
            <a:xfrm>
              <a:off x="5185779" y="3311987"/>
              <a:ext cx="833883" cy="880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(1)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  <a:endParaRPr lang="en-US" dirty="0">
                <a:solidFill>
                  <a:schemeClr val="accent1"/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(129)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8D48EFB0-A87C-4A5C-901B-2C89FE93C712}"/>
              </a:ext>
            </a:extLst>
          </p:cNvPr>
          <p:cNvGrpSpPr/>
          <p:nvPr/>
        </p:nvGrpSpPr>
        <p:grpSpPr>
          <a:xfrm>
            <a:off x="611502" y="4104885"/>
            <a:ext cx="3018834" cy="960968"/>
            <a:chOff x="5990198" y="3310806"/>
            <a:chExt cx="3018834" cy="960968"/>
          </a:xfrm>
        </p:grpSpPr>
        <p:sp>
          <p:nvSpPr>
            <p:cNvPr id="27" name="Rectangle 4">
              <a:extLst>
                <a:ext uri="{FF2B5EF4-FFF2-40B4-BE49-F238E27FC236}">
                  <a16:creationId xmlns:a16="http://schemas.microsoft.com/office/drawing/2014/main" id="{C5F11EB6-32B8-48FF-9A1A-C35CF5B8C8E1}"/>
                </a:ext>
              </a:extLst>
            </p:cNvPr>
            <p:cNvSpPr/>
            <p:nvPr/>
          </p:nvSpPr>
          <p:spPr>
            <a:xfrm>
              <a:off x="6302379" y="3391104"/>
              <a:ext cx="2137244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0 1 0 0 0 0 0 1</a:t>
              </a:r>
            </a:p>
          </p:txBody>
        </p:sp>
        <p:sp>
          <p:nvSpPr>
            <p:cNvPr id="28" name="Rectangle 5">
              <a:extLst>
                <a:ext uri="{FF2B5EF4-FFF2-40B4-BE49-F238E27FC236}">
                  <a16:creationId xmlns:a16="http://schemas.microsoft.com/office/drawing/2014/main" id="{FF1BE6B7-7EFD-4CA2-93E3-AF03868A93C0}"/>
                </a:ext>
              </a:extLst>
            </p:cNvPr>
            <p:cNvSpPr/>
            <p:nvPr/>
          </p:nvSpPr>
          <p:spPr>
            <a:xfrm>
              <a:off x="6190297" y="3791215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0 1 0 0 0 0 0 0 </a:t>
              </a:r>
            </a:p>
          </p:txBody>
        </p:sp>
        <p:sp>
          <p:nvSpPr>
            <p:cNvPr id="29" name="TextBox 6">
              <a:extLst>
                <a:ext uri="{FF2B5EF4-FFF2-40B4-BE49-F238E27FC236}">
                  <a16:creationId xmlns:a16="http://schemas.microsoft.com/office/drawing/2014/main" id="{F95F7C08-09C1-467D-A516-2FD7C9B6CBD9}"/>
                </a:ext>
              </a:extLst>
            </p:cNvPr>
            <p:cNvSpPr txBox="1"/>
            <p:nvPr/>
          </p:nvSpPr>
          <p:spPr>
            <a:xfrm>
              <a:off x="5990198" y="3752732"/>
              <a:ext cx="457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600" dirty="0">
                  <a:latin typeface="Verdana"/>
                  <a:cs typeface="Verdana"/>
                </a:rPr>
                <a:t>+</a:t>
              </a:r>
            </a:p>
          </p:txBody>
        </p:sp>
        <p:cxnSp>
          <p:nvCxnSpPr>
            <p:cNvPr id="30" name="Straight Connector 8">
              <a:extLst>
                <a:ext uri="{FF2B5EF4-FFF2-40B4-BE49-F238E27FC236}">
                  <a16:creationId xmlns:a16="http://schemas.microsoft.com/office/drawing/2014/main" id="{9E2B4CA5-BABD-4BCF-B439-31046071096F}"/>
                </a:ext>
              </a:extLst>
            </p:cNvPr>
            <p:cNvCxnSpPr>
              <a:cxnSpLocks/>
            </p:cNvCxnSpPr>
            <p:nvPr/>
          </p:nvCxnSpPr>
          <p:spPr>
            <a:xfrm>
              <a:off x="6222659" y="4271774"/>
              <a:ext cx="264559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8E12B2F1-EDAF-4821-B2CF-F069800E202F}"/>
                </a:ext>
              </a:extLst>
            </p:cNvPr>
            <p:cNvSpPr txBox="1"/>
            <p:nvPr/>
          </p:nvSpPr>
          <p:spPr>
            <a:xfrm>
              <a:off x="8292169" y="3310806"/>
              <a:ext cx="716863" cy="880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(65)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  <a:endParaRPr lang="en-US" dirty="0">
                <a:solidFill>
                  <a:schemeClr val="accent1"/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(64)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E5D1E46-AF8F-4387-9E26-9B3553674131}"/>
              </a:ext>
            </a:extLst>
          </p:cNvPr>
          <p:cNvGrpSpPr/>
          <p:nvPr/>
        </p:nvGrpSpPr>
        <p:grpSpPr>
          <a:xfrm>
            <a:off x="818879" y="5527123"/>
            <a:ext cx="2917906" cy="488091"/>
            <a:chOff x="818879" y="5527123"/>
            <a:chExt cx="2917906" cy="488091"/>
          </a:xfrm>
        </p:grpSpPr>
        <p:sp>
          <p:nvSpPr>
            <p:cNvPr id="31" name="Rectangle 5">
              <a:extLst>
                <a:ext uri="{FF2B5EF4-FFF2-40B4-BE49-F238E27FC236}">
                  <a16:creationId xmlns:a16="http://schemas.microsoft.com/office/drawing/2014/main" id="{B775CE30-19BD-4F0F-BE43-F47507848578}"/>
                </a:ext>
              </a:extLst>
            </p:cNvPr>
            <p:cNvSpPr/>
            <p:nvPr/>
          </p:nvSpPr>
          <p:spPr>
            <a:xfrm>
              <a:off x="818879" y="5615104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1 0 0 0 0 0 0 1 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3B91437-092A-49E0-933D-20C7AF475C86}"/>
                </a:ext>
              </a:extLst>
            </p:cNvPr>
            <p:cNvSpPr txBox="1"/>
            <p:nvPr/>
          </p:nvSpPr>
          <p:spPr>
            <a:xfrm>
              <a:off x="2902902" y="5527123"/>
              <a:ext cx="833883" cy="4648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(129)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F67FCC31-2D8C-4CCF-9E1D-10A75A773D48}"/>
              </a:ext>
            </a:extLst>
          </p:cNvPr>
          <p:cNvGrpSpPr/>
          <p:nvPr/>
        </p:nvGrpSpPr>
        <p:grpSpPr>
          <a:xfrm>
            <a:off x="6558685" y="6020663"/>
            <a:ext cx="876667" cy="735030"/>
            <a:chOff x="7067881" y="5382271"/>
            <a:chExt cx="1119281" cy="1047835"/>
          </a:xfrm>
        </p:grpSpPr>
        <p:pic>
          <p:nvPicPr>
            <p:cNvPr id="40" name="Picture 2" descr="Image of horror emoji">
              <a:hlinkClick r:id="rId4"/>
              <a:extLst>
                <a:ext uri="{FF2B5EF4-FFF2-40B4-BE49-F238E27FC236}">
                  <a16:creationId xmlns:a16="http://schemas.microsoft.com/office/drawing/2014/main" id="{30E411E0-D3EF-4928-8D35-4FBFD14F72D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17596" y="5382271"/>
              <a:ext cx="819852" cy="8198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1A51C657-62B3-4764-9CFB-558529BCFE38}"/>
                </a:ext>
              </a:extLst>
            </p:cNvPr>
            <p:cNvSpPr txBox="1"/>
            <p:nvPr/>
          </p:nvSpPr>
          <p:spPr>
            <a:xfrm>
              <a:off x="7067881" y="6060774"/>
              <a:ext cx="11192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Overflow!</a:t>
              </a: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7501AC26-8A5E-4F39-817A-402CE0BA6525}"/>
              </a:ext>
            </a:extLst>
          </p:cNvPr>
          <p:cNvGrpSpPr/>
          <p:nvPr/>
        </p:nvGrpSpPr>
        <p:grpSpPr>
          <a:xfrm>
            <a:off x="4255484" y="4066108"/>
            <a:ext cx="3135854" cy="960968"/>
            <a:chOff x="5990198" y="3310806"/>
            <a:chExt cx="3135854" cy="960968"/>
          </a:xfrm>
        </p:grpSpPr>
        <p:sp>
          <p:nvSpPr>
            <p:cNvPr id="51" name="Rectangle 4">
              <a:extLst>
                <a:ext uri="{FF2B5EF4-FFF2-40B4-BE49-F238E27FC236}">
                  <a16:creationId xmlns:a16="http://schemas.microsoft.com/office/drawing/2014/main" id="{A94444CF-7E5A-40E4-872C-41014EB828D2}"/>
                </a:ext>
              </a:extLst>
            </p:cNvPr>
            <p:cNvSpPr/>
            <p:nvPr/>
          </p:nvSpPr>
          <p:spPr>
            <a:xfrm>
              <a:off x="6302379" y="3391104"/>
              <a:ext cx="2137244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1 0 0 0 0 0 0 1</a:t>
              </a:r>
            </a:p>
          </p:txBody>
        </p:sp>
        <p:sp>
          <p:nvSpPr>
            <p:cNvPr id="52" name="Rectangle 5">
              <a:extLst>
                <a:ext uri="{FF2B5EF4-FFF2-40B4-BE49-F238E27FC236}">
                  <a16:creationId xmlns:a16="http://schemas.microsoft.com/office/drawing/2014/main" id="{D0F9892C-FE4D-4295-AAA2-8E3F8328C12E}"/>
                </a:ext>
              </a:extLst>
            </p:cNvPr>
            <p:cNvSpPr/>
            <p:nvPr/>
          </p:nvSpPr>
          <p:spPr>
            <a:xfrm>
              <a:off x="6190297" y="3791215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1 1 1 1 1 1 1 0 </a:t>
              </a:r>
            </a:p>
          </p:txBody>
        </p:sp>
        <p:sp>
          <p:nvSpPr>
            <p:cNvPr id="53" name="TextBox 6">
              <a:extLst>
                <a:ext uri="{FF2B5EF4-FFF2-40B4-BE49-F238E27FC236}">
                  <a16:creationId xmlns:a16="http://schemas.microsoft.com/office/drawing/2014/main" id="{1B093670-4BE5-4BCC-8568-73E2918C87FE}"/>
                </a:ext>
              </a:extLst>
            </p:cNvPr>
            <p:cNvSpPr txBox="1"/>
            <p:nvPr/>
          </p:nvSpPr>
          <p:spPr>
            <a:xfrm>
              <a:off x="5990198" y="3752732"/>
              <a:ext cx="457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600" dirty="0">
                  <a:latin typeface="Verdana"/>
                  <a:cs typeface="Verdana"/>
                </a:rPr>
                <a:t>+</a:t>
              </a:r>
            </a:p>
          </p:txBody>
        </p:sp>
        <p:cxnSp>
          <p:nvCxnSpPr>
            <p:cNvPr id="54" name="Straight Connector 8">
              <a:extLst>
                <a:ext uri="{FF2B5EF4-FFF2-40B4-BE49-F238E27FC236}">
                  <a16:creationId xmlns:a16="http://schemas.microsoft.com/office/drawing/2014/main" id="{41B2E87F-05B8-414A-BE19-5B954354BEC4}"/>
                </a:ext>
              </a:extLst>
            </p:cNvPr>
            <p:cNvCxnSpPr>
              <a:cxnSpLocks/>
            </p:cNvCxnSpPr>
            <p:nvPr/>
          </p:nvCxnSpPr>
          <p:spPr>
            <a:xfrm>
              <a:off x="6222659" y="4271774"/>
              <a:ext cx="264559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7B769564-73BB-4EE9-B434-7DA5D36A21CD}"/>
                </a:ext>
              </a:extLst>
            </p:cNvPr>
            <p:cNvSpPr txBox="1"/>
            <p:nvPr/>
          </p:nvSpPr>
          <p:spPr>
            <a:xfrm>
              <a:off x="8292169" y="3310806"/>
              <a:ext cx="833883" cy="880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(129)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  <a:endParaRPr lang="en-US" dirty="0">
                <a:solidFill>
                  <a:schemeClr val="accent1"/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(254)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A6F70918-C35B-46F9-93EC-2CF3482C7B79}"/>
              </a:ext>
            </a:extLst>
          </p:cNvPr>
          <p:cNvGrpSpPr/>
          <p:nvPr/>
        </p:nvGrpSpPr>
        <p:grpSpPr>
          <a:xfrm>
            <a:off x="4462861" y="5453860"/>
            <a:ext cx="3052238" cy="522577"/>
            <a:chOff x="4005651" y="5453860"/>
            <a:chExt cx="3052238" cy="522577"/>
          </a:xfrm>
        </p:grpSpPr>
        <p:sp>
          <p:nvSpPr>
            <p:cNvPr id="49" name="Rectangle 5">
              <a:extLst>
                <a:ext uri="{FF2B5EF4-FFF2-40B4-BE49-F238E27FC236}">
                  <a16:creationId xmlns:a16="http://schemas.microsoft.com/office/drawing/2014/main" id="{D9B26596-68A9-4F5F-8ADD-49A8ED66853C}"/>
                </a:ext>
              </a:extLst>
            </p:cNvPr>
            <p:cNvSpPr/>
            <p:nvPr/>
          </p:nvSpPr>
          <p:spPr>
            <a:xfrm>
              <a:off x="4005651" y="5576327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0 1 1 1 1 1 1 1 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D87E3199-BF6C-4332-9B9C-70CA4AD254C5}"/>
                </a:ext>
              </a:extLst>
            </p:cNvPr>
            <p:cNvSpPr txBox="1"/>
            <p:nvPr/>
          </p:nvSpPr>
          <p:spPr>
            <a:xfrm>
              <a:off x="6224006" y="5453860"/>
              <a:ext cx="833883" cy="4648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b="1" dirty="0">
                  <a:solidFill>
                    <a:srgbClr val="FF0000"/>
                  </a:solidFill>
                </a:rPr>
                <a:t>(127)</a:t>
              </a:r>
              <a:r>
                <a:rPr lang="en-US" b="1" baseline="-25000" dirty="0">
                  <a:solidFill>
                    <a:srgbClr val="FF0000"/>
                  </a:solidFill>
                </a:rPr>
                <a:t>10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04AB0E81-DCDD-409F-B707-12393C91DF7A}"/>
              </a:ext>
            </a:extLst>
          </p:cNvPr>
          <p:cNvGrpSpPr/>
          <p:nvPr/>
        </p:nvGrpSpPr>
        <p:grpSpPr>
          <a:xfrm>
            <a:off x="844339" y="2956123"/>
            <a:ext cx="2818199" cy="471798"/>
            <a:chOff x="844339" y="2956123"/>
            <a:chExt cx="2818199" cy="471798"/>
          </a:xfrm>
        </p:grpSpPr>
        <p:sp>
          <p:nvSpPr>
            <p:cNvPr id="18" name="Rectangle 5">
              <a:extLst>
                <a:ext uri="{FF2B5EF4-FFF2-40B4-BE49-F238E27FC236}">
                  <a16:creationId xmlns:a16="http://schemas.microsoft.com/office/drawing/2014/main" id="{F3ADEDE1-8B69-471D-814C-C8C229B890FA}"/>
                </a:ext>
              </a:extLst>
            </p:cNvPr>
            <p:cNvSpPr/>
            <p:nvPr/>
          </p:nvSpPr>
          <p:spPr>
            <a:xfrm>
              <a:off x="844339" y="3027811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0 0 0 0 0 1 0 0 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5C2D3DF9-A350-4D55-9CBE-DAA7F68D2655}"/>
                </a:ext>
              </a:extLst>
            </p:cNvPr>
            <p:cNvSpPr txBox="1"/>
            <p:nvPr/>
          </p:nvSpPr>
          <p:spPr>
            <a:xfrm>
              <a:off x="2951292" y="2956123"/>
              <a:ext cx="599844" cy="4648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(4)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55C3B14E-7D5E-41B9-A1B0-8FFE58E2EABE}"/>
              </a:ext>
            </a:extLst>
          </p:cNvPr>
          <p:cNvGrpSpPr/>
          <p:nvPr/>
        </p:nvGrpSpPr>
        <p:grpSpPr>
          <a:xfrm>
            <a:off x="4353758" y="2902878"/>
            <a:ext cx="2894456" cy="515014"/>
            <a:chOff x="3896548" y="2902878"/>
            <a:chExt cx="2894456" cy="515014"/>
          </a:xfrm>
        </p:grpSpPr>
        <p:sp>
          <p:nvSpPr>
            <p:cNvPr id="23" name="Rectangle 5">
              <a:extLst>
                <a:ext uri="{FF2B5EF4-FFF2-40B4-BE49-F238E27FC236}">
                  <a16:creationId xmlns:a16="http://schemas.microsoft.com/office/drawing/2014/main" id="{1682F40F-03EF-44A5-BC1C-743315DD8BCF}"/>
                </a:ext>
              </a:extLst>
            </p:cNvPr>
            <p:cNvSpPr/>
            <p:nvPr/>
          </p:nvSpPr>
          <p:spPr>
            <a:xfrm>
              <a:off x="3896548" y="3017782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1 0 0 0 0 0 1 0 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12D56718-BF23-4361-AD4E-020CEDD4BA83}"/>
                </a:ext>
              </a:extLst>
            </p:cNvPr>
            <p:cNvSpPr txBox="1"/>
            <p:nvPr/>
          </p:nvSpPr>
          <p:spPr>
            <a:xfrm>
              <a:off x="5957121" y="2902878"/>
              <a:ext cx="833883" cy="4648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(130)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F47B6520-A6E5-4452-83B4-D22289DADC8E}"/>
              </a:ext>
            </a:extLst>
          </p:cNvPr>
          <p:cNvCxnSpPr/>
          <p:nvPr/>
        </p:nvCxnSpPr>
        <p:spPr>
          <a:xfrm>
            <a:off x="0" y="3657600"/>
            <a:ext cx="9144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469D6D0-2D45-3CE1-9B82-902B45968DA8}"/>
              </a:ext>
            </a:extLst>
          </p:cNvPr>
          <p:cNvCxnSpPr>
            <a:cxnSpLocks/>
          </p:cNvCxnSpPr>
          <p:nvPr/>
        </p:nvCxnSpPr>
        <p:spPr>
          <a:xfrm>
            <a:off x="3798274" y="1153817"/>
            <a:ext cx="52220" cy="5123891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0492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1FACE1B4-0534-37A2-C3D4-55E0605C1140}"/>
              </a:ext>
            </a:extLst>
          </p:cNvPr>
          <p:cNvSpPr/>
          <p:nvPr/>
        </p:nvSpPr>
        <p:spPr>
          <a:xfrm>
            <a:off x="3850494" y="3657600"/>
            <a:ext cx="4836305" cy="3200400"/>
          </a:xfrm>
          <a:prstGeom prst="rect">
            <a:avLst/>
          </a:prstGeom>
          <a:solidFill>
            <a:srgbClr val="FF9CF6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D22EA6A-58F4-8291-468B-B529E4E72563}"/>
              </a:ext>
            </a:extLst>
          </p:cNvPr>
          <p:cNvSpPr/>
          <p:nvPr/>
        </p:nvSpPr>
        <p:spPr>
          <a:xfrm>
            <a:off x="49901" y="3673822"/>
            <a:ext cx="3748374" cy="3200400"/>
          </a:xfrm>
          <a:prstGeom prst="rect">
            <a:avLst/>
          </a:prstGeom>
          <a:solidFill>
            <a:srgbClr val="FF9CF6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F25676-9D53-4230-B70A-EEB0F22A1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6880" y="274638"/>
            <a:ext cx="6929919" cy="1143000"/>
          </a:xfrm>
        </p:spPr>
        <p:txBody>
          <a:bodyPr>
            <a:normAutofit/>
          </a:bodyPr>
          <a:lstStyle/>
          <a:p>
            <a:r>
              <a:rPr lang="en-US" dirty="0"/>
              <a:t>Signed addition</a:t>
            </a:r>
          </a:p>
        </p:txBody>
      </p:sp>
      <p:pic>
        <p:nvPicPr>
          <p:cNvPr id="12" name="图片 10">
            <a:extLst>
              <a:ext uri="{FF2B5EF4-FFF2-40B4-BE49-F238E27FC236}">
                <a16:creationId xmlns:a16="http://schemas.microsoft.com/office/drawing/2014/main" id="{FDFA2FD5-FFA1-44F7-8B70-889437DF7C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397" y="354806"/>
            <a:ext cx="775784" cy="79901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4BEAEE3-72EF-4A41-9D7E-36D4940C70B8}"/>
              </a:ext>
            </a:extLst>
          </p:cNvPr>
          <p:cNvSpPr txBox="1"/>
          <p:nvPr/>
        </p:nvSpPr>
        <p:spPr>
          <a:xfrm>
            <a:off x="762358" y="485589"/>
            <a:ext cx="29607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/>
              <a:t>🤔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24828D4D-1BAE-4282-94D5-30D337575B88}"/>
              </a:ext>
            </a:extLst>
          </p:cNvPr>
          <p:cNvGrpSpPr/>
          <p:nvPr/>
        </p:nvGrpSpPr>
        <p:grpSpPr>
          <a:xfrm>
            <a:off x="624397" y="1470328"/>
            <a:ext cx="3038142" cy="960968"/>
            <a:chOff x="-50944" y="3310806"/>
            <a:chExt cx="3038142" cy="960968"/>
          </a:xfrm>
        </p:grpSpPr>
        <p:sp>
          <p:nvSpPr>
            <p:cNvPr id="4" name="Rectangle 4">
              <a:extLst>
                <a:ext uri="{FF2B5EF4-FFF2-40B4-BE49-F238E27FC236}">
                  <a16:creationId xmlns:a16="http://schemas.microsoft.com/office/drawing/2014/main" id="{C9EFC118-8F86-4DD7-AE77-F6D17236C2EB}"/>
                </a:ext>
              </a:extLst>
            </p:cNvPr>
            <p:cNvSpPr/>
            <p:nvPr/>
          </p:nvSpPr>
          <p:spPr>
            <a:xfrm>
              <a:off x="281081" y="3391104"/>
              <a:ext cx="2137244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0 0 0 0 0 0 0 1</a:t>
              </a:r>
            </a:p>
          </p:txBody>
        </p:sp>
        <p:sp>
          <p:nvSpPr>
            <p:cNvPr id="5" name="Rectangle 5">
              <a:extLst>
                <a:ext uri="{FF2B5EF4-FFF2-40B4-BE49-F238E27FC236}">
                  <a16:creationId xmlns:a16="http://schemas.microsoft.com/office/drawing/2014/main" id="{4121829A-DA7A-45E1-93C8-1DE1721DA781}"/>
                </a:ext>
              </a:extLst>
            </p:cNvPr>
            <p:cNvSpPr/>
            <p:nvPr/>
          </p:nvSpPr>
          <p:spPr>
            <a:xfrm>
              <a:off x="168999" y="3791215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0 0 0 0 0 0 1 1 </a:t>
              </a: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B70DD393-3404-454E-AD08-3EDD5B4BD261}"/>
                </a:ext>
              </a:extLst>
            </p:cNvPr>
            <p:cNvSpPr txBox="1"/>
            <p:nvPr/>
          </p:nvSpPr>
          <p:spPr>
            <a:xfrm>
              <a:off x="-50944" y="3721956"/>
              <a:ext cx="457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600" dirty="0">
                  <a:latin typeface="Verdana"/>
                  <a:cs typeface="Verdana"/>
                </a:rPr>
                <a:t>+</a:t>
              </a:r>
            </a:p>
          </p:txBody>
        </p:sp>
        <p:cxnSp>
          <p:nvCxnSpPr>
            <p:cNvPr id="7" name="Straight Connector 8">
              <a:extLst>
                <a:ext uri="{FF2B5EF4-FFF2-40B4-BE49-F238E27FC236}">
                  <a16:creationId xmlns:a16="http://schemas.microsoft.com/office/drawing/2014/main" id="{AB49439F-65FF-4FD3-A10C-A9696BD25008}"/>
                </a:ext>
              </a:extLst>
            </p:cNvPr>
            <p:cNvCxnSpPr>
              <a:cxnSpLocks/>
            </p:cNvCxnSpPr>
            <p:nvPr/>
          </p:nvCxnSpPr>
          <p:spPr>
            <a:xfrm>
              <a:off x="179952" y="4271774"/>
              <a:ext cx="264559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95831B9-3A8C-428C-9D94-5DC0845C56D8}"/>
                </a:ext>
              </a:extLst>
            </p:cNvPr>
            <p:cNvSpPr txBox="1"/>
            <p:nvPr/>
          </p:nvSpPr>
          <p:spPr>
            <a:xfrm>
              <a:off x="2275951" y="3310806"/>
              <a:ext cx="599844" cy="880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(1)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  <a:endParaRPr lang="en-US" dirty="0">
                <a:solidFill>
                  <a:schemeClr val="accent1"/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(3)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1FBC9AB-5B4C-4158-8509-A1CBCD59359F}"/>
              </a:ext>
            </a:extLst>
          </p:cNvPr>
          <p:cNvGrpSpPr/>
          <p:nvPr/>
        </p:nvGrpSpPr>
        <p:grpSpPr>
          <a:xfrm>
            <a:off x="4070086" y="1461480"/>
            <a:ext cx="3219619" cy="956312"/>
            <a:chOff x="2870575" y="3311987"/>
            <a:chExt cx="3219619" cy="956312"/>
          </a:xfrm>
        </p:grpSpPr>
        <p:sp>
          <p:nvSpPr>
            <p:cNvPr id="19" name="Rectangle 4">
              <a:extLst>
                <a:ext uri="{FF2B5EF4-FFF2-40B4-BE49-F238E27FC236}">
                  <a16:creationId xmlns:a16="http://schemas.microsoft.com/office/drawing/2014/main" id="{7AEF195B-0084-4156-96AA-1F37551112F7}"/>
                </a:ext>
              </a:extLst>
            </p:cNvPr>
            <p:cNvSpPr/>
            <p:nvPr/>
          </p:nvSpPr>
          <p:spPr>
            <a:xfrm>
              <a:off x="3195989" y="3392285"/>
              <a:ext cx="2137244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0 0 0 0 0 0 0 1</a:t>
              </a:r>
            </a:p>
          </p:txBody>
        </p:sp>
        <p:sp>
          <p:nvSpPr>
            <p:cNvPr id="20" name="Rectangle 5">
              <a:extLst>
                <a:ext uri="{FF2B5EF4-FFF2-40B4-BE49-F238E27FC236}">
                  <a16:creationId xmlns:a16="http://schemas.microsoft.com/office/drawing/2014/main" id="{4D3C6B0C-B973-46DD-A5EC-A8A5644FC0FF}"/>
                </a:ext>
              </a:extLst>
            </p:cNvPr>
            <p:cNvSpPr/>
            <p:nvPr/>
          </p:nvSpPr>
          <p:spPr>
            <a:xfrm>
              <a:off x="3083907" y="3792396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1 0 0 0 0 0 0 1 </a:t>
              </a:r>
            </a:p>
          </p:txBody>
        </p:sp>
        <p:sp>
          <p:nvSpPr>
            <p:cNvPr id="21" name="TextBox 6">
              <a:extLst>
                <a:ext uri="{FF2B5EF4-FFF2-40B4-BE49-F238E27FC236}">
                  <a16:creationId xmlns:a16="http://schemas.microsoft.com/office/drawing/2014/main" id="{7C8F95D0-3626-4D41-9104-82519F33AA77}"/>
                </a:ext>
              </a:extLst>
            </p:cNvPr>
            <p:cNvSpPr txBox="1"/>
            <p:nvPr/>
          </p:nvSpPr>
          <p:spPr>
            <a:xfrm>
              <a:off x="2870575" y="3728880"/>
              <a:ext cx="457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600" dirty="0">
                  <a:latin typeface="Verdana"/>
                  <a:cs typeface="Verdana"/>
                </a:rPr>
                <a:t>+</a:t>
              </a:r>
            </a:p>
          </p:txBody>
        </p:sp>
        <p:cxnSp>
          <p:nvCxnSpPr>
            <p:cNvPr id="22" name="Straight Connector 8">
              <a:extLst>
                <a:ext uri="{FF2B5EF4-FFF2-40B4-BE49-F238E27FC236}">
                  <a16:creationId xmlns:a16="http://schemas.microsoft.com/office/drawing/2014/main" id="{79555BF1-3517-4E26-A4A2-8CF0177E4FD3}"/>
                </a:ext>
              </a:extLst>
            </p:cNvPr>
            <p:cNvCxnSpPr>
              <a:cxnSpLocks/>
            </p:cNvCxnSpPr>
            <p:nvPr/>
          </p:nvCxnSpPr>
          <p:spPr>
            <a:xfrm>
              <a:off x="3037852" y="4268299"/>
              <a:ext cx="264559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BF08002-8FD7-4714-8191-30F0148AD3A5}"/>
                </a:ext>
              </a:extLst>
            </p:cNvPr>
            <p:cNvSpPr txBox="1"/>
            <p:nvPr/>
          </p:nvSpPr>
          <p:spPr>
            <a:xfrm>
              <a:off x="5185779" y="3311987"/>
              <a:ext cx="904415" cy="880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(1)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  <a:endParaRPr lang="en-US" dirty="0">
                <a:solidFill>
                  <a:schemeClr val="accent1"/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(-127)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8D48EFB0-A87C-4A5C-901B-2C89FE93C712}"/>
              </a:ext>
            </a:extLst>
          </p:cNvPr>
          <p:cNvGrpSpPr/>
          <p:nvPr/>
        </p:nvGrpSpPr>
        <p:grpSpPr>
          <a:xfrm>
            <a:off x="611502" y="4104885"/>
            <a:ext cx="3018834" cy="960968"/>
            <a:chOff x="5990198" y="3310806"/>
            <a:chExt cx="3018834" cy="960968"/>
          </a:xfrm>
        </p:grpSpPr>
        <p:sp>
          <p:nvSpPr>
            <p:cNvPr id="27" name="Rectangle 4">
              <a:extLst>
                <a:ext uri="{FF2B5EF4-FFF2-40B4-BE49-F238E27FC236}">
                  <a16:creationId xmlns:a16="http://schemas.microsoft.com/office/drawing/2014/main" id="{C5F11EB6-32B8-48FF-9A1A-C35CF5B8C8E1}"/>
                </a:ext>
              </a:extLst>
            </p:cNvPr>
            <p:cNvSpPr/>
            <p:nvPr/>
          </p:nvSpPr>
          <p:spPr>
            <a:xfrm>
              <a:off x="6302379" y="3391104"/>
              <a:ext cx="2137244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0 1 0 0 0 0 0 1</a:t>
              </a:r>
            </a:p>
          </p:txBody>
        </p:sp>
        <p:sp>
          <p:nvSpPr>
            <p:cNvPr id="28" name="Rectangle 5">
              <a:extLst>
                <a:ext uri="{FF2B5EF4-FFF2-40B4-BE49-F238E27FC236}">
                  <a16:creationId xmlns:a16="http://schemas.microsoft.com/office/drawing/2014/main" id="{FF1BE6B7-7EFD-4CA2-93E3-AF03868A93C0}"/>
                </a:ext>
              </a:extLst>
            </p:cNvPr>
            <p:cNvSpPr/>
            <p:nvPr/>
          </p:nvSpPr>
          <p:spPr>
            <a:xfrm>
              <a:off x="6190297" y="3791215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0 1 0 0 0 0 0 0 </a:t>
              </a:r>
            </a:p>
          </p:txBody>
        </p:sp>
        <p:sp>
          <p:nvSpPr>
            <p:cNvPr id="29" name="TextBox 6">
              <a:extLst>
                <a:ext uri="{FF2B5EF4-FFF2-40B4-BE49-F238E27FC236}">
                  <a16:creationId xmlns:a16="http://schemas.microsoft.com/office/drawing/2014/main" id="{F95F7C08-09C1-467D-A516-2FD7C9B6CBD9}"/>
                </a:ext>
              </a:extLst>
            </p:cNvPr>
            <p:cNvSpPr txBox="1"/>
            <p:nvPr/>
          </p:nvSpPr>
          <p:spPr>
            <a:xfrm>
              <a:off x="5990198" y="3752732"/>
              <a:ext cx="457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600" dirty="0">
                  <a:latin typeface="Verdana"/>
                  <a:cs typeface="Verdana"/>
                </a:rPr>
                <a:t>+</a:t>
              </a:r>
            </a:p>
          </p:txBody>
        </p:sp>
        <p:cxnSp>
          <p:nvCxnSpPr>
            <p:cNvPr id="30" name="Straight Connector 8">
              <a:extLst>
                <a:ext uri="{FF2B5EF4-FFF2-40B4-BE49-F238E27FC236}">
                  <a16:creationId xmlns:a16="http://schemas.microsoft.com/office/drawing/2014/main" id="{9E2B4CA5-BABD-4BCF-B439-31046071096F}"/>
                </a:ext>
              </a:extLst>
            </p:cNvPr>
            <p:cNvCxnSpPr>
              <a:cxnSpLocks/>
            </p:cNvCxnSpPr>
            <p:nvPr/>
          </p:nvCxnSpPr>
          <p:spPr>
            <a:xfrm>
              <a:off x="6222659" y="4271774"/>
              <a:ext cx="264559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8E12B2F1-EDAF-4821-B2CF-F069800E202F}"/>
                </a:ext>
              </a:extLst>
            </p:cNvPr>
            <p:cNvSpPr txBox="1"/>
            <p:nvPr/>
          </p:nvSpPr>
          <p:spPr>
            <a:xfrm>
              <a:off x="8292169" y="3310806"/>
              <a:ext cx="716863" cy="880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(65)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  <a:endParaRPr lang="en-US" dirty="0">
                <a:solidFill>
                  <a:schemeClr val="accent1"/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(64)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E5D1E46-AF8F-4387-9E26-9B3553674131}"/>
              </a:ext>
            </a:extLst>
          </p:cNvPr>
          <p:cNvGrpSpPr/>
          <p:nvPr/>
        </p:nvGrpSpPr>
        <p:grpSpPr>
          <a:xfrm>
            <a:off x="818879" y="5527123"/>
            <a:ext cx="2988438" cy="488091"/>
            <a:chOff x="818879" y="5527123"/>
            <a:chExt cx="2988438" cy="488091"/>
          </a:xfrm>
        </p:grpSpPr>
        <p:sp>
          <p:nvSpPr>
            <p:cNvPr id="31" name="Rectangle 5">
              <a:extLst>
                <a:ext uri="{FF2B5EF4-FFF2-40B4-BE49-F238E27FC236}">
                  <a16:creationId xmlns:a16="http://schemas.microsoft.com/office/drawing/2014/main" id="{B775CE30-19BD-4F0F-BE43-F47507848578}"/>
                </a:ext>
              </a:extLst>
            </p:cNvPr>
            <p:cNvSpPr/>
            <p:nvPr/>
          </p:nvSpPr>
          <p:spPr>
            <a:xfrm>
              <a:off x="818879" y="5615104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1 0 0 0 0 0 0 1 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3B91437-092A-49E0-933D-20C7AF475C86}"/>
                </a:ext>
              </a:extLst>
            </p:cNvPr>
            <p:cNvSpPr txBox="1"/>
            <p:nvPr/>
          </p:nvSpPr>
          <p:spPr>
            <a:xfrm>
              <a:off x="2902902" y="5527123"/>
              <a:ext cx="904415" cy="4648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(-127)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sp>
        <p:nvSpPr>
          <p:cNvPr id="45" name="Speech Bubble: Rectangle with Corners Rounded 44">
            <a:extLst>
              <a:ext uri="{FF2B5EF4-FFF2-40B4-BE49-F238E27FC236}">
                <a16:creationId xmlns:a16="http://schemas.microsoft.com/office/drawing/2014/main" id="{8B89DC0C-8A95-4CC9-A70E-C54725C20FCC}"/>
              </a:ext>
            </a:extLst>
          </p:cNvPr>
          <p:cNvSpPr/>
          <p:nvPr/>
        </p:nvSpPr>
        <p:spPr>
          <a:xfrm>
            <a:off x="7248405" y="1955555"/>
            <a:ext cx="1843001" cy="1142993"/>
          </a:xfrm>
          <a:prstGeom prst="wedgeRoundRectCallout">
            <a:avLst>
              <a:gd name="adj1" fmla="val -66618"/>
              <a:gd name="adj2" fmla="val 61861"/>
              <a:gd name="adj3" fmla="val 16667"/>
            </a:avLst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This is what 2’s complement is designed to accomplish!</a:t>
            </a: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7501AC26-8A5E-4F39-817A-402CE0BA6525}"/>
              </a:ext>
            </a:extLst>
          </p:cNvPr>
          <p:cNvGrpSpPr/>
          <p:nvPr/>
        </p:nvGrpSpPr>
        <p:grpSpPr>
          <a:xfrm>
            <a:off x="4185143" y="4066108"/>
            <a:ext cx="3206386" cy="960968"/>
            <a:chOff x="5990198" y="3310806"/>
            <a:chExt cx="3206386" cy="960968"/>
          </a:xfrm>
        </p:grpSpPr>
        <p:sp>
          <p:nvSpPr>
            <p:cNvPr id="51" name="Rectangle 4">
              <a:extLst>
                <a:ext uri="{FF2B5EF4-FFF2-40B4-BE49-F238E27FC236}">
                  <a16:creationId xmlns:a16="http://schemas.microsoft.com/office/drawing/2014/main" id="{A94444CF-7E5A-40E4-872C-41014EB828D2}"/>
                </a:ext>
              </a:extLst>
            </p:cNvPr>
            <p:cNvSpPr/>
            <p:nvPr/>
          </p:nvSpPr>
          <p:spPr>
            <a:xfrm>
              <a:off x="6302379" y="3391104"/>
              <a:ext cx="2137244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1 0 0 0 0 0 0 1</a:t>
              </a:r>
            </a:p>
          </p:txBody>
        </p:sp>
        <p:sp>
          <p:nvSpPr>
            <p:cNvPr id="52" name="Rectangle 5">
              <a:extLst>
                <a:ext uri="{FF2B5EF4-FFF2-40B4-BE49-F238E27FC236}">
                  <a16:creationId xmlns:a16="http://schemas.microsoft.com/office/drawing/2014/main" id="{D0F9892C-FE4D-4295-AAA2-8E3F8328C12E}"/>
                </a:ext>
              </a:extLst>
            </p:cNvPr>
            <p:cNvSpPr/>
            <p:nvPr/>
          </p:nvSpPr>
          <p:spPr>
            <a:xfrm>
              <a:off x="6190297" y="3791215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1 1 1 1 1 1 1 0 </a:t>
              </a:r>
            </a:p>
          </p:txBody>
        </p:sp>
        <p:sp>
          <p:nvSpPr>
            <p:cNvPr id="53" name="TextBox 6">
              <a:extLst>
                <a:ext uri="{FF2B5EF4-FFF2-40B4-BE49-F238E27FC236}">
                  <a16:creationId xmlns:a16="http://schemas.microsoft.com/office/drawing/2014/main" id="{1B093670-4BE5-4BCC-8568-73E2918C87FE}"/>
                </a:ext>
              </a:extLst>
            </p:cNvPr>
            <p:cNvSpPr txBox="1"/>
            <p:nvPr/>
          </p:nvSpPr>
          <p:spPr>
            <a:xfrm>
              <a:off x="5990198" y="3752732"/>
              <a:ext cx="457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600" dirty="0">
                  <a:latin typeface="Verdana"/>
                  <a:cs typeface="Verdana"/>
                </a:rPr>
                <a:t>+</a:t>
              </a:r>
            </a:p>
          </p:txBody>
        </p:sp>
        <p:cxnSp>
          <p:nvCxnSpPr>
            <p:cNvPr id="54" name="Straight Connector 8">
              <a:extLst>
                <a:ext uri="{FF2B5EF4-FFF2-40B4-BE49-F238E27FC236}">
                  <a16:creationId xmlns:a16="http://schemas.microsoft.com/office/drawing/2014/main" id="{41B2E87F-05B8-414A-BE19-5B954354BEC4}"/>
                </a:ext>
              </a:extLst>
            </p:cNvPr>
            <p:cNvCxnSpPr>
              <a:cxnSpLocks/>
            </p:cNvCxnSpPr>
            <p:nvPr/>
          </p:nvCxnSpPr>
          <p:spPr>
            <a:xfrm>
              <a:off x="6222659" y="4271774"/>
              <a:ext cx="264559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7B769564-73BB-4EE9-B434-7DA5D36A21CD}"/>
                </a:ext>
              </a:extLst>
            </p:cNvPr>
            <p:cNvSpPr txBox="1"/>
            <p:nvPr/>
          </p:nvSpPr>
          <p:spPr>
            <a:xfrm>
              <a:off x="8292169" y="3310806"/>
              <a:ext cx="904415" cy="880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(-127)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  <a:endParaRPr lang="en-US" dirty="0">
                <a:solidFill>
                  <a:schemeClr val="accent1"/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(-2)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A6F70918-C35B-46F9-93EC-2CF3482C7B79}"/>
              </a:ext>
            </a:extLst>
          </p:cNvPr>
          <p:cNvGrpSpPr/>
          <p:nvPr/>
        </p:nvGrpSpPr>
        <p:grpSpPr>
          <a:xfrm>
            <a:off x="4392520" y="5453860"/>
            <a:ext cx="3052238" cy="522577"/>
            <a:chOff x="4005651" y="5453860"/>
            <a:chExt cx="3052238" cy="522577"/>
          </a:xfrm>
        </p:grpSpPr>
        <p:sp>
          <p:nvSpPr>
            <p:cNvPr id="49" name="Rectangle 5">
              <a:extLst>
                <a:ext uri="{FF2B5EF4-FFF2-40B4-BE49-F238E27FC236}">
                  <a16:creationId xmlns:a16="http://schemas.microsoft.com/office/drawing/2014/main" id="{D9B26596-68A9-4F5F-8ADD-49A8ED66853C}"/>
                </a:ext>
              </a:extLst>
            </p:cNvPr>
            <p:cNvSpPr/>
            <p:nvPr/>
          </p:nvSpPr>
          <p:spPr>
            <a:xfrm>
              <a:off x="4005651" y="5576327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0 1 1 1 1 1 1 1 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D87E3199-BF6C-4332-9B9C-70CA4AD254C5}"/>
                </a:ext>
              </a:extLst>
            </p:cNvPr>
            <p:cNvSpPr txBox="1"/>
            <p:nvPr/>
          </p:nvSpPr>
          <p:spPr>
            <a:xfrm>
              <a:off x="6224006" y="5453860"/>
              <a:ext cx="833883" cy="4648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(127)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04AB0E81-DCDD-409F-B707-12393C91DF7A}"/>
              </a:ext>
            </a:extLst>
          </p:cNvPr>
          <p:cNvGrpSpPr/>
          <p:nvPr/>
        </p:nvGrpSpPr>
        <p:grpSpPr>
          <a:xfrm>
            <a:off x="844339" y="2956123"/>
            <a:ext cx="2818199" cy="471798"/>
            <a:chOff x="844339" y="2956123"/>
            <a:chExt cx="2818199" cy="471798"/>
          </a:xfrm>
        </p:grpSpPr>
        <p:sp>
          <p:nvSpPr>
            <p:cNvPr id="18" name="Rectangle 5">
              <a:extLst>
                <a:ext uri="{FF2B5EF4-FFF2-40B4-BE49-F238E27FC236}">
                  <a16:creationId xmlns:a16="http://schemas.microsoft.com/office/drawing/2014/main" id="{F3ADEDE1-8B69-471D-814C-C8C229B890FA}"/>
                </a:ext>
              </a:extLst>
            </p:cNvPr>
            <p:cNvSpPr/>
            <p:nvPr/>
          </p:nvSpPr>
          <p:spPr>
            <a:xfrm>
              <a:off x="844339" y="3027811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0 0 0 0 0 1 0 0 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5C2D3DF9-A350-4D55-9CBE-DAA7F68D2655}"/>
                </a:ext>
              </a:extLst>
            </p:cNvPr>
            <p:cNvSpPr txBox="1"/>
            <p:nvPr/>
          </p:nvSpPr>
          <p:spPr>
            <a:xfrm>
              <a:off x="2951292" y="2956123"/>
              <a:ext cx="599844" cy="4648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(4)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55C3B14E-7D5E-41B9-A1B0-8FFE58E2EABE}"/>
              </a:ext>
            </a:extLst>
          </p:cNvPr>
          <p:cNvGrpSpPr/>
          <p:nvPr/>
        </p:nvGrpSpPr>
        <p:grpSpPr>
          <a:xfrm>
            <a:off x="4283417" y="2902878"/>
            <a:ext cx="2964988" cy="515014"/>
            <a:chOff x="3896548" y="2902878"/>
            <a:chExt cx="2964988" cy="515014"/>
          </a:xfrm>
        </p:grpSpPr>
        <p:sp>
          <p:nvSpPr>
            <p:cNvPr id="23" name="Rectangle 5">
              <a:extLst>
                <a:ext uri="{FF2B5EF4-FFF2-40B4-BE49-F238E27FC236}">
                  <a16:creationId xmlns:a16="http://schemas.microsoft.com/office/drawing/2014/main" id="{1682F40F-03EF-44A5-BC1C-743315DD8BCF}"/>
                </a:ext>
              </a:extLst>
            </p:cNvPr>
            <p:cNvSpPr/>
            <p:nvPr/>
          </p:nvSpPr>
          <p:spPr>
            <a:xfrm>
              <a:off x="3896548" y="3017782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1 0 0 0 0 0 1 0 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12D56718-BF23-4361-AD4E-020CEDD4BA83}"/>
                </a:ext>
              </a:extLst>
            </p:cNvPr>
            <p:cNvSpPr txBox="1"/>
            <p:nvPr/>
          </p:nvSpPr>
          <p:spPr>
            <a:xfrm>
              <a:off x="5957121" y="2902878"/>
              <a:ext cx="904415" cy="4648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(-126)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F47B6520-A6E5-4452-83B4-D22289DADC8E}"/>
              </a:ext>
            </a:extLst>
          </p:cNvPr>
          <p:cNvCxnSpPr/>
          <p:nvPr/>
        </p:nvCxnSpPr>
        <p:spPr>
          <a:xfrm>
            <a:off x="0" y="3657600"/>
            <a:ext cx="9144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192929F-FD04-A214-D78D-227B54CB3F3C}"/>
              </a:ext>
            </a:extLst>
          </p:cNvPr>
          <p:cNvCxnSpPr>
            <a:cxnSpLocks/>
          </p:cNvCxnSpPr>
          <p:nvPr/>
        </p:nvCxnSpPr>
        <p:spPr>
          <a:xfrm>
            <a:off x="3798274" y="1153817"/>
            <a:ext cx="52220" cy="5123891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FAB4208-F9CF-82E0-788A-058A152BF420}"/>
              </a:ext>
            </a:extLst>
          </p:cNvPr>
          <p:cNvGrpSpPr/>
          <p:nvPr/>
        </p:nvGrpSpPr>
        <p:grpSpPr>
          <a:xfrm>
            <a:off x="2609433" y="6038101"/>
            <a:ext cx="876667" cy="735030"/>
            <a:chOff x="7067881" y="5382271"/>
            <a:chExt cx="1119281" cy="1047835"/>
          </a:xfrm>
        </p:grpSpPr>
        <p:pic>
          <p:nvPicPr>
            <p:cNvPr id="15" name="Picture 2" descr="Image of horror emoji">
              <a:hlinkClick r:id="rId4"/>
              <a:extLst>
                <a:ext uri="{FF2B5EF4-FFF2-40B4-BE49-F238E27FC236}">
                  <a16:creationId xmlns:a16="http://schemas.microsoft.com/office/drawing/2014/main" id="{5D8B0068-24CD-2D6C-E24C-36C2B6AA5F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17596" y="5382271"/>
              <a:ext cx="819852" cy="8198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4F26022-ACF8-4666-B3F8-C63754571205}"/>
                </a:ext>
              </a:extLst>
            </p:cNvPr>
            <p:cNvSpPr txBox="1"/>
            <p:nvPr/>
          </p:nvSpPr>
          <p:spPr>
            <a:xfrm>
              <a:off x="7067881" y="6060774"/>
              <a:ext cx="11192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Overflow!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D7AFC1E-918C-ABF8-E530-77DD6380D294}"/>
              </a:ext>
            </a:extLst>
          </p:cNvPr>
          <p:cNvGrpSpPr/>
          <p:nvPr/>
        </p:nvGrpSpPr>
        <p:grpSpPr>
          <a:xfrm>
            <a:off x="7262075" y="6020663"/>
            <a:ext cx="876667" cy="735030"/>
            <a:chOff x="7067881" y="5382271"/>
            <a:chExt cx="1119281" cy="1047835"/>
          </a:xfrm>
        </p:grpSpPr>
        <p:pic>
          <p:nvPicPr>
            <p:cNvPr id="25" name="Picture 2" descr="Image of horror emoji">
              <a:hlinkClick r:id="rId4"/>
              <a:extLst>
                <a:ext uri="{FF2B5EF4-FFF2-40B4-BE49-F238E27FC236}">
                  <a16:creationId xmlns:a16="http://schemas.microsoft.com/office/drawing/2014/main" id="{6A1E7A23-8F05-D9BF-7B76-0B6703FC9E6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17596" y="5382271"/>
              <a:ext cx="819852" cy="8198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263A3C2-9942-D94A-97D9-6B6F9F971A19}"/>
                </a:ext>
              </a:extLst>
            </p:cNvPr>
            <p:cNvSpPr txBox="1"/>
            <p:nvPr/>
          </p:nvSpPr>
          <p:spPr>
            <a:xfrm>
              <a:off x="7067881" y="6060774"/>
              <a:ext cx="11192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Overflow!</a:t>
              </a:r>
            </a:p>
          </p:txBody>
        </p:sp>
      </p:grp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8164A255-FB57-C133-9489-43267C6C6221}"/>
                  </a:ext>
                </a:extLst>
              </p14:cNvPr>
              <p14:cNvContentPartPr/>
              <p14:nvPr/>
            </p14:nvContentPartPr>
            <p14:xfrm>
              <a:off x="4707546" y="4832299"/>
              <a:ext cx="19080" cy="2124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8164A255-FB57-C133-9489-43267C6C6221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692426" y="4816819"/>
                <a:ext cx="49680" cy="51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827576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  <p:bldP spid="34" grpId="0" animBg="1"/>
      <p:bldP spid="4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A73BE38-D726-848C-4A51-D28787600B35}"/>
              </a:ext>
            </a:extLst>
          </p:cNvPr>
          <p:cNvSpPr/>
          <p:nvPr/>
        </p:nvSpPr>
        <p:spPr>
          <a:xfrm>
            <a:off x="4678038" y="1333297"/>
            <a:ext cx="4429956" cy="2251568"/>
          </a:xfrm>
          <a:prstGeom prst="rect">
            <a:avLst/>
          </a:prstGeom>
          <a:solidFill>
            <a:srgbClr val="FF9CF6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86E5A1F-2A8E-A5F4-0034-56B1CD849B2E}"/>
              </a:ext>
            </a:extLst>
          </p:cNvPr>
          <p:cNvSpPr/>
          <p:nvPr/>
        </p:nvSpPr>
        <p:spPr>
          <a:xfrm>
            <a:off x="277592" y="1325124"/>
            <a:ext cx="4240808" cy="2278626"/>
          </a:xfrm>
          <a:prstGeom prst="rect">
            <a:avLst/>
          </a:prstGeom>
          <a:solidFill>
            <a:srgbClr val="FF9CF6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1F2EC23-C249-9061-3C4C-A22DB5F594BC}"/>
              </a:ext>
            </a:extLst>
          </p:cNvPr>
          <p:cNvSpPr/>
          <p:nvPr/>
        </p:nvSpPr>
        <p:spPr>
          <a:xfrm>
            <a:off x="277591" y="3708052"/>
            <a:ext cx="4241127" cy="3149948"/>
          </a:xfrm>
          <a:prstGeom prst="rect">
            <a:avLst/>
          </a:prstGeom>
          <a:solidFill>
            <a:srgbClr val="FF9CF6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F25676-9D53-4230-B70A-EEB0F22A1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9882" y="274638"/>
            <a:ext cx="7566917" cy="1143000"/>
          </a:xfrm>
        </p:spPr>
        <p:txBody>
          <a:bodyPr>
            <a:normAutofit/>
          </a:bodyPr>
          <a:lstStyle/>
          <a:p>
            <a:r>
              <a:rPr lang="en-US" dirty="0"/>
              <a:t>Unsigned subtraction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24828D4D-1BAE-4282-94D5-30D337575B88}"/>
              </a:ext>
            </a:extLst>
          </p:cNvPr>
          <p:cNvGrpSpPr/>
          <p:nvPr/>
        </p:nvGrpSpPr>
        <p:grpSpPr>
          <a:xfrm>
            <a:off x="351130" y="1468681"/>
            <a:ext cx="3038142" cy="1506091"/>
            <a:chOff x="-50944" y="3310806"/>
            <a:chExt cx="3038142" cy="1506091"/>
          </a:xfrm>
        </p:grpSpPr>
        <p:sp>
          <p:nvSpPr>
            <p:cNvPr id="4" name="Rectangle 4">
              <a:extLst>
                <a:ext uri="{FF2B5EF4-FFF2-40B4-BE49-F238E27FC236}">
                  <a16:creationId xmlns:a16="http://schemas.microsoft.com/office/drawing/2014/main" id="{C9EFC118-8F86-4DD7-AE77-F6D17236C2EB}"/>
                </a:ext>
              </a:extLst>
            </p:cNvPr>
            <p:cNvSpPr/>
            <p:nvPr/>
          </p:nvSpPr>
          <p:spPr>
            <a:xfrm>
              <a:off x="281081" y="3391104"/>
              <a:ext cx="2137244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0 0 0 0 0 0 0 1</a:t>
              </a:r>
            </a:p>
          </p:txBody>
        </p:sp>
        <p:sp>
          <p:nvSpPr>
            <p:cNvPr id="5" name="Rectangle 5">
              <a:extLst>
                <a:ext uri="{FF2B5EF4-FFF2-40B4-BE49-F238E27FC236}">
                  <a16:creationId xmlns:a16="http://schemas.microsoft.com/office/drawing/2014/main" id="{4121829A-DA7A-45E1-93C8-1DE1721DA781}"/>
                </a:ext>
              </a:extLst>
            </p:cNvPr>
            <p:cNvSpPr/>
            <p:nvPr/>
          </p:nvSpPr>
          <p:spPr>
            <a:xfrm>
              <a:off x="168999" y="3791215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0 0 0 0 0 0 1 1 </a:t>
              </a: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B70DD393-3404-454E-AD08-3EDD5B4BD261}"/>
                </a:ext>
              </a:extLst>
            </p:cNvPr>
            <p:cNvSpPr txBox="1"/>
            <p:nvPr/>
          </p:nvSpPr>
          <p:spPr>
            <a:xfrm>
              <a:off x="-50944" y="3721956"/>
              <a:ext cx="457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600" dirty="0">
                  <a:latin typeface="Verdana"/>
                  <a:cs typeface="Verdana"/>
                </a:rPr>
                <a:t>-</a:t>
              </a:r>
            </a:p>
          </p:txBody>
        </p:sp>
        <p:cxnSp>
          <p:nvCxnSpPr>
            <p:cNvPr id="7" name="Straight Connector 8">
              <a:extLst>
                <a:ext uri="{FF2B5EF4-FFF2-40B4-BE49-F238E27FC236}">
                  <a16:creationId xmlns:a16="http://schemas.microsoft.com/office/drawing/2014/main" id="{AB49439F-65FF-4FD3-A10C-A9696BD25008}"/>
                </a:ext>
              </a:extLst>
            </p:cNvPr>
            <p:cNvCxnSpPr>
              <a:cxnSpLocks/>
            </p:cNvCxnSpPr>
            <p:nvPr/>
          </p:nvCxnSpPr>
          <p:spPr>
            <a:xfrm>
              <a:off x="179952" y="4816897"/>
              <a:ext cx="264559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95831B9-3A8C-428C-9D94-5DC0845C56D8}"/>
                </a:ext>
              </a:extLst>
            </p:cNvPr>
            <p:cNvSpPr txBox="1"/>
            <p:nvPr/>
          </p:nvSpPr>
          <p:spPr>
            <a:xfrm>
              <a:off x="2275951" y="3310806"/>
              <a:ext cx="599844" cy="880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(1)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  <a:endParaRPr lang="en-US" dirty="0">
                <a:solidFill>
                  <a:schemeClr val="accent1"/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(3)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1FBC9AB-5B4C-4158-8509-A1CBCD59359F}"/>
              </a:ext>
            </a:extLst>
          </p:cNvPr>
          <p:cNvGrpSpPr/>
          <p:nvPr/>
        </p:nvGrpSpPr>
        <p:grpSpPr>
          <a:xfrm>
            <a:off x="4731648" y="1434692"/>
            <a:ext cx="3096865" cy="1554190"/>
            <a:chOff x="2922797" y="3311987"/>
            <a:chExt cx="3096865" cy="1554190"/>
          </a:xfrm>
        </p:grpSpPr>
        <p:sp>
          <p:nvSpPr>
            <p:cNvPr id="19" name="Rectangle 4">
              <a:extLst>
                <a:ext uri="{FF2B5EF4-FFF2-40B4-BE49-F238E27FC236}">
                  <a16:creationId xmlns:a16="http://schemas.microsoft.com/office/drawing/2014/main" id="{7AEF195B-0084-4156-96AA-1F37551112F7}"/>
                </a:ext>
              </a:extLst>
            </p:cNvPr>
            <p:cNvSpPr/>
            <p:nvPr/>
          </p:nvSpPr>
          <p:spPr>
            <a:xfrm>
              <a:off x="3195989" y="3392285"/>
              <a:ext cx="2137244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0 0 0 0 0 0 0 1</a:t>
              </a:r>
            </a:p>
          </p:txBody>
        </p:sp>
        <p:sp>
          <p:nvSpPr>
            <p:cNvPr id="20" name="Rectangle 5">
              <a:extLst>
                <a:ext uri="{FF2B5EF4-FFF2-40B4-BE49-F238E27FC236}">
                  <a16:creationId xmlns:a16="http://schemas.microsoft.com/office/drawing/2014/main" id="{4D3C6B0C-B973-46DD-A5EC-A8A5644FC0FF}"/>
                </a:ext>
              </a:extLst>
            </p:cNvPr>
            <p:cNvSpPr/>
            <p:nvPr/>
          </p:nvSpPr>
          <p:spPr>
            <a:xfrm>
              <a:off x="3083907" y="3792396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1 1 1 1 1 1 1 1 </a:t>
              </a:r>
            </a:p>
          </p:txBody>
        </p:sp>
        <p:sp>
          <p:nvSpPr>
            <p:cNvPr id="21" name="TextBox 6">
              <a:extLst>
                <a:ext uri="{FF2B5EF4-FFF2-40B4-BE49-F238E27FC236}">
                  <a16:creationId xmlns:a16="http://schemas.microsoft.com/office/drawing/2014/main" id="{7C8F95D0-3626-4D41-9104-82519F33AA77}"/>
                </a:ext>
              </a:extLst>
            </p:cNvPr>
            <p:cNvSpPr txBox="1"/>
            <p:nvPr/>
          </p:nvSpPr>
          <p:spPr>
            <a:xfrm>
              <a:off x="2922797" y="3728880"/>
              <a:ext cx="457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600" dirty="0">
                  <a:latin typeface="Verdana"/>
                  <a:cs typeface="Verdana"/>
                </a:rPr>
                <a:t>-</a:t>
              </a:r>
            </a:p>
          </p:txBody>
        </p:sp>
        <p:cxnSp>
          <p:nvCxnSpPr>
            <p:cNvPr id="22" name="Straight Connector 8">
              <a:extLst>
                <a:ext uri="{FF2B5EF4-FFF2-40B4-BE49-F238E27FC236}">
                  <a16:creationId xmlns:a16="http://schemas.microsoft.com/office/drawing/2014/main" id="{79555BF1-3517-4E26-A4A2-8CF0177E4FD3}"/>
                </a:ext>
              </a:extLst>
            </p:cNvPr>
            <p:cNvCxnSpPr>
              <a:cxnSpLocks/>
            </p:cNvCxnSpPr>
            <p:nvPr/>
          </p:nvCxnSpPr>
          <p:spPr>
            <a:xfrm>
              <a:off x="3037852" y="4866177"/>
              <a:ext cx="264559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BF08002-8FD7-4714-8191-30F0148AD3A5}"/>
                </a:ext>
              </a:extLst>
            </p:cNvPr>
            <p:cNvSpPr txBox="1"/>
            <p:nvPr/>
          </p:nvSpPr>
          <p:spPr>
            <a:xfrm>
              <a:off x="5185779" y="3311987"/>
              <a:ext cx="833883" cy="880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(1)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  <a:endParaRPr lang="en-US" dirty="0">
                <a:solidFill>
                  <a:schemeClr val="accent1"/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(255)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8D48EFB0-A87C-4A5C-901B-2C89FE93C712}"/>
              </a:ext>
            </a:extLst>
          </p:cNvPr>
          <p:cNvGrpSpPr/>
          <p:nvPr/>
        </p:nvGrpSpPr>
        <p:grpSpPr>
          <a:xfrm>
            <a:off x="4520404" y="3924939"/>
            <a:ext cx="3167342" cy="1611603"/>
            <a:chOff x="5990198" y="3310806"/>
            <a:chExt cx="3167342" cy="1611603"/>
          </a:xfrm>
        </p:grpSpPr>
        <p:sp>
          <p:nvSpPr>
            <p:cNvPr id="27" name="Rectangle 4">
              <a:extLst>
                <a:ext uri="{FF2B5EF4-FFF2-40B4-BE49-F238E27FC236}">
                  <a16:creationId xmlns:a16="http://schemas.microsoft.com/office/drawing/2014/main" id="{C5F11EB6-32B8-48FF-9A1A-C35CF5B8C8E1}"/>
                </a:ext>
              </a:extLst>
            </p:cNvPr>
            <p:cNvSpPr/>
            <p:nvPr/>
          </p:nvSpPr>
          <p:spPr>
            <a:xfrm>
              <a:off x="6302379" y="3391104"/>
              <a:ext cx="2137244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1 0 0 0 0 0 0 0</a:t>
              </a:r>
            </a:p>
          </p:txBody>
        </p:sp>
        <p:sp>
          <p:nvSpPr>
            <p:cNvPr id="28" name="Rectangle 5">
              <a:extLst>
                <a:ext uri="{FF2B5EF4-FFF2-40B4-BE49-F238E27FC236}">
                  <a16:creationId xmlns:a16="http://schemas.microsoft.com/office/drawing/2014/main" id="{FF1BE6B7-7EFD-4CA2-93E3-AF03868A93C0}"/>
                </a:ext>
              </a:extLst>
            </p:cNvPr>
            <p:cNvSpPr/>
            <p:nvPr/>
          </p:nvSpPr>
          <p:spPr>
            <a:xfrm>
              <a:off x="6190297" y="3791215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0 0 0 0 0 0 0 1 </a:t>
              </a:r>
            </a:p>
          </p:txBody>
        </p:sp>
        <p:sp>
          <p:nvSpPr>
            <p:cNvPr id="29" name="TextBox 6">
              <a:extLst>
                <a:ext uri="{FF2B5EF4-FFF2-40B4-BE49-F238E27FC236}">
                  <a16:creationId xmlns:a16="http://schemas.microsoft.com/office/drawing/2014/main" id="{F95F7C08-09C1-467D-A516-2FD7C9B6CBD9}"/>
                </a:ext>
              </a:extLst>
            </p:cNvPr>
            <p:cNvSpPr txBox="1"/>
            <p:nvPr/>
          </p:nvSpPr>
          <p:spPr>
            <a:xfrm>
              <a:off x="5990198" y="3752732"/>
              <a:ext cx="457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600" dirty="0">
                  <a:latin typeface="Verdana"/>
                  <a:cs typeface="Verdana"/>
                </a:rPr>
                <a:t>-</a:t>
              </a:r>
            </a:p>
          </p:txBody>
        </p:sp>
        <p:cxnSp>
          <p:nvCxnSpPr>
            <p:cNvPr id="30" name="Straight Connector 8">
              <a:extLst>
                <a:ext uri="{FF2B5EF4-FFF2-40B4-BE49-F238E27FC236}">
                  <a16:creationId xmlns:a16="http://schemas.microsoft.com/office/drawing/2014/main" id="{9E2B4CA5-BABD-4BCF-B439-31046071096F}"/>
                </a:ext>
              </a:extLst>
            </p:cNvPr>
            <p:cNvCxnSpPr>
              <a:cxnSpLocks/>
            </p:cNvCxnSpPr>
            <p:nvPr/>
          </p:nvCxnSpPr>
          <p:spPr>
            <a:xfrm>
              <a:off x="6292999" y="4922409"/>
              <a:ext cx="264559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8E12B2F1-EDAF-4821-B2CF-F069800E202F}"/>
                </a:ext>
              </a:extLst>
            </p:cNvPr>
            <p:cNvSpPr txBox="1"/>
            <p:nvPr/>
          </p:nvSpPr>
          <p:spPr>
            <a:xfrm>
              <a:off x="8323657" y="3310806"/>
              <a:ext cx="833883" cy="880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>
                  <a:solidFill>
                    <a:schemeClr val="accent1"/>
                  </a:solidFill>
                </a:rPr>
                <a:t>(128)</a:t>
              </a:r>
              <a:r>
                <a:rPr lang="en-US" baseline="-25000">
                  <a:solidFill>
                    <a:schemeClr val="accent1"/>
                  </a:solidFill>
                </a:rPr>
                <a:t>10</a:t>
              </a:r>
              <a:endParaRPr lang="en-US" dirty="0">
                <a:solidFill>
                  <a:schemeClr val="accent1"/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(1)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26A2B64-8D91-4D3B-BC9E-0470050238DB}"/>
              </a:ext>
            </a:extLst>
          </p:cNvPr>
          <p:cNvGrpSpPr/>
          <p:nvPr/>
        </p:nvGrpSpPr>
        <p:grpSpPr>
          <a:xfrm>
            <a:off x="525515" y="5532280"/>
            <a:ext cx="2917906" cy="488091"/>
            <a:chOff x="805280" y="5514695"/>
            <a:chExt cx="2917906" cy="488091"/>
          </a:xfrm>
        </p:grpSpPr>
        <p:sp>
          <p:nvSpPr>
            <p:cNvPr id="31" name="Rectangle 5">
              <a:extLst>
                <a:ext uri="{FF2B5EF4-FFF2-40B4-BE49-F238E27FC236}">
                  <a16:creationId xmlns:a16="http://schemas.microsoft.com/office/drawing/2014/main" id="{B775CE30-19BD-4F0F-BE43-F47507848578}"/>
                </a:ext>
              </a:extLst>
            </p:cNvPr>
            <p:cNvSpPr/>
            <p:nvPr/>
          </p:nvSpPr>
          <p:spPr>
            <a:xfrm>
              <a:off x="805280" y="5602676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1 0 0 0 0 0 0 1 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3B91437-092A-49E0-933D-20C7AF475C86}"/>
                </a:ext>
              </a:extLst>
            </p:cNvPr>
            <p:cNvSpPr txBox="1"/>
            <p:nvPr/>
          </p:nvSpPr>
          <p:spPr>
            <a:xfrm>
              <a:off x="2889303" y="5514695"/>
              <a:ext cx="833883" cy="4648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(129)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pic>
        <p:nvPicPr>
          <p:cNvPr id="3" name="图片 10">
            <a:extLst>
              <a:ext uri="{FF2B5EF4-FFF2-40B4-BE49-F238E27FC236}">
                <a16:creationId xmlns:a16="http://schemas.microsoft.com/office/drawing/2014/main" id="{058FB859-A11E-4899-9433-AC53C18891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998" y="475662"/>
            <a:ext cx="775784" cy="79901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733A1C6-103A-49F9-B24B-6E7542094BB7}"/>
              </a:ext>
            </a:extLst>
          </p:cNvPr>
          <p:cNvSpPr txBox="1"/>
          <p:nvPr/>
        </p:nvSpPr>
        <p:spPr>
          <a:xfrm>
            <a:off x="306959" y="606445"/>
            <a:ext cx="29607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/>
              <a:t>🤔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AF92BFD-7978-4D65-B36B-5E33CCDD7D19}"/>
              </a:ext>
            </a:extLst>
          </p:cNvPr>
          <p:cNvGrpSpPr/>
          <p:nvPr/>
        </p:nvGrpSpPr>
        <p:grpSpPr>
          <a:xfrm>
            <a:off x="571072" y="2920917"/>
            <a:ext cx="2983619" cy="505357"/>
            <a:chOff x="975519" y="2885747"/>
            <a:chExt cx="2983619" cy="505357"/>
          </a:xfrm>
        </p:grpSpPr>
        <p:sp>
          <p:nvSpPr>
            <p:cNvPr id="18" name="Rectangle 5">
              <a:extLst>
                <a:ext uri="{FF2B5EF4-FFF2-40B4-BE49-F238E27FC236}">
                  <a16:creationId xmlns:a16="http://schemas.microsoft.com/office/drawing/2014/main" id="{F3ADEDE1-8B69-471D-814C-C8C229B890FA}"/>
                </a:ext>
              </a:extLst>
            </p:cNvPr>
            <p:cNvSpPr/>
            <p:nvPr/>
          </p:nvSpPr>
          <p:spPr>
            <a:xfrm>
              <a:off x="975519" y="2990994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1 1 1 1 1 1 1 0 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0D81915-1930-46A8-8FCB-7A0A3FF0B30E}"/>
                </a:ext>
              </a:extLst>
            </p:cNvPr>
            <p:cNvSpPr txBox="1"/>
            <p:nvPr/>
          </p:nvSpPr>
          <p:spPr>
            <a:xfrm>
              <a:off x="3082471" y="2885747"/>
              <a:ext cx="876667" cy="4648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(254)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84AE4325-AB21-4C04-9DE8-D2C472573D87}"/>
              </a:ext>
            </a:extLst>
          </p:cNvPr>
          <p:cNvGrpSpPr/>
          <p:nvPr/>
        </p:nvGrpSpPr>
        <p:grpSpPr>
          <a:xfrm>
            <a:off x="4892757" y="2885746"/>
            <a:ext cx="2818199" cy="505358"/>
            <a:chOff x="3890427" y="2885746"/>
            <a:chExt cx="2818199" cy="505358"/>
          </a:xfrm>
        </p:grpSpPr>
        <p:sp>
          <p:nvSpPr>
            <p:cNvPr id="23" name="Rectangle 5">
              <a:extLst>
                <a:ext uri="{FF2B5EF4-FFF2-40B4-BE49-F238E27FC236}">
                  <a16:creationId xmlns:a16="http://schemas.microsoft.com/office/drawing/2014/main" id="{1682F40F-03EF-44A5-BC1C-743315DD8BCF}"/>
                </a:ext>
              </a:extLst>
            </p:cNvPr>
            <p:cNvSpPr/>
            <p:nvPr/>
          </p:nvSpPr>
          <p:spPr>
            <a:xfrm>
              <a:off x="3890427" y="2990994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0 0 0 0 0 0 1 0 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9B5C345-0FD2-4F38-A5FA-A677D823A56A}"/>
                </a:ext>
              </a:extLst>
            </p:cNvPr>
            <p:cNvSpPr txBox="1"/>
            <p:nvPr/>
          </p:nvSpPr>
          <p:spPr>
            <a:xfrm>
              <a:off x="6038251" y="2885746"/>
              <a:ext cx="599844" cy="4648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(2)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D377D08-69B7-42BD-9CCB-EAE4FBA25ACA}"/>
              </a:ext>
            </a:extLst>
          </p:cNvPr>
          <p:cNvCxnSpPr/>
          <p:nvPr/>
        </p:nvCxnSpPr>
        <p:spPr>
          <a:xfrm>
            <a:off x="0" y="3657600"/>
            <a:ext cx="9144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D7C0916-7492-4215-B231-E5CD2AF89194}"/>
              </a:ext>
            </a:extLst>
          </p:cNvPr>
          <p:cNvGrpSpPr/>
          <p:nvPr/>
        </p:nvGrpSpPr>
        <p:grpSpPr>
          <a:xfrm>
            <a:off x="345858" y="3981082"/>
            <a:ext cx="3135854" cy="1594016"/>
            <a:chOff x="5990198" y="3310806"/>
            <a:chExt cx="3135854" cy="1594016"/>
          </a:xfrm>
        </p:grpSpPr>
        <p:sp>
          <p:nvSpPr>
            <p:cNvPr id="48" name="Rectangle 4">
              <a:extLst>
                <a:ext uri="{FF2B5EF4-FFF2-40B4-BE49-F238E27FC236}">
                  <a16:creationId xmlns:a16="http://schemas.microsoft.com/office/drawing/2014/main" id="{90B19341-E76F-4682-9EBE-934C5E04F5BD}"/>
                </a:ext>
              </a:extLst>
            </p:cNvPr>
            <p:cNvSpPr/>
            <p:nvPr/>
          </p:nvSpPr>
          <p:spPr>
            <a:xfrm>
              <a:off x="6302379" y="3391104"/>
              <a:ext cx="2137244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0 1 1 1 1 1 1 1</a:t>
              </a:r>
            </a:p>
          </p:txBody>
        </p:sp>
        <p:sp>
          <p:nvSpPr>
            <p:cNvPr id="49" name="Rectangle 5">
              <a:extLst>
                <a:ext uri="{FF2B5EF4-FFF2-40B4-BE49-F238E27FC236}">
                  <a16:creationId xmlns:a16="http://schemas.microsoft.com/office/drawing/2014/main" id="{B148FC51-800C-42FD-8FB7-46461300F8C7}"/>
                </a:ext>
              </a:extLst>
            </p:cNvPr>
            <p:cNvSpPr/>
            <p:nvPr/>
          </p:nvSpPr>
          <p:spPr>
            <a:xfrm>
              <a:off x="6190297" y="3791215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1 1 1 1 1 1 1 0 </a:t>
              </a:r>
            </a:p>
          </p:txBody>
        </p:sp>
        <p:sp>
          <p:nvSpPr>
            <p:cNvPr id="50" name="TextBox 6">
              <a:extLst>
                <a:ext uri="{FF2B5EF4-FFF2-40B4-BE49-F238E27FC236}">
                  <a16:creationId xmlns:a16="http://schemas.microsoft.com/office/drawing/2014/main" id="{5193A9BE-6FF7-48E5-B107-0E72A40FAB50}"/>
                </a:ext>
              </a:extLst>
            </p:cNvPr>
            <p:cNvSpPr txBox="1"/>
            <p:nvPr/>
          </p:nvSpPr>
          <p:spPr>
            <a:xfrm>
              <a:off x="5990198" y="3752732"/>
              <a:ext cx="457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600" dirty="0">
                  <a:latin typeface="Verdana"/>
                  <a:cs typeface="Verdana"/>
                </a:rPr>
                <a:t>-</a:t>
              </a:r>
            </a:p>
          </p:txBody>
        </p:sp>
        <p:cxnSp>
          <p:nvCxnSpPr>
            <p:cNvPr id="51" name="Straight Connector 8">
              <a:extLst>
                <a:ext uri="{FF2B5EF4-FFF2-40B4-BE49-F238E27FC236}">
                  <a16:creationId xmlns:a16="http://schemas.microsoft.com/office/drawing/2014/main" id="{C80917AD-12C6-4B3B-A4FA-C3AE9E5E5A59}"/>
                </a:ext>
              </a:extLst>
            </p:cNvPr>
            <p:cNvCxnSpPr>
              <a:cxnSpLocks/>
            </p:cNvCxnSpPr>
            <p:nvPr/>
          </p:nvCxnSpPr>
          <p:spPr>
            <a:xfrm>
              <a:off x="6222659" y="4904822"/>
              <a:ext cx="264559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A4C2137-8FA1-40F3-9997-D49A2EC76B70}"/>
                </a:ext>
              </a:extLst>
            </p:cNvPr>
            <p:cNvSpPr txBox="1"/>
            <p:nvPr/>
          </p:nvSpPr>
          <p:spPr>
            <a:xfrm>
              <a:off x="8292169" y="3310806"/>
              <a:ext cx="833883" cy="880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(127)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  <a:endParaRPr lang="en-US" dirty="0">
                <a:solidFill>
                  <a:schemeClr val="accent1"/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(254)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FEF9C90-E8E8-43A4-9D8E-E408172956C9}"/>
              </a:ext>
            </a:extLst>
          </p:cNvPr>
          <p:cNvGrpSpPr/>
          <p:nvPr/>
        </p:nvGrpSpPr>
        <p:grpSpPr>
          <a:xfrm>
            <a:off x="4716869" y="5472013"/>
            <a:ext cx="2917906" cy="488091"/>
            <a:chOff x="4277247" y="5472013"/>
            <a:chExt cx="2917906" cy="488091"/>
          </a:xfrm>
        </p:grpSpPr>
        <p:sp>
          <p:nvSpPr>
            <p:cNvPr id="44" name="Rectangle 5">
              <a:extLst>
                <a:ext uri="{FF2B5EF4-FFF2-40B4-BE49-F238E27FC236}">
                  <a16:creationId xmlns:a16="http://schemas.microsoft.com/office/drawing/2014/main" id="{D241355B-5D22-4CEE-98EB-8701D5AF72CA}"/>
                </a:ext>
              </a:extLst>
            </p:cNvPr>
            <p:cNvSpPr/>
            <p:nvPr/>
          </p:nvSpPr>
          <p:spPr>
            <a:xfrm>
              <a:off x="4277247" y="5559994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0 1 1 1 1 1 1 1 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A42A0DC6-C05C-46C5-B39F-738775465972}"/>
                </a:ext>
              </a:extLst>
            </p:cNvPr>
            <p:cNvSpPr txBox="1"/>
            <p:nvPr/>
          </p:nvSpPr>
          <p:spPr>
            <a:xfrm>
              <a:off x="6361270" y="5472013"/>
              <a:ext cx="833883" cy="4648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(127)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4A78F3A-80FF-C293-44FF-CC2EED7A422D}"/>
              </a:ext>
            </a:extLst>
          </p:cNvPr>
          <p:cNvCxnSpPr>
            <a:cxnSpLocks/>
          </p:cNvCxnSpPr>
          <p:nvPr/>
        </p:nvCxnSpPr>
        <p:spPr>
          <a:xfrm>
            <a:off x="4589594" y="1153817"/>
            <a:ext cx="52220" cy="5123891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7D276C5-31F3-4AAF-0F8E-CA7B1CD3AB80}"/>
              </a:ext>
            </a:extLst>
          </p:cNvPr>
          <p:cNvGrpSpPr/>
          <p:nvPr/>
        </p:nvGrpSpPr>
        <p:grpSpPr>
          <a:xfrm>
            <a:off x="7897519" y="2860413"/>
            <a:ext cx="876667" cy="735030"/>
            <a:chOff x="7067881" y="5382271"/>
            <a:chExt cx="1119281" cy="1047835"/>
          </a:xfrm>
        </p:grpSpPr>
        <p:pic>
          <p:nvPicPr>
            <p:cNvPr id="25" name="Picture 2" descr="Image of horror emoji">
              <a:hlinkClick r:id="rId4"/>
              <a:extLst>
                <a:ext uri="{FF2B5EF4-FFF2-40B4-BE49-F238E27FC236}">
                  <a16:creationId xmlns:a16="http://schemas.microsoft.com/office/drawing/2014/main" id="{EF097F3F-466F-BEED-7CBC-F0C995D87B8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17596" y="5382271"/>
              <a:ext cx="819852" cy="8198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9E3F6E7-A679-9F61-1332-8E23C681DFFA}"/>
                </a:ext>
              </a:extLst>
            </p:cNvPr>
            <p:cNvSpPr txBox="1"/>
            <p:nvPr/>
          </p:nvSpPr>
          <p:spPr>
            <a:xfrm>
              <a:off x="7067881" y="6060774"/>
              <a:ext cx="11192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Overflow!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9A264C9D-7B1A-B35C-3259-8B6306F8D92C}"/>
              </a:ext>
            </a:extLst>
          </p:cNvPr>
          <p:cNvGrpSpPr/>
          <p:nvPr/>
        </p:nvGrpSpPr>
        <p:grpSpPr>
          <a:xfrm>
            <a:off x="3548172" y="2765532"/>
            <a:ext cx="876667" cy="735030"/>
            <a:chOff x="7067881" y="5382271"/>
            <a:chExt cx="1119281" cy="1047835"/>
          </a:xfrm>
        </p:grpSpPr>
        <p:pic>
          <p:nvPicPr>
            <p:cNvPr id="54" name="Picture 2" descr="Image of horror emoji">
              <a:hlinkClick r:id="rId4"/>
              <a:extLst>
                <a:ext uri="{FF2B5EF4-FFF2-40B4-BE49-F238E27FC236}">
                  <a16:creationId xmlns:a16="http://schemas.microsoft.com/office/drawing/2014/main" id="{D5EAC00F-2372-C8DC-544E-49CCE844B41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17596" y="5382271"/>
              <a:ext cx="819852" cy="8198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CC84A29-C1AE-3557-2161-CB5AC47E890F}"/>
                </a:ext>
              </a:extLst>
            </p:cNvPr>
            <p:cNvSpPr txBox="1"/>
            <p:nvPr/>
          </p:nvSpPr>
          <p:spPr>
            <a:xfrm>
              <a:off x="7067881" y="6060774"/>
              <a:ext cx="11192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Overflow!</a:t>
              </a:r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9C410BD-2250-6F41-24E4-91AF5ED05239}"/>
              </a:ext>
            </a:extLst>
          </p:cNvPr>
          <p:cNvGrpSpPr/>
          <p:nvPr/>
        </p:nvGrpSpPr>
        <p:grpSpPr>
          <a:xfrm>
            <a:off x="3447823" y="6031627"/>
            <a:ext cx="876667" cy="735030"/>
            <a:chOff x="7067881" y="5382271"/>
            <a:chExt cx="1119281" cy="1047835"/>
          </a:xfrm>
        </p:grpSpPr>
        <p:pic>
          <p:nvPicPr>
            <p:cNvPr id="57" name="Picture 2" descr="Image of horror emoji">
              <a:hlinkClick r:id="rId4"/>
              <a:extLst>
                <a:ext uri="{FF2B5EF4-FFF2-40B4-BE49-F238E27FC236}">
                  <a16:creationId xmlns:a16="http://schemas.microsoft.com/office/drawing/2014/main" id="{1204C56A-D469-B275-E666-C2D6F4B0D1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17596" y="5382271"/>
              <a:ext cx="819852" cy="8198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B9A8D3A8-F982-0140-C7F8-25E287932949}"/>
                </a:ext>
              </a:extLst>
            </p:cNvPr>
            <p:cNvSpPr txBox="1"/>
            <p:nvPr/>
          </p:nvSpPr>
          <p:spPr>
            <a:xfrm>
              <a:off x="7067881" y="6060774"/>
              <a:ext cx="11192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Overflow!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85755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5" grpId="0" animBg="1"/>
      <p:bldP spid="1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3D83C592-F18C-682D-6777-007D7E5288AD}"/>
              </a:ext>
            </a:extLst>
          </p:cNvPr>
          <p:cNvSpPr/>
          <p:nvPr/>
        </p:nvSpPr>
        <p:spPr>
          <a:xfrm>
            <a:off x="4773387" y="3719773"/>
            <a:ext cx="4241127" cy="3149948"/>
          </a:xfrm>
          <a:prstGeom prst="rect">
            <a:avLst/>
          </a:prstGeom>
          <a:solidFill>
            <a:srgbClr val="FF9CF6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6F2262E-6D75-4282-8BAB-13A0E7B6B926}"/>
              </a:ext>
            </a:extLst>
          </p:cNvPr>
          <p:cNvSpPr/>
          <p:nvPr/>
        </p:nvSpPr>
        <p:spPr>
          <a:xfrm>
            <a:off x="277591" y="3708052"/>
            <a:ext cx="4241127" cy="3149948"/>
          </a:xfrm>
          <a:prstGeom prst="rect">
            <a:avLst/>
          </a:prstGeom>
          <a:solidFill>
            <a:srgbClr val="FF9CF6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F25676-9D53-4230-B70A-EEB0F22A1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9882" y="274638"/>
            <a:ext cx="7566917" cy="1143000"/>
          </a:xfrm>
        </p:spPr>
        <p:txBody>
          <a:bodyPr>
            <a:normAutofit/>
          </a:bodyPr>
          <a:lstStyle/>
          <a:p>
            <a:r>
              <a:rPr lang="en-US" dirty="0"/>
              <a:t>Signed subtraction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24828D4D-1BAE-4282-94D5-30D337575B88}"/>
              </a:ext>
            </a:extLst>
          </p:cNvPr>
          <p:cNvGrpSpPr/>
          <p:nvPr/>
        </p:nvGrpSpPr>
        <p:grpSpPr>
          <a:xfrm>
            <a:off x="755577" y="1433511"/>
            <a:ext cx="3038142" cy="1646772"/>
            <a:chOff x="-50944" y="3310806"/>
            <a:chExt cx="3038142" cy="1646772"/>
          </a:xfrm>
        </p:grpSpPr>
        <p:sp>
          <p:nvSpPr>
            <p:cNvPr id="4" name="Rectangle 4">
              <a:extLst>
                <a:ext uri="{FF2B5EF4-FFF2-40B4-BE49-F238E27FC236}">
                  <a16:creationId xmlns:a16="http://schemas.microsoft.com/office/drawing/2014/main" id="{C9EFC118-8F86-4DD7-AE77-F6D17236C2EB}"/>
                </a:ext>
              </a:extLst>
            </p:cNvPr>
            <p:cNvSpPr/>
            <p:nvPr/>
          </p:nvSpPr>
          <p:spPr>
            <a:xfrm>
              <a:off x="281081" y="3391104"/>
              <a:ext cx="2137244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0 0 0 0 0 0 0 1</a:t>
              </a:r>
            </a:p>
          </p:txBody>
        </p:sp>
        <p:sp>
          <p:nvSpPr>
            <p:cNvPr id="5" name="Rectangle 5">
              <a:extLst>
                <a:ext uri="{FF2B5EF4-FFF2-40B4-BE49-F238E27FC236}">
                  <a16:creationId xmlns:a16="http://schemas.microsoft.com/office/drawing/2014/main" id="{4121829A-DA7A-45E1-93C8-1DE1721DA781}"/>
                </a:ext>
              </a:extLst>
            </p:cNvPr>
            <p:cNvSpPr/>
            <p:nvPr/>
          </p:nvSpPr>
          <p:spPr>
            <a:xfrm>
              <a:off x="168999" y="3791215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0 0 0 0 0 0 1 1 </a:t>
              </a: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B70DD393-3404-454E-AD08-3EDD5B4BD261}"/>
                </a:ext>
              </a:extLst>
            </p:cNvPr>
            <p:cNvSpPr txBox="1"/>
            <p:nvPr/>
          </p:nvSpPr>
          <p:spPr>
            <a:xfrm>
              <a:off x="-50944" y="3721956"/>
              <a:ext cx="457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600" dirty="0">
                  <a:latin typeface="Verdana"/>
                  <a:cs typeface="Verdana"/>
                </a:rPr>
                <a:t>-</a:t>
              </a:r>
            </a:p>
          </p:txBody>
        </p:sp>
        <p:cxnSp>
          <p:nvCxnSpPr>
            <p:cNvPr id="7" name="Straight Connector 8">
              <a:extLst>
                <a:ext uri="{FF2B5EF4-FFF2-40B4-BE49-F238E27FC236}">
                  <a16:creationId xmlns:a16="http://schemas.microsoft.com/office/drawing/2014/main" id="{AB49439F-65FF-4FD3-A10C-A9696BD25008}"/>
                </a:ext>
              </a:extLst>
            </p:cNvPr>
            <p:cNvCxnSpPr>
              <a:cxnSpLocks/>
            </p:cNvCxnSpPr>
            <p:nvPr/>
          </p:nvCxnSpPr>
          <p:spPr>
            <a:xfrm>
              <a:off x="179952" y="4957578"/>
              <a:ext cx="264559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95831B9-3A8C-428C-9D94-5DC0845C56D8}"/>
                </a:ext>
              </a:extLst>
            </p:cNvPr>
            <p:cNvSpPr txBox="1"/>
            <p:nvPr/>
          </p:nvSpPr>
          <p:spPr>
            <a:xfrm>
              <a:off x="2275951" y="3310806"/>
              <a:ext cx="599844" cy="880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(1)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  <a:endParaRPr lang="en-US" dirty="0">
                <a:solidFill>
                  <a:schemeClr val="accent1"/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(3)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1FBC9AB-5B4C-4158-8509-A1CBCD59359F}"/>
              </a:ext>
            </a:extLst>
          </p:cNvPr>
          <p:cNvGrpSpPr/>
          <p:nvPr/>
        </p:nvGrpSpPr>
        <p:grpSpPr>
          <a:xfrm>
            <a:off x="4696469" y="1434692"/>
            <a:ext cx="2979309" cy="1554190"/>
            <a:chOff x="2922797" y="3311987"/>
            <a:chExt cx="2979309" cy="1554190"/>
          </a:xfrm>
        </p:grpSpPr>
        <p:sp>
          <p:nvSpPr>
            <p:cNvPr id="19" name="Rectangle 4">
              <a:extLst>
                <a:ext uri="{FF2B5EF4-FFF2-40B4-BE49-F238E27FC236}">
                  <a16:creationId xmlns:a16="http://schemas.microsoft.com/office/drawing/2014/main" id="{7AEF195B-0084-4156-96AA-1F37551112F7}"/>
                </a:ext>
              </a:extLst>
            </p:cNvPr>
            <p:cNvSpPr/>
            <p:nvPr/>
          </p:nvSpPr>
          <p:spPr>
            <a:xfrm>
              <a:off x="3195989" y="3392285"/>
              <a:ext cx="2137244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0 0 0 0 0 0 0 1</a:t>
              </a:r>
            </a:p>
          </p:txBody>
        </p:sp>
        <p:sp>
          <p:nvSpPr>
            <p:cNvPr id="20" name="Rectangle 5">
              <a:extLst>
                <a:ext uri="{FF2B5EF4-FFF2-40B4-BE49-F238E27FC236}">
                  <a16:creationId xmlns:a16="http://schemas.microsoft.com/office/drawing/2014/main" id="{4D3C6B0C-B973-46DD-A5EC-A8A5644FC0FF}"/>
                </a:ext>
              </a:extLst>
            </p:cNvPr>
            <p:cNvSpPr/>
            <p:nvPr/>
          </p:nvSpPr>
          <p:spPr>
            <a:xfrm>
              <a:off x="3083907" y="3792396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1 1 1 1 1 1 1 1 </a:t>
              </a:r>
            </a:p>
          </p:txBody>
        </p:sp>
        <p:sp>
          <p:nvSpPr>
            <p:cNvPr id="21" name="TextBox 6">
              <a:extLst>
                <a:ext uri="{FF2B5EF4-FFF2-40B4-BE49-F238E27FC236}">
                  <a16:creationId xmlns:a16="http://schemas.microsoft.com/office/drawing/2014/main" id="{7C8F95D0-3626-4D41-9104-82519F33AA77}"/>
                </a:ext>
              </a:extLst>
            </p:cNvPr>
            <p:cNvSpPr txBox="1"/>
            <p:nvPr/>
          </p:nvSpPr>
          <p:spPr>
            <a:xfrm>
              <a:off x="2922797" y="3728880"/>
              <a:ext cx="457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600" dirty="0">
                  <a:latin typeface="Verdana"/>
                  <a:cs typeface="Verdana"/>
                </a:rPr>
                <a:t>-</a:t>
              </a:r>
            </a:p>
          </p:txBody>
        </p:sp>
        <p:cxnSp>
          <p:nvCxnSpPr>
            <p:cNvPr id="22" name="Straight Connector 8">
              <a:extLst>
                <a:ext uri="{FF2B5EF4-FFF2-40B4-BE49-F238E27FC236}">
                  <a16:creationId xmlns:a16="http://schemas.microsoft.com/office/drawing/2014/main" id="{79555BF1-3517-4E26-A4A2-8CF0177E4FD3}"/>
                </a:ext>
              </a:extLst>
            </p:cNvPr>
            <p:cNvCxnSpPr>
              <a:cxnSpLocks/>
            </p:cNvCxnSpPr>
            <p:nvPr/>
          </p:nvCxnSpPr>
          <p:spPr>
            <a:xfrm>
              <a:off x="3108192" y="4866177"/>
              <a:ext cx="264559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BF08002-8FD7-4714-8191-30F0148AD3A5}"/>
                </a:ext>
              </a:extLst>
            </p:cNvPr>
            <p:cNvSpPr txBox="1"/>
            <p:nvPr/>
          </p:nvSpPr>
          <p:spPr>
            <a:xfrm>
              <a:off x="5185779" y="3311987"/>
              <a:ext cx="670376" cy="880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(1)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  <a:endParaRPr lang="en-US" dirty="0">
                <a:solidFill>
                  <a:schemeClr val="accent1"/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(-1)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8D48EFB0-A87C-4A5C-901B-2C89FE93C712}"/>
              </a:ext>
            </a:extLst>
          </p:cNvPr>
          <p:cNvGrpSpPr/>
          <p:nvPr/>
        </p:nvGrpSpPr>
        <p:grpSpPr>
          <a:xfrm>
            <a:off x="5047933" y="3924939"/>
            <a:ext cx="3206386" cy="1752283"/>
            <a:chOff x="5990198" y="3310806"/>
            <a:chExt cx="3206386" cy="1752283"/>
          </a:xfrm>
        </p:grpSpPr>
        <p:sp>
          <p:nvSpPr>
            <p:cNvPr id="27" name="Rectangle 4">
              <a:extLst>
                <a:ext uri="{FF2B5EF4-FFF2-40B4-BE49-F238E27FC236}">
                  <a16:creationId xmlns:a16="http://schemas.microsoft.com/office/drawing/2014/main" id="{C5F11EB6-32B8-48FF-9A1A-C35CF5B8C8E1}"/>
                </a:ext>
              </a:extLst>
            </p:cNvPr>
            <p:cNvSpPr/>
            <p:nvPr/>
          </p:nvSpPr>
          <p:spPr>
            <a:xfrm>
              <a:off x="6302379" y="3391104"/>
              <a:ext cx="2137244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1 0 0 0 0 0 0 0</a:t>
              </a:r>
            </a:p>
          </p:txBody>
        </p:sp>
        <p:sp>
          <p:nvSpPr>
            <p:cNvPr id="28" name="Rectangle 5">
              <a:extLst>
                <a:ext uri="{FF2B5EF4-FFF2-40B4-BE49-F238E27FC236}">
                  <a16:creationId xmlns:a16="http://schemas.microsoft.com/office/drawing/2014/main" id="{FF1BE6B7-7EFD-4CA2-93E3-AF03868A93C0}"/>
                </a:ext>
              </a:extLst>
            </p:cNvPr>
            <p:cNvSpPr/>
            <p:nvPr/>
          </p:nvSpPr>
          <p:spPr>
            <a:xfrm>
              <a:off x="6190297" y="3791215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0 0 0 0 0 0 0 1 </a:t>
              </a:r>
            </a:p>
          </p:txBody>
        </p:sp>
        <p:sp>
          <p:nvSpPr>
            <p:cNvPr id="29" name="TextBox 6">
              <a:extLst>
                <a:ext uri="{FF2B5EF4-FFF2-40B4-BE49-F238E27FC236}">
                  <a16:creationId xmlns:a16="http://schemas.microsoft.com/office/drawing/2014/main" id="{F95F7C08-09C1-467D-A516-2FD7C9B6CBD9}"/>
                </a:ext>
              </a:extLst>
            </p:cNvPr>
            <p:cNvSpPr txBox="1"/>
            <p:nvPr/>
          </p:nvSpPr>
          <p:spPr>
            <a:xfrm>
              <a:off x="5990198" y="3752732"/>
              <a:ext cx="457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600" dirty="0">
                  <a:latin typeface="Verdana"/>
                  <a:cs typeface="Verdana"/>
                </a:rPr>
                <a:t>-</a:t>
              </a:r>
            </a:p>
          </p:txBody>
        </p:sp>
        <p:cxnSp>
          <p:nvCxnSpPr>
            <p:cNvPr id="30" name="Straight Connector 8">
              <a:extLst>
                <a:ext uri="{FF2B5EF4-FFF2-40B4-BE49-F238E27FC236}">
                  <a16:creationId xmlns:a16="http://schemas.microsoft.com/office/drawing/2014/main" id="{9E2B4CA5-BABD-4BCF-B439-31046071096F}"/>
                </a:ext>
              </a:extLst>
            </p:cNvPr>
            <p:cNvCxnSpPr>
              <a:cxnSpLocks/>
            </p:cNvCxnSpPr>
            <p:nvPr/>
          </p:nvCxnSpPr>
          <p:spPr>
            <a:xfrm>
              <a:off x="6222659" y="5063089"/>
              <a:ext cx="264559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8E12B2F1-EDAF-4821-B2CF-F069800E202F}"/>
                </a:ext>
              </a:extLst>
            </p:cNvPr>
            <p:cNvSpPr txBox="1"/>
            <p:nvPr/>
          </p:nvSpPr>
          <p:spPr>
            <a:xfrm>
              <a:off x="8292169" y="3310806"/>
              <a:ext cx="904415" cy="880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(-128)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  <a:endParaRPr lang="en-US" dirty="0">
                <a:solidFill>
                  <a:schemeClr val="accent1"/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(1)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26A2B64-8D91-4D3B-BC9E-0470050238DB}"/>
              </a:ext>
            </a:extLst>
          </p:cNvPr>
          <p:cNvGrpSpPr/>
          <p:nvPr/>
        </p:nvGrpSpPr>
        <p:grpSpPr>
          <a:xfrm>
            <a:off x="842035" y="5690537"/>
            <a:ext cx="2988438" cy="488091"/>
            <a:chOff x="752525" y="5461936"/>
            <a:chExt cx="2988438" cy="488091"/>
          </a:xfrm>
        </p:grpSpPr>
        <p:sp>
          <p:nvSpPr>
            <p:cNvPr id="31" name="Rectangle 5">
              <a:extLst>
                <a:ext uri="{FF2B5EF4-FFF2-40B4-BE49-F238E27FC236}">
                  <a16:creationId xmlns:a16="http://schemas.microsoft.com/office/drawing/2014/main" id="{B775CE30-19BD-4F0F-BE43-F47507848578}"/>
                </a:ext>
              </a:extLst>
            </p:cNvPr>
            <p:cNvSpPr/>
            <p:nvPr/>
          </p:nvSpPr>
          <p:spPr>
            <a:xfrm>
              <a:off x="752525" y="5549917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1 0 0 0 0 0 0 1 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3B91437-092A-49E0-933D-20C7AF475C86}"/>
                </a:ext>
              </a:extLst>
            </p:cNvPr>
            <p:cNvSpPr txBox="1"/>
            <p:nvPr/>
          </p:nvSpPr>
          <p:spPr>
            <a:xfrm>
              <a:off x="2836548" y="5461936"/>
              <a:ext cx="904415" cy="4648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(-127)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pic>
        <p:nvPicPr>
          <p:cNvPr id="3" name="图片 10">
            <a:extLst>
              <a:ext uri="{FF2B5EF4-FFF2-40B4-BE49-F238E27FC236}">
                <a16:creationId xmlns:a16="http://schemas.microsoft.com/office/drawing/2014/main" id="{058FB859-A11E-4899-9433-AC53C18891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998" y="475662"/>
            <a:ext cx="775784" cy="79901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733A1C6-103A-49F9-B24B-6E7542094BB7}"/>
              </a:ext>
            </a:extLst>
          </p:cNvPr>
          <p:cNvSpPr txBox="1"/>
          <p:nvPr/>
        </p:nvSpPr>
        <p:spPr>
          <a:xfrm>
            <a:off x="306959" y="606445"/>
            <a:ext cx="29607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/>
              <a:t>🤔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AF92BFD-7978-4D65-B36B-5E33CCDD7D19}"/>
              </a:ext>
            </a:extLst>
          </p:cNvPr>
          <p:cNvGrpSpPr/>
          <p:nvPr/>
        </p:nvGrpSpPr>
        <p:grpSpPr>
          <a:xfrm>
            <a:off x="975519" y="3044010"/>
            <a:ext cx="2818199" cy="505357"/>
            <a:chOff x="975519" y="3044010"/>
            <a:chExt cx="2818199" cy="505357"/>
          </a:xfrm>
        </p:grpSpPr>
        <p:sp>
          <p:nvSpPr>
            <p:cNvPr id="18" name="Rectangle 5">
              <a:extLst>
                <a:ext uri="{FF2B5EF4-FFF2-40B4-BE49-F238E27FC236}">
                  <a16:creationId xmlns:a16="http://schemas.microsoft.com/office/drawing/2014/main" id="{F3ADEDE1-8B69-471D-814C-C8C229B890FA}"/>
                </a:ext>
              </a:extLst>
            </p:cNvPr>
            <p:cNvSpPr/>
            <p:nvPr/>
          </p:nvSpPr>
          <p:spPr>
            <a:xfrm>
              <a:off x="975519" y="3149257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1 1 1 1 1 1 1 0 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0D81915-1930-46A8-8FCB-7A0A3FF0B30E}"/>
                </a:ext>
              </a:extLst>
            </p:cNvPr>
            <p:cNvSpPr txBox="1"/>
            <p:nvPr/>
          </p:nvSpPr>
          <p:spPr>
            <a:xfrm>
              <a:off x="3082472" y="3044010"/>
              <a:ext cx="670376" cy="4648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(-2)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84AE4325-AB21-4C04-9DE8-D2C472573D87}"/>
              </a:ext>
            </a:extLst>
          </p:cNvPr>
          <p:cNvGrpSpPr/>
          <p:nvPr/>
        </p:nvGrpSpPr>
        <p:grpSpPr>
          <a:xfrm>
            <a:off x="4857578" y="2973671"/>
            <a:ext cx="2818199" cy="505358"/>
            <a:chOff x="3890427" y="2885746"/>
            <a:chExt cx="2818199" cy="505358"/>
          </a:xfrm>
        </p:grpSpPr>
        <p:sp>
          <p:nvSpPr>
            <p:cNvPr id="23" name="Rectangle 5">
              <a:extLst>
                <a:ext uri="{FF2B5EF4-FFF2-40B4-BE49-F238E27FC236}">
                  <a16:creationId xmlns:a16="http://schemas.microsoft.com/office/drawing/2014/main" id="{1682F40F-03EF-44A5-BC1C-743315DD8BCF}"/>
                </a:ext>
              </a:extLst>
            </p:cNvPr>
            <p:cNvSpPr/>
            <p:nvPr/>
          </p:nvSpPr>
          <p:spPr>
            <a:xfrm>
              <a:off x="3890427" y="2990994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0 0 0 0 0 0 1 0 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9B5C345-0FD2-4F38-A5FA-A677D823A56A}"/>
                </a:ext>
              </a:extLst>
            </p:cNvPr>
            <p:cNvSpPr txBox="1"/>
            <p:nvPr/>
          </p:nvSpPr>
          <p:spPr>
            <a:xfrm>
              <a:off x="6038251" y="2885746"/>
              <a:ext cx="599844" cy="4648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(2)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D377D08-69B7-42BD-9CCB-EAE4FBA25ACA}"/>
              </a:ext>
            </a:extLst>
          </p:cNvPr>
          <p:cNvCxnSpPr/>
          <p:nvPr/>
        </p:nvCxnSpPr>
        <p:spPr>
          <a:xfrm>
            <a:off x="0" y="3657600"/>
            <a:ext cx="9144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D7C0916-7492-4215-B231-E5CD2AF89194}"/>
              </a:ext>
            </a:extLst>
          </p:cNvPr>
          <p:cNvGrpSpPr/>
          <p:nvPr/>
        </p:nvGrpSpPr>
        <p:grpSpPr>
          <a:xfrm>
            <a:off x="750303" y="3963497"/>
            <a:ext cx="3135854" cy="1717114"/>
            <a:chOff x="5990198" y="3310806"/>
            <a:chExt cx="3135854" cy="1717114"/>
          </a:xfrm>
        </p:grpSpPr>
        <p:sp>
          <p:nvSpPr>
            <p:cNvPr id="48" name="Rectangle 4">
              <a:extLst>
                <a:ext uri="{FF2B5EF4-FFF2-40B4-BE49-F238E27FC236}">
                  <a16:creationId xmlns:a16="http://schemas.microsoft.com/office/drawing/2014/main" id="{90B19341-E76F-4682-9EBE-934C5E04F5BD}"/>
                </a:ext>
              </a:extLst>
            </p:cNvPr>
            <p:cNvSpPr/>
            <p:nvPr/>
          </p:nvSpPr>
          <p:spPr>
            <a:xfrm>
              <a:off x="6302379" y="3391104"/>
              <a:ext cx="2137244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0 1 1 1 1 1 1 1</a:t>
              </a:r>
            </a:p>
          </p:txBody>
        </p:sp>
        <p:sp>
          <p:nvSpPr>
            <p:cNvPr id="49" name="Rectangle 5">
              <a:extLst>
                <a:ext uri="{FF2B5EF4-FFF2-40B4-BE49-F238E27FC236}">
                  <a16:creationId xmlns:a16="http://schemas.microsoft.com/office/drawing/2014/main" id="{B148FC51-800C-42FD-8FB7-46461300F8C7}"/>
                </a:ext>
              </a:extLst>
            </p:cNvPr>
            <p:cNvSpPr/>
            <p:nvPr/>
          </p:nvSpPr>
          <p:spPr>
            <a:xfrm>
              <a:off x="6190297" y="3791215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1 1 1 1 1 1 1 0 </a:t>
              </a:r>
            </a:p>
          </p:txBody>
        </p:sp>
        <p:sp>
          <p:nvSpPr>
            <p:cNvPr id="50" name="TextBox 6">
              <a:extLst>
                <a:ext uri="{FF2B5EF4-FFF2-40B4-BE49-F238E27FC236}">
                  <a16:creationId xmlns:a16="http://schemas.microsoft.com/office/drawing/2014/main" id="{5193A9BE-6FF7-48E5-B107-0E72A40FAB50}"/>
                </a:ext>
              </a:extLst>
            </p:cNvPr>
            <p:cNvSpPr txBox="1"/>
            <p:nvPr/>
          </p:nvSpPr>
          <p:spPr>
            <a:xfrm>
              <a:off x="5990198" y="3752732"/>
              <a:ext cx="457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600" dirty="0">
                  <a:latin typeface="Verdana"/>
                  <a:cs typeface="Verdana"/>
                </a:rPr>
                <a:t>-</a:t>
              </a:r>
            </a:p>
          </p:txBody>
        </p:sp>
        <p:cxnSp>
          <p:nvCxnSpPr>
            <p:cNvPr id="51" name="Straight Connector 8">
              <a:extLst>
                <a:ext uri="{FF2B5EF4-FFF2-40B4-BE49-F238E27FC236}">
                  <a16:creationId xmlns:a16="http://schemas.microsoft.com/office/drawing/2014/main" id="{C80917AD-12C6-4B3B-A4FA-C3AE9E5E5A59}"/>
                </a:ext>
              </a:extLst>
            </p:cNvPr>
            <p:cNvCxnSpPr>
              <a:cxnSpLocks/>
            </p:cNvCxnSpPr>
            <p:nvPr/>
          </p:nvCxnSpPr>
          <p:spPr>
            <a:xfrm>
              <a:off x="6240244" y="5027920"/>
              <a:ext cx="264559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A4C2137-8FA1-40F3-9997-D49A2EC76B70}"/>
                </a:ext>
              </a:extLst>
            </p:cNvPr>
            <p:cNvSpPr txBox="1"/>
            <p:nvPr/>
          </p:nvSpPr>
          <p:spPr>
            <a:xfrm>
              <a:off x="8292169" y="3310806"/>
              <a:ext cx="833883" cy="8803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(127)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  <a:endParaRPr lang="en-US" dirty="0">
                <a:solidFill>
                  <a:schemeClr val="accent1"/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(-2)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FEF9C90-E8E8-43A4-9D8E-E408172956C9}"/>
              </a:ext>
            </a:extLst>
          </p:cNvPr>
          <p:cNvGrpSpPr/>
          <p:nvPr/>
        </p:nvGrpSpPr>
        <p:grpSpPr>
          <a:xfrm>
            <a:off x="5226813" y="5683032"/>
            <a:ext cx="2917906" cy="488091"/>
            <a:chOff x="4259662" y="5454428"/>
            <a:chExt cx="2917906" cy="488091"/>
          </a:xfrm>
        </p:grpSpPr>
        <p:sp>
          <p:nvSpPr>
            <p:cNvPr id="44" name="Rectangle 5">
              <a:extLst>
                <a:ext uri="{FF2B5EF4-FFF2-40B4-BE49-F238E27FC236}">
                  <a16:creationId xmlns:a16="http://schemas.microsoft.com/office/drawing/2014/main" id="{D241355B-5D22-4CEE-98EB-8701D5AF72CA}"/>
                </a:ext>
              </a:extLst>
            </p:cNvPr>
            <p:cNvSpPr/>
            <p:nvPr/>
          </p:nvSpPr>
          <p:spPr>
            <a:xfrm>
              <a:off x="4259662" y="5542409"/>
              <a:ext cx="2818199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000" dirty="0">
                  <a:latin typeface="Verdana"/>
                  <a:cs typeface="Verdana"/>
                </a:rPr>
                <a:t> 0 1 1 1 1 1 1 1 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A42A0DC6-C05C-46C5-B39F-738775465972}"/>
                </a:ext>
              </a:extLst>
            </p:cNvPr>
            <p:cNvSpPr txBox="1"/>
            <p:nvPr/>
          </p:nvSpPr>
          <p:spPr>
            <a:xfrm>
              <a:off x="6343685" y="5454428"/>
              <a:ext cx="833883" cy="4648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dirty="0">
                  <a:solidFill>
                    <a:schemeClr val="accent1"/>
                  </a:solidFill>
                </a:rPr>
                <a:t>(127)</a:t>
              </a:r>
              <a:r>
                <a:rPr lang="en-US" baseline="-25000" dirty="0">
                  <a:solidFill>
                    <a:schemeClr val="accent1"/>
                  </a:solidFill>
                </a:rPr>
                <a:t>10</a:t>
              </a:r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41BFBF4-2145-9DD1-2549-7E627DA362D9}"/>
              </a:ext>
            </a:extLst>
          </p:cNvPr>
          <p:cNvCxnSpPr>
            <a:cxnSpLocks/>
          </p:cNvCxnSpPr>
          <p:nvPr/>
        </p:nvCxnSpPr>
        <p:spPr>
          <a:xfrm>
            <a:off x="4624764" y="1153817"/>
            <a:ext cx="52220" cy="5123891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33B8393-3292-D43D-2EBC-47EB2191293E}"/>
              </a:ext>
            </a:extLst>
          </p:cNvPr>
          <p:cNvGrpSpPr/>
          <p:nvPr/>
        </p:nvGrpSpPr>
        <p:grpSpPr>
          <a:xfrm>
            <a:off x="3447823" y="6031627"/>
            <a:ext cx="876667" cy="735030"/>
            <a:chOff x="7067881" y="5382271"/>
            <a:chExt cx="1119281" cy="1047835"/>
          </a:xfrm>
        </p:grpSpPr>
        <p:pic>
          <p:nvPicPr>
            <p:cNvPr id="16" name="Picture 2" descr="Image of horror emoji">
              <a:hlinkClick r:id="rId4"/>
              <a:extLst>
                <a:ext uri="{FF2B5EF4-FFF2-40B4-BE49-F238E27FC236}">
                  <a16:creationId xmlns:a16="http://schemas.microsoft.com/office/drawing/2014/main" id="{72A93050-D9B2-B80E-D6A5-536C907EA5D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17596" y="5382271"/>
              <a:ext cx="819852" cy="8198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0812484-F304-5E5F-047B-C5F588E33603}"/>
                </a:ext>
              </a:extLst>
            </p:cNvPr>
            <p:cNvSpPr txBox="1"/>
            <p:nvPr/>
          </p:nvSpPr>
          <p:spPr>
            <a:xfrm>
              <a:off x="7067881" y="6060774"/>
              <a:ext cx="11192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Overflow!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A9E8D836-164D-7304-3ACA-FF1EF6A1C437}"/>
              </a:ext>
            </a:extLst>
          </p:cNvPr>
          <p:cNvGrpSpPr/>
          <p:nvPr/>
        </p:nvGrpSpPr>
        <p:grpSpPr>
          <a:xfrm>
            <a:off x="7943619" y="6025762"/>
            <a:ext cx="876667" cy="735030"/>
            <a:chOff x="7067881" y="5382271"/>
            <a:chExt cx="1119281" cy="1047835"/>
          </a:xfrm>
        </p:grpSpPr>
        <p:pic>
          <p:nvPicPr>
            <p:cNvPr id="34" name="Picture 2" descr="Image of horror emoji">
              <a:hlinkClick r:id="rId4"/>
              <a:extLst>
                <a:ext uri="{FF2B5EF4-FFF2-40B4-BE49-F238E27FC236}">
                  <a16:creationId xmlns:a16="http://schemas.microsoft.com/office/drawing/2014/main" id="{1D7AEAAC-567B-B4EA-C5F2-0317007895A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17596" y="5382271"/>
              <a:ext cx="819852" cy="8198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210D50D0-A6B8-3061-2484-0CDD1DD9C823}"/>
                </a:ext>
              </a:extLst>
            </p:cNvPr>
            <p:cNvSpPr txBox="1"/>
            <p:nvPr/>
          </p:nvSpPr>
          <p:spPr>
            <a:xfrm>
              <a:off x="7067881" y="6060774"/>
              <a:ext cx="11192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Overflow!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44018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1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9057C0-56B5-432D-960B-C4EACD245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Lesson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88728B-DE0F-474C-A02E-C6E5330170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How computers represent integers</a:t>
            </a:r>
          </a:p>
          <a:p>
            <a:pPr lvl="1"/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Bit, Byte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Hex notation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How computers add/subtract integers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Signed integer representation</a:t>
            </a:r>
          </a:p>
          <a:p>
            <a:pPr lvl="1"/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2’s complement</a:t>
            </a:r>
          </a:p>
          <a:p>
            <a:r>
              <a:rPr lang="en-US" dirty="0"/>
              <a:t>A short history of processors: </a:t>
            </a:r>
          </a:p>
          <a:p>
            <a:pPr lvl="1"/>
            <a:r>
              <a:rPr lang="en-US" dirty="0"/>
              <a:t>from 8-bit to 64-bit machines</a:t>
            </a:r>
          </a:p>
          <a:p>
            <a:r>
              <a:rPr lang="en-US" dirty="0"/>
              <a:t>Byte ordering: big vs. small endian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682359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C1664-18B8-48F3-9145-C7134B3B8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76" y="2650078"/>
            <a:ext cx="8322844" cy="817905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The evolution of integer sizes in processors</a:t>
            </a:r>
          </a:p>
        </p:txBody>
      </p:sp>
    </p:spTree>
    <p:extLst>
      <p:ext uri="{BB962C8B-B14F-4D97-AF65-F5344CB8AC3E}">
        <p14:creationId xmlns:p14="http://schemas.microsoft.com/office/powerpoint/2010/main" val="355984591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83875" y="345269"/>
            <a:ext cx="8317642" cy="994172"/>
          </a:xfrm>
        </p:spPr>
        <p:txBody>
          <a:bodyPr>
            <a:normAutofit fontScale="90000"/>
          </a:bodyPr>
          <a:lstStyle/>
          <a:p>
            <a:r>
              <a:rPr kumimoji="1" lang="en-US" altLang="zh-CN" dirty="0"/>
              <a:t>8-bit processors: Intel 8080 (1974)</a:t>
            </a:r>
            <a:endParaRPr kumimoji="1" lang="zh-CN" altLang="en-US" dirty="0"/>
          </a:p>
        </p:txBody>
      </p:sp>
      <p:grpSp>
        <p:nvGrpSpPr>
          <p:cNvPr id="4" name="组 3"/>
          <p:cNvGrpSpPr/>
          <p:nvPr/>
        </p:nvGrpSpPr>
        <p:grpSpPr>
          <a:xfrm>
            <a:off x="5750033" y="2096973"/>
            <a:ext cx="1686836" cy="1254341"/>
            <a:chOff x="4589993" y="1584086"/>
            <a:chExt cx="2146574" cy="951208"/>
          </a:xfrm>
        </p:grpSpPr>
        <p:sp>
          <p:nvSpPr>
            <p:cNvPr id="5" name="矩形 4"/>
            <p:cNvSpPr/>
            <p:nvPr/>
          </p:nvSpPr>
          <p:spPr>
            <a:xfrm>
              <a:off x="4589993" y="1584086"/>
              <a:ext cx="2146574" cy="951208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 w="38100" cmpd="sng">
              <a:solidFill>
                <a:schemeClr val="tx2"/>
              </a:solidFill>
            </a:ln>
            <a:effectLst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 sz="1350" dirty="0">
                <a:solidFill>
                  <a:schemeClr val="tx1"/>
                </a:solidFill>
                <a:latin typeface="Verdana"/>
                <a:cs typeface="Verdana"/>
              </a:endParaRPr>
            </a:p>
          </p:txBody>
        </p:sp>
        <p:sp>
          <p:nvSpPr>
            <p:cNvPr id="6" name="矩形 5"/>
            <p:cNvSpPr/>
            <p:nvPr/>
          </p:nvSpPr>
          <p:spPr>
            <a:xfrm>
              <a:off x="5331142" y="1593005"/>
              <a:ext cx="681733" cy="22756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kumimoji="1" lang="en-US" altLang="zh-CN" sz="1350" dirty="0">
                  <a:latin typeface="Verdana"/>
                  <a:cs typeface="Verdana"/>
                </a:rPr>
                <a:t>CPU</a:t>
              </a:r>
              <a:endParaRPr kumimoji="1" lang="zh-CN" altLang="en-US" sz="1350" dirty="0">
                <a:latin typeface="Verdana"/>
                <a:cs typeface="Verdana"/>
              </a:endParaRPr>
            </a:p>
          </p:txBody>
        </p:sp>
        <p:sp>
          <p:nvSpPr>
            <p:cNvPr id="7" name="矩形 6"/>
            <p:cNvSpPr/>
            <p:nvPr/>
          </p:nvSpPr>
          <p:spPr>
            <a:xfrm>
              <a:off x="4610611" y="1826373"/>
              <a:ext cx="2114515" cy="696758"/>
            </a:xfrm>
            <a:prstGeom prst="rect">
              <a:avLst/>
            </a:prstGeom>
            <a:solidFill>
              <a:schemeClr val="lt1">
                <a:alpha val="78000"/>
              </a:schemeClr>
            </a:solidFill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 sz="1350" dirty="0">
                <a:latin typeface="Verdana"/>
                <a:cs typeface="Verdana"/>
              </a:endParaRPr>
            </a:p>
          </p:txBody>
        </p:sp>
      </p:grpSp>
      <p:cxnSp>
        <p:nvCxnSpPr>
          <p:cNvPr id="8" name="直线箭头连接符 7"/>
          <p:cNvCxnSpPr>
            <a:cxnSpLocks/>
          </p:cNvCxnSpPr>
          <p:nvPr/>
        </p:nvCxnSpPr>
        <p:spPr>
          <a:xfrm flipV="1">
            <a:off x="3368426" y="2835169"/>
            <a:ext cx="2287337" cy="14745"/>
          </a:xfrm>
          <a:prstGeom prst="straightConnector1">
            <a:avLst/>
          </a:prstGeom>
          <a:ln w="12700"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矩形 8"/>
          <p:cNvSpPr/>
          <p:nvPr/>
        </p:nvSpPr>
        <p:spPr>
          <a:xfrm>
            <a:off x="3944696" y="2862965"/>
            <a:ext cx="1104790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500" i="1" dirty="0">
                <a:solidFill>
                  <a:prstClr val="black"/>
                </a:solidFill>
                <a:latin typeface="Arial"/>
                <a:cs typeface="Arial"/>
              </a:rPr>
              <a:t>Data: 0x4c</a:t>
            </a:r>
            <a:endParaRPr lang="zh-CN" altLang="en-US" sz="1500" i="1" dirty="0">
              <a:latin typeface="Arial"/>
              <a:cs typeface="Arial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621975" y="2611141"/>
            <a:ext cx="1463624" cy="280075"/>
          </a:xfrm>
          <a:prstGeom prst="rect">
            <a:avLst/>
          </a:prstGeom>
          <a:solidFill>
            <a:srgbClr val="FF0000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0x4c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621975" y="2331067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0x1e</a:t>
            </a:r>
            <a:endParaRPr kumimoji="1" lang="zh-CN" altLang="en-US" sz="1500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621975" y="2052974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0xaf</a:t>
            </a:r>
            <a:endParaRPr kumimoji="1" lang="zh-CN" altLang="en-US" sz="1500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1621975" y="1772899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0x0f</a:t>
            </a:r>
            <a:endParaRPr kumimoji="1" lang="zh-CN" altLang="en-US" sz="135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1946799" y="4887966"/>
            <a:ext cx="960519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500" dirty="0">
                <a:latin typeface="Verdana"/>
                <a:cs typeface="Verdana"/>
              </a:rPr>
              <a:t>Memory</a:t>
            </a:r>
            <a:endParaRPr lang="zh-CN" altLang="en-US" sz="1500" dirty="0"/>
          </a:p>
        </p:txBody>
      </p:sp>
      <p:sp>
        <p:nvSpPr>
          <p:cNvPr id="17" name="矩形 16"/>
          <p:cNvSpPr/>
          <p:nvPr/>
        </p:nvSpPr>
        <p:spPr>
          <a:xfrm>
            <a:off x="1621975" y="3170996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0xcb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1621975" y="2890921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0xea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0" name="矩形 19"/>
          <p:cNvSpPr/>
          <p:nvPr/>
        </p:nvSpPr>
        <p:spPr>
          <a:xfrm>
            <a:off x="1625253" y="3451553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0xba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1628529" y="3731628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1634215" y="4006173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0xff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1634215" y="4281851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0x8c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1634215" y="4558227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6695869" y="2998956"/>
            <a:ext cx="547135" cy="18717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prstClr val="black"/>
                </a:solidFill>
                <a:latin typeface="Arial"/>
                <a:cs typeface="Arial"/>
              </a:rPr>
              <a:t>0x4c</a:t>
            </a:r>
            <a:endParaRPr kumimoji="1" lang="zh-CN" altLang="en-US" sz="60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5813906" y="2434416"/>
            <a:ext cx="1613972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kumimoji="1" lang="en-US" altLang="zh-CN" sz="1050" dirty="0">
                <a:latin typeface="Verdana"/>
                <a:cs typeface="Verdana"/>
              </a:rPr>
              <a:t>Arithmetic Logic </a:t>
            </a:r>
          </a:p>
          <a:p>
            <a:pPr algn="ctr"/>
            <a:r>
              <a:rPr kumimoji="1" lang="en-US" altLang="zh-CN" sz="1050" dirty="0">
                <a:latin typeface="Verdana"/>
                <a:cs typeface="Verdana"/>
              </a:rPr>
              <a:t>Unit</a:t>
            </a:r>
            <a:endParaRPr kumimoji="1" lang="zh-CN" altLang="en-US" sz="1050" dirty="0">
              <a:latin typeface="Verdana"/>
              <a:cs typeface="Verdana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5866198" y="2966242"/>
            <a:ext cx="861133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050" b="1" dirty="0">
                <a:latin typeface="Verdana"/>
                <a:cs typeface="Verdana"/>
              </a:rPr>
              <a:t>registers</a:t>
            </a:r>
            <a:endParaRPr lang="zh-CN" altLang="en-US" sz="1050" b="1" dirty="0"/>
          </a:p>
        </p:txBody>
      </p:sp>
      <p:sp>
        <p:nvSpPr>
          <p:cNvPr id="28" name="矩形 27"/>
          <p:cNvSpPr/>
          <p:nvPr/>
        </p:nvSpPr>
        <p:spPr>
          <a:xfrm>
            <a:off x="1108062" y="1772898"/>
            <a:ext cx="559769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0xb0</a:t>
            </a:r>
            <a:endParaRPr lang="zh-CN" altLang="en-US" sz="1350" dirty="0"/>
          </a:p>
        </p:txBody>
      </p:sp>
      <p:sp>
        <p:nvSpPr>
          <p:cNvPr id="29" name="矩形 28"/>
          <p:cNvSpPr/>
          <p:nvPr/>
        </p:nvSpPr>
        <p:spPr>
          <a:xfrm>
            <a:off x="1099633" y="2047620"/>
            <a:ext cx="559769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0xa9</a:t>
            </a:r>
            <a:endParaRPr lang="zh-CN" altLang="en-US" sz="1350" dirty="0"/>
          </a:p>
        </p:txBody>
      </p:sp>
      <p:sp>
        <p:nvSpPr>
          <p:cNvPr id="30" name="矩形 29"/>
          <p:cNvSpPr/>
          <p:nvPr/>
        </p:nvSpPr>
        <p:spPr>
          <a:xfrm>
            <a:off x="1183926" y="4532775"/>
            <a:ext cx="4154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dirty="0"/>
          </a:p>
        </p:txBody>
      </p:sp>
      <p:sp>
        <p:nvSpPr>
          <p:cNvPr id="31" name="矩形 30"/>
          <p:cNvSpPr/>
          <p:nvPr/>
        </p:nvSpPr>
        <p:spPr>
          <a:xfrm>
            <a:off x="1099633" y="4286246"/>
            <a:ext cx="559769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0xa1</a:t>
            </a:r>
            <a:endParaRPr lang="zh-CN" altLang="en-US" sz="1350" dirty="0"/>
          </a:p>
        </p:txBody>
      </p:sp>
      <p:sp>
        <p:nvSpPr>
          <p:cNvPr id="32" name="矩形 31"/>
          <p:cNvSpPr/>
          <p:nvPr/>
        </p:nvSpPr>
        <p:spPr>
          <a:xfrm>
            <a:off x="1099633" y="4004851"/>
            <a:ext cx="559769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0xa2</a:t>
            </a:r>
            <a:endParaRPr lang="zh-CN" altLang="en-US" sz="1350" dirty="0"/>
          </a:p>
        </p:txBody>
      </p:sp>
      <p:sp>
        <p:nvSpPr>
          <p:cNvPr id="33" name="矩形 32"/>
          <p:cNvSpPr/>
          <p:nvPr/>
        </p:nvSpPr>
        <p:spPr>
          <a:xfrm>
            <a:off x="1099633" y="3722758"/>
            <a:ext cx="559769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0xa3</a:t>
            </a:r>
            <a:endParaRPr lang="zh-CN" altLang="en-US" sz="1350" dirty="0"/>
          </a:p>
        </p:txBody>
      </p:sp>
      <p:sp>
        <p:nvSpPr>
          <p:cNvPr id="34" name="矩形 33"/>
          <p:cNvSpPr/>
          <p:nvPr/>
        </p:nvSpPr>
        <p:spPr>
          <a:xfrm>
            <a:off x="1099633" y="3454628"/>
            <a:ext cx="559769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0xa4</a:t>
            </a:r>
            <a:endParaRPr lang="zh-CN" altLang="en-US" sz="1350" dirty="0"/>
          </a:p>
        </p:txBody>
      </p:sp>
      <p:sp>
        <p:nvSpPr>
          <p:cNvPr id="35" name="矩形 34"/>
          <p:cNvSpPr/>
          <p:nvPr/>
        </p:nvSpPr>
        <p:spPr>
          <a:xfrm>
            <a:off x="1108062" y="3187022"/>
            <a:ext cx="559769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0xa5</a:t>
            </a:r>
            <a:endParaRPr lang="zh-CN" altLang="en-US" sz="1350" dirty="0"/>
          </a:p>
        </p:txBody>
      </p:sp>
      <p:sp>
        <p:nvSpPr>
          <p:cNvPr id="36" name="矩形 35"/>
          <p:cNvSpPr/>
          <p:nvPr/>
        </p:nvSpPr>
        <p:spPr>
          <a:xfrm>
            <a:off x="1109299" y="2879678"/>
            <a:ext cx="559769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0xa6</a:t>
            </a:r>
            <a:endParaRPr lang="zh-CN" altLang="en-US" sz="1350" dirty="0"/>
          </a:p>
        </p:txBody>
      </p:sp>
      <p:sp>
        <p:nvSpPr>
          <p:cNvPr id="37" name="矩形 36"/>
          <p:cNvSpPr/>
          <p:nvPr/>
        </p:nvSpPr>
        <p:spPr>
          <a:xfrm>
            <a:off x="1112576" y="2608037"/>
            <a:ext cx="559769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0xa7</a:t>
            </a:r>
            <a:endParaRPr lang="zh-CN" altLang="en-US" sz="1350" dirty="0"/>
          </a:p>
        </p:txBody>
      </p:sp>
      <p:sp>
        <p:nvSpPr>
          <p:cNvPr id="38" name="矩形 37"/>
          <p:cNvSpPr/>
          <p:nvPr/>
        </p:nvSpPr>
        <p:spPr>
          <a:xfrm>
            <a:off x="1104679" y="2341368"/>
            <a:ext cx="559769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0xa8</a:t>
            </a:r>
            <a:endParaRPr lang="zh-CN" altLang="en-US" sz="1350" dirty="0"/>
          </a:p>
        </p:txBody>
      </p:sp>
      <p:sp>
        <p:nvSpPr>
          <p:cNvPr id="39" name="矩形 38"/>
          <p:cNvSpPr/>
          <p:nvPr/>
        </p:nvSpPr>
        <p:spPr>
          <a:xfrm>
            <a:off x="4081094" y="4097956"/>
            <a:ext cx="3570208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b="1" dirty="0">
                <a:solidFill>
                  <a:prstClr val="black"/>
                </a:solidFill>
                <a:latin typeface="Arial"/>
                <a:cs typeface="Arial"/>
              </a:rPr>
              <a:t>8 bits machine: 8 bits length of</a:t>
            </a:r>
          </a:p>
          <a:p>
            <a:pPr marL="257175" indent="-257175">
              <a:buFont typeface="Arial"/>
              <a:buChar char="•"/>
            </a:pPr>
            <a:r>
              <a:rPr lang="en-US" altLang="zh-CN" sz="1500" dirty="0">
                <a:solidFill>
                  <a:prstClr val="black"/>
                </a:solidFill>
                <a:latin typeface="Arial"/>
                <a:cs typeface="Arial"/>
              </a:rPr>
              <a:t>CPU register</a:t>
            </a:r>
          </a:p>
          <a:p>
            <a:pPr marL="257175" indent="-257175">
              <a:buFont typeface="Arial"/>
              <a:buChar char="•"/>
            </a:pPr>
            <a:r>
              <a:rPr lang="en-US" altLang="zh-CN" sz="1500" dirty="0">
                <a:solidFill>
                  <a:prstClr val="black"/>
                </a:solidFill>
                <a:latin typeface="Arial"/>
                <a:cs typeface="Arial"/>
              </a:rPr>
              <a:t>Memory address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53D2D2C-5475-487E-A063-3B86906B0966}"/>
              </a:ext>
            </a:extLst>
          </p:cNvPr>
          <p:cNvGrpSpPr/>
          <p:nvPr/>
        </p:nvGrpSpPr>
        <p:grpSpPr>
          <a:xfrm>
            <a:off x="4144782" y="4956749"/>
            <a:ext cx="4794572" cy="1515902"/>
            <a:chOff x="5620362" y="4698385"/>
            <a:chExt cx="6392762" cy="2021203"/>
          </a:xfrm>
        </p:grpSpPr>
        <p:pic>
          <p:nvPicPr>
            <p:cNvPr id="15362" name="Picture 2">
              <a:extLst>
                <a:ext uri="{FF2B5EF4-FFF2-40B4-BE49-F238E27FC236}">
                  <a16:creationId xmlns:a16="http://schemas.microsoft.com/office/drawing/2014/main" id="{DEA96479-0125-442B-87EA-137DEA0FFEF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20362" y="4698385"/>
              <a:ext cx="2694937" cy="20212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7F4A062-8388-494F-A304-DBCE24B16E71}"/>
                </a:ext>
              </a:extLst>
            </p:cNvPr>
            <p:cNvSpPr txBox="1"/>
            <p:nvPr/>
          </p:nvSpPr>
          <p:spPr>
            <a:xfrm>
              <a:off x="7635003" y="5988943"/>
              <a:ext cx="4378121" cy="67710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Nowadays: 8-bit processor (microcontroller)</a:t>
              </a:r>
            </a:p>
            <a:p>
              <a:r>
                <a:rPr lang="en-US" sz="1350" dirty="0"/>
                <a:t>Is used for embedded systems</a:t>
              </a:r>
            </a:p>
          </p:txBody>
        </p:sp>
      </p:grpSp>
      <p:cxnSp>
        <p:nvCxnSpPr>
          <p:cNvPr id="25" name="直线箭头连接符 7">
            <a:extLst>
              <a:ext uri="{FF2B5EF4-FFF2-40B4-BE49-F238E27FC236}">
                <a16:creationId xmlns:a16="http://schemas.microsoft.com/office/drawing/2014/main" id="{9D0CB130-3C88-F85C-460D-A825CD6E7219}"/>
              </a:ext>
            </a:extLst>
          </p:cNvPr>
          <p:cNvCxnSpPr>
            <a:cxnSpLocks/>
          </p:cNvCxnSpPr>
          <p:nvPr/>
        </p:nvCxnSpPr>
        <p:spPr>
          <a:xfrm flipV="1">
            <a:off x="3368426" y="2717134"/>
            <a:ext cx="2287337" cy="7009"/>
          </a:xfrm>
          <a:prstGeom prst="straightConnector1">
            <a:avLst/>
          </a:prstGeom>
          <a:ln w="12700">
            <a:headEnd type="stealth" w="lg" len="lg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矩形 8">
            <a:extLst>
              <a:ext uri="{FF2B5EF4-FFF2-40B4-BE49-F238E27FC236}">
                <a16:creationId xmlns:a16="http://schemas.microsoft.com/office/drawing/2014/main" id="{43B87AC5-53A4-854F-4831-CB7CEDCA0D0B}"/>
              </a:ext>
            </a:extLst>
          </p:cNvPr>
          <p:cNvSpPr/>
          <p:nvPr/>
        </p:nvSpPr>
        <p:spPr>
          <a:xfrm>
            <a:off x="3829437" y="2306496"/>
            <a:ext cx="1415772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500" i="1" dirty="0">
                <a:solidFill>
                  <a:prstClr val="black"/>
                </a:solidFill>
                <a:latin typeface="Arial"/>
                <a:cs typeface="Arial"/>
              </a:rPr>
              <a:t>Address: 0xa7</a:t>
            </a:r>
            <a:endParaRPr lang="zh-CN" altLang="en-US" sz="1500" i="1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96093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49702" y="473603"/>
            <a:ext cx="8636721" cy="994172"/>
          </a:xfrm>
        </p:spPr>
        <p:txBody>
          <a:bodyPr>
            <a:normAutofit fontScale="90000"/>
          </a:bodyPr>
          <a:lstStyle/>
          <a:p>
            <a:r>
              <a:rPr kumimoji="1" lang="en-US" altLang="zh-CN" dirty="0"/>
              <a:t>32-bit processors: Intel 386 (1985)</a:t>
            </a:r>
            <a:endParaRPr kumimoji="1" lang="zh-CN" altLang="en-US" dirty="0"/>
          </a:p>
        </p:txBody>
      </p:sp>
      <p:grpSp>
        <p:nvGrpSpPr>
          <p:cNvPr id="4" name="组 3"/>
          <p:cNvGrpSpPr/>
          <p:nvPr/>
        </p:nvGrpSpPr>
        <p:grpSpPr>
          <a:xfrm>
            <a:off x="5940504" y="2089931"/>
            <a:ext cx="2568013" cy="1254341"/>
            <a:chOff x="4589993" y="1584086"/>
            <a:chExt cx="2146574" cy="951208"/>
          </a:xfrm>
        </p:grpSpPr>
        <p:sp>
          <p:nvSpPr>
            <p:cNvPr id="5" name="矩形 4"/>
            <p:cNvSpPr/>
            <p:nvPr/>
          </p:nvSpPr>
          <p:spPr>
            <a:xfrm>
              <a:off x="4589993" y="1584086"/>
              <a:ext cx="2146574" cy="951208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 w="38100" cmpd="sng">
              <a:solidFill>
                <a:schemeClr val="tx2"/>
              </a:solidFill>
            </a:ln>
            <a:effectLst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 sz="1350" dirty="0">
                <a:solidFill>
                  <a:schemeClr val="tx1"/>
                </a:solidFill>
                <a:latin typeface="Verdana"/>
                <a:cs typeface="Verdana"/>
              </a:endParaRPr>
            </a:p>
          </p:txBody>
        </p:sp>
        <p:sp>
          <p:nvSpPr>
            <p:cNvPr id="6" name="矩形 5"/>
            <p:cNvSpPr/>
            <p:nvPr/>
          </p:nvSpPr>
          <p:spPr>
            <a:xfrm>
              <a:off x="5294526" y="1615703"/>
              <a:ext cx="637159" cy="22756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kumimoji="1" lang="en-US" altLang="zh-CN" sz="1350" dirty="0">
                  <a:latin typeface="Verdana"/>
                  <a:cs typeface="Verdana"/>
                </a:rPr>
                <a:t>CPU</a:t>
              </a:r>
              <a:endParaRPr kumimoji="1" lang="zh-CN" altLang="en-US" sz="1350" dirty="0">
                <a:latin typeface="Verdana"/>
                <a:cs typeface="Verdana"/>
              </a:endParaRPr>
            </a:p>
          </p:txBody>
        </p:sp>
        <p:sp>
          <p:nvSpPr>
            <p:cNvPr id="7" name="矩形 6"/>
            <p:cNvSpPr/>
            <p:nvPr/>
          </p:nvSpPr>
          <p:spPr>
            <a:xfrm>
              <a:off x="4610611" y="1826373"/>
              <a:ext cx="2114515" cy="696758"/>
            </a:xfrm>
            <a:prstGeom prst="rect">
              <a:avLst/>
            </a:prstGeom>
            <a:solidFill>
              <a:schemeClr val="lt1">
                <a:alpha val="78000"/>
              </a:schemeClr>
            </a:solidFill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 sz="1350" dirty="0">
                <a:latin typeface="Verdana"/>
                <a:cs typeface="Verdana"/>
              </a:endParaRPr>
            </a:p>
          </p:txBody>
        </p:sp>
      </p:grpSp>
      <p:cxnSp>
        <p:nvCxnSpPr>
          <p:cNvPr id="8" name="直线箭头连接符 7"/>
          <p:cNvCxnSpPr>
            <a:cxnSpLocks/>
          </p:cNvCxnSpPr>
          <p:nvPr/>
        </p:nvCxnSpPr>
        <p:spPr>
          <a:xfrm>
            <a:off x="3767725" y="2991914"/>
            <a:ext cx="2018926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矩形 8"/>
          <p:cNvSpPr/>
          <p:nvPr/>
        </p:nvSpPr>
        <p:spPr>
          <a:xfrm>
            <a:off x="3957091" y="3028746"/>
            <a:ext cx="1640193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500" i="1" dirty="0">
                <a:solidFill>
                  <a:prstClr val="black"/>
                </a:solidFill>
                <a:latin typeface="Arial"/>
                <a:cs typeface="Arial"/>
              </a:rPr>
              <a:t>Data: 0x4c1eaf0f</a:t>
            </a:r>
            <a:endParaRPr lang="zh-CN" altLang="en-US" sz="1500" i="1" dirty="0">
              <a:latin typeface="Arial"/>
              <a:cs typeface="Arial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2224427" y="2910549"/>
            <a:ext cx="1463624" cy="280075"/>
          </a:xfrm>
          <a:prstGeom prst="rect">
            <a:avLst/>
          </a:prstGeom>
          <a:solidFill>
            <a:srgbClr val="FF0000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0x4c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2224427" y="2630475"/>
            <a:ext cx="1463624" cy="280075"/>
          </a:xfrm>
          <a:prstGeom prst="rect">
            <a:avLst/>
          </a:prstGeom>
          <a:solidFill>
            <a:srgbClr val="FF0000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0x1e</a:t>
            </a:r>
            <a:endParaRPr kumimoji="1" lang="zh-CN" altLang="en-US" sz="1500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2224427" y="2352382"/>
            <a:ext cx="1463624" cy="280075"/>
          </a:xfrm>
          <a:prstGeom prst="rect">
            <a:avLst/>
          </a:prstGeom>
          <a:solidFill>
            <a:srgbClr val="FF0000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0xaf</a:t>
            </a:r>
            <a:endParaRPr kumimoji="1" lang="zh-CN" altLang="en-US" sz="1500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2224427" y="2072307"/>
            <a:ext cx="1463624" cy="280075"/>
          </a:xfrm>
          <a:prstGeom prst="rect">
            <a:avLst/>
          </a:prstGeom>
          <a:solidFill>
            <a:srgbClr val="FF0000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0x0f</a:t>
            </a:r>
            <a:endParaRPr kumimoji="1" lang="zh-CN" altLang="en-US" sz="135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2549251" y="5187374"/>
            <a:ext cx="960519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500" dirty="0">
                <a:latin typeface="Verdana"/>
                <a:cs typeface="Verdana"/>
              </a:rPr>
              <a:t>Memory</a:t>
            </a:r>
            <a:endParaRPr lang="zh-CN" altLang="en-US" sz="1500" dirty="0"/>
          </a:p>
        </p:txBody>
      </p:sp>
      <p:sp>
        <p:nvSpPr>
          <p:cNvPr id="17" name="矩形 16"/>
          <p:cNvSpPr/>
          <p:nvPr/>
        </p:nvSpPr>
        <p:spPr>
          <a:xfrm>
            <a:off x="2224427" y="3470404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0xcb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2224427" y="3190329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0xea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0" name="矩形 19"/>
          <p:cNvSpPr/>
          <p:nvPr/>
        </p:nvSpPr>
        <p:spPr>
          <a:xfrm>
            <a:off x="2227705" y="3750961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0xba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2230981" y="4031036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2236667" y="4305581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0xff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2236667" y="4581259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0x8c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2236667" y="4857635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6852295" y="2991914"/>
            <a:ext cx="1131806" cy="19871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0x4c1eaf0f</a:t>
            </a:r>
            <a:endParaRPr kumimoji="1" lang="zh-CN" altLang="en-US" sz="6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181992" y="2427374"/>
            <a:ext cx="1901522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kumimoji="1" lang="en-US" altLang="zh-CN" sz="1050" dirty="0">
                <a:latin typeface="Verdana"/>
                <a:cs typeface="Verdana"/>
              </a:rPr>
              <a:t>Arithmetic Logic </a:t>
            </a:r>
          </a:p>
          <a:p>
            <a:pPr algn="ctr"/>
            <a:r>
              <a:rPr kumimoji="1" lang="en-US" altLang="zh-CN" sz="1050" dirty="0">
                <a:latin typeface="Verdana"/>
                <a:cs typeface="Verdana"/>
              </a:rPr>
              <a:t>Unit</a:t>
            </a:r>
            <a:endParaRPr kumimoji="1" lang="zh-CN" altLang="en-US" sz="1050" dirty="0">
              <a:latin typeface="Verdana"/>
              <a:cs typeface="Verdana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6056669" y="2959200"/>
            <a:ext cx="861133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050" b="1" dirty="0">
                <a:latin typeface="Verdana"/>
                <a:cs typeface="Verdana"/>
              </a:rPr>
              <a:t>registers</a:t>
            </a:r>
            <a:endParaRPr lang="zh-CN" altLang="en-US" sz="1050" b="1" dirty="0"/>
          </a:p>
        </p:txBody>
      </p:sp>
      <p:sp>
        <p:nvSpPr>
          <p:cNvPr id="28" name="矩形 27"/>
          <p:cNvSpPr/>
          <p:nvPr/>
        </p:nvSpPr>
        <p:spPr>
          <a:xfrm>
            <a:off x="1115143" y="2070029"/>
            <a:ext cx="1136850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0x000000b1</a:t>
            </a:r>
            <a:endParaRPr lang="zh-CN" altLang="en-US" sz="1350" dirty="0"/>
          </a:p>
        </p:txBody>
      </p:sp>
      <p:sp>
        <p:nvSpPr>
          <p:cNvPr id="29" name="矩形 28"/>
          <p:cNvSpPr/>
          <p:nvPr/>
        </p:nvSpPr>
        <p:spPr>
          <a:xfrm>
            <a:off x="1079147" y="2347028"/>
            <a:ext cx="1136850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0x000000b0</a:t>
            </a:r>
            <a:endParaRPr lang="zh-CN" altLang="en-US" sz="1350" dirty="0"/>
          </a:p>
        </p:txBody>
      </p:sp>
      <p:sp>
        <p:nvSpPr>
          <p:cNvPr id="30" name="矩形 29"/>
          <p:cNvSpPr/>
          <p:nvPr/>
        </p:nvSpPr>
        <p:spPr>
          <a:xfrm>
            <a:off x="1740211" y="4832183"/>
            <a:ext cx="41549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dirty="0"/>
          </a:p>
        </p:txBody>
      </p:sp>
      <p:sp>
        <p:nvSpPr>
          <p:cNvPr id="31" name="矩形 30"/>
          <p:cNvSpPr/>
          <p:nvPr/>
        </p:nvSpPr>
        <p:spPr>
          <a:xfrm>
            <a:off x="1079147" y="4585654"/>
            <a:ext cx="1136850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0x000000a2</a:t>
            </a:r>
            <a:endParaRPr lang="zh-CN" altLang="en-US" sz="1350" dirty="0"/>
          </a:p>
        </p:txBody>
      </p:sp>
      <p:sp>
        <p:nvSpPr>
          <p:cNvPr id="32" name="矩形 31"/>
          <p:cNvSpPr/>
          <p:nvPr/>
        </p:nvSpPr>
        <p:spPr>
          <a:xfrm>
            <a:off x="1079147" y="4304259"/>
            <a:ext cx="1136850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0x000000a3</a:t>
            </a:r>
            <a:endParaRPr lang="zh-CN" altLang="en-US" sz="1350" dirty="0"/>
          </a:p>
        </p:txBody>
      </p:sp>
      <p:sp>
        <p:nvSpPr>
          <p:cNvPr id="33" name="矩形 32"/>
          <p:cNvSpPr/>
          <p:nvPr/>
        </p:nvSpPr>
        <p:spPr>
          <a:xfrm>
            <a:off x="1079147" y="4022166"/>
            <a:ext cx="1136850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0x000000a4</a:t>
            </a:r>
            <a:endParaRPr lang="zh-CN" altLang="en-US" sz="1350" dirty="0"/>
          </a:p>
        </p:txBody>
      </p:sp>
      <p:sp>
        <p:nvSpPr>
          <p:cNvPr id="34" name="矩形 33"/>
          <p:cNvSpPr/>
          <p:nvPr/>
        </p:nvSpPr>
        <p:spPr>
          <a:xfrm>
            <a:off x="1079147" y="3754036"/>
            <a:ext cx="1136850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0x000000a5</a:t>
            </a:r>
            <a:endParaRPr lang="zh-CN" altLang="en-US" sz="1350" dirty="0"/>
          </a:p>
        </p:txBody>
      </p:sp>
      <p:sp>
        <p:nvSpPr>
          <p:cNvPr id="35" name="矩形 34"/>
          <p:cNvSpPr/>
          <p:nvPr/>
        </p:nvSpPr>
        <p:spPr>
          <a:xfrm>
            <a:off x="1087576" y="3486430"/>
            <a:ext cx="1136850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0x000000a6</a:t>
            </a:r>
            <a:endParaRPr lang="zh-CN" altLang="en-US" sz="1350" dirty="0"/>
          </a:p>
        </p:txBody>
      </p:sp>
      <p:sp>
        <p:nvSpPr>
          <p:cNvPr id="36" name="矩形 35"/>
          <p:cNvSpPr/>
          <p:nvPr/>
        </p:nvSpPr>
        <p:spPr>
          <a:xfrm>
            <a:off x="1088813" y="3179086"/>
            <a:ext cx="1136850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0x000000a7</a:t>
            </a:r>
            <a:endParaRPr lang="zh-CN" altLang="en-US" sz="1350" dirty="0"/>
          </a:p>
        </p:txBody>
      </p:sp>
      <p:sp>
        <p:nvSpPr>
          <p:cNvPr id="37" name="矩形 36"/>
          <p:cNvSpPr/>
          <p:nvPr/>
        </p:nvSpPr>
        <p:spPr>
          <a:xfrm>
            <a:off x="1092090" y="2907445"/>
            <a:ext cx="1136850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0x000000a8</a:t>
            </a:r>
            <a:endParaRPr lang="zh-CN" altLang="en-US" sz="1350" dirty="0"/>
          </a:p>
        </p:txBody>
      </p:sp>
      <p:sp>
        <p:nvSpPr>
          <p:cNvPr id="38" name="矩形 37"/>
          <p:cNvSpPr/>
          <p:nvPr/>
        </p:nvSpPr>
        <p:spPr>
          <a:xfrm>
            <a:off x="1084193" y="2640776"/>
            <a:ext cx="1136850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0x000000a9</a:t>
            </a:r>
            <a:endParaRPr lang="zh-CN" altLang="en-US" sz="1350" dirty="0"/>
          </a:p>
        </p:txBody>
      </p:sp>
      <p:sp>
        <p:nvSpPr>
          <p:cNvPr id="39" name="矩形 38"/>
          <p:cNvSpPr/>
          <p:nvPr/>
        </p:nvSpPr>
        <p:spPr>
          <a:xfrm>
            <a:off x="4203916" y="3983282"/>
            <a:ext cx="3826689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b="1" dirty="0">
                <a:solidFill>
                  <a:prstClr val="black"/>
                </a:solidFill>
                <a:latin typeface="Arial"/>
                <a:cs typeface="Arial"/>
              </a:rPr>
              <a:t>32 bits machine: 32 bits length of</a:t>
            </a:r>
          </a:p>
          <a:p>
            <a:pPr marL="257175" indent="-257175">
              <a:buFont typeface="Arial"/>
              <a:buChar char="•"/>
            </a:pPr>
            <a:r>
              <a:rPr lang="en-US" altLang="zh-CN" sz="1500" dirty="0">
                <a:solidFill>
                  <a:prstClr val="black"/>
                </a:solidFill>
                <a:latin typeface="Arial"/>
                <a:cs typeface="Arial"/>
              </a:rPr>
              <a:t>CPU register</a:t>
            </a:r>
          </a:p>
          <a:p>
            <a:pPr marL="257175" indent="-257175">
              <a:buFont typeface="Arial"/>
              <a:buChar char="•"/>
            </a:pPr>
            <a:r>
              <a:rPr lang="en-US" altLang="zh-CN" sz="1500" dirty="0">
                <a:solidFill>
                  <a:prstClr val="black"/>
                </a:solidFill>
                <a:latin typeface="Arial"/>
                <a:cs typeface="Arial"/>
              </a:rPr>
              <a:t> Memory address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5D0AAE7-D985-4101-BE36-5C53A4364EA8}"/>
              </a:ext>
            </a:extLst>
          </p:cNvPr>
          <p:cNvSpPr txBox="1"/>
          <p:nvPr/>
        </p:nvSpPr>
        <p:spPr>
          <a:xfrm>
            <a:off x="4066062" y="5221999"/>
            <a:ext cx="4018408" cy="55399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500" dirty="0"/>
              <a:t>Most commonly used desktop/server processors </a:t>
            </a:r>
          </a:p>
          <a:p>
            <a:r>
              <a:rPr lang="en-US" sz="1500" dirty="0"/>
              <a:t>in the latest 80s to early 00s</a:t>
            </a:r>
          </a:p>
        </p:txBody>
      </p:sp>
      <p:cxnSp>
        <p:nvCxnSpPr>
          <p:cNvPr id="25" name="直线箭头连接符 7">
            <a:extLst>
              <a:ext uri="{FF2B5EF4-FFF2-40B4-BE49-F238E27FC236}">
                <a16:creationId xmlns:a16="http://schemas.microsoft.com/office/drawing/2014/main" id="{D4E2F9BF-4351-AE17-EDAD-63D52E120393}"/>
              </a:ext>
            </a:extLst>
          </p:cNvPr>
          <p:cNvCxnSpPr>
            <a:cxnSpLocks/>
          </p:cNvCxnSpPr>
          <p:nvPr/>
        </p:nvCxnSpPr>
        <p:spPr>
          <a:xfrm>
            <a:off x="3767725" y="2809794"/>
            <a:ext cx="2018926" cy="0"/>
          </a:xfrm>
          <a:prstGeom prst="straightConnector1">
            <a:avLst/>
          </a:prstGeom>
          <a:ln>
            <a:headEnd type="stealth" w="lg" len="lg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矩形 8">
            <a:extLst>
              <a:ext uri="{FF2B5EF4-FFF2-40B4-BE49-F238E27FC236}">
                <a16:creationId xmlns:a16="http://schemas.microsoft.com/office/drawing/2014/main" id="{7AEC4F7F-AAFD-EE88-89FB-6F186CF7728E}"/>
              </a:ext>
            </a:extLst>
          </p:cNvPr>
          <p:cNvSpPr/>
          <p:nvPr/>
        </p:nvSpPr>
        <p:spPr>
          <a:xfrm>
            <a:off x="3724145" y="2445420"/>
            <a:ext cx="2060179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500" i="1" dirty="0">
                <a:solidFill>
                  <a:prstClr val="black"/>
                </a:solidFill>
                <a:latin typeface="Arial"/>
                <a:cs typeface="Arial"/>
              </a:rPr>
              <a:t>Address: 0x000000a8</a:t>
            </a:r>
            <a:endParaRPr lang="zh-CN" altLang="en-US" sz="1500" i="1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43817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CN" dirty="0"/>
              <a:t>64-bit processors: Intel Pentium 4 (2000)</a:t>
            </a:r>
            <a:endParaRPr kumimoji="1" lang="zh-CN" altLang="en-US" dirty="0"/>
          </a:p>
        </p:txBody>
      </p:sp>
      <p:grpSp>
        <p:nvGrpSpPr>
          <p:cNvPr id="4" name="组 3"/>
          <p:cNvGrpSpPr/>
          <p:nvPr/>
        </p:nvGrpSpPr>
        <p:grpSpPr>
          <a:xfrm>
            <a:off x="6022388" y="2053721"/>
            <a:ext cx="2428583" cy="1254341"/>
            <a:chOff x="4589993" y="1584086"/>
            <a:chExt cx="2146574" cy="951208"/>
          </a:xfrm>
        </p:grpSpPr>
        <p:sp>
          <p:nvSpPr>
            <p:cNvPr id="5" name="矩形 4"/>
            <p:cNvSpPr/>
            <p:nvPr/>
          </p:nvSpPr>
          <p:spPr>
            <a:xfrm>
              <a:off x="4589993" y="1584086"/>
              <a:ext cx="2146574" cy="951208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 w="38100" cmpd="sng">
              <a:solidFill>
                <a:schemeClr val="tx2"/>
              </a:solidFill>
            </a:ln>
            <a:effectLst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 sz="1350" dirty="0">
                <a:solidFill>
                  <a:schemeClr val="tx1"/>
                </a:solidFill>
                <a:latin typeface="Verdana"/>
                <a:cs typeface="Verdana"/>
              </a:endParaRPr>
            </a:p>
          </p:txBody>
        </p:sp>
        <p:sp>
          <p:nvSpPr>
            <p:cNvPr id="6" name="矩形 5"/>
            <p:cNvSpPr/>
            <p:nvPr/>
          </p:nvSpPr>
          <p:spPr>
            <a:xfrm>
              <a:off x="5376347" y="1615703"/>
              <a:ext cx="473515" cy="22756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kumimoji="1" lang="en-US" altLang="zh-CN" sz="1350" dirty="0">
                  <a:latin typeface="Verdana"/>
                  <a:cs typeface="Verdana"/>
                </a:rPr>
                <a:t>CPU</a:t>
              </a:r>
              <a:endParaRPr kumimoji="1" lang="zh-CN" altLang="en-US" sz="1350" dirty="0">
                <a:latin typeface="Verdana"/>
                <a:cs typeface="Verdana"/>
              </a:endParaRPr>
            </a:p>
          </p:txBody>
        </p:sp>
        <p:sp>
          <p:nvSpPr>
            <p:cNvPr id="7" name="矩形 6"/>
            <p:cNvSpPr/>
            <p:nvPr/>
          </p:nvSpPr>
          <p:spPr>
            <a:xfrm>
              <a:off x="4610611" y="1897505"/>
              <a:ext cx="2114515" cy="625626"/>
            </a:xfrm>
            <a:prstGeom prst="rect">
              <a:avLst/>
            </a:prstGeom>
            <a:solidFill>
              <a:schemeClr val="lt1">
                <a:alpha val="78000"/>
              </a:schemeClr>
            </a:solidFill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 sz="1350" dirty="0">
                <a:latin typeface="Verdana"/>
                <a:cs typeface="Verdana"/>
              </a:endParaRPr>
            </a:p>
          </p:txBody>
        </p:sp>
      </p:grpSp>
      <p:cxnSp>
        <p:nvCxnSpPr>
          <p:cNvPr id="8" name="直线箭头连接符 7"/>
          <p:cNvCxnSpPr>
            <a:cxnSpLocks/>
          </p:cNvCxnSpPr>
          <p:nvPr/>
        </p:nvCxnSpPr>
        <p:spPr>
          <a:xfrm flipV="1">
            <a:off x="3202833" y="2922990"/>
            <a:ext cx="2679352" cy="32714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矩形 8"/>
          <p:cNvSpPr/>
          <p:nvPr/>
        </p:nvSpPr>
        <p:spPr>
          <a:xfrm>
            <a:off x="3217570" y="3030466"/>
            <a:ext cx="2488182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500" i="1" dirty="0">
                <a:solidFill>
                  <a:prstClr val="black"/>
                </a:solidFill>
                <a:latin typeface="Arial"/>
                <a:cs typeface="Arial"/>
              </a:rPr>
              <a:t>Data: 0x00bacbea4c1eaf0f</a:t>
            </a:r>
            <a:endParaRPr lang="zh-CN" altLang="en-US" sz="1500" i="1" dirty="0">
              <a:latin typeface="Arial"/>
              <a:cs typeface="Arial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437310" y="2611888"/>
            <a:ext cx="1463624" cy="280075"/>
          </a:xfrm>
          <a:prstGeom prst="rect">
            <a:avLst/>
          </a:prstGeom>
          <a:solidFill>
            <a:srgbClr val="FF0000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0x4c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437310" y="2331814"/>
            <a:ext cx="1463624" cy="280075"/>
          </a:xfrm>
          <a:prstGeom prst="rect">
            <a:avLst/>
          </a:prstGeom>
          <a:solidFill>
            <a:srgbClr val="FF0000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0x1e</a:t>
            </a:r>
            <a:endParaRPr kumimoji="1" lang="zh-CN" altLang="en-US" sz="1500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437310" y="2053721"/>
            <a:ext cx="1463624" cy="280075"/>
          </a:xfrm>
          <a:prstGeom prst="rect">
            <a:avLst/>
          </a:prstGeom>
          <a:solidFill>
            <a:srgbClr val="FF0000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0xaf</a:t>
            </a:r>
            <a:endParaRPr kumimoji="1" lang="zh-CN" altLang="en-US" sz="1500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1437310" y="1773646"/>
            <a:ext cx="1463624" cy="280075"/>
          </a:xfrm>
          <a:prstGeom prst="rect">
            <a:avLst/>
          </a:prstGeom>
          <a:solidFill>
            <a:srgbClr val="FF0000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0x0f</a:t>
            </a:r>
            <a:endParaRPr kumimoji="1" lang="zh-CN" altLang="en-US" sz="135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1762134" y="4888713"/>
            <a:ext cx="960519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500" dirty="0">
                <a:latin typeface="Verdana"/>
                <a:cs typeface="Verdana"/>
              </a:rPr>
              <a:t>Memory</a:t>
            </a:r>
            <a:endParaRPr lang="zh-CN" altLang="en-US" sz="1500" dirty="0"/>
          </a:p>
        </p:txBody>
      </p:sp>
      <p:sp>
        <p:nvSpPr>
          <p:cNvPr id="17" name="矩形 16"/>
          <p:cNvSpPr/>
          <p:nvPr/>
        </p:nvSpPr>
        <p:spPr>
          <a:xfrm>
            <a:off x="1437310" y="3171743"/>
            <a:ext cx="1463624" cy="280075"/>
          </a:xfrm>
          <a:prstGeom prst="rect">
            <a:avLst/>
          </a:prstGeom>
          <a:solidFill>
            <a:srgbClr val="FF0000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0xcb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1437310" y="2891668"/>
            <a:ext cx="1463624" cy="280075"/>
          </a:xfrm>
          <a:prstGeom prst="rect">
            <a:avLst/>
          </a:prstGeom>
          <a:solidFill>
            <a:srgbClr val="FF0000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0xea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0" name="矩形 19"/>
          <p:cNvSpPr/>
          <p:nvPr/>
        </p:nvSpPr>
        <p:spPr>
          <a:xfrm>
            <a:off x="1440588" y="3452300"/>
            <a:ext cx="1463624" cy="280075"/>
          </a:xfrm>
          <a:prstGeom prst="rect">
            <a:avLst/>
          </a:prstGeom>
          <a:solidFill>
            <a:srgbClr val="FF0000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0xba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1443864" y="3732375"/>
            <a:ext cx="1463624" cy="280075"/>
          </a:xfrm>
          <a:prstGeom prst="rect">
            <a:avLst/>
          </a:prstGeom>
          <a:solidFill>
            <a:srgbClr val="FF0000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1449550" y="4006920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0xff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1449550" y="4282598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0x8c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1449550" y="4558974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6934179" y="2955704"/>
            <a:ext cx="1440932" cy="18717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050" i="1" dirty="0">
                <a:solidFill>
                  <a:prstClr val="black"/>
                </a:solidFill>
                <a:latin typeface="Arial"/>
                <a:cs typeface="Arial"/>
              </a:rPr>
              <a:t>0x00bacbea4c1eaf0f</a:t>
            </a:r>
            <a:endParaRPr kumimoji="1" lang="zh-CN" altLang="en-US" sz="60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155412" y="2500735"/>
            <a:ext cx="2219699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kumimoji="1" lang="en-US" altLang="zh-CN" sz="1200" dirty="0">
                <a:latin typeface="Verdana"/>
                <a:cs typeface="Verdana"/>
              </a:rPr>
              <a:t>Arithmetic Logic Unit</a:t>
            </a:r>
            <a:endParaRPr kumimoji="1" lang="zh-CN" altLang="en-US" sz="1200" dirty="0">
              <a:latin typeface="Verdana"/>
              <a:cs typeface="Verdana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6138553" y="2922990"/>
            <a:ext cx="861133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050" b="1" dirty="0">
                <a:latin typeface="Verdana"/>
                <a:cs typeface="Verdana"/>
              </a:rPr>
              <a:t>registers</a:t>
            </a:r>
            <a:endParaRPr lang="zh-CN" altLang="en-US" sz="1050" b="1" dirty="0"/>
          </a:p>
        </p:txBody>
      </p:sp>
      <p:sp>
        <p:nvSpPr>
          <p:cNvPr id="28" name="矩形 27"/>
          <p:cNvSpPr/>
          <p:nvPr/>
        </p:nvSpPr>
        <p:spPr>
          <a:xfrm>
            <a:off x="319696" y="1773645"/>
            <a:ext cx="111761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35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00b7</a:t>
            </a:r>
            <a:endParaRPr lang="zh-CN" altLang="en-US" sz="1350" dirty="0"/>
          </a:p>
        </p:txBody>
      </p:sp>
      <p:sp>
        <p:nvSpPr>
          <p:cNvPr id="29" name="矩形 28"/>
          <p:cNvSpPr/>
          <p:nvPr/>
        </p:nvSpPr>
        <p:spPr>
          <a:xfrm>
            <a:off x="311267" y="2048367"/>
            <a:ext cx="111761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35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00a6</a:t>
            </a:r>
            <a:endParaRPr lang="zh-CN" altLang="en-US" sz="1350" dirty="0"/>
          </a:p>
        </p:txBody>
      </p:sp>
      <p:sp>
        <p:nvSpPr>
          <p:cNvPr id="30" name="矩形 29"/>
          <p:cNvSpPr/>
          <p:nvPr/>
        </p:nvSpPr>
        <p:spPr>
          <a:xfrm>
            <a:off x="953094" y="4533522"/>
            <a:ext cx="41549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dirty="0"/>
          </a:p>
        </p:txBody>
      </p:sp>
      <p:sp>
        <p:nvSpPr>
          <p:cNvPr id="31" name="矩形 30"/>
          <p:cNvSpPr/>
          <p:nvPr/>
        </p:nvSpPr>
        <p:spPr>
          <a:xfrm>
            <a:off x="311267" y="4286993"/>
            <a:ext cx="111761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35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009e</a:t>
            </a:r>
            <a:endParaRPr lang="zh-CN" altLang="en-US" sz="1350" dirty="0"/>
          </a:p>
        </p:txBody>
      </p:sp>
      <p:sp>
        <p:nvSpPr>
          <p:cNvPr id="32" name="矩形 31"/>
          <p:cNvSpPr/>
          <p:nvPr/>
        </p:nvSpPr>
        <p:spPr>
          <a:xfrm>
            <a:off x="359357" y="4005598"/>
            <a:ext cx="106952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35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009f</a:t>
            </a:r>
            <a:endParaRPr lang="zh-CN" altLang="en-US" sz="1350" dirty="0"/>
          </a:p>
        </p:txBody>
      </p:sp>
      <p:sp>
        <p:nvSpPr>
          <p:cNvPr id="33" name="矩形 32"/>
          <p:cNvSpPr/>
          <p:nvPr/>
        </p:nvSpPr>
        <p:spPr>
          <a:xfrm>
            <a:off x="311267" y="3723505"/>
            <a:ext cx="111761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35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00a0</a:t>
            </a:r>
            <a:endParaRPr lang="zh-CN" altLang="en-US" sz="1350" dirty="0"/>
          </a:p>
        </p:txBody>
      </p:sp>
      <p:sp>
        <p:nvSpPr>
          <p:cNvPr id="34" name="矩形 33"/>
          <p:cNvSpPr/>
          <p:nvPr/>
        </p:nvSpPr>
        <p:spPr>
          <a:xfrm>
            <a:off x="311267" y="3455375"/>
            <a:ext cx="111761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35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00a1</a:t>
            </a:r>
            <a:endParaRPr lang="zh-CN" altLang="en-US" sz="1350" dirty="0"/>
          </a:p>
        </p:txBody>
      </p:sp>
      <p:sp>
        <p:nvSpPr>
          <p:cNvPr id="35" name="矩形 34"/>
          <p:cNvSpPr/>
          <p:nvPr/>
        </p:nvSpPr>
        <p:spPr>
          <a:xfrm>
            <a:off x="319696" y="3187769"/>
            <a:ext cx="111761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35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00a2</a:t>
            </a:r>
            <a:endParaRPr lang="zh-CN" altLang="en-US" sz="1350" dirty="0"/>
          </a:p>
        </p:txBody>
      </p:sp>
      <p:sp>
        <p:nvSpPr>
          <p:cNvPr id="36" name="矩形 35"/>
          <p:cNvSpPr/>
          <p:nvPr/>
        </p:nvSpPr>
        <p:spPr>
          <a:xfrm>
            <a:off x="320933" y="2880425"/>
            <a:ext cx="111761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35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00a3</a:t>
            </a:r>
            <a:endParaRPr lang="zh-CN" altLang="en-US" sz="1350" dirty="0"/>
          </a:p>
        </p:txBody>
      </p:sp>
      <p:sp>
        <p:nvSpPr>
          <p:cNvPr id="37" name="矩形 36"/>
          <p:cNvSpPr/>
          <p:nvPr/>
        </p:nvSpPr>
        <p:spPr>
          <a:xfrm>
            <a:off x="324210" y="2608784"/>
            <a:ext cx="111761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35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00a4</a:t>
            </a:r>
            <a:endParaRPr lang="zh-CN" altLang="en-US" sz="1350" dirty="0"/>
          </a:p>
        </p:txBody>
      </p:sp>
      <p:sp>
        <p:nvSpPr>
          <p:cNvPr id="38" name="矩形 37"/>
          <p:cNvSpPr/>
          <p:nvPr/>
        </p:nvSpPr>
        <p:spPr>
          <a:xfrm>
            <a:off x="316313" y="2342115"/>
            <a:ext cx="111761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35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00a5</a:t>
            </a:r>
            <a:endParaRPr lang="zh-CN" altLang="en-US" sz="1350" dirty="0"/>
          </a:p>
        </p:txBody>
      </p:sp>
      <p:sp>
        <p:nvSpPr>
          <p:cNvPr id="39" name="矩形 38"/>
          <p:cNvSpPr/>
          <p:nvPr/>
        </p:nvSpPr>
        <p:spPr>
          <a:xfrm>
            <a:off x="4203916" y="3983281"/>
            <a:ext cx="3826689" cy="10618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b="1" dirty="0">
                <a:solidFill>
                  <a:prstClr val="black"/>
                </a:solidFill>
                <a:latin typeface="Arial"/>
                <a:cs typeface="Arial"/>
              </a:rPr>
              <a:t>64 bits machine: 64 bits length of</a:t>
            </a:r>
          </a:p>
          <a:p>
            <a:pPr marL="257175" indent="-257175">
              <a:buFont typeface="Arial"/>
              <a:buChar char="•"/>
            </a:pPr>
            <a:r>
              <a:rPr lang="en-US" altLang="zh-CN" sz="1500" dirty="0">
                <a:solidFill>
                  <a:prstClr val="black"/>
                </a:solidFill>
                <a:latin typeface="Arial"/>
                <a:cs typeface="Arial"/>
              </a:rPr>
              <a:t>CPU register</a:t>
            </a:r>
          </a:p>
          <a:p>
            <a:pPr marL="257175" indent="-257175">
              <a:buFont typeface="Arial"/>
              <a:buChar char="•"/>
            </a:pPr>
            <a:r>
              <a:rPr lang="en-US" altLang="zh-CN" sz="1500" dirty="0">
                <a:solidFill>
                  <a:prstClr val="black"/>
                </a:solidFill>
                <a:latin typeface="Arial"/>
                <a:cs typeface="Arial"/>
              </a:rPr>
              <a:t>Memory address</a:t>
            </a:r>
          </a:p>
          <a:p>
            <a:endParaRPr lang="zh-CN" altLang="en-US" sz="1500" dirty="0">
              <a:latin typeface="Arial"/>
              <a:cs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E181B74-A040-4BB0-BE07-498FE9AA63C1}"/>
              </a:ext>
            </a:extLst>
          </p:cNvPr>
          <p:cNvSpPr txBox="1"/>
          <p:nvPr/>
        </p:nvSpPr>
        <p:spPr>
          <a:xfrm>
            <a:off x="3916371" y="5141208"/>
            <a:ext cx="5227629" cy="107721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/>
              <a:t>Nowadays: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Servers/laptops: Intel/AMD 64-bit x86 processors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Mobile phones/tablets: 64-bit ARM processors (made by Apple/Qualcomm/Samsung </a:t>
            </a:r>
            <a:r>
              <a:rPr lang="en-US" sz="1600" dirty="0" err="1"/>
              <a:t>etc</a:t>
            </a:r>
            <a:r>
              <a:rPr lang="en-US" sz="1600" dirty="0"/>
              <a:t>)</a:t>
            </a:r>
          </a:p>
        </p:txBody>
      </p:sp>
      <p:cxnSp>
        <p:nvCxnSpPr>
          <p:cNvPr id="25" name="直线箭头连接符 7">
            <a:extLst>
              <a:ext uri="{FF2B5EF4-FFF2-40B4-BE49-F238E27FC236}">
                <a16:creationId xmlns:a16="http://schemas.microsoft.com/office/drawing/2014/main" id="{6F305FC6-3625-43BB-2E20-AA5550D0F1DF}"/>
              </a:ext>
            </a:extLst>
          </p:cNvPr>
          <p:cNvCxnSpPr>
            <a:cxnSpLocks/>
          </p:cNvCxnSpPr>
          <p:nvPr/>
        </p:nvCxnSpPr>
        <p:spPr>
          <a:xfrm>
            <a:off x="3194453" y="2777734"/>
            <a:ext cx="2687732" cy="0"/>
          </a:xfrm>
          <a:prstGeom prst="straightConnector1">
            <a:avLst/>
          </a:prstGeom>
          <a:ln>
            <a:headEnd type="stealth" w="lg" len="lg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矩形 8">
            <a:extLst>
              <a:ext uri="{FF2B5EF4-FFF2-40B4-BE49-F238E27FC236}">
                <a16:creationId xmlns:a16="http://schemas.microsoft.com/office/drawing/2014/main" id="{557A575E-0421-AFBD-E9C4-C69F899AE0CF}"/>
              </a:ext>
            </a:extLst>
          </p:cNvPr>
          <p:cNvSpPr/>
          <p:nvPr/>
        </p:nvSpPr>
        <p:spPr>
          <a:xfrm>
            <a:off x="3217570" y="2321531"/>
            <a:ext cx="2230098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500" i="1" dirty="0">
                <a:solidFill>
                  <a:prstClr val="black"/>
                </a:solidFill>
                <a:latin typeface="Arial"/>
                <a:cs typeface="Arial"/>
              </a:rPr>
              <a:t>Address: 0x00……00a0</a:t>
            </a:r>
            <a:endParaRPr lang="zh-CN" altLang="en-US" sz="1500" i="1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2706188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33487" y="424244"/>
            <a:ext cx="8079447" cy="857250"/>
          </a:xfrm>
        </p:spPr>
        <p:txBody>
          <a:bodyPr>
            <a:normAutofit fontScale="90000"/>
          </a:bodyPr>
          <a:lstStyle/>
          <a:p>
            <a:r>
              <a:rPr kumimoji="1" lang="en-US" altLang="zh-CN" dirty="0"/>
              <a:t>C’s Integer data types on </a:t>
            </a:r>
            <a:br>
              <a:rPr kumimoji="1" lang="en-US" altLang="zh-CN" dirty="0"/>
            </a:br>
            <a:r>
              <a:rPr kumimoji="1" lang="en-US" altLang="zh-CN" dirty="0"/>
              <a:t>64-bit machine</a:t>
            </a:r>
            <a:endParaRPr kumimoji="1"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3695334"/>
              </p:ext>
            </p:extLst>
          </p:nvPr>
        </p:nvGraphicFramePr>
        <p:xfrm>
          <a:off x="2010261" y="2136440"/>
          <a:ext cx="5265877" cy="274327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316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0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7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57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0652">
                <a:tc>
                  <a:txBody>
                    <a:bodyPr/>
                    <a:lstStyle/>
                    <a:p>
                      <a:endParaRPr lang="zh-CN" altLang="en-US" sz="15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500">
                          <a:latin typeface="Verdana"/>
                          <a:cs typeface="Verdana"/>
                        </a:rPr>
                        <a:t>Length </a:t>
                      </a:r>
                      <a:endParaRPr lang="zh-CN" altLang="en-US" sz="15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500">
                          <a:latin typeface="Verdana"/>
                          <a:cs typeface="Verdana"/>
                        </a:rPr>
                        <a:t>Min</a:t>
                      </a:r>
                      <a:endParaRPr lang="zh-CN" altLang="en-US" sz="15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500">
                          <a:latin typeface="Verdana"/>
                          <a:cs typeface="Verdana"/>
                        </a:rPr>
                        <a:t>Max</a:t>
                      </a:r>
                      <a:endParaRPr lang="zh-CN" altLang="en-US" sz="15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500" b="1">
                          <a:solidFill>
                            <a:srgbClr val="0000FF"/>
                          </a:solidFill>
                          <a:latin typeface="Verdana"/>
                          <a:cs typeface="Verdana"/>
                        </a:rPr>
                        <a:t>char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500" baseline="0">
                          <a:latin typeface="Verdana"/>
                          <a:cs typeface="Verdana"/>
                        </a:rPr>
                        <a:t>1 byte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500" b="0">
                          <a:latin typeface="Verdana"/>
                          <a:cs typeface="Verdana"/>
                        </a:rPr>
                        <a:t>-2</a:t>
                      </a:r>
                      <a:r>
                        <a:rPr lang="en-US" altLang="zh-CN" sz="1500" b="0" baseline="30000">
                          <a:latin typeface="Verdana"/>
                          <a:cs typeface="Verdana"/>
                        </a:rPr>
                        <a:t>7</a:t>
                      </a:r>
                      <a:endParaRPr lang="en-US" altLang="zh-CN" sz="1500" b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500" b="0">
                          <a:latin typeface="Verdana"/>
                          <a:cs typeface="Verdana"/>
                        </a:rPr>
                        <a:t>2</a:t>
                      </a:r>
                      <a:r>
                        <a:rPr lang="en-US" altLang="zh-CN" sz="1500" b="0" baseline="30000">
                          <a:latin typeface="Verdana"/>
                          <a:cs typeface="Verdana"/>
                        </a:rPr>
                        <a:t>7</a:t>
                      </a:r>
                      <a:r>
                        <a:rPr lang="en-US" altLang="zh-CN" sz="1500" b="0" baseline="0">
                          <a:latin typeface="Verdana"/>
                          <a:cs typeface="Verdana"/>
                        </a:rPr>
                        <a:t> - 1</a:t>
                      </a:r>
                      <a:endParaRPr lang="en-US" altLang="zh-CN" sz="1500" b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0778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500" b="1" dirty="0">
                          <a:solidFill>
                            <a:srgbClr val="0000FF"/>
                          </a:solidFill>
                          <a:latin typeface="Verdana"/>
                          <a:cs typeface="Verdana"/>
                        </a:rPr>
                        <a:t>unsigned char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500" baseline="0">
                          <a:latin typeface="Verdana"/>
                          <a:cs typeface="Verdana"/>
                        </a:rPr>
                        <a:t>1 byte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500" b="0">
                          <a:latin typeface="Verdana"/>
                          <a:cs typeface="Verdana"/>
                        </a:rPr>
                        <a:t>0</a:t>
                      </a:r>
                      <a:endParaRPr lang="zh-CN" altLang="en-US" sz="15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500">
                          <a:latin typeface="Verdana"/>
                          <a:cs typeface="Verdana"/>
                        </a:rPr>
                        <a:t>2</a:t>
                      </a:r>
                      <a:r>
                        <a:rPr lang="en-US" altLang="zh-CN" sz="1500" baseline="30000">
                          <a:latin typeface="Verdana"/>
                          <a:cs typeface="Verdana"/>
                        </a:rPr>
                        <a:t>8 </a:t>
                      </a:r>
                      <a:r>
                        <a:rPr lang="en-US" altLang="zh-CN" sz="1500" baseline="0">
                          <a:latin typeface="Verdana"/>
                          <a:cs typeface="Verdana"/>
                        </a:rPr>
                        <a:t> - 1</a:t>
                      </a:r>
                      <a:endParaRPr lang="zh-CN" altLang="en-US" sz="15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0778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500" b="1">
                          <a:solidFill>
                            <a:srgbClr val="0000FF"/>
                          </a:solidFill>
                          <a:latin typeface="Verdana"/>
                          <a:cs typeface="Verdana"/>
                        </a:rPr>
                        <a:t>short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500" baseline="0">
                          <a:latin typeface="Verdana"/>
                          <a:cs typeface="Verdana"/>
                        </a:rPr>
                        <a:t>2 bytes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500" b="0">
                          <a:latin typeface="Verdana"/>
                          <a:cs typeface="Verdana"/>
                        </a:rPr>
                        <a:t>-2</a:t>
                      </a:r>
                      <a:r>
                        <a:rPr lang="en-US" altLang="zh-CN" sz="1500" b="0" baseline="30000">
                          <a:latin typeface="Verdana"/>
                          <a:cs typeface="Verdana"/>
                        </a:rPr>
                        <a:t>15</a:t>
                      </a:r>
                      <a:endParaRPr lang="en-US" altLang="zh-CN" sz="1500" b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500">
                          <a:latin typeface="Verdana"/>
                          <a:cs typeface="Verdana"/>
                        </a:rPr>
                        <a:t>2</a:t>
                      </a:r>
                      <a:r>
                        <a:rPr lang="en-US" altLang="zh-CN" sz="1500" baseline="30000">
                          <a:latin typeface="Verdana"/>
                          <a:cs typeface="Verdana"/>
                        </a:rPr>
                        <a:t>15 </a:t>
                      </a:r>
                      <a:r>
                        <a:rPr lang="en-US" altLang="zh-CN" sz="1500" baseline="0">
                          <a:latin typeface="Verdana"/>
                          <a:cs typeface="Verdana"/>
                        </a:rPr>
                        <a:t> - 1</a:t>
                      </a:r>
                      <a:endParaRPr lang="zh-CN" altLang="en-US" sz="15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0778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500" b="1">
                          <a:solidFill>
                            <a:srgbClr val="0000FF"/>
                          </a:solidFill>
                          <a:latin typeface="Verdana"/>
                          <a:cs typeface="Verdana"/>
                        </a:rPr>
                        <a:t>unsigned short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500" baseline="0">
                          <a:latin typeface="Verdana"/>
                          <a:cs typeface="Verdana"/>
                        </a:rPr>
                        <a:t>2 bytes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500">
                          <a:latin typeface="Verdana"/>
                          <a:cs typeface="Verdana"/>
                        </a:rPr>
                        <a:t>0</a:t>
                      </a:r>
                      <a:endParaRPr lang="zh-CN" altLang="en-US" sz="15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500">
                          <a:latin typeface="Verdana"/>
                          <a:cs typeface="Verdana"/>
                        </a:rPr>
                        <a:t>2</a:t>
                      </a:r>
                      <a:r>
                        <a:rPr lang="en-US" altLang="zh-CN" sz="1500" baseline="30000">
                          <a:latin typeface="Verdana"/>
                          <a:cs typeface="Verdana"/>
                        </a:rPr>
                        <a:t>16 </a:t>
                      </a:r>
                      <a:r>
                        <a:rPr lang="en-US" altLang="zh-CN" sz="1500" baseline="0">
                          <a:latin typeface="Verdana"/>
                          <a:cs typeface="Verdana"/>
                        </a:rPr>
                        <a:t> - 1</a:t>
                      </a:r>
                      <a:endParaRPr lang="zh-CN" altLang="en-US" sz="15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0778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500" b="1" err="1">
                          <a:solidFill>
                            <a:srgbClr val="0000FF"/>
                          </a:solidFill>
                          <a:latin typeface="Verdana"/>
                          <a:cs typeface="Verdana"/>
                        </a:rPr>
                        <a:t>int</a:t>
                      </a:r>
                      <a:endParaRPr lang="en-US" altLang="zh-CN" sz="1500" b="1">
                        <a:solidFill>
                          <a:srgbClr val="0000FF"/>
                        </a:solidFill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500" baseline="0">
                          <a:latin typeface="Verdana"/>
                          <a:cs typeface="Verdana"/>
                        </a:rPr>
                        <a:t>4 bytes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500" b="0">
                          <a:latin typeface="Verdana"/>
                          <a:cs typeface="Verdana"/>
                        </a:rPr>
                        <a:t>-2</a:t>
                      </a:r>
                      <a:r>
                        <a:rPr lang="en-US" altLang="zh-CN" sz="1500" b="0" baseline="30000">
                          <a:latin typeface="Verdana"/>
                          <a:cs typeface="Verdana"/>
                        </a:rPr>
                        <a:t>31</a:t>
                      </a:r>
                      <a:endParaRPr lang="en-US" altLang="zh-CN" sz="1500" b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500" b="0">
                          <a:latin typeface="Verdana"/>
                          <a:cs typeface="Verdana"/>
                        </a:rPr>
                        <a:t>2</a:t>
                      </a:r>
                      <a:r>
                        <a:rPr lang="en-US" altLang="zh-CN" sz="1500" b="0" baseline="30000">
                          <a:latin typeface="Verdana"/>
                          <a:cs typeface="Verdana"/>
                        </a:rPr>
                        <a:t>31 </a:t>
                      </a:r>
                      <a:r>
                        <a:rPr lang="en-US" altLang="zh-CN" sz="1500" b="0" baseline="0">
                          <a:latin typeface="Verdana"/>
                          <a:cs typeface="Verdana"/>
                        </a:rPr>
                        <a:t>- 1</a:t>
                      </a:r>
                      <a:endParaRPr lang="zh-CN" altLang="en-US" sz="15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0778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500" b="1">
                          <a:solidFill>
                            <a:srgbClr val="0000FF"/>
                          </a:solidFill>
                          <a:latin typeface="Verdana"/>
                          <a:cs typeface="Verdana"/>
                        </a:rPr>
                        <a:t>unsigned </a:t>
                      </a:r>
                      <a:r>
                        <a:rPr lang="en-US" altLang="zh-CN" sz="1500" b="1" err="1">
                          <a:solidFill>
                            <a:srgbClr val="0000FF"/>
                          </a:solidFill>
                          <a:latin typeface="Verdana"/>
                          <a:cs typeface="Verdana"/>
                        </a:rPr>
                        <a:t>int</a:t>
                      </a:r>
                      <a:endParaRPr lang="en-US" altLang="zh-CN" sz="1500" b="1">
                        <a:solidFill>
                          <a:srgbClr val="0000FF"/>
                        </a:solidFill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500" baseline="0">
                          <a:latin typeface="Verdana"/>
                          <a:cs typeface="Verdana"/>
                        </a:rPr>
                        <a:t>4 bytes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500">
                          <a:latin typeface="Verdana"/>
                          <a:cs typeface="Verdana"/>
                        </a:rPr>
                        <a:t>0</a:t>
                      </a:r>
                      <a:endParaRPr lang="zh-CN" altLang="en-US" sz="15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500">
                          <a:latin typeface="Verdana"/>
                          <a:cs typeface="Verdana"/>
                        </a:rPr>
                        <a:t>2</a:t>
                      </a:r>
                      <a:r>
                        <a:rPr lang="en-US" altLang="zh-CN" sz="1500" baseline="30000">
                          <a:latin typeface="Verdana"/>
                          <a:cs typeface="Verdana"/>
                        </a:rPr>
                        <a:t>32 </a:t>
                      </a:r>
                      <a:r>
                        <a:rPr lang="en-US" altLang="zh-CN" sz="1500" baseline="0">
                          <a:latin typeface="Verdana"/>
                          <a:cs typeface="Verdana"/>
                        </a:rPr>
                        <a:t>- 1</a:t>
                      </a:r>
                      <a:endParaRPr lang="zh-CN" altLang="en-US" sz="15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0778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500" b="1">
                          <a:solidFill>
                            <a:srgbClr val="0000FF"/>
                          </a:solidFill>
                          <a:latin typeface="Verdana"/>
                          <a:cs typeface="Verdana"/>
                        </a:rPr>
                        <a:t>long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500" baseline="0">
                          <a:latin typeface="Verdana"/>
                          <a:cs typeface="Verdana"/>
                        </a:rPr>
                        <a:t>8 bytes 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500">
                          <a:latin typeface="Verdana"/>
                          <a:cs typeface="Verdana"/>
                        </a:rPr>
                        <a:t>-2</a:t>
                      </a:r>
                      <a:r>
                        <a:rPr lang="en-US" altLang="zh-CN" sz="1500" b="0" baseline="30000">
                          <a:latin typeface="Verdana"/>
                          <a:cs typeface="Verdana"/>
                        </a:rPr>
                        <a:t>63</a:t>
                      </a:r>
                      <a:endParaRPr lang="zh-CN" altLang="en-US" sz="15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500">
                          <a:latin typeface="Verdana"/>
                          <a:cs typeface="Verdana"/>
                        </a:rPr>
                        <a:t>2</a:t>
                      </a:r>
                      <a:r>
                        <a:rPr lang="en-US" altLang="zh-CN" sz="1500" b="0" baseline="30000">
                          <a:latin typeface="Verdana"/>
                          <a:cs typeface="Verdana"/>
                        </a:rPr>
                        <a:t>63 </a:t>
                      </a:r>
                      <a:r>
                        <a:rPr lang="en-US" altLang="zh-CN" sz="1500" b="0" baseline="0">
                          <a:latin typeface="Verdana"/>
                          <a:cs typeface="Verdana"/>
                        </a:rPr>
                        <a:t>- 1</a:t>
                      </a:r>
                      <a:endParaRPr lang="zh-CN" altLang="en-US" sz="15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0778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500" b="1" dirty="0">
                          <a:solidFill>
                            <a:srgbClr val="0000FF"/>
                          </a:solidFill>
                          <a:latin typeface="Verdana"/>
                          <a:cs typeface="Verdana"/>
                        </a:rPr>
                        <a:t>unsigned long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500" baseline="0">
                          <a:latin typeface="Verdana"/>
                          <a:cs typeface="Verdana"/>
                        </a:rPr>
                        <a:t>8 bytes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altLang="zh-CN" sz="1500">
                          <a:latin typeface="Verdana"/>
                          <a:cs typeface="Verdana"/>
                        </a:rPr>
                        <a:t>0</a:t>
                      </a:r>
                      <a:endParaRPr lang="zh-CN" altLang="en-US" sz="150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500" dirty="0">
                          <a:latin typeface="Verdana"/>
                          <a:cs typeface="Verdana"/>
                        </a:rPr>
                        <a:t>2</a:t>
                      </a:r>
                      <a:r>
                        <a:rPr lang="en-US" altLang="zh-CN" sz="1500" b="0" baseline="30000" dirty="0">
                          <a:latin typeface="Verdana"/>
                          <a:cs typeface="Verdana"/>
                        </a:rPr>
                        <a:t>64 </a:t>
                      </a:r>
                      <a:r>
                        <a:rPr lang="en-US" altLang="zh-CN" sz="1500" b="0" baseline="0" dirty="0">
                          <a:latin typeface="Verdana"/>
                          <a:cs typeface="Verdana"/>
                        </a:rPr>
                        <a:t>- 1</a:t>
                      </a:r>
                      <a:endParaRPr lang="zh-CN" altLang="en-US" sz="1500" dirty="0">
                        <a:latin typeface="Verdana"/>
                        <a:cs typeface="Verdana"/>
                      </a:endParaRP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5433799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Your first C program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5901" y="1920480"/>
            <a:ext cx="5265461" cy="2400657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sz="1500" dirty="0">
                <a:latin typeface="Courier"/>
                <a:cs typeface="Courier"/>
              </a:rPr>
              <a:t>#include &lt;</a:t>
            </a:r>
            <a:r>
              <a:rPr lang="en-US" sz="1500" dirty="0" err="1">
                <a:latin typeface="Courier"/>
                <a:cs typeface="Courier"/>
              </a:rPr>
              <a:t>stdio.h</a:t>
            </a:r>
            <a:r>
              <a:rPr lang="en-US" sz="1500" dirty="0">
                <a:latin typeface="Courier"/>
                <a:cs typeface="Courier"/>
              </a:rPr>
              <a:t>&gt;</a:t>
            </a:r>
          </a:p>
          <a:p>
            <a:endParaRPr lang="en-US" sz="1500" dirty="0">
              <a:latin typeface="Courier"/>
              <a:cs typeface="Courier"/>
            </a:endParaRPr>
          </a:p>
          <a:p>
            <a:r>
              <a:rPr lang="en-US" sz="1500" dirty="0" err="1">
                <a:latin typeface="Courier"/>
                <a:cs typeface="Courier"/>
              </a:rPr>
              <a:t>int</a:t>
            </a:r>
            <a:endParaRPr lang="en-US" sz="1500" dirty="0">
              <a:latin typeface="Courier"/>
              <a:cs typeface="Courier"/>
            </a:endParaRPr>
          </a:p>
          <a:p>
            <a:r>
              <a:rPr lang="en-US" sz="1500" dirty="0">
                <a:latin typeface="Courier"/>
                <a:cs typeface="Courier"/>
              </a:rPr>
              <a:t>main()</a:t>
            </a:r>
          </a:p>
          <a:p>
            <a:r>
              <a:rPr lang="en-US" sz="1500" dirty="0">
                <a:latin typeface="Courier"/>
                <a:cs typeface="Courier"/>
              </a:rPr>
              <a:t>{</a:t>
            </a:r>
          </a:p>
          <a:p>
            <a:r>
              <a:rPr lang="en-US" sz="1500" dirty="0">
                <a:latin typeface="Courier"/>
                <a:cs typeface="Courier"/>
              </a:rPr>
              <a:t>     char x = -127;</a:t>
            </a:r>
          </a:p>
          <a:p>
            <a:r>
              <a:rPr lang="en-US" sz="1500" dirty="0">
                <a:latin typeface="Courier"/>
                <a:cs typeface="Courier"/>
              </a:rPr>
              <a:t>     char y = 0x81;</a:t>
            </a:r>
          </a:p>
          <a:p>
            <a:r>
              <a:rPr lang="en-US" sz="1500" dirty="0">
                <a:latin typeface="Courier"/>
                <a:cs typeface="Courier"/>
              </a:rPr>
              <a:t>     char z = x + y;</a:t>
            </a:r>
          </a:p>
          <a:p>
            <a:r>
              <a:rPr lang="en-US" sz="1500" dirty="0">
                <a:latin typeface="Courier"/>
                <a:cs typeface="Courier"/>
              </a:rPr>
              <a:t>     </a:t>
            </a:r>
            <a:r>
              <a:rPr lang="en-US" sz="1500" dirty="0" err="1">
                <a:latin typeface="Courier"/>
                <a:cs typeface="Courier"/>
              </a:rPr>
              <a:t>printf</a:t>
            </a:r>
            <a:r>
              <a:rPr lang="en-US" sz="1500" dirty="0">
                <a:latin typeface="Courier"/>
                <a:cs typeface="Courier"/>
              </a:rPr>
              <a:t>(“hello world sum is %d\n”, z);</a:t>
            </a:r>
          </a:p>
          <a:p>
            <a:r>
              <a:rPr lang="en-US" sz="1500" dirty="0">
                <a:latin typeface="Courier"/>
                <a:cs typeface="Courier"/>
              </a:rP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5900" y="4422708"/>
            <a:ext cx="3098925" cy="738664"/>
          </a:xfrm>
          <a:prstGeom prst="rect">
            <a:avLst/>
          </a:prstGeom>
          <a:solidFill>
            <a:schemeClr val="tx2"/>
          </a:solidFill>
        </p:spPr>
        <p:txBody>
          <a:bodyPr wrap="none" rtlCol="0">
            <a:spAutoFit/>
          </a:bodyPr>
          <a:lstStyle/>
          <a:p>
            <a:r>
              <a:rPr lang="en-US" sz="2100" dirty="0">
                <a:solidFill>
                  <a:srgbClr val="FFFFFF"/>
                </a:solidFill>
                <a:latin typeface="Courier"/>
                <a:cs typeface="Courier"/>
              </a:rPr>
              <a:t>$ </a:t>
            </a:r>
            <a:r>
              <a:rPr lang="en-US" sz="2100" dirty="0" err="1">
                <a:solidFill>
                  <a:srgbClr val="FFFFFF"/>
                </a:solidFill>
                <a:latin typeface="Courier"/>
                <a:cs typeface="Courier"/>
              </a:rPr>
              <a:t>gcc</a:t>
            </a:r>
            <a:r>
              <a:rPr lang="en-US" sz="2100" dirty="0">
                <a:solidFill>
                  <a:srgbClr val="FFFFFF"/>
                </a:solidFill>
                <a:latin typeface="Courier"/>
                <a:cs typeface="Courier"/>
              </a:rPr>
              <a:t> </a:t>
            </a:r>
            <a:r>
              <a:rPr lang="en-US" sz="2100" dirty="0" err="1">
                <a:solidFill>
                  <a:srgbClr val="FFFFFF"/>
                </a:solidFill>
                <a:latin typeface="Courier"/>
                <a:cs typeface="Courier"/>
              </a:rPr>
              <a:t>helloworld.c</a:t>
            </a:r>
            <a:endParaRPr lang="en-US" sz="2100" dirty="0">
              <a:solidFill>
                <a:srgbClr val="FFFFFF"/>
              </a:solidFill>
              <a:latin typeface="Courier"/>
              <a:cs typeface="Courier"/>
            </a:endParaRPr>
          </a:p>
          <a:p>
            <a:r>
              <a:rPr lang="en-US" sz="2100" dirty="0">
                <a:solidFill>
                  <a:srgbClr val="FFFFFF"/>
                </a:solidFill>
                <a:latin typeface="Courier"/>
                <a:cs typeface="Courier"/>
              </a:rPr>
              <a:t>$ ./</a:t>
            </a:r>
            <a:r>
              <a:rPr lang="en-US" sz="2100" dirty="0" err="1">
                <a:solidFill>
                  <a:srgbClr val="FFFFFF"/>
                </a:solidFill>
                <a:latin typeface="Courier"/>
                <a:cs typeface="Courier"/>
              </a:rPr>
              <a:t>a.out</a:t>
            </a:r>
            <a:endParaRPr lang="en-US" sz="2100" dirty="0">
              <a:solidFill>
                <a:srgbClr val="FFFFFF"/>
              </a:solidFill>
              <a:latin typeface="Courier"/>
              <a:cs typeface="Courier"/>
            </a:endParaRPr>
          </a:p>
        </p:txBody>
      </p:sp>
      <p:grpSp>
        <p:nvGrpSpPr>
          <p:cNvPr id="16" name="Group 15"/>
          <p:cNvGrpSpPr/>
          <p:nvPr/>
        </p:nvGrpSpPr>
        <p:grpSpPr>
          <a:xfrm>
            <a:off x="4416929" y="4432167"/>
            <a:ext cx="3591915" cy="1170354"/>
            <a:chOff x="4365238" y="4766553"/>
            <a:chExt cx="4789220" cy="1560472"/>
          </a:xfrm>
        </p:grpSpPr>
        <p:sp>
          <p:nvSpPr>
            <p:cNvPr id="6" name="Rectangle 4"/>
            <p:cNvSpPr/>
            <p:nvPr/>
          </p:nvSpPr>
          <p:spPr>
            <a:xfrm>
              <a:off x="5168458" y="4784720"/>
              <a:ext cx="276186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950" dirty="0">
                  <a:latin typeface="Verdana"/>
                  <a:cs typeface="Verdana"/>
                </a:rPr>
                <a:t>1</a:t>
              </a:r>
              <a:r>
                <a:rPr lang="en-US" sz="1950" dirty="0">
                  <a:latin typeface="Verdana"/>
                  <a:cs typeface="Verdana"/>
                </a:rPr>
                <a:t> 0 0 0 0 0 0 1</a:t>
              </a:r>
            </a:p>
          </p:txBody>
        </p:sp>
        <p:sp>
          <p:nvSpPr>
            <p:cNvPr id="7" name="Rectangle 5"/>
            <p:cNvSpPr/>
            <p:nvPr/>
          </p:nvSpPr>
          <p:spPr>
            <a:xfrm>
              <a:off x="5051239" y="5211406"/>
              <a:ext cx="299697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1950" dirty="0">
                  <a:latin typeface="Verdana"/>
                  <a:cs typeface="Verdana"/>
                </a:rPr>
                <a:t> 1 0 0 0 0 0 0 1 </a:t>
              </a:r>
            </a:p>
          </p:txBody>
        </p:sp>
        <p:sp>
          <p:nvSpPr>
            <p:cNvPr id="8" name="TextBox 6"/>
            <p:cNvSpPr txBox="1"/>
            <p:nvPr/>
          </p:nvSpPr>
          <p:spPr>
            <a:xfrm>
              <a:off x="4553394" y="5203682"/>
              <a:ext cx="51980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950" dirty="0">
                  <a:latin typeface="Verdana"/>
                  <a:cs typeface="Verdana"/>
                </a:rPr>
                <a:t>+</a:t>
              </a:r>
            </a:p>
          </p:txBody>
        </p:sp>
        <p:cxnSp>
          <p:nvCxnSpPr>
            <p:cNvPr id="9" name="Straight Connector 8"/>
            <p:cNvCxnSpPr/>
            <p:nvPr/>
          </p:nvCxnSpPr>
          <p:spPr>
            <a:xfrm>
              <a:off x="4365238" y="5704300"/>
              <a:ext cx="374949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ectangle 9"/>
            <p:cNvSpPr/>
            <p:nvPr/>
          </p:nvSpPr>
          <p:spPr>
            <a:xfrm>
              <a:off x="5051239" y="5803805"/>
              <a:ext cx="287942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1950" dirty="0">
                  <a:latin typeface="Verdana"/>
                  <a:cs typeface="Verdana"/>
                </a:rPr>
                <a:t> </a:t>
              </a:r>
              <a:r>
                <a:rPr lang="en-US" altLang="zh-CN" sz="1950" dirty="0">
                  <a:latin typeface="Verdana"/>
                  <a:cs typeface="Verdana"/>
                </a:rPr>
                <a:t>0</a:t>
              </a:r>
              <a:r>
                <a:rPr lang="en-US" sz="1950" dirty="0">
                  <a:latin typeface="Verdana"/>
                  <a:cs typeface="Verdana"/>
                </a:rPr>
                <a:t> 0 0 0 0 0 1 0</a:t>
              </a:r>
            </a:p>
          </p:txBody>
        </p:sp>
        <p:sp>
          <p:nvSpPr>
            <p:cNvPr id="11" name="矩形 8"/>
            <p:cNvSpPr/>
            <p:nvPr/>
          </p:nvSpPr>
          <p:spPr>
            <a:xfrm>
              <a:off x="8241387" y="4766553"/>
              <a:ext cx="913071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50" dirty="0">
                  <a:latin typeface="Verdana"/>
                  <a:cs typeface="Verdana"/>
                </a:rPr>
                <a:t>-127</a:t>
              </a:r>
            </a:p>
          </p:txBody>
        </p:sp>
        <p:sp>
          <p:nvSpPr>
            <p:cNvPr id="12" name="矩形 9"/>
            <p:cNvSpPr/>
            <p:nvPr/>
          </p:nvSpPr>
          <p:spPr>
            <a:xfrm>
              <a:off x="8241387" y="5203684"/>
              <a:ext cx="913071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50" dirty="0">
                  <a:latin typeface="Verdana"/>
                  <a:cs typeface="Verdana"/>
                </a:rPr>
                <a:t>-127</a:t>
              </a:r>
            </a:p>
          </p:txBody>
        </p:sp>
        <p:sp>
          <p:nvSpPr>
            <p:cNvPr id="13" name="Rectangle 9"/>
            <p:cNvSpPr/>
            <p:nvPr/>
          </p:nvSpPr>
          <p:spPr>
            <a:xfrm>
              <a:off x="4687257" y="5781525"/>
              <a:ext cx="457819" cy="523220"/>
            </a:xfrm>
            <a:prstGeom prst="rect">
              <a:avLst/>
            </a:prstGeom>
            <a:solidFill>
              <a:srgbClr val="FF6600"/>
            </a:solidFill>
          </p:spPr>
          <p:txBody>
            <a:bodyPr wrap="none">
              <a:spAutoFit/>
            </a:bodyPr>
            <a:lstStyle/>
            <a:p>
              <a:r>
                <a:rPr lang="en-US" sz="1950" dirty="0">
                  <a:latin typeface="Verdana"/>
                  <a:cs typeface="Verdana"/>
                </a:rPr>
                <a:t>1</a:t>
              </a:r>
            </a:p>
          </p:txBody>
        </p:sp>
        <p:sp>
          <p:nvSpPr>
            <p:cNvPr id="14" name="矩形 11"/>
            <p:cNvSpPr/>
            <p:nvPr/>
          </p:nvSpPr>
          <p:spPr>
            <a:xfrm>
              <a:off x="8322773" y="5784813"/>
              <a:ext cx="524075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1650" dirty="0">
                  <a:latin typeface="Verdana"/>
                  <a:cs typeface="Verdana"/>
                </a:rPr>
                <a:t>2</a:t>
              </a:r>
              <a:r>
                <a:rPr lang="zh-CN" altLang="en-US" sz="1650" dirty="0">
                  <a:latin typeface="Verdana"/>
                  <a:cs typeface="Verdana"/>
                </a:rPr>
                <a:t> </a:t>
              </a:r>
              <a:endParaRPr lang="en-US" altLang="zh-CN" sz="1650" dirty="0">
                <a:latin typeface="Verdana"/>
                <a:cs typeface="Verdan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55752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CN" dirty="0"/>
              <a:t>Memory layout for multi-byte integers</a:t>
            </a:r>
            <a:endParaRPr kumimoji="1" lang="zh-CN" altLang="en-US" dirty="0"/>
          </a:p>
        </p:txBody>
      </p:sp>
      <p:grpSp>
        <p:nvGrpSpPr>
          <p:cNvPr id="21" name="组 20"/>
          <p:cNvGrpSpPr/>
          <p:nvPr/>
        </p:nvGrpSpPr>
        <p:grpSpPr>
          <a:xfrm>
            <a:off x="4875976" y="2089931"/>
            <a:ext cx="2428583" cy="1254341"/>
            <a:chOff x="4589993" y="1584086"/>
            <a:chExt cx="2146574" cy="951208"/>
          </a:xfrm>
        </p:grpSpPr>
        <p:sp>
          <p:nvSpPr>
            <p:cNvPr id="22" name="矩形 21"/>
            <p:cNvSpPr/>
            <p:nvPr/>
          </p:nvSpPr>
          <p:spPr>
            <a:xfrm>
              <a:off x="4589993" y="1584086"/>
              <a:ext cx="2146574" cy="951208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 w="38100" cmpd="sng">
              <a:noFill/>
            </a:ln>
            <a:effectLst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 sz="1350" dirty="0">
                <a:solidFill>
                  <a:schemeClr val="tx1"/>
                </a:solidFill>
                <a:latin typeface="Verdana"/>
                <a:cs typeface="Verdana"/>
              </a:endParaRPr>
            </a:p>
          </p:txBody>
        </p:sp>
        <p:sp>
          <p:nvSpPr>
            <p:cNvPr id="23" name="矩形 22"/>
            <p:cNvSpPr/>
            <p:nvPr/>
          </p:nvSpPr>
          <p:spPr>
            <a:xfrm>
              <a:off x="5376347" y="1615703"/>
              <a:ext cx="473515" cy="227562"/>
            </a:xfrm>
            <a:prstGeom prst="rect">
              <a:avLst/>
            </a:prstGeom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kumimoji="1" lang="en-US" altLang="zh-CN" sz="1350" dirty="0">
                  <a:latin typeface="Verdana"/>
                  <a:cs typeface="Verdana"/>
                </a:rPr>
                <a:t>CPU</a:t>
              </a:r>
              <a:endParaRPr kumimoji="1" lang="zh-CN" altLang="en-US" sz="1350" dirty="0">
                <a:latin typeface="Verdana"/>
                <a:cs typeface="Verdana"/>
              </a:endParaRPr>
            </a:p>
          </p:txBody>
        </p:sp>
        <p:sp>
          <p:nvSpPr>
            <p:cNvPr id="24" name="矩形 23"/>
            <p:cNvSpPr/>
            <p:nvPr/>
          </p:nvSpPr>
          <p:spPr>
            <a:xfrm>
              <a:off x="4610611" y="1897505"/>
              <a:ext cx="2114515" cy="625626"/>
            </a:xfrm>
            <a:prstGeom prst="rect">
              <a:avLst/>
            </a:prstGeom>
            <a:solidFill>
              <a:schemeClr val="lt1">
                <a:alpha val="78000"/>
              </a:schemeClr>
            </a:solidFill>
            <a:ln w="38100" cmpd="sng">
              <a:noFill/>
            </a:ln>
            <a:effectLst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 sz="1350" dirty="0">
                <a:latin typeface="Verdana"/>
                <a:cs typeface="Verdana"/>
              </a:endParaRPr>
            </a:p>
          </p:txBody>
        </p:sp>
      </p:grpSp>
      <p:cxnSp>
        <p:nvCxnSpPr>
          <p:cNvPr id="25" name="直线箭头连接符 24"/>
          <p:cNvCxnSpPr>
            <a:cxnSpLocks/>
          </p:cNvCxnSpPr>
          <p:nvPr/>
        </p:nvCxnSpPr>
        <p:spPr>
          <a:xfrm flipV="1">
            <a:off x="3807904" y="3151372"/>
            <a:ext cx="1239863" cy="702731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矩形 26"/>
          <p:cNvSpPr/>
          <p:nvPr/>
        </p:nvSpPr>
        <p:spPr>
          <a:xfrm>
            <a:off x="2224427" y="2910549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2224427" y="2630475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sz="1500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2224427" y="2352382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sz="1500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2224427" y="2072307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sz="135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2549251" y="5187374"/>
            <a:ext cx="960519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500" dirty="0">
                <a:latin typeface="Verdana"/>
                <a:cs typeface="Verdana"/>
              </a:rPr>
              <a:t>Memory</a:t>
            </a:r>
            <a:endParaRPr lang="zh-CN" altLang="en-US" sz="1500" dirty="0"/>
          </a:p>
        </p:txBody>
      </p:sp>
      <p:sp>
        <p:nvSpPr>
          <p:cNvPr id="32" name="矩形 31"/>
          <p:cNvSpPr/>
          <p:nvPr/>
        </p:nvSpPr>
        <p:spPr>
          <a:xfrm>
            <a:off x="2224427" y="3470404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2224427" y="3190329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2227705" y="3750961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2230981" y="4031036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2236667" y="4305581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2236667" y="4581259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2236667" y="4857635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6082362" y="2900753"/>
            <a:ext cx="1146337" cy="27833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sz="1350" b="1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5009000" y="2536944"/>
            <a:ext cx="2219699" cy="2539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kumimoji="1" lang="en-US" altLang="zh-CN" sz="1050" dirty="0">
                <a:latin typeface="Verdana"/>
                <a:cs typeface="Verdana"/>
              </a:rPr>
              <a:t>Arithmetic Logic Unit</a:t>
            </a:r>
            <a:endParaRPr kumimoji="1" lang="zh-CN" altLang="en-US" sz="1050" dirty="0">
              <a:latin typeface="Verdana"/>
              <a:cs typeface="Verdana"/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5076430" y="2959200"/>
            <a:ext cx="861133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050" b="1" dirty="0">
                <a:latin typeface="Verdana"/>
                <a:cs typeface="Verdana"/>
              </a:rPr>
              <a:t>registers</a:t>
            </a:r>
            <a:endParaRPr lang="zh-CN" altLang="en-US" sz="1050" b="1" dirty="0"/>
          </a:p>
        </p:txBody>
      </p:sp>
      <p:sp>
        <p:nvSpPr>
          <p:cNvPr id="43" name="矩形 42"/>
          <p:cNvSpPr/>
          <p:nvPr/>
        </p:nvSpPr>
        <p:spPr>
          <a:xfrm>
            <a:off x="1106813" y="2072306"/>
            <a:ext cx="111761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35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00b0</a:t>
            </a:r>
            <a:endParaRPr lang="zh-CN" altLang="en-US" sz="1350" dirty="0"/>
          </a:p>
        </p:txBody>
      </p:sp>
      <p:sp>
        <p:nvSpPr>
          <p:cNvPr id="44" name="矩形 43"/>
          <p:cNvSpPr/>
          <p:nvPr/>
        </p:nvSpPr>
        <p:spPr>
          <a:xfrm>
            <a:off x="1098384" y="2347028"/>
            <a:ext cx="111761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35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00a9</a:t>
            </a:r>
            <a:endParaRPr lang="zh-CN" altLang="en-US" sz="1350" dirty="0"/>
          </a:p>
        </p:txBody>
      </p:sp>
      <p:sp>
        <p:nvSpPr>
          <p:cNvPr id="45" name="矩形 44"/>
          <p:cNvSpPr/>
          <p:nvPr/>
        </p:nvSpPr>
        <p:spPr>
          <a:xfrm>
            <a:off x="1740211" y="4832183"/>
            <a:ext cx="41549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dirty="0"/>
          </a:p>
        </p:txBody>
      </p:sp>
      <p:sp>
        <p:nvSpPr>
          <p:cNvPr id="46" name="矩形 45"/>
          <p:cNvSpPr/>
          <p:nvPr/>
        </p:nvSpPr>
        <p:spPr>
          <a:xfrm>
            <a:off x="1098384" y="4585654"/>
            <a:ext cx="111761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35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00a1</a:t>
            </a:r>
            <a:endParaRPr lang="zh-CN" altLang="en-US" sz="1350" dirty="0"/>
          </a:p>
        </p:txBody>
      </p:sp>
      <p:sp>
        <p:nvSpPr>
          <p:cNvPr id="47" name="矩形 46"/>
          <p:cNvSpPr/>
          <p:nvPr/>
        </p:nvSpPr>
        <p:spPr>
          <a:xfrm>
            <a:off x="1098384" y="4304259"/>
            <a:ext cx="111761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35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00a2</a:t>
            </a:r>
            <a:endParaRPr lang="zh-CN" altLang="en-US" sz="1350" dirty="0"/>
          </a:p>
        </p:txBody>
      </p:sp>
      <p:sp>
        <p:nvSpPr>
          <p:cNvPr id="48" name="矩形 47"/>
          <p:cNvSpPr/>
          <p:nvPr/>
        </p:nvSpPr>
        <p:spPr>
          <a:xfrm>
            <a:off x="1098384" y="4022166"/>
            <a:ext cx="111761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35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00a3</a:t>
            </a:r>
            <a:endParaRPr lang="zh-CN" altLang="en-US" sz="1350" dirty="0"/>
          </a:p>
        </p:txBody>
      </p:sp>
      <p:sp>
        <p:nvSpPr>
          <p:cNvPr id="49" name="矩形 48"/>
          <p:cNvSpPr/>
          <p:nvPr/>
        </p:nvSpPr>
        <p:spPr>
          <a:xfrm>
            <a:off x="1098384" y="3754036"/>
            <a:ext cx="111761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35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00a4</a:t>
            </a:r>
            <a:endParaRPr lang="zh-CN" altLang="en-US" sz="1350" dirty="0"/>
          </a:p>
        </p:txBody>
      </p:sp>
      <p:sp>
        <p:nvSpPr>
          <p:cNvPr id="50" name="矩形 49"/>
          <p:cNvSpPr/>
          <p:nvPr/>
        </p:nvSpPr>
        <p:spPr>
          <a:xfrm>
            <a:off x="1106813" y="3486430"/>
            <a:ext cx="111761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35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00a5</a:t>
            </a:r>
            <a:endParaRPr lang="zh-CN" altLang="en-US" sz="1350" dirty="0"/>
          </a:p>
        </p:txBody>
      </p:sp>
      <p:sp>
        <p:nvSpPr>
          <p:cNvPr id="51" name="矩形 50"/>
          <p:cNvSpPr/>
          <p:nvPr/>
        </p:nvSpPr>
        <p:spPr>
          <a:xfrm>
            <a:off x="1108050" y="3179086"/>
            <a:ext cx="111761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35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00a6</a:t>
            </a:r>
            <a:endParaRPr lang="zh-CN" altLang="en-US" sz="1350" dirty="0"/>
          </a:p>
        </p:txBody>
      </p:sp>
      <p:sp>
        <p:nvSpPr>
          <p:cNvPr id="52" name="矩形 51"/>
          <p:cNvSpPr/>
          <p:nvPr/>
        </p:nvSpPr>
        <p:spPr>
          <a:xfrm>
            <a:off x="1111327" y="2907445"/>
            <a:ext cx="111761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35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00a7</a:t>
            </a:r>
            <a:endParaRPr lang="zh-CN" altLang="en-US" sz="1350" dirty="0"/>
          </a:p>
        </p:txBody>
      </p:sp>
      <p:sp>
        <p:nvSpPr>
          <p:cNvPr id="53" name="矩形 52"/>
          <p:cNvSpPr/>
          <p:nvPr/>
        </p:nvSpPr>
        <p:spPr>
          <a:xfrm>
            <a:off x="1103430" y="2640776"/>
            <a:ext cx="1117614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35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350" dirty="0">
                <a:solidFill>
                  <a:prstClr val="black"/>
                </a:solidFill>
                <a:latin typeface="Arial"/>
                <a:cs typeface="Arial"/>
              </a:rPr>
              <a:t>00a8</a:t>
            </a:r>
            <a:endParaRPr lang="zh-CN" altLang="en-US" sz="1350" dirty="0"/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77E3C81C-00FD-44F0-846A-B263F191299C}"/>
              </a:ext>
            </a:extLst>
          </p:cNvPr>
          <p:cNvSpPr/>
          <p:nvPr/>
        </p:nvSpPr>
        <p:spPr>
          <a:xfrm rot="5400000">
            <a:off x="6511957" y="2788256"/>
            <a:ext cx="320270" cy="1179459"/>
          </a:xfrm>
          <a:prstGeom prst="rightBrace">
            <a:avLst>
              <a:gd name="adj1" fmla="val 50425"/>
              <a:gd name="adj2" fmla="val 48768"/>
            </a:avLst>
          </a:prstGeom>
          <a:ln w="28575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535FAD-40DB-447A-AA7C-437A93678018}"/>
              </a:ext>
            </a:extLst>
          </p:cNvPr>
          <p:cNvSpPr txBox="1"/>
          <p:nvPr/>
        </p:nvSpPr>
        <p:spPr>
          <a:xfrm>
            <a:off x="6421275" y="3624929"/>
            <a:ext cx="638060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4-byte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AEE09B-B647-454A-9E52-C32CEC04FE57}"/>
              </a:ext>
            </a:extLst>
          </p:cNvPr>
          <p:cNvSpPr/>
          <p:nvPr/>
        </p:nvSpPr>
        <p:spPr>
          <a:xfrm>
            <a:off x="2227704" y="3486430"/>
            <a:ext cx="1460347" cy="1084613"/>
          </a:xfrm>
          <a:prstGeom prst="rect">
            <a:avLst/>
          </a:prstGeom>
          <a:solidFill>
            <a:schemeClr val="accent2">
              <a:lumMod val="60000"/>
              <a:lumOff val="40000"/>
              <a:alpha val="5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graphicFrame>
        <p:nvGraphicFramePr>
          <p:cNvPr id="8" name="Table 8">
            <a:extLst>
              <a:ext uri="{FF2B5EF4-FFF2-40B4-BE49-F238E27FC236}">
                <a16:creationId xmlns:a16="http://schemas.microsoft.com/office/drawing/2014/main" id="{319DC6AD-913D-4D2E-AB8D-51968E238E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8828366"/>
              </p:ext>
            </p:extLst>
          </p:nvPr>
        </p:nvGraphicFramePr>
        <p:xfrm>
          <a:off x="6082362" y="2896225"/>
          <a:ext cx="1154242" cy="32027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88560">
                  <a:extLst>
                    <a:ext uri="{9D8B030D-6E8A-4147-A177-3AD203B41FA5}">
                      <a16:colId xmlns:a16="http://schemas.microsoft.com/office/drawing/2014/main" val="200850003"/>
                    </a:ext>
                  </a:extLst>
                </a:gridCol>
                <a:gridCol w="288560">
                  <a:extLst>
                    <a:ext uri="{9D8B030D-6E8A-4147-A177-3AD203B41FA5}">
                      <a16:colId xmlns:a16="http://schemas.microsoft.com/office/drawing/2014/main" val="3019043846"/>
                    </a:ext>
                  </a:extLst>
                </a:gridCol>
                <a:gridCol w="267545">
                  <a:extLst>
                    <a:ext uri="{9D8B030D-6E8A-4147-A177-3AD203B41FA5}">
                      <a16:colId xmlns:a16="http://schemas.microsoft.com/office/drawing/2014/main" val="868865358"/>
                    </a:ext>
                  </a:extLst>
                </a:gridCol>
                <a:gridCol w="309577">
                  <a:extLst>
                    <a:ext uri="{9D8B030D-6E8A-4147-A177-3AD203B41FA5}">
                      <a16:colId xmlns:a16="http://schemas.microsoft.com/office/drawing/2014/main" val="433138622"/>
                    </a:ext>
                  </a:extLst>
                </a:gridCol>
              </a:tblGrid>
              <a:tr h="320270">
                <a:tc>
                  <a:txBody>
                    <a:bodyPr/>
                    <a:lstStyle/>
                    <a:p>
                      <a:endParaRPr lang="en-US" sz="1400"/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68580" marR="68580" marT="34290" marB="3429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05531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160138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68423" y="419313"/>
            <a:ext cx="7886700" cy="994172"/>
          </a:xfrm>
        </p:spPr>
        <p:txBody>
          <a:bodyPr>
            <a:normAutofit/>
          </a:bodyPr>
          <a:lstStyle/>
          <a:p>
            <a:r>
              <a:rPr kumimoji="1" lang="en-US" altLang="zh-CN" dirty="0"/>
              <a:t>Memory layout: Little Endian</a:t>
            </a:r>
            <a:endParaRPr kumimoji="1" lang="zh-CN" altLang="en-US" dirty="0"/>
          </a:p>
        </p:txBody>
      </p:sp>
      <p:grpSp>
        <p:nvGrpSpPr>
          <p:cNvPr id="21" name="组 20"/>
          <p:cNvGrpSpPr/>
          <p:nvPr/>
        </p:nvGrpSpPr>
        <p:grpSpPr>
          <a:xfrm>
            <a:off x="4049817" y="2190271"/>
            <a:ext cx="2681749" cy="994173"/>
            <a:chOff x="4589993" y="1584086"/>
            <a:chExt cx="2146574" cy="951208"/>
          </a:xfrm>
        </p:grpSpPr>
        <p:sp>
          <p:nvSpPr>
            <p:cNvPr id="22" name="矩形 21"/>
            <p:cNvSpPr/>
            <p:nvPr/>
          </p:nvSpPr>
          <p:spPr>
            <a:xfrm>
              <a:off x="4589993" y="1584086"/>
              <a:ext cx="2146574" cy="951208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 w="38100" cmpd="sng">
              <a:noFill/>
            </a:ln>
            <a:effectLst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 sz="1350" dirty="0">
                <a:solidFill>
                  <a:schemeClr val="tx1"/>
                </a:solidFill>
                <a:latin typeface="Verdana"/>
                <a:cs typeface="Verdana"/>
              </a:endParaRPr>
            </a:p>
          </p:txBody>
        </p:sp>
        <p:sp>
          <p:nvSpPr>
            <p:cNvPr id="23" name="矩形 22"/>
            <p:cNvSpPr/>
            <p:nvPr/>
          </p:nvSpPr>
          <p:spPr>
            <a:xfrm>
              <a:off x="5398697" y="1615703"/>
              <a:ext cx="428814" cy="28711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kumimoji="1" lang="en-US" altLang="zh-CN" sz="1350" dirty="0">
                  <a:latin typeface="Verdana"/>
                  <a:cs typeface="Verdana"/>
                </a:rPr>
                <a:t>CPU</a:t>
              </a:r>
              <a:endParaRPr kumimoji="1" lang="zh-CN" altLang="en-US" sz="1350" dirty="0">
                <a:latin typeface="Verdana"/>
                <a:cs typeface="Verdana"/>
              </a:endParaRPr>
            </a:p>
          </p:txBody>
        </p:sp>
        <p:sp>
          <p:nvSpPr>
            <p:cNvPr id="24" name="矩形 23"/>
            <p:cNvSpPr/>
            <p:nvPr/>
          </p:nvSpPr>
          <p:spPr>
            <a:xfrm>
              <a:off x="4610611" y="1897505"/>
              <a:ext cx="2114515" cy="625626"/>
            </a:xfrm>
            <a:prstGeom prst="rect">
              <a:avLst/>
            </a:prstGeom>
            <a:solidFill>
              <a:schemeClr val="lt1">
                <a:alpha val="78000"/>
              </a:schemeClr>
            </a:solidFill>
            <a:ln w="38100" cmpd="sng">
              <a:noFill/>
            </a:ln>
            <a:effectLst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 sz="1350" dirty="0">
                <a:latin typeface="Verdana"/>
                <a:cs typeface="Verdana"/>
              </a:endParaRPr>
            </a:p>
          </p:txBody>
        </p:sp>
      </p:grpSp>
      <p:sp>
        <p:nvSpPr>
          <p:cNvPr id="27" name="矩形 26"/>
          <p:cNvSpPr/>
          <p:nvPr/>
        </p:nvSpPr>
        <p:spPr>
          <a:xfrm>
            <a:off x="2224427" y="2910549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2224427" y="2630475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sz="1500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2224427" y="2352382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sz="1500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2224427" y="2072307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sz="135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2549251" y="5187374"/>
            <a:ext cx="960519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500" dirty="0">
                <a:latin typeface="Verdana"/>
                <a:cs typeface="Verdana"/>
              </a:rPr>
              <a:t>Memory</a:t>
            </a:r>
            <a:endParaRPr lang="zh-CN" altLang="en-US" sz="1500" dirty="0"/>
          </a:p>
        </p:txBody>
      </p:sp>
      <p:sp>
        <p:nvSpPr>
          <p:cNvPr id="32" name="矩形 31"/>
          <p:cNvSpPr/>
          <p:nvPr/>
        </p:nvSpPr>
        <p:spPr>
          <a:xfrm>
            <a:off x="2224427" y="3470404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0x12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2224427" y="3190329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2227705" y="3750961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0x34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2230981" y="4031036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0x56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2236667" y="4305581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Arial"/>
                <a:cs typeface="Arial"/>
              </a:rPr>
              <a:t>0x78</a:t>
            </a:r>
            <a:endParaRPr lang="zh-CN" altLang="en-US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2236667" y="4581259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2236667" y="4857635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4182841" y="2532637"/>
            <a:ext cx="2219699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kumimoji="1" lang="en-US" altLang="zh-CN" sz="1200" dirty="0">
                <a:latin typeface="Verdana"/>
                <a:cs typeface="Verdana"/>
              </a:rPr>
              <a:t>Arithmetic Logic Unit</a:t>
            </a:r>
            <a:endParaRPr kumimoji="1" lang="zh-CN" altLang="en-US" sz="1200" dirty="0">
              <a:latin typeface="Verdana"/>
              <a:cs typeface="Verdana"/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4250271" y="2887170"/>
            <a:ext cx="861133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050" b="1" dirty="0">
                <a:latin typeface="Verdana"/>
                <a:cs typeface="Verdana"/>
              </a:rPr>
              <a:t>registers</a:t>
            </a:r>
            <a:endParaRPr lang="zh-CN" altLang="en-US" sz="1050" b="1" dirty="0"/>
          </a:p>
        </p:txBody>
      </p:sp>
      <p:sp>
        <p:nvSpPr>
          <p:cNvPr id="42" name="矩形 41"/>
          <p:cNvSpPr/>
          <p:nvPr/>
        </p:nvSpPr>
        <p:spPr>
          <a:xfrm>
            <a:off x="4189460" y="1836577"/>
            <a:ext cx="246413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 panose="020B0609020204030204" pitchFamily="49" charset="0"/>
                <a:cs typeface="Arial"/>
              </a:rPr>
              <a:t>int x = 0x12345678</a:t>
            </a:r>
            <a:endParaRPr lang="zh-CN" altLang="en-US" dirty="0">
              <a:latin typeface="Consolas" panose="020B0609020204030204" pitchFamily="49" charset="0"/>
              <a:cs typeface="Arial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628629" y="4276502"/>
            <a:ext cx="386644" cy="30008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>
            <a:spAutoFit/>
          </a:bodyPr>
          <a:lstStyle/>
          <a:p>
            <a:r>
              <a:rPr lang="en-US" altLang="zh-CN" sz="1350" b="1" i="1" dirty="0">
                <a:latin typeface="Arial"/>
                <a:cs typeface="Arial"/>
              </a:rPr>
              <a:t>x: </a:t>
            </a:r>
            <a:endParaRPr lang="zh-CN" altLang="en-US" sz="1350" b="1" dirty="0"/>
          </a:p>
        </p:txBody>
      </p:sp>
      <p:sp>
        <p:nvSpPr>
          <p:cNvPr id="3" name="矩形 2"/>
          <p:cNvSpPr/>
          <p:nvPr/>
        </p:nvSpPr>
        <p:spPr>
          <a:xfrm>
            <a:off x="4250270" y="4757416"/>
            <a:ext cx="4623273" cy="113877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0" lvl="1"/>
            <a:r>
              <a:rPr kumimoji="1" lang="en-US" altLang="zh-CN" sz="2000" dirty="0">
                <a:cs typeface="Verdana"/>
              </a:rPr>
              <a:t>Little endian: </a:t>
            </a:r>
          </a:p>
          <a:p>
            <a:pPr marL="257175" lvl="1" indent="-257175">
              <a:buFont typeface="Arial" panose="020B0604020202020204" pitchFamily="34" charset="0"/>
              <a:buChar char="•"/>
            </a:pPr>
            <a:r>
              <a:rPr kumimoji="1" lang="en-US" altLang="zh-CN" sz="1600" dirty="0">
                <a:cs typeface="Verdana"/>
              </a:rPr>
              <a:t>Least significant byte stored at smallest address </a:t>
            </a:r>
          </a:p>
          <a:p>
            <a:pPr marL="257175" lvl="1" indent="-257175">
              <a:buFont typeface="Arial" panose="020B0604020202020204" pitchFamily="34" charset="0"/>
              <a:buChar char="•"/>
            </a:pPr>
            <a:r>
              <a:rPr kumimoji="1" lang="en-US" altLang="zh-CN" sz="1600" dirty="0">
                <a:cs typeface="Verdana"/>
              </a:rPr>
              <a:t>Used in x86 processors (servers/laptops) and most ARM (phones/tablets) implementation</a:t>
            </a:r>
          </a:p>
        </p:txBody>
      </p:sp>
      <p:graphicFrame>
        <p:nvGraphicFramePr>
          <p:cNvPr id="7" name="Table 8">
            <a:extLst>
              <a:ext uri="{FF2B5EF4-FFF2-40B4-BE49-F238E27FC236}">
                <a16:creationId xmlns:a16="http://schemas.microsoft.com/office/drawing/2014/main" id="{4BDB6E85-277D-43D7-B334-283A2C1F9592}"/>
              </a:ext>
            </a:extLst>
          </p:cNvPr>
          <p:cNvGraphicFramePr>
            <a:graphicFrameLocks noGrp="1"/>
          </p:cNvGraphicFramePr>
          <p:nvPr/>
        </p:nvGraphicFramePr>
        <p:xfrm>
          <a:off x="5136733" y="2812314"/>
          <a:ext cx="1511285" cy="304223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90332">
                  <a:extLst>
                    <a:ext uri="{9D8B030D-6E8A-4147-A177-3AD203B41FA5}">
                      <a16:colId xmlns:a16="http://schemas.microsoft.com/office/drawing/2014/main" val="200850003"/>
                    </a:ext>
                  </a:extLst>
                </a:gridCol>
                <a:gridCol w="365528">
                  <a:extLst>
                    <a:ext uri="{9D8B030D-6E8A-4147-A177-3AD203B41FA5}">
                      <a16:colId xmlns:a16="http://schemas.microsoft.com/office/drawing/2014/main" val="3019043846"/>
                    </a:ext>
                  </a:extLst>
                </a:gridCol>
                <a:gridCol w="369009">
                  <a:extLst>
                    <a:ext uri="{9D8B030D-6E8A-4147-A177-3AD203B41FA5}">
                      <a16:colId xmlns:a16="http://schemas.microsoft.com/office/drawing/2014/main" val="868865358"/>
                    </a:ext>
                  </a:extLst>
                </a:gridCol>
                <a:gridCol w="386416">
                  <a:extLst>
                    <a:ext uri="{9D8B030D-6E8A-4147-A177-3AD203B41FA5}">
                      <a16:colId xmlns:a16="http://schemas.microsoft.com/office/drawing/2014/main" val="433138622"/>
                    </a:ext>
                  </a:extLst>
                </a:gridCol>
              </a:tblGrid>
              <a:tr h="304223">
                <a:tc>
                  <a:txBody>
                    <a:bodyPr/>
                    <a:lstStyle/>
                    <a:p>
                      <a:r>
                        <a:rPr lang="en-US" sz="900" dirty="0"/>
                        <a:t>0x12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0x34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0x56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0x78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530553139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3CDAF14D-FBFD-4C3D-AE5C-7FB6C0B73ABF}"/>
              </a:ext>
            </a:extLst>
          </p:cNvPr>
          <p:cNvSpPr/>
          <p:nvPr/>
        </p:nvSpPr>
        <p:spPr>
          <a:xfrm>
            <a:off x="2227704" y="3486430"/>
            <a:ext cx="1460347" cy="1084613"/>
          </a:xfrm>
          <a:prstGeom prst="rect">
            <a:avLst/>
          </a:prstGeom>
          <a:solidFill>
            <a:schemeClr val="accent2">
              <a:lumMod val="60000"/>
              <a:lumOff val="40000"/>
              <a:alpha val="5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8F83A35-2BDE-46A0-80D2-85D66B05AC5B}"/>
              </a:ext>
            </a:extLst>
          </p:cNvPr>
          <p:cNvGrpSpPr/>
          <p:nvPr/>
        </p:nvGrpSpPr>
        <p:grpSpPr>
          <a:xfrm>
            <a:off x="368423" y="4278717"/>
            <a:ext cx="1822391" cy="1098589"/>
            <a:chOff x="491230" y="4561955"/>
            <a:chExt cx="2429855" cy="1464784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A2B4827-C7AE-4736-A36F-1A260F50F82E}"/>
                </a:ext>
              </a:extLst>
            </p:cNvPr>
            <p:cNvSpPr/>
            <p:nvPr/>
          </p:nvSpPr>
          <p:spPr>
            <a:xfrm>
              <a:off x="1509493" y="4561955"/>
              <a:ext cx="1411592" cy="384772"/>
            </a:xfrm>
            <a:prstGeom prst="ellipse">
              <a:avLst/>
            </a:prstGeom>
            <a:noFill/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7CB31305-C679-403E-97C8-12E18F0EB1C5}"/>
                </a:ext>
              </a:extLst>
            </p:cNvPr>
            <p:cNvCxnSpPr>
              <a:endCxn id="10" idx="3"/>
            </p:cNvCxnSpPr>
            <p:nvPr/>
          </p:nvCxnSpPr>
          <p:spPr>
            <a:xfrm flipV="1">
              <a:off x="1151123" y="4890378"/>
              <a:ext cx="565093" cy="76312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5150105-062D-42B5-8F1B-04840F266962}"/>
                </a:ext>
              </a:extLst>
            </p:cNvPr>
            <p:cNvSpPr txBox="1"/>
            <p:nvPr/>
          </p:nvSpPr>
          <p:spPr>
            <a:xfrm>
              <a:off x="491230" y="5626630"/>
              <a:ext cx="1369522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address of x</a:t>
              </a:r>
            </a:p>
          </p:txBody>
        </p:sp>
      </p:grp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9BFB0E2C-71BE-4A9D-B971-6578A968D220}"/>
              </a:ext>
            </a:extLst>
          </p:cNvPr>
          <p:cNvCxnSpPr/>
          <p:nvPr/>
        </p:nvCxnSpPr>
        <p:spPr>
          <a:xfrm flipV="1">
            <a:off x="3700291" y="3116537"/>
            <a:ext cx="1660786" cy="493904"/>
          </a:xfrm>
          <a:prstGeom prst="bentConnector3">
            <a:avLst>
              <a:gd name="adj1" fmla="val 99888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or: Elbow 62">
            <a:extLst>
              <a:ext uri="{FF2B5EF4-FFF2-40B4-BE49-F238E27FC236}">
                <a16:creationId xmlns:a16="http://schemas.microsoft.com/office/drawing/2014/main" id="{E896FDBC-3C20-4BDF-AB28-798C9295B37C}"/>
              </a:ext>
            </a:extLst>
          </p:cNvPr>
          <p:cNvCxnSpPr>
            <a:cxnSpLocks/>
          </p:cNvCxnSpPr>
          <p:nvPr/>
        </p:nvCxnSpPr>
        <p:spPr>
          <a:xfrm flipV="1">
            <a:off x="3704293" y="3126753"/>
            <a:ext cx="2039717" cy="802324"/>
          </a:xfrm>
          <a:prstGeom prst="bentConnector3">
            <a:avLst>
              <a:gd name="adj1" fmla="val 99495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6AD3F9DA-E2F7-4843-91E4-2A4DBE1FEFD3}"/>
              </a:ext>
            </a:extLst>
          </p:cNvPr>
          <p:cNvCxnSpPr>
            <a:cxnSpLocks/>
          </p:cNvCxnSpPr>
          <p:nvPr/>
        </p:nvCxnSpPr>
        <p:spPr>
          <a:xfrm flipV="1">
            <a:off x="3724941" y="3109091"/>
            <a:ext cx="2374154" cy="1089906"/>
          </a:xfrm>
          <a:prstGeom prst="bentConnector3">
            <a:avLst>
              <a:gd name="adj1" fmla="val 99854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FE5A39B4-F5E6-4943-8876-761DB8D8C424}"/>
              </a:ext>
            </a:extLst>
          </p:cNvPr>
          <p:cNvCxnSpPr>
            <a:cxnSpLocks/>
          </p:cNvCxnSpPr>
          <p:nvPr/>
        </p:nvCxnSpPr>
        <p:spPr>
          <a:xfrm flipV="1">
            <a:off x="3745589" y="3116536"/>
            <a:ext cx="2753846" cy="1375457"/>
          </a:xfrm>
          <a:prstGeom prst="bentConnector3">
            <a:avLst>
              <a:gd name="adj1" fmla="val 99807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F6E67D8F-A3A0-455E-A969-A0524E3F8397}"/>
              </a:ext>
            </a:extLst>
          </p:cNvPr>
          <p:cNvSpPr txBox="1"/>
          <p:nvPr/>
        </p:nvSpPr>
        <p:spPr>
          <a:xfrm>
            <a:off x="1447270" y="4018420"/>
            <a:ext cx="68640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addr+1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07B8F9C-C4BA-4D92-BDAC-3EC453DFDF86}"/>
              </a:ext>
            </a:extLst>
          </p:cNvPr>
          <p:cNvSpPr txBox="1"/>
          <p:nvPr/>
        </p:nvSpPr>
        <p:spPr>
          <a:xfrm>
            <a:off x="1472497" y="4279628"/>
            <a:ext cx="51167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 err="1"/>
              <a:t>addr</a:t>
            </a:r>
            <a:endParaRPr lang="en-US" sz="1350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EA13F71-DC81-4695-AC67-D91D95C1B11A}"/>
              </a:ext>
            </a:extLst>
          </p:cNvPr>
          <p:cNvSpPr txBox="1"/>
          <p:nvPr/>
        </p:nvSpPr>
        <p:spPr>
          <a:xfrm>
            <a:off x="1447270" y="3761670"/>
            <a:ext cx="68640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addr+2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86B56F9-D1EC-47EF-834C-E2D7DF741140}"/>
              </a:ext>
            </a:extLst>
          </p:cNvPr>
          <p:cNvSpPr txBox="1"/>
          <p:nvPr/>
        </p:nvSpPr>
        <p:spPr>
          <a:xfrm>
            <a:off x="1458355" y="3494808"/>
            <a:ext cx="68640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addr+3</a:t>
            </a:r>
          </a:p>
        </p:txBody>
      </p:sp>
    </p:spTree>
    <p:extLst>
      <p:ext uri="{BB962C8B-B14F-4D97-AF65-F5344CB8AC3E}">
        <p14:creationId xmlns:p14="http://schemas.microsoft.com/office/powerpoint/2010/main" val="2346371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Advantage of Little Endian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kumimoji="1" lang="en-US" altLang="zh-CN" dirty="0"/>
          </a:p>
          <a:p>
            <a:pPr marL="0" indent="0">
              <a:buNone/>
            </a:pPr>
            <a:endParaRPr kumimoji="1" lang="zh-CN" altLang="en-US" dirty="0"/>
          </a:p>
        </p:txBody>
      </p:sp>
      <p:sp>
        <p:nvSpPr>
          <p:cNvPr id="40" name="矩形 39"/>
          <p:cNvSpPr/>
          <p:nvPr/>
        </p:nvSpPr>
        <p:spPr>
          <a:xfrm>
            <a:off x="1929486" y="2002025"/>
            <a:ext cx="1661032" cy="4154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100" dirty="0">
                <a:latin typeface="Arial"/>
                <a:cs typeface="Arial"/>
              </a:rPr>
              <a:t>0x12345678</a:t>
            </a:r>
            <a:endParaRPr lang="zh-CN" altLang="en-US" sz="2100" dirty="0"/>
          </a:p>
        </p:txBody>
      </p:sp>
      <p:sp>
        <p:nvSpPr>
          <p:cNvPr id="41" name="矩形 40"/>
          <p:cNvSpPr/>
          <p:nvPr/>
        </p:nvSpPr>
        <p:spPr>
          <a:xfrm>
            <a:off x="1921057" y="2434997"/>
            <a:ext cx="1661032" cy="4154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100" dirty="0">
                <a:latin typeface="Arial"/>
                <a:cs typeface="Arial"/>
              </a:rPr>
              <a:t>0x12131415</a:t>
            </a:r>
            <a:endParaRPr lang="zh-CN" altLang="en-US" sz="2100" dirty="0"/>
          </a:p>
        </p:txBody>
      </p:sp>
      <p:sp>
        <p:nvSpPr>
          <p:cNvPr id="42" name="TextBox 6"/>
          <p:cNvSpPr txBox="1"/>
          <p:nvPr/>
        </p:nvSpPr>
        <p:spPr>
          <a:xfrm>
            <a:off x="1485901" y="2417874"/>
            <a:ext cx="389850" cy="3924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50" dirty="0">
                <a:latin typeface="Verdana"/>
                <a:cs typeface="Verdana"/>
              </a:rPr>
              <a:t>+</a:t>
            </a:r>
          </a:p>
        </p:txBody>
      </p:sp>
      <p:sp>
        <p:nvSpPr>
          <p:cNvPr id="46" name="矩形 45"/>
          <p:cNvSpPr/>
          <p:nvPr/>
        </p:nvSpPr>
        <p:spPr>
          <a:xfrm>
            <a:off x="3978910" y="2297791"/>
            <a:ext cx="3127972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dirty="0">
                <a:cs typeface="Verdana"/>
              </a:rPr>
              <a:t>Processor performs calculation </a:t>
            </a:r>
          </a:p>
          <a:p>
            <a:r>
              <a:rPr kumimoji="1" lang="en-US" altLang="zh-CN" dirty="0">
                <a:cs typeface="Verdana"/>
              </a:rPr>
              <a:t>from the least significant bit</a:t>
            </a:r>
            <a:endParaRPr lang="zh-CN" altLang="en-US" dirty="0"/>
          </a:p>
        </p:txBody>
      </p:sp>
      <p:sp>
        <p:nvSpPr>
          <p:cNvPr id="48" name="燕尾形箭头 47"/>
          <p:cNvSpPr/>
          <p:nvPr/>
        </p:nvSpPr>
        <p:spPr>
          <a:xfrm rot="10800000">
            <a:off x="2022204" y="2827412"/>
            <a:ext cx="1442467" cy="363474"/>
          </a:xfrm>
          <a:prstGeom prst="notchedRightArrow">
            <a:avLst/>
          </a:prstGeom>
          <a:solidFill>
            <a:srgbClr val="0000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350">
              <a:solidFill>
                <a:srgbClr val="3366FF"/>
              </a:solidFill>
            </a:endParaRPr>
          </a:p>
        </p:txBody>
      </p:sp>
      <p:sp>
        <p:nvSpPr>
          <p:cNvPr id="49" name="下箭头 48"/>
          <p:cNvSpPr/>
          <p:nvPr/>
        </p:nvSpPr>
        <p:spPr>
          <a:xfrm>
            <a:off x="5222609" y="2958048"/>
            <a:ext cx="649029" cy="465678"/>
          </a:xfrm>
          <a:prstGeom prst="downArrow">
            <a:avLst/>
          </a:prstGeom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1350"/>
          </a:p>
        </p:txBody>
      </p:sp>
      <p:sp>
        <p:nvSpPr>
          <p:cNvPr id="50" name="矩形 49"/>
          <p:cNvSpPr/>
          <p:nvPr/>
        </p:nvSpPr>
        <p:spPr>
          <a:xfrm>
            <a:off x="3854380" y="3596250"/>
            <a:ext cx="3567395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kumimoji="1" lang="en-US" altLang="zh-CN" dirty="0">
                <a:cs typeface="Verdana"/>
              </a:rPr>
              <a:t>Processor can simultaneously </a:t>
            </a:r>
          </a:p>
          <a:p>
            <a:r>
              <a:rPr kumimoji="1" lang="en-US" altLang="zh-CN" dirty="0">
                <a:cs typeface="Verdana"/>
              </a:rPr>
              <a:t>perform memory transfer and </a:t>
            </a:r>
          </a:p>
          <a:p>
            <a:r>
              <a:rPr kumimoji="1" lang="en-US" altLang="zh-CN" dirty="0">
                <a:cs typeface="Verdana"/>
              </a:rPr>
              <a:t>calculation. 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6336872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236667" y="4031036"/>
            <a:ext cx="1451384" cy="550223"/>
          </a:xfrm>
          <a:prstGeom prst="rect">
            <a:avLst/>
          </a:prstGeom>
          <a:solidFill>
            <a:srgbClr val="00B0F0"/>
          </a:solidFill>
          <a:ln w="2857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2880" y="235631"/>
            <a:ext cx="9131120" cy="1143000"/>
          </a:xfrm>
        </p:spPr>
        <p:txBody>
          <a:bodyPr/>
          <a:lstStyle/>
          <a:p>
            <a:r>
              <a:rPr kumimoji="1" lang="en-US" altLang="zh-CN" dirty="0"/>
              <a:t>Another advantage of Little Endian</a:t>
            </a:r>
            <a:endParaRPr kumimoji="1" lang="zh-CN" altLang="en-US" dirty="0"/>
          </a:p>
        </p:txBody>
      </p:sp>
      <p:grpSp>
        <p:nvGrpSpPr>
          <p:cNvPr id="52" name="组 51"/>
          <p:cNvGrpSpPr/>
          <p:nvPr/>
        </p:nvGrpSpPr>
        <p:grpSpPr>
          <a:xfrm>
            <a:off x="4875976" y="2089931"/>
            <a:ext cx="2428583" cy="1254341"/>
            <a:chOff x="4589993" y="1584086"/>
            <a:chExt cx="2146574" cy="951208"/>
          </a:xfrm>
        </p:grpSpPr>
        <p:sp>
          <p:nvSpPr>
            <p:cNvPr id="53" name="矩形 52"/>
            <p:cNvSpPr/>
            <p:nvPr/>
          </p:nvSpPr>
          <p:spPr>
            <a:xfrm>
              <a:off x="4589993" y="1584086"/>
              <a:ext cx="2146574" cy="951208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 w="38100" cmpd="sng">
              <a:solidFill>
                <a:schemeClr val="tx2"/>
              </a:solidFill>
            </a:ln>
            <a:effectLst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 sz="1350" dirty="0">
                <a:solidFill>
                  <a:schemeClr val="tx1"/>
                </a:solidFill>
                <a:latin typeface="Verdana"/>
                <a:cs typeface="Verdana"/>
              </a:endParaRPr>
            </a:p>
          </p:txBody>
        </p:sp>
        <p:sp>
          <p:nvSpPr>
            <p:cNvPr id="54" name="矩形 53"/>
            <p:cNvSpPr/>
            <p:nvPr/>
          </p:nvSpPr>
          <p:spPr>
            <a:xfrm>
              <a:off x="5376347" y="1615703"/>
              <a:ext cx="473515" cy="22756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kumimoji="1" lang="en-US" altLang="zh-CN" sz="1350" dirty="0">
                  <a:latin typeface="Verdana"/>
                  <a:cs typeface="Verdana"/>
                </a:rPr>
                <a:t>CPU</a:t>
              </a:r>
              <a:endParaRPr kumimoji="1" lang="zh-CN" altLang="en-US" sz="1350" dirty="0">
                <a:latin typeface="Verdana"/>
                <a:cs typeface="Verdana"/>
              </a:endParaRPr>
            </a:p>
          </p:txBody>
        </p:sp>
        <p:sp>
          <p:nvSpPr>
            <p:cNvPr id="55" name="矩形 54"/>
            <p:cNvSpPr/>
            <p:nvPr/>
          </p:nvSpPr>
          <p:spPr>
            <a:xfrm>
              <a:off x="4610611" y="1897505"/>
              <a:ext cx="2114515" cy="625626"/>
            </a:xfrm>
            <a:prstGeom prst="rect">
              <a:avLst/>
            </a:prstGeom>
            <a:solidFill>
              <a:schemeClr val="lt1">
                <a:alpha val="78000"/>
              </a:schemeClr>
            </a:solidFill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 sz="1350" dirty="0">
                <a:latin typeface="Verdana"/>
                <a:cs typeface="Verdana"/>
              </a:endParaRPr>
            </a:p>
          </p:txBody>
        </p:sp>
      </p:grpSp>
      <p:cxnSp>
        <p:nvCxnSpPr>
          <p:cNvPr id="56" name="直线箭头连接符 55"/>
          <p:cNvCxnSpPr/>
          <p:nvPr/>
        </p:nvCxnSpPr>
        <p:spPr>
          <a:xfrm>
            <a:off x="3776573" y="2214449"/>
            <a:ext cx="990873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矩形 56"/>
          <p:cNvSpPr/>
          <p:nvPr/>
        </p:nvSpPr>
        <p:spPr>
          <a:xfrm>
            <a:off x="2224427" y="2910549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58" name="矩形 57"/>
          <p:cNvSpPr/>
          <p:nvPr/>
        </p:nvSpPr>
        <p:spPr>
          <a:xfrm>
            <a:off x="2224427" y="2630475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sz="1500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2224427" y="2352382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sz="1500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2224427" y="2072307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sz="135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549251" y="5187374"/>
            <a:ext cx="960519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500" dirty="0">
                <a:latin typeface="Verdana"/>
                <a:cs typeface="Verdana"/>
              </a:rPr>
              <a:t>Memory</a:t>
            </a:r>
            <a:endParaRPr lang="zh-CN" altLang="en-US" sz="1500" dirty="0"/>
          </a:p>
        </p:txBody>
      </p:sp>
      <p:sp>
        <p:nvSpPr>
          <p:cNvPr id="62" name="矩形 61"/>
          <p:cNvSpPr/>
          <p:nvPr/>
        </p:nvSpPr>
        <p:spPr>
          <a:xfrm>
            <a:off x="2224427" y="3470404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0x12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3" name="矩形 62"/>
          <p:cNvSpPr/>
          <p:nvPr/>
        </p:nvSpPr>
        <p:spPr>
          <a:xfrm>
            <a:off x="2224427" y="3190329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4" name="矩形 63"/>
          <p:cNvSpPr/>
          <p:nvPr/>
        </p:nvSpPr>
        <p:spPr>
          <a:xfrm>
            <a:off x="2227705" y="3750961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0x34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5" name="矩形 64"/>
          <p:cNvSpPr/>
          <p:nvPr/>
        </p:nvSpPr>
        <p:spPr>
          <a:xfrm>
            <a:off x="2230981" y="4031036"/>
            <a:ext cx="1463624" cy="280075"/>
          </a:xfrm>
          <a:prstGeom prst="rect">
            <a:avLst/>
          </a:prstGeom>
          <a:noFill/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0x56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2236667" y="4305581"/>
            <a:ext cx="1463624" cy="280075"/>
          </a:xfrm>
          <a:prstGeom prst="rect">
            <a:avLst/>
          </a:prstGeom>
          <a:noFill/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0x78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7" name="矩形 66"/>
          <p:cNvSpPr/>
          <p:nvPr/>
        </p:nvSpPr>
        <p:spPr>
          <a:xfrm>
            <a:off x="2236667" y="4581259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8" name="矩形 67"/>
          <p:cNvSpPr/>
          <p:nvPr/>
        </p:nvSpPr>
        <p:spPr>
          <a:xfrm>
            <a:off x="2236667" y="4857635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9" name="矩形 68"/>
          <p:cNvSpPr/>
          <p:nvPr/>
        </p:nvSpPr>
        <p:spPr>
          <a:xfrm>
            <a:off x="6082362" y="2991914"/>
            <a:ext cx="1146337" cy="18717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mr-IN" altLang="zh-CN" sz="1350" b="1" dirty="0">
                <a:solidFill>
                  <a:schemeClr val="tx1"/>
                </a:solidFill>
                <a:latin typeface="Arial"/>
                <a:cs typeface="Arial"/>
              </a:rPr>
              <a:t>…</a:t>
            </a:r>
            <a:endParaRPr kumimoji="1" lang="zh-CN" altLang="en-US" sz="1350" b="1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70" name="矩形 69"/>
          <p:cNvSpPr/>
          <p:nvPr/>
        </p:nvSpPr>
        <p:spPr>
          <a:xfrm>
            <a:off x="5009000" y="2536944"/>
            <a:ext cx="2219699" cy="3000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kumimoji="1" lang="en-US" altLang="zh-CN" sz="1350" dirty="0">
                <a:latin typeface="Verdana"/>
                <a:cs typeface="Verdana"/>
              </a:rPr>
              <a:t>Arithmetic Logic Unit</a:t>
            </a:r>
            <a:endParaRPr kumimoji="1" lang="zh-CN" altLang="en-US" sz="1350" dirty="0">
              <a:latin typeface="Verdana"/>
              <a:cs typeface="Verdana"/>
            </a:endParaRPr>
          </a:p>
        </p:txBody>
      </p:sp>
      <p:sp>
        <p:nvSpPr>
          <p:cNvPr id="71" name="矩形 70"/>
          <p:cNvSpPr/>
          <p:nvPr/>
        </p:nvSpPr>
        <p:spPr>
          <a:xfrm>
            <a:off x="5076430" y="2959200"/>
            <a:ext cx="861133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050" b="1" dirty="0">
                <a:latin typeface="Verdana"/>
                <a:cs typeface="Verdana"/>
              </a:rPr>
              <a:t>registers</a:t>
            </a:r>
            <a:endParaRPr lang="zh-CN" altLang="en-US" sz="1050" b="1" dirty="0"/>
          </a:p>
        </p:txBody>
      </p:sp>
      <p:sp>
        <p:nvSpPr>
          <p:cNvPr id="72" name="矩形 71"/>
          <p:cNvSpPr/>
          <p:nvPr/>
        </p:nvSpPr>
        <p:spPr>
          <a:xfrm>
            <a:off x="4394539" y="3459394"/>
            <a:ext cx="259077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solidFill>
                  <a:srgbClr val="000000"/>
                </a:solidFill>
                <a:latin typeface="Consolas" panose="020B0609020204030204" pitchFamily="49" charset="0"/>
                <a:cs typeface="Arial"/>
              </a:rPr>
              <a:t>int a = 0x12345678;</a:t>
            </a:r>
            <a:endParaRPr lang="zh-CN" altLang="en-US" dirty="0">
              <a:solidFill>
                <a:srgbClr val="000000"/>
              </a:solidFill>
              <a:latin typeface="Consolas" panose="020B0609020204030204" pitchFamily="49" charset="0"/>
              <a:cs typeface="Arial"/>
            </a:endParaRPr>
          </a:p>
        </p:txBody>
      </p:sp>
      <p:sp>
        <p:nvSpPr>
          <p:cNvPr id="75" name="矩形 74"/>
          <p:cNvSpPr/>
          <p:nvPr/>
        </p:nvSpPr>
        <p:spPr>
          <a:xfrm>
            <a:off x="1740211" y="4832183"/>
            <a:ext cx="41549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4386109" y="3743655"/>
            <a:ext cx="259077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 panose="020B0609020204030204" pitchFamily="49" charset="0"/>
                <a:cs typeface="Arial"/>
              </a:rPr>
              <a:t>short b = (short)a;</a:t>
            </a:r>
            <a:endParaRPr lang="zh-CN" altLang="en-US" dirty="0">
              <a:latin typeface="Consolas" panose="020B0609020204030204" pitchFamily="49" charset="0"/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4386109" y="4212237"/>
            <a:ext cx="4466831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kumimoji="1" lang="en-US" altLang="zh-CN" dirty="0">
                <a:cs typeface="Verdana"/>
              </a:rPr>
              <a:t>Casting a larger integer to a smaller one requires no explicit conversion.</a:t>
            </a:r>
            <a:endParaRPr lang="mr-IN" altLang="zh-CN" dirty="0"/>
          </a:p>
          <a:p>
            <a:endParaRPr lang="zh-CN" altLang="en-US" dirty="0">
              <a:solidFill>
                <a:srgbClr val="FF0000"/>
              </a:solidFill>
            </a:endParaRPr>
          </a:p>
        </p:txBody>
      </p:sp>
      <p:sp>
        <p:nvSpPr>
          <p:cNvPr id="3" name="矩形 56">
            <a:extLst>
              <a:ext uri="{FF2B5EF4-FFF2-40B4-BE49-F238E27FC236}">
                <a16:creationId xmlns:a16="http://schemas.microsoft.com/office/drawing/2014/main" id="{98A0EF93-74BB-44DB-B152-A05A347026D1}"/>
              </a:ext>
            </a:extLst>
          </p:cNvPr>
          <p:cNvSpPr/>
          <p:nvPr/>
        </p:nvSpPr>
        <p:spPr>
          <a:xfrm>
            <a:off x="688808" y="4285350"/>
            <a:ext cx="386644" cy="30008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>
            <a:spAutoFit/>
          </a:bodyPr>
          <a:lstStyle/>
          <a:p>
            <a:r>
              <a:rPr lang="en-US" altLang="zh-CN" sz="1350" b="1" i="1" dirty="0">
                <a:latin typeface="Arial"/>
                <a:cs typeface="Arial"/>
              </a:rPr>
              <a:t>a: </a:t>
            </a:r>
            <a:endParaRPr lang="zh-CN" altLang="en-US" sz="1350" b="1" dirty="0"/>
          </a:p>
        </p:txBody>
      </p:sp>
      <p:sp>
        <p:nvSpPr>
          <p:cNvPr id="9" name="矩形 56">
            <a:extLst>
              <a:ext uri="{FF2B5EF4-FFF2-40B4-BE49-F238E27FC236}">
                <a16:creationId xmlns:a16="http://schemas.microsoft.com/office/drawing/2014/main" id="{A7352E00-7139-49BB-A208-0B68A1A52211}"/>
              </a:ext>
            </a:extLst>
          </p:cNvPr>
          <p:cNvSpPr/>
          <p:nvPr/>
        </p:nvSpPr>
        <p:spPr>
          <a:xfrm>
            <a:off x="291059" y="4285350"/>
            <a:ext cx="396262" cy="30008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>
            <a:spAutoFit/>
          </a:bodyPr>
          <a:lstStyle/>
          <a:p>
            <a:r>
              <a:rPr lang="en-US" altLang="zh-CN" sz="1350" b="1" i="1" dirty="0">
                <a:latin typeface="Arial"/>
                <a:cs typeface="Arial"/>
              </a:rPr>
              <a:t>b: </a:t>
            </a:r>
            <a:endParaRPr lang="zh-CN" altLang="en-US" sz="135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5CBD47-F630-484E-A99E-7891B1B167A2}"/>
              </a:ext>
            </a:extLst>
          </p:cNvPr>
          <p:cNvSpPr txBox="1"/>
          <p:nvPr/>
        </p:nvSpPr>
        <p:spPr>
          <a:xfrm>
            <a:off x="1447270" y="4018420"/>
            <a:ext cx="68640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addr+1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A0AD209-AFDF-43F2-A897-B3EB4FAAD74C}"/>
              </a:ext>
            </a:extLst>
          </p:cNvPr>
          <p:cNvSpPr txBox="1"/>
          <p:nvPr/>
        </p:nvSpPr>
        <p:spPr>
          <a:xfrm>
            <a:off x="1472497" y="4279628"/>
            <a:ext cx="51167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 err="1"/>
              <a:t>addr</a:t>
            </a:r>
            <a:endParaRPr lang="en-US" sz="13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F1615C-1617-4783-99D6-E44BA9120CF5}"/>
              </a:ext>
            </a:extLst>
          </p:cNvPr>
          <p:cNvSpPr txBox="1"/>
          <p:nvPr/>
        </p:nvSpPr>
        <p:spPr>
          <a:xfrm>
            <a:off x="1447270" y="3761670"/>
            <a:ext cx="68640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addr+2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2D97C4-5E54-442E-94D2-BA7ADAE4C004}"/>
              </a:ext>
            </a:extLst>
          </p:cNvPr>
          <p:cNvSpPr txBox="1"/>
          <p:nvPr/>
        </p:nvSpPr>
        <p:spPr>
          <a:xfrm>
            <a:off x="1458355" y="3494808"/>
            <a:ext cx="68640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addr+3</a:t>
            </a:r>
          </a:p>
        </p:txBody>
      </p:sp>
    </p:spTree>
    <p:extLst>
      <p:ext uri="{BB962C8B-B14F-4D97-AF65-F5344CB8AC3E}">
        <p14:creationId xmlns:p14="http://schemas.microsoft.com/office/powerpoint/2010/main" val="3245990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4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99840" y="444513"/>
            <a:ext cx="7886700" cy="994172"/>
          </a:xfrm>
        </p:spPr>
        <p:txBody>
          <a:bodyPr>
            <a:normAutofit/>
          </a:bodyPr>
          <a:lstStyle/>
          <a:p>
            <a:r>
              <a:rPr kumimoji="1" lang="en-US" altLang="zh-CN" dirty="0"/>
              <a:t>Memory layout: Big Endian</a:t>
            </a:r>
            <a:endParaRPr kumimoji="1" lang="zh-CN" altLang="en-US" dirty="0"/>
          </a:p>
        </p:txBody>
      </p:sp>
      <p:grpSp>
        <p:nvGrpSpPr>
          <p:cNvPr id="21" name="组 20"/>
          <p:cNvGrpSpPr/>
          <p:nvPr/>
        </p:nvGrpSpPr>
        <p:grpSpPr>
          <a:xfrm>
            <a:off x="4572000" y="2169331"/>
            <a:ext cx="2688712" cy="1075697"/>
            <a:chOff x="4589993" y="1584086"/>
            <a:chExt cx="2146574" cy="951208"/>
          </a:xfrm>
        </p:grpSpPr>
        <p:sp>
          <p:nvSpPr>
            <p:cNvPr id="22" name="矩形 21"/>
            <p:cNvSpPr/>
            <p:nvPr/>
          </p:nvSpPr>
          <p:spPr>
            <a:xfrm>
              <a:off x="4589993" y="1584086"/>
              <a:ext cx="2146574" cy="951208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 w="38100" cmpd="sng">
              <a:noFill/>
            </a:ln>
            <a:effectLst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 sz="1350" dirty="0">
                <a:solidFill>
                  <a:schemeClr val="tx1"/>
                </a:solidFill>
                <a:latin typeface="Verdana"/>
                <a:cs typeface="Verdana"/>
              </a:endParaRPr>
            </a:p>
          </p:txBody>
        </p:sp>
        <p:sp>
          <p:nvSpPr>
            <p:cNvPr id="23" name="矩形 22"/>
            <p:cNvSpPr/>
            <p:nvPr/>
          </p:nvSpPr>
          <p:spPr>
            <a:xfrm>
              <a:off x="5399252" y="1615703"/>
              <a:ext cx="427703" cy="2653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kumimoji="1" lang="en-US" altLang="zh-CN" sz="1350" dirty="0">
                  <a:latin typeface="Verdana"/>
                  <a:cs typeface="Verdana"/>
                </a:rPr>
                <a:t>CPU</a:t>
              </a:r>
              <a:endParaRPr kumimoji="1" lang="zh-CN" altLang="en-US" sz="1350" dirty="0">
                <a:latin typeface="Verdana"/>
                <a:cs typeface="Verdana"/>
              </a:endParaRPr>
            </a:p>
          </p:txBody>
        </p:sp>
        <p:sp>
          <p:nvSpPr>
            <p:cNvPr id="24" name="矩形 23"/>
            <p:cNvSpPr/>
            <p:nvPr/>
          </p:nvSpPr>
          <p:spPr>
            <a:xfrm>
              <a:off x="4610611" y="1897505"/>
              <a:ext cx="2114515" cy="625626"/>
            </a:xfrm>
            <a:prstGeom prst="rect">
              <a:avLst/>
            </a:prstGeom>
            <a:solidFill>
              <a:schemeClr val="lt1">
                <a:alpha val="78000"/>
              </a:schemeClr>
            </a:solidFill>
            <a:ln w="38100" cmpd="sng">
              <a:noFill/>
            </a:ln>
            <a:effectLst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 sz="1350" dirty="0">
                <a:latin typeface="Verdana"/>
                <a:cs typeface="Verdana"/>
              </a:endParaRPr>
            </a:p>
          </p:txBody>
        </p:sp>
      </p:grpSp>
      <p:sp>
        <p:nvSpPr>
          <p:cNvPr id="27" name="矩形 26"/>
          <p:cNvSpPr/>
          <p:nvPr/>
        </p:nvSpPr>
        <p:spPr>
          <a:xfrm>
            <a:off x="2224427" y="2910549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2224427" y="2630475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sz="1500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2224427" y="2352382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sz="1500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2224427" y="2072307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CN" altLang="en-US" sz="135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2549251" y="5187374"/>
            <a:ext cx="960519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500" dirty="0">
                <a:latin typeface="Verdana"/>
                <a:cs typeface="Verdana"/>
              </a:rPr>
              <a:t>Memory</a:t>
            </a:r>
            <a:endParaRPr lang="zh-CN" altLang="en-US" sz="1500" dirty="0"/>
          </a:p>
        </p:txBody>
      </p:sp>
      <p:sp>
        <p:nvSpPr>
          <p:cNvPr id="32" name="矩形 31"/>
          <p:cNvSpPr/>
          <p:nvPr/>
        </p:nvSpPr>
        <p:spPr>
          <a:xfrm>
            <a:off x="2224427" y="3470404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0x78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2224427" y="3190329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2227705" y="3750961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0x56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2230981" y="4031036"/>
            <a:ext cx="1463624" cy="280075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0x34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2236667" y="4305581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0x12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2236667" y="4581259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2236667" y="4857635"/>
            <a:ext cx="1463624" cy="280075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5778387" y="2960244"/>
            <a:ext cx="1146337" cy="18717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mr-IN" altLang="zh-CN" sz="1350" b="1" dirty="0">
                <a:solidFill>
                  <a:schemeClr val="tx1"/>
                </a:solidFill>
                <a:latin typeface="Arial"/>
                <a:cs typeface="Arial"/>
              </a:rPr>
              <a:t>…</a:t>
            </a:r>
            <a:endParaRPr kumimoji="1" lang="zh-CN" altLang="en-US" sz="1350" b="1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4705025" y="2505274"/>
            <a:ext cx="2219699" cy="3000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kumimoji="1" lang="en-US" altLang="zh-CN" sz="1350" dirty="0">
                <a:latin typeface="Verdana"/>
                <a:cs typeface="Verdana"/>
              </a:rPr>
              <a:t>Arithmetic Logic Unit</a:t>
            </a:r>
            <a:endParaRPr kumimoji="1" lang="zh-CN" altLang="en-US" sz="1350" dirty="0">
              <a:latin typeface="Verdana"/>
              <a:cs typeface="Verdana"/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4772455" y="2927531"/>
            <a:ext cx="861133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050" b="1" dirty="0">
                <a:latin typeface="Verdana"/>
                <a:cs typeface="Verdana"/>
              </a:rPr>
              <a:t>registers</a:t>
            </a:r>
            <a:endParaRPr lang="zh-CN" altLang="en-US" sz="1050" b="1" dirty="0"/>
          </a:p>
        </p:txBody>
      </p:sp>
      <p:sp>
        <p:nvSpPr>
          <p:cNvPr id="42" name="矩形 41"/>
          <p:cNvSpPr/>
          <p:nvPr/>
        </p:nvSpPr>
        <p:spPr>
          <a:xfrm>
            <a:off x="4534956" y="1823900"/>
            <a:ext cx="259077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latin typeface="Consolas" panose="020B0609020204030204" pitchFamily="49" charset="0"/>
                <a:cs typeface="Arial"/>
              </a:rPr>
              <a:t>int a = 0x12345678;</a:t>
            </a:r>
            <a:endParaRPr lang="zh-CN" altLang="en-US" dirty="0">
              <a:latin typeface="Consolas" panose="020B0609020204030204" pitchFamily="49" charset="0"/>
              <a:cs typeface="Arial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1740211" y="4832183"/>
            <a:ext cx="41549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dirty="0"/>
          </a:p>
        </p:txBody>
      </p:sp>
      <p:sp>
        <p:nvSpPr>
          <p:cNvPr id="58" name="矩形 57"/>
          <p:cNvSpPr/>
          <p:nvPr/>
        </p:nvSpPr>
        <p:spPr>
          <a:xfrm>
            <a:off x="4123191" y="4811204"/>
            <a:ext cx="4486131" cy="113877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0" lvl="1"/>
            <a:r>
              <a:rPr kumimoji="1" lang="en-US" altLang="zh-CN" sz="2000" dirty="0">
                <a:cs typeface="Verdana"/>
              </a:rPr>
              <a:t>Big Endian:</a:t>
            </a:r>
          </a:p>
          <a:p>
            <a:pPr marL="257175" lvl="1" indent="-257175">
              <a:buFont typeface="Arial" panose="020B0604020202020204" pitchFamily="34" charset="0"/>
              <a:buChar char="•"/>
            </a:pPr>
            <a:r>
              <a:rPr kumimoji="1" lang="en-US" altLang="zh-CN" sz="1600" dirty="0">
                <a:cs typeface="Verdana"/>
              </a:rPr>
              <a:t>Most significant byte stored at smallest address</a:t>
            </a:r>
          </a:p>
          <a:p>
            <a:pPr marL="257175" lvl="1" indent="-257175">
              <a:buFont typeface="Arial" panose="020B0604020202020204" pitchFamily="34" charset="0"/>
              <a:buChar char="•"/>
            </a:pPr>
            <a:r>
              <a:rPr kumimoji="1" lang="en-US" altLang="zh-CN" sz="1600" dirty="0">
                <a:cs typeface="Verdana"/>
              </a:rPr>
              <a:t>ARM processors (phones/tablets) in principle support both endian</a:t>
            </a:r>
          </a:p>
        </p:txBody>
      </p:sp>
      <p:graphicFrame>
        <p:nvGraphicFramePr>
          <p:cNvPr id="3" name="Table 8">
            <a:extLst>
              <a:ext uri="{FF2B5EF4-FFF2-40B4-BE49-F238E27FC236}">
                <a16:creationId xmlns:a16="http://schemas.microsoft.com/office/drawing/2014/main" id="{879D4AB8-3093-4F16-A031-7B90C845B8A8}"/>
              </a:ext>
            </a:extLst>
          </p:cNvPr>
          <p:cNvGraphicFramePr>
            <a:graphicFrameLocks noGrp="1"/>
          </p:cNvGraphicFramePr>
          <p:nvPr/>
        </p:nvGraphicFramePr>
        <p:xfrm>
          <a:off x="5660017" y="2862163"/>
          <a:ext cx="1511285" cy="304223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90332">
                  <a:extLst>
                    <a:ext uri="{9D8B030D-6E8A-4147-A177-3AD203B41FA5}">
                      <a16:colId xmlns:a16="http://schemas.microsoft.com/office/drawing/2014/main" val="200850003"/>
                    </a:ext>
                  </a:extLst>
                </a:gridCol>
                <a:gridCol w="365528">
                  <a:extLst>
                    <a:ext uri="{9D8B030D-6E8A-4147-A177-3AD203B41FA5}">
                      <a16:colId xmlns:a16="http://schemas.microsoft.com/office/drawing/2014/main" val="3019043846"/>
                    </a:ext>
                  </a:extLst>
                </a:gridCol>
                <a:gridCol w="369009">
                  <a:extLst>
                    <a:ext uri="{9D8B030D-6E8A-4147-A177-3AD203B41FA5}">
                      <a16:colId xmlns:a16="http://schemas.microsoft.com/office/drawing/2014/main" val="868865358"/>
                    </a:ext>
                  </a:extLst>
                </a:gridCol>
                <a:gridCol w="386416">
                  <a:extLst>
                    <a:ext uri="{9D8B030D-6E8A-4147-A177-3AD203B41FA5}">
                      <a16:colId xmlns:a16="http://schemas.microsoft.com/office/drawing/2014/main" val="433138622"/>
                    </a:ext>
                  </a:extLst>
                </a:gridCol>
              </a:tblGrid>
              <a:tr h="304223">
                <a:tc>
                  <a:txBody>
                    <a:bodyPr/>
                    <a:lstStyle/>
                    <a:p>
                      <a:r>
                        <a:rPr lang="en-US" sz="900" dirty="0"/>
                        <a:t>0x12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0x34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0x56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0x78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530553139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DDBDD9B5-D54E-411F-81D9-654177218A1A}"/>
              </a:ext>
            </a:extLst>
          </p:cNvPr>
          <p:cNvSpPr/>
          <p:nvPr/>
        </p:nvSpPr>
        <p:spPr>
          <a:xfrm>
            <a:off x="2227704" y="3486430"/>
            <a:ext cx="1460347" cy="1084613"/>
          </a:xfrm>
          <a:prstGeom prst="rect">
            <a:avLst/>
          </a:prstGeom>
          <a:solidFill>
            <a:schemeClr val="accent2">
              <a:lumMod val="60000"/>
              <a:lumOff val="40000"/>
              <a:alpha val="5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60" name="矩形 56">
            <a:extLst>
              <a:ext uri="{FF2B5EF4-FFF2-40B4-BE49-F238E27FC236}">
                <a16:creationId xmlns:a16="http://schemas.microsoft.com/office/drawing/2014/main" id="{BEC74DBF-6F2A-4DDC-B22A-38FCC978A125}"/>
              </a:ext>
            </a:extLst>
          </p:cNvPr>
          <p:cNvSpPr/>
          <p:nvPr/>
        </p:nvSpPr>
        <p:spPr>
          <a:xfrm>
            <a:off x="628629" y="4276502"/>
            <a:ext cx="386644" cy="30008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>
            <a:spAutoFit/>
          </a:bodyPr>
          <a:lstStyle/>
          <a:p>
            <a:r>
              <a:rPr lang="en-US" altLang="zh-CN" sz="1350" b="1" i="1" dirty="0">
                <a:latin typeface="Arial"/>
                <a:cs typeface="Arial"/>
              </a:rPr>
              <a:t>a: </a:t>
            </a:r>
            <a:endParaRPr lang="zh-CN" altLang="en-US" sz="1350" b="1" dirty="0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18B39C60-63B7-482F-B539-700B73F620D1}"/>
              </a:ext>
            </a:extLst>
          </p:cNvPr>
          <p:cNvCxnSpPr>
            <a:cxnSpLocks/>
          </p:cNvCxnSpPr>
          <p:nvPr/>
        </p:nvCxnSpPr>
        <p:spPr>
          <a:xfrm flipV="1">
            <a:off x="3699758" y="3157634"/>
            <a:ext cx="2176867" cy="1335222"/>
          </a:xfrm>
          <a:prstGeom prst="bentConnector3">
            <a:avLst>
              <a:gd name="adj1" fmla="val 99735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E2647632-1518-40FC-ABC9-5DBFAC1EE249}"/>
              </a:ext>
            </a:extLst>
          </p:cNvPr>
          <p:cNvCxnSpPr>
            <a:cxnSpLocks/>
          </p:cNvCxnSpPr>
          <p:nvPr/>
        </p:nvCxnSpPr>
        <p:spPr>
          <a:xfrm flipV="1">
            <a:off x="3713876" y="3166386"/>
            <a:ext cx="2538392" cy="1013751"/>
          </a:xfrm>
          <a:prstGeom prst="bentConnector3">
            <a:avLst>
              <a:gd name="adj1" fmla="val 99920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21120E88-9237-4B59-8000-A2697DE26DF3}"/>
              </a:ext>
            </a:extLst>
          </p:cNvPr>
          <p:cNvCxnSpPr>
            <a:cxnSpLocks/>
          </p:cNvCxnSpPr>
          <p:nvPr/>
        </p:nvCxnSpPr>
        <p:spPr>
          <a:xfrm flipV="1">
            <a:off x="3694605" y="3174409"/>
            <a:ext cx="2951041" cy="716348"/>
          </a:xfrm>
          <a:prstGeom prst="bentConnector3">
            <a:avLst>
              <a:gd name="adj1" fmla="val 99900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05243669-FB6A-4498-9FAE-05787B8B9DEB}"/>
              </a:ext>
            </a:extLst>
          </p:cNvPr>
          <p:cNvCxnSpPr>
            <a:cxnSpLocks/>
          </p:cNvCxnSpPr>
          <p:nvPr/>
        </p:nvCxnSpPr>
        <p:spPr>
          <a:xfrm flipV="1">
            <a:off x="3706312" y="3157635"/>
            <a:ext cx="3293491" cy="464356"/>
          </a:xfrm>
          <a:prstGeom prst="bentConnector3">
            <a:avLst>
              <a:gd name="adj1" fmla="val 100208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67703EE4-FE88-4165-A4C3-B20F973918BB}"/>
              </a:ext>
            </a:extLst>
          </p:cNvPr>
          <p:cNvSpPr txBox="1"/>
          <p:nvPr/>
        </p:nvSpPr>
        <p:spPr>
          <a:xfrm>
            <a:off x="1447270" y="4018420"/>
            <a:ext cx="68640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addr+1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57AA031-8D6B-4585-AEC9-97159C80CE67}"/>
              </a:ext>
            </a:extLst>
          </p:cNvPr>
          <p:cNvSpPr txBox="1"/>
          <p:nvPr/>
        </p:nvSpPr>
        <p:spPr>
          <a:xfrm>
            <a:off x="1472497" y="4279628"/>
            <a:ext cx="51167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 err="1"/>
              <a:t>addr</a:t>
            </a:r>
            <a:endParaRPr lang="en-US" sz="135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D8F9787-BBF8-41CB-B4AF-FB14E0469370}"/>
              </a:ext>
            </a:extLst>
          </p:cNvPr>
          <p:cNvSpPr txBox="1"/>
          <p:nvPr/>
        </p:nvSpPr>
        <p:spPr>
          <a:xfrm>
            <a:off x="1447270" y="3761670"/>
            <a:ext cx="68640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addr+2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E324FD1-C6F7-491A-87C6-5829D7C9A287}"/>
              </a:ext>
            </a:extLst>
          </p:cNvPr>
          <p:cNvSpPr txBox="1"/>
          <p:nvPr/>
        </p:nvSpPr>
        <p:spPr>
          <a:xfrm>
            <a:off x="1458355" y="3494808"/>
            <a:ext cx="68640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addr+3</a:t>
            </a:r>
          </a:p>
        </p:txBody>
      </p:sp>
    </p:spTree>
    <p:extLst>
      <p:ext uri="{BB962C8B-B14F-4D97-AF65-F5344CB8AC3E}">
        <p14:creationId xmlns:p14="http://schemas.microsoft.com/office/powerpoint/2010/main" val="376713408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Advantages of Big Endian</a:t>
            </a:r>
            <a:endParaRPr kumimoji="1" lang="zh-CN" altLang="en-US" dirty="0"/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dirty="0">
                <a:solidFill>
                  <a:srgbClr val="000000"/>
                </a:solidFill>
              </a:rPr>
              <a:t>Quick to test whether the number is positive or negative</a:t>
            </a:r>
          </a:p>
          <a:p>
            <a:pPr lvl="1"/>
            <a:r>
              <a:rPr kumimoji="1" lang="en-US" altLang="zh-CN" dirty="0">
                <a:solidFill>
                  <a:srgbClr val="000000"/>
                </a:solidFill>
              </a:rPr>
              <a:t>Examine byte stored at the address offset zero.</a:t>
            </a:r>
            <a:endParaRPr kumimoji="1" lang="zh-CN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7355997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Big or Little Endian?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8551" y="1920480"/>
            <a:ext cx="8229599" cy="2554545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"/>
                <a:cs typeface="Courier"/>
              </a:rPr>
              <a:t>#include &lt;</a:t>
            </a:r>
            <a:r>
              <a:rPr lang="en-US" sz="1600" dirty="0" err="1">
                <a:latin typeface="Courier"/>
                <a:cs typeface="Courier"/>
              </a:rPr>
              <a:t>stdio.h</a:t>
            </a:r>
            <a:r>
              <a:rPr lang="en-US" sz="1600" dirty="0">
                <a:latin typeface="Courier"/>
                <a:cs typeface="Courier"/>
              </a:rPr>
              <a:t>&gt;</a:t>
            </a:r>
          </a:p>
          <a:p>
            <a:endParaRPr lang="en-US" sz="1600" dirty="0">
              <a:latin typeface="Courier"/>
              <a:cs typeface="Courier"/>
            </a:endParaRPr>
          </a:p>
          <a:p>
            <a:r>
              <a:rPr lang="en-US" sz="1600" dirty="0">
                <a:latin typeface="Courier"/>
                <a:cs typeface="Courier"/>
              </a:rPr>
              <a:t>int main()</a:t>
            </a:r>
          </a:p>
          <a:p>
            <a:r>
              <a:rPr lang="en-US" sz="1600" dirty="0">
                <a:latin typeface="Courier"/>
                <a:cs typeface="Courier"/>
              </a:rPr>
              <a:t>{</a:t>
            </a:r>
          </a:p>
          <a:p>
            <a:r>
              <a:rPr lang="en-US" sz="1600" dirty="0">
                <a:latin typeface="Courier"/>
                <a:cs typeface="Courier"/>
              </a:rPr>
              <a:t>     int x = 0x05060708;</a:t>
            </a:r>
          </a:p>
          <a:p>
            <a:r>
              <a:rPr lang="en-US" sz="1600" dirty="0">
                <a:latin typeface="Courier"/>
                <a:cs typeface="Courier"/>
              </a:rPr>
              <a:t>     int *p;</a:t>
            </a:r>
          </a:p>
          <a:p>
            <a:r>
              <a:rPr lang="en-US" sz="1600" dirty="0">
                <a:latin typeface="Courier"/>
                <a:cs typeface="Courier"/>
              </a:rPr>
              <a:t>     p = &amp;x; //p contains the address of x</a:t>
            </a:r>
          </a:p>
          <a:p>
            <a:r>
              <a:rPr lang="en-US" sz="1600" dirty="0">
                <a:latin typeface="Courier"/>
                <a:cs typeface="Courier"/>
              </a:rPr>
              <a:t>	 char y = *(char *)p; //y is the 1-byte value pointed to by p</a:t>
            </a:r>
          </a:p>
          <a:p>
            <a:r>
              <a:rPr lang="en-US" sz="1600" dirty="0">
                <a:latin typeface="Courier"/>
                <a:cs typeface="Courier"/>
              </a:rPr>
              <a:t>     </a:t>
            </a:r>
            <a:r>
              <a:rPr lang="en-US" sz="1600" dirty="0" err="1">
                <a:latin typeface="Courier"/>
                <a:cs typeface="Courier"/>
              </a:rPr>
              <a:t>printf</a:t>
            </a:r>
            <a:r>
              <a:rPr lang="en-US" sz="1600" dirty="0">
                <a:latin typeface="Courier"/>
                <a:cs typeface="Courier"/>
              </a:rPr>
              <a:t>(“y=%d\n”, y);</a:t>
            </a:r>
          </a:p>
          <a:p>
            <a:r>
              <a:rPr lang="en-US" sz="1600" dirty="0">
                <a:latin typeface="Courier"/>
                <a:cs typeface="Courier"/>
              </a:rP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1" y="4977867"/>
            <a:ext cx="2451312" cy="738664"/>
          </a:xfrm>
          <a:prstGeom prst="rect">
            <a:avLst/>
          </a:prstGeom>
          <a:solidFill>
            <a:schemeClr val="tx2"/>
          </a:solidFill>
        </p:spPr>
        <p:txBody>
          <a:bodyPr wrap="none" rtlCol="0">
            <a:spAutoFit/>
          </a:bodyPr>
          <a:lstStyle/>
          <a:p>
            <a:r>
              <a:rPr lang="en-US" sz="2100" dirty="0">
                <a:solidFill>
                  <a:srgbClr val="FFFFFF"/>
                </a:solidFill>
                <a:latin typeface="Courier"/>
                <a:cs typeface="Courier"/>
              </a:rPr>
              <a:t>$ </a:t>
            </a:r>
            <a:r>
              <a:rPr lang="en-US" sz="2100" dirty="0" err="1">
                <a:solidFill>
                  <a:srgbClr val="FFFFFF"/>
                </a:solidFill>
                <a:latin typeface="Courier"/>
                <a:cs typeface="Courier"/>
              </a:rPr>
              <a:t>gcc</a:t>
            </a:r>
            <a:r>
              <a:rPr lang="en-US" sz="2100" dirty="0">
                <a:solidFill>
                  <a:srgbClr val="FFFFFF"/>
                </a:solidFill>
                <a:latin typeface="Courier"/>
                <a:cs typeface="Courier"/>
              </a:rPr>
              <a:t> </a:t>
            </a:r>
            <a:r>
              <a:rPr lang="en-US" sz="2100" dirty="0" err="1">
                <a:solidFill>
                  <a:srgbClr val="FFFFFF"/>
                </a:solidFill>
                <a:latin typeface="Courier"/>
                <a:cs typeface="Courier"/>
              </a:rPr>
              <a:t>endian.c</a:t>
            </a:r>
            <a:endParaRPr lang="en-US" sz="2100" dirty="0">
              <a:solidFill>
                <a:srgbClr val="FFFFFF"/>
              </a:solidFill>
              <a:latin typeface="Courier"/>
              <a:cs typeface="Courier"/>
            </a:endParaRPr>
          </a:p>
          <a:p>
            <a:r>
              <a:rPr lang="en-US" sz="2100" dirty="0">
                <a:solidFill>
                  <a:srgbClr val="FFFFFF"/>
                </a:solidFill>
                <a:latin typeface="Courier"/>
                <a:cs typeface="Courier"/>
              </a:rPr>
              <a:t>$ ./</a:t>
            </a:r>
            <a:r>
              <a:rPr lang="en-US" sz="2100" dirty="0" err="1">
                <a:solidFill>
                  <a:srgbClr val="FFFFFF"/>
                </a:solidFill>
                <a:latin typeface="Courier"/>
                <a:cs typeface="Courier"/>
              </a:rPr>
              <a:t>a.out</a:t>
            </a:r>
            <a:endParaRPr lang="en-US" sz="2100" dirty="0">
              <a:solidFill>
                <a:srgbClr val="FFFFFF"/>
              </a:solidFill>
              <a:latin typeface="Courier"/>
              <a:cs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2541287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9057C0-56B5-432D-960B-C4EACD245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88728B-DE0F-474C-A02E-C6E5330170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Integer representation</a:t>
            </a:r>
          </a:p>
          <a:p>
            <a:pPr lvl="1"/>
            <a:r>
              <a:rPr lang="en-US" dirty="0"/>
              <a:t>Unsigned (base-2)</a:t>
            </a:r>
          </a:p>
          <a:p>
            <a:pPr lvl="1"/>
            <a:r>
              <a:rPr lang="en-US" dirty="0"/>
              <a:t>Signed (2’s complement)</a:t>
            </a:r>
          </a:p>
          <a:p>
            <a:r>
              <a:rPr lang="en-US" dirty="0"/>
              <a:t>Hex notation</a:t>
            </a:r>
          </a:p>
          <a:p>
            <a:r>
              <a:rPr lang="en-US" dirty="0"/>
              <a:t>Operations (e.g. </a:t>
            </a:r>
            <a:r>
              <a:rPr lang="en-US" dirty="0" err="1"/>
              <a:t>add,subtract</a:t>
            </a:r>
            <a:r>
              <a:rPr lang="en-US" dirty="0"/>
              <a:t>) on fixed-width integers can cause overflow</a:t>
            </a:r>
          </a:p>
          <a:p>
            <a:r>
              <a:rPr lang="en-US" dirty="0"/>
              <a:t>Big vs. little endian</a:t>
            </a:r>
          </a:p>
        </p:txBody>
      </p:sp>
    </p:spTree>
    <p:extLst>
      <p:ext uri="{BB962C8B-B14F-4D97-AF65-F5344CB8AC3E}">
        <p14:creationId xmlns:p14="http://schemas.microsoft.com/office/powerpoint/2010/main" val="1746741667"/>
      </p:ext>
    </p:extLst>
  </p:cSld>
  <p:clrMapOvr>
    <a:masterClrMapping/>
  </p:clrMapOvr>
</p:sld>
</file>

<file path=ppt/theme/theme1.xml><?xml version="1.0" encoding="utf-8"?>
<a:theme xmlns:a="http://schemas.openxmlformats.org/drawingml/2006/main" name="CloudVisor-Aust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B0F0"/>
        </a:solidFill>
        <a:ln w="28575">
          <a:solidFill>
            <a:schemeClr val="bg2">
              <a:lumMod val="2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webextension1.xml.rels><?xml version="1.0" encoding="UTF-8" standalone="yes"?>
<Relationships xmlns="http://schemas.openxmlformats.org/package/2006/relationships"><Relationship Id="rId1" Type="http://schemas.openxmlformats.org/officeDocument/2006/relationships/image" Target="../media/image7.png"/></Relationships>
</file>

<file path=ppt/webextensions/_rels/webextension2.xml.rels><?xml version="1.0" encoding="UTF-8" standalone="yes"?>
<Relationships xmlns="http://schemas.openxmlformats.org/package/2006/relationships"><Relationship Id="rId1" Type="http://schemas.openxmlformats.org/officeDocument/2006/relationships/image" Target="../media/image9.png"/></Relationships>
</file>

<file path=ppt/webextensions/_rels/webextension3.xml.rels><?xml version="1.0" encoding="UTF-8" standalone="yes"?>
<Relationships xmlns="http://schemas.openxmlformats.org/package/2006/relationships"><Relationship Id="rId1" Type="http://schemas.openxmlformats.org/officeDocument/2006/relationships/image" Target="../media/image17.png"/></Relationships>
</file>

<file path=ppt/webextensions/_rels/webextension4.xml.rels><?xml version="1.0" encoding="UTF-8" standalone="yes"?>
<Relationships xmlns="http://schemas.openxmlformats.org/package/2006/relationships"><Relationship Id="rId1" Type="http://schemas.openxmlformats.org/officeDocument/2006/relationships/image" Target="../media/image20.png"/></Relationships>
</file>

<file path=ppt/webextensions/webextension1.xml><?xml version="1.0" encoding="utf-8"?>
<we:webextension xmlns:we="http://schemas.microsoft.com/office/webextensions/webextension/2010/11" id="{ACEB09DE-F9A0-384D-84C5-E05EAF25EB8D}">
  <we:reference id="wa104218073" version="3.0.0.1" store="en-US" storeType="OMEX"/>
  <we:alternateReferences>
    <we:reference id="wa104218073" version="3.0.0.1" store="en-US" storeType="OMEX"/>
  </we:alternateReferences>
  <we:properties>
    <we:property name="appSlideData" value="{&quot;slideId&quot;:1043,&quot;confidenceLevel&quot;:2}"/>
    <we:property name="url" value="&quot;multiple_choice_poll/70KnRSTCrjs4pJTkP7ti2&quot;"/>
  </we:properties>
  <we:bindings/>
  <we:snapshot xmlns:r="http://schemas.openxmlformats.org/officeDocument/2006/relationships" r:embed="rId1"/>
</we:webextension>
</file>

<file path=ppt/webextensions/webextension2.xml><?xml version="1.0" encoding="utf-8"?>
<we:webextension xmlns:we="http://schemas.microsoft.com/office/webextensions/webextension/2010/11" id="{4C2F3D6C-2F69-2241-A1C3-8B99500144D0}">
  <we:reference id="wa104218073" version="3.0.0.1" store="en-US" storeType="OMEX"/>
  <we:alternateReferences>
    <we:reference id="wa104218073" version="3.0.0.1" store="en-US" storeType="OMEX"/>
  </we:alternateReferences>
  <we:properties>
    <we:property name="appSlideData" value="{&quot;slideId&quot;:1041,&quot;confidenceLevel&quot;:2}"/>
    <we:property name="url" value="&quot;multiple_choice_poll/wT2EkLCHBFyROfMwMaa7n&quot;"/>
  </we:properties>
  <we:bindings/>
  <we:snapshot xmlns:r="http://schemas.openxmlformats.org/officeDocument/2006/relationships" r:embed="rId1"/>
</we:webextension>
</file>

<file path=ppt/webextensions/webextension3.xml><?xml version="1.0" encoding="utf-8"?>
<we:webextension xmlns:we="http://schemas.microsoft.com/office/webextensions/webextension/2010/11" id="{9C985CB9-56B9-E740-B2BE-82FFA054B38D}">
  <we:reference id="wa104218073" version="3.0.0.1" store="en-US" storeType="OMEX"/>
  <we:alternateReferences>
    <we:reference id="WA104218073" version="3.0.0.1" store="WA104218073" storeType="OMEX"/>
  </we:alternateReferences>
  <we:properties>
    <we:property name="appSlideData" value="{&quot;slideId&quot;:1044,&quot;confidenceLevel&quot;:2}"/>
    <we:property name="url" value="&quot;multiple_choice_poll/OKO4s6lOYNlw2AkMY6Ki2&quot;"/>
  </we:properties>
  <we:bindings/>
  <we:snapshot xmlns:r="http://schemas.openxmlformats.org/officeDocument/2006/relationships" r:embed="rId1"/>
</we:webextension>
</file>

<file path=ppt/webextensions/webextension4.xml><?xml version="1.0" encoding="utf-8"?>
<we:webextension xmlns:we="http://schemas.microsoft.com/office/webextensions/webextension/2010/11" id="{4AF2CA71-5FA7-0249-8EB4-17BB0D8D799D}">
  <we:reference id="wa104218073" version="3.0.0.1" store="en-US" storeType="OMEX"/>
  <we:alternateReferences>
    <we:reference id="WA104218073" version="3.0.0.1" store="WA104218073" storeType="OMEX"/>
  </we:alternateReferences>
  <we:properties>
    <we:property name="appSlideData" value="{&quot;slideId&quot;:1050,&quot;confidenceLevel&quot;:2}"/>
  </we:properties>
  <we:bindings/>
  <we:snapshot xmlns:r="http://schemas.openxmlformats.org/officeDocument/2006/relationships" r:embed="rId1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CloudVisor-Austin.thmx</Template>
  <TotalTime>83984</TotalTime>
  <Words>3249</Words>
  <Application>Microsoft Macintosh PowerPoint</Application>
  <PresentationFormat>On-screen Show (4:3)</PresentationFormat>
  <Paragraphs>887</Paragraphs>
  <Slides>64</Slides>
  <Notes>21</Notes>
  <HiddenSlides>3</HiddenSlides>
  <MMClips>0</MMClips>
  <ScaleCrop>false</ScaleCrop>
  <HeadingPairs>
    <vt:vector size="8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75" baseType="lpstr">
      <vt:lpstr>Arial</vt:lpstr>
      <vt:lpstr>Bradley Hand</vt:lpstr>
      <vt:lpstr>Calibri</vt:lpstr>
      <vt:lpstr>Consolas</vt:lpstr>
      <vt:lpstr>Courier</vt:lpstr>
      <vt:lpstr>Courier New</vt:lpstr>
      <vt:lpstr>Tahoma</vt:lpstr>
      <vt:lpstr>Verdana</vt:lpstr>
      <vt:lpstr>Wingdings</vt:lpstr>
      <vt:lpstr>CloudVisor-Austin</vt:lpstr>
      <vt:lpstr>Equation</vt:lpstr>
      <vt:lpstr>Bits, Bytes, Ints</vt:lpstr>
      <vt:lpstr>Lesson plan</vt:lpstr>
      <vt:lpstr>We used to process information as  analog signals</vt:lpstr>
      <vt:lpstr>Now, we process information in digital format</vt:lpstr>
      <vt:lpstr>Digital information is represented in bits</vt:lpstr>
      <vt:lpstr>Questions</vt:lpstr>
      <vt:lpstr>PowerPoint Presentation</vt:lpstr>
      <vt:lpstr>Questions</vt:lpstr>
      <vt:lpstr>Digression: All self-respecting CS students should memorize powers of 2</vt:lpstr>
      <vt:lpstr>Digression: approximations of powers of 2</vt:lpstr>
      <vt:lpstr>Represent non-negative integer</vt:lpstr>
      <vt:lpstr>Represent unsigned integer</vt:lpstr>
      <vt:lpstr>Examples</vt:lpstr>
      <vt:lpstr>PowerPoint Presentation</vt:lpstr>
      <vt:lpstr>Byte</vt:lpstr>
      <vt:lpstr>Byte</vt:lpstr>
      <vt:lpstr>Range of unsigned integer</vt:lpstr>
      <vt:lpstr>Most and least significant bit/byte</vt:lpstr>
      <vt:lpstr>Describing bit patterns in a human-readable way</vt:lpstr>
      <vt:lpstr>Describing a bit pattern: hex notation</vt:lpstr>
      <vt:lpstr>Describing a bit pattern: hex notation</vt:lpstr>
      <vt:lpstr>Breakout time!</vt:lpstr>
      <vt:lpstr>Breakout exercises</vt:lpstr>
      <vt:lpstr>What have we learnt</vt:lpstr>
      <vt:lpstr>Lesson plan</vt:lpstr>
      <vt:lpstr>What’s the result?</vt:lpstr>
      <vt:lpstr>PowerPoint Presentation</vt:lpstr>
      <vt:lpstr>How computers add  (unsigned integers)</vt:lpstr>
      <vt:lpstr>How computers add  (unsigned integers)</vt:lpstr>
      <vt:lpstr>How to represent signed numbers?  signed magnitude</vt:lpstr>
      <vt:lpstr>How to represent signed numbers? Two’s complement</vt:lpstr>
      <vt:lpstr>Two’s complement</vt:lpstr>
      <vt:lpstr>Two’s complement</vt:lpstr>
      <vt:lpstr>Basic facts of 2’s complement</vt:lpstr>
      <vt:lpstr>Two’s complement: 8-bit signed integer</vt:lpstr>
      <vt:lpstr>How do computers add? (2’s complement)</vt:lpstr>
      <vt:lpstr>What’s the result?</vt:lpstr>
      <vt:lpstr>PowerPoint Presentation</vt:lpstr>
      <vt:lpstr>How do computers add? (2’s complement)</vt:lpstr>
      <vt:lpstr>How do computers subtract?</vt:lpstr>
      <vt:lpstr>2’s complement: find a number’s negation</vt:lpstr>
      <vt:lpstr>Why does the negation trick work</vt:lpstr>
      <vt:lpstr>Using negation trick to find the bit-pattern of a negative number</vt:lpstr>
      <vt:lpstr>How do computers subtract?</vt:lpstr>
      <vt:lpstr>How do computers add and subtract?</vt:lpstr>
      <vt:lpstr>Unsigned addition</vt:lpstr>
      <vt:lpstr>Signed addition</vt:lpstr>
      <vt:lpstr>Unsigned subtraction</vt:lpstr>
      <vt:lpstr>Signed subtraction</vt:lpstr>
      <vt:lpstr>Lesson plan</vt:lpstr>
      <vt:lpstr>The evolution of integer sizes in processors</vt:lpstr>
      <vt:lpstr>8-bit processors: Intel 8080 (1974)</vt:lpstr>
      <vt:lpstr>32-bit processors: Intel 386 (1985)</vt:lpstr>
      <vt:lpstr>64-bit processors: Intel Pentium 4 (2000)</vt:lpstr>
      <vt:lpstr>C’s Integer data types on  64-bit machine</vt:lpstr>
      <vt:lpstr>Your first C program</vt:lpstr>
      <vt:lpstr>Memory layout for multi-byte integers</vt:lpstr>
      <vt:lpstr>Memory layout: Little Endian</vt:lpstr>
      <vt:lpstr>Advantage of Little Endian</vt:lpstr>
      <vt:lpstr>Another advantage of Little Endian</vt:lpstr>
      <vt:lpstr>Memory layout: Big Endian</vt:lpstr>
      <vt:lpstr>Advantages of Big Endian</vt:lpstr>
      <vt:lpstr>Big or Little Endian?</vt:lpstr>
      <vt:lpstr>Summary</vt:lpstr>
    </vt:vector>
  </TitlesOfParts>
  <Company>fudan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VFlash</dc:title>
  <dc:creator>xiang song</dc:creator>
  <cp:lastModifiedBy>Jinyang Li</cp:lastModifiedBy>
  <cp:revision>5962</cp:revision>
  <cp:lastPrinted>2026-01-26T18:44:16Z</cp:lastPrinted>
  <dcterms:created xsi:type="dcterms:W3CDTF">2012-08-17T04:52:30Z</dcterms:created>
  <dcterms:modified xsi:type="dcterms:W3CDTF">2026-09-09T18:50:08Z</dcterms:modified>
</cp:coreProperties>
</file>