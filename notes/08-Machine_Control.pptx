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12"/>
  </p:notesMasterIdLst>
  <p:handoutMasterIdLst>
    <p:handoutMasterId r:id="rId113"/>
  </p:handoutMasterIdLst>
  <p:sldIdLst>
    <p:sldId id="256" r:id="rId2"/>
    <p:sldId id="1309" r:id="rId3"/>
    <p:sldId id="1294" r:id="rId4"/>
    <p:sldId id="1163" r:id="rId5"/>
    <p:sldId id="1165" r:id="rId6"/>
    <p:sldId id="1306" r:id="rId7"/>
    <p:sldId id="1307" r:id="rId8"/>
    <p:sldId id="1308" r:id="rId9"/>
    <p:sldId id="1166" r:id="rId10"/>
    <p:sldId id="1314" r:id="rId11"/>
    <p:sldId id="1315" r:id="rId12"/>
    <p:sldId id="1316" r:id="rId13"/>
    <p:sldId id="1086" r:id="rId14"/>
    <p:sldId id="1317" r:id="rId15"/>
    <p:sldId id="1318" r:id="rId16"/>
    <p:sldId id="1319" r:id="rId17"/>
    <p:sldId id="1320" r:id="rId18"/>
    <p:sldId id="1321" r:id="rId19"/>
    <p:sldId id="1322" r:id="rId20"/>
    <p:sldId id="1323" r:id="rId21"/>
    <p:sldId id="1175" r:id="rId22"/>
    <p:sldId id="1183" r:id="rId23"/>
    <p:sldId id="1189" r:id="rId24"/>
    <p:sldId id="1310" r:id="rId25"/>
    <p:sldId id="1196" r:id="rId26"/>
    <p:sldId id="1197" r:id="rId27"/>
    <p:sldId id="1198" r:id="rId28"/>
    <p:sldId id="1200" r:id="rId29"/>
    <p:sldId id="1201" r:id="rId30"/>
    <p:sldId id="1204" r:id="rId31"/>
    <p:sldId id="1202" r:id="rId32"/>
    <p:sldId id="1205" r:id="rId33"/>
    <p:sldId id="1207" r:id="rId34"/>
    <p:sldId id="1208" r:id="rId35"/>
    <p:sldId id="1324" r:id="rId36"/>
    <p:sldId id="1210" r:id="rId37"/>
    <p:sldId id="1211" r:id="rId38"/>
    <p:sldId id="1217" r:id="rId39"/>
    <p:sldId id="1218" r:id="rId40"/>
    <p:sldId id="1220" r:id="rId41"/>
    <p:sldId id="1221" r:id="rId42"/>
    <p:sldId id="1222" r:id="rId43"/>
    <p:sldId id="1224" r:id="rId44"/>
    <p:sldId id="1225" r:id="rId45"/>
    <p:sldId id="1227" r:id="rId46"/>
    <p:sldId id="1292" r:id="rId47"/>
    <p:sldId id="1248" r:id="rId48"/>
    <p:sldId id="1249" r:id="rId49"/>
    <p:sldId id="1283" r:id="rId50"/>
    <p:sldId id="1284" r:id="rId51"/>
    <p:sldId id="1312" r:id="rId52"/>
    <p:sldId id="1184" r:id="rId53"/>
    <p:sldId id="1185" r:id="rId54"/>
    <p:sldId id="1186" r:id="rId55"/>
    <p:sldId id="1187" r:id="rId56"/>
    <p:sldId id="1188" r:id="rId57"/>
    <p:sldId id="1191" r:id="rId58"/>
    <p:sldId id="1192" r:id="rId59"/>
    <p:sldId id="1193" r:id="rId60"/>
    <p:sldId id="1194" r:id="rId61"/>
    <p:sldId id="1195" r:id="rId62"/>
    <p:sldId id="1229" r:id="rId63"/>
    <p:sldId id="1230" r:id="rId64"/>
    <p:sldId id="1231" r:id="rId65"/>
    <p:sldId id="1232" r:id="rId66"/>
    <p:sldId id="1233" r:id="rId67"/>
    <p:sldId id="1234" r:id="rId68"/>
    <p:sldId id="1235" r:id="rId69"/>
    <p:sldId id="1236" r:id="rId70"/>
    <p:sldId id="1237" r:id="rId71"/>
    <p:sldId id="1238" r:id="rId72"/>
    <p:sldId id="1239" r:id="rId73"/>
    <p:sldId id="1240" r:id="rId74"/>
    <p:sldId id="1241" r:id="rId75"/>
    <p:sldId id="1242" r:id="rId76"/>
    <p:sldId id="1243" r:id="rId77"/>
    <p:sldId id="1244" r:id="rId78"/>
    <p:sldId id="1245" r:id="rId79"/>
    <p:sldId id="1246" r:id="rId80"/>
    <p:sldId id="1253" r:id="rId81"/>
    <p:sldId id="1254" r:id="rId82"/>
    <p:sldId id="1255" r:id="rId83"/>
    <p:sldId id="1256" r:id="rId84"/>
    <p:sldId id="1257" r:id="rId85"/>
    <p:sldId id="1258" r:id="rId86"/>
    <p:sldId id="1259" r:id="rId87"/>
    <p:sldId id="1260" r:id="rId88"/>
    <p:sldId id="1261" r:id="rId89"/>
    <p:sldId id="1262" r:id="rId90"/>
    <p:sldId id="1263" r:id="rId91"/>
    <p:sldId id="1266" r:id="rId92"/>
    <p:sldId id="1267" r:id="rId93"/>
    <p:sldId id="1268" r:id="rId94"/>
    <p:sldId id="1269" r:id="rId95"/>
    <p:sldId id="1270" r:id="rId96"/>
    <p:sldId id="1271" r:id="rId97"/>
    <p:sldId id="1272" r:id="rId98"/>
    <p:sldId id="1273" r:id="rId99"/>
    <p:sldId id="1274" r:id="rId100"/>
    <p:sldId id="1275" r:id="rId101"/>
    <p:sldId id="1276" r:id="rId102"/>
    <p:sldId id="1277" r:id="rId103"/>
    <p:sldId id="1280" r:id="rId104"/>
    <p:sldId id="1281" r:id="rId105"/>
    <p:sldId id="1282" r:id="rId106"/>
    <p:sldId id="1285" r:id="rId107"/>
    <p:sldId id="1286" r:id="rId108"/>
    <p:sldId id="1287" r:id="rId109"/>
    <p:sldId id="1288" r:id="rId110"/>
    <p:sldId id="1289" r:id="rId1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0000FF"/>
    <a:srgbClr val="FCD5B5"/>
    <a:srgbClr val="F2F2F2"/>
    <a:srgbClr val="FF0066"/>
    <a:srgbClr val="3F9335"/>
    <a:srgbClr val="125B32"/>
    <a:srgbClr val="21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40"/>
    <p:restoredTop sz="94786"/>
  </p:normalViewPr>
  <p:slideViewPr>
    <p:cSldViewPr snapToGrid="0">
      <p:cViewPr varScale="1">
        <p:scale>
          <a:sx n="178" d="100"/>
          <a:sy n="178" d="100"/>
        </p:scale>
        <p:origin x="168" y="5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handoutMaster" Target="handoutMasters/handout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15FF3-9FA2-1C4A-AAEA-4750F890D655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4E59E-8276-2140-BA34-7EF057B92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61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3T14:46:34.396"/>
    </inkml:context>
    <inkml:brush xml:id="br0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1 77 19648,'8'-2'1111,"-3"-3"1,-2 4 22,2-5-474,-3 5-1031,5 1 1,-2-2 6,0-3 279,0 3-71,-5-4 0,2 6-489,3 0 526,-3 0 1,4-7-1,-6-2 1</inkml:trace>
  <inkml:trace contextRef="#ctx0" brushRef="#br0" timeOffset="167">46 62 18913,'-8'0'-3249,"1"0"3249,7 0 0,-7 0 0,-1 0 0</inkml:trace>
  <inkml:trace contextRef="#ctx0" brushRef="#br0" timeOffset="321">77 62 18913,'-16'0'-2836,"6"5"4331,0 0-1285,7 0 1,-4-5-1,7 0 1</inkml:trace>
  <inkml:trace contextRef="#ctx0" brushRef="#br0" timeOffset="892">122 16 19385,'-8'0'282,"-1"0"-360,4 0 115,4-7-1614,-6 6 1156,7-6-482,0 7 953,0 0 1,-7 0-1,-1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3T14:46:36.875"/>
    </inkml:context>
    <inkml:brush xml:id="br0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46 16 23076,'-8'0'-2290,"-1"-2"2231,4-3-2628,4 3 1996,-6-5 0,5 7 1035,-3 0 3,3 0-288,-4 0-67,6 0 1,6 0 0,3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3T14:50:21.6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31 7747,'-9'0'801,"3"0"-509,6 0-1173,0 0 199,0-7 324,0 5 358,0-4 0,0-1 0,0-2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80D89-5C43-EF4A-AA48-38E879565468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6610F-FCBD-844B-B814-9F48A27EB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289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90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7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http://</a:t>
            </a:r>
            <a:r>
              <a:rPr kumimoji="1" lang="en-US" altLang="zh-CN" err="1"/>
              <a:t>teaching.idallen.com</a:t>
            </a:r>
            <a:r>
              <a:rPr kumimoji="1" lang="en-US" altLang="zh-CN"/>
              <a:t>/dat2343/10f/notes/040_overflow.txt</a:t>
            </a:r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4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D147F-079F-4846-994D-0DB4A1A045D4}" type="datetime1">
              <a:rPr lang="zh-CN" altLang="en-US" smtClean="0"/>
              <a:t>2026/10/14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0671-2720-6742-BF3B-130F38BFD6C2}" type="datetime1">
              <a:rPr lang="zh-CN" altLang="en-US" smtClean="0"/>
              <a:t>2026/10/14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912-C460-F747-A5A7-E580342BDBD8}" type="datetime1">
              <a:rPr lang="zh-CN" altLang="en-US" smtClean="0"/>
              <a:t>2026/10/14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B1225-B413-9941-B6FE-722B9F1A3838}" type="datetime1">
              <a:rPr lang="zh-CN" altLang="en-US" smtClean="0"/>
              <a:t>2026/10/14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182-DE75-D141-B72A-8599E29248A5}" type="datetime1">
              <a:rPr lang="zh-CN" altLang="en-US" smtClean="0"/>
              <a:t>2026/10/14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2D7A-8A1B-DA48-9B0B-0DEE102746F0}" type="datetime1">
              <a:rPr lang="zh-CN" altLang="en-US" smtClean="0"/>
              <a:t>2026/10/14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C787-59C9-0445-8F38-642A8469076F}" type="datetime1">
              <a:rPr lang="zh-CN" altLang="en-US" smtClean="0"/>
              <a:t>2026/10/14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0209-807A-E542-A52E-D898C2D2B27F}" type="datetime1">
              <a:rPr lang="zh-CN" altLang="en-US" smtClean="0"/>
              <a:t>2026/10/14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7158-6770-8C48-8082-76913598A291}" type="datetime1">
              <a:rPr lang="zh-CN" altLang="en-US" smtClean="0"/>
              <a:t>2026/10/14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91736-879B-FE48-95EC-EDE8A01D99DB}" type="datetime1">
              <a:rPr lang="zh-CN" altLang="en-US" smtClean="0"/>
              <a:t>2026/10/14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60F-44E5-DA43-A440-B77513F80BF6}" type="datetime1">
              <a:rPr lang="zh-CN" altLang="en-US" smtClean="0"/>
              <a:t>2026/10/14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9FEBD-E571-1443-AA22-BB9E67C15179}" type="datetime1">
              <a:rPr lang="zh-CN" altLang="en-US" smtClean="0"/>
              <a:t>2026/10/14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rgbClr val="3366FF"/>
          </a:solidFill>
          <a:latin typeface="Tahoma"/>
          <a:ea typeface="+mj-ea"/>
          <a:cs typeface="Tahom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07578"/>
            <a:ext cx="9144000" cy="1788655"/>
          </a:xfrm>
        </p:spPr>
        <p:txBody>
          <a:bodyPr>
            <a:noAutofit/>
          </a:bodyPr>
          <a:lstStyle/>
          <a:p>
            <a:r>
              <a:rPr lang="en-US" sz="4800">
                <a:solidFill>
                  <a:srgbClr val="0000FF"/>
                </a:solidFill>
                <a:latin typeface="+mj-lt"/>
                <a:ea typeface="Verdana" pitchFamily="34" charset="0"/>
                <a:cs typeface="Consolas" pitchFamily="49" charset="0"/>
              </a:rPr>
              <a:t>Machine Program: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/>
              <a:t>Jinyang Li</a:t>
            </a:r>
          </a:p>
        </p:txBody>
      </p:sp>
    </p:spTree>
    <p:extLst>
      <p:ext uri="{BB962C8B-B14F-4D97-AF65-F5344CB8AC3E}">
        <p14:creationId xmlns:p14="http://schemas.microsoft.com/office/powerpoint/2010/main" val="375360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spd="slow" advTm="38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we’ve learnt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200" y="1610139"/>
            <a:ext cx="8525599" cy="3966913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Mov instruction and various forms of memory operand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movl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16(%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rdi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%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rsi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4), %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eax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Arithmetic instructions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Lea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instruction</a:t>
            </a:r>
          </a:p>
        </p:txBody>
      </p:sp>
    </p:spTree>
    <p:extLst>
      <p:ext uri="{BB962C8B-B14F-4D97-AF65-F5344CB8AC3E}">
        <p14:creationId xmlns:p14="http://schemas.microsoft.com/office/powerpoint/2010/main" val="1000379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lesson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2185988"/>
            <a:ext cx="8299174" cy="3740150"/>
          </a:xfrm>
        </p:spPr>
        <p:txBody>
          <a:bodyPr/>
          <a:lstStyle/>
          <a:p>
            <a:r>
              <a:rPr lang="en-US" sz="2400" dirty="0"/>
              <a:t>RFLAGS register and how arithmetic instructions set it</a:t>
            </a:r>
          </a:p>
          <a:p>
            <a:r>
              <a:rPr lang="en-US" sz="2400" dirty="0"/>
              <a:t>Special instructions that also set RFLAGS</a:t>
            </a:r>
          </a:p>
          <a:p>
            <a:pPr lvl="1"/>
            <a:r>
              <a:rPr lang="en-US" sz="2000" b="1" dirty="0" err="1">
                <a:latin typeface="Consolas" panose="020B0609020204030204" pitchFamily="49" charset="0"/>
              </a:rPr>
              <a:t>cmp</a:t>
            </a:r>
            <a:r>
              <a:rPr lang="en-US" sz="2000" b="1" dirty="0">
                <a:latin typeface="Consolas" panose="020B0609020204030204" pitchFamily="49" charset="0"/>
              </a:rPr>
              <a:t>, test</a:t>
            </a:r>
          </a:p>
          <a:p>
            <a:r>
              <a:rPr lang="en-US" sz="2400" dirty="0"/>
              <a:t>Instructions that read RFLAGS to set register values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</a:rPr>
              <a:t>set</a:t>
            </a:r>
          </a:p>
          <a:p>
            <a:r>
              <a:rPr lang="en-US" sz="2400" dirty="0"/>
              <a:t>Instructions that (read RFLAGs to) set %rip</a:t>
            </a:r>
          </a:p>
          <a:p>
            <a:pPr lvl="1"/>
            <a:r>
              <a:rPr lang="en-US" sz="2000" b="1" dirty="0" err="1">
                <a:latin typeface="Consolas" panose="020B0609020204030204" pitchFamily="49" charset="0"/>
              </a:rPr>
              <a:t>jmp</a:t>
            </a:r>
            <a:endParaRPr lang="en-US" sz="2000" b="1" dirty="0">
              <a:latin typeface="Consolas" panose="020B0609020204030204" pitchFamily="49" charset="0"/>
            </a:endParaRP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FD66B-B8DF-3655-0092-2FACDF2BEB75}"/>
              </a:ext>
            </a:extLst>
          </p:cNvPr>
          <p:cNvSpPr txBox="1"/>
          <p:nvPr/>
        </p:nvSpPr>
        <p:spPr>
          <a:xfrm>
            <a:off x="1378744" y="1188512"/>
            <a:ext cx="71151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200" dirty="0">
                <a:solidFill>
                  <a:srgbClr val="3366FF"/>
                </a:solidFill>
              </a:rPr>
              <a:t>How is non-linear control flow realized?</a:t>
            </a:r>
            <a:endParaRPr lang="en-US" sz="1400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200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How is non-linear control flow realized?</a:t>
            </a:r>
            <a:endParaRPr kumimoji="1" lang="zh-CN" altLang="en-US" dirty="0"/>
          </a:p>
        </p:txBody>
      </p:sp>
      <p:sp>
        <p:nvSpPr>
          <p:cNvPr id="5" name="Rectangle 5"/>
          <p:cNvSpPr>
            <a:spLocks/>
          </p:cNvSpPr>
          <p:nvPr/>
        </p:nvSpPr>
        <p:spPr bwMode="auto">
          <a:xfrm>
            <a:off x="4965033" y="2512179"/>
            <a:ext cx="947971" cy="513049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28575" tIns="28575" rIns="28575" bIns="28575"/>
          <a:lstStyle/>
          <a:p>
            <a:r>
              <a:rPr lang="en-US" sz="3600">
                <a:solidFill>
                  <a:srgbClr val="FF0066"/>
                </a:solidFill>
                <a:latin typeface="Consolas"/>
                <a:cs typeface="Consolas"/>
              </a:rPr>
              <a:t>???</a:t>
            </a:r>
          </a:p>
        </p:txBody>
      </p:sp>
      <p:sp>
        <p:nvSpPr>
          <p:cNvPr id="6" name="Rectangle 2"/>
          <p:cNvSpPr/>
          <p:nvPr/>
        </p:nvSpPr>
        <p:spPr>
          <a:xfrm>
            <a:off x="561860" y="2456010"/>
            <a:ext cx="3229669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mr-IN" sz="1500" dirty="0">
              <a:latin typeface="Consolas"/>
              <a:cs typeface="Consolas"/>
            </a:endParaRPr>
          </a:p>
          <a:p>
            <a:r>
              <a:rPr lang="mr-IN" sz="1500" dirty="0">
                <a:latin typeface="Consolas"/>
                <a:cs typeface="Consolas"/>
              </a:rPr>
              <a:t>  </a:t>
            </a:r>
            <a:r>
              <a:rPr lang="mr-IN" sz="1500" dirty="0" err="1">
                <a:latin typeface="Consolas"/>
                <a:cs typeface="Consolas"/>
              </a:rPr>
              <a:t>if</a:t>
            </a:r>
            <a:r>
              <a:rPr lang="mr-IN" sz="1500" dirty="0">
                <a:latin typeface="Consolas"/>
                <a:cs typeface="Consolas"/>
              </a:rPr>
              <a:t> </a:t>
            </a:r>
            <a:r>
              <a:rPr lang="en-US" sz="1500" dirty="0">
                <a:latin typeface="Consolas"/>
                <a:cs typeface="Consolas"/>
              </a:rPr>
              <a:t>.. else</a:t>
            </a:r>
          </a:p>
          <a:p>
            <a:r>
              <a:rPr lang="en-US" sz="1500" dirty="0">
                <a:latin typeface="Consolas"/>
                <a:cs typeface="Consolas"/>
              </a:rPr>
              <a:t>  </a:t>
            </a:r>
          </a:p>
          <a:p>
            <a:r>
              <a:rPr lang="en-US" sz="1500" dirty="0">
                <a:latin typeface="Consolas"/>
                <a:cs typeface="Consolas"/>
              </a:rPr>
              <a:t>  for (</a:t>
            </a:r>
            <a:r>
              <a:rPr lang="en-US" sz="1500" dirty="0" err="1">
                <a:latin typeface="Consolas"/>
                <a:cs typeface="Consolas"/>
              </a:rPr>
              <a:t>i</a:t>
            </a:r>
            <a:r>
              <a:rPr lang="en-US" sz="1500" dirty="0">
                <a:latin typeface="Consolas"/>
                <a:cs typeface="Consolas"/>
              </a:rPr>
              <a:t>=0; </a:t>
            </a:r>
            <a:r>
              <a:rPr lang="en-US" sz="1500" dirty="0" err="1">
                <a:latin typeface="Consolas"/>
                <a:cs typeface="Consolas"/>
              </a:rPr>
              <a:t>i</a:t>
            </a:r>
            <a:r>
              <a:rPr lang="en-US" sz="1500" dirty="0">
                <a:latin typeface="Consolas"/>
                <a:cs typeface="Consolas"/>
              </a:rPr>
              <a:t>&lt;10; </a:t>
            </a:r>
            <a:r>
              <a:rPr lang="en-US" sz="1500" dirty="0" err="1">
                <a:latin typeface="Consolas"/>
                <a:cs typeface="Consolas"/>
              </a:rPr>
              <a:t>i</a:t>
            </a:r>
            <a:r>
              <a:rPr lang="en-US" sz="1500" dirty="0">
                <a:latin typeface="Consolas"/>
                <a:cs typeface="Consolas"/>
              </a:rPr>
              <a:t>++) {..}</a:t>
            </a:r>
          </a:p>
          <a:p>
            <a:r>
              <a:rPr lang="en-US" sz="1500" dirty="0">
                <a:latin typeface="Consolas"/>
                <a:cs typeface="Consolas"/>
              </a:rPr>
              <a:t>  </a:t>
            </a:r>
          </a:p>
          <a:p>
            <a:r>
              <a:rPr lang="en-US" sz="1500" dirty="0">
                <a:latin typeface="Consolas"/>
                <a:cs typeface="Consolas"/>
              </a:rPr>
              <a:t>  while (str[</a:t>
            </a:r>
            <a:r>
              <a:rPr lang="en-US" sz="1500" dirty="0" err="1">
                <a:latin typeface="Consolas"/>
                <a:cs typeface="Consolas"/>
              </a:rPr>
              <a:t>i</a:t>
            </a:r>
            <a:r>
              <a:rPr lang="en-US" sz="1500" dirty="0">
                <a:latin typeface="Consolas"/>
                <a:cs typeface="Consolas"/>
              </a:rPr>
              <a:t>] != ‘\0’) {..}</a:t>
            </a:r>
          </a:p>
          <a:p>
            <a:r>
              <a:rPr lang="en-US" sz="1500" dirty="0">
                <a:latin typeface="Consolas"/>
                <a:cs typeface="Consolas"/>
              </a:rPr>
              <a:t>  </a:t>
            </a:r>
          </a:p>
        </p:txBody>
      </p:sp>
      <p:sp>
        <p:nvSpPr>
          <p:cNvPr id="7" name="右箭头 6"/>
          <p:cNvSpPr/>
          <p:nvPr/>
        </p:nvSpPr>
        <p:spPr>
          <a:xfrm>
            <a:off x="3992929" y="2695686"/>
            <a:ext cx="467105" cy="291769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1646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Control flow uses RFLAGS register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en-US" altLang="zh-CN" dirty="0">
                <a:solidFill>
                  <a:schemeClr val="bg1">
                    <a:lumMod val="65000"/>
                  </a:schemeClr>
                </a:solidFill>
              </a:rPr>
              <a:t>PC: Program counter</a:t>
            </a: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Store memory address of next instruction</a:t>
            </a: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Also called “RIP”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in x86_64</a:t>
            </a:r>
          </a:p>
          <a:p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IR: instruction register</a:t>
            </a: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Store the fetched instruction</a:t>
            </a:r>
          </a:p>
          <a:p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General purpose registers:</a:t>
            </a: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Store operands and pointers used by program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Program status and control register:</a:t>
            </a:r>
          </a:p>
          <a:p>
            <a:pPr lvl="1"/>
            <a:r>
              <a:rPr lang="en-US" altLang="zh-CN" dirty="0"/>
              <a:t>Contain status of the instruction executed</a:t>
            </a:r>
          </a:p>
          <a:p>
            <a:pPr lvl="1"/>
            <a:r>
              <a:rPr lang="en-US" altLang="zh-CN" dirty="0"/>
              <a:t>Called “</a:t>
            </a:r>
            <a:r>
              <a:rPr lang="en-US" altLang="zh-CN" b="1" dirty="0"/>
              <a:t>RFLAGS</a:t>
            </a:r>
            <a:r>
              <a:rPr lang="en-US" altLang="zh-CN" dirty="0"/>
              <a:t>” in x86_64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291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How control flow uses RFLAGS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444" y="1586429"/>
            <a:ext cx="7798527" cy="4781320"/>
          </a:xfrm>
        </p:spPr>
        <p:txBody>
          <a:bodyPr>
            <a:normAutofit/>
          </a:bodyPr>
          <a:lstStyle/>
          <a:p>
            <a:r>
              <a:rPr lang="en-US" dirty="0"/>
              <a:t>RFLAGS is a special purpose register</a:t>
            </a:r>
          </a:p>
          <a:p>
            <a:pPr lvl="1"/>
            <a:endParaRPr lang="en-US" dirty="0"/>
          </a:p>
          <a:p>
            <a:r>
              <a:rPr lang="en-US" dirty="0"/>
              <a:t>Different bits represent different status flags</a:t>
            </a:r>
          </a:p>
          <a:p>
            <a:pPr lvl="1"/>
            <a:r>
              <a:rPr lang="en-US" altLang="zh-CN" dirty="0"/>
              <a:t>All useful bits reside in the lower 32 bits (EFLAGS)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Certain instructions set status flags</a:t>
            </a:r>
          </a:p>
          <a:p>
            <a:pPr lvl="1"/>
            <a:r>
              <a:rPr lang="en-US" dirty="0"/>
              <a:t>Regular arithmetic instructions: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add, sub</a:t>
            </a:r>
          </a:p>
          <a:p>
            <a:pPr lvl="1"/>
            <a:r>
              <a:rPr lang="en-US" dirty="0">
                <a:cs typeface="Consolas"/>
              </a:rPr>
              <a:t>Special flag-setting instructions:</a:t>
            </a:r>
            <a:r>
              <a:rPr lang="en-US" dirty="0">
                <a:latin typeface="Consolas"/>
                <a:cs typeface="Consolas"/>
              </a:rPr>
              <a:t> </a:t>
            </a:r>
            <a:r>
              <a:rPr lang="en-US" b="1" dirty="0" err="1">
                <a:latin typeface="Consolas"/>
                <a:cs typeface="Consolas"/>
              </a:rPr>
              <a:t>cmp</a:t>
            </a:r>
            <a:r>
              <a:rPr lang="en-US" b="1" dirty="0">
                <a:latin typeface="Consolas"/>
                <a:cs typeface="Consolas"/>
              </a:rPr>
              <a:t>, test, set</a:t>
            </a:r>
            <a:endParaRPr lang="en-US" dirty="0"/>
          </a:p>
          <a:p>
            <a:r>
              <a:rPr lang="en-US" b="1" dirty="0" err="1"/>
              <a:t>jmp</a:t>
            </a:r>
            <a:r>
              <a:rPr lang="en-US" dirty="0"/>
              <a:t> instructions use flags to set %rip</a:t>
            </a:r>
          </a:p>
        </p:txBody>
      </p:sp>
    </p:spTree>
    <p:extLst>
      <p:ext uri="{BB962C8B-B14F-4D97-AF65-F5344CB8AC3E}">
        <p14:creationId xmlns:p14="http://schemas.microsoft.com/office/powerpoint/2010/main" val="559828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EFLAGS register: ZF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4582" y="1980444"/>
            <a:ext cx="8427216" cy="1075072"/>
          </a:xfrm>
        </p:spPr>
        <p:txBody>
          <a:bodyPr>
            <a:normAutofit fontScale="92500"/>
          </a:bodyPr>
          <a:lstStyle/>
          <a:p>
            <a:r>
              <a:rPr kumimoji="1" lang="en-US" altLang="zh-CN" dirty="0"/>
              <a:t>ZF (Zero Flag):</a:t>
            </a:r>
          </a:p>
          <a:p>
            <a:pPr lvl="1"/>
            <a:r>
              <a:rPr kumimoji="1" lang="en-US" altLang="zh-CN" dirty="0"/>
              <a:t>Set if the result of the instruction is zero; cleared otherwise. </a:t>
            </a:r>
          </a:p>
        </p:txBody>
      </p:sp>
      <p:sp>
        <p:nvSpPr>
          <p:cNvPr id="4" name="矩形 3"/>
          <p:cNvSpPr/>
          <p:nvPr/>
        </p:nvSpPr>
        <p:spPr>
          <a:xfrm>
            <a:off x="2713246" y="3618323"/>
            <a:ext cx="1949507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err="1">
                <a:latin typeface="Consolas"/>
                <a:cs typeface="Consolas"/>
              </a:rPr>
              <a:t>movq</a:t>
            </a:r>
            <a:r>
              <a:rPr lang="en-US" altLang="zh-CN">
                <a:latin typeface="Consolas"/>
                <a:cs typeface="Consolas"/>
              </a:rPr>
              <a:t> $2, %</a:t>
            </a:r>
            <a:r>
              <a:rPr lang="en-US" altLang="zh-CN" err="1">
                <a:latin typeface="Consolas"/>
                <a:cs typeface="Consolas"/>
              </a:rPr>
              <a:t>rax</a:t>
            </a:r>
            <a:endParaRPr lang="en-US" altLang="zh-CN">
              <a:latin typeface="Consolas"/>
              <a:cs typeface="Consolas"/>
            </a:endParaRPr>
          </a:p>
          <a:p>
            <a:r>
              <a:rPr lang="en-US" altLang="zh-CN" err="1">
                <a:latin typeface="Consolas"/>
                <a:cs typeface="Consolas"/>
              </a:rPr>
              <a:t>subq</a:t>
            </a:r>
            <a:r>
              <a:rPr lang="en-US" altLang="zh-CN">
                <a:latin typeface="Consolas"/>
                <a:cs typeface="Consolas"/>
              </a:rPr>
              <a:t> $2, %</a:t>
            </a:r>
            <a:r>
              <a:rPr lang="en-US" altLang="zh-CN" err="1">
                <a:latin typeface="Consolas"/>
                <a:cs typeface="Consolas"/>
              </a:rPr>
              <a:t>rax</a:t>
            </a:r>
            <a:endParaRPr lang="en-US" altLang="zh-CN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54984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EFLAGS register: SF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4750" y="2030338"/>
            <a:ext cx="7358579" cy="1701199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SF (Sign Flag):</a:t>
            </a:r>
          </a:p>
          <a:p>
            <a:pPr lvl="1"/>
            <a:r>
              <a:rPr kumimoji="1" lang="en-US" altLang="zh-CN" dirty="0"/>
              <a:t>Set to be the most-significant bit of the result.</a:t>
            </a:r>
          </a:p>
        </p:txBody>
      </p:sp>
      <p:sp>
        <p:nvSpPr>
          <p:cNvPr id="5" name="矩形 3"/>
          <p:cNvSpPr/>
          <p:nvPr/>
        </p:nvSpPr>
        <p:spPr>
          <a:xfrm>
            <a:off x="2262248" y="3977062"/>
            <a:ext cx="1949507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err="1">
                <a:latin typeface="Consolas"/>
                <a:cs typeface="Consolas"/>
              </a:rPr>
              <a:t>movq</a:t>
            </a:r>
            <a:r>
              <a:rPr lang="en-US" altLang="zh-CN">
                <a:latin typeface="Consolas"/>
                <a:cs typeface="Consolas"/>
              </a:rPr>
              <a:t> $2, %</a:t>
            </a:r>
            <a:r>
              <a:rPr lang="en-US" altLang="zh-CN" err="1">
                <a:latin typeface="Consolas"/>
                <a:cs typeface="Consolas"/>
              </a:rPr>
              <a:t>rax</a:t>
            </a:r>
            <a:endParaRPr lang="en-US" altLang="zh-CN">
              <a:latin typeface="Consolas"/>
              <a:cs typeface="Consolas"/>
            </a:endParaRPr>
          </a:p>
          <a:p>
            <a:r>
              <a:rPr lang="en-US" altLang="zh-CN" err="1">
                <a:latin typeface="Consolas"/>
                <a:cs typeface="Consolas"/>
              </a:rPr>
              <a:t>subq</a:t>
            </a:r>
            <a:r>
              <a:rPr lang="en-US" altLang="zh-CN">
                <a:latin typeface="Consolas"/>
                <a:cs typeface="Consolas"/>
              </a:rPr>
              <a:t> $10, %</a:t>
            </a:r>
            <a:r>
              <a:rPr lang="en-US" altLang="zh-CN" err="1">
                <a:latin typeface="Consolas"/>
                <a:cs typeface="Consolas"/>
              </a:rPr>
              <a:t>rax</a:t>
            </a:r>
            <a:endParaRPr lang="en-US" altLang="zh-CN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244286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EFLAGS register: CF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12156"/>
            <a:ext cx="8422395" cy="2004773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CF (Carry Flag): </a:t>
            </a:r>
          </a:p>
          <a:p>
            <a:pPr marL="642938" lvl="1" indent="-257175"/>
            <a:r>
              <a:rPr kumimoji="1" lang="en-US" altLang="zh-CN" sz="1800" dirty="0"/>
              <a:t>Set if an unsigned arithmetic operation carries (or borrows) out of </a:t>
            </a:r>
            <a:r>
              <a:rPr kumimoji="1" lang="en-US" altLang="zh-CN" sz="1800" dirty="0" err="1"/>
              <a:t>msb</a:t>
            </a:r>
            <a:r>
              <a:rPr kumimoji="1" lang="en-US" altLang="zh-CN" sz="1800" dirty="0"/>
              <a:t>.</a:t>
            </a:r>
          </a:p>
        </p:txBody>
      </p:sp>
      <p:sp>
        <p:nvSpPr>
          <p:cNvPr id="6" name="矩形 3"/>
          <p:cNvSpPr/>
          <p:nvPr/>
        </p:nvSpPr>
        <p:spPr>
          <a:xfrm>
            <a:off x="1709997" y="3429000"/>
            <a:ext cx="429953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err="1">
                <a:latin typeface="Consolas"/>
                <a:cs typeface="Consolas"/>
              </a:rPr>
              <a:t>movq</a:t>
            </a:r>
            <a:r>
              <a:rPr lang="en-US" altLang="zh-CN">
                <a:latin typeface="Consolas"/>
                <a:cs typeface="Consolas"/>
              </a:rPr>
              <a:t> $0xffffffffffffffff, %</a:t>
            </a:r>
            <a:r>
              <a:rPr lang="en-US" altLang="zh-CN" err="1">
                <a:latin typeface="Consolas"/>
                <a:cs typeface="Consolas"/>
              </a:rPr>
              <a:t>rax</a:t>
            </a:r>
            <a:endParaRPr lang="en-US" altLang="zh-CN">
              <a:latin typeface="Consolas"/>
              <a:cs typeface="Consolas"/>
            </a:endParaRPr>
          </a:p>
          <a:p>
            <a:r>
              <a:rPr lang="en-US" altLang="zh-CN" err="1">
                <a:latin typeface="Consolas"/>
                <a:cs typeface="Consolas"/>
              </a:rPr>
              <a:t>addq</a:t>
            </a:r>
            <a:r>
              <a:rPr lang="en-US" altLang="zh-CN">
                <a:latin typeface="Consolas"/>
                <a:cs typeface="Consolas"/>
              </a:rPr>
              <a:t> $2, %</a:t>
            </a:r>
            <a:r>
              <a:rPr lang="en-US" altLang="zh-CN" err="1">
                <a:latin typeface="Consolas"/>
                <a:cs typeface="Consolas"/>
              </a:rPr>
              <a:t>rax</a:t>
            </a:r>
            <a:endParaRPr lang="en-US" altLang="zh-CN">
              <a:latin typeface="Consolas"/>
              <a:cs typeface="Consolas"/>
            </a:endParaRPr>
          </a:p>
        </p:txBody>
      </p:sp>
      <p:sp>
        <p:nvSpPr>
          <p:cNvPr id="7" name="矩形 3"/>
          <p:cNvSpPr/>
          <p:nvPr/>
        </p:nvSpPr>
        <p:spPr>
          <a:xfrm>
            <a:off x="1709997" y="4333268"/>
            <a:ext cx="429953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onsolas"/>
                <a:cs typeface="Consolas"/>
              </a:rPr>
              <a:t>movq</a:t>
            </a:r>
            <a:r>
              <a:rPr lang="en-US" altLang="zh-CN" dirty="0">
                <a:latin typeface="Consolas"/>
                <a:cs typeface="Consolas"/>
              </a:rPr>
              <a:t> $0, %</a:t>
            </a:r>
            <a:r>
              <a:rPr lang="en-US" altLang="zh-CN" dirty="0" err="1">
                <a:latin typeface="Consolas"/>
                <a:cs typeface="Consolas"/>
              </a:rPr>
              <a:t>rax</a:t>
            </a:r>
            <a:endParaRPr lang="en-US" altLang="zh-CN" dirty="0">
              <a:latin typeface="Consolas"/>
              <a:cs typeface="Consolas"/>
            </a:endParaRPr>
          </a:p>
          <a:p>
            <a:r>
              <a:rPr lang="en-US" altLang="zh-CN" dirty="0" err="1">
                <a:latin typeface="Consolas"/>
                <a:cs typeface="Consolas"/>
              </a:rPr>
              <a:t>subq</a:t>
            </a:r>
            <a:r>
              <a:rPr lang="en-US" altLang="zh-CN" dirty="0">
                <a:latin typeface="Consolas"/>
                <a:cs typeface="Consolas"/>
              </a:rPr>
              <a:t> $1, %</a:t>
            </a:r>
            <a:r>
              <a:rPr lang="en-US" altLang="zh-CN" dirty="0" err="1">
                <a:latin typeface="Consolas"/>
                <a:cs typeface="Consolas"/>
              </a:rPr>
              <a:t>rax</a:t>
            </a:r>
            <a:endParaRPr lang="en-US" altLang="zh-CN" dirty="0">
              <a:latin typeface="Consolas"/>
              <a:cs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0E03A-1A53-4E17-800C-CD8D5C4A63FE}"/>
              </a:ext>
            </a:extLst>
          </p:cNvPr>
          <p:cNvSpPr txBox="1"/>
          <p:nvPr/>
        </p:nvSpPr>
        <p:spPr>
          <a:xfrm>
            <a:off x="1358349" y="2696946"/>
            <a:ext cx="4318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i.e. Set if overflow for unsigned integer arithmetic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BBF9909-512A-48BD-B859-7F89EFC1229A}"/>
              </a:ext>
            </a:extLst>
          </p:cNvPr>
          <p:cNvSpPr/>
          <p:nvPr/>
        </p:nvSpPr>
        <p:spPr>
          <a:xfrm>
            <a:off x="982919" y="2707963"/>
            <a:ext cx="287294" cy="2316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727198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EFLAGS register: OF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6631" y="1923264"/>
            <a:ext cx="6962326" cy="115971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OF (Overflow Flag):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Roboto"/>
              </a:rPr>
              <a:t>Set if there is carry-in but no carry-out of </a:t>
            </a:r>
            <a:r>
              <a:rPr lang="en-US" sz="1600" dirty="0" err="1">
                <a:solidFill>
                  <a:srgbClr val="000000"/>
                </a:solidFill>
                <a:latin typeface="Roboto"/>
              </a:rPr>
              <a:t>msb</a:t>
            </a:r>
            <a:endParaRPr lang="en-US" sz="1600" dirty="0">
              <a:solidFill>
                <a:srgbClr val="000000"/>
              </a:solidFill>
              <a:latin typeface="Roboto"/>
            </a:endParaRPr>
          </a:p>
          <a:p>
            <a:pPr lvl="1"/>
            <a:r>
              <a:rPr lang="en-US" sz="1600" dirty="0">
                <a:solidFill>
                  <a:srgbClr val="000000"/>
                </a:solidFill>
                <a:latin typeface="Roboto"/>
              </a:rPr>
              <a:t>or, there is no carry-in but there's carry-out of </a:t>
            </a:r>
            <a:r>
              <a:rPr lang="en-US" sz="1600" dirty="0" err="1">
                <a:solidFill>
                  <a:srgbClr val="000000"/>
                </a:solidFill>
                <a:latin typeface="Roboto"/>
              </a:rPr>
              <a:t>msb</a:t>
            </a:r>
            <a:endParaRPr lang="en-US" sz="1600" dirty="0">
              <a:solidFill>
                <a:srgbClr val="000000"/>
              </a:solidFill>
              <a:latin typeface="Roboto"/>
            </a:endParaRPr>
          </a:p>
        </p:txBody>
      </p:sp>
      <p:sp>
        <p:nvSpPr>
          <p:cNvPr id="6" name="矩形 3"/>
          <p:cNvSpPr/>
          <p:nvPr/>
        </p:nvSpPr>
        <p:spPr>
          <a:xfrm>
            <a:off x="1638529" y="4053535"/>
            <a:ext cx="429953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err="1">
                <a:latin typeface="Consolas"/>
                <a:cs typeface="Consolas"/>
              </a:rPr>
              <a:t>movq</a:t>
            </a:r>
            <a:r>
              <a:rPr lang="en-US" altLang="zh-CN">
                <a:latin typeface="Consolas"/>
                <a:cs typeface="Consolas"/>
              </a:rPr>
              <a:t> $0x7fffffffffffffff, %</a:t>
            </a:r>
            <a:r>
              <a:rPr lang="en-US" altLang="zh-CN" err="1">
                <a:latin typeface="Consolas"/>
                <a:cs typeface="Consolas"/>
              </a:rPr>
              <a:t>rax</a:t>
            </a:r>
            <a:endParaRPr lang="en-US" altLang="zh-CN">
              <a:latin typeface="Consolas"/>
              <a:cs typeface="Consolas"/>
            </a:endParaRPr>
          </a:p>
          <a:p>
            <a:r>
              <a:rPr lang="en-US" altLang="zh-CN" err="1">
                <a:latin typeface="Consolas"/>
                <a:cs typeface="Consolas"/>
              </a:rPr>
              <a:t>addq</a:t>
            </a:r>
            <a:r>
              <a:rPr lang="en-US" altLang="zh-CN">
                <a:latin typeface="Consolas"/>
                <a:cs typeface="Consolas"/>
              </a:rPr>
              <a:t> $1, %</a:t>
            </a:r>
            <a:r>
              <a:rPr lang="en-US" altLang="zh-CN" err="1">
                <a:latin typeface="Consolas"/>
                <a:cs typeface="Consolas"/>
              </a:rPr>
              <a:t>rax</a:t>
            </a:r>
            <a:endParaRPr lang="en-US" altLang="zh-CN">
              <a:latin typeface="Consolas"/>
              <a:cs typeface="Consolas"/>
            </a:endParaRPr>
          </a:p>
        </p:txBody>
      </p:sp>
      <p:sp>
        <p:nvSpPr>
          <p:cNvPr id="7" name="矩形 3"/>
          <p:cNvSpPr/>
          <p:nvPr/>
        </p:nvSpPr>
        <p:spPr>
          <a:xfrm>
            <a:off x="1638529" y="4991710"/>
            <a:ext cx="429953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err="1">
                <a:latin typeface="Consolas"/>
                <a:cs typeface="Consolas"/>
              </a:rPr>
              <a:t>movq</a:t>
            </a:r>
            <a:r>
              <a:rPr lang="en-US" altLang="zh-CN">
                <a:latin typeface="Consolas"/>
                <a:cs typeface="Consolas"/>
              </a:rPr>
              <a:t> $0x8000000000000000, %</a:t>
            </a:r>
            <a:r>
              <a:rPr lang="en-US" altLang="zh-CN" err="1">
                <a:latin typeface="Consolas"/>
                <a:cs typeface="Consolas"/>
              </a:rPr>
              <a:t>rax</a:t>
            </a:r>
            <a:endParaRPr lang="en-US" altLang="zh-CN">
              <a:latin typeface="Consolas"/>
              <a:cs typeface="Consolas"/>
            </a:endParaRPr>
          </a:p>
          <a:p>
            <a:r>
              <a:rPr lang="en-US" altLang="zh-CN" err="1">
                <a:latin typeface="Consolas"/>
                <a:cs typeface="Consolas"/>
              </a:rPr>
              <a:t>addq</a:t>
            </a:r>
            <a:r>
              <a:rPr lang="en-US" altLang="zh-CN">
                <a:latin typeface="Consolas"/>
                <a:cs typeface="Consolas"/>
              </a:rPr>
              <a:t> $0xffffffffffffffff, %</a:t>
            </a:r>
            <a:r>
              <a:rPr lang="en-US" altLang="zh-CN" err="1">
                <a:latin typeface="Consolas"/>
                <a:cs typeface="Consolas"/>
              </a:rPr>
              <a:t>rax</a:t>
            </a:r>
            <a:endParaRPr lang="en-US" altLang="zh-CN">
              <a:latin typeface="Consolas"/>
              <a:cs typeface="Consolas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60DD8BE-5A67-4F97-96D8-9EC4A6EB6BAB}"/>
              </a:ext>
            </a:extLst>
          </p:cNvPr>
          <p:cNvSpPr/>
          <p:nvPr/>
        </p:nvSpPr>
        <p:spPr>
          <a:xfrm>
            <a:off x="1153526" y="3182301"/>
            <a:ext cx="485003" cy="2502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40A0C-79BB-40BF-B84B-ECA6123B50B9}"/>
              </a:ext>
            </a:extLst>
          </p:cNvPr>
          <p:cNvSpPr txBox="1"/>
          <p:nvPr/>
        </p:nvSpPr>
        <p:spPr>
          <a:xfrm>
            <a:off x="1638529" y="3151426"/>
            <a:ext cx="6005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>
                    <a:lumMod val="75000"/>
                  </a:schemeClr>
                </a:solidFill>
              </a:rPr>
              <a:t>Set if overflow for signed integer (2’s complement) arithmetic.</a:t>
            </a:r>
          </a:p>
        </p:txBody>
      </p:sp>
    </p:spTree>
    <p:extLst>
      <p:ext uri="{BB962C8B-B14F-4D97-AF65-F5344CB8AC3E}">
        <p14:creationId xmlns:p14="http://schemas.microsoft.com/office/powerpoint/2010/main" val="13342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CF and OF are different flags</a:t>
            </a:r>
            <a:endParaRPr kumimoji="1"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528251" y="1718631"/>
            <a:ext cx="8373378" cy="4594033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CPU does not care if data represents signed or unsigned integer:</a:t>
            </a:r>
          </a:p>
          <a:p>
            <a:pPr lvl="1"/>
            <a:r>
              <a:rPr kumimoji="1" lang="en-US" altLang="zh-CN" dirty="0"/>
              <a:t>Same underlying arithmetic hardware circuitry. </a:t>
            </a:r>
          </a:p>
          <a:p>
            <a:pPr lvl="1">
              <a:buFont typeface="Symbol" charset="2"/>
              <a:buChar char="-"/>
            </a:pPr>
            <a:r>
              <a:rPr kumimoji="1" lang="en-US" altLang="zh-CN" dirty="0"/>
              <a:t>Both OF and CF flags are set by examining various carry bits</a:t>
            </a:r>
          </a:p>
          <a:p>
            <a:r>
              <a:rPr kumimoji="1" lang="en-US" altLang="zh-CN" dirty="0"/>
              <a:t>Up to programmer/compiler to interpret either CF or OF flag</a:t>
            </a:r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47872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Status flags summary</a:t>
            </a:r>
            <a:endParaRPr kumimoji="1"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337023" y="2365246"/>
          <a:ext cx="6446807" cy="218703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48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8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543">
                <a:tc>
                  <a:txBody>
                    <a:bodyPr/>
                    <a:lstStyle/>
                    <a:p>
                      <a:r>
                        <a:rPr lang="en-US" altLang="zh-CN" sz="2100">
                          <a:latin typeface="Arial"/>
                          <a:cs typeface="Arial"/>
                        </a:rPr>
                        <a:t>flag</a:t>
                      </a:r>
                      <a:endParaRPr lang="zh-CN" altLang="en-US" sz="2100">
                        <a:latin typeface="Arial"/>
                        <a:cs typeface="Arial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2100">
                          <a:latin typeface="Arial"/>
                          <a:cs typeface="Arial"/>
                        </a:rPr>
                        <a:t>status</a:t>
                      </a:r>
                      <a:endParaRPr lang="zh-CN" altLang="en-US" sz="2100">
                        <a:latin typeface="Arial"/>
                        <a:cs typeface="Arial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12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>
                          <a:latin typeface="Arial"/>
                          <a:cs typeface="Arial"/>
                        </a:rPr>
                        <a:t>ZF  (Zero Flag)</a:t>
                      </a:r>
                      <a:endParaRPr lang="zh-CN" altLang="en-US" sz="1800">
                        <a:latin typeface="Arial"/>
                        <a:cs typeface="Arial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Arial"/>
                          <a:cs typeface="Arial"/>
                        </a:rPr>
                        <a:t>set if the result is zero.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123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Arial"/>
                          <a:cs typeface="Arial"/>
                        </a:rPr>
                        <a:t>SF (Sign Flag)</a:t>
                      </a:r>
                      <a:endParaRPr lang="zh-CN" altLang="en-US" sz="1800">
                        <a:latin typeface="Arial"/>
                        <a:cs typeface="Arial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Arial"/>
                          <a:cs typeface="Arial"/>
                        </a:rPr>
                        <a:t>set if the result is negative.</a:t>
                      </a:r>
                      <a:endParaRPr lang="zh-CN" altLang="en-US" sz="1500">
                        <a:latin typeface="Arial"/>
                        <a:cs typeface="Arial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123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Arial"/>
                          <a:cs typeface="Arial"/>
                        </a:rPr>
                        <a:t>CF (Carry</a:t>
                      </a:r>
                      <a:r>
                        <a:rPr lang="en-US" altLang="zh-CN" sz="1800" baseline="0">
                          <a:latin typeface="Arial"/>
                          <a:cs typeface="Arial"/>
                        </a:rPr>
                        <a:t> Flag</a:t>
                      </a:r>
                      <a:r>
                        <a:rPr lang="en-US" altLang="zh-CN" sz="1800">
                          <a:latin typeface="Arial"/>
                          <a:cs typeface="Arial"/>
                        </a:rPr>
                        <a:t>)</a:t>
                      </a:r>
                      <a:endParaRPr lang="zh-CN" altLang="en-US" sz="1800">
                        <a:latin typeface="Arial"/>
                        <a:cs typeface="Arial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kumimoji="1" lang="en-US" altLang="zh-CN" sz="1500"/>
                        <a:t>Overflow for unsigned-integer arithmetic</a:t>
                      </a:r>
                      <a:endParaRPr lang="zh-CN" altLang="en-US" sz="1500">
                        <a:latin typeface="Arial"/>
                        <a:cs typeface="Arial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123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Arial"/>
                          <a:cs typeface="Arial"/>
                        </a:rPr>
                        <a:t>OF (Overflow Flag)</a:t>
                      </a:r>
                      <a:endParaRPr lang="zh-CN" altLang="en-US" sz="1800">
                        <a:latin typeface="Arial"/>
                        <a:cs typeface="Arial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kumimoji="1" lang="en-US" altLang="zh-CN" sz="1500"/>
                        <a:t>Overflow for signed-integer arithmetic</a:t>
                      </a:r>
                      <a:endParaRPr lang="zh-CN" altLang="en-US" sz="1500">
                        <a:latin typeface="Arial"/>
                        <a:cs typeface="Arial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259904" y="4853558"/>
            <a:ext cx="52065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19163" algn="l"/>
                <a:tab pos="3045619" algn="l"/>
                <a:tab pos="919163" algn="l"/>
                <a:tab pos="3045619" algn="l"/>
              </a:tabLst>
            </a:pPr>
            <a:r>
              <a:rPr lang="en-US" altLang="zh-CN" dirty="0"/>
              <a:t>Set by arithmetic instructions, e.g. add, </a:t>
            </a:r>
            <a:r>
              <a:rPr lang="en-US" altLang="zh-CN" dirty="0" err="1"/>
              <a:t>inc</a:t>
            </a:r>
            <a:r>
              <a:rPr lang="en-US" altLang="zh-CN" dirty="0"/>
              <a:t>, and, </a:t>
            </a:r>
            <a:r>
              <a:rPr lang="en-US" altLang="zh-CN" dirty="0" err="1"/>
              <a:t>sal</a:t>
            </a:r>
            <a:r>
              <a:rPr lang="en-US" altLang="zh-CN" dirty="0"/>
              <a:t> </a:t>
            </a:r>
          </a:p>
          <a:p>
            <a:pPr>
              <a:tabLst>
                <a:tab pos="919163" algn="l"/>
                <a:tab pos="3045619" algn="l"/>
                <a:tab pos="919163" algn="l"/>
                <a:tab pos="3045619" algn="l"/>
              </a:tabLst>
            </a:pPr>
            <a:r>
              <a:rPr lang="en-US" altLang="zh-CN" dirty="0">
                <a:solidFill>
                  <a:srgbClr val="FF0000"/>
                </a:solidFill>
              </a:rPr>
              <a:t>Not set by </a:t>
            </a:r>
            <a:r>
              <a:rPr lang="en-US" altLang="zh-CN" b="1" dirty="0">
                <a:solidFill>
                  <a:srgbClr val="FF0000"/>
                </a:solidFill>
                <a:latin typeface="Courier New Bold" charset="0"/>
                <a:cs typeface="Courier New Bold" charset="0"/>
                <a:sym typeface="Courier New Bold" charset="0"/>
              </a:rPr>
              <a:t>lea, mov </a:t>
            </a:r>
          </a:p>
        </p:txBody>
      </p:sp>
    </p:spTree>
    <p:extLst>
      <p:ext uri="{BB962C8B-B14F-4D97-AF65-F5344CB8AC3E}">
        <p14:creationId xmlns:p14="http://schemas.microsoft.com/office/powerpoint/2010/main" val="3297466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471048" y="1172830"/>
            <a:ext cx="1963276" cy="45656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35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19270" y="5130699"/>
            <a:ext cx="960519" cy="3231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500">
                <a:latin typeface="Verdana"/>
                <a:cs typeface="Verdana"/>
              </a:rPr>
              <a:t>Memory</a:t>
            </a:r>
            <a:endParaRPr lang="zh-CN" altLang="en-US" sz="1500"/>
          </a:p>
        </p:txBody>
      </p:sp>
      <p:sp>
        <p:nvSpPr>
          <p:cNvPr id="7" name="矩形 6"/>
          <p:cNvSpPr/>
          <p:nvPr/>
        </p:nvSpPr>
        <p:spPr>
          <a:xfrm>
            <a:off x="2404773" y="2427723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04773" y="2147649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04773" y="1869556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200" b="1">
                <a:solidFill>
                  <a:prstClr val="black"/>
                </a:solidFill>
                <a:latin typeface="Arial"/>
                <a:cs typeface="Arial"/>
              </a:rPr>
              <a:t>add</a:t>
            </a:r>
            <a:r>
              <a:rPr lang="mr-IN" altLang="zh-CN" sz="1200" b="1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lang="mr-IN" altLang="zh-CN" sz="12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2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2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20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20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04773" y="2707503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08050" y="3775978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11327" y="4064634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17013" y="4339179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0xff</a:t>
            </a:r>
            <a:r>
              <a:rPr lang="mr-IN" altLang="zh-CN" sz="120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…</a:t>
            </a:r>
            <a:r>
              <a:rPr lang="en-US" altLang="zh-CN" sz="1200" err="1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ffffff</a:t>
            </a:r>
            <a:endParaRPr lang="zh-CN" altLang="en-US" sz="1200">
              <a:solidFill>
                <a:prstClr val="black"/>
              </a:solidFill>
              <a:latin typeface="Consolas" panose="020B0609020204030204" pitchFamily="49" charset="0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17013" y="4614858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417013" y="4891233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20557" y="4865781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2404773" y="3511210"/>
            <a:ext cx="1463624" cy="264048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150738" y="1159478"/>
            <a:ext cx="53572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350">
                <a:latin typeface="Verdana"/>
                <a:cs typeface="Verdana"/>
              </a:rPr>
              <a:t>CPU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173351" y="1479385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2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sz="12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00895" y="1494328"/>
            <a:ext cx="55976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350">
                <a:latin typeface="Verdana"/>
                <a:cs typeface="Verdana"/>
              </a:rPr>
              <a:t>RIP: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625451" y="2144433"/>
            <a:ext cx="61908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173351" y="2152211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001</a:t>
            </a:r>
            <a:endParaRPr lang="zh-CN" altLang="en-US" sz="1350"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192286" y="2474668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6" name="圆角矩形 35"/>
          <p:cNvSpPr/>
          <p:nvPr/>
        </p:nvSpPr>
        <p:spPr>
          <a:xfrm>
            <a:off x="6192286" y="2796624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35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188737" y="3119630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35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189153" y="3448446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2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190927" y="3770903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182346" y="4092859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35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187378" y="4415865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35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423225" y="5430781"/>
            <a:ext cx="37702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15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500" b="1"/>
          </a:p>
        </p:txBody>
      </p:sp>
      <p:sp>
        <p:nvSpPr>
          <p:cNvPr id="43" name="矩形 42"/>
          <p:cNvSpPr/>
          <p:nvPr/>
        </p:nvSpPr>
        <p:spPr>
          <a:xfrm>
            <a:off x="5623090" y="2483250"/>
            <a:ext cx="61908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612061" y="2796624"/>
            <a:ext cx="62869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614811" y="3125461"/>
            <a:ext cx="62869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613130" y="3445717"/>
            <a:ext cx="55175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609675" y="3768869"/>
            <a:ext cx="56137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609315" y="4097707"/>
            <a:ext cx="61908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607371" y="4396168"/>
            <a:ext cx="61908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860985" y="2037287"/>
            <a:ext cx="186917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947665" y="1912587"/>
            <a:ext cx="56457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50" b="1">
                <a:latin typeface="Verdana"/>
                <a:cs typeface="Verdana"/>
              </a:rPr>
              <a:t>%rip</a:t>
            </a:r>
            <a:endParaRPr lang="zh-CN" altLang="en-US" sz="1050" b="1"/>
          </a:p>
        </p:txBody>
      </p:sp>
      <p:sp>
        <p:nvSpPr>
          <p:cNvPr id="59" name="矩形 58"/>
          <p:cNvSpPr/>
          <p:nvPr/>
        </p:nvSpPr>
        <p:spPr>
          <a:xfrm>
            <a:off x="2401165" y="3249046"/>
            <a:ext cx="1463624" cy="264048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404699" y="2985992"/>
            <a:ext cx="1463624" cy="264048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299282" y="2159611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sz="1350"/>
          </a:p>
        </p:txBody>
      </p:sp>
      <p:sp>
        <p:nvSpPr>
          <p:cNvPr id="67" name="矩形 66"/>
          <p:cNvSpPr/>
          <p:nvPr/>
        </p:nvSpPr>
        <p:spPr>
          <a:xfrm>
            <a:off x="1290853" y="2434333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350"/>
          </a:p>
        </p:txBody>
      </p:sp>
      <p:sp>
        <p:nvSpPr>
          <p:cNvPr id="68" name="矩形 67"/>
          <p:cNvSpPr/>
          <p:nvPr/>
        </p:nvSpPr>
        <p:spPr>
          <a:xfrm>
            <a:off x="1290853" y="4672959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350"/>
          </a:p>
        </p:txBody>
      </p:sp>
      <p:sp>
        <p:nvSpPr>
          <p:cNvPr id="69" name="矩形 68"/>
          <p:cNvSpPr/>
          <p:nvPr/>
        </p:nvSpPr>
        <p:spPr>
          <a:xfrm>
            <a:off x="1290853" y="4391563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350"/>
          </a:p>
        </p:txBody>
      </p:sp>
      <p:sp>
        <p:nvSpPr>
          <p:cNvPr id="70" name="矩形 69"/>
          <p:cNvSpPr/>
          <p:nvPr/>
        </p:nvSpPr>
        <p:spPr>
          <a:xfrm>
            <a:off x="1290853" y="4109470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sz="1350"/>
          </a:p>
        </p:txBody>
      </p:sp>
      <p:sp>
        <p:nvSpPr>
          <p:cNvPr id="71" name="矩形 70"/>
          <p:cNvSpPr/>
          <p:nvPr/>
        </p:nvSpPr>
        <p:spPr>
          <a:xfrm>
            <a:off x="1290853" y="3841340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sz="1350"/>
          </a:p>
        </p:txBody>
      </p:sp>
      <p:sp>
        <p:nvSpPr>
          <p:cNvPr id="72" name="矩形 71"/>
          <p:cNvSpPr/>
          <p:nvPr/>
        </p:nvSpPr>
        <p:spPr>
          <a:xfrm>
            <a:off x="1299282" y="3573734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sz="1350"/>
          </a:p>
        </p:txBody>
      </p:sp>
      <p:sp>
        <p:nvSpPr>
          <p:cNvPr id="73" name="矩形 72"/>
          <p:cNvSpPr/>
          <p:nvPr/>
        </p:nvSpPr>
        <p:spPr>
          <a:xfrm>
            <a:off x="1300519" y="3266391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sz="1350"/>
          </a:p>
        </p:txBody>
      </p:sp>
      <p:sp>
        <p:nvSpPr>
          <p:cNvPr id="74" name="矩形 73"/>
          <p:cNvSpPr/>
          <p:nvPr/>
        </p:nvSpPr>
        <p:spPr>
          <a:xfrm>
            <a:off x="1303797" y="2994749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sz="1350"/>
          </a:p>
        </p:txBody>
      </p:sp>
      <p:sp>
        <p:nvSpPr>
          <p:cNvPr id="75" name="矩形 74"/>
          <p:cNvSpPr/>
          <p:nvPr/>
        </p:nvSpPr>
        <p:spPr>
          <a:xfrm>
            <a:off x="1295899" y="2728081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350"/>
          </a:p>
        </p:txBody>
      </p:sp>
      <p:sp>
        <p:nvSpPr>
          <p:cNvPr id="76" name="矩形 75"/>
          <p:cNvSpPr/>
          <p:nvPr/>
        </p:nvSpPr>
        <p:spPr>
          <a:xfrm>
            <a:off x="1313313" y="1864516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sz="1350"/>
          </a:p>
        </p:txBody>
      </p:sp>
      <p:sp>
        <p:nvSpPr>
          <p:cNvPr id="57" name="矩形 56"/>
          <p:cNvSpPr/>
          <p:nvPr/>
        </p:nvSpPr>
        <p:spPr>
          <a:xfrm>
            <a:off x="5766020" y="4772439"/>
            <a:ext cx="47481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204093" y="4766104"/>
            <a:ext cx="329440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6593470" y="4755763"/>
            <a:ext cx="48442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036353" y="4749429"/>
            <a:ext cx="329440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5753219" y="5113525"/>
            <a:ext cx="49404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200910" y="5107191"/>
            <a:ext cx="329440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6580670" y="5096850"/>
            <a:ext cx="50366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033170" y="5090515"/>
            <a:ext cx="329440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7">
            <a:extLst>
              <a:ext uri="{FF2B5EF4-FFF2-40B4-BE49-F238E27FC236}">
                <a16:creationId xmlns:a16="http://schemas.microsoft.com/office/drawing/2014/main" id="{0EF9A9FE-A107-4C40-82C5-CF2186D21066}"/>
              </a:ext>
            </a:extLst>
          </p:cNvPr>
          <p:cNvSpPr/>
          <p:nvPr/>
        </p:nvSpPr>
        <p:spPr>
          <a:xfrm>
            <a:off x="2408050" y="1594740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矩形 75">
            <a:extLst>
              <a:ext uri="{FF2B5EF4-FFF2-40B4-BE49-F238E27FC236}">
                <a16:creationId xmlns:a16="http://schemas.microsoft.com/office/drawing/2014/main" id="{AA4D9249-7AE1-40A4-BB54-A7A40EEE5859}"/>
              </a:ext>
            </a:extLst>
          </p:cNvPr>
          <p:cNvSpPr/>
          <p:nvPr/>
        </p:nvSpPr>
        <p:spPr>
          <a:xfrm>
            <a:off x="1303797" y="1621396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007677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471048" y="1172830"/>
            <a:ext cx="1963276" cy="45656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35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19270" y="5130699"/>
            <a:ext cx="960519" cy="3231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500">
                <a:latin typeface="Verdana"/>
                <a:cs typeface="Verdana"/>
              </a:rPr>
              <a:t>Memory</a:t>
            </a:r>
            <a:endParaRPr lang="zh-CN" altLang="en-US" sz="1500"/>
          </a:p>
        </p:txBody>
      </p:sp>
      <p:sp>
        <p:nvSpPr>
          <p:cNvPr id="7" name="矩形 6"/>
          <p:cNvSpPr/>
          <p:nvPr/>
        </p:nvSpPr>
        <p:spPr>
          <a:xfrm>
            <a:off x="2404773" y="2427723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04773" y="2147649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04773" y="1869556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200" b="1">
                <a:solidFill>
                  <a:prstClr val="black"/>
                </a:solidFill>
                <a:latin typeface="Arial"/>
                <a:cs typeface="Arial"/>
              </a:rPr>
              <a:t>add</a:t>
            </a:r>
            <a:r>
              <a:rPr lang="mr-IN" altLang="zh-CN" sz="1200" b="1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lang="mr-IN" altLang="zh-CN" sz="12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2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2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20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20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04773" y="2707503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08050" y="3775978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11327" y="4064634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17013" y="4339179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0x00..0000</a:t>
            </a:r>
            <a:endParaRPr lang="zh-CN" altLang="en-US" sz="1200">
              <a:solidFill>
                <a:prstClr val="black"/>
              </a:solidFill>
              <a:latin typeface="Consolas" panose="020B0609020204030204" pitchFamily="49" charset="0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17013" y="4614858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417013" y="4891233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20557" y="4865781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2404773" y="3511210"/>
            <a:ext cx="1463624" cy="264048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150738" y="1159478"/>
            <a:ext cx="53572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350">
                <a:latin typeface="Verdana"/>
                <a:cs typeface="Verdana"/>
              </a:rPr>
              <a:t>CPU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173351" y="1479385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2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sz="12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00895" y="1494328"/>
            <a:ext cx="55976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350">
                <a:latin typeface="Verdana"/>
                <a:cs typeface="Verdana"/>
              </a:rPr>
              <a:t>RIP: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625451" y="2144433"/>
            <a:ext cx="61908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173351" y="2152211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001</a:t>
            </a:r>
            <a:endParaRPr lang="zh-CN" altLang="en-US" sz="1350"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192286" y="2474668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6" name="圆角矩形 35"/>
          <p:cNvSpPr/>
          <p:nvPr/>
        </p:nvSpPr>
        <p:spPr>
          <a:xfrm>
            <a:off x="6192286" y="2796624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35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188737" y="3119630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35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189153" y="3448446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2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20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190927" y="3770903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182346" y="4092859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35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187378" y="4415865"/>
            <a:ext cx="1202682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35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423225" y="5430781"/>
            <a:ext cx="37702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15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500" b="1"/>
          </a:p>
        </p:txBody>
      </p:sp>
      <p:sp>
        <p:nvSpPr>
          <p:cNvPr id="43" name="矩形 42"/>
          <p:cNvSpPr/>
          <p:nvPr/>
        </p:nvSpPr>
        <p:spPr>
          <a:xfrm>
            <a:off x="5623090" y="2483250"/>
            <a:ext cx="61908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612061" y="2796624"/>
            <a:ext cx="62869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614811" y="3125461"/>
            <a:ext cx="62869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613130" y="3445717"/>
            <a:ext cx="55175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609675" y="3768869"/>
            <a:ext cx="56137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609315" y="4097707"/>
            <a:ext cx="61908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607371" y="4396168"/>
            <a:ext cx="61908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860985" y="2037287"/>
            <a:ext cx="186917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947665" y="1912587"/>
            <a:ext cx="56457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50" b="1">
                <a:latin typeface="Verdana"/>
                <a:cs typeface="Verdana"/>
              </a:rPr>
              <a:t>%rip</a:t>
            </a:r>
            <a:endParaRPr lang="zh-CN" altLang="en-US" sz="1050" b="1"/>
          </a:p>
        </p:txBody>
      </p:sp>
      <p:sp>
        <p:nvSpPr>
          <p:cNvPr id="59" name="矩形 58"/>
          <p:cNvSpPr/>
          <p:nvPr/>
        </p:nvSpPr>
        <p:spPr>
          <a:xfrm>
            <a:off x="2401165" y="3249046"/>
            <a:ext cx="1463624" cy="264048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404699" y="2985992"/>
            <a:ext cx="1463624" cy="264048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299282" y="2159611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sz="1350"/>
          </a:p>
        </p:txBody>
      </p:sp>
      <p:sp>
        <p:nvSpPr>
          <p:cNvPr id="67" name="矩形 66"/>
          <p:cNvSpPr/>
          <p:nvPr/>
        </p:nvSpPr>
        <p:spPr>
          <a:xfrm>
            <a:off x="1290853" y="2434333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350"/>
          </a:p>
        </p:txBody>
      </p:sp>
      <p:sp>
        <p:nvSpPr>
          <p:cNvPr id="68" name="矩形 67"/>
          <p:cNvSpPr/>
          <p:nvPr/>
        </p:nvSpPr>
        <p:spPr>
          <a:xfrm>
            <a:off x="1290853" y="4672959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 sz="1350"/>
          </a:p>
        </p:txBody>
      </p:sp>
      <p:sp>
        <p:nvSpPr>
          <p:cNvPr id="69" name="矩形 68"/>
          <p:cNvSpPr/>
          <p:nvPr/>
        </p:nvSpPr>
        <p:spPr>
          <a:xfrm>
            <a:off x="1290853" y="4391563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350"/>
          </a:p>
        </p:txBody>
      </p:sp>
      <p:sp>
        <p:nvSpPr>
          <p:cNvPr id="70" name="矩形 69"/>
          <p:cNvSpPr/>
          <p:nvPr/>
        </p:nvSpPr>
        <p:spPr>
          <a:xfrm>
            <a:off x="1290853" y="4109470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 sz="1350"/>
          </a:p>
        </p:txBody>
      </p:sp>
      <p:sp>
        <p:nvSpPr>
          <p:cNvPr id="71" name="矩形 70"/>
          <p:cNvSpPr/>
          <p:nvPr/>
        </p:nvSpPr>
        <p:spPr>
          <a:xfrm>
            <a:off x="1290853" y="3841340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sz="1350"/>
          </a:p>
        </p:txBody>
      </p:sp>
      <p:sp>
        <p:nvSpPr>
          <p:cNvPr id="72" name="矩形 71"/>
          <p:cNvSpPr/>
          <p:nvPr/>
        </p:nvSpPr>
        <p:spPr>
          <a:xfrm>
            <a:off x="1299282" y="3573734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sz="1350"/>
          </a:p>
        </p:txBody>
      </p:sp>
      <p:sp>
        <p:nvSpPr>
          <p:cNvPr id="73" name="矩形 72"/>
          <p:cNvSpPr/>
          <p:nvPr/>
        </p:nvSpPr>
        <p:spPr>
          <a:xfrm>
            <a:off x="1300519" y="3266391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sz="1350"/>
          </a:p>
        </p:txBody>
      </p:sp>
      <p:sp>
        <p:nvSpPr>
          <p:cNvPr id="74" name="矩形 73"/>
          <p:cNvSpPr/>
          <p:nvPr/>
        </p:nvSpPr>
        <p:spPr>
          <a:xfrm>
            <a:off x="1303797" y="2994749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sz="1350"/>
          </a:p>
        </p:txBody>
      </p:sp>
      <p:sp>
        <p:nvSpPr>
          <p:cNvPr id="75" name="矩形 74"/>
          <p:cNvSpPr/>
          <p:nvPr/>
        </p:nvSpPr>
        <p:spPr>
          <a:xfrm>
            <a:off x="1295899" y="2728081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350"/>
          </a:p>
        </p:txBody>
      </p:sp>
      <p:sp>
        <p:nvSpPr>
          <p:cNvPr id="76" name="矩形 75"/>
          <p:cNvSpPr/>
          <p:nvPr/>
        </p:nvSpPr>
        <p:spPr>
          <a:xfrm>
            <a:off x="1313313" y="1864516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sz="1350"/>
          </a:p>
        </p:txBody>
      </p:sp>
      <p:sp>
        <p:nvSpPr>
          <p:cNvPr id="57" name="矩形 56"/>
          <p:cNvSpPr/>
          <p:nvPr/>
        </p:nvSpPr>
        <p:spPr>
          <a:xfrm>
            <a:off x="5766020" y="4772439"/>
            <a:ext cx="47481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204093" y="4766104"/>
            <a:ext cx="329440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62" name="矩形 61"/>
          <p:cNvSpPr/>
          <p:nvPr/>
        </p:nvSpPr>
        <p:spPr>
          <a:xfrm>
            <a:off x="6593470" y="4755763"/>
            <a:ext cx="48442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036353" y="4749429"/>
            <a:ext cx="329440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5753219" y="5113525"/>
            <a:ext cx="49404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200910" y="5107191"/>
            <a:ext cx="329440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78" name="矩形 77"/>
          <p:cNvSpPr/>
          <p:nvPr/>
        </p:nvSpPr>
        <p:spPr>
          <a:xfrm>
            <a:off x="6580670" y="5096850"/>
            <a:ext cx="50366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35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sz="1350">
                <a:latin typeface="Verdana"/>
                <a:cs typeface="Verdana"/>
              </a:rPr>
              <a:t>:</a:t>
            </a:r>
            <a:endParaRPr kumimoji="1" lang="zh-CN" altLang="en-US" sz="135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033170" y="5090515"/>
            <a:ext cx="329440" cy="28333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7">
            <a:extLst>
              <a:ext uri="{FF2B5EF4-FFF2-40B4-BE49-F238E27FC236}">
                <a16:creationId xmlns:a16="http://schemas.microsoft.com/office/drawing/2014/main" id="{0EF9A9FE-A107-4C40-82C5-CF2186D21066}"/>
              </a:ext>
            </a:extLst>
          </p:cNvPr>
          <p:cNvSpPr/>
          <p:nvPr/>
        </p:nvSpPr>
        <p:spPr>
          <a:xfrm>
            <a:off x="2408050" y="1594740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矩形 75">
            <a:extLst>
              <a:ext uri="{FF2B5EF4-FFF2-40B4-BE49-F238E27FC236}">
                <a16:creationId xmlns:a16="http://schemas.microsoft.com/office/drawing/2014/main" id="{AA4D9249-7AE1-40A4-BB54-A7A40EEE5859}"/>
              </a:ext>
            </a:extLst>
          </p:cNvPr>
          <p:cNvSpPr/>
          <p:nvPr/>
        </p:nvSpPr>
        <p:spPr>
          <a:xfrm>
            <a:off x="1303797" y="1621396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197463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5B013-5E7B-4436-A2B6-EBCAC3689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DB1B3-E184-4BB5-8F9D-6690A26C3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X86 ISA</a:t>
            </a:r>
          </a:p>
          <a:p>
            <a:pPr lvl="1"/>
            <a:r>
              <a:rPr lang="en-US"/>
              <a:t>%rip, 16 general purpose registers</a:t>
            </a:r>
          </a:p>
          <a:p>
            <a:pPr lvl="1"/>
            <a:r>
              <a:rPr lang="en-US"/>
              <a:t>mov </a:t>
            </a:r>
          </a:p>
          <a:p>
            <a:pPr lvl="1"/>
            <a:r>
              <a:rPr lang="en-US"/>
              <a:t>Lea</a:t>
            </a:r>
          </a:p>
          <a:p>
            <a:pPr lvl="1"/>
            <a:r>
              <a:rPr lang="en-US"/>
              <a:t>Various arithmetic instructions</a:t>
            </a:r>
          </a:p>
          <a:p>
            <a:pPr lvl="1"/>
            <a:r>
              <a:rPr lang="en-US"/>
              <a:t>RFLAGS: ZF, SF, CF, OF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94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89939" y="2196016"/>
          <a:ext cx="6094040" cy="234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511">
                <a:tc>
                  <a:txBody>
                    <a:bodyPr/>
                    <a:lstStyle/>
                    <a:p>
                      <a:r>
                        <a:rPr lang="en-US" altLang="zh-CN" sz="1400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ZF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SF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CF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OF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682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89939" y="2196016"/>
          <a:ext cx="6094040" cy="234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511">
                <a:tc>
                  <a:txBody>
                    <a:bodyPr/>
                    <a:lstStyle/>
                    <a:p>
                      <a:r>
                        <a:rPr lang="en-US" altLang="zh-CN" sz="1400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ZF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SF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CF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OF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734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89939" y="2196016"/>
          <a:ext cx="6094040" cy="234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511">
                <a:tc>
                  <a:txBody>
                    <a:bodyPr/>
                    <a:lstStyle/>
                    <a:p>
                      <a:r>
                        <a:rPr lang="en-US" altLang="zh-CN" sz="1400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ZF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SF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CF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OF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0247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89939" y="2196016"/>
          <a:ext cx="6094040" cy="234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511">
                <a:tc>
                  <a:txBody>
                    <a:bodyPr/>
                    <a:lstStyle/>
                    <a:p>
                      <a:r>
                        <a:rPr lang="en-US" altLang="zh-CN" sz="1400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ZF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SF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CF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OF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151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89939" y="2196016"/>
          <a:ext cx="6094040" cy="234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511">
                <a:tc>
                  <a:txBody>
                    <a:bodyPr/>
                    <a:lstStyle/>
                    <a:p>
                      <a:r>
                        <a:rPr lang="en-US" altLang="zh-CN" sz="1400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ZF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SF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CF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Consolas"/>
                          <a:cs typeface="Consolas"/>
                        </a:rPr>
                        <a:t>OF</a:t>
                      </a:r>
                      <a:endParaRPr lang="zh-CN" altLang="en-US" sz="14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4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1500">
                        <a:latin typeface="Consolas"/>
                        <a:cs typeface="Consola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233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Status flags summary</a:t>
            </a:r>
            <a:endParaRPr kumimoji="1"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144104"/>
              </p:ext>
            </p:extLst>
          </p:nvPr>
        </p:nvGraphicFramePr>
        <p:xfrm>
          <a:off x="258695" y="2010661"/>
          <a:ext cx="8595743" cy="291604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931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4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6724">
                <a:tc>
                  <a:txBody>
                    <a:bodyPr/>
                    <a:lstStyle/>
                    <a:p>
                      <a:r>
                        <a:rPr lang="en-US" altLang="zh-CN" sz="2800">
                          <a:latin typeface="Arial"/>
                          <a:cs typeface="Arial"/>
                        </a:rPr>
                        <a:t>flag</a:t>
                      </a:r>
                      <a:endParaRPr lang="zh-CN" altLang="en-US" sz="280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>
                          <a:latin typeface="Arial"/>
                          <a:cs typeface="Arial"/>
                        </a:rPr>
                        <a:t>status</a:t>
                      </a:r>
                      <a:endParaRPr lang="zh-CN" altLang="en-US" sz="280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8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>
                          <a:latin typeface="Consolas" panose="020B0609020204030204" pitchFamily="49" charset="0"/>
                          <a:cs typeface="Arial"/>
                        </a:rPr>
                        <a:t>ZF</a:t>
                      </a:r>
                      <a:r>
                        <a:rPr lang="en-US" altLang="zh-CN" sz="2400">
                          <a:latin typeface="Arial"/>
                          <a:cs typeface="Arial"/>
                        </a:rPr>
                        <a:t>  (Zero Flag)</a:t>
                      </a:r>
                      <a:endParaRPr lang="zh-CN" altLang="en-US" sz="240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Arial"/>
                          <a:cs typeface="Arial"/>
                        </a:rPr>
                        <a:t>set if the result is zero.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83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latin typeface="Consolas" panose="020B0609020204030204" pitchFamily="49" charset="0"/>
                          <a:cs typeface="Arial"/>
                        </a:rPr>
                        <a:t>SF</a:t>
                      </a:r>
                      <a:r>
                        <a:rPr lang="en-US" altLang="zh-CN" sz="2400">
                          <a:latin typeface="Arial"/>
                          <a:cs typeface="Arial"/>
                        </a:rPr>
                        <a:t> (Sign Flag)</a:t>
                      </a:r>
                      <a:endParaRPr lang="zh-CN" altLang="en-US" sz="240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Arial"/>
                          <a:cs typeface="Arial"/>
                        </a:rPr>
                        <a:t>set if the result is negative.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83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latin typeface="Consolas" panose="020B0609020204030204" pitchFamily="49" charset="0"/>
                          <a:cs typeface="Arial"/>
                        </a:rPr>
                        <a:t>CF</a:t>
                      </a:r>
                      <a:r>
                        <a:rPr lang="en-US" altLang="zh-CN" sz="2400">
                          <a:latin typeface="Arial"/>
                          <a:cs typeface="Arial"/>
                        </a:rPr>
                        <a:t> (Carry</a:t>
                      </a:r>
                      <a:r>
                        <a:rPr lang="en-US" altLang="zh-CN" sz="2400" baseline="0">
                          <a:latin typeface="Arial"/>
                          <a:cs typeface="Arial"/>
                        </a:rPr>
                        <a:t> Flag</a:t>
                      </a:r>
                      <a:r>
                        <a:rPr lang="en-US" altLang="zh-CN" sz="2400">
                          <a:latin typeface="Arial"/>
                          <a:cs typeface="Arial"/>
                        </a:rPr>
                        <a:t>)</a:t>
                      </a:r>
                      <a:endParaRPr lang="zh-CN" altLang="en-US" sz="240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2000"/>
                        <a:t>Overflow for unsigned-integer arithmetic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83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latin typeface="Consolas" panose="020B0609020204030204" pitchFamily="49" charset="0"/>
                          <a:cs typeface="Arial"/>
                        </a:rPr>
                        <a:t>OF</a:t>
                      </a:r>
                      <a:r>
                        <a:rPr lang="en-US" altLang="zh-CN" sz="2400">
                          <a:latin typeface="Arial"/>
                          <a:cs typeface="Arial"/>
                        </a:rPr>
                        <a:t> (Overflow Flag)</a:t>
                      </a:r>
                      <a:endParaRPr lang="zh-CN" altLang="en-US" sz="240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2000"/>
                        <a:t>Overflow for signed-integer arithmetic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258694" y="5284721"/>
            <a:ext cx="81150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altLang="zh-CN" sz="2400"/>
              <a:t>Arithmetic instructions set RFLAGS, e.g. add, </a:t>
            </a:r>
            <a:r>
              <a:rPr lang="en-US" altLang="zh-CN" sz="2400" err="1"/>
              <a:t>inc</a:t>
            </a:r>
            <a:r>
              <a:rPr lang="en-US" altLang="zh-CN" sz="2400"/>
              <a:t>, and, </a:t>
            </a:r>
            <a:r>
              <a:rPr lang="en-US" altLang="zh-CN" sz="2400" err="1"/>
              <a:t>sal</a:t>
            </a:r>
            <a:r>
              <a:rPr lang="en-US" altLang="zh-CN" sz="2400"/>
              <a:t> </a:t>
            </a:r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altLang="zh-CN" sz="2400" b="1">
                <a:solidFill>
                  <a:srgbClr val="FF0000"/>
                </a:solidFill>
                <a:latin typeface="Consolas" panose="020B0609020204030204" pitchFamily="49" charset="0"/>
                <a:cs typeface="Courier New Bold" charset="0"/>
                <a:sym typeface="Courier New Bold" charset="0"/>
              </a:rPr>
              <a:t>lea</a:t>
            </a:r>
            <a:r>
              <a:rPr lang="en-US" altLang="zh-CN" sz="2400" b="1">
                <a:solidFill>
                  <a:srgbClr val="FF0000"/>
                </a:solidFill>
                <a:latin typeface="+mj-lt"/>
                <a:cs typeface="Courier New Bold" charset="0"/>
                <a:sym typeface="Courier New Bold" charset="0"/>
              </a:rPr>
              <a:t>, </a:t>
            </a:r>
            <a:r>
              <a:rPr lang="en-US" altLang="zh-CN" sz="2400" b="1">
                <a:solidFill>
                  <a:srgbClr val="FF0000"/>
                </a:solidFill>
                <a:latin typeface="Consolas" panose="020B0609020204030204" pitchFamily="49" charset="0"/>
                <a:cs typeface="Courier New Bold" charset="0"/>
                <a:sym typeface="Courier New Bold" charset="0"/>
              </a:rPr>
              <a:t>mov</a:t>
            </a:r>
            <a:r>
              <a:rPr lang="en-US" altLang="zh-CN" sz="2400" b="1">
                <a:solidFill>
                  <a:srgbClr val="FF0000"/>
                </a:solidFill>
                <a:latin typeface="+mj-lt"/>
                <a:cs typeface="Courier New Bold" charset="0"/>
                <a:sym typeface="Courier New Bold" charset="0"/>
              </a:rPr>
              <a:t> do not set RFLAGS</a:t>
            </a:r>
          </a:p>
        </p:txBody>
      </p:sp>
    </p:spTree>
    <p:extLst>
      <p:ext uri="{BB962C8B-B14F-4D97-AF65-F5344CB8AC3E}">
        <p14:creationId xmlns:p14="http://schemas.microsoft.com/office/powerpoint/2010/main" val="3575385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7869" y="600408"/>
            <a:ext cx="8652013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sz="4800" dirty="0">
                <a:cs typeface="Arial"/>
              </a:rPr>
              <a:t>Special instructions that set RFLAGS: </a:t>
            </a:r>
            <a:r>
              <a:rPr kumimoji="1" lang="en-US" altLang="zh-CN" sz="4800" dirty="0" err="1">
                <a:cs typeface="Arial"/>
              </a:rPr>
              <a:t>cmp</a:t>
            </a:r>
            <a:endParaRPr kumimoji="1" lang="zh-CN" altLang="en-US" sz="4800" dirty="0">
              <a:cs typeface="Arial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3161"/>
            <a:ext cx="8229600" cy="4193002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b="1" dirty="0" err="1">
                <a:latin typeface="Consolas"/>
                <a:cs typeface="Consolas"/>
              </a:rPr>
              <a:t>cmpq</a:t>
            </a:r>
            <a:r>
              <a:rPr kumimoji="1" lang="en-US" altLang="zh-CN" dirty="0">
                <a:latin typeface="Consolas"/>
                <a:cs typeface="Consolas"/>
              </a:rPr>
              <a:t> </a:t>
            </a:r>
            <a:r>
              <a:rPr kumimoji="1" lang="en-US" altLang="zh-CN" dirty="0" err="1">
                <a:latin typeface="Consolas"/>
                <a:cs typeface="Consolas"/>
              </a:rPr>
              <a:t>src</a:t>
            </a:r>
            <a:r>
              <a:rPr kumimoji="1" lang="en-US" altLang="zh-CN" dirty="0">
                <a:latin typeface="Consolas"/>
                <a:cs typeface="Consolas"/>
              </a:rPr>
              <a:t>, </a:t>
            </a:r>
            <a:r>
              <a:rPr kumimoji="1" lang="en-US" altLang="zh-CN" dirty="0" err="1">
                <a:latin typeface="Consolas"/>
                <a:cs typeface="Consolas"/>
              </a:rPr>
              <a:t>dst</a:t>
            </a:r>
            <a:endParaRPr kumimoji="1" lang="en-US" altLang="zh-CN" dirty="0">
              <a:latin typeface="Consolas"/>
              <a:cs typeface="Consolas"/>
            </a:endParaRPr>
          </a:p>
          <a:p>
            <a:pPr lvl="1"/>
            <a:r>
              <a:rPr kumimoji="1" lang="en-US" altLang="zh-CN" dirty="0"/>
              <a:t>Set CF, ZF, SF and OF like </a:t>
            </a:r>
            <a:r>
              <a:rPr kumimoji="1" lang="en-US" altLang="zh-CN" b="1" dirty="0" err="1">
                <a:highlight>
                  <a:srgbClr val="F2F2F2"/>
                </a:highlight>
                <a:latin typeface="Consolas" panose="020B0609020204030204" pitchFamily="49" charset="0"/>
              </a:rPr>
              <a:t>subq</a:t>
            </a:r>
            <a:r>
              <a:rPr kumimoji="1" lang="en-US" altLang="zh-CN" dirty="0">
                <a:highlight>
                  <a:srgbClr val="F2F2F2"/>
                </a:highlight>
                <a:latin typeface="Consolas" panose="020B0609020204030204" pitchFamily="49" charset="0"/>
              </a:rPr>
              <a:t> </a:t>
            </a:r>
            <a:r>
              <a:rPr kumimoji="1" lang="en-US" altLang="zh-CN" dirty="0" err="1">
                <a:highlight>
                  <a:srgbClr val="F2F2F2"/>
                </a:highlight>
                <a:latin typeface="Consolas" panose="020B0609020204030204" pitchFamily="49" charset="0"/>
              </a:rPr>
              <a:t>src</a:t>
            </a:r>
            <a:r>
              <a:rPr kumimoji="1" lang="en-US" altLang="zh-CN" dirty="0">
                <a:highlight>
                  <a:srgbClr val="F2F2F2"/>
                </a:highlight>
                <a:latin typeface="Consolas" panose="020B0609020204030204" pitchFamily="49" charset="0"/>
              </a:rPr>
              <a:t>, </a:t>
            </a:r>
            <a:r>
              <a:rPr kumimoji="1" lang="en-US" altLang="zh-CN" dirty="0" err="1">
                <a:highlight>
                  <a:srgbClr val="F2F2F2"/>
                </a:highlight>
                <a:latin typeface="Consolas" panose="020B0609020204030204" pitchFamily="49" charset="0"/>
              </a:rPr>
              <a:t>dst</a:t>
            </a:r>
            <a:r>
              <a:rPr kumimoji="1" lang="en-US" altLang="zh-CN" dirty="0">
                <a:highlight>
                  <a:srgbClr val="F2F2F2"/>
                </a:highlight>
                <a:latin typeface="Consolas" panose="020B0609020204030204" pitchFamily="49" charset="0"/>
              </a:rPr>
              <a:t> </a:t>
            </a:r>
            <a:r>
              <a:rPr kumimoji="1" lang="en-US" altLang="zh-CN" dirty="0"/>
              <a:t>except </a:t>
            </a:r>
            <a:r>
              <a:rPr kumimoji="1" lang="en-US" altLang="zh-CN" dirty="0" err="1">
                <a:latin typeface="Consolas" panose="020B0609020204030204" pitchFamily="49" charset="0"/>
              </a:rPr>
              <a:t>dst</a:t>
            </a:r>
            <a:r>
              <a:rPr kumimoji="1" lang="en-US" altLang="zh-CN" dirty="0"/>
              <a:t> is unchanged</a:t>
            </a:r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7646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0001</a:t>
            </a:r>
            <a:endParaRPr lang="zh-CN" altLang="en-US"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0" name="矩形 5">
            <a:extLst>
              <a:ext uri="{FF2B5EF4-FFF2-40B4-BE49-F238E27FC236}">
                <a16:creationId xmlns:a16="http://schemas.microsoft.com/office/drawing/2014/main" id="{FA0279AE-FFC3-4D93-9663-0FA3026B7521}"/>
              </a:ext>
            </a:extLst>
          </p:cNvPr>
          <p:cNvSpPr/>
          <p:nvPr/>
        </p:nvSpPr>
        <p:spPr>
          <a:xfrm>
            <a:off x="2282421" y="56220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63" name="矩形 6">
            <a:extLst>
              <a:ext uri="{FF2B5EF4-FFF2-40B4-BE49-F238E27FC236}">
                <a16:creationId xmlns:a16="http://schemas.microsoft.com/office/drawing/2014/main" id="{31C10D4E-1876-4EF4-887D-9B19B9AC6656}"/>
              </a:ext>
            </a:extLst>
          </p:cNvPr>
          <p:cNvSpPr/>
          <p:nvPr/>
        </p:nvSpPr>
        <p:spPr>
          <a:xfrm>
            <a:off x="1863090" y="20180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0" name="矩形 7">
            <a:extLst>
              <a:ext uri="{FF2B5EF4-FFF2-40B4-BE49-F238E27FC236}">
                <a16:creationId xmlns:a16="http://schemas.microsoft.com/office/drawing/2014/main" id="{F4D75C40-E2A4-4AA9-AF0D-2E6E0742984A}"/>
              </a:ext>
            </a:extLst>
          </p:cNvPr>
          <p:cNvSpPr/>
          <p:nvPr/>
        </p:nvSpPr>
        <p:spPr>
          <a:xfrm>
            <a:off x="1863090" y="16446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1" name="矩形 8">
            <a:extLst>
              <a:ext uri="{FF2B5EF4-FFF2-40B4-BE49-F238E27FC236}">
                <a16:creationId xmlns:a16="http://schemas.microsoft.com/office/drawing/2014/main" id="{A7BF9B3A-CF43-4586-8925-E0D56605913D}"/>
              </a:ext>
            </a:extLst>
          </p:cNvPr>
          <p:cNvSpPr/>
          <p:nvPr/>
        </p:nvSpPr>
        <p:spPr>
          <a:xfrm>
            <a:off x="1863090" y="12738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cmp</a:t>
            </a:r>
            <a:r>
              <a:rPr lang="mr-IN" altLang="zh-CN" sz="1600" b="1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2" name="矩形 10">
            <a:extLst>
              <a:ext uri="{FF2B5EF4-FFF2-40B4-BE49-F238E27FC236}">
                <a16:creationId xmlns:a16="http://schemas.microsoft.com/office/drawing/2014/main" id="{A76E6C78-2423-4932-A3F3-63B7A87DC64B}"/>
              </a:ext>
            </a:extLst>
          </p:cNvPr>
          <p:cNvSpPr/>
          <p:nvPr/>
        </p:nvSpPr>
        <p:spPr>
          <a:xfrm>
            <a:off x="1863090" y="23910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3" name="矩形 11">
            <a:extLst>
              <a:ext uri="{FF2B5EF4-FFF2-40B4-BE49-F238E27FC236}">
                <a16:creationId xmlns:a16="http://schemas.microsoft.com/office/drawing/2014/main" id="{94455439-FC41-4540-B17C-E3DB2FA9E53D}"/>
              </a:ext>
            </a:extLst>
          </p:cNvPr>
          <p:cNvSpPr/>
          <p:nvPr/>
        </p:nvSpPr>
        <p:spPr>
          <a:xfrm>
            <a:off x="1867460" y="38157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4" name="矩形 12">
            <a:extLst>
              <a:ext uri="{FF2B5EF4-FFF2-40B4-BE49-F238E27FC236}">
                <a16:creationId xmlns:a16="http://schemas.microsoft.com/office/drawing/2014/main" id="{ECD15B19-E392-4B09-BD6F-E067311346A5}"/>
              </a:ext>
            </a:extLst>
          </p:cNvPr>
          <p:cNvSpPr/>
          <p:nvPr/>
        </p:nvSpPr>
        <p:spPr>
          <a:xfrm>
            <a:off x="1871829" y="42006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5" name="矩形 13">
            <a:extLst>
              <a:ext uri="{FF2B5EF4-FFF2-40B4-BE49-F238E27FC236}">
                <a16:creationId xmlns:a16="http://schemas.microsoft.com/office/drawing/2014/main" id="{C5E3A931-222E-4F10-9D5A-91E1C735EA7C}"/>
              </a:ext>
            </a:extLst>
          </p:cNvPr>
          <p:cNvSpPr/>
          <p:nvPr/>
        </p:nvSpPr>
        <p:spPr>
          <a:xfrm>
            <a:off x="1879410" y="45666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0000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86" name="矩形 14">
            <a:extLst>
              <a:ext uri="{FF2B5EF4-FFF2-40B4-BE49-F238E27FC236}">
                <a16:creationId xmlns:a16="http://schemas.microsoft.com/office/drawing/2014/main" id="{CAA22EA0-1F79-4452-B5B1-F5D27E672C96}"/>
              </a:ext>
            </a:extLst>
          </p:cNvPr>
          <p:cNvSpPr/>
          <p:nvPr/>
        </p:nvSpPr>
        <p:spPr>
          <a:xfrm>
            <a:off x="1879410" y="49342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7" name="矩形 15">
            <a:extLst>
              <a:ext uri="{FF2B5EF4-FFF2-40B4-BE49-F238E27FC236}">
                <a16:creationId xmlns:a16="http://schemas.microsoft.com/office/drawing/2014/main" id="{FE55CFA3-995C-4B4A-BEA8-BEE2F8DDC0DA}"/>
              </a:ext>
            </a:extLst>
          </p:cNvPr>
          <p:cNvSpPr/>
          <p:nvPr/>
        </p:nvSpPr>
        <p:spPr>
          <a:xfrm>
            <a:off x="1879410" y="53027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8" name="矩形 18">
            <a:extLst>
              <a:ext uri="{FF2B5EF4-FFF2-40B4-BE49-F238E27FC236}">
                <a16:creationId xmlns:a16="http://schemas.microsoft.com/office/drawing/2014/main" id="{018B1AD8-9377-4EC3-8A08-99229AE394A7}"/>
              </a:ext>
            </a:extLst>
          </p:cNvPr>
          <p:cNvSpPr/>
          <p:nvPr/>
        </p:nvSpPr>
        <p:spPr>
          <a:xfrm>
            <a:off x="1279025" y="52687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89" name="矩形 24">
            <a:extLst>
              <a:ext uri="{FF2B5EF4-FFF2-40B4-BE49-F238E27FC236}">
                <a16:creationId xmlns:a16="http://schemas.microsoft.com/office/drawing/2014/main" id="{AC948409-0AE9-458F-ACEF-CE1E56230EC3}"/>
              </a:ext>
            </a:extLst>
          </p:cNvPr>
          <p:cNvSpPr/>
          <p:nvPr/>
        </p:nvSpPr>
        <p:spPr>
          <a:xfrm>
            <a:off x="1863090" y="34627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cxnSp>
        <p:nvCxnSpPr>
          <p:cNvPr id="90" name="直线箭头连接符 3">
            <a:extLst>
              <a:ext uri="{FF2B5EF4-FFF2-40B4-BE49-F238E27FC236}">
                <a16:creationId xmlns:a16="http://schemas.microsoft.com/office/drawing/2014/main" id="{92A90B99-CFEC-42BC-8065-561C8F3B656D}"/>
              </a:ext>
            </a:extLst>
          </p:cNvPr>
          <p:cNvCxnSpPr/>
          <p:nvPr/>
        </p:nvCxnSpPr>
        <p:spPr>
          <a:xfrm flipH="1">
            <a:off x="3804708" y="149747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1" name="矩形 55">
            <a:extLst>
              <a:ext uri="{FF2B5EF4-FFF2-40B4-BE49-F238E27FC236}">
                <a16:creationId xmlns:a16="http://schemas.microsoft.com/office/drawing/2014/main" id="{3EAB979B-F524-4A9B-877F-C0D52753343E}"/>
              </a:ext>
            </a:extLst>
          </p:cNvPr>
          <p:cNvSpPr/>
          <p:nvPr/>
        </p:nvSpPr>
        <p:spPr>
          <a:xfrm>
            <a:off x="4053930" y="1352114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92" name="矩形 58">
            <a:extLst>
              <a:ext uri="{FF2B5EF4-FFF2-40B4-BE49-F238E27FC236}">
                <a16:creationId xmlns:a16="http://schemas.microsoft.com/office/drawing/2014/main" id="{D0D9E920-4A8E-47B7-8E81-6F4741665A23}"/>
              </a:ext>
            </a:extLst>
          </p:cNvPr>
          <p:cNvSpPr/>
          <p:nvPr/>
        </p:nvSpPr>
        <p:spPr>
          <a:xfrm>
            <a:off x="1858279" y="31131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3" name="矩形 60">
            <a:extLst>
              <a:ext uri="{FF2B5EF4-FFF2-40B4-BE49-F238E27FC236}">
                <a16:creationId xmlns:a16="http://schemas.microsoft.com/office/drawing/2014/main" id="{CA2D1736-6FF5-4345-BA54-85115AD4BA8F}"/>
              </a:ext>
            </a:extLst>
          </p:cNvPr>
          <p:cNvSpPr/>
          <p:nvPr/>
        </p:nvSpPr>
        <p:spPr>
          <a:xfrm>
            <a:off x="1862992" y="27624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4" name="矩形 65">
            <a:extLst>
              <a:ext uri="{FF2B5EF4-FFF2-40B4-BE49-F238E27FC236}">
                <a16:creationId xmlns:a16="http://schemas.microsoft.com/office/drawing/2014/main" id="{D2F6E7BB-4722-4814-9845-F74F2C1C156B}"/>
              </a:ext>
            </a:extLst>
          </p:cNvPr>
          <p:cNvSpPr/>
          <p:nvPr/>
        </p:nvSpPr>
        <p:spPr>
          <a:xfrm>
            <a:off x="449694" y="16605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95" name="矩形 66">
            <a:extLst>
              <a:ext uri="{FF2B5EF4-FFF2-40B4-BE49-F238E27FC236}">
                <a16:creationId xmlns:a16="http://schemas.microsoft.com/office/drawing/2014/main" id="{2A5FB6E1-BA95-48FB-A5D2-07F95BA53498}"/>
              </a:ext>
            </a:extLst>
          </p:cNvPr>
          <p:cNvSpPr/>
          <p:nvPr/>
        </p:nvSpPr>
        <p:spPr>
          <a:xfrm>
            <a:off x="438455" y="20268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96" name="矩形 67">
            <a:extLst>
              <a:ext uri="{FF2B5EF4-FFF2-40B4-BE49-F238E27FC236}">
                <a16:creationId xmlns:a16="http://schemas.microsoft.com/office/drawing/2014/main" id="{4EE60134-5368-42A4-B72F-F0372CF49DC4}"/>
              </a:ext>
            </a:extLst>
          </p:cNvPr>
          <p:cNvSpPr/>
          <p:nvPr/>
        </p:nvSpPr>
        <p:spPr>
          <a:xfrm>
            <a:off x="438455" y="50117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97" name="矩形 68">
            <a:extLst>
              <a:ext uri="{FF2B5EF4-FFF2-40B4-BE49-F238E27FC236}">
                <a16:creationId xmlns:a16="http://schemas.microsoft.com/office/drawing/2014/main" id="{856F947C-EDD7-4AA0-BB21-396D59FD1728}"/>
              </a:ext>
            </a:extLst>
          </p:cNvPr>
          <p:cNvSpPr/>
          <p:nvPr/>
        </p:nvSpPr>
        <p:spPr>
          <a:xfrm>
            <a:off x="438455" y="46365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98" name="矩形 69">
            <a:extLst>
              <a:ext uri="{FF2B5EF4-FFF2-40B4-BE49-F238E27FC236}">
                <a16:creationId xmlns:a16="http://schemas.microsoft.com/office/drawing/2014/main" id="{37F835E6-02A8-42E5-921F-47E8FE967922}"/>
              </a:ext>
            </a:extLst>
          </p:cNvPr>
          <p:cNvSpPr/>
          <p:nvPr/>
        </p:nvSpPr>
        <p:spPr>
          <a:xfrm>
            <a:off x="438455" y="42603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99" name="矩形 70">
            <a:extLst>
              <a:ext uri="{FF2B5EF4-FFF2-40B4-BE49-F238E27FC236}">
                <a16:creationId xmlns:a16="http://schemas.microsoft.com/office/drawing/2014/main" id="{FC5934D8-87ED-44F4-A85D-B6F6C2B93F75}"/>
              </a:ext>
            </a:extLst>
          </p:cNvPr>
          <p:cNvSpPr/>
          <p:nvPr/>
        </p:nvSpPr>
        <p:spPr>
          <a:xfrm>
            <a:off x="438455" y="39028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100" name="矩形 71">
            <a:extLst>
              <a:ext uri="{FF2B5EF4-FFF2-40B4-BE49-F238E27FC236}">
                <a16:creationId xmlns:a16="http://schemas.microsoft.com/office/drawing/2014/main" id="{7C186CD0-31D2-4A9F-AAEF-B2C831D0C056}"/>
              </a:ext>
            </a:extLst>
          </p:cNvPr>
          <p:cNvSpPr/>
          <p:nvPr/>
        </p:nvSpPr>
        <p:spPr>
          <a:xfrm>
            <a:off x="449694" y="35460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101" name="矩形 72">
            <a:extLst>
              <a:ext uri="{FF2B5EF4-FFF2-40B4-BE49-F238E27FC236}">
                <a16:creationId xmlns:a16="http://schemas.microsoft.com/office/drawing/2014/main" id="{B9E47E43-F94B-4D61-8F0C-533AEA50B670}"/>
              </a:ext>
            </a:extLst>
          </p:cNvPr>
          <p:cNvSpPr/>
          <p:nvPr/>
        </p:nvSpPr>
        <p:spPr>
          <a:xfrm>
            <a:off x="451343" y="31362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102" name="矩形 73">
            <a:extLst>
              <a:ext uri="{FF2B5EF4-FFF2-40B4-BE49-F238E27FC236}">
                <a16:creationId xmlns:a16="http://schemas.microsoft.com/office/drawing/2014/main" id="{D6313C7A-8C0E-4E5D-A46D-424B4ACA89F0}"/>
              </a:ext>
            </a:extLst>
          </p:cNvPr>
          <p:cNvSpPr/>
          <p:nvPr/>
        </p:nvSpPr>
        <p:spPr>
          <a:xfrm>
            <a:off x="455713" y="27740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103" name="矩形 74">
            <a:extLst>
              <a:ext uri="{FF2B5EF4-FFF2-40B4-BE49-F238E27FC236}">
                <a16:creationId xmlns:a16="http://schemas.microsoft.com/office/drawing/2014/main" id="{CD8970DE-775D-4679-8E71-5D809BFFAD14}"/>
              </a:ext>
            </a:extLst>
          </p:cNvPr>
          <p:cNvSpPr/>
          <p:nvPr/>
        </p:nvSpPr>
        <p:spPr>
          <a:xfrm>
            <a:off x="445183" y="24185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104" name="矩形 75">
            <a:extLst>
              <a:ext uri="{FF2B5EF4-FFF2-40B4-BE49-F238E27FC236}">
                <a16:creationId xmlns:a16="http://schemas.microsoft.com/office/drawing/2014/main" id="{E8D860C2-B670-47EB-826C-345EF1596889}"/>
              </a:ext>
            </a:extLst>
          </p:cNvPr>
          <p:cNvSpPr/>
          <p:nvPr/>
        </p:nvSpPr>
        <p:spPr>
          <a:xfrm>
            <a:off x="468402" y="12671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105" name="矩形 7">
            <a:extLst>
              <a:ext uri="{FF2B5EF4-FFF2-40B4-BE49-F238E27FC236}">
                <a16:creationId xmlns:a16="http://schemas.microsoft.com/office/drawing/2014/main" id="{86F8543B-F2BB-481E-929B-5B6FAAA0B7A6}"/>
              </a:ext>
            </a:extLst>
          </p:cNvPr>
          <p:cNvSpPr/>
          <p:nvPr/>
        </p:nvSpPr>
        <p:spPr>
          <a:xfrm>
            <a:off x="1862992" y="9126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6" name="矩形 65">
            <a:extLst>
              <a:ext uri="{FF2B5EF4-FFF2-40B4-BE49-F238E27FC236}">
                <a16:creationId xmlns:a16="http://schemas.microsoft.com/office/drawing/2014/main" id="{79CF4045-A35C-4E50-96B0-507E107CC5C5}"/>
              </a:ext>
            </a:extLst>
          </p:cNvPr>
          <p:cNvSpPr/>
          <p:nvPr/>
        </p:nvSpPr>
        <p:spPr>
          <a:xfrm>
            <a:off x="450560" y="928554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890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82421" y="5622022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863090" y="201805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63090" y="164462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63090" y="127383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cmp</a:t>
            </a:r>
            <a:r>
              <a:rPr lang="mr-IN" altLang="zh-CN" sz="1600" b="1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zh-CN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(%r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i)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63090" y="23910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67460" y="381572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71829" y="420060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79410" y="4566662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0000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79410" y="493423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79410" y="53027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79025" y="526879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863090" y="346270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0001</a:t>
            </a:r>
            <a:endParaRPr lang="zh-CN" altLang="en-US"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917069" y="1128981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166291" y="983621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1858279" y="3113152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862992" y="276241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49694" y="16605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438455" y="202686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438455" y="50117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438455" y="46365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438455" y="426038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438455" y="390287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449694" y="354607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451343" y="31362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455713" y="27740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445183" y="241853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468402" y="126711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srgbClr val="FF0000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srgbClr val="FF0000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srgbClr val="FF0000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srgbClr val="FF0000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7">
            <a:extLst>
              <a:ext uri="{FF2B5EF4-FFF2-40B4-BE49-F238E27FC236}">
                <a16:creationId xmlns:a16="http://schemas.microsoft.com/office/drawing/2014/main" id="{CD4CAA96-87C8-41EC-86F5-7EA61B8136F4}"/>
              </a:ext>
            </a:extLst>
          </p:cNvPr>
          <p:cNvSpPr/>
          <p:nvPr/>
        </p:nvSpPr>
        <p:spPr>
          <a:xfrm>
            <a:off x="1862992" y="9126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矩形 65">
            <a:extLst>
              <a:ext uri="{FF2B5EF4-FFF2-40B4-BE49-F238E27FC236}">
                <a16:creationId xmlns:a16="http://schemas.microsoft.com/office/drawing/2014/main" id="{6F117E8C-EB49-4FDC-9AD8-0D9277D70BAA}"/>
              </a:ext>
            </a:extLst>
          </p:cNvPr>
          <p:cNvSpPr/>
          <p:nvPr/>
        </p:nvSpPr>
        <p:spPr>
          <a:xfrm>
            <a:off x="450560" y="928554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854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0" y="616161"/>
            <a:ext cx="8458200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sz="4800" dirty="0">
                <a:cs typeface="Arial"/>
              </a:rPr>
              <a:t>Special instructions that set RFLAGS: test</a:t>
            </a:r>
            <a:endParaRPr kumimoji="1" lang="zh-CN" altLang="en-US" sz="4800" dirty="0">
              <a:cs typeface="Arial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2151822"/>
            <a:ext cx="8681830" cy="3974341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b="1" err="1">
                <a:latin typeface="Consolas"/>
                <a:cs typeface="Consolas"/>
              </a:rPr>
              <a:t>testq</a:t>
            </a:r>
            <a:r>
              <a:rPr kumimoji="1" lang="en-US" altLang="zh-CN">
                <a:latin typeface="Consolas"/>
                <a:cs typeface="Consolas"/>
              </a:rPr>
              <a:t> </a:t>
            </a:r>
            <a:r>
              <a:rPr kumimoji="1" lang="en-US" altLang="zh-CN" err="1">
                <a:latin typeface="Consolas"/>
                <a:cs typeface="Consolas"/>
              </a:rPr>
              <a:t>src</a:t>
            </a:r>
            <a:r>
              <a:rPr kumimoji="1" lang="en-US" altLang="zh-CN">
                <a:latin typeface="Consolas"/>
                <a:cs typeface="Consolas"/>
              </a:rPr>
              <a:t>, </a:t>
            </a:r>
            <a:r>
              <a:rPr kumimoji="1" lang="en-US" altLang="zh-CN" err="1">
                <a:latin typeface="Consolas"/>
                <a:cs typeface="Consolas"/>
              </a:rPr>
              <a:t>dst</a:t>
            </a:r>
            <a:endParaRPr kumimoji="1" lang="en-US" altLang="zh-CN">
              <a:latin typeface="Consolas"/>
              <a:cs typeface="Consolas"/>
            </a:endParaRPr>
          </a:p>
          <a:p>
            <a:pPr lvl="1"/>
            <a:r>
              <a:rPr kumimoji="1" lang="en-US" altLang="zh-CN"/>
              <a:t>Set ZF, SF like </a:t>
            </a:r>
            <a:r>
              <a:rPr kumimoji="1" lang="en-US" altLang="zh-CN" b="1" err="1">
                <a:highlight>
                  <a:srgbClr val="F2F2F2"/>
                </a:highlight>
                <a:latin typeface="Consolas"/>
                <a:cs typeface="Consolas"/>
              </a:rPr>
              <a:t>andq</a:t>
            </a:r>
            <a:r>
              <a:rPr kumimoji="1" lang="en-US" altLang="zh-CN">
                <a:highlight>
                  <a:srgbClr val="F2F2F2"/>
                </a:highlight>
                <a:latin typeface="Consolas"/>
                <a:cs typeface="Consolas"/>
              </a:rPr>
              <a:t> </a:t>
            </a:r>
            <a:r>
              <a:rPr kumimoji="1" lang="en-US" altLang="zh-CN" err="1">
                <a:highlight>
                  <a:srgbClr val="F2F2F2"/>
                </a:highlight>
                <a:latin typeface="Consolas"/>
                <a:cs typeface="Consolas"/>
              </a:rPr>
              <a:t>src</a:t>
            </a:r>
            <a:r>
              <a:rPr kumimoji="1" lang="en-US" altLang="zh-CN">
                <a:highlight>
                  <a:srgbClr val="F2F2F2"/>
                </a:highlight>
                <a:latin typeface="Consolas"/>
                <a:cs typeface="Consolas"/>
              </a:rPr>
              <a:t>, </a:t>
            </a:r>
            <a:r>
              <a:rPr kumimoji="1" lang="en-US" altLang="zh-CN" err="1">
                <a:highlight>
                  <a:srgbClr val="F2F2F2"/>
                </a:highlight>
                <a:latin typeface="Consolas"/>
                <a:cs typeface="Consolas"/>
              </a:rPr>
              <a:t>dst</a:t>
            </a:r>
            <a:r>
              <a:rPr kumimoji="1" lang="en-US" altLang="zh-CN">
                <a:highlight>
                  <a:srgbClr val="F2F2F2"/>
                </a:highlight>
              </a:rPr>
              <a:t> </a:t>
            </a:r>
            <a:r>
              <a:rPr kumimoji="1" lang="en-US" altLang="zh-CN"/>
              <a:t>except </a:t>
            </a:r>
            <a:r>
              <a:rPr kumimoji="1" lang="en-US" altLang="zh-CN" err="1">
                <a:latin typeface="Consolas" panose="020B0609020204030204" pitchFamily="49" charset="0"/>
              </a:rPr>
              <a:t>dst</a:t>
            </a:r>
            <a:r>
              <a:rPr kumimoji="1" lang="en-US" altLang="zh-CN"/>
              <a:t> is unchanged</a:t>
            </a:r>
          </a:p>
          <a:p>
            <a:pPr marL="457200" lvl="1" indent="0">
              <a:buNone/>
            </a:pPr>
            <a:endParaRPr kumimoji="1" lang="en-US" altLang="zh-CN"/>
          </a:p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529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Questions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err="1">
                <a:latin typeface="Consolas"/>
                <a:ea typeface="ヒラギノ角ゴ ProN W6" charset="0"/>
                <a:cs typeface="Consolas"/>
                <a:sym typeface="Courier New Bold" charset="0"/>
              </a:rPr>
              <a:t>testq</a:t>
            </a:r>
            <a:r>
              <a:rPr lang="en-US" altLang="zh-CN">
                <a:latin typeface="Consolas"/>
                <a:ea typeface="ヒラギノ角ゴ ProN W6" charset="0"/>
                <a:cs typeface="Consolas"/>
                <a:sym typeface="Courier New Bold" charset="0"/>
              </a:rPr>
              <a:t> %</a:t>
            </a:r>
            <a:r>
              <a:rPr lang="en-US" altLang="zh-CN" err="1">
                <a:latin typeface="Consolas"/>
                <a:ea typeface="ヒラギノ角ゴ ProN W6" charset="0"/>
                <a:cs typeface="Consolas"/>
                <a:sym typeface="Courier New Bold" charset="0"/>
              </a:rPr>
              <a:t>rax</a:t>
            </a:r>
            <a:r>
              <a:rPr lang="en-US" altLang="zh-CN">
                <a:latin typeface="Consolas"/>
                <a:ea typeface="ヒラギノ角ゴ ProN W6" charset="0"/>
                <a:cs typeface="Consolas"/>
                <a:sym typeface="Courier New Bold" charset="0"/>
              </a:rPr>
              <a:t>, %</a:t>
            </a:r>
            <a:r>
              <a:rPr lang="en-US" altLang="zh-CN" err="1">
                <a:latin typeface="Consolas"/>
                <a:ea typeface="ヒラギノ角ゴ ProN W6" charset="0"/>
                <a:cs typeface="Consolas"/>
                <a:sym typeface="Courier New Bold" charset="0"/>
              </a:rPr>
              <a:t>rax</a:t>
            </a:r>
            <a:endParaRPr lang="en-US" altLang="zh-CN">
              <a:latin typeface="Consolas"/>
              <a:ea typeface="ヒラギノ角ゴ ProN W6" charset="0"/>
              <a:cs typeface="Consolas"/>
              <a:sym typeface="Courier New Bold" charset="0"/>
            </a:endParaRPr>
          </a:p>
          <a:p>
            <a:pPr lvl="1"/>
            <a:r>
              <a:rPr lang="en-US" altLang="zh-CN">
                <a:latin typeface="+mj-lt"/>
                <a:ea typeface="ヒラギノ角ゴ ProN W6" charset="0"/>
                <a:cs typeface="Consolas"/>
                <a:sym typeface="Courier New Bold" charset="0"/>
              </a:rPr>
              <a:t>When is ZF set?</a:t>
            </a:r>
          </a:p>
          <a:p>
            <a:pPr lvl="1"/>
            <a:r>
              <a:rPr kumimoji="1" lang="en-US" altLang="zh-CN">
                <a:latin typeface="+mj-lt"/>
                <a:ea typeface="ヒラギノ角ゴ ProN W6" charset="0"/>
                <a:cs typeface="Consolas"/>
                <a:sym typeface="Courier New Bold" charset="0"/>
              </a:rPr>
              <a:t>When is SF set?</a:t>
            </a:r>
            <a:endParaRPr kumimoji="1" lang="zh-CN" altLang="en-US">
              <a:latin typeface="+mj-lt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5644356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Questions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err="1">
                <a:latin typeface="Consolas"/>
                <a:ea typeface="ヒラギノ角ゴ ProN W6" charset="0"/>
                <a:cs typeface="Consolas"/>
                <a:sym typeface="Courier New Bold" charset="0"/>
              </a:rPr>
              <a:t>testq</a:t>
            </a:r>
            <a:r>
              <a:rPr lang="en-US" altLang="zh-CN">
                <a:latin typeface="Consolas"/>
                <a:ea typeface="ヒラギノ角ゴ ProN W6" charset="0"/>
                <a:cs typeface="Consolas"/>
                <a:sym typeface="Courier New Bold" charset="0"/>
              </a:rPr>
              <a:t> %</a:t>
            </a:r>
            <a:r>
              <a:rPr lang="en-US" altLang="zh-CN" err="1">
                <a:latin typeface="Consolas"/>
                <a:ea typeface="ヒラギノ角ゴ ProN W6" charset="0"/>
                <a:cs typeface="Consolas"/>
                <a:sym typeface="Courier New Bold" charset="0"/>
              </a:rPr>
              <a:t>rax</a:t>
            </a:r>
            <a:r>
              <a:rPr lang="en-US" altLang="zh-CN">
                <a:latin typeface="Consolas"/>
                <a:ea typeface="ヒラギノ角ゴ ProN W6" charset="0"/>
                <a:cs typeface="Consolas"/>
                <a:sym typeface="Courier New Bold" charset="0"/>
              </a:rPr>
              <a:t>, %</a:t>
            </a:r>
            <a:r>
              <a:rPr lang="en-US" altLang="zh-CN" err="1">
                <a:latin typeface="Consolas"/>
                <a:ea typeface="ヒラギノ角ゴ ProN W6" charset="0"/>
                <a:cs typeface="Consolas"/>
                <a:sym typeface="Courier New Bold" charset="0"/>
              </a:rPr>
              <a:t>rax</a:t>
            </a:r>
            <a:endParaRPr lang="en-US" altLang="zh-CN">
              <a:latin typeface="Consolas"/>
              <a:ea typeface="ヒラギノ角ゴ ProN W6" charset="0"/>
              <a:cs typeface="Consolas"/>
              <a:sym typeface="Courier New Bold" charset="0"/>
            </a:endParaRPr>
          </a:p>
          <a:p>
            <a:pPr lvl="1"/>
            <a:r>
              <a:rPr lang="en-US" altLang="zh-CN">
                <a:latin typeface="Consolas"/>
                <a:ea typeface="ヒラギノ角ゴ ProN W6" charset="0"/>
                <a:cs typeface="Consolas"/>
                <a:sym typeface="Courier New Bold" charset="0"/>
              </a:rPr>
              <a:t>When is ZF set?   </a:t>
            </a:r>
            <a:r>
              <a:rPr lang="en-US" altLang="zh-CN" err="1">
                <a:latin typeface="Consolas"/>
                <a:ea typeface="ヒラギノ角ゴ ProN W6" charset="0"/>
                <a:cs typeface="Consolas"/>
                <a:sym typeface="Courier New Bold" charset="0"/>
              </a:rPr>
              <a:t>val</a:t>
            </a:r>
            <a:r>
              <a:rPr lang="en-US" altLang="zh-CN">
                <a:latin typeface="Consolas"/>
                <a:ea typeface="ヒラギノ角ゴ ProN W6" charset="0"/>
                <a:cs typeface="Consolas"/>
                <a:sym typeface="Courier New Bold" charset="0"/>
              </a:rPr>
              <a:t>(%</a:t>
            </a:r>
            <a:r>
              <a:rPr lang="en-US" altLang="zh-CN" err="1">
                <a:latin typeface="Consolas"/>
                <a:ea typeface="ヒラギノ角ゴ ProN W6" charset="0"/>
                <a:cs typeface="Consolas"/>
                <a:sym typeface="Courier New Bold" charset="0"/>
              </a:rPr>
              <a:t>rax</a:t>
            </a:r>
            <a:r>
              <a:rPr lang="en-US" altLang="zh-CN">
                <a:latin typeface="Consolas"/>
                <a:ea typeface="ヒラギノ角ゴ ProN W6" charset="0"/>
                <a:cs typeface="Consolas"/>
                <a:sym typeface="Courier New Bold" charset="0"/>
              </a:rPr>
              <a:t>) = 0x0</a:t>
            </a:r>
          </a:p>
          <a:p>
            <a:pPr lvl="1"/>
            <a:r>
              <a:rPr kumimoji="1" lang="en-US" altLang="zh-CN">
                <a:latin typeface="Consolas"/>
                <a:ea typeface="ヒラギノ角ゴ ProN W6" charset="0"/>
                <a:cs typeface="Consolas"/>
                <a:sym typeface="Courier New Bold" charset="0"/>
              </a:rPr>
              <a:t>When is SF set?   </a:t>
            </a:r>
            <a:r>
              <a:rPr kumimoji="1" lang="en-US" altLang="zh-CN" err="1">
                <a:latin typeface="Consolas"/>
                <a:ea typeface="ヒラギノ角ゴ ProN W6" charset="0"/>
                <a:cs typeface="Consolas"/>
                <a:sym typeface="Courier New Bold" charset="0"/>
              </a:rPr>
              <a:t>val</a:t>
            </a:r>
            <a:r>
              <a:rPr kumimoji="1" lang="en-US" altLang="zh-CN">
                <a:latin typeface="Consolas"/>
                <a:ea typeface="ヒラギノ角ゴ ProN W6" charset="0"/>
                <a:cs typeface="Consolas"/>
                <a:sym typeface="Courier New Bold" charset="0"/>
              </a:rPr>
              <a:t>(%</a:t>
            </a:r>
            <a:r>
              <a:rPr kumimoji="1" lang="en-US" altLang="zh-CN" err="1">
                <a:latin typeface="Consolas"/>
                <a:ea typeface="ヒラギノ角ゴ ProN W6" charset="0"/>
                <a:cs typeface="Consolas"/>
                <a:sym typeface="Courier New Bold" charset="0"/>
              </a:rPr>
              <a:t>rax</a:t>
            </a:r>
            <a:r>
              <a:rPr kumimoji="1" lang="en-US" altLang="zh-CN">
                <a:latin typeface="Consolas"/>
                <a:ea typeface="ヒラギノ角ゴ ProN W6" charset="0"/>
                <a:cs typeface="Consolas"/>
                <a:sym typeface="Courier New Bold" charset="0"/>
              </a:rPr>
              <a:t>) &lt; 0</a:t>
            </a:r>
          </a:p>
          <a:p>
            <a:pPr lvl="2"/>
            <a:endParaRPr kumimoji="1" lang="zh-CN" altLang="en-US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669569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400">
                <a:cs typeface="Arial"/>
              </a:rPr>
              <a:t>Instructions that read</a:t>
            </a:r>
            <a:r>
              <a:rPr kumimoji="1" lang="zh-CN" altLang="en-US" sz="4400">
                <a:cs typeface="Arial"/>
              </a:rPr>
              <a:t> </a:t>
            </a:r>
            <a:r>
              <a:rPr kumimoji="1" lang="en-US" altLang="zh-CN" sz="4400">
                <a:cs typeface="Arial"/>
              </a:rPr>
              <a:t>RFLAGS: set</a:t>
            </a:r>
            <a:endParaRPr kumimoji="1" lang="zh-CN" altLang="en-US" sz="4400">
              <a:cs typeface="Arial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5253" y="1600200"/>
            <a:ext cx="8857561" cy="4525963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b="1" dirty="0" err="1">
                <a:latin typeface="Consolas"/>
                <a:cs typeface="Consolas"/>
              </a:rPr>
              <a:t>set</a:t>
            </a:r>
            <a:r>
              <a:rPr kumimoji="1" lang="en-US" altLang="zh-CN" b="1" dirty="0" err="1">
                <a:solidFill>
                  <a:srgbClr val="FF0000"/>
                </a:solidFill>
                <a:latin typeface="Consolas"/>
                <a:cs typeface="Consolas"/>
              </a:rPr>
              <a:t>X</a:t>
            </a:r>
            <a:r>
              <a:rPr kumimoji="1" lang="zh-CN" altLang="en-US" b="1" dirty="0">
                <a:latin typeface="Consolas"/>
                <a:cs typeface="Consolas"/>
              </a:rPr>
              <a:t> </a:t>
            </a:r>
            <a:r>
              <a:rPr kumimoji="1" lang="en-US" altLang="zh-CN" dirty="0" err="1">
                <a:latin typeface="Consolas"/>
                <a:cs typeface="Consolas"/>
              </a:rPr>
              <a:t>dst</a:t>
            </a:r>
            <a:endParaRPr kumimoji="1" lang="en-US" altLang="zh-CN" dirty="0">
              <a:latin typeface="Consolas"/>
              <a:cs typeface="Consolas"/>
            </a:endParaRPr>
          </a:p>
          <a:p>
            <a:pPr lvl="1"/>
            <a:r>
              <a:rPr kumimoji="1" lang="en-US" altLang="zh-CN" dirty="0"/>
              <a:t>Set </a:t>
            </a:r>
            <a:r>
              <a:rPr kumimoji="1" lang="en-US" altLang="zh-CN" dirty="0" err="1">
                <a:latin typeface="Consolas" panose="020B0609020204030204" pitchFamily="49" charset="0"/>
              </a:rPr>
              <a:t>dst</a:t>
            </a:r>
            <a:r>
              <a:rPr kumimoji="1" lang="en-US" altLang="zh-CN" dirty="0">
                <a:latin typeface="Consolas" panose="020B0609020204030204" pitchFamily="49" charset="0"/>
              </a:rPr>
              <a:t> (%</a:t>
            </a:r>
            <a:r>
              <a:rPr kumimoji="1" lang="en-US" altLang="zh-CN" dirty="0" err="1">
                <a:latin typeface="Consolas" panose="020B0609020204030204" pitchFamily="49" charset="0"/>
              </a:rPr>
              <a:t>al,or</a:t>
            </a:r>
            <a:r>
              <a:rPr kumimoji="1" lang="en-US" altLang="zh-CN" dirty="0">
                <a:latin typeface="Consolas" panose="020B0609020204030204" pitchFamily="49" charset="0"/>
              </a:rPr>
              <a:t> %bl,..</a:t>
            </a:r>
            <a:r>
              <a:rPr kumimoji="1" lang="en-US" altLang="zh-CN" dirty="0" err="1">
                <a:latin typeface="Consolas" panose="020B0609020204030204" pitchFamily="49" charset="0"/>
              </a:rPr>
              <a:t>etc</a:t>
            </a:r>
            <a:r>
              <a:rPr kumimoji="1" lang="en-US" altLang="zh-CN" dirty="0">
                <a:latin typeface="Consolas" panose="020B0609020204030204" pitchFamily="49" charset="0"/>
              </a:rPr>
              <a:t>)</a:t>
            </a:r>
            <a:r>
              <a:rPr kumimoji="1" lang="en-US" altLang="zh-CN" dirty="0"/>
              <a:t> to 1 or 0 based on condition given by suffix </a:t>
            </a:r>
            <a:r>
              <a:rPr kumimoji="1" lang="en-US" altLang="zh-CN" dirty="0">
                <a:solidFill>
                  <a:srgbClr val="FF0000"/>
                </a:solidFill>
              </a:rPr>
              <a:t>X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Truthfulness of condition depends on status flags in RFLAGS.</a:t>
            </a:r>
          </a:p>
          <a:p>
            <a:pPr lvl="1"/>
            <a:r>
              <a:rPr kumimoji="1" lang="en-US" altLang="zh-CN" dirty="0" err="1"/>
              <a:t>dst</a:t>
            </a:r>
            <a:r>
              <a:rPr kumimoji="1" lang="en-US" altLang="zh-CN" dirty="0"/>
              <a:t> is a 1-byte register (e.g. %al).</a:t>
            </a:r>
          </a:p>
          <a:p>
            <a:pPr lvl="2"/>
            <a:r>
              <a:rPr kumimoji="1" lang="en-US" altLang="zh-CN" dirty="0"/>
              <a:t>The upper 56 bits of the 64-bit </a:t>
            </a:r>
            <a:r>
              <a:rPr kumimoji="1" lang="en-US" altLang="zh-CN" dirty="0" err="1"/>
              <a:t>dst</a:t>
            </a:r>
            <a:r>
              <a:rPr kumimoji="1" lang="en-US" altLang="zh-CN" dirty="0"/>
              <a:t> register remain unchanged.</a:t>
            </a:r>
          </a:p>
          <a:p>
            <a:pPr lvl="2"/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46039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800" dirty="0" err="1">
                <a:latin typeface="Consolas"/>
                <a:cs typeface="Consolas"/>
              </a:rPr>
              <a:t>setX</a:t>
            </a:r>
            <a:r>
              <a:rPr kumimoji="1" lang="en-US" altLang="zh-CN" sz="4800" dirty="0">
                <a:latin typeface="Consolas"/>
                <a:cs typeface="Consolas"/>
              </a:rPr>
              <a:t> </a:t>
            </a:r>
            <a:r>
              <a:rPr kumimoji="1" lang="en-US" altLang="zh-CN" sz="4800" b="0" dirty="0" err="1">
                <a:latin typeface="Consolas"/>
                <a:cs typeface="Consolas"/>
              </a:rPr>
              <a:t>dst</a:t>
            </a:r>
            <a:endParaRPr kumimoji="1" lang="en-US" altLang="zh-CN" sz="4800" b="0" dirty="0">
              <a:latin typeface="Consolas"/>
              <a:cs typeface="Consolas"/>
            </a:endParaRPr>
          </a:p>
        </p:txBody>
      </p:sp>
      <p:graphicFrame>
        <p:nvGraphicFramePr>
          <p:cNvPr id="6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57743"/>
              </p:ext>
            </p:extLst>
          </p:nvPr>
        </p:nvGraphicFramePr>
        <p:xfrm>
          <a:off x="457200" y="2097409"/>
          <a:ext cx="8229600" cy="3911600"/>
        </p:xfrm>
        <a:graphic>
          <a:graphicData uri="http://schemas.openxmlformats.org/drawingml/2006/table">
            <a:tbl>
              <a:tblPr/>
              <a:tblGrid>
                <a:gridCol w="1583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3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setX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Bold" charset="0"/>
                        <a:ea typeface="ヒラギノ角ゴ ProN W6" charset="0"/>
                        <a:cs typeface="ヒラギノ角ゴ ProN W6" charset="0"/>
                        <a:sym typeface="Calibri Bold" charset="0"/>
                      </a:endParaRP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Condition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Description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Equal / Zero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setne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Not Equal / Not Zero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Negative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setns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~SF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Nonnegative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setg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~(SF^OF)&amp;~ZF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(Signed) 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setge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or Equal (Signed) 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setl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(Signed) 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setle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(SF^OF)|ZF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or Equal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seta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~CF&amp;~ZF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Above (unsigned)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setb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CF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Below (unsigned)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20835" y="1265069"/>
            <a:ext cx="14510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err="1">
                <a:latin typeface="Consolas"/>
                <a:cs typeface="Consolas"/>
              </a:rPr>
              <a:t>cmpq</a:t>
            </a:r>
            <a:r>
              <a:rPr kumimoji="1" lang="en-US" altLang="zh-CN">
                <a:latin typeface="Consolas"/>
                <a:cs typeface="Consolas"/>
              </a:rPr>
              <a:t> a, b </a:t>
            </a:r>
          </a:p>
          <a:p>
            <a:r>
              <a:rPr kumimoji="1" lang="en-US" altLang="zh-CN" b="1" err="1">
                <a:latin typeface="Consolas"/>
                <a:cs typeface="Consolas"/>
              </a:rPr>
              <a:t>set</a:t>
            </a:r>
            <a:r>
              <a:rPr kumimoji="1" lang="en-US" altLang="zh-CN" b="1" i="1" err="1">
                <a:solidFill>
                  <a:srgbClr val="0000FF"/>
                </a:solidFill>
                <a:latin typeface="Consolas"/>
                <a:cs typeface="Consolas"/>
              </a:rPr>
              <a:t>X</a:t>
            </a:r>
            <a:r>
              <a:rPr kumimoji="1" lang="en-US" altLang="zh-CN">
                <a:latin typeface="Consolas"/>
                <a:cs typeface="Consolas"/>
              </a:rPr>
              <a:t> </a:t>
            </a:r>
            <a:r>
              <a:rPr kumimoji="1" lang="en-US" altLang="zh-CN" err="1">
                <a:latin typeface="Consolas"/>
                <a:cs typeface="Consolas"/>
              </a:rPr>
              <a:t>dst</a:t>
            </a:r>
            <a:r>
              <a:rPr kumimoji="1" lang="en-US" altLang="zh-CN">
                <a:latin typeface="Consolas"/>
                <a:cs typeface="Consolas"/>
              </a:rPr>
              <a:t> 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7801991" y="3644964"/>
            <a:ext cx="925826" cy="594867"/>
          </a:xfrm>
          <a:prstGeom prst="wedgeRoundRectCallout">
            <a:avLst>
              <a:gd name="adj1" fmla="val -62743"/>
              <a:gd name="adj2" fmla="val 156380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b &lt; a</a:t>
            </a:r>
          </a:p>
        </p:txBody>
      </p:sp>
      <p:sp>
        <p:nvSpPr>
          <p:cNvPr id="7" name="Rounded Rectangular Callout 3">
            <a:extLst>
              <a:ext uri="{FF2B5EF4-FFF2-40B4-BE49-F238E27FC236}">
                <a16:creationId xmlns:a16="http://schemas.microsoft.com/office/drawing/2014/main" id="{EC5FF41B-6565-4E41-82FF-EC7D86CDFC9D}"/>
              </a:ext>
            </a:extLst>
          </p:cNvPr>
          <p:cNvSpPr/>
          <p:nvPr/>
        </p:nvSpPr>
        <p:spPr>
          <a:xfrm>
            <a:off x="3273986" y="1370632"/>
            <a:ext cx="2068825" cy="594867"/>
          </a:xfrm>
          <a:prstGeom prst="wedgeRoundRectCallout">
            <a:avLst>
              <a:gd name="adj1" fmla="val -44051"/>
              <a:gd name="adj2" fmla="val 515088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0000"/>
                </a:solidFill>
              </a:rPr>
              <a:t>SF</a:t>
            </a:r>
            <a:r>
              <a:rPr lang="en-US" dirty="0" err="1">
                <a:solidFill>
                  <a:srgbClr val="000000"/>
                </a:solidFill>
              </a:rPr>
              <a:t>:true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b="1" dirty="0" err="1">
                <a:solidFill>
                  <a:srgbClr val="000000"/>
                </a:solidFill>
              </a:rPr>
              <a:t>OF</a:t>
            </a:r>
            <a:r>
              <a:rPr lang="en-US" dirty="0" err="1">
                <a:solidFill>
                  <a:srgbClr val="000000"/>
                </a:solidFill>
              </a:rPr>
              <a:t>:false</a:t>
            </a:r>
            <a:endParaRPr lang="en-US" dirty="0">
              <a:solidFill>
                <a:srgbClr val="000000"/>
              </a:solidFill>
            </a:endParaRPr>
          </a:p>
          <a:p>
            <a:pPr algn="ctr"/>
            <a:r>
              <a:rPr lang="en-US" b="1" dirty="0" err="1">
                <a:solidFill>
                  <a:srgbClr val="000000"/>
                </a:solidFill>
              </a:rPr>
              <a:t>SF</a:t>
            </a:r>
            <a:r>
              <a:rPr lang="en-US" dirty="0" err="1">
                <a:solidFill>
                  <a:srgbClr val="000000"/>
                </a:solidFill>
              </a:rPr>
              <a:t>:false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b="1" dirty="0" err="1">
                <a:solidFill>
                  <a:srgbClr val="000000"/>
                </a:solidFill>
              </a:rPr>
              <a:t>OF</a:t>
            </a:r>
            <a:r>
              <a:rPr lang="en-US" dirty="0" err="1">
                <a:solidFill>
                  <a:srgbClr val="000000"/>
                </a:solidFill>
              </a:rPr>
              <a:t>:true</a:t>
            </a: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21162B-1CE2-47C4-9879-386C75D59FA0}"/>
              </a:ext>
            </a:extLst>
          </p:cNvPr>
          <p:cNvGrpSpPr/>
          <p:nvPr/>
        </p:nvGrpSpPr>
        <p:grpSpPr>
          <a:xfrm>
            <a:off x="5159934" y="1597432"/>
            <a:ext cx="2170963" cy="338554"/>
            <a:chOff x="5798912" y="1336358"/>
            <a:chExt cx="2170963" cy="33855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5D12650-483C-43B6-85D9-CE3D2EB6B9E1}"/>
                </a:ext>
              </a:extLst>
            </p:cNvPr>
            <p:cNvSpPr txBox="1"/>
            <p:nvPr/>
          </p:nvSpPr>
          <p:spPr>
            <a:xfrm>
              <a:off x="6102056" y="1336358"/>
              <a:ext cx="18678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cmpq</a:t>
              </a:r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 %</a:t>
              </a:r>
              <a:r>
                <a:rPr lang="en-US" sz="1600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eax</a:t>
              </a:r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, %</a:t>
              </a:r>
              <a:r>
                <a:rPr lang="en-US" sz="1600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ebx</a:t>
              </a:r>
              <a:endParaRPr lang="en-US" sz="160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86B9264-773E-4AE6-BEBC-35DA529F6A07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5798912" y="1505635"/>
              <a:ext cx="303144" cy="247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F00E1FC-2942-4223-AD4A-1CD57ECA4285}"/>
              </a:ext>
            </a:extLst>
          </p:cNvPr>
          <p:cNvSpPr/>
          <p:nvPr/>
        </p:nvSpPr>
        <p:spPr>
          <a:xfrm>
            <a:off x="457200" y="4579717"/>
            <a:ext cx="8229600" cy="392596"/>
          </a:xfrm>
          <a:prstGeom prst="rect">
            <a:avLst/>
          </a:prstGeom>
          <a:solidFill>
            <a:srgbClr val="FFFF00">
              <a:alpha val="20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5">
                <a:extLst>
                  <a:ext uri="{FF2B5EF4-FFF2-40B4-BE49-F238E27FC236}">
                    <a16:creationId xmlns:a16="http://schemas.microsoft.com/office/drawing/2014/main" id="{D08E5547-F854-D008-5C53-50E25CF3EB80}"/>
                  </a:ext>
                </a:extLst>
              </p14:cNvPr>
              <p14:cNvContentPartPr/>
              <p14:nvPr/>
            </p14:nvContentPartPr>
            <p14:xfrm>
              <a:off x="2334639" y="4931194"/>
              <a:ext cx="44280" cy="28080"/>
            </p14:xfrm>
          </p:contentPart>
        </mc:Choice>
        <mc:Fallback xmlns="">
          <p:pic>
            <p:nvPicPr>
              <p:cNvPr id="15" name="Ink 15">
                <a:extLst>
                  <a:ext uri="{FF2B5EF4-FFF2-40B4-BE49-F238E27FC236}">
                    <a16:creationId xmlns:a16="http://schemas.microsoft.com/office/drawing/2014/main" id="{D08E5547-F854-D008-5C53-50E25CF3EB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3951" y="4910408"/>
                <a:ext cx="85293" cy="692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B9C1E52-A2EC-0791-9FAC-38D34B3B9185}"/>
                  </a:ext>
                </a:extLst>
              </p14:cNvPr>
              <p14:cNvContentPartPr/>
              <p14:nvPr/>
            </p14:nvContentPartPr>
            <p14:xfrm>
              <a:off x="2816319" y="4942354"/>
              <a:ext cx="16920" cy="5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B9C1E52-A2EC-0791-9FAC-38D34B3B91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95353" y="4923041"/>
                <a:ext cx="58484" cy="44047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E6D4A3BF-D210-5FFA-7E70-96ED5F86C089}"/>
              </a:ext>
            </a:extLst>
          </p:cNvPr>
          <p:cNvSpPr/>
          <p:nvPr/>
        </p:nvSpPr>
        <p:spPr>
          <a:xfrm>
            <a:off x="6081311" y="1059724"/>
            <a:ext cx="484742" cy="420446"/>
          </a:xfrm>
          <a:prstGeom prst="wedgeRoundRectCallout">
            <a:avLst>
              <a:gd name="adj1" fmla="val -31644"/>
              <a:gd name="adj2" fmla="val 88703"/>
              <a:gd name="adj3" fmla="val 16667"/>
            </a:avLst>
          </a:prstGeom>
          <a:solidFill>
            <a:srgbClr val="FCD5B5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0x1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DBC85BD3-61B7-73D6-B6C1-D8DDF67A4F16}"/>
              </a:ext>
            </a:extLst>
          </p:cNvPr>
          <p:cNvSpPr/>
          <p:nvPr/>
        </p:nvSpPr>
        <p:spPr>
          <a:xfrm>
            <a:off x="6806587" y="1059724"/>
            <a:ext cx="1235725" cy="420446"/>
          </a:xfrm>
          <a:prstGeom prst="wedgeRoundRectCallout">
            <a:avLst>
              <a:gd name="adj1" fmla="val -38776"/>
              <a:gd name="adj2" fmla="val 93944"/>
              <a:gd name="adj3" fmla="val 16667"/>
            </a:avLst>
          </a:prstGeom>
          <a:solidFill>
            <a:srgbClr val="FCD5B5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0x80000000</a:t>
            </a:r>
          </a:p>
        </p:txBody>
      </p:sp>
    </p:spTree>
    <p:extLst>
      <p:ext uri="{BB962C8B-B14F-4D97-AF65-F5344CB8AC3E}">
        <p14:creationId xmlns:p14="http://schemas.microsoft.com/office/powerpoint/2010/main" val="416649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Example</a:t>
            </a:r>
            <a:endParaRPr kumimoji="1" lang="zh-CN" altLang="en-US"/>
          </a:p>
        </p:txBody>
      </p:sp>
      <p:sp>
        <p:nvSpPr>
          <p:cNvPr id="5" name="Rectangle 2"/>
          <p:cNvSpPr/>
          <p:nvPr/>
        </p:nvSpPr>
        <p:spPr>
          <a:xfrm>
            <a:off x="147301" y="1615933"/>
            <a:ext cx="40479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altLang="zh-CN" b="1" err="1">
                <a:latin typeface="Courier New" pitchFamily="49" charset="0"/>
                <a:cs typeface="Courier New" pitchFamily="49" charset="0"/>
                <a:sym typeface="Courier New Bold" charset="0"/>
              </a:rPr>
              <a:t>gt</a:t>
            </a:r>
            <a:r>
              <a:rPr lang="en-US" altLang="zh-CN" b="1">
                <a:latin typeface="Courier New" pitchFamily="49" charset="0"/>
                <a:cs typeface="Courier New" pitchFamily="49" charset="0"/>
                <a:sym typeface="Courier New Bold" charset="0"/>
              </a:rPr>
              <a:t> (long x, long y)</a:t>
            </a:r>
          </a:p>
          <a:p>
            <a:r>
              <a:rPr lang="en-US" altLang="zh-CN" b="1"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r>
              <a:rPr lang="en-US" altLang="zh-CN" b="1">
                <a:latin typeface="Courier New" pitchFamily="49" charset="0"/>
                <a:cs typeface="Courier New" pitchFamily="49" charset="0"/>
                <a:sym typeface="Courier New Bold" charset="0"/>
              </a:rPr>
              <a:t>  return x &gt; y;</a:t>
            </a:r>
          </a:p>
          <a:p>
            <a:r>
              <a:rPr lang="en-US" altLang="zh-CN" b="1"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C753EC-79F0-4489-8B0F-BD2A753E565F}"/>
              </a:ext>
            </a:extLst>
          </p:cNvPr>
          <p:cNvGrpSpPr/>
          <p:nvPr/>
        </p:nvGrpSpPr>
        <p:grpSpPr>
          <a:xfrm>
            <a:off x="241743" y="3122340"/>
            <a:ext cx="5329117" cy="2046299"/>
            <a:chOff x="241743" y="3122340"/>
            <a:chExt cx="5329117" cy="2046299"/>
          </a:xfrm>
        </p:grpSpPr>
        <p:sp>
          <p:nvSpPr>
            <p:cNvPr id="6" name="右箭头 5"/>
            <p:cNvSpPr/>
            <p:nvPr/>
          </p:nvSpPr>
          <p:spPr>
            <a:xfrm rot="5400000">
              <a:off x="1128374" y="3239230"/>
              <a:ext cx="622806" cy="389025"/>
            </a:xfrm>
            <a:prstGeom prst="rightArrow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241743" y="4245309"/>
              <a:ext cx="5329117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tabLst>
                  <a:tab pos="514350" algn="l"/>
                  <a:tab pos="2801938" algn="l"/>
                  <a:tab pos="3086100" algn="l"/>
                  <a:tab pos="3086100" algn="l"/>
                  <a:tab pos="3086100" algn="l"/>
                  <a:tab pos="3086100" algn="l"/>
                </a:tabLst>
              </a:pPr>
              <a:r>
                <a:rPr lang="cs-CZ" altLang="zh-CN" b="1" dirty="0" err="1">
                  <a:latin typeface="Consolas"/>
                  <a:cs typeface="Consolas"/>
                  <a:sym typeface="Courier New Bold" charset="0"/>
                </a:rPr>
                <a:t>cmpq</a:t>
              </a:r>
              <a:r>
                <a:rPr lang="cs-CZ" altLang="zh-CN" b="1" dirty="0">
                  <a:latin typeface="Consolas"/>
                  <a:cs typeface="Consolas"/>
                  <a:sym typeface="Courier New Bold" charset="0"/>
                </a:rPr>
                <a:t>   %</a:t>
              </a:r>
              <a:r>
                <a:rPr lang="cs-CZ" altLang="zh-CN" b="1" dirty="0" err="1">
                  <a:latin typeface="Consolas"/>
                  <a:cs typeface="Consolas"/>
                  <a:sym typeface="Courier New Bold" charset="0"/>
                </a:rPr>
                <a:t>rsi</a:t>
              </a:r>
              <a:r>
                <a:rPr lang="cs-CZ" altLang="zh-CN" b="1" dirty="0">
                  <a:latin typeface="Consolas"/>
                  <a:cs typeface="Consolas"/>
                  <a:sym typeface="Courier New Bold" charset="0"/>
                </a:rPr>
                <a:t>, %rdi   </a:t>
              </a:r>
              <a:r>
                <a:rPr lang="cs-CZ" altLang="zh-CN" i="1" dirty="0">
                  <a:latin typeface="Consolas"/>
                  <a:cs typeface="Consolas"/>
                  <a:sym typeface="Courier New Bold" charset="0"/>
                </a:rPr>
                <a:t># </a:t>
              </a:r>
              <a:r>
                <a:rPr lang="cs-CZ" altLang="zh-CN" i="1" dirty="0" err="1">
                  <a:latin typeface="Consolas"/>
                  <a:cs typeface="Consolas"/>
                  <a:sym typeface="Courier New Bold" charset="0"/>
                </a:rPr>
                <a:t>cmpq</a:t>
              </a:r>
              <a:r>
                <a:rPr lang="cs-CZ" altLang="zh-CN" i="1" dirty="0">
                  <a:latin typeface="Consolas"/>
                  <a:cs typeface="Consolas"/>
                  <a:sym typeface="Courier New Bold" charset="0"/>
                </a:rPr>
                <a:t> y, x</a:t>
              </a:r>
            </a:p>
            <a:p>
              <a:pPr>
                <a:tabLst>
                  <a:tab pos="514350" algn="l"/>
                  <a:tab pos="2801938" algn="l"/>
                  <a:tab pos="3086100" algn="l"/>
                  <a:tab pos="3086100" algn="l"/>
                  <a:tab pos="3086100" algn="l"/>
                  <a:tab pos="3086100" algn="l"/>
                </a:tabLst>
              </a:pPr>
              <a:r>
                <a:rPr lang="cs-CZ" altLang="zh-CN" b="1" dirty="0" err="1">
                  <a:latin typeface="Consolas"/>
                  <a:cs typeface="Consolas"/>
                  <a:sym typeface="Courier New Bold" charset="0"/>
                </a:rPr>
                <a:t>setg</a:t>
              </a:r>
              <a:r>
                <a:rPr lang="cs-CZ" altLang="zh-CN" b="1" dirty="0">
                  <a:latin typeface="Consolas"/>
                  <a:cs typeface="Consolas"/>
                  <a:sym typeface="Courier New Bold" charset="0"/>
                </a:rPr>
                <a:t>   %al          </a:t>
              </a:r>
              <a:r>
                <a:rPr lang="cs-CZ" altLang="zh-CN" i="1" dirty="0">
                  <a:latin typeface="Consolas"/>
                  <a:cs typeface="Consolas"/>
                  <a:sym typeface="Courier New Bold" charset="0"/>
                </a:rPr>
                <a:t># set </a:t>
              </a:r>
              <a:r>
                <a:rPr lang="cs-CZ" altLang="zh-CN" i="1" dirty="0" err="1">
                  <a:latin typeface="Consolas"/>
                  <a:cs typeface="Consolas"/>
                  <a:sym typeface="Courier New Bold" charset="0"/>
                </a:rPr>
                <a:t>when</a:t>
              </a:r>
              <a:r>
                <a:rPr lang="cs-CZ" altLang="zh-CN" i="1" dirty="0">
                  <a:latin typeface="Consolas"/>
                  <a:cs typeface="Consolas"/>
                  <a:sym typeface="Courier New Bold" charset="0"/>
                </a:rPr>
                <a:t> x &gt; y</a:t>
              </a:r>
            </a:p>
            <a:p>
              <a:pPr>
                <a:tabLst>
                  <a:tab pos="514350" algn="l"/>
                  <a:tab pos="2801938" algn="l"/>
                  <a:tab pos="3086100" algn="l"/>
                  <a:tab pos="3086100" algn="l"/>
                  <a:tab pos="3086100" algn="l"/>
                  <a:tab pos="3086100" algn="l"/>
                </a:tabLst>
              </a:pPr>
              <a:r>
                <a:rPr lang="cs-CZ" altLang="zh-CN" b="1" dirty="0" err="1">
                  <a:latin typeface="Consolas"/>
                  <a:cs typeface="Consolas"/>
                  <a:sym typeface="Courier New Bold" charset="0"/>
                </a:rPr>
                <a:t>movzbq</a:t>
              </a:r>
              <a:r>
                <a:rPr lang="cs-CZ" altLang="zh-CN" b="1" dirty="0">
                  <a:latin typeface="Consolas"/>
                  <a:cs typeface="Consolas"/>
                  <a:sym typeface="Courier New Bold" charset="0"/>
                </a:rPr>
                <a:t> %al, %</a:t>
              </a:r>
              <a:r>
                <a:rPr lang="cs-CZ" altLang="zh-CN" b="1" dirty="0" err="1">
                  <a:latin typeface="Consolas"/>
                  <a:cs typeface="Consolas"/>
                  <a:sym typeface="Courier New Bold" charset="0"/>
                </a:rPr>
                <a:t>rax</a:t>
              </a:r>
              <a:r>
                <a:rPr lang="cs-CZ" altLang="zh-CN" b="1" dirty="0">
                  <a:latin typeface="Consolas"/>
                  <a:cs typeface="Consolas"/>
                  <a:sym typeface="Courier New Bold" charset="0"/>
                </a:rPr>
                <a:t>    </a:t>
              </a:r>
              <a:r>
                <a:rPr lang="cs-CZ" altLang="zh-CN" i="1" dirty="0">
                  <a:latin typeface="Consolas"/>
                  <a:cs typeface="Consolas"/>
                  <a:sym typeface="Courier New Bold" charset="0"/>
                </a:rPr>
                <a:t># </a:t>
              </a:r>
              <a:r>
                <a:rPr lang="cs-CZ" altLang="zh-CN" i="1" dirty="0" err="1">
                  <a:latin typeface="Consolas"/>
                  <a:cs typeface="Consolas"/>
                  <a:sym typeface="Courier New Bold" charset="0"/>
                </a:rPr>
                <a:t>zero</a:t>
              </a:r>
              <a:r>
                <a:rPr lang="cs-CZ" altLang="zh-CN" i="1" dirty="0">
                  <a:latin typeface="Consolas"/>
                  <a:cs typeface="Consolas"/>
                  <a:sym typeface="Courier New Bold" charset="0"/>
                </a:rPr>
                <a:t> </a:t>
              </a:r>
              <a:r>
                <a:rPr lang="cs-CZ" altLang="zh-CN" i="1" dirty="0" err="1">
                  <a:latin typeface="Consolas"/>
                  <a:cs typeface="Consolas"/>
                  <a:sym typeface="Courier New Bold" charset="0"/>
                </a:rPr>
                <a:t>extend</a:t>
              </a:r>
              <a:r>
                <a:rPr lang="cs-CZ" altLang="zh-CN" i="1" dirty="0">
                  <a:latin typeface="Consolas"/>
                  <a:cs typeface="Consolas"/>
                  <a:sym typeface="Courier New Bold" charset="0"/>
                </a:rPr>
                <a:t> %</a:t>
              </a:r>
              <a:r>
                <a:rPr lang="cs-CZ" altLang="zh-CN" i="1" dirty="0" err="1">
                  <a:latin typeface="Consolas"/>
                  <a:cs typeface="Consolas"/>
                  <a:sym typeface="Courier New Bold" charset="0"/>
                </a:rPr>
                <a:t>rax</a:t>
              </a:r>
              <a:endParaRPr lang="cs-CZ" altLang="zh-CN" i="1" dirty="0">
                <a:latin typeface="Consolas"/>
                <a:cs typeface="Consolas"/>
                <a:sym typeface="Courier New Bold" charset="0"/>
              </a:endParaRPr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943947"/>
              </p:ext>
            </p:extLst>
          </p:nvPr>
        </p:nvGraphicFramePr>
        <p:xfrm>
          <a:off x="4567258" y="1930078"/>
          <a:ext cx="3352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F443A85F-8384-4935-9A2E-6878403231DE}"/>
              </a:ext>
            </a:extLst>
          </p:cNvPr>
          <p:cNvGrpSpPr/>
          <p:nvPr/>
        </p:nvGrpSpPr>
        <p:grpSpPr>
          <a:xfrm>
            <a:off x="1133061" y="3576835"/>
            <a:ext cx="4721164" cy="1272956"/>
            <a:chOff x="1133061" y="3576835"/>
            <a:chExt cx="4721164" cy="127295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7A00976-E516-4BD3-B4B0-895CD1554618}"/>
                </a:ext>
              </a:extLst>
            </p:cNvPr>
            <p:cNvSpPr/>
            <p:nvPr/>
          </p:nvSpPr>
          <p:spPr>
            <a:xfrm>
              <a:off x="1133061" y="4551617"/>
              <a:ext cx="561561" cy="298174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FC695EC-D799-4F0A-9B35-8E2751FC3347}"/>
                </a:ext>
              </a:extLst>
            </p:cNvPr>
            <p:cNvCxnSpPr/>
            <p:nvPr/>
          </p:nvCxnSpPr>
          <p:spPr>
            <a:xfrm flipH="1">
              <a:off x="1739348" y="3946167"/>
              <a:ext cx="601317" cy="6907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ADD7C2C-6B33-4B91-AA5B-3720199B2134}"/>
                </a:ext>
              </a:extLst>
            </p:cNvPr>
            <p:cNvSpPr txBox="1"/>
            <p:nvPr/>
          </p:nvSpPr>
          <p:spPr>
            <a:xfrm>
              <a:off x="2195851" y="3576835"/>
              <a:ext cx="3658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accent1">
                      <a:lumMod val="75000"/>
                    </a:schemeClr>
                  </a:solidFill>
                </a:rPr>
                <a:t>Least significant byte of %</a:t>
              </a:r>
              <a:r>
                <a:rPr lang="en-US" err="1">
                  <a:solidFill>
                    <a:schemeClr val="accent1">
                      <a:lumMod val="75000"/>
                    </a:schemeClr>
                  </a:solidFill>
                </a:rPr>
                <a:t>rax</a:t>
              </a:r>
              <a:r>
                <a:rPr lang="en-US">
                  <a:solidFill>
                    <a:schemeClr val="accent1">
                      <a:lumMod val="75000"/>
                    </a:schemeClr>
                  </a:solidFill>
                </a:rPr>
                <a:t> register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AF6EF57-17C1-6EDB-D7D1-FFD38F64E0D7}"/>
                  </a:ext>
                </a:extLst>
              </p14:cNvPr>
              <p14:cNvContentPartPr/>
              <p14:nvPr/>
            </p14:nvContentPartPr>
            <p14:xfrm>
              <a:off x="843879" y="5500714"/>
              <a:ext cx="5760" cy="11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AF6EF57-17C1-6EDB-D7D1-FFD38F64E0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8399" y="5485718"/>
                <a:ext cx="36360" cy="408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241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95583" y="4816909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676252" y="121294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setg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  %al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76252" y="83950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movzbq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%al, 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76252" y="46871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76252" y="158598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cmpq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 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rsi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80622" y="301061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84991" y="3395489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92572" y="3761549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92572" y="412912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92572" y="449762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92187" y="446368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676252" y="265759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0xffffffffffffffff</a:t>
            </a:r>
            <a:endParaRPr lang="zh-CN" altLang="en-US" sz="1100">
              <a:latin typeface="Consolas" panose="020B0609020204030204" pitchFamily="49" charset="0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617870" y="180313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827515" y="1636864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1671441" y="2308039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676154" y="1957300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6285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25161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251617" y="42065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251617" y="383139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251617" y="34552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25161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26285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26450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6887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25834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28156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839168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95583" y="4816909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676252" y="121294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setg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  %al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76252" y="83950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movzbq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%al, 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76252" y="46871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76252" y="158598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cmpq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 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rsi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80622" y="301061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84991" y="3395489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92572" y="3761549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92572" y="412912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92572" y="449762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92187" y="446368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676252" y="265759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0xffffffffffffffff</a:t>
            </a:r>
            <a:endParaRPr lang="zh-CN" altLang="en-US">
              <a:latin typeface="Consolas" panose="020B0609020204030204" pitchFamily="49" charset="0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617870" y="1391059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827515" y="1224791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1671441" y="2308039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676154" y="1957300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6285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25161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251617" y="42065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251617" y="383139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251617" y="34552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25161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26285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26450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6887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25834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28156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srgbClr val="FF0000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srgbClr val="FF0000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srgbClr val="FF0000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srgbClr val="FF0000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graphicFrame>
        <p:nvGraphicFramePr>
          <p:cNvPr id="60" name="表格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025117"/>
              </p:ext>
            </p:extLst>
          </p:nvPr>
        </p:nvGraphicFramePr>
        <p:xfrm>
          <a:off x="783789" y="5640140"/>
          <a:ext cx="4022043" cy="355600"/>
        </p:xfrm>
        <a:graphic>
          <a:graphicData uri="http://schemas.openxmlformats.org/drawingml/2006/table">
            <a:tbl>
              <a:tblPr/>
              <a:tblGrid>
                <a:gridCol w="1425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setg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~(SF^OF)&amp;~ZF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57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95583" y="4816909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676252" y="121294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setg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  %al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76252" y="83950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movzbq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%al, 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76252" y="46871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76252" y="158598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cmpq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 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rsi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80622" y="301061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84991" y="3395489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92572" y="3761549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92572" y="412912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92572" y="449762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92187" y="446368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676252" y="265759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8129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prstClr val="black"/>
                </a:solidFill>
                <a:latin typeface="Consolas" panose="020B0609020204030204" pitchFamily="49" charset="0"/>
                <a:cs typeface="Arial"/>
              </a:rPr>
              <a:t>0xfffffffffffffff</a:t>
            </a:r>
            <a:r>
              <a:rPr lang="en-US" altLang="zh-CN" sz="1100" b="1">
                <a:solidFill>
                  <a:srgbClr val="FF0000"/>
                </a:solidFill>
                <a:latin typeface="Consolas" panose="020B0609020204030204" pitchFamily="49" charset="0"/>
                <a:cs typeface="Arial"/>
              </a:rPr>
              <a:t>01</a:t>
            </a:r>
            <a:endParaRPr lang="zh-CN" altLang="en-US" sz="1100" b="1">
              <a:solidFill>
                <a:srgbClr val="FF0000"/>
              </a:solidFill>
              <a:latin typeface="Consolas" panose="020B0609020204030204" pitchFamily="49" charset="0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617870" y="107143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827515" y="905164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1671441" y="2308039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676154" y="1957300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6285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25161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251617" y="42065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251617" y="383139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251617" y="34552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25161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26285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26450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6887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25834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28156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894253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95583" y="4816909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676252" y="121294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setg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  %al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76252" y="83950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movzbq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%al, 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rax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76252" y="46871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76252" y="158598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err="1">
                <a:solidFill>
                  <a:prstClr val="black"/>
                </a:solidFill>
                <a:latin typeface="Arial"/>
                <a:cs typeface="Arial"/>
              </a:rPr>
              <a:t>cmpq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  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rsi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Arial"/>
                <a:cs typeface="Arial"/>
              </a:rPr>
              <a:t>rdi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80622" y="301061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84991" y="3395489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92572" y="3761549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92572" y="4129120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92572" y="4497621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92187" y="446368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676252" y="265759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4"/>
            <a:ext cx="1628823" cy="42994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rgbClr val="FF0000"/>
                </a:solidFill>
                <a:latin typeface="Consolas" panose="020B0609020204030204" pitchFamily="49" charset="0"/>
                <a:cs typeface="Arial"/>
              </a:rPr>
              <a:t>0x0000000000000001</a:t>
            </a:r>
            <a:endParaRPr lang="zh-CN" altLang="en-US" sz="1100">
              <a:solidFill>
                <a:srgbClr val="FF0000"/>
              </a:solidFill>
              <a:latin typeface="Consolas" panose="020B0609020204030204" pitchFamily="49" charset="0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3644458" y="64562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854103" y="479360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1671441" y="2308039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676154" y="1957300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6285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25161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251617" y="42065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251617" y="383139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251617" y="34552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25161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26285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26450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6887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25834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28156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450757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0D3EB-2F88-CEDD-0C48-05221D25B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905D-CA2B-36EE-4F6C-2B40AE3FB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F3C81-A479-730E-B37C-58172626B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2185988"/>
            <a:ext cx="8299174" cy="3740150"/>
          </a:xfrm>
        </p:spPr>
        <p:txBody>
          <a:bodyPr/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RFLAGS register and how arithmetic instructions set it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Special instructions that also set RFLAGS</a:t>
            </a:r>
          </a:p>
          <a:p>
            <a:pPr lvl="1"/>
            <a:r>
              <a:rPr lang="en-US" sz="2000" b="1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cmp</a:t>
            </a: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test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Instructions that read RFLAGS to set register values</a:t>
            </a:r>
          </a:p>
          <a:p>
            <a:pPr lvl="1"/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</a:t>
            </a:r>
          </a:p>
          <a:p>
            <a:r>
              <a:rPr lang="en-US" sz="2400" dirty="0"/>
              <a:t>Instructions that (read RFLAGs to) set %rip</a:t>
            </a:r>
          </a:p>
          <a:p>
            <a:pPr lvl="1"/>
            <a:r>
              <a:rPr lang="en-US" sz="2000" b="1" dirty="0" err="1">
                <a:latin typeface="Consolas" panose="020B0609020204030204" pitchFamily="49" charset="0"/>
              </a:rPr>
              <a:t>jmp</a:t>
            </a:r>
            <a:endParaRPr lang="en-US" sz="2000" b="1" dirty="0">
              <a:latin typeface="Consolas" panose="020B0609020204030204" pitchFamily="49" charset="0"/>
            </a:endParaRP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083B9-4616-A0B7-FABE-D576AE0BFCE4}"/>
              </a:ext>
            </a:extLst>
          </p:cNvPr>
          <p:cNvSpPr txBox="1"/>
          <p:nvPr/>
        </p:nvSpPr>
        <p:spPr>
          <a:xfrm>
            <a:off x="1378744" y="1188512"/>
            <a:ext cx="71151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200" dirty="0">
                <a:solidFill>
                  <a:srgbClr val="3366FF"/>
                </a:solidFill>
              </a:rPr>
              <a:t>How is non-linear control flow realized?</a:t>
            </a:r>
            <a:endParaRPr lang="en-US" sz="1400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2661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74638"/>
            <a:ext cx="8891752" cy="1143000"/>
          </a:xfrm>
        </p:spPr>
        <p:txBody>
          <a:bodyPr>
            <a:normAutofit/>
          </a:bodyPr>
          <a:lstStyle/>
          <a:p>
            <a:r>
              <a:rPr kumimoji="1" lang="en-US" altLang="zh-CN" sz="4400">
                <a:cs typeface="Arial"/>
              </a:rPr>
              <a:t>(Unconditional) jump instruction</a:t>
            </a:r>
            <a:endParaRPr kumimoji="1" lang="zh-CN" altLang="en-US" sz="4400">
              <a:cs typeface="Arial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b="1" err="1">
                <a:latin typeface="+mj-lt"/>
                <a:cs typeface="Consolas"/>
              </a:rPr>
              <a:t>jmp</a:t>
            </a:r>
            <a:r>
              <a:rPr kumimoji="1" lang="en-US" altLang="zh-CN" b="1">
                <a:latin typeface="+mj-lt"/>
                <a:cs typeface="Consolas"/>
              </a:rPr>
              <a:t> </a:t>
            </a:r>
            <a:r>
              <a:rPr kumimoji="1" lang="en-US" altLang="zh-CN">
                <a:latin typeface="+mj-lt"/>
                <a:cs typeface="Consolas"/>
              </a:rPr>
              <a:t>label</a:t>
            </a:r>
          </a:p>
          <a:p>
            <a:pPr lvl="1"/>
            <a:r>
              <a:rPr kumimoji="1" lang="en-US" altLang="zh-CN">
                <a:latin typeface="+mj-lt"/>
              </a:rPr>
              <a:t>Change %rip to the address specified by label</a:t>
            </a:r>
          </a:p>
          <a:p>
            <a:pPr lvl="1"/>
            <a:r>
              <a:rPr kumimoji="1" lang="en-US" altLang="zh-CN" err="1">
                <a:latin typeface="+mj-lt"/>
              </a:rPr>
              <a:t>jmp</a:t>
            </a:r>
            <a:r>
              <a:rPr kumimoji="1" lang="en-US" altLang="zh-CN">
                <a:latin typeface="+mj-lt"/>
              </a:rPr>
              <a:t> is like </a:t>
            </a:r>
            <a:r>
              <a:rPr kumimoji="1" lang="en-US" altLang="zh-CN" b="1" i="1" err="1">
                <a:latin typeface="+mj-lt"/>
              </a:rPr>
              <a:t>goto</a:t>
            </a:r>
            <a:endParaRPr kumimoji="1" lang="zh-CN" altLang="en-US" b="1" i="1">
              <a:latin typeface="+mj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77663" y="3700154"/>
            <a:ext cx="5211402" cy="1938992"/>
          </a:xfrm>
          <a:prstGeom prst="rect">
            <a:avLst/>
          </a:prstGeom>
          <a:solidFill>
            <a:srgbClr val="B9CDE5"/>
          </a:solidFill>
        </p:spPr>
        <p:txBody>
          <a:bodyPr wrap="square">
            <a:spAutoFit/>
          </a:bodyPr>
          <a:lstStyle/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2400" b="1">
                <a:latin typeface="Consolas"/>
                <a:cs typeface="Consolas"/>
                <a:sym typeface="Courier New Bold" charset="0"/>
              </a:rPr>
              <a:t>  </a:t>
            </a:r>
            <a:r>
              <a:rPr lang="cs-CZ" altLang="zh-CN" sz="2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cs-CZ" altLang="zh-CN" sz="2400" b="1">
                <a:latin typeface="Consolas"/>
                <a:cs typeface="Consolas"/>
                <a:sym typeface="Courier New Bold" charset="0"/>
              </a:rPr>
              <a:t> %</a:t>
            </a:r>
            <a:r>
              <a:rPr lang="cs-CZ" altLang="zh-CN" sz="2400" b="1" err="1">
                <a:latin typeface="Consolas"/>
                <a:cs typeface="Consolas"/>
                <a:sym typeface="Courier New Bold" charset="0"/>
              </a:rPr>
              <a:t>rsi</a:t>
            </a:r>
            <a:r>
              <a:rPr lang="cs-CZ" altLang="zh-CN" sz="2400" b="1">
                <a:latin typeface="Consolas"/>
                <a:cs typeface="Consolas"/>
                <a:sym typeface="Courier New Bold" charset="0"/>
              </a:rPr>
              <a:t>, %rdi   </a:t>
            </a:r>
          </a:p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2400" b="1">
                <a:latin typeface="Consolas"/>
                <a:cs typeface="Consolas"/>
                <a:sym typeface="Courier New Bold" charset="0"/>
              </a:rPr>
              <a:t>  </a:t>
            </a:r>
            <a:r>
              <a:rPr lang="cs-CZ" altLang="zh-CN" sz="2400" b="1" err="1">
                <a:latin typeface="Consolas"/>
                <a:cs typeface="Consolas"/>
                <a:sym typeface="Courier New Bold" charset="0"/>
              </a:rPr>
              <a:t>jmp</a:t>
            </a:r>
            <a:r>
              <a:rPr lang="cs-CZ" altLang="zh-CN" sz="2400" b="1">
                <a:latin typeface="Consolas"/>
                <a:cs typeface="Consolas"/>
                <a:sym typeface="Courier New Bold" charset="0"/>
              </a:rPr>
              <a:t>  .L1          </a:t>
            </a:r>
          </a:p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2400" b="1">
                <a:latin typeface="Consolas"/>
                <a:cs typeface="Consolas"/>
                <a:sym typeface="Courier New Bold" charset="0"/>
              </a:rPr>
              <a:t>  </a:t>
            </a:r>
            <a:r>
              <a:rPr lang="cs-CZ" altLang="zh-CN" sz="2400" b="1" err="1">
                <a:latin typeface="Consolas"/>
                <a:cs typeface="Consolas"/>
                <a:sym typeface="Courier New Bold" charset="0"/>
              </a:rPr>
              <a:t>movq</a:t>
            </a:r>
            <a:r>
              <a:rPr lang="cs-CZ" altLang="zh-CN" sz="2400" b="1">
                <a:latin typeface="Consolas"/>
                <a:cs typeface="Consolas"/>
                <a:sym typeface="Courier New Bold" charset="0"/>
              </a:rPr>
              <a:t> %rdi, %</a:t>
            </a:r>
            <a:r>
              <a:rPr lang="cs-CZ" altLang="zh-CN" sz="2400" b="1" err="1">
                <a:latin typeface="Consolas"/>
                <a:cs typeface="Consolas"/>
                <a:sym typeface="Courier New Bold" charset="0"/>
              </a:rPr>
              <a:t>eax</a:t>
            </a:r>
            <a:endParaRPr lang="cs-CZ" altLang="zh-CN" sz="2400" b="1">
              <a:latin typeface="Consolas"/>
              <a:cs typeface="Consolas"/>
              <a:sym typeface="Courier New Bold" charset="0"/>
            </a:endParaRPr>
          </a:p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2400" b="1">
                <a:latin typeface="Consolas"/>
                <a:cs typeface="Consolas"/>
                <a:sym typeface="Courier New Bold" charset="0"/>
              </a:rPr>
              <a:t>.L1 </a:t>
            </a:r>
          </a:p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2400" b="1">
                <a:latin typeface="Consolas"/>
                <a:cs typeface="Consolas"/>
                <a:sym typeface="Courier New Bold" charset="0"/>
              </a:rPr>
              <a:t>  </a:t>
            </a:r>
            <a:r>
              <a:rPr lang="cs-CZ" altLang="zh-CN" sz="2400" b="1" err="1">
                <a:latin typeface="Consolas"/>
                <a:cs typeface="Consolas"/>
                <a:sym typeface="Courier New Bold" charset="0"/>
              </a:rPr>
              <a:t>movq</a:t>
            </a:r>
            <a:r>
              <a:rPr lang="cs-CZ" altLang="zh-CN" sz="2400" b="1">
                <a:latin typeface="Consolas"/>
                <a:cs typeface="Consolas"/>
                <a:sym typeface="Courier New Bold" charset="0"/>
              </a:rPr>
              <a:t> %rdi, %</a:t>
            </a:r>
            <a:r>
              <a:rPr lang="cs-CZ" altLang="zh-CN" sz="2400" b="1" err="1">
                <a:latin typeface="Consolas"/>
                <a:cs typeface="Consolas"/>
                <a:sym typeface="Courier New Bold" charset="0"/>
              </a:rPr>
              <a:t>rbx</a:t>
            </a:r>
            <a:endParaRPr lang="cs-CZ" altLang="zh-CN" sz="2400" b="1">
              <a:latin typeface="Consolas"/>
              <a:cs typeface="Consolas"/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7800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32880" y="5230046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2413549" y="162607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altLang="zh-CN" sz="1600" b="1" err="1">
                <a:latin typeface="Consolas"/>
                <a:cs typeface="Consolas"/>
                <a:sym typeface="Courier New Bold" charset="0"/>
              </a:rPr>
              <a:t>jmp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.L1 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        </a:t>
            </a:r>
          </a:p>
        </p:txBody>
      </p:sp>
      <p:sp>
        <p:nvSpPr>
          <p:cNvPr id="8" name="矩形 7"/>
          <p:cNvSpPr/>
          <p:nvPr/>
        </p:nvSpPr>
        <p:spPr>
          <a:xfrm>
            <a:off x="2413549" y="125264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en-US" altLang="zh-CN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13549" y="8818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b="1" err="1">
                <a:latin typeface="Consolas"/>
                <a:cs typeface="Consolas"/>
                <a:sym typeface="Courier New Bold" charset="0"/>
              </a:rPr>
              <a:t>movq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%rdi, %</a:t>
            </a:r>
            <a:r>
              <a:rPr lang="cs-CZ" altLang="zh-CN" sz="1600" err="1">
                <a:latin typeface="Consolas"/>
                <a:cs typeface="Consolas"/>
                <a:sym typeface="Courier New Bold" charset="0"/>
              </a:rPr>
              <a:t>rbx</a:t>
            </a: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13549" y="199911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rsi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17919" y="342375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22288" y="3808626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29869" y="4174686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29869" y="4542257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429869" y="4910758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29484" y="4876822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2413549" y="3070728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4355167" y="2216269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564812" y="2050001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2408738" y="2721176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413451" y="2370437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00153" y="126859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88914" y="163489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988914" y="461972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88914" y="424453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988914" y="386840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988914" y="351090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000153" y="315409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001802" y="274430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006172" y="238211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995642" y="202655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018861" y="87513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474967" y="885956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.L1</a:t>
            </a:r>
            <a:endParaRPr lang="zh-CN" altLang="en-US" b="1" i="1"/>
          </a:p>
        </p:txBody>
      </p:sp>
      <p:sp>
        <p:nvSpPr>
          <p:cNvPr id="3" name="矩形 60">
            <a:extLst>
              <a:ext uri="{FF2B5EF4-FFF2-40B4-BE49-F238E27FC236}">
                <a16:creationId xmlns:a16="http://schemas.microsoft.com/office/drawing/2014/main" id="{B294D5C9-410D-41F2-84BC-5EB6CF25A38E}"/>
              </a:ext>
            </a:extLst>
          </p:cNvPr>
          <p:cNvSpPr/>
          <p:nvPr/>
        </p:nvSpPr>
        <p:spPr>
          <a:xfrm>
            <a:off x="2413450" y="521078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矩形 73">
            <a:extLst>
              <a:ext uri="{FF2B5EF4-FFF2-40B4-BE49-F238E27FC236}">
                <a16:creationId xmlns:a16="http://schemas.microsoft.com/office/drawing/2014/main" id="{0C76A0E2-BD67-4CC0-9358-222C9034EDFB}"/>
              </a:ext>
            </a:extLst>
          </p:cNvPr>
          <p:cNvSpPr/>
          <p:nvPr/>
        </p:nvSpPr>
        <p:spPr>
          <a:xfrm>
            <a:off x="1015973" y="521441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4600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33277" y="5221333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2413946" y="161736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altLang="zh-CN" sz="1600" b="1" err="1">
                <a:latin typeface="Consolas"/>
                <a:cs typeface="Consolas"/>
                <a:sym typeface="Courier New Bold" charset="0"/>
              </a:rPr>
              <a:t>jmp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.L1 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        </a:t>
            </a:r>
          </a:p>
        </p:txBody>
      </p:sp>
      <p:sp>
        <p:nvSpPr>
          <p:cNvPr id="8" name="矩形 7"/>
          <p:cNvSpPr/>
          <p:nvPr/>
        </p:nvSpPr>
        <p:spPr>
          <a:xfrm>
            <a:off x="2413946" y="12439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en-US" altLang="zh-CN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13946" y="87314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b="1" err="1">
                <a:latin typeface="Consolas"/>
                <a:cs typeface="Consolas"/>
                <a:sym typeface="Courier New Bold" charset="0"/>
              </a:rPr>
              <a:t>movq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%rdi, %</a:t>
            </a:r>
            <a:r>
              <a:rPr lang="cs-CZ" altLang="zh-CN" sz="1600" err="1">
                <a:latin typeface="Consolas"/>
                <a:cs typeface="Consolas"/>
                <a:sym typeface="Courier New Bold" charset="0"/>
              </a:rPr>
              <a:t>rbx</a:t>
            </a: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13946" y="199040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rsi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18316" y="341503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22685" y="379991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30266" y="416597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30266" y="453354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430266" y="490204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29881" y="486810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2413946" y="3062015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4355564" y="180778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565209" y="1641516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2409135" y="271246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413848" y="236172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00550" y="125988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89311" y="16261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989311" y="461101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89311" y="423582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989311" y="385969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989311" y="350218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000550" y="314538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002199" y="273559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006569" y="237340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996039" y="201784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019258" y="86642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430455" y="782952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.L1</a:t>
            </a:r>
            <a:endParaRPr lang="zh-CN" altLang="en-US" b="1" i="1"/>
          </a:p>
        </p:txBody>
      </p:sp>
      <p:sp>
        <p:nvSpPr>
          <p:cNvPr id="3" name="矩形 60">
            <a:extLst>
              <a:ext uri="{FF2B5EF4-FFF2-40B4-BE49-F238E27FC236}">
                <a16:creationId xmlns:a16="http://schemas.microsoft.com/office/drawing/2014/main" id="{78BE785A-66E5-4B7F-842A-B6CE868B0CFF}"/>
              </a:ext>
            </a:extLst>
          </p:cNvPr>
          <p:cNvSpPr/>
          <p:nvPr/>
        </p:nvSpPr>
        <p:spPr>
          <a:xfrm>
            <a:off x="2413450" y="521078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矩形 73">
            <a:extLst>
              <a:ext uri="{FF2B5EF4-FFF2-40B4-BE49-F238E27FC236}">
                <a16:creationId xmlns:a16="http://schemas.microsoft.com/office/drawing/2014/main" id="{1F5E8D30-7B36-499C-814A-63E86EBE6029}"/>
              </a:ext>
            </a:extLst>
          </p:cNvPr>
          <p:cNvSpPr/>
          <p:nvPr/>
        </p:nvSpPr>
        <p:spPr>
          <a:xfrm>
            <a:off x="1015973" y="521441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5565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32781" y="5229023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2413450" y="162505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altLang="zh-CN" sz="1600" b="1" err="1">
                <a:latin typeface="Consolas"/>
                <a:cs typeface="Consolas"/>
                <a:sym typeface="Courier New Bold" charset="0"/>
              </a:rPr>
              <a:t>jmp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.L1 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        </a:t>
            </a:r>
          </a:p>
        </p:txBody>
      </p:sp>
      <p:sp>
        <p:nvSpPr>
          <p:cNvPr id="8" name="矩形 7"/>
          <p:cNvSpPr/>
          <p:nvPr/>
        </p:nvSpPr>
        <p:spPr>
          <a:xfrm>
            <a:off x="2413450" y="125162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en-US" altLang="zh-CN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13450" y="88083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b="1" err="1">
                <a:latin typeface="Consolas"/>
                <a:cs typeface="Consolas"/>
                <a:sym typeface="Courier New Bold" charset="0"/>
              </a:rPr>
              <a:t>movq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%rdi, %</a:t>
            </a:r>
            <a:r>
              <a:rPr lang="cs-CZ" altLang="zh-CN" sz="1600" err="1">
                <a:latin typeface="Consolas"/>
                <a:cs typeface="Consolas"/>
                <a:sym typeface="Courier New Bold" charset="0"/>
              </a:rPr>
              <a:t>rbx</a:t>
            </a: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13450" y="19980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rsi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17820" y="34227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22189" y="380760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29770" y="417366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29770" y="454123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429770" y="490973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29385" y="48757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2413450" y="3069705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srgbClr val="FF0000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srgbClr val="FF0000"/>
                </a:solidFill>
                <a:latin typeface="Arial"/>
                <a:cs typeface="Arial"/>
              </a:rPr>
              <a:t>0060</a:t>
            </a:r>
            <a:endParaRPr lang="zh-CN" altLang="en-US" sz="160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4861983" y="104710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5071628" y="880832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2408639" y="272015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413352" y="236941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00054" y="126757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88815" y="163386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988815" y="461870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88815" y="424351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988815" y="386738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988815" y="350987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000054" y="315307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001703" y="274328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006073" y="238109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995543" y="202553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018762" y="87411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314844" y="874113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.L1</a:t>
            </a:r>
            <a:endParaRPr lang="zh-CN" altLang="en-US" b="1" i="1"/>
          </a:p>
        </p:txBody>
      </p:sp>
      <p:sp>
        <p:nvSpPr>
          <p:cNvPr id="17" name="矩形 60">
            <a:extLst>
              <a:ext uri="{FF2B5EF4-FFF2-40B4-BE49-F238E27FC236}">
                <a16:creationId xmlns:a16="http://schemas.microsoft.com/office/drawing/2014/main" id="{67DE62A3-0EE4-4956-AC4C-E9034D4B539B}"/>
              </a:ext>
            </a:extLst>
          </p:cNvPr>
          <p:cNvSpPr/>
          <p:nvPr/>
        </p:nvSpPr>
        <p:spPr>
          <a:xfrm>
            <a:off x="2413450" y="521078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矩形 73">
            <a:extLst>
              <a:ext uri="{FF2B5EF4-FFF2-40B4-BE49-F238E27FC236}">
                <a16:creationId xmlns:a16="http://schemas.microsoft.com/office/drawing/2014/main" id="{573F3521-7927-42C5-AD29-2EC2F0CD9570}"/>
              </a:ext>
            </a:extLst>
          </p:cNvPr>
          <p:cNvSpPr/>
          <p:nvPr/>
        </p:nvSpPr>
        <p:spPr>
          <a:xfrm>
            <a:off x="1015973" y="521441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426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43906" y="5220596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2424575" y="16166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altLang="zh-CN" sz="1600" b="1" err="1">
                <a:latin typeface="Consolas"/>
                <a:cs typeface="Consolas"/>
                <a:sym typeface="Courier New Bold" charset="0"/>
              </a:rPr>
              <a:t>jmp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.L1 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        </a:t>
            </a:r>
          </a:p>
        </p:txBody>
      </p:sp>
      <p:sp>
        <p:nvSpPr>
          <p:cNvPr id="8" name="矩形 7"/>
          <p:cNvSpPr/>
          <p:nvPr/>
        </p:nvSpPr>
        <p:spPr>
          <a:xfrm>
            <a:off x="2424575" y="12431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eax</a:t>
            </a:r>
            <a:endParaRPr lang="en-US" altLang="zh-CN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24575" y="87240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b="1" err="1">
                <a:latin typeface="Consolas"/>
                <a:cs typeface="Consolas"/>
                <a:sym typeface="Courier New Bold" charset="0"/>
              </a:rPr>
              <a:t>movq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%rdi, %</a:t>
            </a:r>
            <a:r>
              <a:rPr lang="cs-CZ" altLang="zh-CN" sz="1600" err="1">
                <a:latin typeface="Consolas"/>
                <a:cs typeface="Consolas"/>
                <a:sym typeface="Courier New Bold" charset="0"/>
              </a:rPr>
              <a:t>rbx</a:t>
            </a: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24575" y="198966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rsi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28945" y="341430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33314" y="3799176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40895" y="4165236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40895" y="4532807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440895" y="4901308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40510" y="4867372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2424575" y="3061278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schemeClr val="tx1"/>
                </a:solidFill>
                <a:latin typeface="Arial"/>
                <a:cs typeface="Arial"/>
              </a:rPr>
              <a:t>0068</a:t>
            </a:r>
            <a:endParaRPr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4532322" y="68042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754137" y="554464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2419764" y="2711726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424477" y="2360987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11179" y="125914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99940" y="162544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999940" y="46102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99940" y="423508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999940" y="38589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999940" y="350145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011179" y="314464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012828" y="273485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017198" y="237266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006668" y="201710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029887" y="86568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485993" y="876506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.L1</a:t>
            </a:r>
            <a:endParaRPr lang="zh-CN" altLang="en-US" b="1" i="1"/>
          </a:p>
        </p:txBody>
      </p:sp>
      <p:sp>
        <p:nvSpPr>
          <p:cNvPr id="3" name="矩形 60">
            <a:extLst>
              <a:ext uri="{FF2B5EF4-FFF2-40B4-BE49-F238E27FC236}">
                <a16:creationId xmlns:a16="http://schemas.microsoft.com/office/drawing/2014/main" id="{002E62DB-579C-4ADB-8F59-7DCD0A13398E}"/>
              </a:ext>
            </a:extLst>
          </p:cNvPr>
          <p:cNvSpPr/>
          <p:nvPr/>
        </p:nvSpPr>
        <p:spPr>
          <a:xfrm>
            <a:off x="2413450" y="521078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矩形 73">
            <a:extLst>
              <a:ext uri="{FF2B5EF4-FFF2-40B4-BE49-F238E27FC236}">
                <a16:creationId xmlns:a16="http://schemas.microsoft.com/office/drawing/2014/main" id="{D81A3120-CC3E-4DF2-AF79-B81259CEF61E}"/>
              </a:ext>
            </a:extLst>
          </p:cNvPr>
          <p:cNvSpPr/>
          <p:nvPr/>
        </p:nvSpPr>
        <p:spPr>
          <a:xfrm>
            <a:off x="1015973" y="521441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9319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sz="4800">
                <a:latin typeface="Arial"/>
                <a:cs typeface="Arial"/>
              </a:rPr>
              <a:t>Conditional jump instruction</a:t>
            </a:r>
            <a:endParaRPr kumimoji="1" lang="zh-CN" altLang="en-US" sz="4800">
              <a:latin typeface="Arial"/>
              <a:cs typeface="Arial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b="1" err="1">
                <a:latin typeface="Consolas"/>
                <a:cs typeface="Consolas"/>
              </a:rPr>
              <a:t>jX</a:t>
            </a:r>
            <a:r>
              <a:rPr kumimoji="1" lang="en-US" altLang="zh-CN" b="1">
                <a:latin typeface="Consolas"/>
                <a:cs typeface="Consolas"/>
              </a:rPr>
              <a:t> </a:t>
            </a:r>
            <a:r>
              <a:rPr kumimoji="1" lang="en-US" altLang="zh-CN">
                <a:latin typeface="Consolas"/>
                <a:cs typeface="Consolas"/>
              </a:rPr>
              <a:t>label</a:t>
            </a:r>
          </a:p>
          <a:p>
            <a:pPr lvl="1"/>
            <a:r>
              <a:rPr kumimoji="1" lang="en-US" altLang="zh-CN"/>
              <a:t>If condition </a:t>
            </a:r>
            <a:r>
              <a:rPr kumimoji="1" lang="en-US" altLang="zh-CN" b="1"/>
              <a:t>X </a:t>
            </a:r>
            <a:r>
              <a:rPr kumimoji="1" lang="en-US" altLang="zh-CN"/>
              <a:t>is met,  jump to the label</a:t>
            </a:r>
          </a:p>
        </p:txBody>
      </p:sp>
      <p:graphicFrame>
        <p:nvGraphicFramePr>
          <p:cNvPr id="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001033"/>
              </p:ext>
            </p:extLst>
          </p:nvPr>
        </p:nvGraphicFramePr>
        <p:xfrm>
          <a:off x="914400" y="2709758"/>
          <a:ext cx="6822944" cy="3947160"/>
        </p:xfrm>
        <a:graphic>
          <a:graphicData uri="http://schemas.openxmlformats.org/drawingml/2006/table">
            <a:tbl>
              <a:tblPr/>
              <a:tblGrid>
                <a:gridCol w="1241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jX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Bold" charset="0"/>
                        <a:ea typeface="ヒラギノ角ゴ ProN W6" charset="0"/>
                        <a:cs typeface="ヒラギノ角ゴ ProN W6" charset="0"/>
                        <a:sym typeface="Calibri Bold" charset="0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Condition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Description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Equal / Zero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Not Equal / Not Zero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js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Negative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jns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~SF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Nonnegative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jg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~(SF^OF)&amp;~ZF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jge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or Equal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jl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jle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(SF^OF)|ZF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or Equal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ja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~CF&amp;~ZF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Above (unsigned)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jb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CF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Below (unsigned)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3117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00826" y="5429006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2381495" y="182503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je 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.L1 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        </a:t>
            </a:r>
          </a:p>
        </p:txBody>
      </p:sp>
      <p:sp>
        <p:nvSpPr>
          <p:cNvPr id="8" name="矩形 7"/>
          <p:cNvSpPr/>
          <p:nvPr/>
        </p:nvSpPr>
        <p:spPr>
          <a:xfrm>
            <a:off x="2381495" y="145160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b="1" dirty="0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600" b="1" dirty="0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dirty="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81495" y="108081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b="1" err="1">
                <a:latin typeface="Consolas"/>
                <a:cs typeface="Consolas"/>
                <a:sym typeface="Courier New Bold" charset="0"/>
              </a:rPr>
              <a:t>movq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%rdi, %</a:t>
            </a:r>
            <a:r>
              <a:rPr lang="cs-CZ" altLang="zh-CN" sz="1600" err="1">
                <a:latin typeface="Consolas"/>
                <a:cs typeface="Consolas"/>
                <a:sym typeface="Courier New Bold" charset="0"/>
              </a:rPr>
              <a:t>rbx</a:t>
            </a: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81495" y="219807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rsi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385865" y="362271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90234" y="4007586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97815" y="4373646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97815" y="4741217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397815" y="5109718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97430" y="5075782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2381495" y="3269688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4323113" y="2415229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532758" y="2248961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2376684" y="2920136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81397" y="2569397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68099" y="146755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56860" y="183385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956860" y="481868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56860" y="444349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956860" y="406736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956860" y="370986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968099" y="335305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969748" y="294326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974118" y="258107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963588" y="222551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986807" y="107409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442913" y="1084916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.L1</a:t>
            </a:r>
            <a:endParaRPr lang="zh-CN" altLang="en-US" b="1" i="1"/>
          </a:p>
        </p:txBody>
      </p:sp>
      <p:sp>
        <p:nvSpPr>
          <p:cNvPr id="3" name="矩形 60">
            <a:extLst>
              <a:ext uri="{FF2B5EF4-FFF2-40B4-BE49-F238E27FC236}">
                <a16:creationId xmlns:a16="http://schemas.microsoft.com/office/drawing/2014/main" id="{689F37E6-AC62-43AC-815A-43EA047B91AD}"/>
              </a:ext>
            </a:extLst>
          </p:cNvPr>
          <p:cNvSpPr/>
          <p:nvPr/>
        </p:nvSpPr>
        <p:spPr>
          <a:xfrm>
            <a:off x="2374923" y="71864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矩形 73">
            <a:extLst>
              <a:ext uri="{FF2B5EF4-FFF2-40B4-BE49-F238E27FC236}">
                <a16:creationId xmlns:a16="http://schemas.microsoft.com/office/drawing/2014/main" id="{8D95D274-1128-46DB-9DC9-59A0647A352F}"/>
              </a:ext>
            </a:extLst>
          </p:cNvPr>
          <p:cNvSpPr/>
          <p:nvPr/>
        </p:nvSpPr>
        <p:spPr>
          <a:xfrm>
            <a:off x="968608" y="730318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1923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94254" y="5418896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2374923" y="181492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je 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.L1 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        </a:t>
            </a:r>
          </a:p>
        </p:txBody>
      </p:sp>
      <p:sp>
        <p:nvSpPr>
          <p:cNvPr id="8" name="矩形 7"/>
          <p:cNvSpPr/>
          <p:nvPr/>
        </p:nvSpPr>
        <p:spPr>
          <a:xfrm>
            <a:off x="2374923" y="144149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74923" y="107070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b="1" err="1">
                <a:latin typeface="Consolas"/>
                <a:cs typeface="Consolas"/>
                <a:sym typeface="Courier New Bold" charset="0"/>
              </a:rPr>
              <a:t>movq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%rdi, %</a:t>
            </a:r>
            <a:r>
              <a:rPr lang="cs-CZ" altLang="zh-CN" sz="1600" err="1">
                <a:latin typeface="Consolas"/>
                <a:cs typeface="Consolas"/>
                <a:sym typeface="Courier New Bold" charset="0"/>
              </a:rPr>
              <a:t>rbx</a:t>
            </a: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74923" y="218796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rsi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379293" y="3612601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83662" y="3997476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91243" y="4363536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91243" y="4731107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391243" y="5099608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90858" y="5065672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2374923" y="3259578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/>
          <p:nvPr/>
        </p:nvCxnSpPr>
        <p:spPr>
          <a:xfrm flipH="1">
            <a:off x="4316541" y="2035787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526186" y="1869519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2370112" y="2910026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74825" y="2559287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61527" y="145744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50288" y="182374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950288" y="48085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50288" y="443338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950288" y="40572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950288" y="369975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961527" y="334294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963176" y="293315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967546" y="257096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957016" y="221540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980235" y="106398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436341" y="1074806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.L1</a:t>
            </a:r>
            <a:endParaRPr lang="zh-CN" altLang="en-US" b="1" i="1"/>
          </a:p>
        </p:txBody>
      </p:sp>
      <p:sp>
        <p:nvSpPr>
          <p:cNvPr id="3" name="矩形 60">
            <a:extLst>
              <a:ext uri="{FF2B5EF4-FFF2-40B4-BE49-F238E27FC236}">
                <a16:creationId xmlns:a16="http://schemas.microsoft.com/office/drawing/2014/main" id="{8812BBC2-884F-4A82-B900-18423708009F}"/>
              </a:ext>
            </a:extLst>
          </p:cNvPr>
          <p:cNvSpPr/>
          <p:nvPr/>
        </p:nvSpPr>
        <p:spPr>
          <a:xfrm>
            <a:off x="2374923" y="71864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矩形 73">
            <a:extLst>
              <a:ext uri="{FF2B5EF4-FFF2-40B4-BE49-F238E27FC236}">
                <a16:creationId xmlns:a16="http://schemas.microsoft.com/office/drawing/2014/main" id="{B6F7D3A1-B92F-42A9-BD04-C314E97373EA}"/>
              </a:ext>
            </a:extLst>
          </p:cNvPr>
          <p:cNvSpPr/>
          <p:nvPr/>
        </p:nvSpPr>
        <p:spPr>
          <a:xfrm>
            <a:off x="968608" y="730318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3047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97826" y="5430573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2378495" y="182660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je 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.L1 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        </a:t>
            </a:r>
          </a:p>
        </p:txBody>
      </p:sp>
      <p:sp>
        <p:nvSpPr>
          <p:cNvPr id="8" name="矩形 7"/>
          <p:cNvSpPr/>
          <p:nvPr/>
        </p:nvSpPr>
        <p:spPr>
          <a:xfrm>
            <a:off x="2378495" y="145317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78495" y="1082382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b="1" err="1">
                <a:latin typeface="Consolas"/>
                <a:cs typeface="Consolas"/>
                <a:sym typeface="Courier New Bold" charset="0"/>
              </a:rPr>
              <a:t>movq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%rdi, %</a:t>
            </a:r>
            <a:r>
              <a:rPr lang="cs-CZ" altLang="zh-CN" sz="1600" err="1">
                <a:latin typeface="Consolas"/>
                <a:cs typeface="Consolas"/>
                <a:sym typeface="Courier New Bold" charset="0"/>
              </a:rPr>
              <a:t>rbx</a:t>
            </a: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78495" y="219964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rsi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382865" y="3624278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87234" y="4009153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94815" y="4375213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94815" y="4742784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394815" y="511128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94430" y="507734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2378495" y="3271255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cxnSp>
        <p:nvCxnSpPr>
          <p:cNvPr id="4" name="直线箭头连接符 3"/>
          <p:cNvCxnSpPr>
            <a:cxnSpLocks/>
          </p:cNvCxnSpPr>
          <p:nvPr/>
        </p:nvCxnSpPr>
        <p:spPr>
          <a:xfrm flipH="1">
            <a:off x="4769588" y="1303486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4979233" y="1137218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59" name="矩形 58"/>
          <p:cNvSpPr/>
          <p:nvPr/>
        </p:nvSpPr>
        <p:spPr>
          <a:xfrm>
            <a:off x="2373684" y="2921703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78397" y="2570964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65099" y="146912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53860" y="1835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953860" y="4820254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53860" y="444506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953860" y="406893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953860" y="371142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965099" y="335462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966748" y="2944830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971118" y="258264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960588" y="222708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983807" y="107566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254778" y="1086483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.L1</a:t>
            </a:r>
            <a:endParaRPr lang="zh-CN" altLang="en-US" b="1" i="1"/>
          </a:p>
        </p:txBody>
      </p:sp>
      <p:sp>
        <p:nvSpPr>
          <p:cNvPr id="10" name="矩形 60">
            <a:extLst>
              <a:ext uri="{FF2B5EF4-FFF2-40B4-BE49-F238E27FC236}">
                <a16:creationId xmlns:a16="http://schemas.microsoft.com/office/drawing/2014/main" id="{CECC4110-9BFD-4264-9514-817636BEE722}"/>
              </a:ext>
            </a:extLst>
          </p:cNvPr>
          <p:cNvSpPr/>
          <p:nvPr/>
        </p:nvSpPr>
        <p:spPr>
          <a:xfrm>
            <a:off x="2374923" y="71864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" name="矩形 73">
            <a:extLst>
              <a:ext uri="{FF2B5EF4-FFF2-40B4-BE49-F238E27FC236}">
                <a16:creationId xmlns:a16="http://schemas.microsoft.com/office/drawing/2014/main" id="{EC284C6B-0FE7-4963-8FB7-ACBC582EC502}"/>
              </a:ext>
            </a:extLst>
          </p:cNvPr>
          <p:cNvSpPr/>
          <p:nvPr/>
        </p:nvSpPr>
        <p:spPr>
          <a:xfrm>
            <a:off x="968608" y="730318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28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88801" y="5414985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2369470" y="181101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je 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.L1 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        </a:t>
            </a:r>
          </a:p>
        </p:txBody>
      </p:sp>
      <p:sp>
        <p:nvSpPr>
          <p:cNvPr id="8" name="矩形 7"/>
          <p:cNvSpPr/>
          <p:nvPr/>
        </p:nvSpPr>
        <p:spPr>
          <a:xfrm>
            <a:off x="2369470" y="143758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69470" y="1066794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 b="1" err="1">
                <a:latin typeface="Consolas"/>
                <a:cs typeface="Consolas"/>
                <a:sym typeface="Courier New Bold" charset="0"/>
              </a:rPr>
              <a:t>movq</a:t>
            </a:r>
            <a:r>
              <a:rPr lang="cs-CZ" altLang="zh-CN" sz="16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%rdi, %</a:t>
            </a:r>
            <a:r>
              <a:rPr lang="cs-CZ" altLang="zh-CN" sz="1600" err="1">
                <a:latin typeface="Consolas"/>
                <a:cs typeface="Consolas"/>
                <a:sym typeface="Courier New Bold" charset="0"/>
              </a:rPr>
              <a:t>rbx</a:t>
            </a: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69470" y="2184057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6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rsi</a:t>
            </a:r>
            <a:r>
              <a:rPr lang="en-US" altLang="zh-CN" sz="16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6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6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373840" y="3608690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78209" y="3993565"/>
            <a:ext cx="1951499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85790" y="4359625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85790" y="4727196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385790" y="5095697"/>
            <a:ext cx="1951499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85405" y="5061761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2369470" y="3255667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973835" y="849437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RIP: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364659" y="2906115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69372" y="2555376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56074" y="145353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44835" y="181983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944835" y="48046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0010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44835" y="442947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0018</a:t>
            </a:r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944835" y="4053348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944835" y="3695841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956074" y="333903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957723" y="2929242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962093" y="2567053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951563" y="221149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974782" y="106007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430888" y="1070895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.L1</a:t>
            </a:r>
            <a:endParaRPr lang="zh-CN" altLang="en-US" b="1" i="1"/>
          </a:p>
        </p:txBody>
      </p:sp>
      <p:cxnSp>
        <p:nvCxnSpPr>
          <p:cNvPr id="63" name="直线箭头连接符 62"/>
          <p:cNvCxnSpPr/>
          <p:nvPr/>
        </p:nvCxnSpPr>
        <p:spPr>
          <a:xfrm flipH="1">
            <a:off x="4474013" y="913316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4683658" y="763118"/>
            <a:ext cx="6880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%rip</a:t>
            </a:r>
            <a:endParaRPr lang="zh-CN" altLang="en-US" sz="1400" b="1"/>
          </a:p>
        </p:txBody>
      </p:sp>
      <p:sp>
        <p:nvSpPr>
          <p:cNvPr id="3" name="矩形 60">
            <a:extLst>
              <a:ext uri="{FF2B5EF4-FFF2-40B4-BE49-F238E27FC236}">
                <a16:creationId xmlns:a16="http://schemas.microsoft.com/office/drawing/2014/main" id="{94BAA657-DE3D-4461-88B6-C327F3EBD10D}"/>
              </a:ext>
            </a:extLst>
          </p:cNvPr>
          <p:cNvSpPr/>
          <p:nvPr/>
        </p:nvSpPr>
        <p:spPr>
          <a:xfrm>
            <a:off x="2374923" y="718641"/>
            <a:ext cx="1951499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矩形 73">
            <a:extLst>
              <a:ext uri="{FF2B5EF4-FFF2-40B4-BE49-F238E27FC236}">
                <a16:creationId xmlns:a16="http://schemas.microsoft.com/office/drawing/2014/main" id="{9536D08D-5011-4A23-9D35-D89FB9157E72}"/>
              </a:ext>
            </a:extLst>
          </p:cNvPr>
          <p:cNvSpPr/>
          <p:nvPr/>
        </p:nvSpPr>
        <p:spPr>
          <a:xfrm>
            <a:off x="968608" y="730318"/>
            <a:ext cx="142859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8087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pPr marL="119063" indent="-119063"/>
            <a:r>
              <a:rPr lang="en-US"/>
              <a:t>How “</a:t>
            </a:r>
            <a:r>
              <a:rPr lang="en-US" err="1"/>
              <a:t>if..else</a:t>
            </a:r>
            <a:r>
              <a:rPr lang="en-US"/>
              <a:t>..” statement works</a:t>
            </a:r>
          </a:p>
        </p:txBody>
      </p:sp>
      <p:sp>
        <p:nvSpPr>
          <p:cNvPr id="43012" name="Rectangle 4"/>
          <p:cNvSpPr>
            <a:spLocks/>
          </p:cNvSpPr>
          <p:nvPr/>
        </p:nvSpPr>
        <p:spPr bwMode="auto">
          <a:xfrm>
            <a:off x="457200" y="1735355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if (x &gt; y)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sz="18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153045"/>
              </p:ext>
            </p:extLst>
          </p:nvPr>
        </p:nvGraphicFramePr>
        <p:xfrm>
          <a:off x="5181602" y="5077755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1AC878E1-347C-8A43-9206-113B6D58567D}"/>
              </a:ext>
            </a:extLst>
          </p:cNvPr>
          <p:cNvGrpSpPr/>
          <p:nvPr/>
        </p:nvGrpSpPr>
        <p:grpSpPr>
          <a:xfrm>
            <a:off x="2400426" y="1746271"/>
            <a:ext cx="7392932" cy="3213100"/>
            <a:chOff x="2400426" y="1746271"/>
            <a:chExt cx="7392932" cy="3213100"/>
          </a:xfrm>
        </p:grpSpPr>
        <p:sp>
          <p:nvSpPr>
            <p:cNvPr id="43013" name="Rectangle 5"/>
            <p:cNvSpPr>
              <a:spLocks/>
            </p:cNvSpPr>
            <p:nvPr/>
          </p:nvSpPr>
          <p:spPr bwMode="auto">
            <a:xfrm>
              <a:off x="5678558" y="1746271"/>
              <a:ext cx="4114800" cy="3213100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l"/>
              <a:r>
                <a:rPr lang="en-US" sz="1800" b="1">
                  <a:latin typeface="Consolas"/>
                  <a:cs typeface="Consolas"/>
                </a:rPr>
                <a:t>compare:</a:t>
              </a:r>
            </a:p>
            <a:p>
              <a:pPr algn="l"/>
              <a:r>
                <a:rPr lang="en-US" sz="1800" b="1">
                  <a:latin typeface="Consolas"/>
                  <a:cs typeface="Consolas"/>
                </a:rPr>
                <a:t>   </a:t>
              </a:r>
              <a:r>
                <a:rPr lang="en-US" sz="1800" b="1" err="1">
                  <a:latin typeface="Consolas"/>
                  <a:cs typeface="Consolas"/>
                </a:rPr>
                <a:t>cmpq</a:t>
              </a:r>
              <a:r>
                <a:rPr lang="en-US" sz="1800" b="1">
                  <a:latin typeface="Consolas"/>
                  <a:cs typeface="Consolas"/>
                </a:rPr>
                <a:t>   </a:t>
              </a:r>
              <a:r>
                <a:rPr lang="en-US" sz="1800">
                  <a:latin typeface="Consolas"/>
                  <a:cs typeface="Consolas"/>
                </a:rPr>
                <a:t>%</a:t>
              </a:r>
              <a:r>
                <a:rPr lang="en-US" sz="1800" err="1">
                  <a:latin typeface="Consolas"/>
                  <a:cs typeface="Consolas"/>
                </a:rPr>
                <a:t>rdi</a:t>
              </a:r>
              <a:r>
                <a:rPr lang="en-US" sz="1800">
                  <a:latin typeface="Consolas"/>
                  <a:cs typeface="Consolas"/>
                </a:rPr>
                <a:t>, %</a:t>
              </a:r>
              <a:r>
                <a:rPr lang="en-US" sz="1800" err="1">
                  <a:latin typeface="Consolas"/>
                  <a:cs typeface="Consolas"/>
                </a:rPr>
                <a:t>rsi</a:t>
              </a:r>
              <a:endParaRPr lang="en-US" sz="1800">
                <a:latin typeface="Consolas"/>
                <a:cs typeface="Consolas"/>
              </a:endParaRPr>
            </a:p>
            <a:p>
              <a:pPr algn="l"/>
              <a:r>
                <a:rPr lang="nl-NL" sz="1800" b="1">
                  <a:latin typeface="Consolas"/>
                  <a:cs typeface="Consolas"/>
                </a:rPr>
                <a:t>   </a:t>
              </a:r>
              <a:r>
                <a:rPr lang="nl-NL" sz="1800" b="1" err="1">
                  <a:latin typeface="Consolas"/>
                  <a:cs typeface="Consolas"/>
                </a:rPr>
                <a:t>jge</a:t>
              </a:r>
              <a:r>
                <a:rPr lang="nl-NL" sz="1800" b="1">
                  <a:latin typeface="Consolas"/>
                  <a:cs typeface="Consolas"/>
                </a:rPr>
                <a:t>    </a:t>
              </a:r>
              <a:r>
                <a:rPr lang="nl-NL" sz="1800">
                  <a:latin typeface="Consolas"/>
                  <a:cs typeface="Consolas"/>
                </a:rPr>
                <a:t>.L3</a:t>
              </a:r>
            </a:p>
            <a:p>
              <a:pPr algn="l"/>
              <a:r>
                <a:rPr lang="hr-HR" sz="1800" b="1">
                  <a:latin typeface="Consolas"/>
                  <a:cs typeface="Consolas"/>
                </a:rPr>
                <a:t>   movl   </a:t>
              </a:r>
              <a:r>
                <a:rPr lang="hr-HR" sz="1800">
                  <a:latin typeface="Consolas"/>
                  <a:cs typeface="Consolas"/>
                </a:rPr>
                <a:t>$1, %rax</a:t>
              </a:r>
            </a:p>
            <a:p>
              <a:pPr algn="l"/>
              <a:r>
                <a:rPr lang="en-US" sz="1800" b="1">
                  <a:latin typeface="Consolas"/>
                  <a:cs typeface="Consolas"/>
                </a:rPr>
                <a:t>   ret</a:t>
              </a:r>
            </a:p>
            <a:p>
              <a:pPr algn="l"/>
              <a:r>
                <a:rPr lang="en-US" sz="1800" b="1">
                  <a:latin typeface="Consolas"/>
                  <a:cs typeface="Consolas"/>
                </a:rPr>
                <a:t>.L3:</a:t>
              </a:r>
            </a:p>
            <a:p>
              <a:pPr algn="l"/>
              <a:r>
                <a:rPr lang="hr-HR" sz="1800" b="1">
                  <a:latin typeface="Consolas"/>
                  <a:cs typeface="Consolas"/>
                </a:rPr>
                <a:t>   movl   </a:t>
              </a:r>
              <a:r>
                <a:rPr lang="hr-HR" sz="1800">
                  <a:latin typeface="Consolas"/>
                  <a:cs typeface="Consolas"/>
                </a:rPr>
                <a:t>$0, %rax</a:t>
              </a:r>
            </a:p>
            <a:p>
              <a:pPr algn="l"/>
              <a:r>
                <a:rPr lang="en-US" sz="1800" b="1">
                  <a:latin typeface="Consolas"/>
                  <a:cs typeface="Consolas"/>
                </a:rPr>
                <a:t>   ret</a:t>
              </a:r>
            </a:p>
          </p:txBody>
        </p:sp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4926A8F4-980E-8B49-BB00-B73901CFE551}"/>
                </a:ext>
              </a:extLst>
            </p:cNvPr>
            <p:cNvSpPr/>
            <p:nvPr/>
          </p:nvSpPr>
          <p:spPr>
            <a:xfrm>
              <a:off x="2400426" y="2774093"/>
              <a:ext cx="3123946" cy="868923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gcc</a:t>
              </a:r>
              <a:r>
                <a:rPr lang="en-US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–</a:t>
              </a:r>
              <a:r>
                <a:rPr lang="en-US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Og</a:t>
              </a:r>
              <a:r>
                <a:rPr lang="en-US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–S </a:t>
              </a:r>
              <a:r>
                <a:rPr lang="en-US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compared.c</a:t>
              </a:r>
              <a:endParaRPr lang="en-US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08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xfrm>
            <a:off x="508000" y="105959"/>
            <a:ext cx="8229600" cy="1143000"/>
          </a:xfrm>
          <a:ln/>
        </p:spPr>
        <p:txBody>
          <a:bodyPr>
            <a:normAutofit/>
          </a:bodyPr>
          <a:lstStyle/>
          <a:p>
            <a:pPr marL="119063" indent="-119063"/>
            <a:r>
              <a:rPr lang="en-US"/>
              <a:t>How “while” works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973343"/>
              </p:ext>
            </p:extLst>
          </p:nvPr>
        </p:nvGraphicFramePr>
        <p:xfrm>
          <a:off x="5213090" y="5133975"/>
          <a:ext cx="3352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ectangle 4"/>
          <p:cNvSpPr>
            <a:spLocks/>
          </p:cNvSpPr>
          <p:nvPr/>
        </p:nvSpPr>
        <p:spPr bwMode="auto">
          <a:xfrm>
            <a:off x="508000" y="1828800"/>
            <a:ext cx="41148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dirty="0">
                <a:latin typeface="Consolas"/>
                <a:cs typeface="Consolas"/>
                <a:sym typeface="Courier New Bold" charset="0"/>
              </a:rPr>
              <a:t>l</a:t>
            </a: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ong </a:t>
            </a:r>
            <a:r>
              <a:rPr lang="en-US" sz="1800" dirty="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bit_length</a:t>
            </a: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(unsigned long x)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long </a:t>
            </a:r>
            <a:r>
              <a:rPr lang="en-US" dirty="0">
                <a:latin typeface="Consolas"/>
                <a:cs typeface="Consolas"/>
                <a:sym typeface="Courier New Bold" charset="0"/>
              </a:rPr>
              <a:t>s</a:t>
            </a: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= 0;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while (x != 0) 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	x = x &gt;&gt; 1;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	</a:t>
            </a:r>
            <a:r>
              <a:rPr lang="en-US" dirty="0">
                <a:latin typeface="Consolas"/>
                <a:cs typeface="Consolas"/>
                <a:sym typeface="Courier New Bold" charset="0"/>
              </a:rPr>
              <a:t>s</a:t>
            </a: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++;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}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return s;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A87A98-65F5-CE45-AFD5-10CA0CC52D18}"/>
              </a:ext>
            </a:extLst>
          </p:cNvPr>
          <p:cNvGrpSpPr/>
          <p:nvPr/>
        </p:nvGrpSpPr>
        <p:grpSpPr>
          <a:xfrm>
            <a:off x="2595462" y="1828800"/>
            <a:ext cx="6201719" cy="2819400"/>
            <a:chOff x="2595462" y="1828800"/>
            <a:chExt cx="6201719" cy="2819400"/>
          </a:xfrm>
        </p:grpSpPr>
        <p:sp>
          <p:nvSpPr>
            <p:cNvPr id="11" name="Rectangle 5"/>
            <p:cNvSpPr>
              <a:spLocks/>
            </p:cNvSpPr>
            <p:nvPr/>
          </p:nvSpPr>
          <p:spPr bwMode="auto">
            <a:xfrm>
              <a:off x="5213090" y="1828800"/>
              <a:ext cx="3584091" cy="2819400"/>
            </a:xfrm>
            <a:prstGeom prst="rect">
              <a:avLst/>
            </a:prstGeom>
            <a:noFill/>
            <a:ln w="12700" cap="flat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l"/>
              <a:r>
                <a:rPr lang="en-US" dirty="0" err="1">
                  <a:latin typeface="Consolas"/>
                  <a:cs typeface="Consolas"/>
                </a:rPr>
                <a:t>b</a:t>
              </a:r>
              <a:r>
                <a:rPr lang="en-US" sz="1800" dirty="0" err="1">
                  <a:latin typeface="Consolas"/>
                  <a:cs typeface="Consolas"/>
                </a:rPr>
                <a:t>it_length</a:t>
              </a:r>
              <a:r>
                <a:rPr lang="en-US" sz="1800" dirty="0">
                  <a:latin typeface="Consolas"/>
                  <a:cs typeface="Consolas"/>
                </a:rPr>
                <a:t>:</a:t>
              </a:r>
            </a:p>
            <a:p>
              <a:pPr algn="l"/>
              <a:r>
                <a:rPr lang="hr-HR" sz="1800" dirty="0">
                  <a:latin typeface="Consolas"/>
                  <a:cs typeface="Consolas"/>
                </a:rPr>
                <a:t>	</a:t>
              </a:r>
              <a:r>
                <a:rPr lang="hr-HR" sz="1800" b="1" dirty="0" err="1">
                  <a:latin typeface="Consolas"/>
                  <a:cs typeface="Consolas"/>
                </a:rPr>
                <a:t>movq</a:t>
              </a:r>
              <a:r>
                <a:rPr lang="hr-HR" sz="1800" dirty="0">
                  <a:latin typeface="Consolas"/>
                  <a:cs typeface="Consolas"/>
                </a:rPr>
                <a:t> $0, %</a:t>
              </a:r>
              <a:r>
                <a:rPr lang="hr-HR" sz="1800" dirty="0" err="1">
                  <a:latin typeface="Consolas"/>
                  <a:cs typeface="Consolas"/>
                </a:rPr>
                <a:t>rax</a:t>
              </a:r>
              <a:endParaRPr lang="hr-HR" sz="1800" dirty="0">
                <a:latin typeface="Consolas"/>
                <a:cs typeface="Consolas"/>
              </a:endParaRPr>
            </a:p>
            <a:p>
              <a:pPr algn="l"/>
              <a:r>
                <a:rPr lang="cs-CZ" sz="1800" dirty="0">
                  <a:latin typeface="Consolas"/>
                  <a:cs typeface="Consolas"/>
                </a:rPr>
                <a:t>	</a:t>
              </a:r>
              <a:r>
                <a:rPr lang="cs-CZ" sz="1800" b="1" dirty="0" err="1">
                  <a:latin typeface="Consolas"/>
                  <a:cs typeface="Consolas"/>
                </a:rPr>
                <a:t>jmp</a:t>
              </a:r>
              <a:r>
                <a:rPr lang="cs-CZ" sz="1800" dirty="0">
                  <a:latin typeface="Consolas"/>
                  <a:cs typeface="Consolas"/>
                </a:rPr>
                <a:t>	.L2</a:t>
              </a:r>
            </a:p>
            <a:p>
              <a:pPr algn="l"/>
              <a:r>
                <a:rPr lang="cs-CZ" sz="1800" dirty="0">
                  <a:latin typeface="Consolas"/>
                  <a:cs typeface="Consolas"/>
                </a:rPr>
                <a:t>.L3:</a:t>
              </a:r>
            </a:p>
            <a:p>
              <a:pPr algn="l"/>
              <a:r>
                <a:rPr lang="cs-CZ" sz="1800" dirty="0">
                  <a:latin typeface="Consolas"/>
                  <a:cs typeface="Consolas"/>
                </a:rPr>
                <a:t>	</a:t>
              </a:r>
              <a:r>
                <a:rPr lang="cs-CZ" sz="1800" b="1" dirty="0" err="1">
                  <a:latin typeface="Consolas"/>
                  <a:cs typeface="Consolas"/>
                </a:rPr>
                <a:t>shrq</a:t>
              </a:r>
              <a:r>
                <a:rPr lang="cs-CZ" dirty="0">
                  <a:latin typeface="Consolas"/>
                  <a:cs typeface="Consolas"/>
                </a:rPr>
                <a:t> </a:t>
              </a:r>
              <a:r>
                <a:rPr lang="cs-CZ" sz="1800" dirty="0">
                  <a:latin typeface="Consolas"/>
                  <a:cs typeface="Consolas"/>
                </a:rPr>
                <a:t>%rdi</a:t>
              </a:r>
            </a:p>
            <a:p>
              <a:pPr algn="l"/>
              <a:r>
                <a:rPr lang="nb-NO" sz="1800" dirty="0">
                  <a:latin typeface="Consolas"/>
                  <a:cs typeface="Consolas"/>
                </a:rPr>
                <a:t>	</a:t>
              </a:r>
              <a:r>
                <a:rPr lang="nb-NO" sz="1800" b="1" dirty="0" err="1">
                  <a:latin typeface="Consolas"/>
                  <a:cs typeface="Consolas"/>
                </a:rPr>
                <a:t>addq</a:t>
              </a:r>
              <a:r>
                <a:rPr lang="nb-NO" dirty="0">
                  <a:latin typeface="Consolas"/>
                  <a:cs typeface="Consolas"/>
                </a:rPr>
                <a:t> </a:t>
              </a:r>
              <a:r>
                <a:rPr lang="nb-NO" sz="1800" dirty="0">
                  <a:latin typeface="Consolas"/>
                  <a:cs typeface="Consolas"/>
                </a:rPr>
                <a:t>$1, %</a:t>
              </a:r>
              <a:r>
                <a:rPr lang="nb-NO" sz="1800" dirty="0" err="1">
                  <a:latin typeface="Consolas"/>
                  <a:cs typeface="Consolas"/>
                </a:rPr>
                <a:t>rax</a:t>
              </a:r>
              <a:endParaRPr lang="nb-NO" sz="1800" dirty="0">
                <a:latin typeface="Consolas"/>
                <a:cs typeface="Consolas"/>
              </a:endParaRPr>
            </a:p>
            <a:p>
              <a:pPr algn="l"/>
              <a:r>
                <a:rPr lang="nb-NO" sz="1800" dirty="0">
                  <a:latin typeface="Consolas"/>
                  <a:cs typeface="Consolas"/>
                </a:rPr>
                <a:t>.L2:</a:t>
              </a:r>
            </a:p>
            <a:p>
              <a:pPr algn="l"/>
              <a:r>
                <a:rPr lang="nb-NO" sz="1800" dirty="0">
                  <a:latin typeface="Consolas"/>
                  <a:cs typeface="Consolas"/>
                </a:rPr>
                <a:t>	</a:t>
              </a:r>
              <a:r>
                <a:rPr lang="nb-NO" sz="1800" b="1" dirty="0" err="1">
                  <a:latin typeface="Consolas"/>
                  <a:cs typeface="Consolas"/>
                </a:rPr>
                <a:t>testq</a:t>
              </a:r>
              <a:r>
                <a:rPr lang="nb-NO" dirty="0">
                  <a:latin typeface="Consolas"/>
                  <a:cs typeface="Consolas"/>
                </a:rPr>
                <a:t> </a:t>
              </a:r>
              <a:r>
                <a:rPr lang="nb-NO" sz="1800" dirty="0">
                  <a:latin typeface="Consolas"/>
                  <a:cs typeface="Consolas"/>
                </a:rPr>
                <a:t>%</a:t>
              </a:r>
              <a:r>
                <a:rPr lang="nb-NO" sz="1800" dirty="0" err="1">
                  <a:latin typeface="Consolas"/>
                  <a:cs typeface="Consolas"/>
                </a:rPr>
                <a:t>rdi</a:t>
              </a:r>
              <a:r>
                <a:rPr lang="nb-NO" sz="1800" dirty="0">
                  <a:latin typeface="Consolas"/>
                  <a:cs typeface="Consolas"/>
                </a:rPr>
                <a:t>, %</a:t>
              </a:r>
              <a:r>
                <a:rPr lang="nb-NO" sz="1800" dirty="0" err="1">
                  <a:latin typeface="Consolas"/>
                  <a:cs typeface="Consolas"/>
                </a:rPr>
                <a:t>rdi</a:t>
              </a:r>
              <a:endParaRPr lang="nb-NO" sz="1800" dirty="0">
                <a:latin typeface="Consolas"/>
                <a:cs typeface="Consolas"/>
              </a:endParaRPr>
            </a:p>
            <a:p>
              <a:pPr algn="l"/>
              <a:r>
                <a:rPr lang="nl-NL" sz="1800" dirty="0">
                  <a:latin typeface="Consolas"/>
                  <a:cs typeface="Consolas"/>
                </a:rPr>
                <a:t>	</a:t>
              </a:r>
              <a:r>
                <a:rPr lang="nl-NL" sz="1800" b="1" dirty="0" err="1">
                  <a:latin typeface="Consolas"/>
                  <a:cs typeface="Consolas"/>
                </a:rPr>
                <a:t>jne</a:t>
              </a:r>
              <a:r>
                <a:rPr lang="nl-NL" sz="1800" dirty="0">
                  <a:latin typeface="Consolas"/>
                  <a:cs typeface="Consolas"/>
                </a:rPr>
                <a:t>	.L3</a:t>
              </a:r>
            </a:p>
            <a:p>
              <a:pPr algn="l"/>
              <a:r>
                <a:rPr lang="nl-NL" sz="1800" dirty="0">
                  <a:latin typeface="Consolas"/>
                  <a:cs typeface="Consolas"/>
                </a:rPr>
                <a:t>	</a:t>
              </a:r>
              <a:r>
                <a:rPr lang="nl-NL" sz="1800" b="1" dirty="0" err="1">
                  <a:latin typeface="Consolas"/>
                  <a:cs typeface="Consolas"/>
                </a:rPr>
                <a:t>ret</a:t>
              </a:r>
              <a:endParaRPr lang="en-US" sz="1800" b="1" dirty="0">
                <a:latin typeface="Consolas"/>
                <a:cs typeface="Consolas"/>
              </a:endParaRPr>
            </a:p>
            <a:p>
              <a:pPr algn="l"/>
              <a:r>
                <a:rPr lang="en-US" sz="1800" dirty="0">
                  <a:latin typeface="Consolas"/>
                  <a:cs typeface="Consolas"/>
                </a:rPr>
                <a:t>  </a:t>
              </a:r>
            </a:p>
          </p:txBody>
        </p: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B97C8322-2315-9B46-82E9-090018E941A2}"/>
                </a:ext>
              </a:extLst>
            </p:cNvPr>
            <p:cNvSpPr/>
            <p:nvPr/>
          </p:nvSpPr>
          <p:spPr>
            <a:xfrm>
              <a:off x="2595462" y="2912766"/>
              <a:ext cx="2733875" cy="868923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gcc</a:t>
              </a:r>
              <a:r>
                <a:rPr lang="en-US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–</a:t>
              </a:r>
              <a:r>
                <a:rPr lang="en-US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Og</a:t>
              </a:r>
              <a:r>
                <a:rPr lang="en-US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–S </a:t>
              </a:r>
              <a:r>
                <a:rPr lang="en-US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count.c</a:t>
              </a:r>
              <a:endParaRPr lang="en-US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01A105F-5B7C-E842-B8BF-878E1030E59D}"/>
              </a:ext>
            </a:extLst>
          </p:cNvPr>
          <p:cNvGrpSpPr/>
          <p:nvPr/>
        </p:nvGrpSpPr>
        <p:grpSpPr>
          <a:xfrm>
            <a:off x="4092091" y="1418376"/>
            <a:ext cx="1911421" cy="1624369"/>
            <a:chOff x="4092091" y="1418376"/>
            <a:chExt cx="1911421" cy="1624369"/>
          </a:xfrm>
        </p:grpSpPr>
        <p:sp>
          <p:nvSpPr>
            <p:cNvPr id="2" name="矩形 1"/>
            <p:cNvSpPr/>
            <p:nvPr/>
          </p:nvSpPr>
          <p:spPr>
            <a:xfrm>
              <a:off x="4092091" y="1418376"/>
              <a:ext cx="191142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srgbClr val="000000"/>
                  </a:solidFill>
                  <a:sym typeface="Gill Sans" charset="0"/>
                </a:rPr>
                <a:t>logical right shift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ACAE6AB7-3B5E-724D-AD21-B1F57365723B}"/>
                </a:ext>
              </a:extLst>
            </p:cNvPr>
            <p:cNvCxnSpPr>
              <a:cxnSpLocks/>
            </p:cNvCxnSpPr>
            <p:nvPr/>
          </p:nvCxnSpPr>
          <p:spPr>
            <a:xfrm>
              <a:off x="4622800" y="1828800"/>
              <a:ext cx="942428" cy="12139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179FD91-0E72-7E49-B7C9-25CD5D2011D3}"/>
              </a:ext>
            </a:extLst>
          </p:cNvPr>
          <p:cNvGrpSpPr/>
          <p:nvPr/>
        </p:nvGrpSpPr>
        <p:grpSpPr>
          <a:xfrm>
            <a:off x="2429415" y="4020208"/>
            <a:ext cx="3135813" cy="1744194"/>
            <a:chOff x="2429415" y="4020208"/>
            <a:chExt cx="3135813" cy="174419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87BC10A-9F58-3D47-9C3C-5B952A6C62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9393" y="4020208"/>
              <a:ext cx="1355835" cy="10363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">
              <a:extLst>
                <a:ext uri="{FF2B5EF4-FFF2-40B4-BE49-F238E27FC236}">
                  <a16:creationId xmlns:a16="http://schemas.microsoft.com/office/drawing/2014/main" id="{7BEBF1AF-720D-F848-8E36-3B06D640DAF9}"/>
                </a:ext>
              </a:extLst>
            </p:cNvPr>
            <p:cNvSpPr/>
            <p:nvPr/>
          </p:nvSpPr>
          <p:spPr>
            <a:xfrm>
              <a:off x="2429415" y="5056516"/>
              <a:ext cx="247535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srgbClr val="000000"/>
                  </a:solidFill>
                  <a:sym typeface="Gill Sans" charset="0"/>
                </a:rPr>
                <a:t>Sets RFLAGS based on</a:t>
              </a: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srgbClr val="000000"/>
                  </a:solidFill>
                  <a:sym typeface="Gill Sans" charset="0"/>
                </a:rPr>
                <a:t>result of logical AND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201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xfrm>
            <a:off x="508000" y="105959"/>
            <a:ext cx="8229600" cy="1143000"/>
          </a:xfrm>
          <a:ln/>
        </p:spPr>
        <p:txBody>
          <a:bodyPr>
            <a:normAutofit/>
          </a:bodyPr>
          <a:lstStyle/>
          <a:p>
            <a:pPr marL="119063" indent="-119063"/>
            <a:r>
              <a:rPr lang="en-US"/>
              <a:t>“While” Translation example </a:t>
            </a:r>
          </a:p>
        </p:txBody>
      </p:sp>
      <p:sp>
        <p:nvSpPr>
          <p:cNvPr id="11" name="Rectangle 5"/>
          <p:cNvSpPr>
            <a:spLocks/>
          </p:cNvSpPr>
          <p:nvPr/>
        </p:nvSpPr>
        <p:spPr bwMode="auto">
          <a:xfrm>
            <a:off x="4166551" y="1828800"/>
            <a:ext cx="4114800" cy="28194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altLang="zh-CN">
                <a:latin typeface="Consolas"/>
                <a:cs typeface="Consolas"/>
              </a:rPr>
              <a:t>count</a:t>
            </a:r>
            <a:r>
              <a:rPr lang="en-US" sz="1800">
                <a:latin typeface="Consolas"/>
                <a:cs typeface="Consolas"/>
              </a:rPr>
              <a:t>:</a:t>
            </a:r>
          </a:p>
          <a:p>
            <a:pPr algn="l"/>
            <a:r>
              <a:rPr lang="hr-HR" sz="1800">
                <a:latin typeface="Consolas"/>
                <a:cs typeface="Consolas"/>
              </a:rPr>
              <a:t>	</a:t>
            </a:r>
            <a:r>
              <a:rPr lang="hr-HR" sz="1800" b="1">
                <a:latin typeface="Consolas"/>
                <a:cs typeface="Consolas"/>
              </a:rPr>
              <a:t>movq</a:t>
            </a:r>
            <a:r>
              <a:rPr lang="hr-HR" sz="1800">
                <a:latin typeface="Consolas"/>
                <a:cs typeface="Consolas"/>
              </a:rPr>
              <a:t> $0, %rax</a:t>
            </a:r>
          </a:p>
          <a:p>
            <a:pPr algn="l"/>
            <a:r>
              <a:rPr lang="cs-CZ" sz="1800">
                <a:latin typeface="Consolas"/>
                <a:cs typeface="Consolas"/>
              </a:rPr>
              <a:t>	</a:t>
            </a:r>
            <a:r>
              <a:rPr lang="cs-CZ" sz="1800" b="1" err="1">
                <a:latin typeface="Consolas"/>
                <a:cs typeface="Consolas"/>
              </a:rPr>
              <a:t>jmp</a:t>
            </a:r>
            <a:r>
              <a:rPr lang="cs-CZ" sz="1800">
                <a:latin typeface="Consolas"/>
                <a:cs typeface="Consolas"/>
              </a:rPr>
              <a:t>	.L2</a:t>
            </a:r>
          </a:p>
          <a:p>
            <a:pPr algn="l"/>
            <a:r>
              <a:rPr lang="cs-CZ" sz="1800">
                <a:latin typeface="Consolas"/>
                <a:cs typeface="Consolas"/>
              </a:rPr>
              <a:t>.L3:</a:t>
            </a:r>
          </a:p>
          <a:p>
            <a:pPr algn="l"/>
            <a:r>
              <a:rPr lang="cs-CZ" sz="1800">
                <a:latin typeface="Consolas"/>
                <a:cs typeface="Consolas"/>
              </a:rPr>
              <a:t>	</a:t>
            </a:r>
            <a:r>
              <a:rPr lang="cs-CZ" sz="1800" b="1" err="1">
                <a:latin typeface="Consolas"/>
                <a:cs typeface="Consolas"/>
              </a:rPr>
              <a:t>shrq</a:t>
            </a:r>
            <a:r>
              <a:rPr lang="cs-CZ">
                <a:latin typeface="Consolas"/>
                <a:cs typeface="Consolas"/>
              </a:rPr>
              <a:t> </a:t>
            </a:r>
            <a:r>
              <a:rPr lang="cs-CZ" sz="1800">
                <a:latin typeface="Consolas"/>
                <a:cs typeface="Consolas"/>
              </a:rPr>
              <a:t>%rdi</a:t>
            </a:r>
          </a:p>
          <a:p>
            <a:pPr algn="l"/>
            <a:r>
              <a:rPr lang="nb-NO" sz="1800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addq</a:t>
            </a:r>
            <a:r>
              <a:rPr lang="nb-NO">
                <a:latin typeface="Consolas"/>
                <a:cs typeface="Consolas"/>
              </a:rPr>
              <a:t> </a:t>
            </a:r>
            <a:r>
              <a:rPr lang="nb-NO" sz="1800">
                <a:latin typeface="Consolas"/>
                <a:cs typeface="Consolas"/>
              </a:rPr>
              <a:t>$1, %</a:t>
            </a:r>
            <a:r>
              <a:rPr lang="nb-NO" sz="1800" err="1">
                <a:latin typeface="Consolas"/>
                <a:cs typeface="Consolas"/>
              </a:rPr>
              <a:t>rax</a:t>
            </a:r>
            <a:endParaRPr lang="nb-NO" sz="1800">
              <a:latin typeface="Consolas"/>
              <a:cs typeface="Consolas"/>
            </a:endParaRPr>
          </a:p>
          <a:p>
            <a:pPr algn="l"/>
            <a:r>
              <a:rPr lang="nb-NO" sz="1800">
                <a:latin typeface="Consolas"/>
                <a:cs typeface="Consolas"/>
              </a:rPr>
              <a:t>.L2:</a:t>
            </a:r>
          </a:p>
          <a:p>
            <a:pPr algn="l"/>
            <a:r>
              <a:rPr lang="nb-NO" sz="1800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testq</a:t>
            </a:r>
            <a:r>
              <a:rPr lang="nb-NO">
                <a:latin typeface="Consolas"/>
                <a:cs typeface="Consolas"/>
              </a:rPr>
              <a:t> </a:t>
            </a:r>
            <a:r>
              <a:rPr lang="nb-NO" sz="1800">
                <a:latin typeface="Consolas"/>
                <a:cs typeface="Consolas"/>
              </a:rPr>
              <a:t>%</a:t>
            </a:r>
            <a:r>
              <a:rPr lang="nb-NO" sz="1800" err="1">
                <a:latin typeface="Consolas"/>
                <a:cs typeface="Consolas"/>
              </a:rPr>
              <a:t>rdi</a:t>
            </a:r>
            <a:r>
              <a:rPr lang="nb-NO" sz="1800">
                <a:latin typeface="Consolas"/>
                <a:cs typeface="Consolas"/>
              </a:rPr>
              <a:t>, %</a:t>
            </a:r>
            <a:r>
              <a:rPr lang="nb-NO" sz="1800" err="1">
                <a:latin typeface="Consolas"/>
                <a:cs typeface="Consolas"/>
              </a:rPr>
              <a:t>rdi</a:t>
            </a:r>
            <a:endParaRPr lang="nb-NO" sz="1800">
              <a:latin typeface="Consolas"/>
              <a:cs typeface="Consolas"/>
            </a:endParaRPr>
          </a:p>
          <a:p>
            <a:pPr algn="l"/>
            <a:r>
              <a:rPr lang="nl-NL" sz="1800">
                <a:latin typeface="Consolas"/>
                <a:cs typeface="Consolas"/>
              </a:rPr>
              <a:t>	</a:t>
            </a:r>
            <a:r>
              <a:rPr lang="nl-NL" sz="1800" b="1" err="1">
                <a:latin typeface="Consolas"/>
                <a:cs typeface="Consolas"/>
              </a:rPr>
              <a:t>jne</a:t>
            </a:r>
            <a:r>
              <a:rPr lang="nl-NL" sz="1800">
                <a:latin typeface="Consolas"/>
                <a:cs typeface="Consolas"/>
              </a:rPr>
              <a:t>	.L3</a:t>
            </a:r>
          </a:p>
          <a:p>
            <a:pPr algn="l"/>
            <a:r>
              <a:rPr lang="nl-NL" sz="1800">
                <a:latin typeface="Consolas"/>
                <a:cs typeface="Consolas"/>
              </a:rPr>
              <a:t>	</a:t>
            </a:r>
            <a:r>
              <a:rPr lang="nl-NL" sz="1800" b="1" err="1">
                <a:latin typeface="Consolas"/>
                <a:cs typeface="Consolas"/>
              </a:rPr>
              <a:t>ret</a:t>
            </a:r>
            <a:endParaRPr lang="en-US" sz="1800" b="1">
              <a:latin typeface="Consolas"/>
              <a:cs typeface="Consolas"/>
            </a:endParaRPr>
          </a:p>
          <a:p>
            <a:pPr algn="l"/>
            <a:r>
              <a:rPr lang="en-US" sz="1800">
                <a:latin typeface="Consolas"/>
                <a:cs typeface="Consolas"/>
              </a:rPr>
              <a:t>  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504337"/>
              </p:ext>
            </p:extLst>
          </p:nvPr>
        </p:nvGraphicFramePr>
        <p:xfrm>
          <a:off x="4535204" y="5063358"/>
          <a:ext cx="3352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6907282" y="2080267"/>
            <a:ext cx="1961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 long </a:t>
            </a:r>
            <a:r>
              <a:rPr lang="en-US" altLang="zh-CN" err="1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cnt</a:t>
            </a:r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 = 0;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4" name="Rectangle 4"/>
          <p:cNvSpPr>
            <a:spLocks/>
          </p:cNvSpPr>
          <p:nvPr/>
        </p:nvSpPr>
        <p:spPr bwMode="auto">
          <a:xfrm>
            <a:off x="508000" y="1828800"/>
            <a:ext cx="3584091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>
                <a:latin typeface="Consolas"/>
                <a:cs typeface="Consolas"/>
                <a:sym typeface="Courier New Bold" charset="0"/>
              </a:rPr>
              <a:t>l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ong count(unsigned long x)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long </a:t>
            </a:r>
            <a:r>
              <a:rPr lang="en-US" err="1">
                <a:latin typeface="Consolas"/>
                <a:cs typeface="Consolas"/>
                <a:sym typeface="Courier New Bold" charset="0"/>
              </a:rPr>
              <a:t>cnt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= 0;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while (x != 0) 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	x = x &gt;&gt; 1;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	</a:t>
            </a:r>
            <a:r>
              <a:rPr lang="en-US" err="1">
                <a:latin typeface="Consolas"/>
                <a:cs typeface="Consolas"/>
                <a:sym typeface="Courier New Bold" charset="0"/>
              </a:rPr>
              <a:t>cnt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++;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}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 return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cnt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</a:t>
            </a:r>
          </a:p>
        </p:txBody>
      </p:sp>
      <p:sp>
        <p:nvSpPr>
          <p:cNvPr id="15" name="矩形 13">
            <a:extLst>
              <a:ext uri="{FF2B5EF4-FFF2-40B4-BE49-F238E27FC236}">
                <a16:creationId xmlns:a16="http://schemas.microsoft.com/office/drawing/2014/main" id="{A5F070F5-6841-C745-A33F-82CF7973340A}"/>
              </a:ext>
            </a:extLst>
          </p:cNvPr>
          <p:cNvSpPr/>
          <p:nvPr/>
        </p:nvSpPr>
        <p:spPr>
          <a:xfrm>
            <a:off x="7047923" y="2394234"/>
            <a:ext cx="11999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goto</a:t>
            </a:r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 .L2</a:t>
            </a:r>
            <a:endParaRPr lang="zh-CN" altLang="en-US">
              <a:solidFill>
                <a:srgbClr val="0000FF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3CADC15-B76E-1540-BE49-DBEC0F5A32F7}"/>
              </a:ext>
            </a:extLst>
          </p:cNvPr>
          <p:cNvGrpSpPr/>
          <p:nvPr/>
        </p:nvGrpSpPr>
        <p:grpSpPr>
          <a:xfrm>
            <a:off x="6584641" y="3458212"/>
            <a:ext cx="2657652" cy="1435862"/>
            <a:chOff x="6584641" y="3458212"/>
            <a:chExt cx="2657652" cy="1435862"/>
          </a:xfrm>
        </p:grpSpPr>
        <p:sp>
          <p:nvSpPr>
            <p:cNvPr id="16" name="矩形 16">
              <a:extLst>
                <a:ext uri="{FF2B5EF4-FFF2-40B4-BE49-F238E27FC236}">
                  <a16:creationId xmlns:a16="http://schemas.microsoft.com/office/drawing/2014/main" id="{45FED3E8-E190-AF42-B6C6-FA155A8CC943}"/>
                </a:ext>
              </a:extLst>
            </p:cNvPr>
            <p:cNvSpPr/>
            <p:nvPr/>
          </p:nvSpPr>
          <p:spPr>
            <a:xfrm>
              <a:off x="7142230" y="3693745"/>
              <a:ext cx="2100063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>
                  <a:solidFill>
                    <a:srgbClr val="0000FF"/>
                  </a:solidFill>
                  <a:latin typeface="Consolas"/>
                  <a:cs typeface="Consolas"/>
                </a:rPr>
                <a:t>if x != 0 </a:t>
              </a:r>
            </a:p>
            <a:p>
              <a:r>
                <a:rPr lang="en-US" altLang="zh-CN">
                  <a:solidFill>
                    <a:srgbClr val="0000FF"/>
                  </a:solidFill>
                  <a:latin typeface="Consolas"/>
                  <a:cs typeface="Consolas"/>
                </a:rPr>
                <a:t>  </a:t>
              </a:r>
              <a:r>
                <a:rPr lang="en-US" altLang="zh-CN" err="1">
                  <a:solidFill>
                    <a:srgbClr val="0000FF"/>
                  </a:solidFill>
                  <a:latin typeface="Consolas"/>
                  <a:cs typeface="Consolas"/>
                </a:rPr>
                <a:t>goto</a:t>
              </a:r>
              <a:r>
                <a:rPr lang="en-US" altLang="zh-CN">
                  <a:solidFill>
                    <a:srgbClr val="0000FF"/>
                  </a:solidFill>
                  <a:latin typeface="Consolas"/>
                  <a:cs typeface="Consolas"/>
                </a:rPr>
                <a:t> .L3</a:t>
              </a:r>
            </a:p>
            <a:p>
              <a:endParaRPr lang="en-US" altLang="zh-CN">
                <a:solidFill>
                  <a:srgbClr val="0000FF"/>
                </a:solidFill>
                <a:latin typeface="Consolas"/>
                <a:cs typeface="Consolas"/>
              </a:endParaRPr>
            </a:p>
            <a:p>
              <a:r>
                <a:rPr lang="en-US" altLang="zh-CN">
                  <a:solidFill>
                    <a:srgbClr val="0000FF"/>
                  </a:solidFill>
                  <a:latin typeface="Consolas"/>
                  <a:cs typeface="Consolas"/>
                </a:rPr>
                <a:t>return </a:t>
              </a:r>
              <a:r>
                <a:rPr lang="en-US" altLang="zh-CN" err="1">
                  <a:solidFill>
                    <a:srgbClr val="0000FF"/>
                  </a:solidFill>
                  <a:latin typeface="Consolas"/>
                  <a:cs typeface="Consolas"/>
                </a:rPr>
                <a:t>cnt</a:t>
              </a:r>
              <a:endParaRPr lang="en-US" altLang="zh-CN">
                <a:solidFill>
                  <a:srgbClr val="0000FF"/>
                </a:solidFill>
                <a:latin typeface="Consolas"/>
                <a:cs typeface="Consolas"/>
              </a:endParaRPr>
            </a:p>
          </p:txBody>
        </p:sp>
        <p:sp>
          <p:nvSpPr>
            <p:cNvPr id="17" name="矩形 17">
              <a:extLst>
                <a:ext uri="{FF2B5EF4-FFF2-40B4-BE49-F238E27FC236}">
                  <a16:creationId xmlns:a16="http://schemas.microsoft.com/office/drawing/2014/main" id="{1681154E-E61E-C74D-805C-47295D01948B}"/>
                </a:ext>
              </a:extLst>
            </p:cNvPr>
            <p:cNvSpPr/>
            <p:nvPr/>
          </p:nvSpPr>
          <p:spPr>
            <a:xfrm>
              <a:off x="6584641" y="3458212"/>
              <a:ext cx="6923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0000FF"/>
                  </a:solidFill>
                  <a:latin typeface="Consolas"/>
                  <a:cs typeface="Consolas"/>
                  <a:sym typeface="Courier New Bold" charset="0"/>
                </a:rPr>
                <a:t>.L2:</a:t>
              </a:r>
              <a:endParaRPr lang="zh-CN" altLang="en-US">
                <a:solidFill>
                  <a:srgbClr val="0000FF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FE87971-9C3E-DF4D-A013-7AF14207C0DF}"/>
              </a:ext>
            </a:extLst>
          </p:cNvPr>
          <p:cNvGrpSpPr/>
          <p:nvPr/>
        </p:nvGrpSpPr>
        <p:grpSpPr>
          <a:xfrm>
            <a:off x="6534335" y="2660672"/>
            <a:ext cx="2695964" cy="903362"/>
            <a:chOff x="6534335" y="2660672"/>
            <a:chExt cx="2695964" cy="903362"/>
          </a:xfrm>
        </p:grpSpPr>
        <p:sp>
          <p:nvSpPr>
            <p:cNvPr id="18" name="矩形 14">
              <a:extLst>
                <a:ext uri="{FF2B5EF4-FFF2-40B4-BE49-F238E27FC236}">
                  <a16:creationId xmlns:a16="http://schemas.microsoft.com/office/drawing/2014/main" id="{12D9E5CD-B34B-1943-A0D7-2DA207C6E089}"/>
                </a:ext>
              </a:extLst>
            </p:cNvPr>
            <p:cNvSpPr/>
            <p:nvPr/>
          </p:nvSpPr>
          <p:spPr>
            <a:xfrm>
              <a:off x="6534335" y="2660672"/>
              <a:ext cx="6923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0000FF"/>
                  </a:solidFill>
                  <a:latin typeface="Consolas"/>
                  <a:cs typeface="Consolas"/>
                  <a:sym typeface="Courier New Bold" charset="0"/>
                </a:rPr>
                <a:t>.L3:</a:t>
              </a:r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19" name="矩形 3">
              <a:extLst>
                <a:ext uri="{FF2B5EF4-FFF2-40B4-BE49-F238E27FC236}">
                  <a16:creationId xmlns:a16="http://schemas.microsoft.com/office/drawing/2014/main" id="{B8E40FA7-D70F-7F40-8A12-ACBD6D86A637}"/>
                </a:ext>
              </a:extLst>
            </p:cNvPr>
            <p:cNvSpPr/>
            <p:nvPr/>
          </p:nvSpPr>
          <p:spPr>
            <a:xfrm>
              <a:off x="7130236" y="2917703"/>
              <a:ext cx="210006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cs-CZ" altLang="zh-CN" err="1">
                  <a:solidFill>
                    <a:srgbClr val="0000FF"/>
                  </a:solidFill>
                  <a:latin typeface="Consolas"/>
                  <a:cs typeface="Consolas"/>
                </a:rPr>
                <a:t>x</a:t>
              </a:r>
              <a:r>
                <a:rPr lang="cs-CZ" altLang="zh-CN">
                  <a:solidFill>
                    <a:srgbClr val="0000FF"/>
                  </a:solidFill>
                  <a:latin typeface="Consolas"/>
                  <a:cs typeface="Consolas"/>
                </a:rPr>
                <a:t> = </a:t>
              </a:r>
              <a:r>
                <a:rPr lang="cs-CZ" altLang="zh-CN" err="1">
                  <a:solidFill>
                    <a:srgbClr val="0000FF"/>
                  </a:solidFill>
                  <a:latin typeface="Consolas"/>
                  <a:cs typeface="Consolas"/>
                </a:rPr>
                <a:t>x</a:t>
              </a:r>
              <a:r>
                <a:rPr lang="cs-CZ" altLang="zh-CN">
                  <a:solidFill>
                    <a:srgbClr val="0000FF"/>
                  </a:solidFill>
                  <a:latin typeface="Consolas"/>
                  <a:cs typeface="Consolas"/>
                </a:rPr>
                <a:t> &gt;&gt; 1</a:t>
              </a:r>
            </a:p>
            <a:p>
              <a:r>
                <a:rPr lang="cs-CZ" altLang="zh-CN">
                  <a:solidFill>
                    <a:srgbClr val="0000FF"/>
                  </a:solidFill>
                  <a:latin typeface="Consolas"/>
                  <a:cs typeface="Consolas"/>
                </a:rPr>
                <a:t>c</a:t>
              </a:r>
              <a:r>
                <a:rPr lang="en-US" altLang="zh-CN" err="1">
                  <a:solidFill>
                    <a:srgbClr val="0000FF"/>
                  </a:solidFill>
                  <a:latin typeface="Consolas"/>
                  <a:cs typeface="Consolas"/>
                </a:rPr>
                <a:t>nt</a:t>
              </a:r>
              <a:r>
                <a:rPr lang="en-US" altLang="zh-CN">
                  <a:solidFill>
                    <a:srgbClr val="0000FF"/>
                  </a:solidFill>
                  <a:latin typeface="Consolas"/>
                  <a:cs typeface="Consolas"/>
                </a:rPr>
                <a:t> </a:t>
              </a:r>
              <a:r>
                <a:rPr lang="nb-NO" altLang="zh-CN">
                  <a:solidFill>
                    <a:srgbClr val="0000FF"/>
                  </a:solidFill>
                  <a:latin typeface="Consolas"/>
                  <a:cs typeface="Consolas"/>
                </a:rPr>
                <a:t>= </a:t>
              </a:r>
              <a:r>
                <a:rPr lang="nb-NO" altLang="zh-CN" err="1">
                  <a:solidFill>
                    <a:srgbClr val="0000FF"/>
                  </a:solidFill>
                  <a:latin typeface="Consolas"/>
                  <a:cs typeface="Consolas"/>
                </a:rPr>
                <a:t>cnt</a:t>
              </a:r>
              <a:r>
                <a:rPr lang="nb-NO" altLang="zh-CN">
                  <a:solidFill>
                    <a:srgbClr val="0000FF"/>
                  </a:solidFill>
                  <a:latin typeface="Consolas"/>
                  <a:cs typeface="Consolas"/>
                </a:rPr>
                <a:t> + 1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A3EFB09-D822-DC4F-B13D-83B2DCDE7204}"/>
              </a:ext>
            </a:extLst>
          </p:cNvPr>
          <p:cNvSpPr/>
          <p:nvPr/>
        </p:nvSpPr>
        <p:spPr>
          <a:xfrm>
            <a:off x="4535204" y="2080267"/>
            <a:ext cx="1849830" cy="313967"/>
          </a:xfrm>
          <a:prstGeom prst="rect">
            <a:avLst/>
          </a:prstGeom>
          <a:solidFill>
            <a:schemeClr val="tx2">
              <a:lumMod val="20000"/>
              <a:lumOff val="80000"/>
              <a:alpha val="4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C90531-EBFE-F941-BB06-CC633C126663}"/>
              </a:ext>
            </a:extLst>
          </p:cNvPr>
          <p:cNvSpPr/>
          <p:nvPr/>
        </p:nvSpPr>
        <p:spPr>
          <a:xfrm>
            <a:off x="4554721" y="2421916"/>
            <a:ext cx="1849830" cy="313967"/>
          </a:xfrm>
          <a:prstGeom prst="rect">
            <a:avLst/>
          </a:prstGeom>
          <a:solidFill>
            <a:schemeClr val="tx2">
              <a:lumMod val="20000"/>
              <a:lumOff val="80000"/>
              <a:alpha val="4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C43824-EA4C-534A-A424-F6B3267036A2}"/>
              </a:ext>
            </a:extLst>
          </p:cNvPr>
          <p:cNvSpPr/>
          <p:nvPr/>
        </p:nvSpPr>
        <p:spPr>
          <a:xfrm>
            <a:off x="4535204" y="3662018"/>
            <a:ext cx="2180905" cy="986181"/>
          </a:xfrm>
          <a:prstGeom prst="rect">
            <a:avLst/>
          </a:prstGeom>
          <a:solidFill>
            <a:schemeClr val="tx2">
              <a:lumMod val="20000"/>
              <a:lumOff val="80000"/>
              <a:alpha val="4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07CDB2-FD0E-6A47-AC97-5D890C2EEC6A}"/>
              </a:ext>
            </a:extLst>
          </p:cNvPr>
          <p:cNvSpPr/>
          <p:nvPr/>
        </p:nvSpPr>
        <p:spPr>
          <a:xfrm>
            <a:off x="4545627" y="2770702"/>
            <a:ext cx="2100063" cy="854909"/>
          </a:xfrm>
          <a:prstGeom prst="rect">
            <a:avLst/>
          </a:prstGeom>
          <a:solidFill>
            <a:schemeClr val="tx2">
              <a:lumMod val="20000"/>
              <a:lumOff val="80000"/>
              <a:alpha val="4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6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8" grpId="0" animBg="1"/>
      <p:bldP spid="20" grpId="0" animBg="1"/>
      <p:bldP spid="21" grpId="0" animBg="1"/>
      <p:bldP spid="2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“For” Loop translation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81000" y="1676400"/>
            <a:ext cx="4419600" cy="1013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for (</a:t>
            </a:r>
            <a:r>
              <a:rPr lang="en-US" sz="2400" i="1">
                <a:latin typeface="+mj-lt"/>
              </a:rPr>
              <a:t>Init</a:t>
            </a:r>
            <a:r>
              <a:rPr lang="en-US" sz="2400">
                <a:latin typeface="Courier New" charset="0"/>
              </a:rPr>
              <a:t>; </a:t>
            </a:r>
            <a:r>
              <a:rPr lang="en-US" sz="2400" i="1">
                <a:latin typeface="+mj-lt"/>
              </a:rPr>
              <a:t>Test</a:t>
            </a:r>
            <a:r>
              <a:rPr lang="en-US" sz="2400">
                <a:latin typeface="Courier New" charset="0"/>
              </a:rPr>
              <a:t>; </a:t>
            </a:r>
            <a:r>
              <a:rPr lang="en-US" sz="2400" i="1">
                <a:latin typeface="+mj-lt"/>
              </a:rPr>
              <a:t>Update</a:t>
            </a:r>
            <a:r>
              <a:rPr lang="en-US" sz="2400" i="1"/>
              <a:t> </a:t>
            </a:r>
            <a:r>
              <a:rPr lang="en-US" sz="2400">
                <a:latin typeface="Courier New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    </a:t>
            </a:r>
            <a:r>
              <a:rPr lang="en-US" sz="2400" i="1">
                <a:latin typeface="+mj-lt"/>
              </a:rPr>
              <a:t>Body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514350" y="1143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>
                <a:solidFill>
                  <a:schemeClr val="tx2"/>
                </a:solidFill>
                <a:latin typeface="+mj-lt"/>
              </a:rPr>
              <a:t>For Version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1447800" y="3962400"/>
            <a:ext cx="2819400" cy="26750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i="1">
                <a:latin typeface="+mj-lt"/>
              </a:rPr>
              <a:t>Init</a:t>
            </a:r>
            <a:r>
              <a:rPr lang="en-US" sz="2400" i="1">
                <a:latin typeface="Courier New" charset="0"/>
              </a:rPr>
              <a:t>;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while (</a:t>
            </a:r>
            <a:r>
              <a:rPr lang="en-US" sz="2400" i="1">
                <a:latin typeface="+mj-lt"/>
              </a:rPr>
              <a:t>Test </a:t>
            </a:r>
            <a:r>
              <a:rPr lang="en-US" sz="2400">
                <a:latin typeface="Courier New" charset="0"/>
              </a:rPr>
              <a:t>) {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    </a:t>
            </a:r>
            <a:r>
              <a:rPr lang="en-US" sz="2400" i="1">
                <a:latin typeface="+mj-lt"/>
              </a:rPr>
              <a:t>Body</a:t>
            </a:r>
            <a:endParaRPr lang="en-US" sz="2400" i="1"/>
          </a:p>
          <a:p>
            <a:pPr algn="l">
              <a:spcBef>
                <a:spcPct val="50000"/>
              </a:spcBef>
            </a:pPr>
            <a:r>
              <a:rPr lang="en-US" sz="2400" i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i="1">
                <a:latin typeface="+mj-lt"/>
              </a:rPr>
              <a:t>Update</a:t>
            </a:r>
            <a:r>
              <a:rPr lang="en-US" sz="240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>
              <a:spcBef>
                <a:spcPct val="50000"/>
              </a:spcBef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590550" y="3429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>
                <a:solidFill>
                  <a:schemeClr val="tx2"/>
                </a:solidFill>
                <a:latin typeface="+mj-lt"/>
              </a:rPr>
              <a:t>While Version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9" name="AutoShape 10"/>
          <p:cNvSpPr>
            <a:spLocks/>
          </p:cNvSpPr>
          <p:nvPr/>
        </p:nvSpPr>
        <p:spPr bwMode="auto">
          <a:xfrm>
            <a:off x="2438400" y="2895600"/>
            <a:ext cx="762000" cy="842963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1842"/>
                </a:moveTo>
                <a:lnTo>
                  <a:pt x="5400" y="11842"/>
                </a:lnTo>
                <a:lnTo>
                  <a:pt x="5400" y="0"/>
                </a:lnTo>
                <a:lnTo>
                  <a:pt x="16200" y="0"/>
                </a:lnTo>
                <a:lnTo>
                  <a:pt x="16200" y="11842"/>
                </a:lnTo>
                <a:lnTo>
                  <a:pt x="21600" y="11842"/>
                </a:lnTo>
                <a:lnTo>
                  <a:pt x="10800" y="21600"/>
                </a:lnTo>
                <a:close/>
                <a:moveTo>
                  <a:pt x="0" y="11842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106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“Loop” Translation example</a:t>
            </a:r>
          </a:p>
        </p:txBody>
      </p:sp>
      <p:sp>
        <p:nvSpPr>
          <p:cNvPr id="10" name="Rectangle 4"/>
          <p:cNvSpPr>
            <a:spLocks/>
          </p:cNvSpPr>
          <p:nvPr/>
        </p:nvSpPr>
        <p:spPr bwMode="auto">
          <a:xfrm>
            <a:off x="507999" y="1828800"/>
            <a:ext cx="3591891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>
                <a:latin typeface="Consolas"/>
                <a:cs typeface="Consolas"/>
                <a:sym typeface="Courier New Bold" charset="0"/>
              </a:rPr>
              <a:t>long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sum(</a:t>
            </a:r>
            <a:r>
              <a:rPr lang="en-US">
                <a:latin typeface="Consolas"/>
                <a:cs typeface="Consolas"/>
                <a:sym typeface="Courier New Bold" charset="0"/>
              </a:rPr>
              <a:t>long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n)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</a:t>
            </a:r>
            <a:r>
              <a:rPr lang="en-US">
                <a:latin typeface="Consolas"/>
                <a:cs typeface="Consolas"/>
                <a:sym typeface="Courier New Bold" charset="0"/>
              </a:rPr>
              <a:t>long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s = 0;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for (long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=0;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&lt;n;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++){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	s +=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}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return s;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</a:t>
            </a:r>
          </a:p>
        </p:txBody>
      </p:sp>
      <p:sp>
        <p:nvSpPr>
          <p:cNvPr id="11" name="Rectangle 5"/>
          <p:cNvSpPr>
            <a:spLocks/>
          </p:cNvSpPr>
          <p:nvPr/>
        </p:nvSpPr>
        <p:spPr bwMode="auto">
          <a:xfrm>
            <a:off x="4380315" y="1760188"/>
            <a:ext cx="4114800" cy="32004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800" b="1">
                <a:latin typeface="Consolas"/>
                <a:cs typeface="Consolas"/>
              </a:rPr>
              <a:t>sum:</a:t>
            </a:r>
          </a:p>
          <a:p>
            <a:pPr algn="l"/>
            <a:r>
              <a:rPr lang="hr-HR" sz="1800" b="1">
                <a:latin typeface="Consolas"/>
                <a:cs typeface="Consolas"/>
              </a:rPr>
              <a:t>	mov</a:t>
            </a:r>
            <a:r>
              <a:rPr lang="en-US" sz="1800" b="1">
                <a:latin typeface="Consolas"/>
                <a:cs typeface="Consolas"/>
              </a:rPr>
              <a:t>q</a:t>
            </a:r>
            <a:r>
              <a:rPr lang="hr-HR" sz="1800" b="1">
                <a:latin typeface="Consolas"/>
                <a:cs typeface="Consolas"/>
              </a:rPr>
              <a:t> </a:t>
            </a:r>
            <a:r>
              <a:rPr lang="hr-HR" sz="1800">
                <a:latin typeface="Consolas"/>
                <a:cs typeface="Consolas"/>
              </a:rPr>
              <a:t>$0, %</a:t>
            </a:r>
            <a:r>
              <a:rPr lang="en-US" sz="1800">
                <a:latin typeface="Consolas"/>
                <a:cs typeface="Consolas"/>
              </a:rPr>
              <a:t>r</a:t>
            </a:r>
            <a:r>
              <a:rPr lang="hr-HR" sz="1800">
                <a:latin typeface="Consolas"/>
                <a:cs typeface="Consolas"/>
              </a:rPr>
              <a:t>dx</a:t>
            </a:r>
          </a:p>
          <a:p>
            <a:pPr algn="l"/>
            <a:r>
              <a:rPr lang="hr-HR" sz="1800" b="1">
                <a:latin typeface="Consolas"/>
                <a:cs typeface="Consolas"/>
              </a:rPr>
              <a:t>	mov</a:t>
            </a:r>
            <a:r>
              <a:rPr lang="en-US" sz="1800" b="1">
                <a:latin typeface="Consolas"/>
                <a:cs typeface="Consolas"/>
              </a:rPr>
              <a:t>q</a:t>
            </a:r>
            <a:r>
              <a:rPr lang="hr-HR" sz="1800" b="1">
                <a:latin typeface="Consolas"/>
                <a:cs typeface="Consolas"/>
              </a:rPr>
              <a:t> </a:t>
            </a:r>
            <a:r>
              <a:rPr lang="hr-HR" sz="1800">
                <a:latin typeface="Consolas"/>
                <a:cs typeface="Consolas"/>
              </a:rPr>
              <a:t>$0, %</a:t>
            </a:r>
            <a:r>
              <a:rPr lang="en-US" sz="1800">
                <a:latin typeface="Consolas"/>
                <a:cs typeface="Consolas"/>
              </a:rPr>
              <a:t>r</a:t>
            </a:r>
            <a:r>
              <a:rPr lang="hr-HR" sz="1800">
                <a:latin typeface="Consolas"/>
                <a:cs typeface="Consolas"/>
              </a:rPr>
              <a:t>ax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	</a:t>
            </a:r>
            <a:r>
              <a:rPr lang="cs-CZ" sz="1800" b="1" err="1">
                <a:latin typeface="Consolas"/>
                <a:cs typeface="Consolas"/>
              </a:rPr>
              <a:t>jmp</a:t>
            </a:r>
            <a:r>
              <a:rPr lang="cs-CZ" sz="1800" b="1">
                <a:latin typeface="Consolas"/>
                <a:cs typeface="Consolas"/>
              </a:rPr>
              <a:t>	.L5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.L6: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	add</a:t>
            </a:r>
            <a:r>
              <a:rPr lang="en-US" sz="1800" b="1">
                <a:latin typeface="Consolas"/>
                <a:cs typeface="Consolas"/>
              </a:rPr>
              <a:t>q</a:t>
            </a:r>
            <a:r>
              <a:rPr lang="cs-CZ" b="1">
                <a:latin typeface="Consolas"/>
                <a:cs typeface="Consolas"/>
              </a:rPr>
              <a:t> </a:t>
            </a:r>
            <a:r>
              <a:rPr lang="cs-CZ" sz="1800">
                <a:latin typeface="Consolas"/>
                <a:cs typeface="Consolas"/>
              </a:rPr>
              <a:t>%</a:t>
            </a:r>
            <a:r>
              <a:rPr lang="en-US">
                <a:latin typeface="Consolas"/>
                <a:cs typeface="Consolas"/>
              </a:rPr>
              <a:t>r</a:t>
            </a:r>
            <a:r>
              <a:rPr lang="cs-CZ" sz="1800">
                <a:latin typeface="Consolas"/>
                <a:cs typeface="Consolas"/>
              </a:rPr>
              <a:t>dx, %</a:t>
            </a:r>
            <a:r>
              <a:rPr lang="en-US">
                <a:latin typeface="Consolas"/>
                <a:cs typeface="Consolas"/>
              </a:rPr>
              <a:t>r</a:t>
            </a:r>
            <a:r>
              <a:rPr lang="cs-CZ" sz="1800">
                <a:latin typeface="Consolas"/>
                <a:cs typeface="Consolas"/>
              </a:rPr>
              <a:t>ax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	addq</a:t>
            </a:r>
            <a:r>
              <a:rPr lang="nb-NO" b="1">
                <a:latin typeface="Consolas"/>
                <a:cs typeface="Consolas"/>
              </a:rPr>
              <a:t> </a:t>
            </a:r>
            <a:r>
              <a:rPr lang="nb-NO" sz="1800">
                <a:latin typeface="Consolas"/>
                <a:cs typeface="Consolas"/>
              </a:rPr>
              <a:t>$1, %rdx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.L5: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	cmpq</a:t>
            </a:r>
            <a:r>
              <a:rPr lang="nb-NO" b="1">
                <a:latin typeface="Consolas"/>
                <a:cs typeface="Consolas"/>
              </a:rPr>
              <a:t> </a:t>
            </a:r>
            <a:r>
              <a:rPr lang="nb-NO" sz="1800">
                <a:latin typeface="Consolas"/>
                <a:cs typeface="Consolas"/>
              </a:rPr>
              <a:t>%</a:t>
            </a:r>
            <a:r>
              <a:rPr lang="nb-NO">
                <a:latin typeface="Consolas"/>
                <a:cs typeface="Consolas"/>
              </a:rPr>
              <a:t>r</a:t>
            </a:r>
            <a:r>
              <a:rPr lang="nb-NO" sz="1800">
                <a:latin typeface="Consolas"/>
                <a:cs typeface="Consolas"/>
              </a:rPr>
              <a:t>di, %</a:t>
            </a:r>
            <a:r>
              <a:rPr lang="nb-NO">
                <a:latin typeface="Consolas"/>
                <a:cs typeface="Consolas"/>
              </a:rPr>
              <a:t>r</a:t>
            </a:r>
            <a:r>
              <a:rPr lang="nb-NO" sz="1800">
                <a:latin typeface="Consolas"/>
                <a:cs typeface="Consolas"/>
              </a:rPr>
              <a:t>dx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jl</a:t>
            </a:r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>
                <a:latin typeface="Consolas"/>
                <a:cs typeface="Consolas"/>
              </a:rPr>
              <a:t>.L6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err="1">
                <a:latin typeface="Consolas"/>
                <a:cs typeface="Consolas"/>
              </a:rPr>
              <a:t>ret</a:t>
            </a:r>
            <a:endParaRPr lang="nb-NO" sz="1800">
              <a:latin typeface="Consolas"/>
              <a:cs typeface="Consolas"/>
            </a:endParaRPr>
          </a:p>
        </p:txBody>
      </p:sp>
      <p:sp>
        <p:nvSpPr>
          <p:cNvPr id="1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685800"/>
          </a:xfrm>
        </p:spPr>
        <p:txBody>
          <a:bodyPr/>
          <a:lstStyle/>
          <a:p>
            <a:r>
              <a:rPr lang="en-US" b="1" err="1">
                <a:solidFill>
                  <a:srgbClr val="800000"/>
                </a:solidFill>
                <a:latin typeface="Courier New"/>
                <a:cs typeface="Courier New"/>
              </a:rPr>
              <a:t>gcc</a:t>
            </a:r>
            <a:r>
              <a:rPr lang="en-US" b="1">
                <a:solidFill>
                  <a:srgbClr val="800000"/>
                </a:solidFill>
                <a:latin typeface="Courier New"/>
                <a:cs typeface="Courier New"/>
              </a:rPr>
              <a:t> –</a:t>
            </a:r>
            <a:r>
              <a:rPr lang="en-US" b="1" err="1">
                <a:solidFill>
                  <a:srgbClr val="800000"/>
                </a:solidFill>
                <a:latin typeface="Courier New"/>
                <a:cs typeface="Courier New"/>
              </a:rPr>
              <a:t>Og</a:t>
            </a:r>
            <a:r>
              <a:rPr lang="en-US" b="1">
                <a:solidFill>
                  <a:srgbClr val="800000"/>
                </a:solidFill>
                <a:latin typeface="Courier New"/>
                <a:cs typeface="Courier New"/>
              </a:rPr>
              <a:t> –S *.c</a:t>
            </a:r>
          </a:p>
        </p:txBody>
      </p:sp>
      <p:graphicFrame>
        <p:nvGraphicFramePr>
          <p:cNvPr id="8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105458"/>
              </p:ext>
            </p:extLst>
          </p:nvPr>
        </p:nvGraphicFramePr>
        <p:xfrm>
          <a:off x="609600" y="4953000"/>
          <a:ext cx="3352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Calibri"/>
                          <a:cs typeface="Calibri"/>
                        </a:rPr>
                        <a:t>Return value (s)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2159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9DAFE-FF6F-4C0C-9837-8F2DD9F1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23A9F-C9C9-447B-A205-BA259778A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CPU implements non-linear control flow</a:t>
            </a:r>
          </a:p>
          <a:p>
            <a:r>
              <a:rPr lang="en-US"/>
              <a:t>Special register RFLAGS encodes status flags (ZF, SF, CF, OF) </a:t>
            </a:r>
          </a:p>
          <a:p>
            <a:r>
              <a:rPr lang="en-US" err="1">
                <a:latin typeface="Consolas" panose="020B0609020204030204" pitchFamily="49" charset="0"/>
              </a:rPr>
              <a:t>cmp</a:t>
            </a:r>
            <a:r>
              <a:rPr lang="en-US"/>
              <a:t> (or </a:t>
            </a:r>
            <a:r>
              <a:rPr lang="en-US">
                <a:latin typeface="Consolas" panose="020B0609020204030204" pitchFamily="49" charset="0"/>
              </a:rPr>
              <a:t>test</a:t>
            </a:r>
            <a:r>
              <a:rPr lang="en-US"/>
              <a:t>) followed by </a:t>
            </a:r>
            <a:r>
              <a:rPr lang="en-US" err="1">
                <a:latin typeface="Consolas" panose="020B0609020204030204" pitchFamily="49" charset="0"/>
              </a:rPr>
              <a:t>jmp</a:t>
            </a:r>
            <a:r>
              <a:rPr lang="en-US"/>
              <a:t> (or </a:t>
            </a:r>
            <a:r>
              <a:rPr lang="en-US">
                <a:latin typeface="Consolas" panose="020B0609020204030204" pitchFamily="49" charset="0"/>
              </a:rPr>
              <a:t>set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00751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603669"/>
              </p:ext>
            </p:extLst>
          </p:nvPr>
        </p:nvGraphicFramePr>
        <p:xfrm>
          <a:off x="329250" y="1785020"/>
          <a:ext cx="8125385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9220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747056"/>
              </p:ext>
            </p:extLst>
          </p:nvPr>
        </p:nvGraphicFramePr>
        <p:xfrm>
          <a:off x="329250" y="1785020"/>
          <a:ext cx="8125385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066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520134"/>
              </p:ext>
            </p:extLst>
          </p:nvPr>
        </p:nvGraphicFramePr>
        <p:xfrm>
          <a:off x="329250" y="1785020"/>
          <a:ext cx="8125385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8241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936803"/>
              </p:ext>
            </p:extLst>
          </p:nvPr>
        </p:nvGraphicFramePr>
        <p:xfrm>
          <a:off x="329250" y="1785020"/>
          <a:ext cx="8125385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4809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81601"/>
              </p:ext>
            </p:extLst>
          </p:nvPr>
        </p:nvGraphicFramePr>
        <p:xfrm>
          <a:off x="329250" y="1785020"/>
          <a:ext cx="8125385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8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src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err="1">
                          <a:latin typeface="Consolas"/>
                          <a:cs typeface="Consolas"/>
                        </a:rPr>
                        <a:t>dest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operation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addl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0xffffffff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err="1">
                          <a:latin typeface="Consolas"/>
                          <a:cs typeface="Consolas"/>
                        </a:rPr>
                        <a:t>subl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2217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20966"/>
              </p:ext>
            </p:extLst>
          </p:nvPr>
        </p:nvGraphicFramePr>
        <p:xfrm>
          <a:off x="329251" y="1937878"/>
          <a:ext cx="8357549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4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>
                          <a:latin typeface="Consolas"/>
                          <a:cs typeface="Consolas"/>
                        </a:rPr>
                        <a:t>%</a:t>
                      </a:r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rax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0x20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0x8000000000000000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29250" y="1230868"/>
            <a:ext cx="24408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err="1">
                <a:solidFill>
                  <a:prstClr val="black"/>
                </a:solidFill>
                <a:latin typeface="Consolas"/>
                <a:cs typeface="Consolas"/>
              </a:rPr>
              <a:t>cmp</a:t>
            </a:r>
            <a:r>
              <a:rPr lang="mr-IN" altLang="zh-CN" sz="2000" b="1">
                <a:solidFill>
                  <a:prstClr val="black"/>
                </a:solidFill>
                <a:latin typeface="Consolas"/>
                <a:cs typeface="Consolas"/>
              </a:rPr>
              <a:t>q</a:t>
            </a:r>
            <a:r>
              <a:rPr lang="en-US" altLang="zh-CN" sz="2000" b="1">
                <a:solidFill>
                  <a:prstClr val="black"/>
                </a:solidFill>
                <a:latin typeface="Consolas"/>
                <a:cs typeface="Consolas"/>
              </a:rPr>
              <a:t> $</a:t>
            </a:r>
            <a:r>
              <a:rPr lang="en-US" altLang="zh-CN" sz="2000">
                <a:solidFill>
                  <a:prstClr val="black"/>
                </a:solidFill>
                <a:latin typeface="Consolas"/>
                <a:cs typeface="Consolas"/>
              </a:rPr>
              <a:t>0x10, %</a:t>
            </a:r>
            <a:r>
              <a:rPr lang="en-US" altLang="zh-CN" sz="20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2000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mr-IN" altLang="zh-CN" sz="2000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endParaRPr lang="zh-CN" altLang="en-US" sz="20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1305851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293952"/>
              </p:ext>
            </p:extLst>
          </p:nvPr>
        </p:nvGraphicFramePr>
        <p:xfrm>
          <a:off x="329251" y="1937878"/>
          <a:ext cx="8357549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4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>
                          <a:latin typeface="Consolas"/>
                          <a:cs typeface="Consolas"/>
                        </a:rPr>
                        <a:t>%</a:t>
                      </a:r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rax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0`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0x20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0x8000000000000000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29250" y="1230868"/>
            <a:ext cx="24408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err="1">
                <a:solidFill>
                  <a:prstClr val="black"/>
                </a:solidFill>
                <a:latin typeface="Consolas"/>
                <a:cs typeface="Consolas"/>
              </a:rPr>
              <a:t>cmp</a:t>
            </a:r>
            <a:r>
              <a:rPr lang="mr-IN" altLang="zh-CN" sz="2000" b="1">
                <a:solidFill>
                  <a:prstClr val="black"/>
                </a:solidFill>
                <a:latin typeface="Consolas"/>
                <a:cs typeface="Consolas"/>
              </a:rPr>
              <a:t>q</a:t>
            </a:r>
            <a:r>
              <a:rPr lang="en-US" altLang="zh-CN" sz="2000" b="1">
                <a:solidFill>
                  <a:prstClr val="black"/>
                </a:solidFill>
                <a:latin typeface="Consolas"/>
                <a:cs typeface="Consolas"/>
              </a:rPr>
              <a:t> $</a:t>
            </a:r>
            <a:r>
              <a:rPr lang="en-US" altLang="zh-CN" sz="2000">
                <a:solidFill>
                  <a:prstClr val="black"/>
                </a:solidFill>
                <a:latin typeface="Consolas"/>
                <a:cs typeface="Consolas"/>
              </a:rPr>
              <a:t>0x10, %</a:t>
            </a:r>
            <a:r>
              <a:rPr lang="en-US" altLang="zh-CN" sz="20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2000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mr-IN" altLang="zh-CN" sz="2000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endParaRPr lang="zh-CN" altLang="en-US" sz="20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586957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64222"/>
              </p:ext>
            </p:extLst>
          </p:nvPr>
        </p:nvGraphicFramePr>
        <p:xfrm>
          <a:off x="329251" y="1937878"/>
          <a:ext cx="8357549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4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>
                          <a:latin typeface="Consolas"/>
                          <a:cs typeface="Consolas"/>
                        </a:rPr>
                        <a:t>%</a:t>
                      </a:r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rax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0`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0x20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0x8000000000000000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29250" y="1230868"/>
            <a:ext cx="24408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err="1">
                <a:solidFill>
                  <a:prstClr val="black"/>
                </a:solidFill>
                <a:latin typeface="Consolas"/>
                <a:cs typeface="Consolas"/>
              </a:rPr>
              <a:t>cmp</a:t>
            </a:r>
            <a:r>
              <a:rPr lang="mr-IN" altLang="zh-CN" sz="2000" b="1">
                <a:solidFill>
                  <a:prstClr val="black"/>
                </a:solidFill>
                <a:latin typeface="Consolas"/>
                <a:cs typeface="Consolas"/>
              </a:rPr>
              <a:t>q</a:t>
            </a:r>
            <a:r>
              <a:rPr lang="en-US" altLang="zh-CN" sz="2000" b="1">
                <a:solidFill>
                  <a:prstClr val="black"/>
                </a:solidFill>
                <a:latin typeface="Consolas"/>
                <a:cs typeface="Consolas"/>
              </a:rPr>
              <a:t> $</a:t>
            </a:r>
            <a:r>
              <a:rPr lang="en-US" altLang="zh-CN" sz="2000">
                <a:solidFill>
                  <a:prstClr val="black"/>
                </a:solidFill>
                <a:latin typeface="Consolas"/>
                <a:cs typeface="Consolas"/>
              </a:rPr>
              <a:t>0x10, %</a:t>
            </a:r>
            <a:r>
              <a:rPr lang="en-US" altLang="zh-CN" sz="20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2000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mr-IN" altLang="zh-CN" sz="2000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endParaRPr lang="zh-CN" altLang="en-US" sz="20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586957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221212"/>
              </p:ext>
            </p:extLst>
          </p:nvPr>
        </p:nvGraphicFramePr>
        <p:xfrm>
          <a:off x="329251" y="1937878"/>
          <a:ext cx="8357549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4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>
                          <a:latin typeface="Consolas"/>
                          <a:cs typeface="Consolas"/>
                        </a:rPr>
                        <a:t>%</a:t>
                      </a:r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rax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0`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0x20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0x8000000000000000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29250" y="1230868"/>
            <a:ext cx="24408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err="1">
                <a:solidFill>
                  <a:prstClr val="black"/>
                </a:solidFill>
                <a:latin typeface="Consolas"/>
                <a:cs typeface="Consolas"/>
              </a:rPr>
              <a:t>cmp</a:t>
            </a:r>
            <a:r>
              <a:rPr lang="mr-IN" altLang="zh-CN" sz="2000" b="1">
                <a:solidFill>
                  <a:prstClr val="black"/>
                </a:solidFill>
                <a:latin typeface="Consolas"/>
                <a:cs typeface="Consolas"/>
              </a:rPr>
              <a:t>q</a:t>
            </a:r>
            <a:r>
              <a:rPr lang="en-US" altLang="zh-CN" sz="2000" b="1">
                <a:solidFill>
                  <a:prstClr val="black"/>
                </a:solidFill>
                <a:latin typeface="Consolas"/>
                <a:cs typeface="Consolas"/>
              </a:rPr>
              <a:t> $</a:t>
            </a:r>
            <a:r>
              <a:rPr lang="en-US" altLang="zh-CN" sz="2000">
                <a:solidFill>
                  <a:prstClr val="black"/>
                </a:solidFill>
                <a:latin typeface="Consolas"/>
                <a:cs typeface="Consolas"/>
              </a:rPr>
              <a:t>0x10, %</a:t>
            </a:r>
            <a:r>
              <a:rPr lang="en-US" altLang="zh-CN" sz="20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2000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mr-IN" altLang="zh-CN" sz="2000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endParaRPr lang="zh-CN" altLang="en-US" sz="20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586957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Exercises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/>
              <a:t> </a:t>
            </a:r>
            <a:endParaRPr kumimoji="1"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594671"/>
              </p:ext>
            </p:extLst>
          </p:nvPr>
        </p:nvGraphicFramePr>
        <p:xfrm>
          <a:off x="329251" y="1937878"/>
          <a:ext cx="8357549" cy="286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4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015">
                <a:tc>
                  <a:txBody>
                    <a:bodyPr/>
                    <a:lstStyle/>
                    <a:p>
                      <a:r>
                        <a:rPr lang="en-US" altLang="zh-CN" baseline="0">
                          <a:latin typeface="Consolas"/>
                          <a:cs typeface="Consolas"/>
                        </a:rPr>
                        <a:t>%</a:t>
                      </a:r>
                      <a:r>
                        <a:rPr lang="en-US" altLang="zh-CN" baseline="0" err="1">
                          <a:latin typeface="Consolas"/>
                          <a:cs typeface="Consolas"/>
                        </a:rPr>
                        <a:t>rax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ZF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SF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CF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Consolas"/>
                          <a:cs typeface="Consolas"/>
                        </a:rPr>
                        <a:t>OF</a:t>
                      </a:r>
                      <a:endParaRPr lang="zh-CN" altLang="en-US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0x10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0`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0x20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0x0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1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Consolas"/>
                          <a:cs typeface="Consolas"/>
                        </a:rPr>
                        <a:t>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onsolas"/>
                          <a:cs typeface="Consolas"/>
                        </a:rPr>
                        <a:t>0x8000000000000000</a:t>
                      </a:r>
                      <a:endParaRPr lang="zh-CN" altLang="en-US" sz="200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29250" y="1230868"/>
            <a:ext cx="24408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err="1">
                <a:solidFill>
                  <a:prstClr val="black"/>
                </a:solidFill>
                <a:latin typeface="Consolas"/>
                <a:cs typeface="Consolas"/>
              </a:rPr>
              <a:t>cmp</a:t>
            </a:r>
            <a:r>
              <a:rPr lang="mr-IN" altLang="zh-CN" sz="2000" b="1">
                <a:solidFill>
                  <a:prstClr val="black"/>
                </a:solidFill>
                <a:latin typeface="Consolas"/>
                <a:cs typeface="Consolas"/>
              </a:rPr>
              <a:t>q</a:t>
            </a:r>
            <a:r>
              <a:rPr lang="en-US" altLang="zh-CN" sz="2000" b="1">
                <a:solidFill>
                  <a:prstClr val="black"/>
                </a:solidFill>
                <a:latin typeface="Consolas"/>
                <a:cs typeface="Consolas"/>
              </a:rPr>
              <a:t> $</a:t>
            </a:r>
            <a:r>
              <a:rPr lang="en-US" altLang="zh-CN" sz="2000">
                <a:solidFill>
                  <a:prstClr val="black"/>
                </a:solidFill>
                <a:latin typeface="Consolas"/>
                <a:cs typeface="Consolas"/>
              </a:rPr>
              <a:t>0x10, %</a:t>
            </a:r>
            <a:r>
              <a:rPr lang="en-US" altLang="zh-CN" sz="20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2000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mr-IN" altLang="zh-CN" sz="2000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endParaRPr lang="zh-CN" altLang="en-US" sz="20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586957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0x64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100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1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324153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3075264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4798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0x5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0x64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100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1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324153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3075264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5y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374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2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2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0x5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0x64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100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1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284176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2675492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5y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3702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2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2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0xa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0x64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100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1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284176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2675492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10y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768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2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2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0xa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0x64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100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1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250077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233451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10y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8313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2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2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0xa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0x64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100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1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250077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233451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10y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2556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err="1">
                <a:solidFill>
                  <a:prstClr val="black"/>
                </a:solidFill>
                <a:latin typeface="Consolas"/>
                <a:cs typeface="Consolas"/>
              </a:rPr>
              <a:t>jge</a:t>
            </a:r>
            <a:r>
              <a:rPr lang="en-US" altLang="zh-CN" sz="12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.L3</a:t>
            </a:r>
            <a:endParaRPr lang="zh-CN" altLang="en-US" sz="12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0xa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0x64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100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1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211276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1946496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10y</a:t>
            </a:r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574856"/>
              </p:ext>
            </p:extLst>
          </p:nvPr>
        </p:nvGraphicFramePr>
        <p:xfrm>
          <a:off x="1967582" y="6327053"/>
          <a:ext cx="2241030" cy="320040"/>
        </p:xfrm>
        <a:graphic>
          <a:graphicData uri="http://schemas.openxmlformats.org/drawingml/2006/table">
            <a:tbl>
              <a:tblPr/>
              <a:tblGrid>
                <a:gridCol w="747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4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/>
                          <a:cs typeface="Consolas"/>
                          <a:sym typeface="Courier New Bold" charset="0"/>
                        </a:rPr>
                        <a:t>jge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/>
                        <a:cs typeface="Consolas"/>
                        <a:sym typeface="Courier New Bold" charset="0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/>
                          <a:cs typeface="Consolas"/>
                          <a:sym typeface="Courier New Bold" charset="0"/>
                        </a:rPr>
                        <a:t>~(SF^OF)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0115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m</a:t>
            </a:r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ovl 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0xa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0x64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100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1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1776305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1610037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10y</a:t>
            </a:r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543157"/>
              </p:ext>
            </p:extLst>
          </p:nvPr>
        </p:nvGraphicFramePr>
        <p:xfrm>
          <a:off x="1967582" y="6327053"/>
          <a:ext cx="2241030" cy="320040"/>
        </p:xfrm>
        <a:graphic>
          <a:graphicData uri="http://schemas.openxmlformats.org/drawingml/2006/table">
            <a:tbl>
              <a:tblPr/>
              <a:tblGrid>
                <a:gridCol w="747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4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/>
                          <a:cs typeface="Consolas"/>
                          <a:sym typeface="Courier New Bold" charset="0"/>
                        </a:rPr>
                        <a:t>jge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/>
                        <a:cs typeface="Consolas"/>
                        <a:sym typeface="Courier New Bold" charset="0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/>
                          <a:cs typeface="Consolas"/>
                          <a:sym typeface="Courier New Bold" charset="0"/>
                        </a:rPr>
                        <a:t>~(SF^OF)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9863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m</a:t>
            </a:r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ovl 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0x64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100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1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1776305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1610037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437747" y="1744408"/>
            <a:ext cx="6923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>
                <a:latin typeface="Consolas"/>
                <a:cs typeface="Consolas"/>
                <a:sym typeface="Courier New Bold" charset="0"/>
              </a:rPr>
              <a:t>return</a:t>
            </a:r>
            <a:endParaRPr lang="zh-CN" altLang="en-US" sz="1200" b="1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836883"/>
              </p:ext>
            </p:extLst>
          </p:nvPr>
        </p:nvGraphicFramePr>
        <p:xfrm>
          <a:off x="1967582" y="6327053"/>
          <a:ext cx="2241030" cy="320040"/>
        </p:xfrm>
        <a:graphic>
          <a:graphicData uri="http://schemas.openxmlformats.org/drawingml/2006/table">
            <a:tbl>
              <a:tblPr/>
              <a:tblGrid>
                <a:gridCol w="747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4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/>
                          <a:cs typeface="Consolas"/>
                          <a:sym typeface="Courier New Bold" charset="0"/>
                        </a:rPr>
                        <a:t>jge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/>
                        <a:cs typeface="Consolas"/>
                        <a:sym typeface="Courier New Bold" charset="0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/>
                          <a:cs typeface="Consolas"/>
                          <a:sym typeface="Courier New Bold" charset="0"/>
                        </a:rPr>
                        <a:t>~(SF^OF)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2608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2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324153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3075264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7578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0xa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2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324153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3075264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5y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6050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2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2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0xa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2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284176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2675492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5y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2659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2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2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2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284176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2675492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10y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3261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2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2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250077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233451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10y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2</a:t>
            </a:r>
          </a:p>
        </p:txBody>
      </p:sp>
    </p:spTree>
    <p:extLst>
      <p:ext uri="{BB962C8B-B14F-4D97-AF65-F5344CB8AC3E}">
        <p14:creationId xmlns:p14="http://schemas.microsoft.com/office/powerpoint/2010/main" val="12215228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2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2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3" name="矩形 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2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250077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233451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10y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9015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err="1">
                <a:solidFill>
                  <a:prstClr val="black"/>
                </a:solidFill>
                <a:latin typeface="Consolas"/>
                <a:cs typeface="Consolas"/>
              </a:rPr>
              <a:t>jge</a:t>
            </a:r>
            <a:r>
              <a:rPr lang="en-US" altLang="zh-CN" sz="12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.L3</a:t>
            </a:r>
            <a:endParaRPr lang="zh-CN" altLang="en-US" sz="12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211276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1946496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10y</a:t>
            </a:r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091265"/>
              </p:ext>
            </p:extLst>
          </p:nvPr>
        </p:nvGraphicFramePr>
        <p:xfrm>
          <a:off x="1967582" y="6327053"/>
          <a:ext cx="2241030" cy="320040"/>
        </p:xfrm>
        <a:graphic>
          <a:graphicData uri="http://schemas.openxmlformats.org/drawingml/2006/table">
            <a:tbl>
              <a:tblPr/>
              <a:tblGrid>
                <a:gridCol w="747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4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/>
                          <a:cs typeface="Consolas"/>
                          <a:sym typeface="Courier New Bold" charset="0"/>
                        </a:rPr>
                        <a:t>jge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/>
                        <a:cs typeface="Consolas"/>
                        <a:sym typeface="Courier New Bold" charset="0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/>
                          <a:cs typeface="Consolas"/>
                          <a:sym typeface="Courier New Bold" charset="0"/>
                        </a:rPr>
                        <a:t>~(SF^OF)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" name="矩形 6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2</a:t>
            </a:r>
          </a:p>
        </p:txBody>
      </p:sp>
    </p:spTree>
    <p:extLst>
      <p:ext uri="{BB962C8B-B14F-4D97-AF65-F5344CB8AC3E}">
        <p14:creationId xmlns:p14="http://schemas.microsoft.com/office/powerpoint/2010/main" val="23086018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m</a:t>
            </a:r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ovl 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619362" y="104193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829007" y="875664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508301" y="1709134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10y</a:t>
            </a:r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47884"/>
              </p:ext>
            </p:extLst>
          </p:nvPr>
        </p:nvGraphicFramePr>
        <p:xfrm>
          <a:off x="1967582" y="6327053"/>
          <a:ext cx="2241030" cy="320040"/>
        </p:xfrm>
        <a:graphic>
          <a:graphicData uri="http://schemas.openxmlformats.org/drawingml/2006/table">
            <a:tbl>
              <a:tblPr/>
              <a:tblGrid>
                <a:gridCol w="747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4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/>
                          <a:cs typeface="Consolas"/>
                          <a:sym typeface="Courier New Bold" charset="0"/>
                        </a:rPr>
                        <a:t>jge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/>
                        <a:cs typeface="Consolas"/>
                        <a:sym typeface="Courier New Bold" charset="0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/>
                          <a:cs typeface="Consolas"/>
                          <a:sym typeface="Courier New Bold" charset="0"/>
                        </a:rPr>
                        <a:t>~(SF^OF)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" name="矩形 6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2</a:t>
            </a:r>
          </a:p>
        </p:txBody>
      </p:sp>
    </p:spTree>
    <p:extLst>
      <p:ext uri="{BB962C8B-B14F-4D97-AF65-F5344CB8AC3E}">
        <p14:creationId xmlns:p14="http://schemas.microsoft.com/office/powerpoint/2010/main" val="404890819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ret 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altLang="zh-CN" sz="1600">
                <a:latin typeface="Consolas"/>
                <a:cs typeface="Consolas"/>
                <a:sym typeface="Courier New Bold" charset="0"/>
              </a:rPr>
              <a:t>ret</a:t>
            </a: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m</a:t>
            </a:r>
            <a:r>
              <a:rPr lang="hr-HR" altLang="zh-CN" sz="1400" b="1">
                <a:latin typeface="Consolas"/>
                <a:cs typeface="Consolas"/>
              </a:rPr>
              <a:t>ovl </a:t>
            </a:r>
            <a:r>
              <a:rPr lang="hr-HR" altLang="zh-CN" sz="1400">
                <a:latin typeface="Consolas"/>
                <a:cs typeface="Consolas"/>
              </a:rPr>
              <a:t>$1,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leaq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(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%rsi,%rsi,4),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m</a:t>
            </a:r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ovl 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$0, %eax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cmpq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j</a:t>
            </a:r>
            <a:r>
              <a:rPr lang="mr-IN" altLang="zh-CN" sz="1400" b="1">
                <a:latin typeface="Consolas"/>
                <a:cs typeface="Consolas"/>
                <a:sym typeface="Courier New Bold" charset="0"/>
              </a:rPr>
              <a:t>ge </a:t>
            </a:r>
            <a:r>
              <a:rPr lang="mr-IN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84891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619362" y="104193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829007" y="875664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8504911" y="33942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y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425988" y="1744408"/>
            <a:ext cx="6923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>
                <a:latin typeface="Consolas"/>
                <a:cs typeface="Consolas"/>
                <a:sym typeface="Courier New Bold" charset="0"/>
              </a:rPr>
              <a:t>return</a:t>
            </a:r>
            <a:endParaRPr lang="zh-CN" altLang="en-US" sz="1200" b="1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025468"/>
              </p:ext>
            </p:extLst>
          </p:nvPr>
        </p:nvGraphicFramePr>
        <p:xfrm>
          <a:off x="1967582" y="6327053"/>
          <a:ext cx="2241030" cy="320040"/>
        </p:xfrm>
        <a:graphic>
          <a:graphicData uri="http://schemas.openxmlformats.org/drawingml/2006/table">
            <a:tbl>
              <a:tblPr/>
              <a:tblGrid>
                <a:gridCol w="747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4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/>
                          <a:cs typeface="Consolas"/>
                          <a:sym typeface="Courier New Bold" charset="0"/>
                        </a:rPr>
                        <a:t>jge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/>
                        <a:cs typeface="Consolas"/>
                        <a:sym typeface="Courier New Bold" charset="0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/>
                          <a:cs typeface="Consolas"/>
                          <a:sym typeface="Courier New Bold" charset="0"/>
                        </a:rPr>
                        <a:t>~(SF^OF)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" name="矩形 62"/>
          <p:cNvSpPr/>
          <p:nvPr/>
        </p:nvSpPr>
        <p:spPr>
          <a:xfrm>
            <a:off x="257007" y="4102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long compare(long x, long 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{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long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if (x &gt; 10*y)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0000FF"/>
                </a:solidFill>
                <a:latin typeface="Consolas"/>
                <a:cs typeface="Consolas"/>
                <a:sym typeface="Courier New Bold" charset="0"/>
              </a:rPr>
              <a:t>result = 1;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else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  </a:t>
            </a:r>
            <a:r>
              <a:rPr lang="en-US" altLang="zh-CN" sz="1400">
                <a:solidFill>
                  <a:srgbClr val="CC0000"/>
                </a:solidFill>
                <a:latin typeface="Consolas"/>
                <a:cs typeface="Consolas"/>
                <a:sym typeface="Courier New Bold" charset="0"/>
              </a:rPr>
              <a:t>result = 0;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  return result;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}</a:t>
            </a:r>
          </a:p>
          <a:p>
            <a:endParaRPr lang="en-US" altLang="zh-CN" sz="1400">
              <a:latin typeface="Consolas"/>
              <a:cs typeface="Consolas"/>
              <a:sym typeface="Courier New Bold" charset="0"/>
            </a:endParaRP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x: 1</a:t>
            </a:r>
          </a:p>
          <a:p>
            <a:r>
              <a:rPr lang="en-US" altLang="zh-CN" sz="1400">
                <a:latin typeface="Consolas"/>
                <a:cs typeface="Consolas"/>
                <a:sym typeface="Courier New Bold" charset="0"/>
              </a:rPr>
              <a:t>y: 2</a:t>
            </a:r>
          </a:p>
        </p:txBody>
      </p:sp>
    </p:spTree>
    <p:extLst>
      <p:ext uri="{BB962C8B-B14F-4D97-AF65-F5344CB8AC3E}">
        <p14:creationId xmlns:p14="http://schemas.microsoft.com/office/powerpoint/2010/main" val="85864374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2" name="矩形 1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324153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3075264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  <p:sp>
        <p:nvSpPr>
          <p:cNvPr id="63" name="矩形 62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9932311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3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3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3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3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324153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3075264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69" name="矩形 68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70" name="矩形 6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1216420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j</a:t>
            </a:r>
            <a:r>
              <a:rPr lang="hr-HR" altLang="zh-CN" sz="1300" b="1">
                <a:solidFill>
                  <a:prstClr val="black"/>
                </a:solidFill>
                <a:latin typeface="Consolas"/>
                <a:cs typeface="Consolas"/>
              </a:rPr>
              <a:t>mp </a:t>
            </a:r>
            <a:r>
              <a:rPr lang="hr-HR" altLang="zh-CN" sz="13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009763" y="2870090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219408" y="2703822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69" name="矩形 68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70" name="矩形 6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49551539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300" b="1">
                <a:solidFill>
                  <a:prstClr val="black"/>
                </a:solidFill>
                <a:latin typeface="Consolas"/>
                <a:cs typeface="Consolas"/>
              </a:rPr>
              <a:t>j</a:t>
            </a:r>
            <a:r>
              <a:rPr lang="hr-HR" altLang="zh-CN" sz="1300" b="1">
                <a:solidFill>
                  <a:prstClr val="black"/>
                </a:solidFill>
                <a:latin typeface="Consolas"/>
                <a:cs typeface="Consolas"/>
              </a:rPr>
              <a:t>mp </a:t>
            </a:r>
            <a:r>
              <a:rPr lang="hr-HR" altLang="zh-CN" sz="13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cxnSp>
        <p:nvCxnSpPr>
          <p:cNvPr id="87" name="直线箭头连接符 86"/>
          <p:cNvCxnSpPr/>
          <p:nvPr/>
        </p:nvCxnSpPr>
        <p:spPr>
          <a:xfrm flipH="1">
            <a:off x="4523802" y="1733191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733447" y="1566923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sp>
        <p:nvSpPr>
          <p:cNvPr id="69" name="矩形 68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log;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70" name="矩形 6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40197246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err="1">
                <a:solidFill>
                  <a:prstClr val="black"/>
                </a:solidFill>
                <a:latin typeface="Consolas"/>
                <a:cs typeface="Consolas"/>
              </a:rPr>
              <a:t>testq</a:t>
            </a:r>
            <a:r>
              <a:rPr lang="en-US" altLang="zh-CN" sz="12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en-US" altLang="zh-CN" sz="12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583702" y="1733191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793347" y="1566923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2" name="矩形 81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25881703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jne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.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L3</a:t>
            </a: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232847" y="1373055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442492" y="1206787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047584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2" name="矩形 81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4702926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0x4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679015" y="251859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888660" y="2352326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342370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2" name="矩形 81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61274658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679015" y="251859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888660" y="2352326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813762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2" name="矩形 81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9296035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$1,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023202" y="212318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232847" y="195692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813762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2" name="矩形 81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92960356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$1,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023202" y="212318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232847" y="195692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134053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2" name="矩形 81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43848882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200" b="1" err="1">
                <a:solidFill>
                  <a:prstClr val="black"/>
                </a:solidFill>
                <a:latin typeface="Consolas"/>
                <a:cs typeface="Consolas"/>
              </a:rPr>
              <a:t>testq</a:t>
            </a:r>
            <a:r>
              <a:rPr lang="en-US" altLang="zh-CN" sz="12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20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2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en-US" altLang="zh-CN" sz="12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534493" y="1728623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744138" y="1562355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82552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2" name="矩形 81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94351877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jne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.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L3</a:t>
            </a: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232847" y="1373055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442492" y="1206787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265526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67626889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679015" y="251859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888660" y="2352326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937145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84482788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679015" y="251859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888660" y="2352326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179545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87584134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$1,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023202" y="212318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232847" y="195692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931747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36282418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$1,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023202" y="212318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232847" y="195692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77738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46735850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$1,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534493" y="1728623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744138" y="1562355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662659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74010499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jne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.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L3</a:t>
            </a: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232847" y="1373055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442492" y="1206787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816564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64870270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0x1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679015" y="251859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888660" y="2352326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029619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71920958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679015" y="2518594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888660" y="2352326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898433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5874750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$1,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0x2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023202" y="212318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232847" y="195692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175840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81075924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addq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$1,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023202" y="212318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232847" y="195692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453253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33006574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testq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534493" y="1728623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744138" y="1562355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569833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41315650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testq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,%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534493" y="1728623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744138" y="1562355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672735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74215547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nl-NL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jne</a:t>
            </a:r>
            <a:r>
              <a:rPr lang="nl-NL" altLang="zh-CN" sz="1400" b="1">
                <a:solidFill>
                  <a:prstClr val="black"/>
                </a:solidFill>
                <a:latin typeface="Consolas"/>
                <a:cs typeface="Consolas"/>
              </a:rPr>
              <a:t>	.L3</a:t>
            </a: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088325" y="1409858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297970" y="1243590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136527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55331897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7582" y="3702329"/>
            <a:ext cx="1533026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>
                <a:latin typeface="Verdana"/>
                <a:cs typeface="Verdana"/>
              </a:rPr>
              <a:t>Memory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569382" y="121294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altLang="zh-CN" sz="1400" b="1" err="1">
                <a:latin typeface="Consolas"/>
                <a:cs typeface="Consolas"/>
                <a:sym typeface="Courier New Bold" charset="0"/>
              </a:rPr>
              <a:t>jne</a:t>
            </a:r>
            <a:r>
              <a:rPr lang="nl-NL" altLang="zh-CN" sz="1400" b="1">
                <a:latin typeface="Consolas"/>
                <a:cs typeface="Consolas"/>
                <a:sym typeface="Courier New Bold" charset="0"/>
              </a:rPr>
              <a:t>	</a:t>
            </a:r>
            <a:r>
              <a:rPr lang="nl-NL" altLang="zh-CN" sz="1400">
                <a:latin typeface="Consolas"/>
                <a:cs typeface="Consolas"/>
                <a:sym typeface="Courier New Bold" charset="0"/>
              </a:rPr>
              <a:t>.L3</a:t>
            </a:r>
          </a:p>
        </p:txBody>
      </p:sp>
      <p:sp>
        <p:nvSpPr>
          <p:cNvPr id="8" name="矩形 7"/>
          <p:cNvSpPr/>
          <p:nvPr/>
        </p:nvSpPr>
        <p:spPr>
          <a:xfrm>
            <a:off x="1569382" y="83950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>
                <a:latin typeface="Consolas"/>
                <a:cs typeface="Consolas"/>
              </a:rPr>
              <a:t>ret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69382" y="468718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endParaRPr lang="cs-CZ" altLang="zh-CN" sz="16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69382" y="1585981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latin typeface="Consolas"/>
                <a:cs typeface="Consolas"/>
              </a:rPr>
              <a:t>testq</a:t>
            </a:r>
            <a:r>
              <a:rPr lang="en-US" altLang="zh-CN" sz="1400" b="1">
                <a:latin typeface="Consolas"/>
                <a:cs typeface="Consolas"/>
              </a:rPr>
              <a:t> </a:t>
            </a:r>
            <a:r>
              <a:rPr lang="en-US" altLang="zh-CN" sz="1400">
                <a:latin typeface="Consolas"/>
                <a:cs typeface="Consolas"/>
              </a:rPr>
              <a:t>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r>
              <a:rPr lang="en-US" altLang="zh-CN" sz="1400">
                <a:latin typeface="Consolas"/>
                <a:cs typeface="Consolas"/>
              </a:rPr>
              <a:t>, %</a:t>
            </a:r>
            <a:r>
              <a:rPr lang="en-US" altLang="zh-CN" sz="1400" err="1">
                <a:latin typeface="Consolas"/>
                <a:cs typeface="Consolas"/>
              </a:rPr>
              <a:t>rdi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1993" y="3010614"/>
            <a:ext cx="2452253" cy="37343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movq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$0, 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rax</a:t>
            </a:r>
            <a:endParaRPr lang="en-US" altLang="zh-CN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64571" y="3383041"/>
            <a:ext cx="2452253" cy="3734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186" y="334910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r-IN" altLang="zh-CN" sz="24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1569382" y="2657591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hr-HR" altLang="zh-CN" sz="1400" b="1">
                <a:solidFill>
                  <a:prstClr val="black"/>
                </a:solidFill>
                <a:latin typeface="Consolas"/>
                <a:cs typeface="Consolas"/>
              </a:rPr>
              <a:t>jmp	</a:t>
            </a:r>
            <a:r>
              <a:rPr lang="hr-HR" altLang="zh-CN" sz="1400">
                <a:solidFill>
                  <a:prstClr val="black"/>
                </a:solidFill>
                <a:latin typeface="Consolas"/>
                <a:cs typeface="Consolas"/>
              </a:rPr>
              <a:t>.L2</a:t>
            </a:r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CPU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60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PC: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Verdana"/>
                <a:cs typeface="Verdana"/>
              </a:rPr>
              <a:t>IR: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nl-NL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ret</a:t>
            </a:r>
            <a:endParaRPr lang="nl-NL" altLang="zh-CN" sz="1400" b="1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0x3</a:t>
            </a:r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prstClr val="black"/>
                </a:solidFill>
                <a:latin typeface="Arial"/>
                <a:cs typeface="Arial"/>
              </a:rPr>
              <a:t>0x0</a:t>
            </a:r>
            <a:endParaRPr lang="zh-CN" altLang="en-US" sz="1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564571" y="2308039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400" b="1" err="1">
                <a:solidFill>
                  <a:prstClr val="black"/>
                </a:solidFill>
                <a:latin typeface="Consolas"/>
                <a:cs typeface="Consolas"/>
              </a:rPr>
              <a:t>shrq</a:t>
            </a:r>
            <a:r>
              <a:rPr lang="en-US" altLang="zh-CN" sz="1400" b="1">
                <a:solidFill>
                  <a:prstClr val="black"/>
                </a:solidFill>
                <a:latin typeface="Consolas"/>
                <a:cs typeface="Consolas"/>
              </a:rPr>
              <a:t> </a:t>
            </a:r>
            <a:r>
              <a:rPr lang="en-US" altLang="zh-CN" sz="1400">
                <a:solidFill>
                  <a:prstClr val="black"/>
                </a:solidFill>
                <a:latin typeface="Consolas"/>
                <a:cs typeface="Consolas"/>
              </a:rPr>
              <a:t>%</a:t>
            </a:r>
            <a:r>
              <a:rPr lang="en-US" altLang="zh-CN" sz="140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zh-CN" altLang="en-US" sz="140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69284" y="1957300"/>
            <a:ext cx="2452253" cy="35206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 err="1">
                <a:latin typeface="Consolas"/>
                <a:cs typeface="Consolas"/>
                <a:sym typeface="Courier New Bold" charset="0"/>
              </a:rPr>
              <a:t>addq</a:t>
            </a:r>
            <a:r>
              <a:rPr lang="en-US" altLang="zh-CN" sz="1400" b="1">
                <a:latin typeface="Consolas"/>
                <a:cs typeface="Consolas"/>
                <a:sym typeface="Courier New Bold" charset="0"/>
              </a:rPr>
              <a:t> </a:t>
            </a:r>
            <a:r>
              <a:rPr lang="en-US" altLang="zh-CN" sz="1400">
                <a:latin typeface="Consolas"/>
                <a:cs typeface="Consolas"/>
                <a:sym typeface="Courier New Bold" charset="0"/>
              </a:rPr>
              <a:t>$1, %</a:t>
            </a:r>
            <a:r>
              <a:rPr lang="en-US" altLang="zh-CN" sz="1400" err="1">
                <a:latin typeface="Consolas"/>
                <a:cs typeface="Consolas"/>
                <a:sym typeface="Courier New Bold" charset="0"/>
              </a:rPr>
              <a:t>rax</a:t>
            </a:r>
            <a:endParaRPr lang="mr-IN" altLang="zh-CN" sz="1400">
              <a:latin typeface="Consolas"/>
              <a:cs typeface="Consolas"/>
              <a:sym typeface="Courier New Bold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986" y="85545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44747" y="122175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44747" y="3097765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0028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55986" y="274095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0030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57635" y="2331166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0038</a:t>
            </a:r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62005" y="1968977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0040</a:t>
            </a:r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51475" y="161341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0048</a:t>
            </a:r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74694" y="461999"/>
            <a:ext cx="142956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1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>
                <a:latin typeface="Verdana"/>
                <a:cs typeface="Verdana"/>
              </a:rPr>
              <a:t>:</a:t>
            </a:r>
            <a:endParaRPr kumimoji="1" lang="zh-CN" altLang="en-US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17" name="矩形 16"/>
          <p:cNvSpPr/>
          <p:nvPr/>
        </p:nvSpPr>
        <p:spPr>
          <a:xfrm>
            <a:off x="8508301" y="3876996"/>
            <a:ext cx="311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  <a:sym typeface="Courier New Bold" charset="0"/>
              </a:rPr>
              <a:t>x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037955" y="1531578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.L2</a:t>
            </a:r>
            <a:endParaRPr lang="zh-CN" altLang="en-US" b="1" i="1"/>
          </a:p>
        </p:txBody>
      </p:sp>
      <p:sp>
        <p:nvSpPr>
          <p:cNvPr id="68" name="矩形 67"/>
          <p:cNvSpPr/>
          <p:nvPr/>
        </p:nvSpPr>
        <p:spPr>
          <a:xfrm>
            <a:off x="4043176" y="2288259"/>
            <a:ext cx="62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CN" b="1" i="1">
                <a:latin typeface="Consolas"/>
                <a:cs typeface="Consolas"/>
                <a:sym typeface="Courier New Bold" charset="0"/>
              </a:rPr>
              <a:t>.L3</a:t>
            </a:r>
            <a:endParaRPr lang="zh-CN" altLang="en-US" b="1" i="1"/>
          </a:p>
        </p:txBody>
      </p:sp>
      <p:cxnSp>
        <p:nvCxnSpPr>
          <p:cNvPr id="69" name="直线箭头连接符 68"/>
          <p:cNvCxnSpPr/>
          <p:nvPr/>
        </p:nvCxnSpPr>
        <p:spPr>
          <a:xfrm flipH="1">
            <a:off x="4020205" y="1065782"/>
            <a:ext cx="24922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4229850" y="899514"/>
            <a:ext cx="446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Verdana"/>
                <a:cs typeface="Verdana"/>
              </a:rPr>
              <a:t>PC</a:t>
            </a:r>
            <a:endParaRPr lang="zh-CN" altLang="en-US" sz="1400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481110"/>
              </p:ext>
            </p:extLst>
          </p:nvPr>
        </p:nvGraphicFramePr>
        <p:xfrm>
          <a:off x="2676469" y="6333072"/>
          <a:ext cx="1989107" cy="350520"/>
        </p:xfrm>
        <a:graphic>
          <a:graphicData uri="http://schemas.openxmlformats.org/drawingml/2006/table">
            <a:tbl>
              <a:tblPr/>
              <a:tblGrid>
                <a:gridCol w="92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矩形 80"/>
          <p:cNvSpPr/>
          <p:nvPr/>
        </p:nvSpPr>
        <p:spPr>
          <a:xfrm>
            <a:off x="384531" y="4091832"/>
            <a:ext cx="4572000" cy="28007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long count(unsigned long x)</a:t>
            </a:r>
          </a:p>
          <a:p>
            <a:r>
              <a:rPr lang="en-US" altLang="zh-CN" sz="1600"/>
              <a:t>{</a:t>
            </a:r>
          </a:p>
          <a:p>
            <a:r>
              <a:rPr lang="en-US" altLang="zh-CN" sz="1600"/>
              <a:t>  long </a:t>
            </a:r>
            <a:r>
              <a:rPr lang="en-US" altLang="zh-CN" sz="1600" err="1"/>
              <a:t>cnt</a:t>
            </a:r>
            <a:r>
              <a:rPr lang="en-US" altLang="zh-CN" sz="1600"/>
              <a:t> = 0;</a:t>
            </a:r>
          </a:p>
          <a:p>
            <a:r>
              <a:rPr lang="en-US" altLang="zh-CN" sz="1600"/>
              <a:t>  while (x != 0) {</a:t>
            </a:r>
          </a:p>
          <a:p>
            <a:r>
              <a:rPr lang="en-US" altLang="zh-CN" sz="1600"/>
              <a:t>	x = x &gt;&gt; 1;</a:t>
            </a:r>
          </a:p>
          <a:p>
            <a:r>
              <a:rPr lang="en-US" altLang="zh-CN" sz="1600"/>
              <a:t>	</a:t>
            </a:r>
            <a:r>
              <a:rPr lang="en-US" altLang="zh-CN" sz="1600" err="1"/>
              <a:t>cnt</a:t>
            </a:r>
            <a:r>
              <a:rPr lang="en-US" altLang="zh-CN" sz="1600"/>
              <a:t>++;</a:t>
            </a:r>
          </a:p>
          <a:p>
            <a:r>
              <a:rPr lang="en-US" altLang="zh-CN" sz="1600"/>
              <a:t>   }</a:t>
            </a:r>
          </a:p>
          <a:p>
            <a:r>
              <a:rPr lang="en-US" altLang="zh-CN" sz="1600"/>
              <a:t>   return </a:t>
            </a:r>
            <a:r>
              <a:rPr lang="en-US" altLang="zh-CN" sz="1600" err="1"/>
              <a:t>cnt</a:t>
            </a:r>
            <a:r>
              <a:rPr lang="en-US" altLang="zh-CN" sz="1600"/>
              <a:t>;</a:t>
            </a:r>
          </a:p>
          <a:p>
            <a:r>
              <a:rPr lang="en-US" altLang="zh-CN" sz="1600"/>
              <a:t>}</a:t>
            </a:r>
          </a:p>
          <a:p>
            <a:endParaRPr lang="en-US" altLang="zh-CN" sz="1600"/>
          </a:p>
          <a:p>
            <a:r>
              <a:rPr lang="en-US" altLang="zh-CN" sz="1600"/>
              <a:t>x: 4 (100)</a:t>
            </a:r>
            <a:r>
              <a:rPr lang="en-US" altLang="zh-CN" sz="1600" baseline="-25000"/>
              <a:t>2</a:t>
            </a:r>
          </a:p>
        </p:txBody>
      </p:sp>
      <p:sp>
        <p:nvSpPr>
          <p:cNvPr id="80" name="矩形 79"/>
          <p:cNvSpPr/>
          <p:nvPr/>
        </p:nvSpPr>
        <p:spPr>
          <a:xfrm>
            <a:off x="8434357" y="1711173"/>
            <a:ext cx="523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  <a:sym typeface="Courier New Bold" charset="0"/>
              </a:rPr>
              <a:t>cnt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97353322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“Loop” Translation example</a:t>
            </a:r>
          </a:p>
        </p:txBody>
      </p:sp>
      <p:sp>
        <p:nvSpPr>
          <p:cNvPr id="10" name="Rectangle 4"/>
          <p:cNvSpPr>
            <a:spLocks/>
          </p:cNvSpPr>
          <p:nvPr/>
        </p:nvSpPr>
        <p:spPr bwMode="auto">
          <a:xfrm>
            <a:off x="508000" y="1828800"/>
            <a:ext cx="34544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sum(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n)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sum = 0;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for (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=0;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&lt;n;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++){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	sum +=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}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return sum;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</a:t>
            </a:r>
          </a:p>
        </p:txBody>
      </p:sp>
      <p:sp>
        <p:nvSpPr>
          <p:cNvPr id="11" name="Rectangle 5"/>
          <p:cNvSpPr>
            <a:spLocks/>
          </p:cNvSpPr>
          <p:nvPr/>
        </p:nvSpPr>
        <p:spPr bwMode="auto">
          <a:xfrm>
            <a:off x="4380315" y="1760188"/>
            <a:ext cx="4114800" cy="32004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800" b="1">
                <a:latin typeface="Consolas"/>
                <a:cs typeface="Consolas"/>
              </a:rPr>
              <a:t>sum:</a:t>
            </a:r>
          </a:p>
          <a:p>
            <a:pPr algn="l"/>
            <a:r>
              <a:rPr lang="hr-HR" sz="1800" b="1">
                <a:latin typeface="Consolas"/>
                <a:cs typeface="Consolas"/>
              </a:rPr>
              <a:t>	</a:t>
            </a:r>
            <a:r>
              <a:rPr lang="hr-HR" sz="1800" b="1">
                <a:solidFill>
                  <a:srgbClr val="0000FF"/>
                </a:solidFill>
                <a:latin typeface="Consolas"/>
                <a:cs typeface="Consolas"/>
              </a:rPr>
              <a:t>movl </a:t>
            </a:r>
            <a:r>
              <a:rPr lang="hr-HR" sz="1800">
                <a:solidFill>
                  <a:srgbClr val="0000FF"/>
                </a:solidFill>
                <a:latin typeface="Consolas"/>
                <a:cs typeface="Consolas"/>
              </a:rPr>
              <a:t>$0, %edx</a:t>
            </a:r>
          </a:p>
          <a:p>
            <a:pPr algn="l"/>
            <a:r>
              <a:rPr lang="hr-HR" sz="1800" b="1">
                <a:latin typeface="Consolas"/>
                <a:cs typeface="Consolas"/>
              </a:rPr>
              <a:t>	movl </a:t>
            </a:r>
            <a:r>
              <a:rPr lang="hr-HR" sz="1800">
                <a:latin typeface="Consolas"/>
                <a:cs typeface="Consolas"/>
              </a:rPr>
              <a:t>$0, %eax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	</a:t>
            </a:r>
            <a:r>
              <a:rPr lang="cs-CZ" sz="1800" b="1" err="1">
                <a:latin typeface="Consolas"/>
                <a:cs typeface="Consolas"/>
              </a:rPr>
              <a:t>jmp</a:t>
            </a:r>
            <a:r>
              <a:rPr lang="cs-CZ" sz="1800" b="1">
                <a:latin typeface="Consolas"/>
                <a:cs typeface="Consolas"/>
              </a:rPr>
              <a:t>	.L5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.L6: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	</a:t>
            </a:r>
            <a:r>
              <a:rPr lang="cs-CZ" sz="1800" b="1" err="1">
                <a:latin typeface="Consolas"/>
                <a:cs typeface="Consolas"/>
              </a:rPr>
              <a:t>addl</a:t>
            </a:r>
            <a:r>
              <a:rPr lang="cs-CZ" b="1">
                <a:latin typeface="Consolas"/>
                <a:cs typeface="Consolas"/>
              </a:rPr>
              <a:t> </a:t>
            </a:r>
            <a:r>
              <a:rPr lang="cs-CZ" sz="1800">
                <a:latin typeface="Consolas"/>
                <a:cs typeface="Consolas"/>
              </a:rPr>
              <a:t>%</a:t>
            </a:r>
            <a:r>
              <a:rPr lang="cs-CZ" sz="1800" err="1">
                <a:latin typeface="Consolas"/>
                <a:cs typeface="Consolas"/>
              </a:rPr>
              <a:t>edx</a:t>
            </a:r>
            <a:r>
              <a:rPr lang="cs-CZ" sz="1800">
                <a:latin typeface="Consolas"/>
                <a:cs typeface="Consolas"/>
              </a:rPr>
              <a:t>, %</a:t>
            </a:r>
            <a:r>
              <a:rPr lang="cs-CZ" sz="1800" err="1">
                <a:latin typeface="Consolas"/>
                <a:cs typeface="Consolas"/>
              </a:rPr>
              <a:t>eax</a:t>
            </a:r>
            <a:endParaRPr lang="cs-CZ" sz="1800">
              <a:latin typeface="Consolas"/>
              <a:cs typeface="Consolas"/>
            </a:endParaRP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addl</a:t>
            </a:r>
            <a:r>
              <a:rPr lang="nb-NO" b="1">
                <a:latin typeface="Consolas"/>
                <a:cs typeface="Consolas"/>
              </a:rPr>
              <a:t> </a:t>
            </a:r>
            <a:r>
              <a:rPr lang="nb-NO" sz="1800">
                <a:latin typeface="Consolas"/>
                <a:cs typeface="Consolas"/>
              </a:rPr>
              <a:t>$1, %</a:t>
            </a:r>
            <a:r>
              <a:rPr lang="nb-NO" sz="1800" err="1">
                <a:latin typeface="Consolas"/>
                <a:cs typeface="Consolas"/>
              </a:rPr>
              <a:t>edx</a:t>
            </a:r>
            <a:endParaRPr lang="nb-NO" sz="1800">
              <a:latin typeface="Consolas"/>
              <a:cs typeface="Consolas"/>
            </a:endParaRPr>
          </a:p>
          <a:p>
            <a:pPr algn="l"/>
            <a:r>
              <a:rPr lang="nb-NO" sz="1800" b="1">
                <a:latin typeface="Consolas"/>
                <a:cs typeface="Consolas"/>
              </a:rPr>
              <a:t>.L5: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cmpl</a:t>
            </a:r>
            <a:r>
              <a:rPr lang="nb-NO" b="1">
                <a:latin typeface="Consolas"/>
                <a:cs typeface="Consolas"/>
              </a:rPr>
              <a:t> </a:t>
            </a:r>
            <a:r>
              <a:rPr lang="nb-NO" sz="1800">
                <a:latin typeface="Consolas"/>
                <a:cs typeface="Consolas"/>
              </a:rPr>
              <a:t>%</a:t>
            </a:r>
            <a:r>
              <a:rPr lang="nb-NO" sz="1800" err="1">
                <a:latin typeface="Consolas"/>
                <a:cs typeface="Consolas"/>
              </a:rPr>
              <a:t>edi</a:t>
            </a:r>
            <a:r>
              <a:rPr lang="nb-NO" sz="1800">
                <a:latin typeface="Consolas"/>
                <a:cs typeface="Consolas"/>
              </a:rPr>
              <a:t>, %</a:t>
            </a:r>
            <a:r>
              <a:rPr lang="nb-NO" sz="1800" err="1">
                <a:latin typeface="Consolas"/>
                <a:cs typeface="Consolas"/>
              </a:rPr>
              <a:t>edx</a:t>
            </a:r>
            <a:endParaRPr lang="nb-NO" sz="1800">
              <a:latin typeface="Consolas"/>
              <a:cs typeface="Consolas"/>
            </a:endParaRP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jl</a:t>
            </a:r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>
                <a:latin typeface="Consolas"/>
                <a:cs typeface="Consolas"/>
              </a:rPr>
              <a:t>.L6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err="1">
                <a:latin typeface="Consolas"/>
                <a:cs typeface="Consolas"/>
              </a:rPr>
              <a:t>ret</a:t>
            </a:r>
            <a:endParaRPr lang="nb-NO" sz="1800">
              <a:latin typeface="Consolas"/>
              <a:cs typeface="Consolas"/>
            </a:endParaRPr>
          </a:p>
        </p:txBody>
      </p:sp>
      <p:sp>
        <p:nvSpPr>
          <p:cNvPr id="1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685800"/>
          </a:xfrm>
        </p:spPr>
        <p:txBody>
          <a:bodyPr/>
          <a:lstStyle/>
          <a:p>
            <a:r>
              <a:rPr lang="en-US" b="1" err="1">
                <a:solidFill>
                  <a:srgbClr val="800000"/>
                </a:solidFill>
                <a:latin typeface="Courier New"/>
                <a:cs typeface="Courier New"/>
              </a:rPr>
              <a:t>gcc</a:t>
            </a:r>
            <a:r>
              <a:rPr lang="en-US" b="1">
                <a:solidFill>
                  <a:srgbClr val="800000"/>
                </a:solidFill>
                <a:latin typeface="Courier New"/>
                <a:cs typeface="Courier New"/>
              </a:rPr>
              <a:t> –</a:t>
            </a:r>
            <a:r>
              <a:rPr lang="en-US" b="1" err="1">
                <a:solidFill>
                  <a:srgbClr val="800000"/>
                </a:solidFill>
                <a:latin typeface="Courier New"/>
                <a:cs typeface="Courier New"/>
              </a:rPr>
              <a:t>Og</a:t>
            </a:r>
            <a:r>
              <a:rPr lang="en-US" b="1">
                <a:solidFill>
                  <a:srgbClr val="800000"/>
                </a:solidFill>
                <a:latin typeface="Courier New"/>
                <a:cs typeface="Courier New"/>
              </a:rPr>
              <a:t> –S *.c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00502"/>
              </p:ext>
            </p:extLst>
          </p:nvPr>
        </p:nvGraphicFramePr>
        <p:xfrm>
          <a:off x="609600" y="49530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edi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eax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sum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edx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err="1">
                          <a:latin typeface="Courier New"/>
                          <a:cs typeface="Courier New"/>
                        </a:rPr>
                        <a:t>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7359919" y="2010223"/>
            <a:ext cx="13268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en-US" altLang="zh-CN" err="1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 = 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50839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“Loop” Translation example</a:t>
            </a:r>
          </a:p>
        </p:txBody>
      </p:sp>
      <p:sp>
        <p:nvSpPr>
          <p:cNvPr id="10" name="Rectangle 4"/>
          <p:cNvSpPr>
            <a:spLocks/>
          </p:cNvSpPr>
          <p:nvPr/>
        </p:nvSpPr>
        <p:spPr bwMode="auto">
          <a:xfrm>
            <a:off x="508000" y="1828800"/>
            <a:ext cx="34544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sum(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n)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sum = 0;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for (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=0;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&lt;n;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++){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	sum +=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}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return sum;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</a:t>
            </a:r>
          </a:p>
        </p:txBody>
      </p:sp>
      <p:sp>
        <p:nvSpPr>
          <p:cNvPr id="11" name="Rectangle 5"/>
          <p:cNvSpPr>
            <a:spLocks/>
          </p:cNvSpPr>
          <p:nvPr/>
        </p:nvSpPr>
        <p:spPr bwMode="auto">
          <a:xfrm>
            <a:off x="4380315" y="1760188"/>
            <a:ext cx="4114800" cy="32004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800" b="1">
                <a:latin typeface="Consolas"/>
                <a:cs typeface="Consolas"/>
              </a:rPr>
              <a:t>sum:</a:t>
            </a:r>
          </a:p>
          <a:p>
            <a:pPr algn="l"/>
            <a:r>
              <a:rPr lang="hr-HR" sz="1800" b="1">
                <a:latin typeface="Consolas"/>
                <a:cs typeface="Consolas"/>
              </a:rPr>
              <a:t>	</a:t>
            </a:r>
            <a:r>
              <a:rPr lang="hr-HR" sz="1800" b="1">
                <a:solidFill>
                  <a:srgbClr val="0000FF"/>
                </a:solidFill>
                <a:latin typeface="Consolas"/>
                <a:cs typeface="Consolas"/>
              </a:rPr>
              <a:t>movl </a:t>
            </a:r>
            <a:r>
              <a:rPr lang="hr-HR" sz="1800">
                <a:solidFill>
                  <a:srgbClr val="0000FF"/>
                </a:solidFill>
                <a:latin typeface="Consolas"/>
                <a:cs typeface="Consolas"/>
              </a:rPr>
              <a:t>$0, %edx</a:t>
            </a:r>
          </a:p>
          <a:p>
            <a:pPr algn="l"/>
            <a:r>
              <a:rPr lang="hr-HR" sz="1800" b="1">
                <a:solidFill>
                  <a:srgbClr val="0000FF"/>
                </a:solidFill>
                <a:latin typeface="Consolas"/>
                <a:cs typeface="Consolas"/>
              </a:rPr>
              <a:t>	movl </a:t>
            </a:r>
            <a:r>
              <a:rPr lang="hr-HR" sz="1800">
                <a:solidFill>
                  <a:srgbClr val="0000FF"/>
                </a:solidFill>
                <a:latin typeface="Consolas"/>
                <a:cs typeface="Consolas"/>
              </a:rPr>
              <a:t>$0, %eax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	</a:t>
            </a:r>
            <a:r>
              <a:rPr lang="cs-CZ" sz="1800" b="1" err="1">
                <a:latin typeface="Consolas"/>
                <a:cs typeface="Consolas"/>
              </a:rPr>
              <a:t>jmp</a:t>
            </a:r>
            <a:r>
              <a:rPr lang="cs-CZ" sz="1800" b="1">
                <a:latin typeface="Consolas"/>
                <a:cs typeface="Consolas"/>
              </a:rPr>
              <a:t>	.L5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.L6: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	</a:t>
            </a:r>
            <a:r>
              <a:rPr lang="cs-CZ" sz="1800" b="1" err="1">
                <a:latin typeface="Consolas"/>
                <a:cs typeface="Consolas"/>
              </a:rPr>
              <a:t>addl</a:t>
            </a:r>
            <a:r>
              <a:rPr lang="cs-CZ" b="1">
                <a:latin typeface="Consolas"/>
                <a:cs typeface="Consolas"/>
              </a:rPr>
              <a:t> </a:t>
            </a:r>
            <a:r>
              <a:rPr lang="cs-CZ" sz="1800">
                <a:latin typeface="Consolas"/>
                <a:cs typeface="Consolas"/>
              </a:rPr>
              <a:t>%</a:t>
            </a:r>
            <a:r>
              <a:rPr lang="cs-CZ" sz="1800" err="1">
                <a:latin typeface="Consolas"/>
                <a:cs typeface="Consolas"/>
              </a:rPr>
              <a:t>edx</a:t>
            </a:r>
            <a:r>
              <a:rPr lang="cs-CZ" sz="1800">
                <a:latin typeface="Consolas"/>
                <a:cs typeface="Consolas"/>
              </a:rPr>
              <a:t>, %</a:t>
            </a:r>
            <a:r>
              <a:rPr lang="cs-CZ" sz="1800" err="1">
                <a:latin typeface="Consolas"/>
                <a:cs typeface="Consolas"/>
              </a:rPr>
              <a:t>eax</a:t>
            </a:r>
            <a:endParaRPr lang="cs-CZ" sz="1800">
              <a:latin typeface="Consolas"/>
              <a:cs typeface="Consolas"/>
            </a:endParaRP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addl</a:t>
            </a:r>
            <a:r>
              <a:rPr lang="nb-NO" b="1">
                <a:latin typeface="Consolas"/>
                <a:cs typeface="Consolas"/>
              </a:rPr>
              <a:t> </a:t>
            </a:r>
            <a:r>
              <a:rPr lang="nb-NO" sz="1800">
                <a:latin typeface="Consolas"/>
                <a:cs typeface="Consolas"/>
              </a:rPr>
              <a:t>$1, %</a:t>
            </a:r>
            <a:r>
              <a:rPr lang="nb-NO" sz="1800" err="1">
                <a:latin typeface="Consolas"/>
                <a:cs typeface="Consolas"/>
              </a:rPr>
              <a:t>edx</a:t>
            </a:r>
            <a:endParaRPr lang="nb-NO" sz="1800">
              <a:latin typeface="Consolas"/>
              <a:cs typeface="Consolas"/>
            </a:endParaRPr>
          </a:p>
          <a:p>
            <a:pPr algn="l"/>
            <a:r>
              <a:rPr lang="nb-NO" sz="1800" b="1">
                <a:latin typeface="Consolas"/>
                <a:cs typeface="Consolas"/>
              </a:rPr>
              <a:t>.L5: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cmpl</a:t>
            </a:r>
            <a:r>
              <a:rPr lang="nb-NO" b="1">
                <a:latin typeface="Consolas"/>
                <a:cs typeface="Consolas"/>
              </a:rPr>
              <a:t> </a:t>
            </a:r>
            <a:r>
              <a:rPr lang="nb-NO" sz="1800">
                <a:latin typeface="Consolas"/>
                <a:cs typeface="Consolas"/>
              </a:rPr>
              <a:t>%</a:t>
            </a:r>
            <a:r>
              <a:rPr lang="nb-NO" sz="1800" err="1">
                <a:latin typeface="Consolas"/>
                <a:cs typeface="Consolas"/>
              </a:rPr>
              <a:t>edi</a:t>
            </a:r>
            <a:r>
              <a:rPr lang="nb-NO" sz="1800">
                <a:latin typeface="Consolas"/>
                <a:cs typeface="Consolas"/>
              </a:rPr>
              <a:t>, %</a:t>
            </a:r>
            <a:r>
              <a:rPr lang="nb-NO" sz="1800" err="1">
                <a:latin typeface="Consolas"/>
                <a:cs typeface="Consolas"/>
              </a:rPr>
              <a:t>edx</a:t>
            </a:r>
            <a:endParaRPr lang="nb-NO" sz="1800">
              <a:latin typeface="Consolas"/>
              <a:cs typeface="Consolas"/>
            </a:endParaRP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jl</a:t>
            </a:r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>
                <a:latin typeface="Consolas"/>
                <a:cs typeface="Consolas"/>
              </a:rPr>
              <a:t>.L6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err="1">
                <a:latin typeface="Consolas"/>
                <a:cs typeface="Consolas"/>
              </a:rPr>
              <a:t>ret</a:t>
            </a:r>
            <a:endParaRPr lang="nb-NO" sz="1800">
              <a:latin typeface="Consolas"/>
              <a:cs typeface="Consolas"/>
            </a:endParaRPr>
          </a:p>
        </p:txBody>
      </p:sp>
      <p:sp>
        <p:nvSpPr>
          <p:cNvPr id="1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685800"/>
          </a:xfrm>
        </p:spPr>
        <p:txBody>
          <a:bodyPr/>
          <a:lstStyle/>
          <a:p>
            <a:r>
              <a:rPr lang="en-US" b="1" err="1">
                <a:solidFill>
                  <a:srgbClr val="800000"/>
                </a:solidFill>
                <a:latin typeface="Courier New"/>
                <a:cs typeface="Courier New"/>
              </a:rPr>
              <a:t>gcc</a:t>
            </a:r>
            <a:r>
              <a:rPr lang="en-US" b="1">
                <a:solidFill>
                  <a:srgbClr val="800000"/>
                </a:solidFill>
                <a:latin typeface="Courier New"/>
                <a:cs typeface="Courier New"/>
              </a:rPr>
              <a:t> –</a:t>
            </a:r>
            <a:r>
              <a:rPr lang="en-US" b="1" err="1">
                <a:solidFill>
                  <a:srgbClr val="800000"/>
                </a:solidFill>
                <a:latin typeface="Courier New"/>
                <a:cs typeface="Courier New"/>
              </a:rPr>
              <a:t>Og</a:t>
            </a:r>
            <a:r>
              <a:rPr lang="en-US" b="1">
                <a:solidFill>
                  <a:srgbClr val="800000"/>
                </a:solidFill>
                <a:latin typeface="Courier New"/>
                <a:cs typeface="Courier New"/>
              </a:rPr>
              <a:t> –S *.c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670889"/>
              </p:ext>
            </p:extLst>
          </p:nvPr>
        </p:nvGraphicFramePr>
        <p:xfrm>
          <a:off x="609600" y="49530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edi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eax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sum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edx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err="1">
                          <a:latin typeface="Courier New"/>
                          <a:cs typeface="Courier New"/>
                        </a:rPr>
                        <a:t>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7359919" y="2010223"/>
            <a:ext cx="17076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en-US" altLang="zh-CN" err="1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 = 0;</a:t>
            </a:r>
          </a:p>
          <a:p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int sum = 0;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27495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“Loop” Translation example</a:t>
            </a:r>
          </a:p>
        </p:txBody>
      </p:sp>
      <p:sp>
        <p:nvSpPr>
          <p:cNvPr id="10" name="Rectangle 4"/>
          <p:cNvSpPr>
            <a:spLocks/>
          </p:cNvSpPr>
          <p:nvPr/>
        </p:nvSpPr>
        <p:spPr bwMode="auto">
          <a:xfrm>
            <a:off x="508000" y="1828800"/>
            <a:ext cx="34544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sum(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n)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sum = 0;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for (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=0;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&lt;n;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++){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	sum +=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}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return sum;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</a:t>
            </a:r>
          </a:p>
        </p:txBody>
      </p:sp>
      <p:sp>
        <p:nvSpPr>
          <p:cNvPr id="11" name="Rectangle 5"/>
          <p:cNvSpPr>
            <a:spLocks/>
          </p:cNvSpPr>
          <p:nvPr/>
        </p:nvSpPr>
        <p:spPr bwMode="auto">
          <a:xfrm>
            <a:off x="4380315" y="1760188"/>
            <a:ext cx="4114800" cy="32004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800" b="1">
                <a:latin typeface="Consolas"/>
                <a:cs typeface="Consolas"/>
              </a:rPr>
              <a:t>sum:</a:t>
            </a:r>
          </a:p>
          <a:p>
            <a:pPr algn="l"/>
            <a:r>
              <a:rPr lang="hr-HR" sz="1800" b="1">
                <a:latin typeface="Consolas"/>
                <a:cs typeface="Consolas"/>
              </a:rPr>
              <a:t>	</a:t>
            </a:r>
            <a:r>
              <a:rPr lang="hr-HR" sz="1800" b="1">
                <a:solidFill>
                  <a:srgbClr val="0000FF"/>
                </a:solidFill>
                <a:latin typeface="Consolas"/>
                <a:cs typeface="Consolas"/>
              </a:rPr>
              <a:t>movl </a:t>
            </a:r>
            <a:r>
              <a:rPr lang="hr-HR" sz="1800">
                <a:solidFill>
                  <a:srgbClr val="0000FF"/>
                </a:solidFill>
                <a:latin typeface="Consolas"/>
                <a:cs typeface="Consolas"/>
              </a:rPr>
              <a:t>$0, %edx</a:t>
            </a:r>
          </a:p>
          <a:p>
            <a:pPr algn="l"/>
            <a:r>
              <a:rPr lang="hr-HR" sz="1800" b="1">
                <a:solidFill>
                  <a:srgbClr val="0000FF"/>
                </a:solidFill>
                <a:latin typeface="Consolas"/>
                <a:cs typeface="Consolas"/>
              </a:rPr>
              <a:t>	movl </a:t>
            </a:r>
            <a:r>
              <a:rPr lang="hr-HR" sz="1800">
                <a:solidFill>
                  <a:srgbClr val="0000FF"/>
                </a:solidFill>
                <a:latin typeface="Consolas"/>
                <a:cs typeface="Consolas"/>
              </a:rPr>
              <a:t>$0, %eax</a:t>
            </a:r>
          </a:p>
          <a:p>
            <a:pPr algn="l"/>
            <a:r>
              <a:rPr lang="cs-CZ" sz="1800" b="1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lang="cs-CZ" sz="1800" b="1" err="1">
                <a:solidFill>
                  <a:srgbClr val="0000FF"/>
                </a:solidFill>
                <a:latin typeface="Consolas"/>
                <a:cs typeface="Consolas"/>
              </a:rPr>
              <a:t>jmp</a:t>
            </a:r>
            <a:r>
              <a:rPr lang="cs-CZ" sz="1800" b="1">
                <a:solidFill>
                  <a:srgbClr val="0000FF"/>
                </a:solidFill>
                <a:latin typeface="Consolas"/>
                <a:cs typeface="Consolas"/>
              </a:rPr>
              <a:t>	.L5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.L6: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	</a:t>
            </a:r>
            <a:r>
              <a:rPr lang="cs-CZ" sz="1800" b="1" err="1">
                <a:latin typeface="Consolas"/>
                <a:cs typeface="Consolas"/>
              </a:rPr>
              <a:t>addl</a:t>
            </a:r>
            <a:r>
              <a:rPr lang="cs-CZ" b="1">
                <a:latin typeface="Consolas"/>
                <a:cs typeface="Consolas"/>
              </a:rPr>
              <a:t> </a:t>
            </a:r>
            <a:r>
              <a:rPr lang="cs-CZ" sz="1800">
                <a:latin typeface="Consolas"/>
                <a:cs typeface="Consolas"/>
              </a:rPr>
              <a:t>%</a:t>
            </a:r>
            <a:r>
              <a:rPr lang="cs-CZ" sz="1800" err="1">
                <a:latin typeface="Consolas"/>
                <a:cs typeface="Consolas"/>
              </a:rPr>
              <a:t>edx</a:t>
            </a:r>
            <a:r>
              <a:rPr lang="cs-CZ" sz="1800">
                <a:latin typeface="Consolas"/>
                <a:cs typeface="Consolas"/>
              </a:rPr>
              <a:t>, %</a:t>
            </a:r>
            <a:r>
              <a:rPr lang="cs-CZ" sz="1800" err="1">
                <a:latin typeface="Consolas"/>
                <a:cs typeface="Consolas"/>
              </a:rPr>
              <a:t>eax</a:t>
            </a:r>
            <a:endParaRPr lang="cs-CZ" sz="1800">
              <a:latin typeface="Consolas"/>
              <a:cs typeface="Consolas"/>
            </a:endParaRP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addl</a:t>
            </a:r>
            <a:r>
              <a:rPr lang="nb-NO" b="1">
                <a:latin typeface="Consolas"/>
                <a:cs typeface="Consolas"/>
              </a:rPr>
              <a:t> </a:t>
            </a:r>
            <a:r>
              <a:rPr lang="nb-NO" sz="1800">
                <a:latin typeface="Consolas"/>
                <a:cs typeface="Consolas"/>
              </a:rPr>
              <a:t>$1, %</a:t>
            </a:r>
            <a:r>
              <a:rPr lang="nb-NO" sz="1800" err="1">
                <a:latin typeface="Consolas"/>
                <a:cs typeface="Consolas"/>
              </a:rPr>
              <a:t>edx</a:t>
            </a:r>
            <a:endParaRPr lang="nb-NO" sz="1800">
              <a:latin typeface="Consolas"/>
              <a:cs typeface="Consolas"/>
            </a:endParaRPr>
          </a:p>
          <a:p>
            <a:pPr algn="l"/>
            <a:r>
              <a:rPr lang="nb-NO" sz="1800" b="1">
                <a:latin typeface="Consolas"/>
                <a:cs typeface="Consolas"/>
              </a:rPr>
              <a:t>.L5: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cmpl</a:t>
            </a:r>
            <a:r>
              <a:rPr lang="nb-NO" b="1">
                <a:latin typeface="Consolas"/>
                <a:cs typeface="Consolas"/>
              </a:rPr>
              <a:t> </a:t>
            </a:r>
            <a:r>
              <a:rPr lang="nb-NO" sz="1800">
                <a:latin typeface="Consolas"/>
                <a:cs typeface="Consolas"/>
              </a:rPr>
              <a:t>%</a:t>
            </a:r>
            <a:r>
              <a:rPr lang="nb-NO" sz="1800" err="1">
                <a:latin typeface="Consolas"/>
                <a:cs typeface="Consolas"/>
              </a:rPr>
              <a:t>edi</a:t>
            </a:r>
            <a:r>
              <a:rPr lang="nb-NO" sz="1800">
                <a:latin typeface="Consolas"/>
                <a:cs typeface="Consolas"/>
              </a:rPr>
              <a:t>, %</a:t>
            </a:r>
            <a:r>
              <a:rPr lang="nb-NO" sz="1800" err="1">
                <a:latin typeface="Consolas"/>
                <a:cs typeface="Consolas"/>
              </a:rPr>
              <a:t>edx</a:t>
            </a:r>
            <a:endParaRPr lang="nb-NO" sz="1800">
              <a:latin typeface="Consolas"/>
              <a:cs typeface="Consolas"/>
            </a:endParaRP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jl</a:t>
            </a:r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>
                <a:latin typeface="Consolas"/>
                <a:cs typeface="Consolas"/>
              </a:rPr>
              <a:t>.L6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err="1">
                <a:latin typeface="Consolas"/>
                <a:cs typeface="Consolas"/>
              </a:rPr>
              <a:t>ret</a:t>
            </a:r>
            <a:endParaRPr lang="nb-NO" sz="1800">
              <a:latin typeface="Consolas"/>
              <a:cs typeface="Consolas"/>
            </a:endParaRPr>
          </a:p>
        </p:txBody>
      </p:sp>
      <p:sp>
        <p:nvSpPr>
          <p:cNvPr id="1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685800"/>
          </a:xfrm>
        </p:spPr>
        <p:txBody>
          <a:bodyPr/>
          <a:lstStyle/>
          <a:p>
            <a:r>
              <a:rPr lang="en-US" b="1" err="1">
                <a:solidFill>
                  <a:srgbClr val="800000"/>
                </a:solidFill>
                <a:latin typeface="Courier New"/>
                <a:cs typeface="Courier New"/>
              </a:rPr>
              <a:t>gcc</a:t>
            </a:r>
            <a:r>
              <a:rPr lang="en-US" b="1">
                <a:solidFill>
                  <a:srgbClr val="800000"/>
                </a:solidFill>
                <a:latin typeface="Courier New"/>
                <a:cs typeface="Courier New"/>
              </a:rPr>
              <a:t> –</a:t>
            </a:r>
            <a:r>
              <a:rPr lang="en-US" b="1" err="1">
                <a:solidFill>
                  <a:srgbClr val="800000"/>
                </a:solidFill>
                <a:latin typeface="Courier New"/>
                <a:cs typeface="Courier New"/>
              </a:rPr>
              <a:t>Og</a:t>
            </a:r>
            <a:r>
              <a:rPr lang="en-US" b="1">
                <a:solidFill>
                  <a:srgbClr val="800000"/>
                </a:solidFill>
                <a:latin typeface="Courier New"/>
                <a:cs typeface="Courier New"/>
              </a:rPr>
              <a:t> –S *.c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763758"/>
              </p:ext>
            </p:extLst>
          </p:nvPr>
        </p:nvGraphicFramePr>
        <p:xfrm>
          <a:off x="609600" y="49530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edi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eax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sum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edx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err="1">
                          <a:latin typeface="Courier New"/>
                          <a:cs typeface="Courier New"/>
                        </a:rPr>
                        <a:t>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7359919" y="2010223"/>
            <a:ext cx="17076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en-US" altLang="zh-CN" err="1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 = 0;</a:t>
            </a:r>
          </a:p>
          <a:p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int sum = 0;</a:t>
            </a:r>
          </a:p>
          <a:p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</a:rPr>
              <a:t>g</a:t>
            </a:r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oto L5;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74643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“Loop” Translation example</a:t>
            </a:r>
          </a:p>
        </p:txBody>
      </p:sp>
      <p:sp>
        <p:nvSpPr>
          <p:cNvPr id="10" name="Rectangle 4"/>
          <p:cNvSpPr>
            <a:spLocks/>
          </p:cNvSpPr>
          <p:nvPr/>
        </p:nvSpPr>
        <p:spPr bwMode="auto">
          <a:xfrm>
            <a:off x="508000" y="1828800"/>
            <a:ext cx="34544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sum(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n)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sum = 0;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for (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=0;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&lt;n;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++){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	sum +=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}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return sum;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</a:t>
            </a:r>
          </a:p>
        </p:txBody>
      </p:sp>
      <p:sp>
        <p:nvSpPr>
          <p:cNvPr id="11" name="Rectangle 5"/>
          <p:cNvSpPr>
            <a:spLocks/>
          </p:cNvSpPr>
          <p:nvPr/>
        </p:nvSpPr>
        <p:spPr bwMode="auto">
          <a:xfrm>
            <a:off x="4380315" y="1760188"/>
            <a:ext cx="4114800" cy="32004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800" b="1">
                <a:latin typeface="Consolas"/>
                <a:cs typeface="Consolas"/>
              </a:rPr>
              <a:t>sum:</a:t>
            </a:r>
          </a:p>
          <a:p>
            <a:pPr algn="l"/>
            <a:r>
              <a:rPr lang="hr-HR" sz="1800" b="1">
                <a:latin typeface="Consolas"/>
                <a:cs typeface="Consolas"/>
              </a:rPr>
              <a:t>	</a:t>
            </a:r>
            <a:r>
              <a:rPr lang="hr-HR" sz="1800" b="1">
                <a:solidFill>
                  <a:srgbClr val="0000FF"/>
                </a:solidFill>
                <a:latin typeface="Consolas"/>
                <a:cs typeface="Consolas"/>
              </a:rPr>
              <a:t>movl </a:t>
            </a:r>
            <a:r>
              <a:rPr lang="hr-HR" sz="1800">
                <a:solidFill>
                  <a:srgbClr val="0000FF"/>
                </a:solidFill>
                <a:latin typeface="Consolas"/>
                <a:cs typeface="Consolas"/>
              </a:rPr>
              <a:t>$0, %edx</a:t>
            </a:r>
          </a:p>
          <a:p>
            <a:pPr algn="l"/>
            <a:r>
              <a:rPr lang="hr-HR" sz="1800" b="1">
                <a:solidFill>
                  <a:srgbClr val="0000FF"/>
                </a:solidFill>
                <a:latin typeface="Consolas"/>
                <a:cs typeface="Consolas"/>
              </a:rPr>
              <a:t>	movl </a:t>
            </a:r>
            <a:r>
              <a:rPr lang="hr-HR" sz="1800">
                <a:solidFill>
                  <a:srgbClr val="0000FF"/>
                </a:solidFill>
                <a:latin typeface="Consolas"/>
                <a:cs typeface="Consolas"/>
              </a:rPr>
              <a:t>$0, %eax</a:t>
            </a:r>
          </a:p>
          <a:p>
            <a:pPr algn="l"/>
            <a:r>
              <a:rPr lang="cs-CZ" sz="1800" b="1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lang="cs-CZ" sz="1800" b="1" err="1">
                <a:solidFill>
                  <a:srgbClr val="0000FF"/>
                </a:solidFill>
                <a:latin typeface="Consolas"/>
                <a:cs typeface="Consolas"/>
              </a:rPr>
              <a:t>jmp</a:t>
            </a:r>
            <a:r>
              <a:rPr lang="cs-CZ" sz="1800" b="1">
                <a:solidFill>
                  <a:srgbClr val="0000FF"/>
                </a:solidFill>
                <a:latin typeface="Consolas"/>
                <a:cs typeface="Consolas"/>
              </a:rPr>
              <a:t>	.L5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.L6: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	</a:t>
            </a:r>
            <a:r>
              <a:rPr lang="cs-CZ" sz="1800" b="1" err="1">
                <a:solidFill>
                  <a:srgbClr val="0000FF"/>
                </a:solidFill>
                <a:latin typeface="Consolas"/>
                <a:cs typeface="Consolas"/>
              </a:rPr>
              <a:t>addl</a:t>
            </a:r>
            <a:r>
              <a:rPr lang="cs-CZ" b="1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cs-CZ" sz="1800">
                <a:solidFill>
                  <a:srgbClr val="0000FF"/>
                </a:solidFill>
                <a:latin typeface="Consolas"/>
                <a:cs typeface="Consolas"/>
              </a:rPr>
              <a:t>%</a:t>
            </a:r>
            <a:r>
              <a:rPr lang="cs-CZ" sz="1800" err="1">
                <a:solidFill>
                  <a:srgbClr val="0000FF"/>
                </a:solidFill>
                <a:latin typeface="Consolas"/>
                <a:cs typeface="Consolas"/>
              </a:rPr>
              <a:t>edx</a:t>
            </a:r>
            <a:r>
              <a:rPr lang="cs-CZ" sz="1800">
                <a:solidFill>
                  <a:srgbClr val="0000FF"/>
                </a:solidFill>
                <a:latin typeface="Consolas"/>
                <a:cs typeface="Consolas"/>
              </a:rPr>
              <a:t>, %</a:t>
            </a:r>
            <a:r>
              <a:rPr lang="cs-CZ" sz="1800" err="1">
                <a:solidFill>
                  <a:srgbClr val="0000FF"/>
                </a:solidFill>
                <a:latin typeface="Consolas"/>
                <a:cs typeface="Consolas"/>
              </a:rPr>
              <a:t>eax</a:t>
            </a:r>
            <a:endParaRPr lang="cs-CZ" sz="1800">
              <a:solidFill>
                <a:srgbClr val="0000FF"/>
              </a:solidFill>
              <a:latin typeface="Consolas"/>
              <a:cs typeface="Consolas"/>
            </a:endParaRPr>
          </a:p>
          <a:p>
            <a:pPr algn="l"/>
            <a:r>
              <a:rPr lang="nb-NO" sz="1800" b="1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lang="nb-NO" sz="1800" b="1" err="1">
                <a:solidFill>
                  <a:srgbClr val="0000FF"/>
                </a:solidFill>
                <a:latin typeface="Consolas"/>
                <a:cs typeface="Consolas"/>
              </a:rPr>
              <a:t>addl</a:t>
            </a:r>
            <a:r>
              <a:rPr lang="nb-NO" b="1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nb-NO" sz="1800">
                <a:solidFill>
                  <a:srgbClr val="0000FF"/>
                </a:solidFill>
                <a:latin typeface="Consolas"/>
                <a:cs typeface="Consolas"/>
              </a:rPr>
              <a:t>$1, %</a:t>
            </a:r>
            <a:r>
              <a:rPr lang="nb-NO" sz="1800" err="1">
                <a:solidFill>
                  <a:srgbClr val="0000FF"/>
                </a:solidFill>
                <a:latin typeface="Consolas"/>
                <a:cs typeface="Consolas"/>
              </a:rPr>
              <a:t>edx</a:t>
            </a:r>
            <a:endParaRPr lang="nb-NO" sz="1800">
              <a:solidFill>
                <a:srgbClr val="0000FF"/>
              </a:solidFill>
              <a:latin typeface="Consolas"/>
              <a:cs typeface="Consolas"/>
            </a:endParaRPr>
          </a:p>
          <a:p>
            <a:pPr algn="l"/>
            <a:r>
              <a:rPr lang="nb-NO" sz="1800" b="1">
                <a:latin typeface="Consolas"/>
                <a:cs typeface="Consolas"/>
              </a:rPr>
              <a:t>.L5: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cmpl</a:t>
            </a:r>
            <a:r>
              <a:rPr lang="nb-NO" b="1">
                <a:latin typeface="Consolas"/>
                <a:cs typeface="Consolas"/>
              </a:rPr>
              <a:t> </a:t>
            </a:r>
            <a:r>
              <a:rPr lang="nb-NO" sz="1800">
                <a:latin typeface="Consolas"/>
                <a:cs typeface="Consolas"/>
              </a:rPr>
              <a:t>%</a:t>
            </a:r>
            <a:r>
              <a:rPr lang="nb-NO" sz="1800" err="1">
                <a:latin typeface="Consolas"/>
                <a:cs typeface="Consolas"/>
              </a:rPr>
              <a:t>edi</a:t>
            </a:r>
            <a:r>
              <a:rPr lang="nb-NO" sz="1800">
                <a:latin typeface="Consolas"/>
                <a:cs typeface="Consolas"/>
              </a:rPr>
              <a:t>, %</a:t>
            </a:r>
            <a:r>
              <a:rPr lang="nb-NO" sz="1800" err="1">
                <a:latin typeface="Consolas"/>
                <a:cs typeface="Consolas"/>
              </a:rPr>
              <a:t>edx</a:t>
            </a:r>
            <a:endParaRPr lang="nb-NO" sz="1800">
              <a:latin typeface="Consolas"/>
              <a:cs typeface="Consolas"/>
            </a:endParaRP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b="1" err="1">
                <a:latin typeface="Consolas"/>
                <a:cs typeface="Consolas"/>
              </a:rPr>
              <a:t>jl</a:t>
            </a:r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>
                <a:latin typeface="Consolas"/>
                <a:cs typeface="Consolas"/>
              </a:rPr>
              <a:t>.L6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err="1">
                <a:latin typeface="Consolas"/>
                <a:cs typeface="Consolas"/>
              </a:rPr>
              <a:t>ret</a:t>
            </a:r>
            <a:endParaRPr lang="nb-NO" sz="1800">
              <a:latin typeface="Consolas"/>
              <a:cs typeface="Consolas"/>
            </a:endParaRPr>
          </a:p>
        </p:txBody>
      </p:sp>
      <p:sp>
        <p:nvSpPr>
          <p:cNvPr id="1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685800"/>
          </a:xfrm>
        </p:spPr>
        <p:txBody>
          <a:bodyPr/>
          <a:lstStyle/>
          <a:p>
            <a:r>
              <a:rPr lang="en-US" b="1" err="1">
                <a:solidFill>
                  <a:srgbClr val="800000"/>
                </a:solidFill>
                <a:latin typeface="Courier New"/>
                <a:cs typeface="Courier New"/>
              </a:rPr>
              <a:t>gcc</a:t>
            </a:r>
            <a:r>
              <a:rPr lang="en-US" b="1">
                <a:solidFill>
                  <a:srgbClr val="800000"/>
                </a:solidFill>
                <a:latin typeface="Courier New"/>
                <a:cs typeface="Courier New"/>
              </a:rPr>
              <a:t> –</a:t>
            </a:r>
            <a:r>
              <a:rPr lang="en-US" b="1" err="1">
                <a:solidFill>
                  <a:srgbClr val="800000"/>
                </a:solidFill>
                <a:latin typeface="Courier New"/>
                <a:cs typeface="Courier New"/>
              </a:rPr>
              <a:t>Og</a:t>
            </a:r>
            <a:r>
              <a:rPr lang="en-US" b="1">
                <a:solidFill>
                  <a:srgbClr val="800000"/>
                </a:solidFill>
                <a:latin typeface="Courier New"/>
                <a:cs typeface="Courier New"/>
              </a:rPr>
              <a:t> –S *.c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748453"/>
              </p:ext>
            </p:extLst>
          </p:nvPr>
        </p:nvGraphicFramePr>
        <p:xfrm>
          <a:off x="609600" y="49530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edi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eax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sum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edx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err="1">
                          <a:latin typeface="Courier New"/>
                          <a:cs typeface="Courier New"/>
                        </a:rPr>
                        <a:t>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7359919" y="2010223"/>
            <a:ext cx="1834532" cy="17543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en-US" altLang="zh-CN" err="1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 = 0;</a:t>
            </a:r>
          </a:p>
          <a:p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int sum = 0;</a:t>
            </a:r>
          </a:p>
          <a:p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</a:rPr>
              <a:t>g</a:t>
            </a:r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oto L5;</a:t>
            </a:r>
          </a:p>
          <a:p>
            <a:endParaRPr lang="hr-HR" altLang="zh-CN">
              <a:solidFill>
                <a:srgbClr val="0000FF"/>
              </a:solidFill>
              <a:latin typeface="Consolas"/>
              <a:cs typeface="Consolas"/>
            </a:endParaRPr>
          </a:p>
          <a:p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sum = sum + </a:t>
            </a:r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endParaRPr lang="hr-HR" altLang="zh-CN">
              <a:solidFill>
                <a:srgbClr val="0000FF"/>
              </a:solidFill>
              <a:latin typeface="Consolas"/>
              <a:cs typeface="Consolas"/>
            </a:endParaRPr>
          </a:p>
          <a:p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 = i + 1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6723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“Loop” Translation example</a:t>
            </a:r>
          </a:p>
        </p:txBody>
      </p:sp>
      <p:sp>
        <p:nvSpPr>
          <p:cNvPr id="10" name="Rectangle 4"/>
          <p:cNvSpPr>
            <a:spLocks/>
          </p:cNvSpPr>
          <p:nvPr/>
        </p:nvSpPr>
        <p:spPr bwMode="auto">
          <a:xfrm>
            <a:off x="508000" y="1828800"/>
            <a:ext cx="34544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sum(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n)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sum = 0;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for (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int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=0;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&lt;n;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++){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	sum += </a:t>
            </a:r>
            <a:r>
              <a:rPr lang="en-US" sz="1800" err="1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i</a:t>
            </a:r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}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  return sum;</a:t>
            </a:r>
          </a:p>
          <a:p>
            <a:pPr algn="l"/>
            <a:r>
              <a:rPr lang="en-US" sz="1800">
                <a:solidFill>
                  <a:schemeClr val="tx1"/>
                </a:solidFill>
                <a:latin typeface="Consolas"/>
                <a:cs typeface="Consolas"/>
                <a:sym typeface="Courier New Bold" charset="0"/>
              </a:rPr>
              <a:t>}</a:t>
            </a:r>
          </a:p>
        </p:txBody>
      </p:sp>
      <p:sp>
        <p:nvSpPr>
          <p:cNvPr id="11" name="Rectangle 5"/>
          <p:cNvSpPr>
            <a:spLocks/>
          </p:cNvSpPr>
          <p:nvPr/>
        </p:nvSpPr>
        <p:spPr bwMode="auto">
          <a:xfrm>
            <a:off x="4380315" y="1760188"/>
            <a:ext cx="4114800" cy="32004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800" b="1">
                <a:latin typeface="Consolas"/>
                <a:cs typeface="Consolas"/>
              </a:rPr>
              <a:t>sum:</a:t>
            </a:r>
          </a:p>
          <a:p>
            <a:pPr algn="l"/>
            <a:r>
              <a:rPr lang="hr-HR" sz="1800" b="1">
                <a:latin typeface="Consolas"/>
                <a:cs typeface="Consolas"/>
              </a:rPr>
              <a:t>	</a:t>
            </a:r>
            <a:r>
              <a:rPr lang="hr-HR" sz="1800" b="1">
                <a:solidFill>
                  <a:srgbClr val="0000FF"/>
                </a:solidFill>
                <a:latin typeface="Consolas"/>
                <a:cs typeface="Consolas"/>
              </a:rPr>
              <a:t>movl </a:t>
            </a:r>
            <a:r>
              <a:rPr lang="hr-HR" sz="1800">
                <a:solidFill>
                  <a:srgbClr val="0000FF"/>
                </a:solidFill>
                <a:latin typeface="Consolas"/>
                <a:cs typeface="Consolas"/>
              </a:rPr>
              <a:t>$0, %edx</a:t>
            </a:r>
          </a:p>
          <a:p>
            <a:pPr algn="l"/>
            <a:r>
              <a:rPr lang="hr-HR" sz="1800" b="1">
                <a:solidFill>
                  <a:srgbClr val="0000FF"/>
                </a:solidFill>
                <a:latin typeface="Consolas"/>
                <a:cs typeface="Consolas"/>
              </a:rPr>
              <a:t>	movl </a:t>
            </a:r>
            <a:r>
              <a:rPr lang="hr-HR" sz="1800">
                <a:solidFill>
                  <a:srgbClr val="0000FF"/>
                </a:solidFill>
                <a:latin typeface="Consolas"/>
                <a:cs typeface="Consolas"/>
              </a:rPr>
              <a:t>$0, %eax</a:t>
            </a:r>
          </a:p>
          <a:p>
            <a:pPr algn="l"/>
            <a:r>
              <a:rPr lang="cs-CZ" sz="1800" b="1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lang="cs-CZ" sz="1800" b="1" err="1">
                <a:solidFill>
                  <a:srgbClr val="0000FF"/>
                </a:solidFill>
                <a:latin typeface="Consolas"/>
                <a:cs typeface="Consolas"/>
              </a:rPr>
              <a:t>jmp</a:t>
            </a:r>
            <a:r>
              <a:rPr lang="cs-CZ" sz="1800" b="1">
                <a:solidFill>
                  <a:srgbClr val="0000FF"/>
                </a:solidFill>
                <a:latin typeface="Consolas"/>
                <a:cs typeface="Consolas"/>
              </a:rPr>
              <a:t>	.L5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.L6:</a:t>
            </a:r>
          </a:p>
          <a:p>
            <a:pPr algn="l"/>
            <a:r>
              <a:rPr lang="cs-CZ" sz="1800" b="1">
                <a:latin typeface="Consolas"/>
                <a:cs typeface="Consolas"/>
              </a:rPr>
              <a:t>	</a:t>
            </a:r>
            <a:r>
              <a:rPr lang="cs-CZ" sz="1800" b="1" err="1">
                <a:solidFill>
                  <a:srgbClr val="0000FF"/>
                </a:solidFill>
                <a:latin typeface="Consolas"/>
                <a:cs typeface="Consolas"/>
              </a:rPr>
              <a:t>addl</a:t>
            </a:r>
            <a:r>
              <a:rPr lang="cs-CZ" b="1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cs-CZ" sz="1800">
                <a:solidFill>
                  <a:srgbClr val="0000FF"/>
                </a:solidFill>
                <a:latin typeface="Consolas"/>
                <a:cs typeface="Consolas"/>
              </a:rPr>
              <a:t>%</a:t>
            </a:r>
            <a:r>
              <a:rPr lang="cs-CZ" sz="1800" err="1">
                <a:solidFill>
                  <a:srgbClr val="0000FF"/>
                </a:solidFill>
                <a:latin typeface="Consolas"/>
                <a:cs typeface="Consolas"/>
              </a:rPr>
              <a:t>edx</a:t>
            </a:r>
            <a:r>
              <a:rPr lang="cs-CZ" sz="1800">
                <a:solidFill>
                  <a:srgbClr val="0000FF"/>
                </a:solidFill>
                <a:latin typeface="Consolas"/>
                <a:cs typeface="Consolas"/>
              </a:rPr>
              <a:t>, %</a:t>
            </a:r>
            <a:r>
              <a:rPr lang="cs-CZ" sz="1800" err="1">
                <a:solidFill>
                  <a:srgbClr val="0000FF"/>
                </a:solidFill>
                <a:latin typeface="Consolas"/>
                <a:cs typeface="Consolas"/>
              </a:rPr>
              <a:t>eax</a:t>
            </a:r>
            <a:endParaRPr lang="cs-CZ" sz="1800">
              <a:solidFill>
                <a:srgbClr val="0000FF"/>
              </a:solidFill>
              <a:latin typeface="Consolas"/>
              <a:cs typeface="Consolas"/>
            </a:endParaRPr>
          </a:p>
          <a:p>
            <a:pPr algn="l"/>
            <a:r>
              <a:rPr lang="nb-NO" sz="1800" b="1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lang="nb-NO" sz="1800" b="1" err="1">
                <a:solidFill>
                  <a:srgbClr val="0000FF"/>
                </a:solidFill>
                <a:latin typeface="Consolas"/>
                <a:cs typeface="Consolas"/>
              </a:rPr>
              <a:t>addl</a:t>
            </a:r>
            <a:r>
              <a:rPr lang="nb-NO" b="1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nb-NO" sz="1800">
                <a:solidFill>
                  <a:srgbClr val="0000FF"/>
                </a:solidFill>
                <a:latin typeface="Consolas"/>
                <a:cs typeface="Consolas"/>
              </a:rPr>
              <a:t>$1, %</a:t>
            </a:r>
            <a:r>
              <a:rPr lang="nb-NO" sz="1800" err="1">
                <a:solidFill>
                  <a:srgbClr val="0000FF"/>
                </a:solidFill>
                <a:latin typeface="Consolas"/>
                <a:cs typeface="Consolas"/>
              </a:rPr>
              <a:t>edx</a:t>
            </a:r>
            <a:endParaRPr lang="nb-NO" sz="1800">
              <a:solidFill>
                <a:srgbClr val="0000FF"/>
              </a:solidFill>
              <a:latin typeface="Consolas"/>
              <a:cs typeface="Consolas"/>
            </a:endParaRPr>
          </a:p>
          <a:p>
            <a:pPr algn="l"/>
            <a:r>
              <a:rPr lang="nb-NO" sz="1800" b="1">
                <a:latin typeface="Consolas"/>
                <a:cs typeface="Consolas"/>
              </a:rPr>
              <a:t>.L5:</a:t>
            </a:r>
          </a:p>
          <a:p>
            <a:pPr algn="l"/>
            <a:r>
              <a:rPr lang="nb-NO" sz="1800" b="1">
                <a:latin typeface="Consolas"/>
                <a:cs typeface="Consolas"/>
              </a:rPr>
              <a:t>	</a:t>
            </a:r>
            <a:r>
              <a:rPr lang="nb-NO" sz="1800" b="1" err="1">
                <a:solidFill>
                  <a:srgbClr val="0000FF"/>
                </a:solidFill>
                <a:latin typeface="Consolas"/>
                <a:cs typeface="Consolas"/>
              </a:rPr>
              <a:t>cmpl</a:t>
            </a:r>
            <a:r>
              <a:rPr lang="nb-NO" b="1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nb-NO" sz="1800">
                <a:solidFill>
                  <a:srgbClr val="0000FF"/>
                </a:solidFill>
                <a:latin typeface="Consolas"/>
                <a:cs typeface="Consolas"/>
              </a:rPr>
              <a:t>%</a:t>
            </a:r>
            <a:r>
              <a:rPr lang="nb-NO" sz="1800" err="1">
                <a:solidFill>
                  <a:srgbClr val="0000FF"/>
                </a:solidFill>
                <a:latin typeface="Consolas"/>
                <a:cs typeface="Consolas"/>
              </a:rPr>
              <a:t>edi</a:t>
            </a:r>
            <a:r>
              <a:rPr lang="nb-NO" sz="1800">
                <a:solidFill>
                  <a:srgbClr val="0000FF"/>
                </a:solidFill>
                <a:latin typeface="Consolas"/>
                <a:cs typeface="Consolas"/>
              </a:rPr>
              <a:t>, %</a:t>
            </a:r>
            <a:r>
              <a:rPr lang="nb-NO" sz="1800" err="1">
                <a:solidFill>
                  <a:srgbClr val="0000FF"/>
                </a:solidFill>
                <a:latin typeface="Consolas"/>
                <a:cs typeface="Consolas"/>
              </a:rPr>
              <a:t>edx</a:t>
            </a:r>
            <a:endParaRPr lang="nb-NO" sz="1800">
              <a:solidFill>
                <a:srgbClr val="0000FF"/>
              </a:solidFill>
              <a:latin typeface="Consolas"/>
              <a:cs typeface="Consolas"/>
            </a:endParaRPr>
          </a:p>
          <a:p>
            <a:pPr algn="l"/>
            <a:r>
              <a:rPr lang="nb-NO" sz="1800" b="1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lang="nb-NO" sz="1800" b="1" err="1">
                <a:solidFill>
                  <a:srgbClr val="0000FF"/>
                </a:solidFill>
                <a:latin typeface="Consolas"/>
                <a:cs typeface="Consolas"/>
              </a:rPr>
              <a:t>jl</a:t>
            </a:r>
            <a:r>
              <a:rPr lang="nb-NO" sz="1800" b="1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lang="nb-NO" sz="1800">
                <a:solidFill>
                  <a:srgbClr val="0000FF"/>
                </a:solidFill>
                <a:latin typeface="Consolas"/>
                <a:cs typeface="Consolas"/>
              </a:rPr>
              <a:t>.L6</a:t>
            </a:r>
          </a:p>
          <a:p>
            <a:pPr algn="l"/>
            <a:r>
              <a:rPr lang="nb-NO" sz="1800" b="1">
                <a:solidFill>
                  <a:srgbClr val="0000FF"/>
                </a:solidFill>
                <a:latin typeface="Consolas"/>
                <a:cs typeface="Consolas"/>
              </a:rPr>
              <a:t>	</a:t>
            </a:r>
            <a:r>
              <a:rPr lang="nb-NO" sz="1800" err="1">
                <a:solidFill>
                  <a:srgbClr val="0000FF"/>
                </a:solidFill>
                <a:latin typeface="Consolas"/>
                <a:cs typeface="Consolas"/>
              </a:rPr>
              <a:t>ret</a:t>
            </a:r>
            <a:endParaRPr lang="nb-NO" sz="1800">
              <a:solidFill>
                <a:srgbClr val="0000FF"/>
              </a:solidFill>
              <a:latin typeface="Consolas"/>
              <a:cs typeface="Consolas"/>
            </a:endParaRPr>
          </a:p>
        </p:txBody>
      </p:sp>
      <p:sp>
        <p:nvSpPr>
          <p:cNvPr id="1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685800"/>
          </a:xfrm>
        </p:spPr>
        <p:txBody>
          <a:bodyPr/>
          <a:lstStyle/>
          <a:p>
            <a:r>
              <a:rPr lang="en-US" b="1" err="1">
                <a:solidFill>
                  <a:srgbClr val="800000"/>
                </a:solidFill>
                <a:latin typeface="Courier New"/>
                <a:cs typeface="Courier New"/>
              </a:rPr>
              <a:t>gcc</a:t>
            </a:r>
            <a:r>
              <a:rPr lang="en-US" b="1">
                <a:solidFill>
                  <a:srgbClr val="800000"/>
                </a:solidFill>
                <a:latin typeface="Courier New"/>
                <a:cs typeface="Courier New"/>
              </a:rPr>
              <a:t> –</a:t>
            </a:r>
            <a:r>
              <a:rPr lang="en-US" b="1" err="1">
                <a:solidFill>
                  <a:srgbClr val="800000"/>
                </a:solidFill>
                <a:latin typeface="Courier New"/>
                <a:cs typeface="Courier New"/>
              </a:rPr>
              <a:t>Og</a:t>
            </a:r>
            <a:r>
              <a:rPr lang="en-US" b="1">
                <a:solidFill>
                  <a:srgbClr val="800000"/>
                </a:solidFill>
                <a:latin typeface="Courier New"/>
                <a:cs typeface="Courier New"/>
              </a:rPr>
              <a:t> –S *.c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898559"/>
              </p:ext>
            </p:extLst>
          </p:nvPr>
        </p:nvGraphicFramePr>
        <p:xfrm>
          <a:off x="609600" y="49530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edi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eax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  <a:cs typeface="Calibri"/>
                        </a:rPr>
                        <a:t>sum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err="1">
                          <a:latin typeface="Courier New"/>
                          <a:cs typeface="Courier New"/>
                        </a:rPr>
                        <a:t>edx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err="1">
                          <a:latin typeface="Courier New"/>
                          <a:cs typeface="Courier New"/>
                        </a:rPr>
                        <a:t>i</a:t>
                      </a:r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7182556" y="2010223"/>
            <a:ext cx="1961444" cy="2862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lang="en-US" altLang="zh-CN" err="1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 = 0;</a:t>
            </a:r>
          </a:p>
          <a:p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int sum = 0;</a:t>
            </a:r>
          </a:p>
          <a:p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</a:rPr>
              <a:t>g</a:t>
            </a:r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oto L5;</a:t>
            </a:r>
          </a:p>
          <a:p>
            <a:endParaRPr lang="hr-HR" altLang="zh-CN">
              <a:solidFill>
                <a:srgbClr val="0000FF"/>
              </a:solidFill>
              <a:latin typeface="Consolas"/>
              <a:cs typeface="Consolas"/>
            </a:endParaRPr>
          </a:p>
          <a:p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sum = sum + </a:t>
            </a:r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</a:rPr>
              <a:t>i;</a:t>
            </a:r>
            <a:endParaRPr lang="hr-HR" altLang="zh-CN">
              <a:solidFill>
                <a:srgbClr val="0000FF"/>
              </a:solidFill>
              <a:latin typeface="Consolas"/>
              <a:cs typeface="Consolas"/>
            </a:endParaRPr>
          </a:p>
          <a:p>
            <a:r>
              <a:rPr lang="en-US" altLang="zh-CN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 = i + 1;</a:t>
            </a:r>
          </a:p>
          <a:p>
            <a:endParaRPr lang="hr-HR" altLang="zh-CN">
              <a:solidFill>
                <a:srgbClr val="0000FF"/>
              </a:solidFill>
              <a:latin typeface="Consolas"/>
              <a:cs typeface="Consolas"/>
            </a:endParaRPr>
          </a:p>
          <a:p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if i &lt; n </a:t>
            </a:r>
          </a:p>
          <a:p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  goto L6;</a:t>
            </a:r>
          </a:p>
          <a:p>
            <a:r>
              <a:rPr lang="hr-HR" altLang="zh-CN">
                <a:solidFill>
                  <a:srgbClr val="0000FF"/>
                </a:solidFill>
                <a:latin typeface="Consolas"/>
                <a:cs typeface="Consolas"/>
              </a:rPr>
              <a:t>return;</a:t>
            </a:r>
          </a:p>
        </p:txBody>
      </p:sp>
    </p:spTree>
    <p:extLst>
      <p:ext uri="{BB962C8B-B14F-4D97-AF65-F5344CB8AC3E}">
        <p14:creationId xmlns:p14="http://schemas.microsoft.com/office/powerpoint/2010/main" val="3748469274"/>
      </p:ext>
    </p:extLst>
  </p:cSld>
  <p:clrMapOvr>
    <a:masterClrMapping/>
  </p:clrMapOvr>
</p:sld>
</file>

<file path=ppt/theme/theme1.xml><?xml version="1.0" encoding="utf-8"?>
<a:theme xmlns:a="http://schemas.openxmlformats.org/drawingml/2006/main" name="CloudVisor-Aust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28575">
          <a:solidFill>
            <a:schemeClr val="bg2">
              <a:lumMod val="2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CloudVisor-Austin.thmx</Template>
  <TotalTime>128</TotalTime>
  <Words>11526</Words>
  <Application>Microsoft Macintosh PowerPoint</Application>
  <PresentationFormat>On-screen Show (4:3)</PresentationFormat>
  <Paragraphs>4282</Paragraphs>
  <Slides>110</Slides>
  <Notes>3</Notes>
  <HiddenSlides>75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23" baseType="lpstr">
      <vt:lpstr>Calibri Bold</vt:lpstr>
      <vt:lpstr>Arial</vt:lpstr>
      <vt:lpstr>Calibri</vt:lpstr>
      <vt:lpstr>Consolas</vt:lpstr>
      <vt:lpstr>Courier New</vt:lpstr>
      <vt:lpstr>Courier New Bold</vt:lpstr>
      <vt:lpstr>Gill Sans</vt:lpstr>
      <vt:lpstr>Roboto</vt:lpstr>
      <vt:lpstr>Symbol</vt:lpstr>
      <vt:lpstr>Tahoma</vt:lpstr>
      <vt:lpstr>Verdana</vt:lpstr>
      <vt:lpstr>Wingdings 2</vt:lpstr>
      <vt:lpstr>CloudVisor-Austin</vt:lpstr>
      <vt:lpstr>Machine Program: Control</vt:lpstr>
      <vt:lpstr>What we’ve learnt so far</vt:lpstr>
      <vt:lpstr>Today’s lesson plan</vt:lpstr>
      <vt:lpstr>How is non-linear control flow realized?</vt:lpstr>
      <vt:lpstr>Control flow uses RFLAGS register</vt:lpstr>
      <vt:lpstr>How control flow uses RFLAGS register</vt:lpstr>
      <vt:lpstr>EFLAGS register: ZF</vt:lpstr>
      <vt:lpstr>EFLAGS register: SF</vt:lpstr>
      <vt:lpstr>EFLAGS register: CF</vt:lpstr>
      <vt:lpstr>EFLAGS register: OF</vt:lpstr>
      <vt:lpstr>CF and OF are different flags</vt:lpstr>
      <vt:lpstr>Status flags summary</vt:lpstr>
      <vt:lpstr>PowerPoint Presentation</vt:lpstr>
      <vt:lpstr>PowerPoint Presentation</vt:lpstr>
      <vt:lpstr>Summary</vt:lpstr>
      <vt:lpstr>Exercises</vt:lpstr>
      <vt:lpstr>Exercises</vt:lpstr>
      <vt:lpstr>Exercises</vt:lpstr>
      <vt:lpstr>Exercises</vt:lpstr>
      <vt:lpstr>Exercises</vt:lpstr>
      <vt:lpstr>Status flags summary</vt:lpstr>
      <vt:lpstr>Special instructions that set RFLAGS: cmp</vt:lpstr>
      <vt:lpstr>PowerPoint Presentation</vt:lpstr>
      <vt:lpstr>PowerPoint Presentation</vt:lpstr>
      <vt:lpstr>Special instructions that set RFLAGS: test</vt:lpstr>
      <vt:lpstr>Questions</vt:lpstr>
      <vt:lpstr>Questions</vt:lpstr>
      <vt:lpstr>Instructions that read RFLAGS: set</vt:lpstr>
      <vt:lpstr>setX dst</vt:lpstr>
      <vt:lpstr>Example</vt:lpstr>
      <vt:lpstr>PowerPoint Presentation</vt:lpstr>
      <vt:lpstr>PowerPoint Presentation</vt:lpstr>
      <vt:lpstr>PowerPoint Presentation</vt:lpstr>
      <vt:lpstr>PowerPoint Presentation</vt:lpstr>
      <vt:lpstr>Today’s lesson plan</vt:lpstr>
      <vt:lpstr>(Unconditional) jump instruction</vt:lpstr>
      <vt:lpstr>PowerPoint Presentation</vt:lpstr>
      <vt:lpstr>PowerPoint Presentation</vt:lpstr>
      <vt:lpstr>PowerPoint Presentation</vt:lpstr>
      <vt:lpstr>PowerPoint Presentation</vt:lpstr>
      <vt:lpstr>Conditional jump instruction</vt:lpstr>
      <vt:lpstr>PowerPoint Presentation</vt:lpstr>
      <vt:lpstr>PowerPoint Presentation</vt:lpstr>
      <vt:lpstr>PowerPoint Presentation</vt:lpstr>
      <vt:lpstr>PowerPoint Presentation</vt:lpstr>
      <vt:lpstr>How “if..else..” statement works</vt:lpstr>
      <vt:lpstr>How “while” works</vt:lpstr>
      <vt:lpstr>“While” Translation example </vt:lpstr>
      <vt:lpstr>“For” Loop translation</vt:lpstr>
      <vt:lpstr>“Loop” Translation example</vt:lpstr>
      <vt:lpstr>Summary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“Loop” Translation example</vt:lpstr>
      <vt:lpstr>“Loop” Translation example</vt:lpstr>
      <vt:lpstr>“Loop” Translation example</vt:lpstr>
      <vt:lpstr>“Loop” Translation example</vt:lpstr>
      <vt:lpstr>“Loop” Translation example</vt:lpstr>
    </vt:vector>
  </TitlesOfParts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VFlash</dc:title>
  <dc:creator>xiang song</dc:creator>
  <cp:lastModifiedBy>Jinyang Li</cp:lastModifiedBy>
  <cp:revision>27</cp:revision>
  <cp:lastPrinted>2026-02-25T18:22:25Z</cp:lastPrinted>
  <dcterms:created xsi:type="dcterms:W3CDTF">2012-08-17T04:52:30Z</dcterms:created>
  <dcterms:modified xsi:type="dcterms:W3CDTF">2026-10-14T19:13:51Z</dcterms:modified>
</cp:coreProperties>
</file>