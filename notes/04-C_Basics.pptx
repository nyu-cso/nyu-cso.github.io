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54"/>
  </p:notesMasterIdLst>
  <p:handoutMasterIdLst>
    <p:handoutMasterId r:id="rId55"/>
  </p:handoutMasterIdLst>
  <p:sldIdLst>
    <p:sldId id="256" r:id="rId5"/>
    <p:sldId id="1058" r:id="rId6"/>
    <p:sldId id="1060" r:id="rId7"/>
    <p:sldId id="1061" r:id="rId8"/>
    <p:sldId id="1062" r:id="rId9"/>
    <p:sldId id="1063" r:id="rId10"/>
    <p:sldId id="1064" r:id="rId11"/>
    <p:sldId id="1065" r:id="rId12"/>
    <p:sldId id="1066" r:id="rId13"/>
    <p:sldId id="1067" r:id="rId14"/>
    <p:sldId id="1068" r:id="rId15"/>
    <p:sldId id="1069" r:id="rId16"/>
    <p:sldId id="1071" r:id="rId17"/>
    <p:sldId id="1072" r:id="rId18"/>
    <p:sldId id="1078" r:id="rId19"/>
    <p:sldId id="1074" r:id="rId20"/>
    <p:sldId id="1075" r:id="rId21"/>
    <p:sldId id="1096" r:id="rId22"/>
    <p:sldId id="1094" r:id="rId23"/>
    <p:sldId id="1076" r:id="rId24"/>
    <p:sldId id="1077" r:id="rId25"/>
    <p:sldId id="1079" r:id="rId26"/>
    <p:sldId id="1095" r:id="rId27"/>
    <p:sldId id="1080" r:id="rId28"/>
    <p:sldId id="1081" r:id="rId29"/>
    <p:sldId id="1083" r:id="rId30"/>
    <p:sldId id="1085" r:id="rId31"/>
    <p:sldId id="1087" r:id="rId32"/>
    <p:sldId id="1090" r:id="rId33"/>
    <p:sldId id="1091" r:id="rId34"/>
    <p:sldId id="1088" r:id="rId35"/>
    <p:sldId id="1092" r:id="rId36"/>
    <p:sldId id="984" r:id="rId37"/>
    <p:sldId id="939" r:id="rId38"/>
    <p:sldId id="982" r:id="rId39"/>
    <p:sldId id="983" r:id="rId40"/>
    <p:sldId id="1093" r:id="rId41"/>
    <p:sldId id="1089" r:id="rId42"/>
    <p:sldId id="977" r:id="rId43"/>
    <p:sldId id="978" r:id="rId44"/>
    <p:sldId id="979" r:id="rId45"/>
    <p:sldId id="951" r:id="rId46"/>
    <p:sldId id="973" r:id="rId47"/>
    <p:sldId id="952" r:id="rId48"/>
    <p:sldId id="953" r:id="rId49"/>
    <p:sldId id="956" r:id="rId50"/>
    <p:sldId id="974" r:id="rId51"/>
    <p:sldId id="958" r:id="rId52"/>
    <p:sldId id="959" r:id="rId5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CD5B5"/>
    <a:srgbClr val="0000FF"/>
    <a:srgbClr val="F2F2F2"/>
    <a:srgbClr val="3366FF"/>
    <a:srgbClr val="3F9335"/>
    <a:srgbClr val="125B32"/>
    <a:srgbClr val="21C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52" autoAdjust="0"/>
    <p:restoredTop sz="89904" autoAdjust="0"/>
  </p:normalViewPr>
  <p:slideViewPr>
    <p:cSldViewPr snapToGrid="0" snapToObjects="1">
      <p:cViewPr varScale="1">
        <p:scale>
          <a:sx n="96" d="100"/>
          <a:sy n="96" d="100"/>
        </p:scale>
        <p:origin x="1536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1112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-33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615FF3-9FA2-1C4A-AAEA-4750F890D655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4E59E-8276-2140-BA34-7EF057B92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1614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180D89-5C43-EF4A-AA48-38E879565468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6610F-FCBD-844B-B814-9F48A27EB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8289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490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Ken Thompson</a:t>
            </a:r>
          </a:p>
          <a:p>
            <a:r>
              <a:rPr lang="en-US" dirty="0"/>
              <a:t>Dennis Richie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778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8451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xxd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-b hello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389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470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3567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958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4901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https://forms.gle/HbKYeKWCCgREpoKm6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364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8111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4901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6392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6392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-2147483648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7876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/>
              <a:t>-2147483648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7401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/>
              <a:t>-2147483648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7401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7401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740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D147F-079F-4846-994D-0DB4A1A045D4}" type="datetime1">
              <a:rPr lang="zh-CN" altLang="en-US" smtClean="0"/>
              <a:t>2026/9/16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0671-2720-6742-BF3B-130F38BFD6C2}" type="datetime1">
              <a:rPr lang="zh-CN" altLang="en-US" smtClean="0"/>
              <a:t>2026/9/16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F912-C460-F747-A5A7-E580342BDBD8}" type="datetime1">
              <a:rPr lang="zh-CN" altLang="en-US" smtClean="0"/>
              <a:t>2026/9/16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B1225-B413-9941-B6FE-722B9F1A3838}" type="datetime1">
              <a:rPr lang="zh-CN" altLang="en-US" smtClean="0"/>
              <a:t>2026/9/16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F182-DE75-D141-B72A-8599E29248A5}" type="datetime1">
              <a:rPr lang="zh-CN" altLang="en-US" smtClean="0"/>
              <a:t>2026/9/16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C2D7A-8A1B-DA48-9B0B-0DEE102746F0}" type="datetime1">
              <a:rPr lang="zh-CN" altLang="en-US" smtClean="0"/>
              <a:t>2026/9/16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C787-59C9-0445-8F38-642A8469076F}" type="datetime1">
              <a:rPr lang="zh-CN" altLang="en-US" smtClean="0"/>
              <a:t>2026/9/16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50209-807A-E542-A52E-D898C2D2B27F}" type="datetime1">
              <a:rPr lang="zh-CN" altLang="en-US" smtClean="0"/>
              <a:t>2026/9/16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7158-6770-8C48-8082-76913598A291}" type="datetime1">
              <a:rPr lang="zh-CN" altLang="en-US" smtClean="0"/>
              <a:t>2026/9/16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91736-879B-FE48-95EC-EDE8A01D99DB}" type="datetime1">
              <a:rPr lang="zh-CN" altLang="en-US" smtClean="0"/>
              <a:t>2026/9/16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160F-44E5-DA43-A440-B77513F80BF6}" type="datetime1">
              <a:rPr lang="zh-CN" altLang="en-US" smtClean="0"/>
              <a:t>2026/9/16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9FEBD-E571-1443-AA22-BB9E67C15179}" type="datetime1">
              <a:rPr lang="zh-CN" altLang="en-US" smtClean="0"/>
              <a:t>2026/9/16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000" b="1" i="0" kern="1200">
          <a:solidFill>
            <a:srgbClr val="3366FF"/>
          </a:solidFill>
          <a:latin typeface="+mj-lt"/>
          <a:ea typeface="+mj-ea"/>
          <a:cs typeface="Tahoma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Arial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j-lt"/>
          <a:ea typeface="+mn-ea"/>
          <a:cs typeface="Arial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Arial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j-lt"/>
          <a:ea typeface="+mn-ea"/>
          <a:cs typeface="Arial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j-lt"/>
          <a:ea typeface="+mn-ea"/>
          <a:cs typeface="Arial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007578"/>
            <a:ext cx="9144000" cy="1788655"/>
          </a:xfrm>
        </p:spPr>
        <p:txBody>
          <a:bodyPr>
            <a:noAutofit/>
          </a:bodyPr>
          <a:lstStyle/>
          <a:p>
            <a:r>
              <a:rPr lang="en-US" sz="4800" b="0" dirty="0">
                <a:solidFill>
                  <a:schemeClr val="tx1"/>
                </a:solidFill>
                <a:latin typeface="+mj-lt"/>
                <a:ea typeface="Verdana" pitchFamily="34" charset="0"/>
                <a:cs typeface="Consolas" pitchFamily="49" charset="0"/>
              </a:rPr>
              <a:t>C</a:t>
            </a:r>
            <a:r>
              <a:rPr lang="zh-CN" altLang="zh-CN" sz="4800" b="0" dirty="0">
                <a:solidFill>
                  <a:schemeClr val="tx1"/>
                </a:solidFill>
                <a:latin typeface="+mj-lt"/>
                <a:ea typeface="Verdana" pitchFamily="34" charset="0"/>
                <a:cs typeface="Consolas" pitchFamily="49" charset="0"/>
              </a:rPr>
              <a:t> </a:t>
            </a:r>
            <a:r>
              <a:rPr lang="en-US" altLang="zh-CN" sz="4800" b="0" dirty="0">
                <a:solidFill>
                  <a:schemeClr val="tx1"/>
                </a:solidFill>
                <a:latin typeface="+mj-lt"/>
                <a:ea typeface="Verdana" pitchFamily="34" charset="0"/>
                <a:cs typeface="Consolas" pitchFamily="49" charset="0"/>
              </a:rPr>
              <a:t>- Basics,</a:t>
            </a:r>
            <a:r>
              <a:rPr lang="zh-CN" altLang="en-US" sz="4800" b="0" dirty="0">
                <a:solidFill>
                  <a:schemeClr val="tx1"/>
                </a:solidFill>
                <a:latin typeface="+mj-lt"/>
                <a:ea typeface="Verdana" pitchFamily="34" charset="0"/>
                <a:cs typeface="Consolas" pitchFamily="49" charset="0"/>
              </a:rPr>
              <a:t> </a:t>
            </a:r>
            <a:r>
              <a:rPr lang="en-US" altLang="zh-CN" sz="4800" b="0" dirty="0">
                <a:solidFill>
                  <a:schemeClr val="tx1"/>
                </a:solidFill>
                <a:latin typeface="+mj-lt"/>
                <a:ea typeface="Verdana" pitchFamily="34" charset="0"/>
                <a:cs typeface="Consolas" pitchFamily="49" charset="0"/>
              </a:rPr>
              <a:t>Bitwise</a:t>
            </a:r>
            <a:r>
              <a:rPr lang="zh-CN" altLang="en-US" sz="4800" b="0" dirty="0">
                <a:solidFill>
                  <a:schemeClr val="tx1"/>
                </a:solidFill>
                <a:latin typeface="+mj-lt"/>
                <a:ea typeface="Verdana" pitchFamily="34" charset="0"/>
                <a:cs typeface="Consolas" pitchFamily="49" charset="0"/>
              </a:rPr>
              <a:t> </a:t>
            </a:r>
            <a:r>
              <a:rPr lang="en-US" altLang="zh-CN" sz="4800" b="0" dirty="0">
                <a:solidFill>
                  <a:schemeClr val="tx1"/>
                </a:solidFill>
                <a:latin typeface="+mj-lt"/>
                <a:ea typeface="Verdana" pitchFamily="34" charset="0"/>
                <a:cs typeface="Consolas" pitchFamily="49" charset="0"/>
              </a:rPr>
              <a:t>Operator</a:t>
            </a:r>
            <a:endParaRPr lang="en-US" sz="4800" b="0" dirty="0">
              <a:solidFill>
                <a:schemeClr val="tx1"/>
              </a:solidFill>
              <a:latin typeface="+mj-lt"/>
              <a:ea typeface="Verdana" pitchFamily="34" charset="0"/>
              <a:cs typeface="Consolas" pitchFamily="49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dirty="0"/>
              <a:t>Jinyang Li</a:t>
            </a:r>
          </a:p>
        </p:txBody>
      </p:sp>
    </p:spTree>
    <p:extLst>
      <p:ext uri="{BB962C8B-B14F-4D97-AF65-F5344CB8AC3E}">
        <p14:creationId xmlns:p14="http://schemas.microsoft.com/office/powerpoint/2010/main" val="3753609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1"/>
    </mc:Choice>
    <mc:Fallback xmlns="">
      <p:transition xmlns:p14="http://schemas.microsoft.com/office/powerpoint/2010/main" spd="slow" advTm="383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F77F5-62F3-4267-8762-62BB6F55F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E0845-D3BA-42FD-94C1-C6B2C825E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  <a:p>
            <a:r>
              <a:rPr lang="en-US" dirty="0"/>
              <a:t>C program organization</a:t>
            </a:r>
          </a:p>
          <a:p>
            <a:r>
              <a:rPr lang="en-US" dirty="0"/>
              <a:t>Bitwise operators</a:t>
            </a:r>
          </a:p>
          <a:p>
            <a:r>
              <a:rPr lang="en-US" dirty="0"/>
              <a:t>Control flow</a:t>
            </a:r>
          </a:p>
        </p:txBody>
      </p:sp>
    </p:spTree>
    <p:extLst>
      <p:ext uri="{BB962C8B-B14F-4D97-AF65-F5344CB8AC3E}">
        <p14:creationId xmlns:p14="http://schemas.microsoft.com/office/powerpoint/2010/main" val="2509973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426525" y="2186746"/>
            <a:ext cx="10903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halkduster"/>
                <a:cs typeface="Chalkduster"/>
              </a:rPr>
              <a:t>C (1972)</a:t>
            </a:r>
            <a:endParaRPr lang="zh-CN" altLang="en-US" dirty="0">
              <a:latin typeface="Chalkduster"/>
              <a:cs typeface="Chalkduster"/>
            </a:endParaRPr>
          </a:p>
        </p:txBody>
      </p:sp>
      <p:pic>
        <p:nvPicPr>
          <p:cNvPr id="2" name="Picture 1" descr="a34e4dfea45b48909e9cfc369f7d869e--operating-system-steve-jobs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42" y="2573656"/>
            <a:ext cx="4155408" cy="252744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0D06DB8-90E9-4F49-8240-32EFA7718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525" y="155279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C is an old programming language</a:t>
            </a:r>
          </a:p>
        </p:txBody>
      </p:sp>
      <p:pic>
        <p:nvPicPr>
          <p:cNvPr id="5" name="Picture 4" descr="kidscomputer.jpg">
            <a:extLst>
              <a:ext uri="{FF2B5EF4-FFF2-40B4-BE49-F238E27FC236}">
                <a16:creationId xmlns:a16="http://schemas.microsoft.com/office/drawing/2014/main" id="{F9F00BCA-74C3-4A5A-8E31-7B47D98DC6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395" y="2556078"/>
            <a:ext cx="3579549" cy="2513220"/>
          </a:xfrm>
          <a:prstGeom prst="rect">
            <a:avLst/>
          </a:prstGeom>
        </p:spPr>
      </p:pic>
      <p:sp>
        <p:nvSpPr>
          <p:cNvPr id="7" name="矩形 11">
            <a:extLst>
              <a:ext uri="{FF2B5EF4-FFF2-40B4-BE49-F238E27FC236}">
                <a16:creationId xmlns:a16="http://schemas.microsoft.com/office/drawing/2014/main" id="{E58EA93E-8C11-45B5-99AB-95AF95E918A6}"/>
              </a:ext>
            </a:extLst>
          </p:cNvPr>
          <p:cNvSpPr/>
          <p:nvPr/>
        </p:nvSpPr>
        <p:spPr>
          <a:xfrm>
            <a:off x="4892778" y="2186746"/>
            <a:ext cx="41554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Chalkduster"/>
                <a:cs typeface="Chalkduster"/>
              </a:rPr>
              <a:t>Java (1995) Python (2.0, 2000)</a:t>
            </a:r>
            <a:endParaRPr lang="zh-CN" altLang="en-US" dirty="0">
              <a:latin typeface="Chalkduster"/>
              <a:cs typeface="Chalkduster"/>
            </a:endParaRPr>
          </a:p>
        </p:txBody>
      </p:sp>
    </p:spTree>
    <p:extLst>
      <p:ext uri="{BB962C8B-B14F-4D97-AF65-F5344CB8AC3E}">
        <p14:creationId xmlns:p14="http://schemas.microsoft.com/office/powerpoint/2010/main" val="1674384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440593" y="2178382"/>
          <a:ext cx="6217508" cy="361639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845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9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6022">
                  <a:extLst>
                    <a:ext uri="{9D8B030D-6E8A-4147-A177-3AD203B41FA5}">
                      <a16:colId xmlns:a16="http://schemas.microsoft.com/office/drawing/2014/main" val="1135328722"/>
                    </a:ext>
                  </a:extLst>
                </a:gridCol>
              </a:tblGrid>
              <a:tr h="372299">
                <a:tc>
                  <a:txBody>
                    <a:bodyPr/>
                    <a:lstStyle/>
                    <a:p>
                      <a:r>
                        <a:rPr lang="en-US" altLang="zh-CN" sz="1700" dirty="0"/>
                        <a:t>C</a:t>
                      </a:r>
                      <a:endParaRPr lang="zh-CN" altLang="en-US" sz="1700" b="1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700" dirty="0"/>
                        <a:t>Java</a:t>
                      </a:r>
                      <a:endParaRPr lang="zh-CN" altLang="en-US" sz="1700" b="1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 gridSpan="2">
                  <a:txBody>
                    <a:bodyPr/>
                    <a:lstStyle/>
                    <a:p>
                      <a:r>
                        <a:rPr lang="en-US" altLang="zh-CN" sz="1700" dirty="0"/>
                        <a:t>Python</a:t>
                      </a:r>
                      <a:endParaRPr lang="zh-CN" altLang="en-US" sz="1700" b="1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706">
                <a:tc>
                  <a:txBody>
                    <a:bodyPr/>
                    <a:lstStyle/>
                    <a:p>
                      <a:r>
                        <a:rPr lang="en-US" altLang="zh-CN" sz="1500" dirty="0"/>
                        <a:t>1972</a:t>
                      </a:r>
                      <a:endParaRPr lang="zh-CN" altLang="en-US" sz="15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dirty="0"/>
                        <a:t>1995</a:t>
                      </a:r>
                      <a:endParaRPr lang="zh-CN" altLang="en-US" sz="15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 gridSpan="2">
                  <a:txBody>
                    <a:bodyPr/>
                    <a:lstStyle/>
                    <a:p>
                      <a:r>
                        <a:rPr lang="en-US" altLang="zh-CN" sz="1500" dirty="0"/>
                        <a:t>2000 (2.0)</a:t>
                      </a:r>
                      <a:endParaRPr lang="zh-CN" altLang="en-US" sz="15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706">
                <a:tc>
                  <a:txBody>
                    <a:bodyPr/>
                    <a:lstStyle/>
                    <a:p>
                      <a:r>
                        <a:rPr lang="en-US" altLang="zh-CN" sz="1500" dirty="0"/>
                        <a:t>Procedure</a:t>
                      </a:r>
                      <a:endParaRPr lang="zh-CN" altLang="en-US" sz="15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dirty="0"/>
                        <a:t>Object oriented</a:t>
                      </a:r>
                      <a:endParaRPr lang="zh-CN" altLang="en-US" sz="15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 gridSpan="2">
                  <a:txBody>
                    <a:bodyPr/>
                    <a:lstStyle/>
                    <a:p>
                      <a:r>
                        <a:rPr lang="en-US" altLang="zh-CN" sz="1500" dirty="0"/>
                        <a:t>Procedure &amp; object oriented</a:t>
                      </a:r>
                      <a:endParaRPr lang="zh-CN" altLang="en-US" sz="15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7782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Compiled</a:t>
                      </a:r>
                      <a:r>
                        <a:rPr lang="en-US" altLang="zh-CN" sz="1400" baseline="0" dirty="0"/>
                        <a:t> to machine code, runs directly on hardware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Compiled</a:t>
                      </a:r>
                      <a:r>
                        <a:rPr lang="en-US" altLang="zh-CN" sz="1400" baseline="0" dirty="0"/>
                        <a:t> to </a:t>
                      </a:r>
                      <a:r>
                        <a:rPr lang="en-US" altLang="zh-CN" sz="1400" baseline="0" dirty="0" err="1"/>
                        <a:t>bytecode</a:t>
                      </a:r>
                      <a:r>
                        <a:rPr lang="en-US" altLang="zh-CN" sz="1400" baseline="0" dirty="0"/>
                        <a:t>, runs by another piece of software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 gridSpan="2">
                  <a:txBody>
                    <a:bodyPr/>
                    <a:lstStyle/>
                    <a:p>
                      <a:r>
                        <a:rPr lang="en-US" altLang="zh-CN" sz="1400" dirty="0"/>
                        <a:t>Scripting</a:t>
                      </a:r>
                      <a:r>
                        <a:rPr lang="en-US" altLang="zh-CN" sz="1400" baseline="0" dirty="0"/>
                        <a:t> language, interpreted by software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299">
                <a:tc>
                  <a:txBody>
                    <a:bodyPr/>
                    <a:lstStyle/>
                    <a:p>
                      <a:r>
                        <a:rPr lang="en-US" altLang="zh-CN" sz="1700" dirty="0"/>
                        <a:t>static type</a:t>
                      </a:r>
                      <a:endParaRPr lang="zh-CN" altLang="en-US" sz="17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700" dirty="0"/>
                        <a:t>static type</a:t>
                      </a:r>
                      <a:endParaRPr lang="zh-CN" altLang="en-US" sz="17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 gridSpan="2">
                  <a:txBody>
                    <a:bodyPr/>
                    <a:lstStyle/>
                    <a:p>
                      <a:r>
                        <a:rPr lang="en-US" altLang="zh-CN" sz="1700" dirty="0"/>
                        <a:t>dynamic type</a:t>
                      </a:r>
                      <a:endParaRPr lang="zh-CN" altLang="en-US" sz="17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1301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Manual memory management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 gridSpan="3">
                  <a:txBody>
                    <a:bodyPr/>
                    <a:lstStyle/>
                    <a:p>
                      <a:r>
                        <a:rPr lang="en-US" altLang="zh-CN" sz="1400" dirty="0"/>
                        <a:t>Automatic</a:t>
                      </a:r>
                      <a:r>
                        <a:rPr lang="en-US" altLang="zh-CN" sz="1400" baseline="0" dirty="0"/>
                        <a:t> memory management with GC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zh-CN" altLang="en-US" sz="2200" dirty="0">
                        <a:latin typeface="Verdana"/>
                        <a:cs typeface="Verdan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1301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Tiny standard library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 gridSpan="2"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Very Large library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Humongous library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672955971"/>
                  </a:ext>
                </a:extLst>
              </a:tr>
            </a:tbl>
          </a:graphicData>
        </a:graphic>
      </p:graphicFrame>
      <p:sp>
        <p:nvSpPr>
          <p:cNvPr id="7" name="Title 2">
            <a:extLst>
              <a:ext uri="{FF2B5EF4-FFF2-40B4-BE49-F238E27FC236}">
                <a16:creationId xmlns:a16="http://schemas.microsoft.com/office/drawing/2014/main" id="{7E60C3E7-CDC8-4BFC-875E-22E4F62F7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C is an old programming language</a:t>
            </a:r>
          </a:p>
        </p:txBody>
      </p:sp>
    </p:spTree>
    <p:extLst>
      <p:ext uri="{BB962C8B-B14F-4D97-AF65-F5344CB8AC3E}">
        <p14:creationId xmlns:p14="http://schemas.microsoft.com/office/powerpoint/2010/main" val="118803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learn C for CSO?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 is a systems language</a:t>
            </a:r>
          </a:p>
          <a:p>
            <a:pPr lvl="1"/>
            <a:r>
              <a:rPr lang="en-US" dirty="0"/>
              <a:t>Language for writing OS and low-level code</a:t>
            </a:r>
          </a:p>
          <a:p>
            <a:pPr lvl="1"/>
            <a:r>
              <a:rPr lang="en-US" dirty="0"/>
              <a:t>System software written in C:</a:t>
            </a:r>
          </a:p>
          <a:p>
            <a:pPr lvl="2"/>
            <a:r>
              <a:rPr lang="en-US" dirty="0"/>
              <a:t>Linux,  Windows kernel, </a:t>
            </a:r>
            <a:r>
              <a:rPr lang="en-US" dirty="0" err="1"/>
              <a:t>MacOS</a:t>
            </a:r>
            <a:r>
              <a:rPr lang="en-US" dirty="0"/>
              <a:t> kernel</a:t>
            </a:r>
          </a:p>
          <a:p>
            <a:pPr lvl="2"/>
            <a:r>
              <a:rPr lang="en-US" dirty="0"/>
              <a:t>MySQL, </a:t>
            </a:r>
            <a:r>
              <a:rPr lang="en-US" dirty="0" err="1"/>
              <a:t>Postgres</a:t>
            </a:r>
            <a:endParaRPr lang="en-US" dirty="0"/>
          </a:p>
          <a:p>
            <a:pPr lvl="2"/>
            <a:r>
              <a:rPr lang="en-US" dirty="0"/>
              <a:t>Apache webserver, NGIX</a:t>
            </a:r>
          </a:p>
          <a:p>
            <a:pPr lvl="2"/>
            <a:r>
              <a:rPr lang="en-US" dirty="0"/>
              <a:t>Java virtual machine, Python interpreter</a:t>
            </a:r>
          </a:p>
          <a:p>
            <a:r>
              <a:rPr lang="en-US" dirty="0"/>
              <a:t>Why learning C for CSO?</a:t>
            </a:r>
          </a:p>
          <a:p>
            <a:pPr lvl="1"/>
            <a:r>
              <a:rPr lang="en-US" dirty="0"/>
              <a:t>simple, low-level, “close to the hardware”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0E159D-3B94-43E4-AFBF-410D9524F7A9}"/>
              </a:ext>
            </a:extLst>
          </p:cNvPr>
          <p:cNvSpPr/>
          <p:nvPr/>
        </p:nvSpPr>
        <p:spPr>
          <a:xfrm>
            <a:off x="1237368" y="3039042"/>
            <a:ext cx="5206975" cy="14147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616597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The simplest C program: “Hello World”</a:t>
            </a:r>
            <a:endParaRPr kumimoji="1" lang="zh-CN" altLang="en-US" dirty="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949733" y="2062311"/>
            <a:ext cx="3659955" cy="24662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defRPr/>
            </a:pPr>
            <a:r>
              <a:rPr lang="en-US" altLang="zh-CN" sz="1800" dirty="0">
                <a:latin typeface="Consolas"/>
                <a:ea typeface="宋体" pitchFamily="2" charset="-122"/>
                <a:cs typeface="Consolas"/>
              </a:rPr>
              <a:t>#include &lt;</a:t>
            </a:r>
            <a:r>
              <a:rPr lang="en-US" altLang="zh-CN" sz="1800" dirty="0" err="1">
                <a:latin typeface="Consolas"/>
                <a:ea typeface="宋体" pitchFamily="2" charset="-122"/>
                <a:cs typeface="Consolas"/>
              </a:rPr>
              <a:t>stdio.h</a:t>
            </a:r>
            <a:r>
              <a:rPr lang="en-US" altLang="zh-CN" sz="1800" dirty="0">
                <a:latin typeface="Consolas"/>
                <a:ea typeface="宋体" pitchFamily="2" charset="-122"/>
                <a:cs typeface="Consolas"/>
              </a:rPr>
              <a:t>&gt;</a:t>
            </a:r>
          </a:p>
          <a:p>
            <a:pPr>
              <a:buFontTx/>
              <a:buNone/>
              <a:defRPr/>
            </a:pPr>
            <a:endParaRPr lang="en-US" altLang="zh-CN" sz="1800" dirty="0">
              <a:latin typeface="Consolas"/>
              <a:ea typeface="宋体" pitchFamily="2" charset="-122"/>
              <a:cs typeface="Consolas"/>
            </a:endParaRPr>
          </a:p>
          <a:p>
            <a:pPr>
              <a:buFontTx/>
              <a:buNone/>
              <a:defRPr/>
            </a:pPr>
            <a:r>
              <a:rPr lang="en-US" altLang="zh-CN" sz="1800" dirty="0">
                <a:latin typeface="Consolas"/>
                <a:ea typeface="宋体" pitchFamily="2" charset="-122"/>
                <a:cs typeface="Consolas"/>
              </a:rPr>
              <a:t>int main() </a:t>
            </a:r>
          </a:p>
          <a:p>
            <a:pPr>
              <a:buFontTx/>
              <a:buNone/>
              <a:defRPr/>
            </a:pPr>
            <a:r>
              <a:rPr lang="en-US" altLang="zh-CN" sz="1800" dirty="0">
                <a:latin typeface="Consolas"/>
                <a:ea typeface="宋体" pitchFamily="2" charset="-122"/>
                <a:cs typeface="Consolas"/>
              </a:rPr>
              <a:t>{</a:t>
            </a:r>
          </a:p>
          <a:p>
            <a:pPr>
              <a:buFontTx/>
              <a:buNone/>
              <a:defRPr/>
            </a:pPr>
            <a:r>
              <a:rPr lang="en-US" altLang="zh-CN" sz="1800" dirty="0">
                <a:latin typeface="Consolas"/>
                <a:ea typeface="宋体" pitchFamily="2" charset="-122"/>
                <a:cs typeface="Consolas"/>
              </a:rPr>
              <a:t>  </a:t>
            </a:r>
            <a:r>
              <a:rPr lang="en-US" altLang="zh-CN" sz="1800" dirty="0" err="1">
                <a:latin typeface="Consolas"/>
                <a:ea typeface="宋体" pitchFamily="2" charset="-122"/>
                <a:cs typeface="Consolas"/>
              </a:rPr>
              <a:t>printf</a:t>
            </a:r>
            <a:r>
              <a:rPr lang="en-US" altLang="zh-CN" sz="1800" dirty="0">
                <a:latin typeface="Consolas"/>
                <a:ea typeface="宋体" pitchFamily="2" charset="-122"/>
                <a:cs typeface="Consolas"/>
              </a:rPr>
              <a:t>("hello, world\n");</a:t>
            </a:r>
          </a:p>
          <a:p>
            <a:pPr>
              <a:buFontTx/>
              <a:buNone/>
              <a:defRPr/>
            </a:pPr>
            <a:r>
              <a:rPr lang="en-US" altLang="zh-CN" sz="1800" dirty="0">
                <a:latin typeface="Consolas"/>
                <a:ea typeface="宋体" pitchFamily="2" charset="-122"/>
                <a:cs typeface="Consolas"/>
              </a:rPr>
              <a:t>  return 0;</a:t>
            </a:r>
          </a:p>
          <a:p>
            <a:pPr>
              <a:buFontTx/>
              <a:buNone/>
              <a:defRPr/>
            </a:pPr>
            <a:r>
              <a:rPr lang="en-US" altLang="zh-CN" sz="1800" dirty="0">
                <a:latin typeface="Consolas"/>
                <a:ea typeface="宋体" pitchFamily="2" charset="-122"/>
                <a:cs typeface="Consolas"/>
              </a:rPr>
              <a:t>}</a:t>
            </a:r>
          </a:p>
        </p:txBody>
      </p:sp>
      <p:grpSp>
        <p:nvGrpSpPr>
          <p:cNvPr id="4" name="组合 26">
            <a:extLst>
              <a:ext uri="{FF2B5EF4-FFF2-40B4-BE49-F238E27FC236}">
                <a16:creationId xmlns:a16="http://schemas.microsoft.com/office/drawing/2014/main" id="{EC7B8489-717A-441B-8D01-0906535019A8}"/>
              </a:ext>
            </a:extLst>
          </p:cNvPr>
          <p:cNvGrpSpPr>
            <a:grpSpLocks/>
          </p:cNvGrpSpPr>
          <p:nvPr/>
        </p:nvGrpSpPr>
        <p:grpSpPr bwMode="auto">
          <a:xfrm>
            <a:off x="4105015" y="2057400"/>
            <a:ext cx="4889711" cy="300082"/>
            <a:chOff x="3386583" y="1600200"/>
            <a:chExt cx="6521056" cy="399608"/>
          </a:xfrm>
        </p:grpSpPr>
        <p:sp>
          <p:nvSpPr>
            <p:cNvPr id="5" name="TextBox 21">
              <a:extLst>
                <a:ext uri="{FF2B5EF4-FFF2-40B4-BE49-F238E27FC236}">
                  <a16:creationId xmlns:a16="http://schemas.microsoft.com/office/drawing/2014/main" id="{37241C40-A046-492F-8874-2700C43424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8200" y="1600200"/>
              <a:ext cx="5259439" cy="399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5pPr>
              <a:lvl6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6pPr>
              <a:lvl7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7pPr>
              <a:lvl8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8pPr>
              <a:lvl9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9pPr>
            </a:lstStyle>
            <a:p>
              <a:pPr eaLnBrk="1" hangingPunct="1"/>
              <a:r>
                <a:rPr lang="en-US" altLang="zh-CN" sz="1350" dirty="0">
                  <a:latin typeface="Verdana"/>
                  <a:cs typeface="Verdana"/>
                </a:rPr>
                <a:t>Equivalent to “importing” a library package</a:t>
              </a:r>
              <a:endParaRPr lang="zh-CN" altLang="en-US" sz="1350" dirty="0">
                <a:latin typeface="Verdana"/>
                <a:cs typeface="Verdana"/>
              </a:endParaRPr>
            </a:p>
          </p:txBody>
        </p:sp>
        <p:cxnSp>
          <p:nvCxnSpPr>
            <p:cNvPr id="6" name="直接箭头连接符 25">
              <a:extLst>
                <a:ext uri="{FF2B5EF4-FFF2-40B4-BE49-F238E27FC236}">
                  <a16:creationId xmlns:a16="http://schemas.microsoft.com/office/drawing/2014/main" id="{7AB15150-D168-4396-96A1-7556503889BA}"/>
                </a:ext>
              </a:extLst>
            </p:cNvPr>
            <p:cNvCxnSpPr>
              <a:cxnSpLocks noChangeShapeType="1"/>
              <a:stCxn id="5" idx="1"/>
            </p:cNvCxnSpPr>
            <p:nvPr/>
          </p:nvCxnSpPr>
          <p:spPr bwMode="auto">
            <a:xfrm flipH="1">
              <a:off x="3386583" y="1800004"/>
              <a:ext cx="1261618" cy="28797"/>
            </a:xfrm>
            <a:prstGeom prst="straightConnector1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" name="组合 20">
            <a:extLst>
              <a:ext uri="{FF2B5EF4-FFF2-40B4-BE49-F238E27FC236}">
                <a16:creationId xmlns:a16="http://schemas.microsoft.com/office/drawing/2014/main" id="{2C22FFD7-78E7-4DD8-8A3A-B0F880BCEB62}"/>
              </a:ext>
            </a:extLst>
          </p:cNvPr>
          <p:cNvGrpSpPr>
            <a:grpSpLocks/>
          </p:cNvGrpSpPr>
          <p:nvPr/>
        </p:nvGrpSpPr>
        <p:grpSpPr bwMode="auto">
          <a:xfrm>
            <a:off x="1795488" y="3679713"/>
            <a:ext cx="5858245" cy="526587"/>
            <a:chOff x="1676400" y="3733800"/>
            <a:chExt cx="6509845" cy="1573974"/>
          </a:xfrm>
        </p:grpSpPr>
        <p:sp>
          <p:nvSpPr>
            <p:cNvPr id="8" name="TextBox 14">
              <a:extLst>
                <a:ext uri="{FF2B5EF4-FFF2-40B4-BE49-F238E27FC236}">
                  <a16:creationId xmlns:a16="http://schemas.microsoft.com/office/drawing/2014/main" id="{9ECB0DED-FFFA-4EE4-B8B1-4119B09EC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799" y="4410826"/>
              <a:ext cx="3309446" cy="8969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5pPr>
              <a:lvl6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6pPr>
              <a:lvl7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7pPr>
              <a:lvl8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8pPr>
              <a:lvl9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9pPr>
            </a:lstStyle>
            <a:p>
              <a:pPr eaLnBrk="1" hangingPunct="1"/>
              <a:r>
                <a:rPr lang="en-US" altLang="zh-CN" sz="1350" dirty="0">
                  <a:latin typeface="Verdana"/>
                  <a:cs typeface="Verdana"/>
                </a:rPr>
                <a:t>A function “exported” by </a:t>
              </a:r>
              <a:r>
                <a:rPr lang="en-US" altLang="zh-CN" sz="1350" dirty="0" err="1">
                  <a:latin typeface="Verdana"/>
                  <a:cs typeface="Verdana"/>
                </a:rPr>
                <a:t>stdio.h</a:t>
              </a:r>
              <a:endParaRPr lang="zh-CN" altLang="en-US" sz="1350" dirty="0">
                <a:latin typeface="Verdana"/>
                <a:cs typeface="Verdana"/>
              </a:endParaRPr>
            </a:p>
          </p:txBody>
        </p:sp>
        <p:cxnSp>
          <p:nvCxnSpPr>
            <p:cNvPr id="9" name="曲线连接符 16">
              <a:extLst>
                <a:ext uri="{FF2B5EF4-FFF2-40B4-BE49-F238E27FC236}">
                  <a16:creationId xmlns:a16="http://schemas.microsoft.com/office/drawing/2014/main" id="{C322485D-C88C-4335-B91D-2DB96A0A0FF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1676400" y="3733800"/>
              <a:ext cx="3124200" cy="1371600"/>
            </a:xfrm>
            <a:prstGeom prst="curvedConnector3">
              <a:avLst>
                <a:gd name="adj1" fmla="val 99593"/>
              </a:avLst>
            </a:prstGeom>
            <a:noFill/>
            <a:ln w="9525">
              <a:solidFill>
                <a:schemeClr val="accent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7BA7E6F-BE59-4A20-A759-3DE954DE5D71}"/>
              </a:ext>
            </a:extLst>
          </p:cNvPr>
          <p:cNvGrpSpPr/>
          <p:nvPr/>
        </p:nvGrpSpPr>
        <p:grpSpPr>
          <a:xfrm>
            <a:off x="389424" y="4921974"/>
            <a:ext cx="3105008" cy="323165"/>
            <a:chOff x="519232" y="5419636"/>
            <a:chExt cx="4140010" cy="430887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B04ABDA-3AC0-4995-A180-9FB5D7195017}"/>
                </a:ext>
              </a:extLst>
            </p:cNvPr>
            <p:cNvSpPr/>
            <p:nvPr/>
          </p:nvSpPr>
          <p:spPr>
            <a:xfrm>
              <a:off x="1857108" y="5419636"/>
              <a:ext cx="2802134" cy="43088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US" altLang="zh-CN" sz="1500" dirty="0" err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gcc</a:t>
              </a:r>
              <a:r>
                <a:rPr lang="en-US" altLang="zh-CN" sz="15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 </a:t>
              </a:r>
              <a:r>
                <a:rPr lang="en-US" altLang="zh-CN" sz="1500" dirty="0" err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hello.c</a:t>
              </a:r>
              <a:r>
                <a:rPr lang="en-US" altLang="zh-CN" sz="15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 </a:t>
              </a:r>
              <a:r>
                <a:rPr lang="mr-IN" altLang="zh-CN" sz="15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–</a:t>
              </a:r>
              <a:r>
                <a:rPr lang="en-US" altLang="zh-CN" sz="15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o hello </a:t>
              </a:r>
              <a:endParaRPr lang="en-US" altLang="zh-CN" sz="15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DD0035F-3815-4D53-B8C5-DA0D9C60EE15}"/>
                </a:ext>
              </a:extLst>
            </p:cNvPr>
            <p:cNvSpPr txBox="1"/>
            <p:nvPr/>
          </p:nvSpPr>
          <p:spPr>
            <a:xfrm>
              <a:off x="519232" y="5450413"/>
              <a:ext cx="11332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Compile: 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D7758A6-042E-4F81-89FB-E59824055F07}"/>
              </a:ext>
            </a:extLst>
          </p:cNvPr>
          <p:cNvGrpSpPr/>
          <p:nvPr/>
        </p:nvGrpSpPr>
        <p:grpSpPr>
          <a:xfrm>
            <a:off x="389424" y="5233592"/>
            <a:ext cx="2145478" cy="364289"/>
            <a:chOff x="519231" y="5835134"/>
            <a:chExt cx="2860638" cy="485720"/>
          </a:xfrm>
        </p:grpSpPr>
        <p:sp>
          <p:nvSpPr>
            <p:cNvPr id="13" name="矩形 2">
              <a:extLst>
                <a:ext uri="{FF2B5EF4-FFF2-40B4-BE49-F238E27FC236}">
                  <a16:creationId xmlns:a16="http://schemas.microsoft.com/office/drawing/2014/main" id="{97255FF4-8702-4A47-B34B-F93291A46BB5}"/>
                </a:ext>
              </a:extLst>
            </p:cNvPr>
            <p:cNvSpPr/>
            <p:nvPr/>
          </p:nvSpPr>
          <p:spPr>
            <a:xfrm>
              <a:off x="1872510" y="5889967"/>
              <a:ext cx="1507359" cy="43088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15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./hello</a:t>
              </a:r>
              <a:endParaRPr lang="en-US" altLang="zh-CN" sz="15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2F1A732-4BC6-4CCA-9FBB-D12C50753C1D}"/>
                </a:ext>
              </a:extLst>
            </p:cNvPr>
            <p:cNvSpPr txBox="1"/>
            <p:nvPr/>
          </p:nvSpPr>
          <p:spPr>
            <a:xfrm>
              <a:off x="519231" y="5835134"/>
              <a:ext cx="9120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Run: 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9121093-D7C4-4C54-AC17-1E706F989FD0}"/>
              </a:ext>
            </a:extLst>
          </p:cNvPr>
          <p:cNvGrpSpPr/>
          <p:nvPr/>
        </p:nvGrpSpPr>
        <p:grpSpPr>
          <a:xfrm>
            <a:off x="2534903" y="4869202"/>
            <a:ext cx="5655115" cy="751190"/>
            <a:chOff x="3379871" y="5349268"/>
            <a:chExt cx="7540152" cy="100158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1C3E418-3808-465B-859A-535987F16544}"/>
                </a:ext>
              </a:extLst>
            </p:cNvPr>
            <p:cNvSpPr/>
            <p:nvPr/>
          </p:nvSpPr>
          <p:spPr>
            <a:xfrm>
              <a:off x="3379871" y="5349268"/>
              <a:ext cx="1476529" cy="6001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grpSp>
          <p:nvGrpSpPr>
            <p:cNvPr id="18" name="组合 20">
              <a:extLst>
                <a:ext uri="{FF2B5EF4-FFF2-40B4-BE49-F238E27FC236}">
                  <a16:creationId xmlns:a16="http://schemas.microsoft.com/office/drawing/2014/main" id="{092ACA5A-94C9-45C4-9905-32D4749ACA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35249" y="5970615"/>
              <a:ext cx="6384774" cy="380239"/>
              <a:chOff x="1676413" y="3733814"/>
              <a:chExt cx="10038264" cy="683068"/>
            </a:xfrm>
          </p:grpSpPr>
          <p:sp>
            <p:nvSpPr>
              <p:cNvPr id="19" name="TextBox 14">
                <a:extLst>
                  <a:ext uri="{FF2B5EF4-FFF2-40B4-BE49-F238E27FC236}">
                    <a16:creationId xmlns:a16="http://schemas.microsoft.com/office/drawing/2014/main" id="{FF60110E-4F6F-47F3-8852-9B4F6C6B8A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0902" y="3753407"/>
                <a:ext cx="8243775" cy="6634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Comic Sans MS" charset="0"/>
                    <a:ea typeface="宋体" charset="0"/>
                  </a:defRPr>
                </a:lvl1pPr>
                <a:lvl2pPr>
                  <a:defRPr sz="2400">
                    <a:solidFill>
                      <a:schemeClr val="tx1"/>
                    </a:solidFill>
                    <a:latin typeface="Comic Sans MS" charset="0"/>
                    <a:ea typeface="宋体" charset="0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omic Sans MS" charset="0"/>
                    <a:ea typeface="宋体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Comic Sans MS" charset="0"/>
                    <a:ea typeface="宋体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Comic Sans MS" charset="0"/>
                    <a:ea typeface="宋体" charset="0"/>
                  </a:defRPr>
                </a:lvl5pPr>
                <a:lvl6pPr>
                  <a:defRPr sz="2000">
                    <a:solidFill>
                      <a:schemeClr val="tx1"/>
                    </a:solidFill>
                    <a:latin typeface="Comic Sans MS" charset="0"/>
                    <a:ea typeface="宋体" charset="0"/>
                  </a:defRPr>
                </a:lvl6pPr>
                <a:lvl7pPr>
                  <a:defRPr sz="2000">
                    <a:solidFill>
                      <a:schemeClr val="tx1"/>
                    </a:solidFill>
                    <a:latin typeface="Comic Sans MS" charset="0"/>
                    <a:ea typeface="宋体" charset="0"/>
                  </a:defRPr>
                </a:lvl7pPr>
                <a:lvl8pPr>
                  <a:defRPr sz="2000">
                    <a:solidFill>
                      <a:schemeClr val="tx1"/>
                    </a:solidFill>
                    <a:latin typeface="Comic Sans MS" charset="0"/>
                    <a:ea typeface="宋体" charset="0"/>
                  </a:defRPr>
                </a:lvl8pPr>
                <a:lvl9pPr>
                  <a:defRPr sz="2000">
                    <a:solidFill>
                      <a:schemeClr val="tx1"/>
                    </a:solidFill>
                    <a:latin typeface="Comic Sans MS" charset="0"/>
                    <a:ea typeface="宋体" charset="0"/>
                  </a:defRPr>
                </a:lvl9pPr>
              </a:lstStyle>
              <a:p>
                <a:pPr eaLnBrk="1" hangingPunct="1"/>
                <a:r>
                  <a:rPr lang="en-US" altLang="zh-CN" sz="1200" dirty="0">
                    <a:latin typeface="Verdana"/>
                    <a:cs typeface="Verdana"/>
                  </a:rPr>
                  <a:t>If </a:t>
                </a:r>
                <a:r>
                  <a:rPr lang="en-US" altLang="zh-CN" sz="1200" dirty="0">
                    <a:latin typeface="Consolas" panose="020B0609020204030204" pitchFamily="49" charset="0"/>
                    <a:cs typeface="Verdana"/>
                  </a:rPr>
                  <a:t>–o </a:t>
                </a:r>
                <a:r>
                  <a:rPr lang="en-US" altLang="zh-CN" sz="1200" dirty="0">
                    <a:latin typeface="Verdana"/>
                    <a:cs typeface="Verdana"/>
                  </a:rPr>
                  <a:t>is not given, output executable file is </a:t>
                </a:r>
                <a:r>
                  <a:rPr lang="en-US" altLang="zh-CN" sz="1200" dirty="0" err="1">
                    <a:latin typeface="Verdana"/>
                    <a:cs typeface="Verdana"/>
                  </a:rPr>
                  <a:t>a.out</a:t>
                </a:r>
                <a:endParaRPr lang="zh-CN" altLang="en-US" sz="1200" dirty="0">
                  <a:latin typeface="Verdana"/>
                  <a:cs typeface="Verdana"/>
                </a:endParaRPr>
              </a:p>
            </p:txBody>
          </p:sp>
          <p:cxnSp>
            <p:nvCxnSpPr>
              <p:cNvPr id="20" name="曲线连接符 16">
                <a:extLst>
                  <a:ext uri="{FF2B5EF4-FFF2-40B4-BE49-F238E27FC236}">
                    <a16:creationId xmlns:a16="http://schemas.microsoft.com/office/drawing/2014/main" id="{84E7A5E5-2DCC-40EC-B380-3BC6BD00F542}"/>
                  </a:ext>
                </a:extLst>
              </p:cNvPr>
              <p:cNvCxnSpPr>
                <a:cxnSpLocks noChangeShapeType="1"/>
                <a:stCxn id="19" idx="1"/>
              </p:cNvCxnSpPr>
              <p:nvPr/>
            </p:nvCxnSpPr>
            <p:spPr bwMode="auto">
              <a:xfrm rot="10800000">
                <a:off x="1676413" y="3733814"/>
                <a:ext cx="1794489" cy="351334"/>
              </a:xfrm>
              <a:prstGeom prst="curvedConnector3">
                <a:avLst>
                  <a:gd name="adj1" fmla="val 50000"/>
                </a:avLst>
              </a:prstGeom>
              <a:noFill/>
              <a:ln w="9525">
                <a:solidFill>
                  <a:schemeClr val="accent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3FA7B39-1510-4BDA-822F-AF06596CCF20}"/>
              </a:ext>
            </a:extLst>
          </p:cNvPr>
          <p:cNvSpPr txBox="1"/>
          <p:nvPr/>
        </p:nvSpPr>
        <p:spPr>
          <a:xfrm>
            <a:off x="3971700" y="4442680"/>
            <a:ext cx="65114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/>
              <a:t>hello.c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66743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95A23-B933-428E-9DF1-8F99E5DDF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334" y="410916"/>
            <a:ext cx="7866637" cy="994172"/>
          </a:xfrm>
        </p:spPr>
        <p:txBody>
          <a:bodyPr>
            <a:normAutofit fontScale="90000"/>
          </a:bodyPr>
          <a:lstStyle/>
          <a:p>
            <a:r>
              <a:rPr lang="en-US" dirty="0"/>
              <a:t>C program with multiple files: naïve organization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58DC657-956F-4A07-9D95-8D26E50C57F3}"/>
              </a:ext>
            </a:extLst>
          </p:cNvPr>
          <p:cNvSpPr txBox="1">
            <a:spLocks noChangeArrowheads="1"/>
          </p:cNvSpPr>
          <p:nvPr/>
        </p:nvSpPr>
        <p:spPr>
          <a:xfrm>
            <a:off x="125501" y="2121820"/>
            <a:ext cx="2264462" cy="11167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defRPr/>
            </a:pPr>
            <a:r>
              <a:rPr lang="en-US" altLang="zh-CN" sz="1425" dirty="0">
                <a:latin typeface="Consolas"/>
                <a:ea typeface="宋体" pitchFamily="2" charset="-122"/>
                <a:cs typeface="Consolas"/>
              </a:rPr>
              <a:t>int sum(int x, int y) </a:t>
            </a:r>
          </a:p>
          <a:p>
            <a:pPr>
              <a:buFontTx/>
              <a:buNone/>
              <a:defRPr/>
            </a:pPr>
            <a:r>
              <a:rPr lang="en-US" altLang="zh-CN" sz="1425" dirty="0">
                <a:latin typeface="Consolas"/>
                <a:ea typeface="宋体" pitchFamily="2" charset="-122"/>
                <a:cs typeface="Consolas"/>
              </a:rPr>
              <a:t>{</a:t>
            </a:r>
          </a:p>
          <a:p>
            <a:pPr>
              <a:buFontTx/>
              <a:buNone/>
              <a:defRPr/>
            </a:pPr>
            <a:r>
              <a:rPr lang="en-US" altLang="zh-CN" sz="1425" dirty="0">
                <a:latin typeface="Consolas"/>
                <a:ea typeface="宋体" pitchFamily="2" charset="-122"/>
                <a:cs typeface="Consolas"/>
              </a:rPr>
              <a:t>   return </a:t>
            </a:r>
            <a:r>
              <a:rPr lang="en-US" altLang="zh-CN" sz="1425" dirty="0" err="1">
                <a:latin typeface="Consolas"/>
                <a:ea typeface="宋体" pitchFamily="2" charset="-122"/>
                <a:cs typeface="Consolas"/>
              </a:rPr>
              <a:t>x+y</a:t>
            </a:r>
            <a:r>
              <a:rPr lang="en-US" altLang="zh-CN" sz="1425" dirty="0">
                <a:latin typeface="Consolas"/>
                <a:ea typeface="宋体" pitchFamily="2" charset="-122"/>
                <a:cs typeface="Consolas"/>
              </a:rPr>
              <a:t>;</a:t>
            </a:r>
          </a:p>
          <a:p>
            <a:pPr>
              <a:buFontTx/>
              <a:buNone/>
              <a:defRPr/>
            </a:pPr>
            <a:r>
              <a:rPr lang="en-US" altLang="zh-CN" sz="1425" dirty="0">
                <a:latin typeface="Consolas"/>
                <a:ea typeface="宋体" pitchFamily="2" charset="-122"/>
                <a:cs typeface="Consola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EA38CE-2D07-45F9-A203-A9B0AE201441}"/>
              </a:ext>
            </a:extLst>
          </p:cNvPr>
          <p:cNvSpPr txBox="1"/>
          <p:nvPr/>
        </p:nvSpPr>
        <p:spPr>
          <a:xfrm>
            <a:off x="1864411" y="3191319"/>
            <a:ext cx="59824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/>
              <a:t>sum.c</a:t>
            </a:r>
            <a:endParaRPr lang="en-US" sz="135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4EB4359-2A4A-4801-B638-BEC7CB42460C}"/>
              </a:ext>
            </a:extLst>
          </p:cNvPr>
          <p:cNvSpPr txBox="1">
            <a:spLocks noChangeArrowheads="1"/>
          </p:cNvSpPr>
          <p:nvPr/>
        </p:nvSpPr>
        <p:spPr>
          <a:xfrm>
            <a:off x="2482415" y="2121819"/>
            <a:ext cx="2552222" cy="28467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68580" tIns="34290" rIns="68580" bIns="3429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defRPr/>
            </a:pP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#include &lt;</a:t>
            </a:r>
            <a:r>
              <a:rPr lang="en-US" altLang="zh-CN" sz="1500" dirty="0" err="1">
                <a:latin typeface="Consolas"/>
                <a:ea typeface="宋体" pitchFamily="2" charset="-122"/>
                <a:cs typeface="Consolas"/>
              </a:rPr>
              <a:t>stdio.h</a:t>
            </a: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&gt;</a:t>
            </a:r>
          </a:p>
          <a:p>
            <a:pPr>
              <a:buFontTx/>
              <a:buNone/>
              <a:defRPr/>
            </a:pP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#include &lt;</a:t>
            </a:r>
            <a:r>
              <a:rPr lang="en-US" altLang="zh-CN" sz="1500" dirty="0" err="1">
                <a:latin typeface="Consolas"/>
                <a:ea typeface="宋体" pitchFamily="2" charset="-122"/>
                <a:cs typeface="Consolas"/>
              </a:rPr>
              <a:t>assert.h</a:t>
            </a: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&gt;</a:t>
            </a:r>
          </a:p>
          <a:p>
            <a:pPr>
              <a:buFontTx/>
              <a:buNone/>
              <a:defRPr/>
            </a:pPr>
            <a:endParaRPr lang="en-US" altLang="zh-CN" sz="1500" dirty="0">
              <a:latin typeface="Consolas"/>
              <a:ea typeface="宋体" pitchFamily="2" charset="-122"/>
              <a:cs typeface="Consolas"/>
            </a:endParaRPr>
          </a:p>
          <a:p>
            <a:pPr>
              <a:buFontTx/>
              <a:buNone/>
              <a:defRPr/>
            </a:pP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void </a:t>
            </a:r>
            <a:r>
              <a:rPr lang="en-US" altLang="zh-CN" sz="1500" dirty="0" err="1">
                <a:latin typeface="Consolas"/>
                <a:ea typeface="宋体" pitchFamily="2" charset="-122"/>
                <a:cs typeface="Consolas"/>
              </a:rPr>
              <a:t>test_sum</a:t>
            </a: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()</a:t>
            </a:r>
          </a:p>
          <a:p>
            <a:pPr>
              <a:buFontTx/>
              <a:buNone/>
              <a:defRPr/>
            </a:pP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{</a:t>
            </a:r>
          </a:p>
          <a:p>
            <a:pPr>
              <a:buFontTx/>
              <a:buNone/>
              <a:defRPr/>
            </a:pP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  int r = sum(1,1);</a:t>
            </a:r>
          </a:p>
          <a:p>
            <a:pPr>
              <a:buFontTx/>
              <a:buNone/>
              <a:defRPr/>
            </a:pP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  assert(r == 2);</a:t>
            </a:r>
          </a:p>
          <a:p>
            <a:pPr>
              <a:buFontTx/>
              <a:buNone/>
              <a:defRPr/>
            </a:pP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}</a:t>
            </a:r>
          </a:p>
          <a:p>
            <a:pPr>
              <a:buFontTx/>
              <a:buNone/>
              <a:defRPr/>
            </a:pPr>
            <a:endParaRPr lang="en-US" altLang="zh-CN" sz="1500" dirty="0">
              <a:latin typeface="Consolas"/>
              <a:ea typeface="宋体" pitchFamily="2" charset="-122"/>
              <a:cs typeface="Consolas"/>
            </a:endParaRPr>
          </a:p>
          <a:p>
            <a:pPr>
              <a:buFontTx/>
              <a:buNone/>
              <a:defRPr/>
            </a:pP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int main() </a:t>
            </a:r>
          </a:p>
          <a:p>
            <a:pPr>
              <a:buFontTx/>
              <a:buNone/>
              <a:defRPr/>
            </a:pP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{</a:t>
            </a:r>
          </a:p>
          <a:p>
            <a:pPr>
              <a:buFontTx/>
              <a:buNone/>
              <a:defRPr/>
            </a:pP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   </a:t>
            </a:r>
            <a:r>
              <a:rPr lang="en-US" altLang="zh-CN" sz="1500" dirty="0" err="1">
                <a:latin typeface="Consolas"/>
                <a:ea typeface="宋体" pitchFamily="2" charset="-122"/>
                <a:cs typeface="Consolas"/>
              </a:rPr>
              <a:t>test_sum</a:t>
            </a: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();</a:t>
            </a:r>
          </a:p>
          <a:p>
            <a:pPr>
              <a:buFontTx/>
              <a:buNone/>
              <a:defRPr/>
            </a:pP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BD5828-2EDB-4917-809A-7B2E2ED52558}"/>
              </a:ext>
            </a:extLst>
          </p:cNvPr>
          <p:cNvSpPr txBox="1"/>
          <p:nvPr/>
        </p:nvSpPr>
        <p:spPr>
          <a:xfrm>
            <a:off x="4514014" y="4830104"/>
            <a:ext cx="56720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/>
              <a:t>test.c</a:t>
            </a:r>
            <a:endParaRPr lang="en-US" sz="1350" dirty="0"/>
          </a:p>
        </p:txBody>
      </p:sp>
      <p:sp>
        <p:nvSpPr>
          <p:cNvPr id="12" name="矩形 2">
            <a:extLst>
              <a:ext uri="{FF2B5EF4-FFF2-40B4-BE49-F238E27FC236}">
                <a16:creationId xmlns:a16="http://schemas.microsoft.com/office/drawing/2014/main" id="{3E5EF97F-74A2-4316-86A1-9A3EA1D41940}"/>
              </a:ext>
            </a:extLst>
          </p:cNvPr>
          <p:cNvSpPr/>
          <p:nvPr/>
        </p:nvSpPr>
        <p:spPr>
          <a:xfrm>
            <a:off x="6320942" y="4087989"/>
            <a:ext cx="2499402" cy="3231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15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gcc</a:t>
            </a:r>
            <a:r>
              <a:rPr lang="en-US" altLang="zh-CN" sz="15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15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sum.c</a:t>
            </a:r>
            <a:r>
              <a:rPr lang="en-US" altLang="zh-CN" sz="15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15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test.c</a:t>
            </a:r>
            <a:r>
              <a:rPr lang="en-US" altLang="zh-CN" sz="15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mr-IN" altLang="zh-CN" sz="15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–</a:t>
            </a:r>
            <a:r>
              <a:rPr lang="en-US" altLang="zh-CN" sz="15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o test</a:t>
            </a:r>
            <a:endParaRPr lang="en-US" altLang="zh-CN" sz="1500" dirty="0">
              <a:solidFill>
                <a:srgbClr val="00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4" name="矩形 2">
            <a:extLst>
              <a:ext uri="{FF2B5EF4-FFF2-40B4-BE49-F238E27FC236}">
                <a16:creationId xmlns:a16="http://schemas.microsoft.com/office/drawing/2014/main" id="{01B6514B-323F-4B17-88E9-70D9A0702367}"/>
              </a:ext>
            </a:extLst>
          </p:cNvPr>
          <p:cNvSpPr/>
          <p:nvPr/>
        </p:nvSpPr>
        <p:spPr>
          <a:xfrm>
            <a:off x="6294718" y="5107104"/>
            <a:ext cx="707245" cy="3231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15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./test</a:t>
            </a:r>
            <a:endParaRPr lang="en-US" altLang="zh-CN" sz="1500" dirty="0">
              <a:solidFill>
                <a:srgbClr val="00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A5E667-BE06-4315-927B-CC51F104B52C}"/>
              </a:ext>
            </a:extLst>
          </p:cNvPr>
          <p:cNvSpPr txBox="1"/>
          <p:nvPr/>
        </p:nvSpPr>
        <p:spPr>
          <a:xfrm>
            <a:off x="5317536" y="4111072"/>
            <a:ext cx="84991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Compile: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AEA35D-1C45-4F85-9B85-FEA8F8665313}"/>
              </a:ext>
            </a:extLst>
          </p:cNvPr>
          <p:cNvSpPr txBox="1"/>
          <p:nvPr/>
        </p:nvSpPr>
        <p:spPr>
          <a:xfrm>
            <a:off x="5317536" y="5107103"/>
            <a:ext cx="54694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Run: 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373204C3-A248-42FD-B93D-597C9C2169E2}"/>
              </a:ext>
            </a:extLst>
          </p:cNvPr>
          <p:cNvSpPr txBox="1">
            <a:spLocks noChangeArrowheads="1"/>
          </p:cNvSpPr>
          <p:nvPr/>
        </p:nvSpPr>
        <p:spPr>
          <a:xfrm>
            <a:off x="5152393" y="2121819"/>
            <a:ext cx="3735437" cy="15268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68580" tIns="34290" rIns="68580" bIns="3429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defRPr/>
            </a:pP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#include &lt;</a:t>
            </a:r>
            <a:r>
              <a:rPr lang="en-US" altLang="zh-CN" sz="1500" dirty="0" err="1">
                <a:latin typeface="Consolas"/>
                <a:ea typeface="宋体" pitchFamily="2" charset="-122"/>
                <a:cs typeface="Consolas"/>
              </a:rPr>
              <a:t>stdio.h</a:t>
            </a: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&gt;</a:t>
            </a:r>
          </a:p>
          <a:p>
            <a:pPr>
              <a:buFontTx/>
              <a:buNone/>
              <a:defRPr/>
            </a:pPr>
            <a:endParaRPr lang="en-US" altLang="zh-CN" sz="1500" dirty="0">
              <a:latin typeface="Consolas"/>
              <a:ea typeface="宋体" pitchFamily="2" charset="-122"/>
              <a:cs typeface="Consolas"/>
            </a:endParaRPr>
          </a:p>
          <a:p>
            <a:pPr>
              <a:buFontTx/>
              <a:buNone/>
              <a:defRPr/>
            </a:pP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int main() </a:t>
            </a:r>
          </a:p>
          <a:p>
            <a:pPr>
              <a:buFontTx/>
              <a:buNone/>
              <a:defRPr/>
            </a:pP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{</a:t>
            </a:r>
          </a:p>
          <a:p>
            <a:pPr>
              <a:buFontTx/>
              <a:buNone/>
              <a:defRPr/>
            </a:pP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  </a:t>
            </a:r>
            <a:r>
              <a:rPr lang="en-US" altLang="zh-CN" sz="1500" dirty="0" err="1">
                <a:latin typeface="Consolas"/>
                <a:ea typeface="宋体" pitchFamily="2" charset="-122"/>
                <a:cs typeface="Consolas"/>
              </a:rPr>
              <a:t>printf</a:t>
            </a: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(“sum=%d\n”, sum(-1,1));</a:t>
            </a:r>
          </a:p>
          <a:p>
            <a:pPr>
              <a:buFontTx/>
              <a:buNone/>
              <a:defRPr/>
            </a:pP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31ECD7-9663-4F29-95AF-D55204D4A4C6}"/>
              </a:ext>
            </a:extLst>
          </p:cNvPr>
          <p:cNvSpPr txBox="1"/>
          <p:nvPr/>
        </p:nvSpPr>
        <p:spPr>
          <a:xfrm>
            <a:off x="8358835" y="3596934"/>
            <a:ext cx="65434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/>
              <a:t>main.c</a:t>
            </a:r>
            <a:endParaRPr lang="en-US" sz="1350" dirty="0"/>
          </a:p>
        </p:txBody>
      </p:sp>
      <p:sp>
        <p:nvSpPr>
          <p:cNvPr id="24" name="矩形 2">
            <a:extLst>
              <a:ext uri="{FF2B5EF4-FFF2-40B4-BE49-F238E27FC236}">
                <a16:creationId xmlns:a16="http://schemas.microsoft.com/office/drawing/2014/main" id="{FD9A29EA-8B1D-4F05-80AE-844DD75D36E8}"/>
              </a:ext>
            </a:extLst>
          </p:cNvPr>
          <p:cNvSpPr/>
          <p:nvPr/>
        </p:nvSpPr>
        <p:spPr>
          <a:xfrm>
            <a:off x="6320943" y="4489382"/>
            <a:ext cx="1872629" cy="3231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15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gcc</a:t>
            </a:r>
            <a:r>
              <a:rPr lang="en-US" altLang="zh-CN" sz="15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15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sum.c</a:t>
            </a:r>
            <a:r>
              <a:rPr lang="en-US" altLang="zh-CN" sz="15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15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main.c</a:t>
            </a:r>
            <a:endParaRPr lang="en-US" altLang="zh-CN" sz="1500" dirty="0">
              <a:solidFill>
                <a:srgbClr val="00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6" name="矩形 2">
            <a:extLst>
              <a:ext uri="{FF2B5EF4-FFF2-40B4-BE49-F238E27FC236}">
                <a16:creationId xmlns:a16="http://schemas.microsoft.com/office/drawing/2014/main" id="{07C83CE4-033B-4B92-A562-BAB43F48D841}"/>
              </a:ext>
            </a:extLst>
          </p:cNvPr>
          <p:cNvSpPr/>
          <p:nvPr/>
        </p:nvSpPr>
        <p:spPr>
          <a:xfrm>
            <a:off x="6294718" y="5439828"/>
            <a:ext cx="841897" cy="3231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15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./</a:t>
            </a:r>
            <a:r>
              <a:rPr lang="en-US" altLang="zh-CN" sz="15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a.out</a:t>
            </a:r>
            <a:endParaRPr lang="en-US" altLang="zh-CN" sz="1500" dirty="0">
              <a:solidFill>
                <a:srgbClr val="00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4DF3A0F-3458-4ED5-BFA0-F689DFE981A9}"/>
              </a:ext>
            </a:extLst>
          </p:cNvPr>
          <p:cNvGrpSpPr/>
          <p:nvPr/>
        </p:nvGrpSpPr>
        <p:grpSpPr>
          <a:xfrm>
            <a:off x="7061328" y="4355073"/>
            <a:ext cx="2172760" cy="1353919"/>
            <a:chOff x="9415104" y="4663763"/>
            <a:chExt cx="2897014" cy="1805225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F7945D2-1A84-4E3E-B8D5-4F8F6AA4D278}"/>
                </a:ext>
              </a:extLst>
            </p:cNvPr>
            <p:cNvCxnSpPr/>
            <p:nvPr/>
          </p:nvCxnSpPr>
          <p:spPr>
            <a:xfrm flipH="1" flipV="1">
              <a:off x="9415104" y="5192322"/>
              <a:ext cx="528422" cy="6588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87544B9-566F-4308-8DF5-9B38042764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52863" y="4663763"/>
              <a:ext cx="568777" cy="10951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5D84A56-BD68-4E01-A754-6B745B053A64}"/>
                </a:ext>
              </a:extLst>
            </p:cNvPr>
            <p:cNvSpPr txBox="1"/>
            <p:nvPr/>
          </p:nvSpPr>
          <p:spPr>
            <a:xfrm>
              <a:off x="9909067" y="5791880"/>
              <a:ext cx="2403051" cy="677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 err="1"/>
                <a:t>Sum.c</a:t>
              </a:r>
              <a:r>
                <a:rPr lang="en-US" sz="1350" dirty="0"/>
                <a:t> compiled twice. </a:t>
              </a:r>
            </a:p>
            <a:p>
              <a:r>
                <a:rPr lang="en-US" sz="1350" dirty="0"/>
                <a:t>Wasteful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0087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24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95A23-B933-428E-9DF1-8F99E5DDF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986" y="366844"/>
            <a:ext cx="8664844" cy="994172"/>
          </a:xfrm>
        </p:spPr>
        <p:txBody>
          <a:bodyPr>
            <a:normAutofit fontScale="90000"/>
          </a:bodyPr>
          <a:lstStyle/>
          <a:p>
            <a:r>
              <a:rPr lang="en-US" dirty="0"/>
              <a:t>C program with multiple files: *.h vs *.c files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58DC657-956F-4A07-9D95-8D26E50C57F3}"/>
              </a:ext>
            </a:extLst>
          </p:cNvPr>
          <p:cNvSpPr txBox="1">
            <a:spLocks noChangeArrowheads="1"/>
          </p:cNvSpPr>
          <p:nvPr/>
        </p:nvSpPr>
        <p:spPr>
          <a:xfrm>
            <a:off x="125501" y="2121820"/>
            <a:ext cx="2264462" cy="11167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defRPr/>
            </a:pPr>
            <a:r>
              <a:rPr lang="en-US" altLang="zh-CN" sz="1425" dirty="0">
                <a:latin typeface="Consolas"/>
                <a:ea typeface="宋体" pitchFamily="2" charset="-122"/>
                <a:cs typeface="Consolas"/>
              </a:rPr>
              <a:t>int sum(int x, int y) </a:t>
            </a:r>
          </a:p>
          <a:p>
            <a:pPr>
              <a:buFontTx/>
              <a:buNone/>
              <a:defRPr/>
            </a:pPr>
            <a:r>
              <a:rPr lang="en-US" altLang="zh-CN" sz="1425" dirty="0">
                <a:latin typeface="Consolas"/>
                <a:ea typeface="宋体" pitchFamily="2" charset="-122"/>
                <a:cs typeface="Consolas"/>
              </a:rPr>
              <a:t>{</a:t>
            </a:r>
          </a:p>
          <a:p>
            <a:pPr>
              <a:buFontTx/>
              <a:buNone/>
              <a:defRPr/>
            </a:pPr>
            <a:r>
              <a:rPr lang="en-US" altLang="zh-CN" sz="1425" dirty="0">
                <a:latin typeface="Consolas"/>
                <a:ea typeface="宋体" pitchFamily="2" charset="-122"/>
                <a:cs typeface="Consolas"/>
              </a:rPr>
              <a:t>   return </a:t>
            </a:r>
            <a:r>
              <a:rPr lang="en-US" altLang="zh-CN" sz="1425" dirty="0" err="1">
                <a:latin typeface="Consolas"/>
                <a:ea typeface="宋体" pitchFamily="2" charset="-122"/>
                <a:cs typeface="Consolas"/>
              </a:rPr>
              <a:t>x+y</a:t>
            </a:r>
            <a:r>
              <a:rPr lang="en-US" altLang="zh-CN" sz="1425" dirty="0">
                <a:latin typeface="Consolas"/>
                <a:ea typeface="宋体" pitchFamily="2" charset="-122"/>
                <a:cs typeface="Consolas"/>
              </a:rPr>
              <a:t>;</a:t>
            </a:r>
          </a:p>
          <a:p>
            <a:pPr>
              <a:buFontTx/>
              <a:buNone/>
              <a:defRPr/>
            </a:pPr>
            <a:r>
              <a:rPr lang="en-US" altLang="zh-CN" sz="1425" dirty="0">
                <a:latin typeface="Consolas"/>
                <a:ea typeface="宋体" pitchFamily="2" charset="-122"/>
                <a:cs typeface="Consolas"/>
              </a:rPr>
              <a:t>}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4EB4359-2A4A-4801-B638-BEC7CB42460C}"/>
              </a:ext>
            </a:extLst>
          </p:cNvPr>
          <p:cNvSpPr txBox="1">
            <a:spLocks noChangeArrowheads="1"/>
          </p:cNvSpPr>
          <p:nvPr/>
        </p:nvSpPr>
        <p:spPr>
          <a:xfrm>
            <a:off x="2482415" y="2121820"/>
            <a:ext cx="2552222" cy="30156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68580" tIns="34290" rIns="68580" bIns="3429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defRPr/>
            </a:pP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#include &lt;</a:t>
            </a:r>
            <a:r>
              <a:rPr lang="en-US" altLang="zh-CN" sz="1500" dirty="0" err="1">
                <a:latin typeface="Consolas"/>
                <a:ea typeface="宋体" pitchFamily="2" charset="-122"/>
                <a:cs typeface="Consolas"/>
              </a:rPr>
              <a:t>stdio.h</a:t>
            </a: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&gt;</a:t>
            </a:r>
          </a:p>
          <a:p>
            <a:pPr>
              <a:buFontTx/>
              <a:buNone/>
              <a:defRPr/>
            </a:pP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#include &lt;</a:t>
            </a:r>
            <a:r>
              <a:rPr lang="en-US" altLang="zh-CN" sz="1500" dirty="0" err="1">
                <a:latin typeface="Consolas"/>
                <a:ea typeface="宋体" pitchFamily="2" charset="-122"/>
                <a:cs typeface="Consolas"/>
              </a:rPr>
              <a:t>assert.h</a:t>
            </a: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&gt;</a:t>
            </a:r>
          </a:p>
          <a:p>
            <a:pPr>
              <a:buFontTx/>
              <a:buNone/>
              <a:defRPr/>
            </a:pPr>
            <a:endParaRPr lang="en-US" altLang="zh-CN" sz="1500" dirty="0">
              <a:latin typeface="Consolas"/>
              <a:ea typeface="宋体" pitchFamily="2" charset="-122"/>
              <a:cs typeface="Consolas"/>
            </a:endParaRPr>
          </a:p>
          <a:p>
            <a:pPr>
              <a:buFontTx/>
              <a:buNone/>
              <a:defRPr/>
            </a:pPr>
            <a:endParaRPr lang="en-US" altLang="zh-CN" sz="1500" dirty="0">
              <a:latin typeface="Consolas"/>
              <a:ea typeface="宋体" pitchFamily="2" charset="-122"/>
              <a:cs typeface="Consolas"/>
            </a:endParaRPr>
          </a:p>
          <a:p>
            <a:pPr>
              <a:buFontTx/>
              <a:buNone/>
              <a:defRPr/>
            </a:pPr>
            <a:endParaRPr lang="en-US" altLang="zh-CN" sz="1500" dirty="0">
              <a:latin typeface="Consolas"/>
              <a:ea typeface="宋体" pitchFamily="2" charset="-122"/>
              <a:cs typeface="Consolas"/>
            </a:endParaRPr>
          </a:p>
          <a:p>
            <a:pPr>
              <a:buFontTx/>
              <a:buNone/>
              <a:defRPr/>
            </a:pP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void </a:t>
            </a:r>
            <a:r>
              <a:rPr lang="en-US" altLang="zh-CN" sz="1500" dirty="0" err="1">
                <a:latin typeface="Consolas"/>
                <a:ea typeface="宋体" pitchFamily="2" charset="-122"/>
                <a:cs typeface="Consolas"/>
              </a:rPr>
              <a:t>test_sum</a:t>
            </a: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()</a:t>
            </a:r>
          </a:p>
          <a:p>
            <a:pPr>
              <a:buFontTx/>
              <a:buNone/>
              <a:defRPr/>
            </a:pP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{</a:t>
            </a:r>
          </a:p>
          <a:p>
            <a:pPr>
              <a:buFontTx/>
              <a:buNone/>
              <a:defRPr/>
            </a:pP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  int r = sum(1,1);</a:t>
            </a:r>
          </a:p>
          <a:p>
            <a:pPr>
              <a:buFontTx/>
              <a:buNone/>
              <a:defRPr/>
            </a:pP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  assert(r == 2);</a:t>
            </a:r>
          </a:p>
          <a:p>
            <a:pPr>
              <a:buFontTx/>
              <a:buNone/>
              <a:defRPr/>
            </a:pP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}</a:t>
            </a:r>
          </a:p>
          <a:p>
            <a:pPr>
              <a:buFontTx/>
              <a:buNone/>
              <a:defRPr/>
            </a:pPr>
            <a:endParaRPr lang="en-US" altLang="zh-CN" sz="1500" dirty="0">
              <a:latin typeface="Consolas"/>
              <a:ea typeface="宋体" pitchFamily="2" charset="-122"/>
              <a:cs typeface="Consolas"/>
            </a:endParaRPr>
          </a:p>
          <a:p>
            <a:pPr>
              <a:buFontTx/>
              <a:buNone/>
              <a:defRPr/>
            </a:pP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int main() </a:t>
            </a:r>
          </a:p>
          <a:p>
            <a:pPr>
              <a:buFontTx/>
              <a:buNone/>
              <a:defRPr/>
            </a:pP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{</a:t>
            </a:r>
          </a:p>
          <a:p>
            <a:pPr>
              <a:buFontTx/>
              <a:buNone/>
              <a:defRPr/>
            </a:pP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   </a:t>
            </a:r>
            <a:r>
              <a:rPr lang="en-US" altLang="zh-CN" sz="1500" dirty="0" err="1">
                <a:latin typeface="Consolas"/>
                <a:ea typeface="宋体" pitchFamily="2" charset="-122"/>
                <a:cs typeface="Consolas"/>
              </a:rPr>
              <a:t>test_sum</a:t>
            </a: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();</a:t>
            </a:r>
          </a:p>
          <a:p>
            <a:pPr>
              <a:buFontTx/>
              <a:buNone/>
              <a:defRPr/>
            </a:pP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BD5828-2EDB-4917-809A-7B2E2ED52558}"/>
              </a:ext>
            </a:extLst>
          </p:cNvPr>
          <p:cNvSpPr txBox="1"/>
          <p:nvPr/>
        </p:nvSpPr>
        <p:spPr>
          <a:xfrm>
            <a:off x="4500439" y="5176451"/>
            <a:ext cx="56720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/>
              <a:t>test.c</a:t>
            </a:r>
            <a:endParaRPr lang="en-US" sz="1350" dirty="0"/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373204C3-A248-42FD-B93D-597C9C2169E2}"/>
              </a:ext>
            </a:extLst>
          </p:cNvPr>
          <p:cNvSpPr txBox="1">
            <a:spLocks noChangeArrowheads="1"/>
          </p:cNvSpPr>
          <p:nvPr/>
        </p:nvSpPr>
        <p:spPr>
          <a:xfrm>
            <a:off x="5152393" y="2121819"/>
            <a:ext cx="3735437" cy="15268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68580" tIns="34290" rIns="68580" bIns="3429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defRPr/>
            </a:pP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#include &lt;</a:t>
            </a:r>
            <a:r>
              <a:rPr lang="en-US" altLang="zh-CN" sz="1500" dirty="0" err="1">
                <a:latin typeface="Consolas"/>
                <a:ea typeface="宋体" pitchFamily="2" charset="-122"/>
                <a:cs typeface="Consolas"/>
              </a:rPr>
              <a:t>stdio.h</a:t>
            </a: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&gt;</a:t>
            </a:r>
          </a:p>
          <a:p>
            <a:pPr>
              <a:buFontTx/>
              <a:buNone/>
              <a:defRPr/>
            </a:pPr>
            <a:r>
              <a:rPr lang="en-US" altLang="zh-CN" sz="1500" b="1" dirty="0">
                <a:solidFill>
                  <a:schemeClr val="accent2">
                    <a:lumMod val="75000"/>
                  </a:schemeClr>
                </a:solidFill>
                <a:latin typeface="Consolas"/>
                <a:ea typeface="宋体" pitchFamily="2" charset="-122"/>
                <a:cs typeface="Consolas"/>
              </a:rPr>
              <a:t> </a:t>
            </a:r>
          </a:p>
          <a:p>
            <a:pPr>
              <a:buFontTx/>
              <a:buNone/>
              <a:defRPr/>
            </a:pPr>
            <a:endParaRPr lang="en-US" altLang="zh-CN" sz="1500" dirty="0">
              <a:latin typeface="Consolas"/>
              <a:ea typeface="宋体" pitchFamily="2" charset="-122"/>
              <a:cs typeface="Consolas"/>
            </a:endParaRPr>
          </a:p>
          <a:p>
            <a:pPr>
              <a:buFontTx/>
              <a:buNone/>
              <a:defRPr/>
            </a:pP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int main() </a:t>
            </a:r>
          </a:p>
          <a:p>
            <a:pPr>
              <a:buFontTx/>
              <a:buNone/>
              <a:defRPr/>
            </a:pP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{</a:t>
            </a:r>
          </a:p>
          <a:p>
            <a:pPr>
              <a:buFontTx/>
              <a:buNone/>
              <a:defRPr/>
            </a:pP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  </a:t>
            </a:r>
            <a:r>
              <a:rPr lang="en-US" altLang="zh-CN" sz="1500" dirty="0" err="1">
                <a:latin typeface="Consolas"/>
                <a:ea typeface="宋体" pitchFamily="2" charset="-122"/>
                <a:cs typeface="Consolas"/>
              </a:rPr>
              <a:t>printf</a:t>
            </a: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(“sum=%d\n”, sum(-1,1));</a:t>
            </a:r>
          </a:p>
          <a:p>
            <a:pPr>
              <a:buFontTx/>
              <a:buNone/>
              <a:defRPr/>
            </a:pPr>
            <a:r>
              <a:rPr lang="en-US" altLang="zh-CN" sz="1500" dirty="0">
                <a:latin typeface="Consolas"/>
                <a:ea typeface="宋体" pitchFamily="2" charset="-122"/>
                <a:cs typeface="Consolas"/>
              </a:rPr>
              <a:t>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31ECD7-9663-4F29-95AF-D55204D4A4C6}"/>
              </a:ext>
            </a:extLst>
          </p:cNvPr>
          <p:cNvSpPr txBox="1"/>
          <p:nvPr/>
        </p:nvSpPr>
        <p:spPr>
          <a:xfrm>
            <a:off x="8358835" y="3596934"/>
            <a:ext cx="65434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/>
              <a:t>main.c</a:t>
            </a:r>
            <a:endParaRPr lang="en-US" sz="135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5EA132-0CE6-4D2C-AE25-AF735F57DBAA}"/>
              </a:ext>
            </a:extLst>
          </p:cNvPr>
          <p:cNvGrpSpPr/>
          <p:nvPr/>
        </p:nvGrpSpPr>
        <p:grpSpPr>
          <a:xfrm>
            <a:off x="99850" y="3766031"/>
            <a:ext cx="2382105" cy="671562"/>
            <a:chOff x="133134" y="3878371"/>
            <a:chExt cx="3176139" cy="89541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DEA38CE-2D07-45F9-A203-A9B0AE201441}"/>
                </a:ext>
              </a:extLst>
            </p:cNvPr>
            <p:cNvSpPr txBox="1"/>
            <p:nvPr/>
          </p:nvSpPr>
          <p:spPr>
            <a:xfrm>
              <a:off x="2488108" y="4373677"/>
              <a:ext cx="821165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 err="1"/>
                <a:t>sum.h</a:t>
              </a:r>
              <a:endParaRPr lang="en-US" sz="1350" dirty="0"/>
            </a:p>
          </p:txBody>
        </p:sp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8F4DD433-1D69-4FE4-A9A2-BCDD403D8FC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33134" y="3878371"/>
              <a:ext cx="3019282" cy="5144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txBody>
            <a:bodyPr vert="horz" lIns="68580" tIns="34290" rIns="68580" bIns="3429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8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4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8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8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Tx/>
                <a:buNone/>
                <a:defRPr/>
              </a:pPr>
              <a:r>
                <a:rPr lang="en-US" altLang="zh-CN" sz="1425" dirty="0">
                  <a:latin typeface="Consolas"/>
                  <a:ea typeface="宋体" pitchFamily="2" charset="-122"/>
                  <a:cs typeface="Consolas"/>
                </a:rPr>
                <a:t>int sum(int x, int y); 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6B71A44-AA34-465A-BCC7-91D9DA98B93E}"/>
              </a:ext>
            </a:extLst>
          </p:cNvPr>
          <p:cNvSpPr txBox="1"/>
          <p:nvPr/>
        </p:nvSpPr>
        <p:spPr>
          <a:xfrm>
            <a:off x="1862494" y="3219475"/>
            <a:ext cx="59824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/>
              <a:t>sum.c</a:t>
            </a:r>
            <a:endParaRPr lang="en-US" sz="135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4AC9056-B21D-44D1-9AA8-37943181B932}"/>
              </a:ext>
            </a:extLst>
          </p:cNvPr>
          <p:cNvGrpSpPr/>
          <p:nvPr/>
        </p:nvGrpSpPr>
        <p:grpSpPr>
          <a:xfrm>
            <a:off x="2468435" y="1783504"/>
            <a:ext cx="4815652" cy="1076340"/>
            <a:chOff x="5846323" y="4288717"/>
            <a:chExt cx="6420869" cy="14351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78F4CB3-621B-4A9A-BFC7-45A87A62FEFC}"/>
                </a:ext>
              </a:extLst>
            </p:cNvPr>
            <p:cNvSpPr/>
            <p:nvPr/>
          </p:nvSpPr>
          <p:spPr>
            <a:xfrm>
              <a:off x="5846323" y="5265852"/>
              <a:ext cx="2244643" cy="457985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3A27F34-A8AE-4DC3-B9CC-49630CE39512}"/>
                </a:ext>
              </a:extLst>
            </p:cNvPr>
            <p:cNvCxnSpPr/>
            <p:nvPr/>
          </p:nvCxnSpPr>
          <p:spPr>
            <a:xfrm flipH="1">
              <a:off x="7903367" y="4568140"/>
              <a:ext cx="729069" cy="7333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176FC53-8815-4F7B-95C9-BC215C31E616}"/>
                </a:ext>
              </a:extLst>
            </p:cNvPr>
            <p:cNvSpPr txBox="1"/>
            <p:nvPr/>
          </p:nvSpPr>
          <p:spPr>
            <a:xfrm>
              <a:off x="8632436" y="4288717"/>
              <a:ext cx="3634756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>
                  <a:solidFill>
                    <a:schemeClr val="accent1"/>
                  </a:solidFill>
                </a:rPr>
                <a:t>Equivalent to “importing” a package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D2B7043-33FB-4A4D-BEFB-CC4A77394251}"/>
              </a:ext>
            </a:extLst>
          </p:cNvPr>
          <p:cNvSpPr txBox="1"/>
          <p:nvPr/>
        </p:nvSpPr>
        <p:spPr>
          <a:xfrm>
            <a:off x="2468435" y="2536672"/>
            <a:ext cx="169790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50" b="1" dirty="0">
                <a:solidFill>
                  <a:schemeClr val="accent2">
                    <a:lumMod val="75000"/>
                  </a:schemeClr>
                </a:solidFill>
                <a:latin typeface="Consolas"/>
                <a:ea typeface="宋体" pitchFamily="2" charset="-122"/>
                <a:cs typeface="Consolas"/>
              </a:rPr>
              <a:t>#include “</a:t>
            </a:r>
            <a:r>
              <a:rPr lang="en-US" altLang="zh-CN" sz="1350" b="1" dirty="0" err="1">
                <a:solidFill>
                  <a:schemeClr val="accent2">
                    <a:lumMod val="75000"/>
                  </a:schemeClr>
                </a:solidFill>
                <a:latin typeface="Consolas"/>
                <a:ea typeface="宋体" pitchFamily="2" charset="-122"/>
                <a:cs typeface="Consolas"/>
              </a:rPr>
              <a:t>sum.h</a:t>
            </a:r>
            <a:r>
              <a:rPr lang="en-US" altLang="zh-CN" sz="1350" b="1" dirty="0">
                <a:solidFill>
                  <a:schemeClr val="accent2">
                    <a:lumMod val="75000"/>
                  </a:schemeClr>
                </a:solidFill>
                <a:latin typeface="Consolas"/>
                <a:ea typeface="宋体" pitchFamily="2" charset="-122"/>
                <a:cs typeface="Consolas"/>
              </a:rPr>
              <a:t>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34160D-2156-4B18-9A05-57D510894677}"/>
              </a:ext>
            </a:extLst>
          </p:cNvPr>
          <p:cNvSpPr txBox="1"/>
          <p:nvPr/>
        </p:nvSpPr>
        <p:spPr>
          <a:xfrm>
            <a:off x="5152392" y="2321674"/>
            <a:ext cx="169790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50" b="1" dirty="0">
                <a:solidFill>
                  <a:schemeClr val="accent2">
                    <a:lumMod val="75000"/>
                  </a:schemeClr>
                </a:solidFill>
                <a:latin typeface="Consolas"/>
                <a:ea typeface="宋体" pitchFamily="2" charset="-122"/>
                <a:cs typeface="Consolas"/>
              </a:rPr>
              <a:t>#include “</a:t>
            </a:r>
            <a:r>
              <a:rPr lang="en-US" altLang="zh-CN" sz="1350" b="1" dirty="0" err="1">
                <a:solidFill>
                  <a:schemeClr val="accent2">
                    <a:lumMod val="75000"/>
                  </a:schemeClr>
                </a:solidFill>
                <a:latin typeface="Consolas"/>
                <a:ea typeface="宋体" pitchFamily="2" charset="-122"/>
                <a:cs typeface="Consolas"/>
              </a:rPr>
              <a:t>sum.h</a:t>
            </a:r>
            <a:r>
              <a:rPr lang="en-US" altLang="zh-CN" sz="1350" b="1" dirty="0">
                <a:solidFill>
                  <a:schemeClr val="accent2">
                    <a:lumMod val="75000"/>
                  </a:schemeClr>
                </a:solidFill>
                <a:latin typeface="Consolas"/>
                <a:ea typeface="宋体" pitchFamily="2" charset="-122"/>
                <a:cs typeface="Consola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6380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6060" y="314866"/>
            <a:ext cx="7886700" cy="994172"/>
          </a:xfrm>
        </p:spPr>
        <p:txBody>
          <a:bodyPr/>
          <a:lstStyle/>
          <a:p>
            <a:r>
              <a:rPr kumimoji="1" lang="en-US" altLang="zh-CN" dirty="0"/>
              <a:t>Common compilation sequence</a:t>
            </a:r>
            <a:endParaRPr kumimoji="1" lang="zh-CN" altLang="en-US" dirty="0"/>
          </a:p>
        </p:txBody>
      </p:sp>
      <p:sp>
        <p:nvSpPr>
          <p:cNvPr id="5" name="Vertical Scroll 5"/>
          <p:cNvSpPr/>
          <p:nvPr/>
        </p:nvSpPr>
        <p:spPr>
          <a:xfrm>
            <a:off x="1171276" y="1744766"/>
            <a:ext cx="859686" cy="584041"/>
          </a:xfrm>
          <a:prstGeom prst="verticalScroll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 algn="ctr">
              <a:defRPr/>
            </a:pPr>
            <a:r>
              <a:rPr lang="en-US" altLang="zh-CN" sz="1050" kern="0" dirty="0">
                <a:solidFill>
                  <a:srgbClr val="FF0000"/>
                </a:solidFill>
                <a:latin typeface="Verdana"/>
                <a:cs typeface="Verdana"/>
              </a:rPr>
              <a:t>Source Code</a:t>
            </a:r>
            <a:br>
              <a:rPr lang="en-US" altLang="zh-CN" sz="1050" kern="0" dirty="0">
                <a:solidFill>
                  <a:srgbClr val="FFFFFF"/>
                </a:solidFill>
                <a:latin typeface="Verdana"/>
                <a:cs typeface="Verdana"/>
              </a:rPr>
            </a:br>
            <a:r>
              <a:rPr lang="en-US" altLang="zh-CN" sz="1050" b="0" i="1" kern="0" dirty="0" err="1">
                <a:solidFill>
                  <a:srgbClr val="000000"/>
                </a:solidFill>
                <a:latin typeface="Verdana"/>
                <a:cs typeface="Verdana"/>
              </a:rPr>
              <a:t>main.c</a:t>
            </a:r>
            <a:endParaRPr lang="zh-CN" altLang="en-US" sz="1050" b="0" i="1" kern="0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95EBCC1-365F-4E64-A3A0-75D9867EDFB6}"/>
              </a:ext>
            </a:extLst>
          </p:cNvPr>
          <p:cNvSpPr txBox="1"/>
          <p:nvPr/>
        </p:nvSpPr>
        <p:spPr>
          <a:xfrm>
            <a:off x="967411" y="4262001"/>
            <a:ext cx="582916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C project uses the </a:t>
            </a:r>
            <a:r>
              <a:rPr lang="en-US" sz="1500" dirty="0">
                <a:highlight>
                  <a:srgbClr val="FFFF00"/>
                </a:highlight>
                <a:latin typeface="Consolas" panose="020B0609020204030204" pitchFamily="49" charset="0"/>
              </a:rPr>
              <a:t>make</a:t>
            </a:r>
            <a:r>
              <a:rPr lang="en-US" sz="1500" dirty="0"/>
              <a:t> tool to automate compiling with dependencies. </a:t>
            </a:r>
            <a:endParaRPr lang="en-US" sz="1500" dirty="0">
              <a:latin typeface="Consolas" panose="020B0609020204030204" pitchFamily="49" charset="0"/>
            </a:endParaRPr>
          </a:p>
        </p:txBody>
      </p:sp>
      <p:sp>
        <p:nvSpPr>
          <p:cNvPr id="55" name="Vertical Scroll 5">
            <a:extLst>
              <a:ext uri="{FF2B5EF4-FFF2-40B4-BE49-F238E27FC236}">
                <a16:creationId xmlns:a16="http://schemas.microsoft.com/office/drawing/2014/main" id="{8DEC10D6-49F3-477C-A15D-F833B7C1F9F3}"/>
              </a:ext>
            </a:extLst>
          </p:cNvPr>
          <p:cNvSpPr/>
          <p:nvPr/>
        </p:nvSpPr>
        <p:spPr>
          <a:xfrm>
            <a:off x="1140921" y="2579394"/>
            <a:ext cx="859686" cy="584041"/>
          </a:xfrm>
          <a:prstGeom prst="verticalScroll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 algn="ctr">
              <a:defRPr/>
            </a:pPr>
            <a:r>
              <a:rPr lang="en-US" altLang="zh-CN" sz="1050" kern="0" dirty="0">
                <a:solidFill>
                  <a:srgbClr val="FF0000"/>
                </a:solidFill>
                <a:latin typeface="Verdana"/>
                <a:cs typeface="Verdana"/>
              </a:rPr>
              <a:t>Source Code</a:t>
            </a:r>
            <a:br>
              <a:rPr lang="en-US" altLang="zh-CN" sz="1050" kern="0" dirty="0">
                <a:solidFill>
                  <a:srgbClr val="FFFFFF"/>
                </a:solidFill>
                <a:latin typeface="Verdana"/>
                <a:cs typeface="Verdana"/>
              </a:rPr>
            </a:br>
            <a:r>
              <a:rPr lang="en-US" altLang="zh-CN" sz="1050" b="0" i="1" kern="0" dirty="0" err="1">
                <a:solidFill>
                  <a:srgbClr val="000000"/>
                </a:solidFill>
                <a:latin typeface="Verdana"/>
                <a:cs typeface="Verdana"/>
              </a:rPr>
              <a:t>sum.c</a:t>
            </a:r>
            <a:endParaRPr lang="zh-CN" altLang="en-US" sz="1050" b="0" i="1" kern="0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sp>
        <p:nvSpPr>
          <p:cNvPr id="57" name="Vertical Scroll 5">
            <a:extLst>
              <a:ext uri="{FF2B5EF4-FFF2-40B4-BE49-F238E27FC236}">
                <a16:creationId xmlns:a16="http://schemas.microsoft.com/office/drawing/2014/main" id="{A92C4AF3-1EC7-4681-8790-35D341046EA7}"/>
              </a:ext>
            </a:extLst>
          </p:cNvPr>
          <p:cNvSpPr/>
          <p:nvPr/>
        </p:nvSpPr>
        <p:spPr>
          <a:xfrm>
            <a:off x="1122149" y="3440133"/>
            <a:ext cx="859685" cy="584041"/>
          </a:xfrm>
          <a:prstGeom prst="verticalScroll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 algn="ctr">
              <a:defRPr/>
            </a:pPr>
            <a:r>
              <a:rPr lang="en-US" altLang="zh-CN" sz="1050" kern="0" dirty="0">
                <a:solidFill>
                  <a:srgbClr val="FF0000"/>
                </a:solidFill>
                <a:latin typeface="Verdana"/>
                <a:cs typeface="Verdana"/>
              </a:rPr>
              <a:t>Source Code</a:t>
            </a:r>
            <a:br>
              <a:rPr lang="en-US" altLang="zh-CN" sz="1050" kern="0" dirty="0">
                <a:solidFill>
                  <a:srgbClr val="FFFFFF"/>
                </a:solidFill>
                <a:latin typeface="Verdana"/>
                <a:cs typeface="Verdana"/>
              </a:rPr>
            </a:br>
            <a:r>
              <a:rPr lang="en-US" altLang="zh-CN" sz="1050" b="0" i="1" kern="0" dirty="0" err="1">
                <a:solidFill>
                  <a:srgbClr val="000000"/>
                </a:solidFill>
                <a:latin typeface="Verdana"/>
                <a:cs typeface="Verdana"/>
              </a:rPr>
              <a:t>test.c</a:t>
            </a:r>
            <a:endParaRPr lang="zh-CN" altLang="en-US" sz="1050" b="0" i="1" kern="0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32E663E-C5C1-4A97-A7B2-4BAB3F9EE177}"/>
              </a:ext>
            </a:extLst>
          </p:cNvPr>
          <p:cNvGrpSpPr/>
          <p:nvPr/>
        </p:nvGrpSpPr>
        <p:grpSpPr>
          <a:xfrm>
            <a:off x="1954665" y="1684309"/>
            <a:ext cx="2161136" cy="745287"/>
            <a:chOff x="2606220" y="1102745"/>
            <a:chExt cx="2881514" cy="993716"/>
          </a:xfrm>
        </p:grpSpPr>
        <p:sp>
          <p:nvSpPr>
            <p:cNvPr id="24" name="Vertical Scroll 5"/>
            <p:cNvSpPr/>
            <p:nvPr/>
          </p:nvSpPr>
          <p:spPr>
            <a:xfrm>
              <a:off x="4082209" y="1102745"/>
              <a:ext cx="1405525" cy="993716"/>
            </a:xfrm>
            <a:prstGeom prst="verticalScroll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  <a:cs typeface="宋体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9pPr>
            </a:lstStyle>
            <a:p>
              <a:pPr algn="ctr">
                <a:defRPr/>
              </a:pPr>
              <a:r>
                <a:rPr lang="en-US" altLang="zh-CN" sz="1050" kern="0" dirty="0">
                  <a:solidFill>
                    <a:srgbClr val="FF0000"/>
                  </a:solidFill>
                  <a:latin typeface="Verdana"/>
                  <a:cs typeface="Verdana"/>
                </a:rPr>
                <a:t>(Binary)</a:t>
              </a:r>
            </a:p>
            <a:p>
              <a:pPr algn="ctr">
                <a:defRPr/>
              </a:pPr>
              <a:r>
                <a:rPr lang="en-US" altLang="zh-CN" sz="1050" kern="0" dirty="0">
                  <a:solidFill>
                    <a:srgbClr val="FF0000"/>
                  </a:solidFill>
                  <a:latin typeface="Verdana"/>
                  <a:cs typeface="Verdana"/>
                </a:rPr>
                <a:t>object file</a:t>
              </a:r>
              <a:br>
                <a:rPr lang="en-US" altLang="zh-CN" sz="1050" kern="0" dirty="0">
                  <a:solidFill>
                    <a:srgbClr val="FFFFFF"/>
                  </a:solidFill>
                  <a:latin typeface="Verdana"/>
                  <a:cs typeface="Verdana"/>
                </a:rPr>
              </a:br>
              <a:r>
                <a:rPr lang="en-US" altLang="zh-CN" sz="1050" b="0" kern="0" dirty="0" err="1">
                  <a:solidFill>
                    <a:srgbClr val="000000"/>
                  </a:solidFill>
                  <a:latin typeface="Verdana"/>
                  <a:cs typeface="Verdana"/>
                </a:rPr>
                <a:t>main.o</a:t>
              </a:r>
              <a:endParaRPr lang="zh-CN" altLang="en-US" sz="1050" b="0" kern="0" dirty="0">
                <a:solidFill>
                  <a:srgbClr val="000000"/>
                </a:solidFill>
                <a:latin typeface="Verdana"/>
                <a:cs typeface="Verdana"/>
              </a:endParaRPr>
            </a:p>
          </p:txBody>
        </p:sp>
        <p:sp>
          <p:nvSpPr>
            <p:cNvPr id="44" name="矩形 22">
              <a:extLst>
                <a:ext uri="{FF2B5EF4-FFF2-40B4-BE49-F238E27FC236}">
                  <a16:creationId xmlns:a16="http://schemas.microsoft.com/office/drawing/2014/main" id="{604A6CA1-CDCB-4331-9FD7-1F0A3F0DA1EB}"/>
                </a:ext>
              </a:extLst>
            </p:cNvPr>
            <p:cNvSpPr/>
            <p:nvPr/>
          </p:nvSpPr>
          <p:spPr>
            <a:xfrm>
              <a:off x="2606220" y="1358489"/>
              <a:ext cx="1485877" cy="3385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050" dirty="0" err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gcc</a:t>
              </a:r>
              <a:r>
                <a:rPr lang="en-US" altLang="zh-CN" sz="105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 </a:t>
              </a:r>
              <a:r>
                <a:rPr lang="mr-IN" altLang="zh-CN" sz="105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–</a:t>
              </a:r>
              <a:r>
                <a:rPr lang="en-US" altLang="zh-CN" sz="105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c </a:t>
              </a:r>
              <a:r>
                <a:rPr lang="en-US" altLang="zh-CN" sz="1050" dirty="0" err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main.c</a:t>
              </a:r>
              <a:endParaRPr lang="en-US" altLang="zh-CN" sz="105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3C0EE8A9-8013-46E9-A5DE-ED41381DD7ED}"/>
                </a:ext>
              </a:extLst>
            </p:cNvPr>
            <p:cNvCxnSpPr/>
            <p:nvPr/>
          </p:nvCxnSpPr>
          <p:spPr>
            <a:xfrm>
              <a:off x="2619673" y="1694925"/>
              <a:ext cx="14055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A5D8309-CB5D-4F84-8A36-40D90F266471}"/>
              </a:ext>
            </a:extLst>
          </p:cNvPr>
          <p:cNvGrpSpPr/>
          <p:nvPr/>
        </p:nvGrpSpPr>
        <p:grpSpPr>
          <a:xfrm>
            <a:off x="1926755" y="2560947"/>
            <a:ext cx="2145690" cy="745287"/>
            <a:chOff x="2569006" y="2271596"/>
            <a:chExt cx="2860920" cy="993716"/>
          </a:xfrm>
        </p:grpSpPr>
        <p:sp>
          <p:nvSpPr>
            <p:cNvPr id="38" name="矩形 22">
              <a:extLst>
                <a:ext uri="{FF2B5EF4-FFF2-40B4-BE49-F238E27FC236}">
                  <a16:creationId xmlns:a16="http://schemas.microsoft.com/office/drawing/2014/main" id="{E0D6DECD-419C-4A4D-8712-87BF0ADC3938}"/>
                </a:ext>
              </a:extLst>
            </p:cNvPr>
            <p:cNvSpPr/>
            <p:nvPr/>
          </p:nvSpPr>
          <p:spPr>
            <a:xfrm>
              <a:off x="2619673" y="2416765"/>
              <a:ext cx="1499768" cy="3385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050" dirty="0" err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gcc</a:t>
              </a:r>
              <a:r>
                <a:rPr lang="en-US" altLang="zh-CN" sz="105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 </a:t>
              </a:r>
              <a:r>
                <a:rPr lang="mr-IN" altLang="zh-CN" sz="105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–</a:t>
              </a:r>
              <a:r>
                <a:rPr lang="en-US" altLang="zh-CN" sz="105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c </a:t>
              </a:r>
              <a:r>
                <a:rPr lang="en-US" altLang="zh-CN" sz="1050" dirty="0" err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sum.c</a:t>
              </a:r>
              <a:endParaRPr lang="en-US" altLang="zh-CN" sz="105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23231F24-F921-44F4-988B-24238522060A}"/>
                </a:ext>
              </a:extLst>
            </p:cNvPr>
            <p:cNvCxnSpPr>
              <a:cxnSpLocks/>
            </p:cNvCxnSpPr>
            <p:nvPr/>
          </p:nvCxnSpPr>
          <p:spPr>
            <a:xfrm>
              <a:off x="2569006" y="2789798"/>
              <a:ext cx="14055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Vertical Scroll 5">
              <a:extLst>
                <a:ext uri="{FF2B5EF4-FFF2-40B4-BE49-F238E27FC236}">
                  <a16:creationId xmlns:a16="http://schemas.microsoft.com/office/drawing/2014/main" id="{D29C4ED8-08FF-40E5-BCD4-F5F9F0395933}"/>
                </a:ext>
              </a:extLst>
            </p:cNvPr>
            <p:cNvSpPr/>
            <p:nvPr/>
          </p:nvSpPr>
          <p:spPr>
            <a:xfrm>
              <a:off x="4024401" y="2271596"/>
              <a:ext cx="1405525" cy="993716"/>
            </a:xfrm>
            <a:prstGeom prst="verticalScroll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  <a:cs typeface="宋体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9pPr>
            </a:lstStyle>
            <a:p>
              <a:pPr algn="ctr">
                <a:defRPr/>
              </a:pPr>
              <a:r>
                <a:rPr lang="en-US" altLang="zh-CN" sz="1050" kern="0" dirty="0">
                  <a:solidFill>
                    <a:srgbClr val="FF0000"/>
                  </a:solidFill>
                  <a:latin typeface="Verdana"/>
                  <a:cs typeface="Verdana"/>
                </a:rPr>
                <a:t>(Binary)</a:t>
              </a:r>
            </a:p>
            <a:p>
              <a:pPr algn="ctr">
                <a:defRPr/>
              </a:pPr>
              <a:r>
                <a:rPr lang="en-US" altLang="zh-CN" sz="1050" kern="0" dirty="0">
                  <a:solidFill>
                    <a:srgbClr val="FF0000"/>
                  </a:solidFill>
                  <a:latin typeface="Verdana"/>
                  <a:cs typeface="Verdana"/>
                </a:rPr>
                <a:t>object file</a:t>
              </a:r>
              <a:br>
                <a:rPr lang="en-US" altLang="zh-CN" sz="1050" kern="0" dirty="0">
                  <a:solidFill>
                    <a:srgbClr val="FFFFFF"/>
                  </a:solidFill>
                  <a:latin typeface="Verdana"/>
                  <a:cs typeface="Verdana"/>
                </a:rPr>
              </a:br>
              <a:r>
                <a:rPr lang="en-US" altLang="zh-CN" sz="1050" b="0" kern="0" dirty="0" err="1">
                  <a:solidFill>
                    <a:srgbClr val="000000"/>
                  </a:solidFill>
                  <a:latin typeface="Verdana"/>
                  <a:cs typeface="Verdana"/>
                </a:rPr>
                <a:t>sum.o</a:t>
              </a:r>
              <a:endParaRPr lang="zh-CN" altLang="en-US" sz="1050" b="0" kern="0" dirty="0">
                <a:solidFill>
                  <a:srgbClr val="000000"/>
                </a:solidFill>
                <a:latin typeface="Verdana"/>
                <a:cs typeface="Verdana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862EA49-8A20-4EDB-906E-002943D39096}"/>
              </a:ext>
            </a:extLst>
          </p:cNvPr>
          <p:cNvGrpSpPr/>
          <p:nvPr/>
        </p:nvGrpSpPr>
        <p:grpSpPr>
          <a:xfrm>
            <a:off x="1899758" y="3484209"/>
            <a:ext cx="2113793" cy="745287"/>
            <a:chOff x="2533010" y="3502612"/>
            <a:chExt cx="2818391" cy="993716"/>
          </a:xfrm>
        </p:grpSpPr>
        <p:sp>
          <p:nvSpPr>
            <p:cNvPr id="40" name="矩形 22">
              <a:extLst>
                <a:ext uri="{FF2B5EF4-FFF2-40B4-BE49-F238E27FC236}">
                  <a16:creationId xmlns:a16="http://schemas.microsoft.com/office/drawing/2014/main" id="{69FFF081-5BD7-48D5-89C2-E34E178067C6}"/>
                </a:ext>
              </a:extLst>
            </p:cNvPr>
            <p:cNvSpPr/>
            <p:nvPr/>
          </p:nvSpPr>
          <p:spPr>
            <a:xfrm>
              <a:off x="2533010" y="3607039"/>
              <a:ext cx="1383284" cy="3385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050" dirty="0" err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gcc</a:t>
              </a:r>
              <a:r>
                <a:rPr lang="en-US" altLang="zh-CN" sz="105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 </a:t>
              </a:r>
              <a:r>
                <a:rPr lang="mr-IN" altLang="zh-CN" sz="105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–</a:t>
              </a:r>
              <a:r>
                <a:rPr lang="en-US" altLang="zh-CN" sz="105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c </a:t>
              </a:r>
              <a:r>
                <a:rPr lang="en-US" altLang="zh-CN" sz="1050" dirty="0" err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test.c</a:t>
              </a:r>
              <a:endParaRPr lang="en-US" altLang="zh-CN" sz="105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6EE95C15-D19B-44E2-88F4-773F27142E16}"/>
                </a:ext>
              </a:extLst>
            </p:cNvPr>
            <p:cNvCxnSpPr/>
            <p:nvPr/>
          </p:nvCxnSpPr>
          <p:spPr>
            <a:xfrm>
              <a:off x="2533012" y="3906723"/>
              <a:ext cx="14055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Vertical Scroll 5">
              <a:extLst>
                <a:ext uri="{FF2B5EF4-FFF2-40B4-BE49-F238E27FC236}">
                  <a16:creationId xmlns:a16="http://schemas.microsoft.com/office/drawing/2014/main" id="{87A465A6-460D-4DBE-86DF-66274AA08933}"/>
                </a:ext>
              </a:extLst>
            </p:cNvPr>
            <p:cNvSpPr/>
            <p:nvPr/>
          </p:nvSpPr>
          <p:spPr>
            <a:xfrm>
              <a:off x="3945876" y="3502612"/>
              <a:ext cx="1405525" cy="993716"/>
            </a:xfrm>
            <a:prstGeom prst="verticalScroll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  <a:cs typeface="宋体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9pPr>
            </a:lstStyle>
            <a:p>
              <a:pPr algn="ctr">
                <a:defRPr/>
              </a:pPr>
              <a:r>
                <a:rPr lang="en-US" altLang="zh-CN" sz="1050" kern="0" dirty="0">
                  <a:solidFill>
                    <a:srgbClr val="FF0000"/>
                  </a:solidFill>
                  <a:latin typeface="Verdana"/>
                  <a:cs typeface="Verdana"/>
                </a:rPr>
                <a:t>(Binary)</a:t>
              </a:r>
            </a:p>
            <a:p>
              <a:pPr algn="ctr">
                <a:defRPr/>
              </a:pPr>
              <a:r>
                <a:rPr lang="en-US" altLang="zh-CN" sz="1050" kern="0" dirty="0">
                  <a:solidFill>
                    <a:srgbClr val="FF0000"/>
                  </a:solidFill>
                  <a:latin typeface="Verdana"/>
                  <a:cs typeface="Verdana"/>
                </a:rPr>
                <a:t>object file</a:t>
              </a:r>
              <a:br>
                <a:rPr lang="en-US" altLang="zh-CN" sz="1050" kern="0" dirty="0">
                  <a:solidFill>
                    <a:srgbClr val="FFFFFF"/>
                  </a:solidFill>
                  <a:latin typeface="Verdana"/>
                  <a:cs typeface="Verdana"/>
                </a:rPr>
              </a:br>
              <a:r>
                <a:rPr lang="en-US" altLang="zh-CN" sz="1050" b="0" kern="0" dirty="0" err="1">
                  <a:solidFill>
                    <a:srgbClr val="000000"/>
                  </a:solidFill>
                  <a:latin typeface="Verdana"/>
                  <a:cs typeface="Verdana"/>
                </a:rPr>
                <a:t>test.o</a:t>
              </a:r>
              <a:endParaRPr lang="zh-CN" altLang="en-US" sz="1050" b="0" kern="0" dirty="0">
                <a:solidFill>
                  <a:srgbClr val="000000"/>
                </a:solidFill>
                <a:latin typeface="Verdana"/>
                <a:cs typeface="Verdana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4ECA35A-B7F3-4A41-A0BD-9E13CBCCDD39}"/>
              </a:ext>
            </a:extLst>
          </p:cNvPr>
          <p:cNvGrpSpPr/>
          <p:nvPr/>
        </p:nvGrpSpPr>
        <p:grpSpPr>
          <a:xfrm>
            <a:off x="3970267" y="1911418"/>
            <a:ext cx="3165579" cy="994818"/>
            <a:chOff x="5293690" y="1405557"/>
            <a:chExt cx="4220773" cy="1326424"/>
          </a:xfrm>
        </p:grpSpPr>
        <p:sp>
          <p:nvSpPr>
            <p:cNvPr id="19" name="Vertical Scroll 5"/>
            <p:cNvSpPr/>
            <p:nvPr/>
          </p:nvSpPr>
          <p:spPr>
            <a:xfrm>
              <a:off x="7808308" y="1429860"/>
              <a:ext cx="1706155" cy="1058533"/>
            </a:xfrm>
            <a:prstGeom prst="verticalScroll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  <a:cs typeface="宋体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9pPr>
            </a:lstStyle>
            <a:p>
              <a:pPr algn="ctr">
                <a:defRPr/>
              </a:pPr>
              <a:r>
                <a:rPr lang="en-US" altLang="zh-CN" sz="1050" kern="0" dirty="0">
                  <a:solidFill>
                    <a:srgbClr val="FF0000"/>
                  </a:solidFill>
                  <a:latin typeface="Verdana"/>
                  <a:cs typeface="Verdana"/>
                </a:rPr>
                <a:t>(Binary) Executable</a:t>
              </a:r>
              <a:br>
                <a:rPr lang="en-US" altLang="zh-CN" sz="1050" kern="0" dirty="0">
                  <a:solidFill>
                    <a:srgbClr val="FFFFFF"/>
                  </a:solidFill>
                  <a:latin typeface="Verdana"/>
                  <a:cs typeface="Verdana"/>
                </a:rPr>
              </a:br>
              <a:r>
                <a:rPr lang="en-US" altLang="zh-CN" sz="1050" b="0" kern="0" dirty="0" err="1">
                  <a:solidFill>
                    <a:srgbClr val="000000"/>
                  </a:solidFill>
                  <a:latin typeface="Verdana"/>
                  <a:cs typeface="Verdana"/>
                </a:rPr>
                <a:t>a.out</a:t>
              </a:r>
              <a:endParaRPr lang="zh-CN" altLang="en-US" sz="1050" b="0" kern="0" dirty="0">
                <a:solidFill>
                  <a:srgbClr val="000000"/>
                </a:solidFill>
                <a:latin typeface="Verdana"/>
                <a:cs typeface="Verdana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5812035" y="1838568"/>
              <a:ext cx="1851363" cy="3385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050" dirty="0" err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gcc</a:t>
              </a:r>
              <a:r>
                <a:rPr lang="en-US" altLang="zh-CN" sz="105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 </a:t>
              </a:r>
              <a:r>
                <a:rPr lang="en-US" altLang="zh-CN" sz="1050" dirty="0" err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main.o</a:t>
              </a:r>
              <a:r>
                <a:rPr lang="en-US" altLang="zh-CN" sz="105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 </a:t>
              </a:r>
              <a:r>
                <a:rPr lang="en-US" altLang="zh-CN" sz="1050" dirty="0" err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sum.o</a:t>
              </a:r>
              <a:endParaRPr lang="en-US" altLang="zh-CN" sz="105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D4226E90-ED45-49BD-82B5-ADE58E18A32E}"/>
                </a:ext>
              </a:extLst>
            </p:cNvPr>
            <p:cNvCxnSpPr>
              <a:cxnSpLocks/>
            </p:cNvCxnSpPr>
            <p:nvPr/>
          </p:nvCxnSpPr>
          <p:spPr>
            <a:xfrm>
              <a:off x="5429926" y="1405557"/>
              <a:ext cx="492997" cy="4656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C3D02EE6-4BDA-4D83-90F9-836FC583FA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93690" y="2176188"/>
              <a:ext cx="624292" cy="5557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46DA0407-A7A4-4D76-84FA-89BAA26D2A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7218" y="1983858"/>
              <a:ext cx="212062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51041CE-BE47-43BF-893C-4CC2E75BB12C}"/>
              </a:ext>
            </a:extLst>
          </p:cNvPr>
          <p:cNvGrpSpPr/>
          <p:nvPr/>
        </p:nvGrpSpPr>
        <p:grpSpPr>
          <a:xfrm>
            <a:off x="3932934" y="2920188"/>
            <a:ext cx="3264080" cy="1135922"/>
            <a:chOff x="5243911" y="2750584"/>
            <a:chExt cx="4352106" cy="1514562"/>
          </a:xfrm>
        </p:grpSpPr>
        <p:sp>
          <p:nvSpPr>
            <p:cNvPr id="50" name="矩形 22">
              <a:extLst>
                <a:ext uri="{FF2B5EF4-FFF2-40B4-BE49-F238E27FC236}">
                  <a16:creationId xmlns:a16="http://schemas.microsoft.com/office/drawing/2014/main" id="{12CD9531-82CB-4B83-B5CD-B530BDE7B0A1}"/>
                </a:ext>
              </a:extLst>
            </p:cNvPr>
            <p:cNvSpPr/>
            <p:nvPr/>
          </p:nvSpPr>
          <p:spPr>
            <a:xfrm>
              <a:off x="5429926" y="3562865"/>
              <a:ext cx="2441267" cy="3385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050" dirty="0" err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gcc</a:t>
              </a:r>
              <a:r>
                <a:rPr lang="en-US" altLang="zh-CN" sz="105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 </a:t>
              </a:r>
              <a:r>
                <a:rPr lang="en-US" altLang="zh-CN" sz="1050" dirty="0" err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test.o</a:t>
              </a:r>
              <a:r>
                <a:rPr lang="en-US" altLang="zh-CN" sz="105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 </a:t>
              </a:r>
              <a:r>
                <a:rPr lang="en-US" altLang="zh-CN" sz="1050" dirty="0" err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sum.o</a:t>
              </a:r>
              <a:r>
                <a:rPr lang="en-US" altLang="zh-CN" sz="105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itchFamily="34" charset="0"/>
                  <a:ea typeface="Verdana" pitchFamily="34" charset="0"/>
                  <a:cs typeface="Verdana" pitchFamily="34" charset="0"/>
                </a:rPr>
                <a:t> –o test</a:t>
              </a:r>
              <a:endParaRPr lang="en-US" altLang="zh-CN" sz="105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74" name="Vertical Scroll 5">
              <a:extLst>
                <a:ext uri="{FF2B5EF4-FFF2-40B4-BE49-F238E27FC236}">
                  <a16:creationId xmlns:a16="http://schemas.microsoft.com/office/drawing/2014/main" id="{A669C14E-2A59-400F-91DF-16257942AF97}"/>
                </a:ext>
              </a:extLst>
            </p:cNvPr>
            <p:cNvSpPr/>
            <p:nvPr/>
          </p:nvSpPr>
          <p:spPr>
            <a:xfrm>
              <a:off x="7886422" y="3164032"/>
              <a:ext cx="1709595" cy="1058533"/>
            </a:xfrm>
            <a:prstGeom prst="verticalScroll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>
              <a:lvl1pPr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  <a:cs typeface="宋体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9pPr>
            </a:lstStyle>
            <a:p>
              <a:pPr algn="ctr">
                <a:defRPr/>
              </a:pPr>
              <a:r>
                <a:rPr lang="en-US" altLang="zh-CN" sz="1050" kern="0" dirty="0">
                  <a:solidFill>
                    <a:srgbClr val="FF0000"/>
                  </a:solidFill>
                  <a:latin typeface="Verdana"/>
                  <a:cs typeface="Verdana"/>
                </a:rPr>
                <a:t>(Binary) Executable</a:t>
              </a:r>
              <a:br>
                <a:rPr lang="en-US" altLang="zh-CN" sz="1050" kern="0" dirty="0">
                  <a:solidFill>
                    <a:srgbClr val="FFFFFF"/>
                  </a:solidFill>
                  <a:latin typeface="Verdana"/>
                  <a:cs typeface="Verdana"/>
                </a:rPr>
              </a:br>
              <a:r>
                <a:rPr lang="en-US" altLang="zh-CN" sz="1050" b="0" kern="0" dirty="0">
                  <a:solidFill>
                    <a:srgbClr val="000000"/>
                  </a:solidFill>
                  <a:latin typeface="Verdana"/>
                  <a:cs typeface="Verdana"/>
                </a:rPr>
                <a:t>test</a:t>
              </a:r>
              <a:endParaRPr lang="zh-CN" altLang="en-US" sz="1050" b="0" kern="0" dirty="0">
                <a:solidFill>
                  <a:srgbClr val="000000"/>
                </a:solidFill>
                <a:latin typeface="Verdana"/>
                <a:cs typeface="Verdana"/>
              </a:endParaRPr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E435B54B-13CE-497E-8CCF-FF4D79F835D8}"/>
                </a:ext>
              </a:extLst>
            </p:cNvPr>
            <p:cNvCxnSpPr>
              <a:cxnSpLocks/>
            </p:cNvCxnSpPr>
            <p:nvPr/>
          </p:nvCxnSpPr>
          <p:spPr>
            <a:xfrm>
              <a:off x="5293690" y="2750584"/>
              <a:ext cx="624292" cy="7700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3396A770-368A-4004-A8AF-099A4DC516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3911" y="3894561"/>
              <a:ext cx="674071" cy="3705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A069116F-F707-441D-8FDB-472FA299B8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36923" y="3717244"/>
              <a:ext cx="212062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Rectangle 3">
            <a:extLst>
              <a:ext uri="{FF2B5EF4-FFF2-40B4-BE49-F238E27FC236}">
                <a16:creationId xmlns:a16="http://schemas.microsoft.com/office/drawing/2014/main" id="{5C7523F4-C397-4F2E-99A4-A38B6720AF47}"/>
              </a:ext>
            </a:extLst>
          </p:cNvPr>
          <p:cNvSpPr txBox="1">
            <a:spLocks noChangeArrowheads="1"/>
          </p:cNvSpPr>
          <p:nvPr/>
        </p:nvSpPr>
        <p:spPr>
          <a:xfrm>
            <a:off x="2310107" y="4642852"/>
            <a:ext cx="2677813" cy="171140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68580" tIns="34290" rIns="68580" bIns="3429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defRPr/>
            </a:pPr>
            <a:r>
              <a:rPr lang="en-US" altLang="zh-CN" sz="1425" dirty="0">
                <a:latin typeface="Consolas"/>
                <a:ea typeface="宋体" pitchFamily="2" charset="-122"/>
                <a:cs typeface="Consolas"/>
              </a:rPr>
              <a:t>all: </a:t>
            </a:r>
            <a:r>
              <a:rPr lang="en-US" altLang="zh-CN" sz="1425" dirty="0" err="1">
                <a:latin typeface="Consolas"/>
                <a:ea typeface="宋体" pitchFamily="2" charset="-122"/>
                <a:cs typeface="Consolas"/>
              </a:rPr>
              <a:t>a.out</a:t>
            </a:r>
            <a:r>
              <a:rPr lang="en-US" altLang="zh-CN" sz="1425" dirty="0">
                <a:latin typeface="Consolas"/>
                <a:ea typeface="宋体" pitchFamily="2" charset="-122"/>
                <a:cs typeface="Consolas"/>
              </a:rPr>
              <a:t> test</a:t>
            </a:r>
          </a:p>
          <a:p>
            <a:pPr>
              <a:buFontTx/>
              <a:buNone/>
              <a:defRPr/>
            </a:pPr>
            <a:r>
              <a:rPr lang="en-US" altLang="zh-CN" sz="1425" dirty="0">
                <a:latin typeface="Consolas"/>
                <a:ea typeface="宋体" pitchFamily="2" charset="-122"/>
                <a:cs typeface="Consolas"/>
              </a:rPr>
              <a:t>test: </a:t>
            </a:r>
            <a:r>
              <a:rPr lang="en-US" altLang="zh-CN" sz="1425" dirty="0" err="1">
                <a:latin typeface="Consolas"/>
                <a:ea typeface="宋体" pitchFamily="2" charset="-122"/>
                <a:cs typeface="Consolas"/>
              </a:rPr>
              <a:t>test.o</a:t>
            </a:r>
            <a:r>
              <a:rPr lang="en-US" altLang="zh-CN" sz="1425" dirty="0"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1425" dirty="0" err="1">
                <a:latin typeface="Consolas"/>
                <a:ea typeface="宋体" pitchFamily="2" charset="-122"/>
                <a:cs typeface="Consolas"/>
              </a:rPr>
              <a:t>sum.o</a:t>
            </a:r>
            <a:endParaRPr lang="en-US" altLang="zh-CN" sz="1425" dirty="0">
              <a:latin typeface="Consolas"/>
              <a:ea typeface="宋体" pitchFamily="2" charset="-122"/>
              <a:cs typeface="Consolas"/>
            </a:endParaRPr>
          </a:p>
          <a:p>
            <a:pPr>
              <a:buFontTx/>
              <a:buNone/>
              <a:defRPr/>
            </a:pPr>
            <a:r>
              <a:rPr lang="en-US" altLang="zh-CN" sz="1425" dirty="0">
                <a:latin typeface="Consolas"/>
                <a:ea typeface="宋体" pitchFamily="2" charset="-122"/>
                <a:cs typeface="Consolas"/>
              </a:rPr>
              <a:t>    </a:t>
            </a:r>
            <a:r>
              <a:rPr lang="en-US" altLang="zh-CN" sz="1425" dirty="0" err="1">
                <a:latin typeface="Consolas"/>
                <a:ea typeface="宋体" pitchFamily="2" charset="-122"/>
                <a:cs typeface="Consolas"/>
              </a:rPr>
              <a:t>gcc</a:t>
            </a:r>
            <a:r>
              <a:rPr lang="en-US" altLang="zh-CN" sz="1425" dirty="0">
                <a:latin typeface="Consolas"/>
                <a:ea typeface="宋体" pitchFamily="2" charset="-122"/>
                <a:cs typeface="Consolas"/>
              </a:rPr>
              <a:t> $^ -o $@</a:t>
            </a:r>
          </a:p>
          <a:p>
            <a:pPr>
              <a:buFontTx/>
              <a:buNone/>
              <a:defRPr/>
            </a:pPr>
            <a:r>
              <a:rPr lang="en-US" altLang="zh-CN" sz="1425" dirty="0" err="1">
                <a:latin typeface="Consolas"/>
                <a:ea typeface="宋体" pitchFamily="2" charset="-122"/>
                <a:cs typeface="Consolas"/>
              </a:rPr>
              <a:t>a.out</a:t>
            </a:r>
            <a:r>
              <a:rPr lang="en-US" altLang="zh-CN" sz="1425" dirty="0">
                <a:latin typeface="Consolas"/>
                <a:ea typeface="宋体" pitchFamily="2" charset="-122"/>
                <a:cs typeface="Consolas"/>
              </a:rPr>
              <a:t>: </a:t>
            </a:r>
            <a:r>
              <a:rPr lang="en-US" altLang="zh-CN" sz="1425" dirty="0" err="1">
                <a:latin typeface="Consolas"/>
                <a:ea typeface="宋体" pitchFamily="2" charset="-122"/>
                <a:cs typeface="Consolas"/>
              </a:rPr>
              <a:t>main.c</a:t>
            </a:r>
            <a:r>
              <a:rPr lang="en-US" altLang="zh-CN" sz="1425" dirty="0"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sz="1425" dirty="0" err="1">
                <a:latin typeface="Consolas"/>
                <a:ea typeface="宋体" pitchFamily="2" charset="-122"/>
                <a:cs typeface="Consolas"/>
              </a:rPr>
              <a:t>sum.o</a:t>
            </a:r>
            <a:endParaRPr lang="en-US" altLang="zh-CN" sz="1425" dirty="0">
              <a:latin typeface="Consolas"/>
              <a:ea typeface="宋体" pitchFamily="2" charset="-122"/>
              <a:cs typeface="Consolas"/>
            </a:endParaRPr>
          </a:p>
          <a:p>
            <a:pPr>
              <a:buFontTx/>
              <a:buNone/>
              <a:defRPr/>
            </a:pPr>
            <a:r>
              <a:rPr lang="en-US" altLang="zh-CN" sz="1425" dirty="0">
                <a:latin typeface="Consolas"/>
                <a:ea typeface="宋体" pitchFamily="2" charset="-122"/>
                <a:cs typeface="Consolas"/>
              </a:rPr>
              <a:t>    </a:t>
            </a:r>
            <a:r>
              <a:rPr lang="en-US" altLang="zh-CN" sz="1425" dirty="0" err="1">
                <a:latin typeface="Consolas"/>
                <a:ea typeface="宋体" pitchFamily="2" charset="-122"/>
                <a:cs typeface="Consolas"/>
              </a:rPr>
              <a:t>gcc</a:t>
            </a:r>
            <a:r>
              <a:rPr lang="en-US" altLang="zh-CN" sz="1425" dirty="0">
                <a:latin typeface="Consolas"/>
                <a:ea typeface="宋体" pitchFamily="2" charset="-122"/>
                <a:cs typeface="Consolas"/>
              </a:rPr>
              <a:t> $^ -o $@</a:t>
            </a:r>
          </a:p>
          <a:p>
            <a:pPr>
              <a:buFontTx/>
              <a:buNone/>
              <a:defRPr/>
            </a:pPr>
            <a:r>
              <a:rPr lang="en-US" altLang="zh-CN" sz="1425" dirty="0">
                <a:latin typeface="Consolas"/>
                <a:ea typeface="宋体" pitchFamily="2" charset="-122"/>
                <a:cs typeface="Consolas"/>
              </a:rPr>
              <a:t>%.o: %.c</a:t>
            </a:r>
          </a:p>
          <a:p>
            <a:pPr>
              <a:buFontTx/>
              <a:buNone/>
              <a:defRPr/>
            </a:pPr>
            <a:r>
              <a:rPr lang="en-US" altLang="zh-CN" sz="1425" dirty="0">
                <a:latin typeface="Consolas"/>
                <a:ea typeface="宋体" pitchFamily="2" charset="-122"/>
                <a:cs typeface="Consolas"/>
              </a:rPr>
              <a:t>    </a:t>
            </a:r>
            <a:r>
              <a:rPr lang="en-US" altLang="zh-CN" sz="1425" dirty="0" err="1">
                <a:latin typeface="Consolas"/>
                <a:ea typeface="宋体" pitchFamily="2" charset="-122"/>
                <a:cs typeface="Consolas"/>
              </a:rPr>
              <a:t>gcc</a:t>
            </a:r>
            <a:r>
              <a:rPr lang="en-US" altLang="zh-CN" sz="1425" dirty="0">
                <a:latin typeface="Consolas"/>
                <a:ea typeface="宋体" pitchFamily="2" charset="-122"/>
                <a:cs typeface="Consolas"/>
              </a:rPr>
              <a:t> –c $^  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5CE5E336-EB26-4206-86EE-A2317696FFE7}"/>
              </a:ext>
            </a:extLst>
          </p:cNvPr>
          <p:cNvSpPr/>
          <p:nvPr/>
        </p:nvSpPr>
        <p:spPr>
          <a:xfrm>
            <a:off x="4807492" y="1570628"/>
            <a:ext cx="1019468" cy="505077"/>
          </a:xfrm>
          <a:prstGeom prst="wedgeRoundRectCallout">
            <a:avLst>
              <a:gd name="adj1" fmla="val -44321"/>
              <a:gd name="adj2" fmla="val 85201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called linking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3B498C-51FD-4FE2-A314-F55E1D2B297E}"/>
              </a:ext>
            </a:extLst>
          </p:cNvPr>
          <p:cNvSpPr txBox="1"/>
          <p:nvPr/>
        </p:nvSpPr>
        <p:spPr>
          <a:xfrm>
            <a:off x="4289410" y="6354256"/>
            <a:ext cx="79310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/>
              <a:t>Makefile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880236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84" grpId="0" animBg="1"/>
      <p:bldP spid="3" grpId="0" animBg="1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Basic C</a:t>
            </a:r>
            <a:endParaRPr kumimoji="1"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1A365-34BC-429F-B0EB-7DEB7A079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210" y="2067614"/>
            <a:ext cx="8253499" cy="1099661"/>
          </a:xfrm>
        </p:spPr>
        <p:txBody>
          <a:bodyPr/>
          <a:lstStyle/>
          <a:p>
            <a:r>
              <a:rPr lang="en-US" dirty="0"/>
              <a:t>C’s syntax is very similar to Java </a:t>
            </a:r>
          </a:p>
          <a:p>
            <a:pPr lvl="1"/>
            <a:r>
              <a:rPr lang="en-US" dirty="0"/>
              <a:t>Java borrowed its syntax from C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308859D-DBED-467C-A583-92CA9EF7D5A5}"/>
              </a:ext>
            </a:extLst>
          </p:cNvPr>
          <p:cNvGrpSpPr/>
          <p:nvPr/>
        </p:nvGrpSpPr>
        <p:grpSpPr>
          <a:xfrm>
            <a:off x="707467" y="3061785"/>
            <a:ext cx="5572004" cy="1368570"/>
            <a:chOff x="943289" y="2939381"/>
            <a:chExt cx="7429338" cy="1824761"/>
          </a:xfrm>
        </p:grpSpPr>
        <p:sp>
          <p:nvSpPr>
            <p:cNvPr id="4" name="矩形 3"/>
            <p:cNvSpPr/>
            <p:nvPr/>
          </p:nvSpPr>
          <p:spPr>
            <a:xfrm>
              <a:off x="943289" y="3516280"/>
              <a:ext cx="7429338" cy="553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zh-CN" dirty="0">
                  <a:latin typeface="Verdana"/>
                  <a:cs typeface="Verdana"/>
                </a:rPr>
                <a:t>Variable declaration:    </a:t>
              </a:r>
              <a:r>
                <a:rPr lang="en-US" altLang="zh-CN" sz="2100" dirty="0">
                  <a:latin typeface="Consolas"/>
                  <a:ea typeface="宋体" pitchFamily="2" charset="-122"/>
                  <a:cs typeface="Consolas"/>
                </a:rPr>
                <a:t>int a = 1;</a:t>
              </a:r>
            </a:p>
          </p:txBody>
        </p:sp>
        <p:cxnSp>
          <p:nvCxnSpPr>
            <p:cNvPr id="7" name="直接箭头连接符 25"/>
            <p:cNvCxnSpPr>
              <a:cxnSpLocks noChangeShapeType="1"/>
            </p:cNvCxnSpPr>
            <p:nvPr/>
          </p:nvCxnSpPr>
          <p:spPr bwMode="auto">
            <a:xfrm rot="10800000">
              <a:off x="5520404" y="3989460"/>
              <a:ext cx="516254" cy="453658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" name="矩形 12"/>
            <p:cNvSpPr/>
            <p:nvPr/>
          </p:nvSpPr>
          <p:spPr>
            <a:xfrm>
              <a:off x="6071937" y="4297731"/>
              <a:ext cx="994289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500" i="1" dirty="0">
                  <a:latin typeface="Verdana"/>
                  <a:cs typeface="Verdana"/>
                </a:rPr>
                <a:t>Name</a:t>
              </a:r>
              <a:endParaRPr lang="zh-CN" altLang="en-US" sz="1500" i="1" dirty="0"/>
            </a:p>
          </p:txBody>
        </p:sp>
        <p:cxnSp>
          <p:nvCxnSpPr>
            <p:cNvPr id="15" name="直接箭头连接符 25"/>
            <p:cNvCxnSpPr>
              <a:cxnSpLocks noChangeShapeType="1"/>
            </p:cNvCxnSpPr>
            <p:nvPr/>
          </p:nvCxnSpPr>
          <p:spPr bwMode="auto">
            <a:xfrm rot="5400000" flipH="1" flipV="1">
              <a:off x="4566449" y="4197779"/>
              <a:ext cx="575280" cy="199903"/>
            </a:xfrm>
            <a:prstGeom prst="curvedConnector3">
              <a:avLst>
                <a:gd name="adj1" fmla="val -1098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" name="矩形 20"/>
            <p:cNvSpPr/>
            <p:nvPr/>
          </p:nvSpPr>
          <p:spPr>
            <a:xfrm>
              <a:off x="3968853" y="4333255"/>
              <a:ext cx="868187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500" i="1" dirty="0">
                  <a:latin typeface="Verdana"/>
                  <a:cs typeface="Verdana"/>
                </a:rPr>
                <a:t>Type</a:t>
              </a:r>
              <a:endParaRPr lang="zh-CN" altLang="en-US" sz="1500" i="1" dirty="0"/>
            </a:p>
          </p:txBody>
        </p:sp>
        <p:cxnSp>
          <p:nvCxnSpPr>
            <p:cNvPr id="22" name="直接箭头连接符 25"/>
            <p:cNvCxnSpPr>
              <a:cxnSpLocks noChangeShapeType="1"/>
            </p:cNvCxnSpPr>
            <p:nvPr/>
          </p:nvCxnSpPr>
          <p:spPr bwMode="auto">
            <a:xfrm rot="5400000">
              <a:off x="5740847" y="3177121"/>
              <a:ext cx="392857" cy="317488"/>
            </a:xfrm>
            <a:prstGeom prst="curvedConnector3">
              <a:avLst>
                <a:gd name="adj1" fmla="val -6868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矩形 22"/>
            <p:cNvSpPr/>
            <p:nvPr/>
          </p:nvSpPr>
          <p:spPr>
            <a:xfrm>
              <a:off x="6096021" y="2939381"/>
              <a:ext cx="1763731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500" i="1" dirty="0">
                  <a:latin typeface="Verdana"/>
                  <a:cs typeface="Verdana"/>
                </a:rPr>
                <a:t>Initial value</a:t>
              </a:r>
              <a:endParaRPr lang="zh-CN" altLang="en-US" sz="1500" i="1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8F0E6B5-1120-4497-986B-DEB08CA5FEA0}"/>
              </a:ext>
            </a:extLst>
          </p:cNvPr>
          <p:cNvGrpSpPr/>
          <p:nvPr/>
        </p:nvGrpSpPr>
        <p:grpSpPr>
          <a:xfrm>
            <a:off x="5820505" y="2952002"/>
            <a:ext cx="2340924" cy="565539"/>
            <a:chOff x="7760672" y="2793005"/>
            <a:chExt cx="3121231" cy="75405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D278C77-8CAB-4C3B-8040-90FA7EC6153C}"/>
                </a:ext>
              </a:extLst>
            </p:cNvPr>
            <p:cNvSpPr txBox="1"/>
            <p:nvPr/>
          </p:nvSpPr>
          <p:spPr>
            <a:xfrm>
              <a:off x="7797127" y="2808394"/>
              <a:ext cx="3084776" cy="73866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rgbClr val="000000"/>
                  </a:solidFill>
                </a:rPr>
                <a:t>        If uninitialized, </a:t>
              </a:r>
            </a:p>
            <a:p>
              <a:r>
                <a:rPr lang="en-US" sz="1500" dirty="0">
                  <a:solidFill>
                    <a:srgbClr val="000000"/>
                  </a:solidFill>
                </a:rPr>
                <a:t>variable can have any value</a:t>
              </a:r>
            </a:p>
          </p:txBody>
        </p:sp>
        <p:pic>
          <p:nvPicPr>
            <p:cNvPr id="5122" name="Picture 2" descr="5 Business Warning Signs That Signal Ethical Exposure | SmallBizClub">
              <a:extLst>
                <a:ext uri="{FF2B5EF4-FFF2-40B4-BE49-F238E27FC236}">
                  <a16:creationId xmlns:a16="http://schemas.microsoft.com/office/drawing/2014/main" id="{190B56ED-4A98-4D32-9F4D-032F1F0819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143" b="98810" l="9699" r="89967">
                          <a14:foregroundMark x1="51839" y1="7143" x2="77258" y2="98810"/>
                          <a14:foregroundMark x1="51839" y1="12500" x2="76589" y2="96429"/>
                          <a14:foregroundMark x1="50836" y1="30952" x2="50167" y2="59524"/>
                          <a14:foregroundMark x1="49498" y1="83929" x2="50167" y2="77976"/>
                          <a14:backgroundMark x1="82609" y1="24405" x2="82609" y2="24405"/>
                          <a14:backgroundMark x1="16388" y1="28571" x2="16388" y2="28571"/>
                          <a14:backgroundMark x1="83946" y1="29762" x2="83946" y2="29762"/>
                          <a14:backgroundMark x1="84615" y1="40476" x2="84615" y2="40476"/>
                          <a14:backgroundMark x1="19064" y1="55357" x2="19064" y2="55357"/>
                          <a14:backgroundMark x1="19064" y1="55357" x2="19064" y2="55357"/>
                          <a14:backgroundMark x1="19064" y1="55357" x2="19064" y2="5535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60672" y="2793005"/>
              <a:ext cx="707887" cy="400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8857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Primitive Types (64-bit machine)</a:t>
            </a:r>
            <a:endParaRPr kumimoji="1"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440593" y="2178380"/>
          <a:ext cx="6217508" cy="2255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6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latin typeface="Verdana"/>
                          <a:cs typeface="Verdana"/>
                        </a:rPr>
                        <a:t>type</a:t>
                      </a:r>
                      <a:endParaRPr lang="zh-CN" altLang="en-US" sz="1400" b="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latin typeface="Verdana"/>
                          <a:cs typeface="Verdana"/>
                        </a:rPr>
                        <a:t>size (bytes)</a:t>
                      </a:r>
                      <a:endParaRPr lang="zh-CN" altLang="en-US" sz="1400" b="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latin typeface="Verdana"/>
                          <a:cs typeface="Verdana"/>
                        </a:rPr>
                        <a:t>example</a:t>
                      </a:r>
                      <a:endParaRPr lang="zh-CN" altLang="en-US" sz="1400" b="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(unsigned) char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1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char c = ‘a’ 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(unsigned) short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2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short s = 12 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(unsigned) int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4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int i</a:t>
                      </a:r>
                      <a:r>
                        <a:rPr lang="en-US" altLang="zh-CN" sz="1400" baseline="0" dirty="0">
                          <a:latin typeface="Verdana"/>
                          <a:cs typeface="Verdana"/>
                        </a:rPr>
                        <a:t> = 1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(unsigned) long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8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long l = 1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float 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4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float f = 1.0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double 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8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double d</a:t>
                      </a:r>
                      <a:r>
                        <a:rPr lang="en-US" altLang="zh-CN" sz="1400" baseline="0" dirty="0">
                          <a:latin typeface="Verdana"/>
                          <a:cs typeface="Verdana"/>
                        </a:rPr>
                        <a:t> = 1.0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pointer 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8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Verdana"/>
                          <a:cs typeface="Verdana"/>
                        </a:rPr>
                        <a:t>int *x = &amp;i</a:t>
                      </a:r>
                      <a:endParaRPr lang="zh-CN" altLang="en-US" sz="14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985152" y="4546274"/>
            <a:ext cx="5190956" cy="646331"/>
          </a:xfrm>
          <a:prstGeom prst="rect">
            <a:avLst/>
          </a:prstGeom>
          <a:solidFill>
            <a:srgbClr val="FCD5B5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Old C has no native </a:t>
            </a:r>
            <a:r>
              <a:rPr lang="en-US" dirty="0" err="1"/>
              <a:t>boolean</a:t>
            </a:r>
            <a:r>
              <a:rPr lang="en-US" dirty="0"/>
              <a:t> type.  A non-zero integer represents true, a zero integer represents false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5152" y="5370233"/>
            <a:ext cx="5190956" cy="646331"/>
          </a:xfrm>
          <a:prstGeom prst="rect">
            <a:avLst/>
          </a:prstGeom>
          <a:solidFill>
            <a:srgbClr val="FCD5B5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C99 has “</a:t>
            </a:r>
            <a:r>
              <a:rPr lang="en-US" dirty="0" err="1"/>
              <a:t>bool</a:t>
            </a:r>
            <a:r>
              <a:rPr lang="en-US" dirty="0"/>
              <a:t>” type, but one needs to include &lt;</a:t>
            </a:r>
            <a:r>
              <a:rPr lang="en-US" dirty="0" err="1"/>
              <a:t>stdbool.h</a:t>
            </a:r>
            <a:r>
              <a:rPr lang="en-US" dirty="0"/>
              <a:t>&gt;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8162C9E-C885-4224-B1AA-F91B67B3368C}"/>
              </a:ext>
            </a:extLst>
          </p:cNvPr>
          <p:cNvGrpSpPr/>
          <p:nvPr/>
        </p:nvGrpSpPr>
        <p:grpSpPr>
          <a:xfrm>
            <a:off x="2119555" y="1874824"/>
            <a:ext cx="2290627" cy="609047"/>
            <a:chOff x="2826072" y="1356765"/>
            <a:chExt cx="3054170" cy="812063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1ACE366-8518-4361-AE54-AF2AFD66DB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68117" y="1690688"/>
              <a:ext cx="133254" cy="4781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15DB1DB-EAAE-47C0-B107-1E05B7B2F295}"/>
                </a:ext>
              </a:extLst>
            </p:cNvPr>
            <p:cNvSpPr txBox="1"/>
            <p:nvPr/>
          </p:nvSpPr>
          <p:spPr>
            <a:xfrm>
              <a:off x="2826072" y="1356765"/>
              <a:ext cx="3054170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Either a character or an </a:t>
              </a:r>
              <a:r>
                <a:rPr lang="en-US" sz="1350" dirty="0" err="1"/>
                <a:t>intger</a:t>
              </a:r>
              <a:endParaRPr lang="en-US" sz="135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E33BAEF-8012-4CFE-8AE5-01EAB88C1130}"/>
              </a:ext>
            </a:extLst>
          </p:cNvPr>
          <p:cNvGrpSpPr/>
          <p:nvPr/>
        </p:nvGrpSpPr>
        <p:grpSpPr>
          <a:xfrm>
            <a:off x="241237" y="4289698"/>
            <a:ext cx="1120025" cy="377357"/>
            <a:chOff x="321648" y="4576595"/>
            <a:chExt cx="1493367" cy="503143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AC35583-FAB7-4177-92E9-FEDDBFED0A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1689" y="4576595"/>
              <a:ext cx="463326" cy="1030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C7D68CC-E426-4BB7-9DC0-956F51D57B06}"/>
                </a:ext>
              </a:extLst>
            </p:cNvPr>
            <p:cNvSpPr txBox="1"/>
            <p:nvPr/>
          </p:nvSpPr>
          <p:spPr>
            <a:xfrm>
              <a:off x="321648" y="4679628"/>
              <a:ext cx="139662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Next lecture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2196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Implicit conversion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485900" y="1324724"/>
            <a:ext cx="593007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500" dirty="0">
                <a:latin typeface="Consolas"/>
                <a:cs typeface="Consolas"/>
              </a:rPr>
              <a:t>int main()</a:t>
            </a:r>
          </a:p>
          <a:p>
            <a:r>
              <a:rPr lang="en-US" altLang="zh-CN" sz="1500" dirty="0">
                <a:latin typeface="Consolas"/>
                <a:cs typeface="Consolas"/>
              </a:rPr>
              <a:t>{</a:t>
            </a:r>
          </a:p>
          <a:p>
            <a:r>
              <a:rPr lang="mr-IN" altLang="zh-CN" sz="1500" dirty="0">
                <a:latin typeface="Consolas"/>
                <a:cs typeface="Consolas"/>
              </a:rPr>
              <a:t>   int </a:t>
            </a:r>
            <a:r>
              <a:rPr lang="en-US" altLang="zh-CN" sz="1500" dirty="0">
                <a:latin typeface="Consolas"/>
                <a:cs typeface="Consolas"/>
              </a:rPr>
              <a:t>a</a:t>
            </a:r>
            <a:r>
              <a:rPr lang="mr-IN" altLang="zh-CN" sz="1500" dirty="0">
                <a:latin typeface="Consolas"/>
                <a:cs typeface="Consolas"/>
              </a:rPr>
              <a:t> = </a:t>
            </a:r>
            <a:r>
              <a:rPr lang="en-US" altLang="zh-CN" sz="1500" dirty="0">
                <a:latin typeface="Consolas"/>
                <a:cs typeface="Consolas"/>
              </a:rPr>
              <a:t>-1</a:t>
            </a:r>
            <a:r>
              <a:rPr lang="mr-IN" altLang="zh-CN" sz="1500" dirty="0">
                <a:latin typeface="Consolas"/>
                <a:cs typeface="Consolas"/>
              </a:rPr>
              <a:t>;</a:t>
            </a:r>
          </a:p>
          <a:p>
            <a:r>
              <a:rPr lang="en-US" altLang="zh-CN" sz="1500" dirty="0">
                <a:latin typeface="Consolas"/>
                <a:cs typeface="Consolas"/>
              </a:rPr>
              <a:t>   unsigned int b = 1;</a:t>
            </a:r>
          </a:p>
          <a:p>
            <a:endParaRPr lang="en-US" altLang="zh-CN" sz="1500" dirty="0">
              <a:latin typeface="Consolas"/>
              <a:cs typeface="Consolas"/>
            </a:endParaRPr>
          </a:p>
          <a:p>
            <a:r>
              <a:rPr lang="mr-IN" altLang="zh-CN" sz="1500" dirty="0">
                <a:latin typeface="Consolas"/>
                <a:cs typeface="Consolas"/>
              </a:rPr>
              <a:t>   if (</a:t>
            </a:r>
            <a:r>
              <a:rPr lang="en-US" altLang="zh-CN" sz="1500" dirty="0">
                <a:latin typeface="Consolas"/>
                <a:cs typeface="Consolas"/>
              </a:rPr>
              <a:t>a</a:t>
            </a:r>
            <a:r>
              <a:rPr lang="mr-IN" altLang="zh-CN" sz="1500" dirty="0">
                <a:latin typeface="Consolas"/>
                <a:cs typeface="Consolas"/>
              </a:rPr>
              <a:t> &lt; </a:t>
            </a:r>
            <a:r>
              <a:rPr lang="en-US" altLang="zh-CN" sz="1500" dirty="0">
                <a:latin typeface="Consolas"/>
                <a:cs typeface="Consolas"/>
              </a:rPr>
              <a:t>b</a:t>
            </a:r>
            <a:r>
              <a:rPr lang="mr-IN" altLang="zh-CN" sz="1500" dirty="0">
                <a:latin typeface="Consolas"/>
                <a:cs typeface="Consolas"/>
              </a:rPr>
              <a:t>) {</a:t>
            </a:r>
            <a:endParaRPr lang="en-US" altLang="zh-CN" sz="1500" dirty="0">
              <a:latin typeface="Consolas"/>
              <a:cs typeface="Consolas"/>
            </a:endParaRPr>
          </a:p>
          <a:p>
            <a:endParaRPr lang="mr-IN" altLang="zh-CN" sz="450" dirty="0">
              <a:latin typeface="Consolas"/>
              <a:cs typeface="Consolas"/>
            </a:endParaRPr>
          </a:p>
          <a:p>
            <a:r>
              <a:rPr lang="en-US" altLang="zh-CN" sz="1500" dirty="0">
                <a:latin typeface="Consolas"/>
                <a:cs typeface="Consolas"/>
              </a:rPr>
              <a:t>        printf("%d is smaller than %d\n", a, b);</a:t>
            </a:r>
          </a:p>
          <a:p>
            <a:endParaRPr lang="en-US" altLang="zh-CN" sz="450" dirty="0">
              <a:latin typeface="Consolas"/>
              <a:cs typeface="Consolas"/>
            </a:endParaRPr>
          </a:p>
          <a:p>
            <a:r>
              <a:rPr lang="en-US" altLang="zh-CN" sz="1500" dirty="0">
                <a:latin typeface="Consolas"/>
                <a:cs typeface="Consolas"/>
              </a:rPr>
              <a:t>   } else if (a &gt; b) {</a:t>
            </a:r>
          </a:p>
          <a:p>
            <a:endParaRPr lang="en-US" altLang="zh-CN" sz="450" dirty="0">
              <a:latin typeface="Consolas"/>
              <a:cs typeface="Consolas"/>
            </a:endParaRPr>
          </a:p>
          <a:p>
            <a:r>
              <a:rPr lang="en-US" altLang="zh-CN" sz="1500" dirty="0">
                <a:latin typeface="Consolas"/>
                <a:cs typeface="Consolas"/>
              </a:rPr>
              <a:t>        printf("%d is larger than %d\n”, a, b);</a:t>
            </a:r>
          </a:p>
          <a:p>
            <a:endParaRPr lang="en-US" altLang="zh-CN" sz="450" dirty="0">
              <a:latin typeface="Consolas"/>
              <a:cs typeface="Consolas"/>
            </a:endParaRPr>
          </a:p>
          <a:p>
            <a:r>
              <a:rPr lang="mr-IN" altLang="zh-CN" sz="1500" dirty="0">
                <a:latin typeface="Consolas"/>
                <a:cs typeface="Consolas"/>
              </a:rPr>
              <a:t>   }</a:t>
            </a:r>
          </a:p>
          <a:p>
            <a:r>
              <a:rPr lang="mr-IN" altLang="zh-CN" sz="1500" dirty="0">
                <a:latin typeface="Consolas"/>
                <a:cs typeface="Consolas"/>
              </a:rPr>
              <a:t>   return 0;</a:t>
            </a:r>
          </a:p>
          <a:p>
            <a:r>
              <a:rPr lang="mr-IN" altLang="zh-CN" sz="15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5900" y="5598644"/>
            <a:ext cx="6432680" cy="646331"/>
          </a:xfrm>
          <a:prstGeom prst="rect">
            <a:avLst/>
          </a:prstGeom>
          <a:solidFill>
            <a:srgbClr val="FCD5B5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Compiler converts int types to the one with the larger value (e.g. char </a:t>
            </a:r>
            <a:r>
              <a:rPr lang="en-US" dirty="0">
                <a:sym typeface="Wingdings"/>
              </a:rPr>
              <a:t> unsigned char  </a:t>
            </a:r>
            <a:r>
              <a:rPr lang="en-US" dirty="0" err="1">
                <a:sym typeface="Wingdings"/>
              </a:rPr>
              <a:t>int</a:t>
            </a:r>
            <a:r>
              <a:rPr lang="en-US" dirty="0">
                <a:sym typeface="Wingdings"/>
              </a:rPr>
              <a:t>  unsigned </a:t>
            </a:r>
            <a:r>
              <a:rPr lang="en-US" dirty="0" err="1">
                <a:sym typeface="Wingdings"/>
              </a:rPr>
              <a:t>int</a:t>
            </a:r>
            <a:r>
              <a:rPr lang="en-US" dirty="0">
                <a:sym typeface="Wingdings"/>
              </a:rPr>
              <a:t>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860769-891F-9C46-846D-21CECFB2CE53}"/>
              </a:ext>
            </a:extLst>
          </p:cNvPr>
          <p:cNvSpPr txBox="1"/>
          <p:nvPr/>
        </p:nvSpPr>
        <p:spPr>
          <a:xfrm>
            <a:off x="1485900" y="4798550"/>
            <a:ext cx="5855817" cy="7155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en-US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gcc</a:t>
            </a:r>
            <a:r>
              <a:rPr lang="en-US" sz="135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test.c</a:t>
            </a:r>
            <a:endParaRPr lang="en-US" sz="13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350" dirty="0">
                <a:latin typeface="Consolas" panose="020B0609020204030204" pitchFamily="49" charset="0"/>
                <a:cs typeface="Consolas" panose="020B0609020204030204" pitchFamily="49" charset="0"/>
              </a:rPr>
              <a:t>$./</a:t>
            </a:r>
            <a:r>
              <a:rPr lang="en-US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endParaRPr lang="en-US" sz="13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350" dirty="0">
                <a:latin typeface="Consolas" panose="020B0609020204030204" pitchFamily="49" charset="0"/>
                <a:cs typeface="Consolas" panose="020B0609020204030204" pitchFamily="49" charset="0"/>
              </a:rPr>
              <a:t>-1 is larger than 1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463EC56-0AB1-E847-BA24-D686EA70F38D}"/>
              </a:ext>
            </a:extLst>
          </p:cNvPr>
          <p:cNvGrpSpPr/>
          <p:nvPr/>
        </p:nvGrpSpPr>
        <p:grpSpPr>
          <a:xfrm>
            <a:off x="3273259" y="4835094"/>
            <a:ext cx="2355360" cy="300082"/>
            <a:chOff x="2604053" y="4809059"/>
            <a:chExt cx="3140479" cy="400108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7C68DE0-C11D-8042-A04C-F47E223D66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04053" y="5009322"/>
              <a:ext cx="795130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C5F36AE-8BDF-FD43-ACA2-6091FFD6B9A9}"/>
                </a:ext>
              </a:extLst>
            </p:cNvPr>
            <p:cNvSpPr txBox="1"/>
            <p:nvPr/>
          </p:nvSpPr>
          <p:spPr>
            <a:xfrm>
              <a:off x="3461599" y="4809059"/>
              <a:ext cx="2282933" cy="400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>
                  <a:solidFill>
                    <a:srgbClr val="C00000"/>
                  </a:solidFill>
                </a:rPr>
                <a:t>No compiler warning!</a:t>
              </a:r>
            </a:p>
          </p:txBody>
        </p:sp>
      </p:grpSp>
      <p:sp>
        <p:nvSpPr>
          <p:cNvPr id="3" name="矩形 4">
            <a:extLst>
              <a:ext uri="{FF2B5EF4-FFF2-40B4-BE49-F238E27FC236}">
                <a16:creationId xmlns:a16="http://schemas.microsoft.com/office/drawing/2014/main" id="{FFC199BE-AD5E-419F-9C41-2DE7C6982E2E}"/>
              </a:ext>
            </a:extLst>
          </p:cNvPr>
          <p:cNvSpPr/>
          <p:nvPr/>
        </p:nvSpPr>
        <p:spPr>
          <a:xfrm>
            <a:off x="1485900" y="6398696"/>
            <a:ext cx="50802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latin typeface="Arial"/>
                <a:cs typeface="Arial"/>
              </a:rPr>
              <a:t>-1  is implicitly cast to unsigned </a:t>
            </a:r>
            <a:r>
              <a:rPr kumimoji="1" lang="en-US" altLang="zh-CN" dirty="0" err="1">
                <a:solidFill>
                  <a:srgbClr val="FF0000"/>
                </a:solidFill>
                <a:latin typeface="Arial"/>
                <a:cs typeface="Arial"/>
              </a:rPr>
              <a:t>int</a:t>
            </a:r>
            <a:r>
              <a:rPr kumimoji="1" lang="en-US" altLang="zh-CN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kumimoji="1" lang="en-US" altLang="zh-CN" sz="1500" dirty="0">
                <a:solidFill>
                  <a:srgbClr val="FF0000"/>
                </a:solidFill>
                <a:latin typeface="Arial"/>
                <a:cs typeface="Arial"/>
              </a:rPr>
              <a:t>(</a:t>
            </a:r>
            <a:r>
              <a:rPr kumimoji="1" lang="cs-CZ" altLang="zh-CN" sz="1500" dirty="0">
                <a:solidFill>
                  <a:srgbClr val="FF0000"/>
                </a:solidFill>
                <a:latin typeface="Arial"/>
                <a:cs typeface="Arial"/>
              </a:rPr>
              <a:t>4294967295</a:t>
            </a:r>
            <a:r>
              <a:rPr kumimoji="1" lang="en-US" altLang="zh-CN" sz="1500" dirty="0">
                <a:solidFill>
                  <a:srgbClr val="FF0000"/>
                </a:solidFill>
                <a:latin typeface="Arial"/>
                <a:cs typeface="Arial"/>
              </a:rPr>
              <a:t>)</a:t>
            </a:r>
            <a:r>
              <a:rPr kumimoji="1" lang="en-US" altLang="zh-CN" sz="1500" baseline="-25000" dirty="0">
                <a:solidFill>
                  <a:srgbClr val="FF0000"/>
                </a:solidFill>
                <a:latin typeface="Arial"/>
                <a:cs typeface="Arial"/>
              </a:rPr>
              <a:t>10</a:t>
            </a:r>
            <a:endParaRPr lang="zh-CN" altLang="en-US" sz="1500" baseline="-25000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305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Explicit conversion (casting)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728021" y="1932708"/>
            <a:ext cx="5930079" cy="33701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500" dirty="0">
                <a:latin typeface="Consolas"/>
                <a:cs typeface="Consolas"/>
              </a:rPr>
              <a:t>int main()</a:t>
            </a:r>
          </a:p>
          <a:p>
            <a:r>
              <a:rPr lang="en-US" altLang="zh-CN" sz="1500" dirty="0">
                <a:latin typeface="Consolas"/>
                <a:cs typeface="Consolas"/>
              </a:rPr>
              <a:t>{</a:t>
            </a:r>
          </a:p>
          <a:p>
            <a:r>
              <a:rPr lang="mr-IN" altLang="zh-CN" sz="1500" dirty="0">
                <a:latin typeface="Consolas"/>
                <a:cs typeface="Consolas"/>
              </a:rPr>
              <a:t>   int </a:t>
            </a:r>
            <a:r>
              <a:rPr lang="en-US" altLang="zh-CN" sz="1500" dirty="0">
                <a:latin typeface="Consolas"/>
                <a:cs typeface="Consolas"/>
              </a:rPr>
              <a:t>a</a:t>
            </a:r>
            <a:r>
              <a:rPr lang="mr-IN" altLang="zh-CN" sz="1500" dirty="0">
                <a:latin typeface="Consolas"/>
                <a:cs typeface="Consolas"/>
              </a:rPr>
              <a:t> = </a:t>
            </a:r>
            <a:r>
              <a:rPr lang="en-US" altLang="zh-CN" sz="1500" dirty="0">
                <a:latin typeface="Consolas"/>
                <a:cs typeface="Consolas"/>
              </a:rPr>
              <a:t>-1</a:t>
            </a:r>
            <a:r>
              <a:rPr lang="mr-IN" altLang="zh-CN" sz="1500" dirty="0">
                <a:latin typeface="Consolas"/>
                <a:cs typeface="Consolas"/>
              </a:rPr>
              <a:t>;</a:t>
            </a:r>
          </a:p>
          <a:p>
            <a:r>
              <a:rPr lang="en-US" altLang="zh-CN" sz="1500" dirty="0">
                <a:latin typeface="Consolas"/>
                <a:cs typeface="Consolas"/>
              </a:rPr>
              <a:t>   unsigned </a:t>
            </a:r>
            <a:r>
              <a:rPr lang="en-US" altLang="zh-CN" sz="1500" dirty="0" err="1">
                <a:latin typeface="Consolas"/>
                <a:cs typeface="Consolas"/>
              </a:rPr>
              <a:t>int</a:t>
            </a:r>
            <a:r>
              <a:rPr lang="en-US" altLang="zh-CN" sz="1500" dirty="0">
                <a:latin typeface="Consolas"/>
                <a:cs typeface="Consolas"/>
              </a:rPr>
              <a:t> b = 1;</a:t>
            </a:r>
          </a:p>
          <a:p>
            <a:endParaRPr lang="en-US" altLang="zh-CN" sz="1500" dirty="0">
              <a:latin typeface="Consolas"/>
              <a:cs typeface="Consolas"/>
            </a:endParaRPr>
          </a:p>
          <a:p>
            <a:r>
              <a:rPr lang="mr-IN" altLang="zh-CN" sz="1500" dirty="0">
                <a:latin typeface="Consolas"/>
                <a:cs typeface="Consolas"/>
              </a:rPr>
              <a:t>   if (</a:t>
            </a:r>
            <a:r>
              <a:rPr lang="en-US" altLang="zh-CN" sz="1500" dirty="0">
                <a:latin typeface="Consolas"/>
                <a:cs typeface="Consolas"/>
              </a:rPr>
              <a:t>a</a:t>
            </a:r>
            <a:r>
              <a:rPr lang="mr-IN" altLang="zh-CN" sz="1500" dirty="0">
                <a:latin typeface="Consolas"/>
                <a:cs typeface="Consolas"/>
              </a:rPr>
              <a:t> &lt; </a:t>
            </a:r>
            <a:r>
              <a:rPr lang="en-US" altLang="zh-CN" sz="1500" dirty="0">
                <a:latin typeface="Consolas"/>
                <a:cs typeface="Consolas"/>
              </a:rPr>
              <a:t> </a:t>
            </a:r>
            <a:r>
              <a:rPr lang="en-US" altLang="zh-CN" sz="1500" dirty="0">
                <a:solidFill>
                  <a:srgbClr val="FF0000"/>
                </a:solidFill>
                <a:latin typeface="Consolas"/>
                <a:cs typeface="Consolas"/>
              </a:rPr>
              <a:t>(</a:t>
            </a:r>
            <a:r>
              <a:rPr lang="en-US" altLang="zh-CN" sz="1500" dirty="0" err="1">
                <a:solidFill>
                  <a:srgbClr val="FF0000"/>
                </a:solidFill>
                <a:latin typeface="Consolas"/>
                <a:cs typeface="Consolas"/>
              </a:rPr>
              <a:t>int</a:t>
            </a:r>
            <a:r>
              <a:rPr lang="en-US" altLang="zh-CN" sz="1500" dirty="0">
                <a:solidFill>
                  <a:srgbClr val="FF0000"/>
                </a:solidFill>
                <a:latin typeface="Consolas"/>
                <a:cs typeface="Consolas"/>
              </a:rPr>
              <a:t>)</a:t>
            </a:r>
            <a:r>
              <a:rPr lang="en-US" altLang="zh-CN" sz="1500" dirty="0">
                <a:latin typeface="Consolas"/>
                <a:cs typeface="Consolas"/>
              </a:rPr>
              <a:t> b</a:t>
            </a:r>
            <a:r>
              <a:rPr lang="mr-IN" altLang="zh-CN" sz="1500" dirty="0">
                <a:latin typeface="Consolas"/>
                <a:cs typeface="Consolas"/>
              </a:rPr>
              <a:t>) {</a:t>
            </a:r>
            <a:endParaRPr lang="en-US" altLang="zh-CN" sz="1500" dirty="0">
              <a:latin typeface="Consolas"/>
              <a:cs typeface="Consolas"/>
            </a:endParaRPr>
          </a:p>
          <a:p>
            <a:endParaRPr lang="mr-IN" altLang="zh-CN" sz="450" dirty="0">
              <a:latin typeface="Consolas"/>
              <a:cs typeface="Consolas"/>
            </a:endParaRPr>
          </a:p>
          <a:p>
            <a:r>
              <a:rPr lang="en-US" altLang="zh-CN" sz="1500" dirty="0">
                <a:latin typeface="Consolas"/>
                <a:cs typeface="Consolas"/>
              </a:rPr>
              <a:t>        printf("%d is smaller than %d\n", a, b);</a:t>
            </a:r>
          </a:p>
          <a:p>
            <a:endParaRPr lang="en-US" altLang="zh-CN" sz="450" dirty="0">
              <a:latin typeface="Consolas"/>
              <a:cs typeface="Consolas"/>
            </a:endParaRPr>
          </a:p>
          <a:p>
            <a:r>
              <a:rPr lang="en-US" altLang="zh-CN" sz="1500" dirty="0">
                <a:latin typeface="Consolas"/>
                <a:cs typeface="Consolas"/>
              </a:rPr>
              <a:t>   } else if (a &gt; </a:t>
            </a:r>
            <a:r>
              <a:rPr lang="en-US" altLang="zh-CN" sz="1500" dirty="0">
                <a:solidFill>
                  <a:srgbClr val="FF0000"/>
                </a:solidFill>
                <a:latin typeface="Consolas"/>
                <a:cs typeface="Consolas"/>
              </a:rPr>
              <a:t>(</a:t>
            </a:r>
            <a:r>
              <a:rPr lang="en-US" altLang="zh-CN" sz="1500" dirty="0" err="1">
                <a:solidFill>
                  <a:srgbClr val="FF0000"/>
                </a:solidFill>
                <a:latin typeface="Consolas"/>
                <a:cs typeface="Consolas"/>
              </a:rPr>
              <a:t>int</a:t>
            </a:r>
            <a:r>
              <a:rPr lang="en-US" altLang="zh-CN" sz="1500" dirty="0">
                <a:solidFill>
                  <a:srgbClr val="FF0000"/>
                </a:solidFill>
                <a:latin typeface="Consolas"/>
                <a:cs typeface="Consolas"/>
              </a:rPr>
              <a:t>)</a:t>
            </a:r>
            <a:r>
              <a:rPr lang="en-US" altLang="zh-CN" sz="1500" dirty="0">
                <a:latin typeface="Consolas"/>
                <a:cs typeface="Consolas"/>
              </a:rPr>
              <a:t> b) {</a:t>
            </a:r>
          </a:p>
          <a:p>
            <a:endParaRPr lang="en-US" altLang="zh-CN" sz="450" dirty="0">
              <a:latin typeface="Consolas"/>
              <a:cs typeface="Consolas"/>
            </a:endParaRPr>
          </a:p>
          <a:p>
            <a:r>
              <a:rPr lang="en-US" altLang="zh-CN" sz="1500" dirty="0">
                <a:latin typeface="Consolas"/>
                <a:cs typeface="Consolas"/>
              </a:rPr>
              <a:t>        printf("%d is larger than %d\n”, a, b);</a:t>
            </a:r>
          </a:p>
          <a:p>
            <a:endParaRPr lang="en-US" altLang="zh-CN" sz="450" dirty="0">
              <a:latin typeface="Consolas"/>
              <a:cs typeface="Consolas"/>
            </a:endParaRPr>
          </a:p>
          <a:p>
            <a:r>
              <a:rPr lang="mr-IN" altLang="zh-CN" sz="1500" dirty="0">
                <a:latin typeface="Consolas"/>
                <a:cs typeface="Consolas"/>
              </a:rPr>
              <a:t>   }</a:t>
            </a:r>
            <a:endParaRPr lang="en-US" altLang="zh-CN" sz="1500" dirty="0">
              <a:latin typeface="Consolas"/>
              <a:cs typeface="Consolas"/>
            </a:endParaRPr>
          </a:p>
          <a:p>
            <a:endParaRPr lang="mr-IN" altLang="zh-CN" sz="1500" dirty="0">
              <a:latin typeface="Consolas"/>
              <a:cs typeface="Consolas"/>
            </a:endParaRPr>
          </a:p>
          <a:p>
            <a:r>
              <a:rPr lang="mr-IN" altLang="zh-CN" sz="1500" dirty="0">
                <a:latin typeface="Consolas"/>
                <a:cs typeface="Consolas"/>
              </a:rPr>
              <a:t>   return 0;</a:t>
            </a:r>
          </a:p>
          <a:p>
            <a:r>
              <a:rPr lang="mr-IN" altLang="zh-CN" sz="1500" dirty="0">
                <a:latin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21095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Operators</a:t>
            </a:r>
            <a:endParaRPr kumimoji="1"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440592" y="2178380"/>
          <a:ext cx="5893459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5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7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latin typeface="Verdana"/>
                          <a:cs typeface="Verdana"/>
                        </a:rPr>
                        <a:t>Arithmetic</a:t>
                      </a:r>
                      <a:endParaRPr lang="zh-CN" altLang="en-US" sz="1800" b="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mr-IN" altLang="zh-CN" sz="1800" b="0" dirty="0">
                          <a:latin typeface="Verdana"/>
                          <a:cs typeface="Verdana"/>
                        </a:rPr>
                        <a:t> +, </a:t>
                      </a:r>
                      <a:r>
                        <a:rPr lang="en-US" altLang="zh-CN" sz="1800" b="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mr-IN" altLang="zh-CN" sz="1800" b="0" dirty="0">
                          <a:latin typeface="Verdana"/>
                          <a:cs typeface="Verdana"/>
                        </a:rPr>
                        <a:t>-, </a:t>
                      </a:r>
                      <a:r>
                        <a:rPr lang="en-US" altLang="zh-CN" sz="1800" b="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mr-IN" altLang="zh-CN" sz="1800" b="0" dirty="0">
                          <a:latin typeface="Verdana"/>
                          <a:cs typeface="Verdana"/>
                        </a:rPr>
                        <a:t>*, </a:t>
                      </a:r>
                      <a:r>
                        <a:rPr lang="en-US" altLang="zh-CN" sz="1800" b="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mr-IN" altLang="zh-CN" sz="1800" b="0" dirty="0">
                          <a:latin typeface="Verdana"/>
                          <a:cs typeface="Verdana"/>
                        </a:rPr>
                        <a:t>/, </a:t>
                      </a:r>
                      <a:r>
                        <a:rPr lang="en-US" altLang="zh-CN" sz="1800" b="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mr-IN" altLang="zh-CN" sz="1800" b="0" dirty="0">
                          <a:latin typeface="Verdana"/>
                          <a:cs typeface="Verdana"/>
                        </a:rPr>
                        <a:t>%, </a:t>
                      </a:r>
                      <a:r>
                        <a:rPr lang="en-US" altLang="zh-CN" sz="1800" b="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mr-IN" altLang="zh-CN" sz="1800" b="0" dirty="0">
                          <a:latin typeface="Verdana"/>
                          <a:cs typeface="Verdana"/>
                        </a:rPr>
                        <a:t>++, </a:t>
                      </a:r>
                      <a:r>
                        <a:rPr lang="en-US" altLang="zh-CN" sz="1800" b="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mr-IN" altLang="zh-CN" sz="1800" b="0" dirty="0">
                          <a:latin typeface="Verdana"/>
                          <a:cs typeface="Verdana"/>
                        </a:rPr>
                        <a:t>--</a:t>
                      </a:r>
                      <a:endParaRPr lang="zh-CN" altLang="en-US" sz="1800" b="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Verdana"/>
                          <a:cs typeface="Verdana"/>
                        </a:rPr>
                        <a:t>Relational</a:t>
                      </a:r>
                      <a:endParaRPr lang="zh-CN" altLang="en-US" sz="18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mr-IN" altLang="zh-CN" sz="1800" dirty="0">
                          <a:latin typeface="Verdana"/>
                          <a:cs typeface="Verdana"/>
                        </a:rPr>
                        <a:t>==, </a:t>
                      </a:r>
                      <a:r>
                        <a:rPr lang="en-US" altLang="zh-CN" sz="18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mr-IN" altLang="zh-CN" sz="1800" dirty="0">
                          <a:latin typeface="Verdana"/>
                          <a:cs typeface="Verdana"/>
                        </a:rPr>
                        <a:t>!=, </a:t>
                      </a:r>
                      <a:r>
                        <a:rPr lang="en-US" altLang="zh-CN" sz="18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mr-IN" altLang="zh-CN" sz="1800" dirty="0">
                          <a:latin typeface="Verdana"/>
                          <a:cs typeface="Verdana"/>
                        </a:rPr>
                        <a:t>&gt;, </a:t>
                      </a:r>
                      <a:r>
                        <a:rPr lang="en-US" altLang="zh-CN" sz="18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mr-IN" altLang="zh-CN" sz="1800" dirty="0">
                          <a:latin typeface="Verdana"/>
                          <a:cs typeface="Verdana"/>
                        </a:rPr>
                        <a:t>&lt;, </a:t>
                      </a:r>
                      <a:r>
                        <a:rPr lang="en-US" altLang="zh-CN" sz="18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mr-IN" altLang="zh-CN" sz="1800" dirty="0">
                          <a:latin typeface="Verdana"/>
                          <a:cs typeface="Verdana"/>
                        </a:rPr>
                        <a:t>&gt;=, </a:t>
                      </a:r>
                      <a:r>
                        <a:rPr lang="en-US" altLang="zh-CN" sz="18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lang="mr-IN" altLang="zh-CN" sz="1800" dirty="0">
                          <a:latin typeface="Verdana"/>
                          <a:cs typeface="Verdana"/>
                        </a:rPr>
                        <a:t>&lt;=</a:t>
                      </a:r>
                      <a:endParaRPr lang="zh-CN" altLang="en-US" sz="18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Verdana"/>
                          <a:cs typeface="Verdana"/>
                        </a:rPr>
                        <a:t>Logical</a:t>
                      </a:r>
                      <a:endParaRPr lang="zh-CN" altLang="en-US" sz="18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hr-HR" altLang="zh-CN" sz="1800" dirty="0">
                          <a:latin typeface="Verdana"/>
                          <a:cs typeface="Verdana"/>
                        </a:rPr>
                        <a:t>&amp;&amp;,  ||,  !</a:t>
                      </a:r>
                      <a:endParaRPr lang="zh-CN" altLang="en-US" sz="18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Verdana"/>
                          <a:cs typeface="Verdana"/>
                        </a:rPr>
                        <a:t>Bitwise</a:t>
                      </a:r>
                      <a:endParaRPr lang="zh-CN" altLang="en-US" sz="18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aseline="0" dirty="0">
                          <a:latin typeface="Verdana"/>
                          <a:cs typeface="Verdana"/>
                        </a:rPr>
                        <a:t>&amp;,  |,  ^,  ~, </a:t>
                      </a:r>
                      <a:r>
                        <a:rPr lang="en-US" altLang="zh-CN" sz="1800" dirty="0">
                          <a:latin typeface="Verdana"/>
                          <a:cs typeface="Verdana"/>
                        </a:rPr>
                        <a:t>&gt;&gt;,</a:t>
                      </a:r>
                      <a:r>
                        <a:rPr lang="en-US" altLang="zh-CN" sz="1800" baseline="0" dirty="0">
                          <a:latin typeface="Verdana"/>
                          <a:cs typeface="Verdana"/>
                        </a:rPr>
                        <a:t>  &lt;&lt;</a:t>
                      </a:r>
                      <a:endParaRPr lang="zh-CN" altLang="en-US" sz="18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1435980" y="4304650"/>
            <a:ext cx="69818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+mj-lt"/>
                <a:cs typeface="Verdana"/>
              </a:rPr>
              <a:t>Arithmetic, Relational and Logical operators are identical to java’s</a:t>
            </a:r>
            <a:endParaRPr lang="zh-CN" alt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21673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4BD65-A272-8332-6899-1A4349584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82376-517D-901E-7ECC-FFC6FABF1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779" y="434046"/>
            <a:ext cx="6172200" cy="857250"/>
          </a:xfrm>
        </p:spPr>
        <p:txBody>
          <a:bodyPr/>
          <a:lstStyle/>
          <a:p>
            <a:r>
              <a:rPr kumimoji="1" lang="en-US" altLang="zh-CN" dirty="0"/>
              <a:t>Bitwise NOT:  ~</a:t>
            </a:r>
            <a:endParaRPr kumimoji="1" lang="zh-CN" altLang="en-US" dirty="0"/>
          </a:p>
        </p:txBody>
      </p:sp>
      <p:sp>
        <p:nvSpPr>
          <p:cNvPr id="18" name="矩形 13">
            <a:extLst>
              <a:ext uri="{FF2B5EF4-FFF2-40B4-BE49-F238E27FC236}">
                <a16:creationId xmlns:a16="http://schemas.microsoft.com/office/drawing/2014/main" id="{55C2F010-AF83-5547-4AEC-E8E875BBE702}"/>
              </a:ext>
            </a:extLst>
          </p:cNvPr>
          <p:cNvSpPr/>
          <p:nvPr/>
        </p:nvSpPr>
        <p:spPr>
          <a:xfrm>
            <a:off x="4656739" y="5532754"/>
            <a:ext cx="2460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Verdana"/>
                <a:cs typeface="Verdana"/>
              </a:rPr>
              <a:t>( 1 0 0 1 0 1 1 0 )</a:t>
            </a:r>
            <a:r>
              <a:rPr kumimoji="1" lang="en-US" altLang="zh-CN" baseline="-25000" dirty="0">
                <a:latin typeface="Verdana"/>
                <a:cs typeface="Verdana"/>
              </a:rPr>
              <a:t>2 </a:t>
            </a:r>
            <a:endParaRPr lang="zh-CN" alt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B1FB401-ED12-802A-E991-D7CCC3A16B29}"/>
              </a:ext>
            </a:extLst>
          </p:cNvPr>
          <p:cNvGrpSpPr/>
          <p:nvPr/>
        </p:nvGrpSpPr>
        <p:grpSpPr>
          <a:xfrm>
            <a:off x="1679304" y="4557956"/>
            <a:ext cx="5383863" cy="585483"/>
            <a:chOff x="1679304" y="4557956"/>
            <a:chExt cx="5383863" cy="585483"/>
          </a:xfrm>
        </p:grpSpPr>
        <p:sp>
          <p:nvSpPr>
            <p:cNvPr id="14" name="矩形 9">
              <a:extLst>
                <a:ext uri="{FF2B5EF4-FFF2-40B4-BE49-F238E27FC236}">
                  <a16:creationId xmlns:a16="http://schemas.microsoft.com/office/drawing/2014/main" id="{D74ED2C0-683F-7372-5703-1860AC7CF56E}"/>
                </a:ext>
              </a:extLst>
            </p:cNvPr>
            <p:cNvSpPr/>
            <p:nvPr/>
          </p:nvSpPr>
          <p:spPr>
            <a:xfrm>
              <a:off x="4656739" y="4557956"/>
              <a:ext cx="240642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dirty="0">
                  <a:latin typeface="Verdana"/>
                  <a:cs typeface="Verdana"/>
                </a:rPr>
                <a:t>( 0 1 1 0 1 0 0 1 )</a:t>
              </a:r>
              <a:r>
                <a:rPr kumimoji="1" lang="en-US" altLang="zh-CN" baseline="-25000" dirty="0">
                  <a:latin typeface="Verdana"/>
                  <a:cs typeface="Verdana"/>
                </a:rPr>
                <a:t>2</a:t>
              </a:r>
              <a:endParaRPr lang="zh-CN" altLang="en-US" dirty="0"/>
            </a:p>
          </p:txBody>
        </p:sp>
        <p:sp>
          <p:nvSpPr>
            <p:cNvPr id="15" name="矩形 11">
              <a:extLst>
                <a:ext uri="{FF2B5EF4-FFF2-40B4-BE49-F238E27FC236}">
                  <a16:creationId xmlns:a16="http://schemas.microsoft.com/office/drawing/2014/main" id="{75C68A0A-22C7-8B95-763E-41216DE43D98}"/>
                </a:ext>
              </a:extLst>
            </p:cNvPr>
            <p:cNvSpPr/>
            <p:nvPr/>
          </p:nvSpPr>
          <p:spPr>
            <a:xfrm>
              <a:off x="4373969" y="4577900"/>
              <a:ext cx="37382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dirty="0">
                  <a:latin typeface="Verdana"/>
                  <a:cs typeface="Verdana"/>
                </a:rPr>
                <a:t>~</a:t>
              </a:r>
              <a:endParaRPr lang="zh-CN" altLang="en-US" dirty="0"/>
            </a:p>
          </p:txBody>
        </p:sp>
        <p:cxnSp>
          <p:nvCxnSpPr>
            <p:cNvPr id="17" name="直线连接符 12">
              <a:extLst>
                <a:ext uri="{FF2B5EF4-FFF2-40B4-BE49-F238E27FC236}">
                  <a16:creationId xmlns:a16="http://schemas.microsoft.com/office/drawing/2014/main" id="{0A311134-1DCC-CAFB-1AF0-9C69F9C21C94}"/>
                </a:ext>
              </a:extLst>
            </p:cNvPr>
            <p:cNvCxnSpPr>
              <a:cxnSpLocks/>
            </p:cNvCxnSpPr>
            <p:nvPr/>
          </p:nvCxnSpPr>
          <p:spPr>
            <a:xfrm>
              <a:off x="4373969" y="4970765"/>
              <a:ext cx="2689198" cy="2787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D424835-B4B3-E571-9DD4-80F0EEA98BFB}"/>
                </a:ext>
              </a:extLst>
            </p:cNvPr>
            <p:cNvSpPr txBox="1"/>
            <p:nvPr/>
          </p:nvSpPr>
          <p:spPr>
            <a:xfrm>
              <a:off x="1679304" y="4727941"/>
              <a:ext cx="1816203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00" dirty="0"/>
                <a:t>result of ~0x69</a:t>
              </a:r>
            </a:p>
          </p:txBody>
        </p: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BC93805-1372-E7E9-D29D-EBBE02EDE561}"/>
              </a:ext>
            </a:extLst>
          </p:cNvPr>
          <p:cNvGraphicFramePr>
            <a:graphicFrameLocks noGrp="1"/>
          </p:cNvGraphicFramePr>
          <p:nvPr/>
        </p:nvGraphicFramePr>
        <p:xfrm>
          <a:off x="3394141" y="2201192"/>
          <a:ext cx="1816204" cy="1028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8102">
                  <a:extLst>
                    <a:ext uri="{9D8B030D-6E8A-4147-A177-3AD203B41FA5}">
                      <a16:colId xmlns:a16="http://schemas.microsoft.com/office/drawing/2014/main" val="3554102759"/>
                    </a:ext>
                  </a:extLst>
                </a:gridCol>
                <a:gridCol w="908102">
                  <a:extLst>
                    <a:ext uri="{9D8B030D-6E8A-4147-A177-3AD203B41FA5}">
                      <a16:colId xmlns:a16="http://schemas.microsoft.com/office/drawing/2014/main" val="4070950088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 NOT x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331235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199623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45399708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28AC505-1D39-30F2-E682-47E4320618BD}"/>
              </a:ext>
            </a:extLst>
          </p:cNvPr>
          <p:cNvCxnSpPr>
            <a:cxnSpLocks/>
            <a:stCxn id="12" idx="0"/>
            <a:endCxn id="12" idx="2"/>
          </p:cNvCxnSpPr>
          <p:nvPr/>
        </p:nvCxnSpPr>
        <p:spPr>
          <a:xfrm>
            <a:off x="4302243" y="2201192"/>
            <a:ext cx="0" cy="1028700"/>
          </a:xfrm>
          <a:prstGeom prst="line">
            <a:avLst/>
          </a:prstGeom>
          <a:ln w="38100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09177B6-ED0D-C8E6-D7EC-D73EC17CE10F}"/>
              </a:ext>
            </a:extLst>
          </p:cNvPr>
          <p:cNvSpPr txBox="1"/>
          <p:nvPr/>
        </p:nvSpPr>
        <p:spPr>
          <a:xfrm>
            <a:off x="1629556" y="3432897"/>
            <a:ext cx="5066002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Operator ~ applies NOT bitwise to two integers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CDE883-2B4C-DB9B-4AD5-F6E8B65F5F2B}"/>
              </a:ext>
            </a:extLst>
          </p:cNvPr>
          <p:cNvSpPr txBox="1"/>
          <p:nvPr/>
        </p:nvSpPr>
        <p:spPr>
          <a:xfrm>
            <a:off x="2265496" y="1757605"/>
            <a:ext cx="4216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Truth table (of </a:t>
            </a:r>
            <a:r>
              <a:rPr lang="en-US" sz="2000" dirty="0" err="1"/>
              <a:t>boolean</a:t>
            </a:r>
            <a:r>
              <a:rPr lang="en-US" sz="2000" dirty="0"/>
              <a:t> function NOT)</a:t>
            </a:r>
          </a:p>
        </p:txBody>
      </p:sp>
    </p:spTree>
    <p:extLst>
      <p:ext uri="{BB962C8B-B14F-4D97-AF65-F5344CB8AC3E}">
        <p14:creationId xmlns:p14="http://schemas.microsoft.com/office/powerpoint/2010/main" val="2670914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Bitwise AND: &amp;</a:t>
            </a:r>
            <a:endParaRPr kumimoji="1"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4473153" y="4930646"/>
            <a:ext cx="24064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Verdana"/>
                <a:cs typeface="Verdana"/>
              </a:rPr>
              <a:t>( 0 1 1 0 1 0 0 1 )</a:t>
            </a:r>
            <a:r>
              <a:rPr kumimoji="1" lang="en-US" altLang="zh-CN" baseline="-25000" dirty="0">
                <a:latin typeface="Verdana"/>
                <a:cs typeface="Verdana"/>
              </a:rPr>
              <a:t>2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4473154" y="5279167"/>
            <a:ext cx="2460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Verdana"/>
                <a:cs typeface="Verdana"/>
              </a:rPr>
              <a:t>( 0 1 0 1 0 1 0 1 )</a:t>
            </a:r>
            <a:r>
              <a:rPr kumimoji="1" lang="en-US" altLang="zh-CN" baseline="-25000" dirty="0">
                <a:latin typeface="Verdana"/>
                <a:cs typeface="Verdana"/>
              </a:rPr>
              <a:t>2 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4190384" y="5296804"/>
            <a:ext cx="3529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Verdana"/>
                <a:cs typeface="Verdana"/>
              </a:rPr>
              <a:t>&amp;</a:t>
            </a:r>
            <a:endParaRPr lang="zh-CN" altLang="en-US" dirty="0"/>
          </a:p>
        </p:txBody>
      </p:sp>
      <p:cxnSp>
        <p:nvCxnSpPr>
          <p:cNvPr id="13" name="直线连接符 12"/>
          <p:cNvCxnSpPr/>
          <p:nvPr/>
        </p:nvCxnSpPr>
        <p:spPr>
          <a:xfrm>
            <a:off x="4190384" y="5689669"/>
            <a:ext cx="26331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4473154" y="6150845"/>
            <a:ext cx="2460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Verdana"/>
                <a:cs typeface="Verdana"/>
              </a:rPr>
              <a:t>( 0 1 0 0 0 0 0 1 )</a:t>
            </a:r>
            <a:r>
              <a:rPr kumimoji="1" lang="en-US" altLang="zh-CN" baseline="-25000" dirty="0">
                <a:latin typeface="Verdana"/>
                <a:cs typeface="Verdana"/>
              </a:rPr>
              <a:t>2 </a:t>
            </a:r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375313" y="5429208"/>
            <a:ext cx="256358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/>
              <a:t>Result of 0x69 &amp; 0x55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ACCB3A8-E861-3543-9963-B406924A73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030398"/>
              </p:ext>
            </p:extLst>
          </p:nvPr>
        </p:nvGraphicFramePr>
        <p:xfrm>
          <a:off x="2735748" y="1939231"/>
          <a:ext cx="2159714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289">
                  <a:extLst>
                    <a:ext uri="{9D8B030D-6E8A-4147-A177-3AD203B41FA5}">
                      <a16:colId xmlns:a16="http://schemas.microsoft.com/office/drawing/2014/main" val="355410275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396206722"/>
                    </a:ext>
                  </a:extLst>
                </a:gridCol>
                <a:gridCol w="982825">
                  <a:extLst>
                    <a:ext uri="{9D8B030D-6E8A-4147-A177-3AD203B41FA5}">
                      <a16:colId xmlns:a16="http://schemas.microsoft.com/office/drawing/2014/main" val="4070950088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x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x AND y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331235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199623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453997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377758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037718630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4143BC-A237-404E-84BA-57E5C567F968}"/>
              </a:ext>
            </a:extLst>
          </p:cNvPr>
          <p:cNvCxnSpPr/>
          <p:nvPr/>
        </p:nvCxnSpPr>
        <p:spPr>
          <a:xfrm>
            <a:off x="3924288" y="1864689"/>
            <a:ext cx="0" cy="1833730"/>
          </a:xfrm>
          <a:prstGeom prst="line">
            <a:avLst/>
          </a:prstGeom>
          <a:ln w="38100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859E130-FAA0-4DC8-ACC7-4C4439DCB4FE}"/>
              </a:ext>
            </a:extLst>
          </p:cNvPr>
          <p:cNvSpPr txBox="1"/>
          <p:nvPr/>
        </p:nvSpPr>
        <p:spPr>
          <a:xfrm>
            <a:off x="2258402" y="1427308"/>
            <a:ext cx="4216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Truth table (of </a:t>
            </a:r>
            <a:r>
              <a:rPr lang="en-US" sz="2000" dirty="0" err="1"/>
              <a:t>boolean</a:t>
            </a:r>
            <a:r>
              <a:rPr lang="en-US" sz="2000" dirty="0"/>
              <a:t> function AND)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08A7F5C-6D59-4E57-8D21-90CFD97D4F31}"/>
              </a:ext>
            </a:extLst>
          </p:cNvPr>
          <p:cNvGrpSpPr/>
          <p:nvPr/>
        </p:nvGrpSpPr>
        <p:grpSpPr>
          <a:xfrm>
            <a:off x="395676" y="2338903"/>
            <a:ext cx="2150964" cy="1314828"/>
            <a:chOff x="395676" y="2494384"/>
            <a:chExt cx="2150964" cy="1314828"/>
          </a:xfrm>
        </p:grpSpPr>
        <p:sp>
          <p:nvSpPr>
            <p:cNvPr id="5" name="Left Brace 4">
              <a:extLst>
                <a:ext uri="{FF2B5EF4-FFF2-40B4-BE49-F238E27FC236}">
                  <a16:creationId xmlns:a16="http://schemas.microsoft.com/office/drawing/2014/main" id="{979720A3-AA75-4FFB-BA1C-D34C03F594F4}"/>
                </a:ext>
              </a:extLst>
            </p:cNvPr>
            <p:cNvSpPr/>
            <p:nvPr/>
          </p:nvSpPr>
          <p:spPr>
            <a:xfrm>
              <a:off x="2168430" y="2494384"/>
              <a:ext cx="378210" cy="1314828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3CEFCA-A5DF-4312-9F3C-137A41D3A1E6}"/>
                </a:ext>
              </a:extLst>
            </p:cNvPr>
            <p:cNvSpPr txBox="1"/>
            <p:nvPr/>
          </p:nvSpPr>
          <p:spPr>
            <a:xfrm>
              <a:off x="395676" y="2551633"/>
              <a:ext cx="167820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How many rows if function has n </a:t>
              </a:r>
              <a:r>
                <a:rPr lang="en-US" dirty="0" err="1"/>
                <a:t>boolean</a:t>
              </a:r>
              <a:r>
                <a:rPr lang="en-US" dirty="0"/>
                <a:t> (aka 1-bit) inputs?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F809A93-447F-4530-8B61-AF3B7CB8E38F}"/>
              </a:ext>
            </a:extLst>
          </p:cNvPr>
          <p:cNvSpPr txBox="1"/>
          <p:nvPr/>
        </p:nvSpPr>
        <p:spPr>
          <a:xfrm>
            <a:off x="522514" y="3595243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  <a:r>
              <a:rPr lang="en-US" sz="2400" baseline="30000" dirty="0"/>
              <a:t>n</a:t>
            </a:r>
            <a:endParaRPr lang="en-US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F9E726-13F6-460D-813C-99F45DE402C7}"/>
              </a:ext>
            </a:extLst>
          </p:cNvPr>
          <p:cNvSpPr txBox="1"/>
          <p:nvPr/>
        </p:nvSpPr>
        <p:spPr>
          <a:xfrm>
            <a:off x="1425076" y="4239995"/>
            <a:ext cx="5130572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Operator &amp; applies AND bitwise to two integers</a:t>
            </a:r>
          </a:p>
        </p:txBody>
      </p:sp>
    </p:spTree>
    <p:extLst>
      <p:ext uri="{BB962C8B-B14F-4D97-AF65-F5344CB8AC3E}">
        <p14:creationId xmlns:p14="http://schemas.microsoft.com/office/powerpoint/2010/main" val="1059648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5" grpId="0"/>
      <p:bldP spid="14" grpId="0"/>
      <p:bldP spid="18" grpId="0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 use of &amp;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85900" y="2057401"/>
            <a:ext cx="6172200" cy="1048545"/>
          </a:xfrm>
        </p:spPr>
        <p:txBody>
          <a:bodyPr>
            <a:normAutofit fontScale="85000" lnSpcReduction="20000"/>
          </a:bodyPr>
          <a:lstStyle/>
          <a:p>
            <a:r>
              <a:rPr kumimoji="1" lang="en-US" altLang="zh-CN" dirty="0">
                <a:latin typeface="Verdana"/>
                <a:cs typeface="Verdana"/>
              </a:rPr>
              <a:t>&amp; is often used to mask off bits</a:t>
            </a:r>
          </a:p>
          <a:p>
            <a:pPr marL="457200" lvl="1" indent="0">
              <a:buNone/>
            </a:pPr>
            <a:r>
              <a:rPr kumimoji="1" lang="en-US" altLang="zh-CN" dirty="0">
                <a:latin typeface="Verdana"/>
                <a:cs typeface="Verdana"/>
              </a:rPr>
              <a:t>b &amp; 0 = 0</a:t>
            </a:r>
          </a:p>
          <a:p>
            <a:pPr marL="457200" lvl="1" indent="0">
              <a:buNone/>
            </a:pPr>
            <a:r>
              <a:rPr kumimoji="1" lang="en-US" altLang="zh-CN" dirty="0">
                <a:latin typeface="Verdana"/>
                <a:cs typeface="Verdana"/>
              </a:rPr>
              <a:t>b &amp; 1 = b</a:t>
            </a:r>
          </a:p>
        </p:txBody>
      </p:sp>
      <p:sp>
        <p:nvSpPr>
          <p:cNvPr id="14" name="矩形 3"/>
          <p:cNvSpPr/>
          <p:nvPr/>
        </p:nvSpPr>
        <p:spPr>
          <a:xfrm>
            <a:off x="1744880" y="3680140"/>
            <a:ext cx="4109901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100" dirty="0" err="1">
                <a:latin typeface="Consolas"/>
                <a:cs typeface="Consolas"/>
              </a:rPr>
              <a:t>int</a:t>
            </a:r>
            <a:r>
              <a:rPr lang="en-US" altLang="zh-CN" sz="2100" dirty="0">
                <a:latin typeface="Consolas"/>
                <a:cs typeface="Consolas"/>
              </a:rPr>
              <a:t> </a:t>
            </a:r>
            <a:r>
              <a:rPr lang="en-US" altLang="zh-CN" sz="2100" dirty="0" err="1">
                <a:latin typeface="Consolas"/>
                <a:cs typeface="Consolas"/>
              </a:rPr>
              <a:t>clear_msb</a:t>
            </a:r>
            <a:r>
              <a:rPr lang="en-US" altLang="zh-CN" sz="2100" dirty="0">
                <a:latin typeface="Consolas"/>
                <a:cs typeface="Consolas"/>
              </a:rPr>
              <a:t>(</a:t>
            </a:r>
            <a:r>
              <a:rPr lang="en-US" altLang="zh-CN" sz="2100" dirty="0" err="1">
                <a:latin typeface="Consolas"/>
                <a:cs typeface="Consolas"/>
              </a:rPr>
              <a:t>int</a:t>
            </a:r>
            <a:r>
              <a:rPr lang="en-US" altLang="zh-CN" sz="2100" dirty="0">
                <a:latin typeface="Consolas"/>
                <a:cs typeface="Consolas"/>
              </a:rPr>
              <a:t> x) {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   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    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}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BDC643E-BA3B-47A1-95BD-D513F1D4CB64}"/>
              </a:ext>
            </a:extLst>
          </p:cNvPr>
          <p:cNvCxnSpPr/>
          <p:nvPr/>
        </p:nvCxnSpPr>
        <p:spPr>
          <a:xfrm flipV="1">
            <a:off x="1433632" y="2673415"/>
            <a:ext cx="582413" cy="151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27B13C-2ADD-4552-8927-4D53A3930EDE}"/>
              </a:ext>
            </a:extLst>
          </p:cNvPr>
          <p:cNvSpPr txBox="1"/>
          <p:nvPr/>
        </p:nvSpPr>
        <p:spPr>
          <a:xfrm>
            <a:off x="713370" y="2774574"/>
            <a:ext cx="93807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b is any bit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3620901-728E-4A7D-B17B-DCFA565C4B02}"/>
              </a:ext>
            </a:extLst>
          </p:cNvPr>
          <p:cNvSpPr/>
          <p:nvPr/>
        </p:nvSpPr>
        <p:spPr>
          <a:xfrm>
            <a:off x="3005114" y="2394213"/>
            <a:ext cx="537612" cy="3168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?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D27ADC4-2CFE-4C20-9A35-EB3BCB33B020}"/>
              </a:ext>
            </a:extLst>
          </p:cNvPr>
          <p:cNvSpPr/>
          <p:nvPr/>
        </p:nvSpPr>
        <p:spPr>
          <a:xfrm>
            <a:off x="3005114" y="2734680"/>
            <a:ext cx="537612" cy="3168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91908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6" grpId="0"/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6196046-F65F-2524-5FD0-7EAE22CCE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C6A6CA-FDBD-655D-A684-74002DCD6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 use of &amp;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49C6C4-2BCB-A3DD-C605-7B04761C3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5900" y="2057401"/>
            <a:ext cx="6172200" cy="1048545"/>
          </a:xfrm>
        </p:spPr>
        <p:txBody>
          <a:bodyPr>
            <a:normAutofit fontScale="85000" lnSpcReduction="20000"/>
          </a:bodyPr>
          <a:lstStyle/>
          <a:p>
            <a:r>
              <a:rPr kumimoji="1" lang="en-US" altLang="zh-CN" dirty="0">
                <a:latin typeface="Verdana"/>
                <a:cs typeface="Verdana"/>
              </a:rPr>
              <a:t>&amp; is often used to mask off bits</a:t>
            </a:r>
          </a:p>
          <a:p>
            <a:pPr marL="457200" lvl="1" indent="0">
              <a:buNone/>
            </a:pPr>
            <a:r>
              <a:rPr kumimoji="1" lang="en-US" altLang="zh-CN" dirty="0">
                <a:latin typeface="Verdana"/>
                <a:cs typeface="Verdana"/>
              </a:rPr>
              <a:t>b &amp; 0 = 0</a:t>
            </a:r>
          </a:p>
          <a:p>
            <a:pPr marL="457200" lvl="1" indent="0">
              <a:buNone/>
            </a:pPr>
            <a:r>
              <a:rPr kumimoji="1" lang="en-US" altLang="zh-CN" dirty="0">
                <a:latin typeface="Verdana"/>
                <a:cs typeface="Verdana"/>
              </a:rPr>
              <a:t>b &amp; 1 = b</a:t>
            </a:r>
          </a:p>
        </p:txBody>
      </p:sp>
      <p:sp>
        <p:nvSpPr>
          <p:cNvPr id="14" name="矩形 3">
            <a:extLst>
              <a:ext uri="{FF2B5EF4-FFF2-40B4-BE49-F238E27FC236}">
                <a16:creationId xmlns:a16="http://schemas.microsoft.com/office/drawing/2014/main" id="{D0EB19F3-67F2-2408-2AB9-6FF314984904}"/>
              </a:ext>
            </a:extLst>
          </p:cNvPr>
          <p:cNvSpPr/>
          <p:nvPr/>
        </p:nvSpPr>
        <p:spPr>
          <a:xfrm>
            <a:off x="1744880" y="3680140"/>
            <a:ext cx="4109901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100" dirty="0" err="1">
                <a:latin typeface="Consolas"/>
                <a:cs typeface="Consolas"/>
              </a:rPr>
              <a:t>int</a:t>
            </a:r>
            <a:r>
              <a:rPr lang="en-US" altLang="zh-CN" sz="2100" dirty="0">
                <a:latin typeface="Consolas"/>
                <a:cs typeface="Consolas"/>
              </a:rPr>
              <a:t> </a:t>
            </a:r>
            <a:r>
              <a:rPr lang="en-US" altLang="zh-CN" sz="2100" dirty="0" err="1">
                <a:latin typeface="Consolas"/>
                <a:cs typeface="Consolas"/>
              </a:rPr>
              <a:t>clear_msb</a:t>
            </a:r>
            <a:r>
              <a:rPr lang="en-US" altLang="zh-CN" sz="2100" dirty="0">
                <a:latin typeface="Consolas"/>
                <a:cs typeface="Consolas"/>
              </a:rPr>
              <a:t>(</a:t>
            </a:r>
            <a:r>
              <a:rPr lang="en-US" altLang="zh-CN" sz="2100" dirty="0" err="1">
                <a:latin typeface="Consolas"/>
                <a:cs typeface="Consolas"/>
              </a:rPr>
              <a:t>int</a:t>
            </a:r>
            <a:r>
              <a:rPr lang="en-US" altLang="zh-CN" sz="2100" dirty="0">
                <a:latin typeface="Consolas"/>
                <a:cs typeface="Consolas"/>
              </a:rPr>
              <a:t> x) {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   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    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16" name="矩形 3">
            <a:extLst>
              <a:ext uri="{FF2B5EF4-FFF2-40B4-BE49-F238E27FC236}">
                <a16:creationId xmlns:a16="http://schemas.microsoft.com/office/drawing/2014/main" id="{B1641475-B362-FDF0-8EA4-C957323EE5FC}"/>
              </a:ext>
            </a:extLst>
          </p:cNvPr>
          <p:cNvSpPr/>
          <p:nvPr/>
        </p:nvSpPr>
        <p:spPr>
          <a:xfrm>
            <a:off x="2079650" y="4164888"/>
            <a:ext cx="4109901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100" dirty="0">
                <a:latin typeface="Consolas"/>
                <a:cs typeface="Consolas"/>
              </a:rPr>
              <a:t>return x &amp; 0x7fffffff;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125C462-A197-BF43-C03A-8BAB8868D672}"/>
              </a:ext>
            </a:extLst>
          </p:cNvPr>
          <p:cNvCxnSpPr/>
          <p:nvPr/>
        </p:nvCxnSpPr>
        <p:spPr>
          <a:xfrm flipV="1">
            <a:off x="1433632" y="2673415"/>
            <a:ext cx="582413" cy="151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6A6F56B-677B-A91E-43EE-34EC24497586}"/>
              </a:ext>
            </a:extLst>
          </p:cNvPr>
          <p:cNvSpPr txBox="1"/>
          <p:nvPr/>
        </p:nvSpPr>
        <p:spPr>
          <a:xfrm>
            <a:off x="713370" y="2774574"/>
            <a:ext cx="93807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b is any bit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A4631C4-CE09-F761-341C-181FBFAEA089}"/>
              </a:ext>
            </a:extLst>
          </p:cNvPr>
          <p:cNvSpPr/>
          <p:nvPr/>
        </p:nvSpPr>
        <p:spPr>
          <a:xfrm>
            <a:off x="3005114" y="2394213"/>
            <a:ext cx="537612" cy="3168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?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B356C2B-A95B-CF25-078D-52DA186D76ED}"/>
              </a:ext>
            </a:extLst>
          </p:cNvPr>
          <p:cNvSpPr/>
          <p:nvPr/>
        </p:nvSpPr>
        <p:spPr>
          <a:xfrm>
            <a:off x="3005114" y="2734680"/>
            <a:ext cx="537612" cy="3168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16587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/>
      <p:bldP spid="6" grpId="0"/>
      <p:bldP spid="7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944E5-D4EF-ACF4-E096-8AA9B57A8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8F3AB2-0776-A721-D2B5-0881F4A13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 use of &amp;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74CF28-F36D-7A19-E4C0-785BF65FF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116" y="1201570"/>
            <a:ext cx="8488017" cy="484747"/>
          </a:xfrm>
        </p:spPr>
        <p:txBody>
          <a:bodyPr>
            <a:normAutofit/>
          </a:bodyPr>
          <a:lstStyle/>
          <a:p>
            <a:r>
              <a:rPr kumimoji="1" lang="en-US" altLang="zh-CN" sz="2400" dirty="0">
                <a:latin typeface="Verdana"/>
                <a:cs typeface="Verdana"/>
              </a:rPr>
              <a:t>Suppose a file’s permission is encoded in 3 bits</a:t>
            </a:r>
          </a:p>
        </p:txBody>
      </p:sp>
      <p:sp>
        <p:nvSpPr>
          <p:cNvPr id="14" name="矩形 3">
            <a:extLst>
              <a:ext uri="{FF2B5EF4-FFF2-40B4-BE49-F238E27FC236}">
                <a16:creationId xmlns:a16="http://schemas.microsoft.com/office/drawing/2014/main" id="{25B19D25-DC67-E5DC-8ABF-4AD90801A3A7}"/>
              </a:ext>
            </a:extLst>
          </p:cNvPr>
          <p:cNvSpPr/>
          <p:nvPr/>
        </p:nvSpPr>
        <p:spPr>
          <a:xfrm>
            <a:off x="1136084" y="3423555"/>
            <a:ext cx="7156507" cy="22467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/>
                <a:cs typeface="Consolas"/>
              </a:rPr>
              <a:t>void </a:t>
            </a:r>
            <a:r>
              <a:rPr lang="en-US" altLang="zh-CN" sz="2000" dirty="0" err="1">
                <a:latin typeface="Consolas"/>
                <a:cs typeface="Consolas"/>
              </a:rPr>
              <a:t>check_write_permission</a:t>
            </a:r>
            <a:r>
              <a:rPr lang="en-US" altLang="zh-CN" sz="2000" dirty="0">
                <a:latin typeface="Consolas"/>
                <a:cs typeface="Consolas"/>
              </a:rPr>
              <a:t>(char perm) {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  if (   ???           ) {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       </a:t>
            </a:r>
            <a:r>
              <a:rPr lang="en-US" altLang="zh-CN" sz="2000" dirty="0" err="1">
                <a:latin typeface="Consolas"/>
                <a:cs typeface="Consolas"/>
              </a:rPr>
              <a:t>printf</a:t>
            </a:r>
            <a:r>
              <a:rPr lang="en-US" altLang="zh-CN" sz="2000" dirty="0">
                <a:latin typeface="Consolas"/>
                <a:cs typeface="Consolas"/>
              </a:rPr>
              <a:t>("Has write permission\n");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   } else {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       </a:t>
            </a:r>
            <a:r>
              <a:rPr lang="en-US" altLang="zh-CN" sz="2000" dirty="0" err="1">
                <a:latin typeface="Consolas"/>
                <a:cs typeface="Consolas"/>
              </a:rPr>
              <a:t>printf</a:t>
            </a:r>
            <a:r>
              <a:rPr lang="en-US" altLang="zh-CN" sz="2000" dirty="0">
                <a:latin typeface="Consolas"/>
                <a:cs typeface="Consolas"/>
              </a:rPr>
              <a:t>("No write permission\n");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   }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}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A79F81-4338-A874-A558-B4B86B7ADA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319415"/>
              </p:ext>
            </p:extLst>
          </p:nvPr>
        </p:nvGraphicFramePr>
        <p:xfrm>
          <a:off x="2474225" y="1910911"/>
          <a:ext cx="3543816" cy="574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7">
                  <a:extLst>
                    <a:ext uri="{9D8B030D-6E8A-4147-A177-3AD203B41FA5}">
                      <a16:colId xmlns:a16="http://schemas.microsoft.com/office/drawing/2014/main" val="4267882219"/>
                    </a:ext>
                  </a:extLst>
                </a:gridCol>
                <a:gridCol w="442977">
                  <a:extLst>
                    <a:ext uri="{9D8B030D-6E8A-4147-A177-3AD203B41FA5}">
                      <a16:colId xmlns:a16="http://schemas.microsoft.com/office/drawing/2014/main" val="3428289288"/>
                    </a:ext>
                  </a:extLst>
                </a:gridCol>
                <a:gridCol w="442977">
                  <a:extLst>
                    <a:ext uri="{9D8B030D-6E8A-4147-A177-3AD203B41FA5}">
                      <a16:colId xmlns:a16="http://schemas.microsoft.com/office/drawing/2014/main" val="3642483824"/>
                    </a:ext>
                  </a:extLst>
                </a:gridCol>
                <a:gridCol w="442977">
                  <a:extLst>
                    <a:ext uri="{9D8B030D-6E8A-4147-A177-3AD203B41FA5}">
                      <a16:colId xmlns:a16="http://schemas.microsoft.com/office/drawing/2014/main" val="706746633"/>
                    </a:ext>
                  </a:extLst>
                </a:gridCol>
                <a:gridCol w="442977">
                  <a:extLst>
                    <a:ext uri="{9D8B030D-6E8A-4147-A177-3AD203B41FA5}">
                      <a16:colId xmlns:a16="http://schemas.microsoft.com/office/drawing/2014/main" val="1731921975"/>
                    </a:ext>
                  </a:extLst>
                </a:gridCol>
                <a:gridCol w="442977">
                  <a:extLst>
                    <a:ext uri="{9D8B030D-6E8A-4147-A177-3AD203B41FA5}">
                      <a16:colId xmlns:a16="http://schemas.microsoft.com/office/drawing/2014/main" val="1483671498"/>
                    </a:ext>
                  </a:extLst>
                </a:gridCol>
                <a:gridCol w="442977">
                  <a:extLst>
                    <a:ext uri="{9D8B030D-6E8A-4147-A177-3AD203B41FA5}">
                      <a16:colId xmlns:a16="http://schemas.microsoft.com/office/drawing/2014/main" val="2356139515"/>
                    </a:ext>
                  </a:extLst>
                </a:gridCol>
                <a:gridCol w="442977">
                  <a:extLst>
                    <a:ext uri="{9D8B030D-6E8A-4147-A177-3AD203B41FA5}">
                      <a16:colId xmlns:a16="http://schemas.microsoft.com/office/drawing/2014/main" val="254985928"/>
                    </a:ext>
                  </a:extLst>
                </a:gridCol>
              </a:tblGrid>
              <a:tr h="5741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24854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29C10E8-A21D-BC65-8942-BE70B9214556}"/>
              </a:ext>
            </a:extLst>
          </p:cNvPr>
          <p:cNvSpPr txBox="1"/>
          <p:nvPr/>
        </p:nvSpPr>
        <p:spPr>
          <a:xfrm>
            <a:off x="5603139" y="1495591"/>
            <a:ext cx="42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baseline="-250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F45A8E-9FE9-EEDA-4305-F2CEDAD35116}"/>
              </a:ext>
            </a:extLst>
          </p:cNvPr>
          <p:cNvSpPr txBox="1"/>
          <p:nvPr/>
        </p:nvSpPr>
        <p:spPr>
          <a:xfrm>
            <a:off x="5178083" y="1514269"/>
            <a:ext cx="42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baseline="-250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BDD3CA-26C5-BDDE-57B4-732EF113C101}"/>
              </a:ext>
            </a:extLst>
          </p:cNvPr>
          <p:cNvSpPr txBox="1"/>
          <p:nvPr/>
        </p:nvSpPr>
        <p:spPr>
          <a:xfrm>
            <a:off x="4681125" y="1520897"/>
            <a:ext cx="42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baseline="-250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C0E2ED-F919-9AE9-F3D3-A1B08D0CDD03}"/>
              </a:ext>
            </a:extLst>
          </p:cNvPr>
          <p:cNvSpPr txBox="1"/>
          <p:nvPr/>
        </p:nvSpPr>
        <p:spPr>
          <a:xfrm>
            <a:off x="4289283" y="1492311"/>
            <a:ext cx="42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baseline="-250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58CF1F-AA27-4B23-9420-B185B46F6A4A}"/>
              </a:ext>
            </a:extLst>
          </p:cNvPr>
          <p:cNvSpPr txBox="1"/>
          <p:nvPr/>
        </p:nvSpPr>
        <p:spPr>
          <a:xfrm>
            <a:off x="3846103" y="1471412"/>
            <a:ext cx="42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baseline="-250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39C8AE-F310-0E35-A38F-F53AE5F316CD}"/>
              </a:ext>
            </a:extLst>
          </p:cNvPr>
          <p:cNvSpPr txBox="1"/>
          <p:nvPr/>
        </p:nvSpPr>
        <p:spPr>
          <a:xfrm>
            <a:off x="3422166" y="1474513"/>
            <a:ext cx="42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baseline="-250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8D3443-2616-688D-129B-F51C4118E89E}"/>
              </a:ext>
            </a:extLst>
          </p:cNvPr>
          <p:cNvSpPr txBox="1"/>
          <p:nvPr/>
        </p:nvSpPr>
        <p:spPr>
          <a:xfrm>
            <a:off x="2918943" y="1495412"/>
            <a:ext cx="42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baseline="-250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227004-BBBE-7EFD-6CFB-6EA6CB6DA783}"/>
              </a:ext>
            </a:extLst>
          </p:cNvPr>
          <p:cNvSpPr txBox="1"/>
          <p:nvPr/>
        </p:nvSpPr>
        <p:spPr>
          <a:xfrm>
            <a:off x="2474225" y="1508046"/>
            <a:ext cx="42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baseline="-250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6B48F0-FBBF-BEDC-2137-256344F60E7E}"/>
              </a:ext>
            </a:extLst>
          </p:cNvPr>
          <p:cNvSpPr txBox="1"/>
          <p:nvPr/>
        </p:nvSpPr>
        <p:spPr>
          <a:xfrm>
            <a:off x="6412015" y="2351161"/>
            <a:ext cx="1489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X:executable</a:t>
            </a:r>
            <a:r>
              <a:rPr lang="en-US" dirty="0"/>
              <a:t>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9E40C4-CFCE-A4D0-B008-4246A4B04580}"/>
              </a:ext>
            </a:extLst>
          </p:cNvPr>
          <p:cNvSpPr txBox="1"/>
          <p:nvPr/>
        </p:nvSpPr>
        <p:spPr>
          <a:xfrm>
            <a:off x="6412015" y="2720493"/>
            <a:ext cx="1332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W:writable</a:t>
            </a:r>
            <a:r>
              <a:rPr lang="en-US" dirty="0"/>
              <a:t>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5F6285-E723-98B7-4184-FDAD5DB09299}"/>
              </a:ext>
            </a:extLst>
          </p:cNvPr>
          <p:cNvSpPr txBox="1"/>
          <p:nvPr/>
        </p:nvSpPr>
        <p:spPr>
          <a:xfrm>
            <a:off x="6425736" y="3098843"/>
            <a:ext cx="1305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R:readable</a:t>
            </a:r>
            <a:r>
              <a:rPr lang="en-US" dirty="0"/>
              <a:t>?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51D2B7A7-80DF-2AF2-5AA6-2377C2E0A8B9}"/>
              </a:ext>
            </a:extLst>
          </p:cNvPr>
          <p:cNvSpPr/>
          <p:nvPr/>
        </p:nvSpPr>
        <p:spPr>
          <a:xfrm>
            <a:off x="5791200" y="2504660"/>
            <a:ext cx="662609" cy="148373"/>
          </a:xfrm>
          <a:custGeom>
            <a:avLst/>
            <a:gdLst>
              <a:gd name="csX0" fmla="*/ 662609 w 662609"/>
              <a:gd name="csY0" fmla="*/ 79513 h 148373"/>
              <a:gd name="csX1" fmla="*/ 238539 w 662609"/>
              <a:gd name="csY1" fmla="*/ 145774 h 148373"/>
              <a:gd name="csX2" fmla="*/ 0 w 662609"/>
              <a:gd name="csY2" fmla="*/ 0 h 1483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62609" h="148373">
                <a:moveTo>
                  <a:pt x="662609" y="79513"/>
                </a:moveTo>
                <a:cubicBezTo>
                  <a:pt x="505791" y="119269"/>
                  <a:pt x="348974" y="159026"/>
                  <a:pt x="238539" y="145774"/>
                </a:cubicBezTo>
                <a:cubicBezTo>
                  <a:pt x="128104" y="132522"/>
                  <a:pt x="64052" y="66261"/>
                  <a:pt x="0" y="0"/>
                </a:cubicBezTo>
              </a:path>
            </a:pathLst>
          </a:custGeom>
          <a:noFill/>
          <a:ln w="28575">
            <a:solidFill>
              <a:schemeClr val="accent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88604A54-90A2-7DE9-F829-0B2531A43F48}"/>
              </a:ext>
            </a:extLst>
          </p:cNvPr>
          <p:cNvSpPr/>
          <p:nvPr/>
        </p:nvSpPr>
        <p:spPr>
          <a:xfrm>
            <a:off x="5367130" y="2584173"/>
            <a:ext cx="1073427" cy="393018"/>
          </a:xfrm>
          <a:custGeom>
            <a:avLst/>
            <a:gdLst>
              <a:gd name="csX0" fmla="*/ 1073427 w 1073427"/>
              <a:gd name="csY0" fmla="*/ 318052 h 393018"/>
              <a:gd name="csX1" fmla="*/ 331305 w 1073427"/>
              <a:gd name="csY1" fmla="*/ 371061 h 393018"/>
              <a:gd name="csX2" fmla="*/ 0 w 1073427"/>
              <a:gd name="csY2" fmla="*/ 0 h 3930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73427" h="393018">
                <a:moveTo>
                  <a:pt x="1073427" y="318052"/>
                </a:moveTo>
                <a:cubicBezTo>
                  <a:pt x="791818" y="371061"/>
                  <a:pt x="510209" y="424070"/>
                  <a:pt x="331305" y="371061"/>
                </a:cubicBezTo>
                <a:cubicBezTo>
                  <a:pt x="152401" y="318052"/>
                  <a:pt x="76200" y="159026"/>
                  <a:pt x="0" y="0"/>
                </a:cubicBezTo>
              </a:path>
            </a:pathLst>
          </a:custGeom>
          <a:noFill/>
          <a:ln w="28575">
            <a:solidFill>
              <a:schemeClr val="accent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17435538-03E7-138B-4DD5-4C9A7228C17C}"/>
              </a:ext>
            </a:extLst>
          </p:cNvPr>
          <p:cNvSpPr/>
          <p:nvPr/>
        </p:nvSpPr>
        <p:spPr>
          <a:xfrm>
            <a:off x="4916557" y="2623929"/>
            <a:ext cx="1550504" cy="730852"/>
          </a:xfrm>
          <a:custGeom>
            <a:avLst/>
            <a:gdLst>
              <a:gd name="csX0" fmla="*/ 1550504 w 1550504"/>
              <a:gd name="csY0" fmla="*/ 675861 h 730852"/>
              <a:gd name="csX1" fmla="*/ 291547 w 1550504"/>
              <a:gd name="csY1" fmla="*/ 662609 h 730852"/>
              <a:gd name="csX2" fmla="*/ 0 w 1550504"/>
              <a:gd name="csY2" fmla="*/ 0 h 7308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50504" h="730852">
                <a:moveTo>
                  <a:pt x="1550504" y="675861"/>
                </a:moveTo>
                <a:cubicBezTo>
                  <a:pt x="1050234" y="725556"/>
                  <a:pt x="549964" y="775252"/>
                  <a:pt x="291547" y="662609"/>
                </a:cubicBezTo>
                <a:cubicBezTo>
                  <a:pt x="33130" y="549966"/>
                  <a:pt x="16565" y="274983"/>
                  <a:pt x="0" y="0"/>
                </a:cubicBezTo>
              </a:path>
            </a:pathLst>
          </a:custGeom>
          <a:noFill/>
          <a:ln w="28575">
            <a:solidFill>
              <a:schemeClr val="accent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D90E1B-2FFD-6537-993C-FC4A97CEBB98}"/>
              </a:ext>
            </a:extLst>
          </p:cNvPr>
          <p:cNvSpPr txBox="1"/>
          <p:nvPr/>
        </p:nvSpPr>
        <p:spPr>
          <a:xfrm>
            <a:off x="2229830" y="3794026"/>
            <a:ext cx="1828801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perm &amp; 0x02</a:t>
            </a:r>
          </a:p>
        </p:txBody>
      </p:sp>
      <p:sp>
        <p:nvSpPr>
          <p:cNvPr id="31" name="矩形 3">
            <a:extLst>
              <a:ext uri="{FF2B5EF4-FFF2-40B4-BE49-F238E27FC236}">
                <a16:creationId xmlns:a16="http://schemas.microsoft.com/office/drawing/2014/main" id="{6A3F8E75-FCFF-D296-D928-6609653778A5}"/>
              </a:ext>
            </a:extLst>
          </p:cNvPr>
          <p:cNvSpPr/>
          <p:nvPr/>
        </p:nvSpPr>
        <p:spPr>
          <a:xfrm>
            <a:off x="1147299" y="5796171"/>
            <a:ext cx="7156507" cy="1015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/>
                <a:cs typeface="Consolas"/>
              </a:rPr>
              <a:t>char </a:t>
            </a:r>
            <a:r>
              <a:rPr lang="en-US" altLang="zh-CN" sz="2000" dirty="0" err="1">
                <a:latin typeface="Consolas"/>
                <a:cs typeface="Consolas"/>
              </a:rPr>
              <a:t>clear_write_permission</a:t>
            </a:r>
            <a:r>
              <a:rPr lang="en-US" altLang="zh-CN" sz="2000" dirty="0">
                <a:latin typeface="Consolas"/>
                <a:cs typeface="Consolas"/>
              </a:rPr>
              <a:t>(char perm) {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  return ??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E58CD1B-FD41-1944-0557-9F8455D7EBD0}"/>
              </a:ext>
            </a:extLst>
          </p:cNvPr>
          <p:cNvSpPr txBox="1"/>
          <p:nvPr/>
        </p:nvSpPr>
        <p:spPr>
          <a:xfrm>
            <a:off x="2659758" y="6166470"/>
            <a:ext cx="1828801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perm &amp; ~0x02</a:t>
            </a:r>
          </a:p>
        </p:txBody>
      </p:sp>
    </p:spTree>
    <p:extLst>
      <p:ext uri="{BB962C8B-B14F-4D97-AF65-F5344CB8AC3E}">
        <p14:creationId xmlns:p14="http://schemas.microsoft.com/office/powerpoint/2010/main" val="259268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0" grpId="0" animBg="1"/>
      <p:bldP spid="31" grpId="0" animBg="1"/>
      <p:bldP spid="3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Bitwise OR: |</a:t>
            </a:r>
            <a:endParaRPr kumimoji="1"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4651412" y="5532254"/>
            <a:ext cx="2460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Verdana"/>
                <a:cs typeface="Verdana"/>
              </a:rPr>
              <a:t>( 0 1 1 1 1 1 0 1 )</a:t>
            </a:r>
            <a:r>
              <a:rPr kumimoji="1" lang="en-US" altLang="zh-CN" baseline="-25000" dirty="0">
                <a:latin typeface="Verdana"/>
                <a:cs typeface="Verdana"/>
              </a:rPr>
              <a:t>2 </a:t>
            </a:r>
            <a:endParaRPr lang="zh-CN" alt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E08D6F2-FF78-4B1F-A2B8-BB2F67412DFF}"/>
              </a:ext>
            </a:extLst>
          </p:cNvPr>
          <p:cNvGrpSpPr/>
          <p:nvPr/>
        </p:nvGrpSpPr>
        <p:grpSpPr>
          <a:xfrm>
            <a:off x="1491991" y="4302988"/>
            <a:ext cx="5647603" cy="873142"/>
            <a:chOff x="1491991" y="4302988"/>
            <a:chExt cx="5647603" cy="873142"/>
          </a:xfrm>
        </p:grpSpPr>
        <p:sp>
          <p:nvSpPr>
            <p:cNvPr id="10" name="矩形 9"/>
            <p:cNvSpPr/>
            <p:nvPr/>
          </p:nvSpPr>
          <p:spPr>
            <a:xfrm>
              <a:off x="4678663" y="4302988"/>
              <a:ext cx="240642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latin typeface="Verdana"/>
                  <a:cs typeface="Verdana"/>
                </a:rPr>
                <a:t>( 0 1 1 0 1 0 0 1 )</a:t>
              </a:r>
              <a:r>
                <a:rPr kumimoji="1" lang="en-US" altLang="zh-CN" baseline="-25000" dirty="0">
                  <a:latin typeface="Verdana"/>
                  <a:cs typeface="Verdana"/>
                </a:rPr>
                <a:t>2</a:t>
              </a:r>
              <a:endParaRPr lang="zh-CN" alt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4678664" y="4651509"/>
              <a:ext cx="24609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latin typeface="Verdana"/>
                  <a:cs typeface="Verdana"/>
                </a:rPr>
                <a:t>( 0 1 0 1 0 1 0 1 )</a:t>
              </a:r>
              <a:r>
                <a:rPr kumimoji="1" lang="en-US" altLang="zh-CN" baseline="-25000" dirty="0">
                  <a:latin typeface="Verdana"/>
                  <a:cs typeface="Verdana"/>
                </a:rPr>
                <a:t>2 </a:t>
              </a:r>
              <a:endParaRPr lang="zh-CN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4395893" y="4669146"/>
              <a:ext cx="2888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latin typeface="Verdana"/>
                  <a:cs typeface="Verdana"/>
                </a:rPr>
                <a:t>|</a:t>
              </a:r>
              <a:endParaRPr lang="zh-CN" altLang="en-US" dirty="0"/>
            </a:p>
          </p:txBody>
        </p:sp>
        <p:cxnSp>
          <p:nvCxnSpPr>
            <p:cNvPr id="13" name="直线连接符 12"/>
            <p:cNvCxnSpPr/>
            <p:nvPr/>
          </p:nvCxnSpPr>
          <p:spPr>
            <a:xfrm>
              <a:off x="4395894" y="5062011"/>
              <a:ext cx="263311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1491991" y="4760632"/>
              <a:ext cx="2502673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dirty="0"/>
                <a:t>Result of 0x69 | 0x55</a:t>
              </a:r>
            </a:p>
          </p:txBody>
        </p:sp>
      </p:grp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7993FD2-4304-204A-974D-C513784F09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227181"/>
              </p:ext>
            </p:extLst>
          </p:nvPr>
        </p:nvGraphicFramePr>
        <p:xfrm>
          <a:off x="2735747" y="1667864"/>
          <a:ext cx="2221917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231">
                  <a:extLst>
                    <a:ext uri="{9D8B030D-6E8A-4147-A177-3AD203B41FA5}">
                      <a16:colId xmlns:a16="http://schemas.microsoft.com/office/drawing/2014/main" val="3554102759"/>
                    </a:ext>
                  </a:extLst>
                </a:gridCol>
                <a:gridCol w="647231">
                  <a:extLst>
                    <a:ext uri="{9D8B030D-6E8A-4147-A177-3AD203B41FA5}">
                      <a16:colId xmlns:a16="http://schemas.microsoft.com/office/drawing/2014/main" val="2396206722"/>
                    </a:ext>
                  </a:extLst>
                </a:gridCol>
                <a:gridCol w="927455">
                  <a:extLst>
                    <a:ext uri="{9D8B030D-6E8A-4147-A177-3AD203B41FA5}">
                      <a16:colId xmlns:a16="http://schemas.microsoft.com/office/drawing/2014/main" val="4070950088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x OR y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331235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199623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453997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377758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037718630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1B628F-90B9-8F4B-9758-5083E752F6EE}"/>
              </a:ext>
            </a:extLst>
          </p:cNvPr>
          <p:cNvCxnSpPr/>
          <p:nvPr/>
        </p:nvCxnSpPr>
        <p:spPr>
          <a:xfrm>
            <a:off x="3994664" y="1593322"/>
            <a:ext cx="0" cy="1833730"/>
          </a:xfrm>
          <a:prstGeom prst="line">
            <a:avLst/>
          </a:prstGeom>
          <a:ln w="38100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DF0ED8F-1D39-46CE-B2C3-66EC3081D97B}"/>
              </a:ext>
            </a:extLst>
          </p:cNvPr>
          <p:cNvSpPr txBox="1"/>
          <p:nvPr/>
        </p:nvSpPr>
        <p:spPr>
          <a:xfrm>
            <a:off x="1491991" y="3661514"/>
            <a:ext cx="4912563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Operator | applies OR bitwise to two integers</a:t>
            </a:r>
          </a:p>
        </p:txBody>
      </p:sp>
    </p:spTree>
    <p:extLst>
      <p:ext uri="{BB962C8B-B14F-4D97-AF65-F5344CB8AC3E}">
        <p14:creationId xmlns:p14="http://schemas.microsoft.com/office/powerpoint/2010/main" val="2631870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 use of |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85900" y="2057401"/>
            <a:ext cx="6172200" cy="1048545"/>
          </a:xfrm>
        </p:spPr>
        <p:txBody>
          <a:bodyPr>
            <a:normAutofit fontScale="85000" lnSpcReduction="20000"/>
          </a:bodyPr>
          <a:lstStyle/>
          <a:p>
            <a:r>
              <a:rPr kumimoji="1" lang="en-US" altLang="zh-CN" dirty="0">
                <a:latin typeface="Verdana"/>
                <a:cs typeface="Verdana"/>
              </a:rPr>
              <a:t>| can be used to turn some bits on</a:t>
            </a:r>
          </a:p>
          <a:p>
            <a:pPr marL="457200" lvl="1" indent="0">
              <a:buNone/>
            </a:pPr>
            <a:r>
              <a:rPr kumimoji="1" lang="en-US" altLang="zh-CN" dirty="0">
                <a:latin typeface="Verdana"/>
                <a:cs typeface="Verdana"/>
              </a:rPr>
              <a:t>b | 1 = 1</a:t>
            </a:r>
          </a:p>
          <a:p>
            <a:pPr marL="457200" lvl="1" indent="0">
              <a:buNone/>
            </a:pPr>
            <a:r>
              <a:rPr kumimoji="1" lang="en-US" altLang="zh-CN" dirty="0">
                <a:latin typeface="Verdana"/>
                <a:cs typeface="Verdana"/>
              </a:rPr>
              <a:t>b | 0 = b</a:t>
            </a:r>
          </a:p>
          <a:p>
            <a:pPr lvl="1"/>
            <a:endParaRPr kumimoji="1" lang="en-US" altLang="zh-CN" dirty="0">
              <a:latin typeface="Verdana"/>
              <a:cs typeface="Verdana"/>
            </a:endParaRPr>
          </a:p>
          <a:p>
            <a:pPr lvl="1"/>
            <a:endParaRPr kumimoji="1" lang="en-US" altLang="zh-CN" dirty="0">
              <a:latin typeface="Verdana"/>
              <a:cs typeface="Verdana"/>
            </a:endParaRPr>
          </a:p>
          <a:p>
            <a:pPr marL="342900" lvl="1" indent="0">
              <a:buNone/>
            </a:pP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12" name="矩形 3"/>
          <p:cNvSpPr/>
          <p:nvPr/>
        </p:nvSpPr>
        <p:spPr>
          <a:xfrm>
            <a:off x="1744880" y="3680140"/>
            <a:ext cx="6172200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100" dirty="0">
                <a:latin typeface="Consolas"/>
                <a:cs typeface="Consolas"/>
              </a:rPr>
              <a:t>char </a:t>
            </a:r>
            <a:r>
              <a:rPr lang="en-US" altLang="zh-CN" sz="2100" dirty="0" err="1">
                <a:latin typeface="Consolas"/>
                <a:cs typeface="Consolas"/>
              </a:rPr>
              <a:t>set_write_permission</a:t>
            </a:r>
            <a:r>
              <a:rPr lang="en-US" altLang="zh-CN" sz="2100" dirty="0">
                <a:latin typeface="Consolas"/>
                <a:cs typeface="Consolas"/>
              </a:rPr>
              <a:t>(char x) {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   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    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13" name="矩形 3"/>
          <p:cNvSpPr/>
          <p:nvPr/>
        </p:nvSpPr>
        <p:spPr>
          <a:xfrm>
            <a:off x="2183038" y="4204117"/>
            <a:ext cx="4109901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100" dirty="0">
                <a:latin typeface="Consolas"/>
                <a:cs typeface="Consolas"/>
              </a:rPr>
              <a:t>return x | 0x02;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08613C-5221-4886-910B-CFEE3950C336}"/>
              </a:ext>
            </a:extLst>
          </p:cNvPr>
          <p:cNvSpPr/>
          <p:nvPr/>
        </p:nvSpPr>
        <p:spPr>
          <a:xfrm>
            <a:off x="2953421" y="2382567"/>
            <a:ext cx="640998" cy="3168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?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DA7AF2D-43B1-4F31-B534-5DD71A95632E}"/>
              </a:ext>
            </a:extLst>
          </p:cNvPr>
          <p:cNvSpPr/>
          <p:nvPr/>
        </p:nvSpPr>
        <p:spPr>
          <a:xfrm>
            <a:off x="2953421" y="2740646"/>
            <a:ext cx="640998" cy="3168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76736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Bitwise XOR: ^</a:t>
            </a:r>
            <a:endParaRPr kumimoji="1" lang="zh-CN" alt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F081AF-8F8A-47FA-AC6F-24976984FEB4}"/>
              </a:ext>
            </a:extLst>
          </p:cNvPr>
          <p:cNvGrpSpPr/>
          <p:nvPr/>
        </p:nvGrpSpPr>
        <p:grpSpPr>
          <a:xfrm>
            <a:off x="1673099" y="4585725"/>
            <a:ext cx="5302698" cy="759023"/>
            <a:chOff x="1673099" y="4585725"/>
            <a:chExt cx="5302698" cy="759023"/>
          </a:xfrm>
        </p:grpSpPr>
        <p:sp>
          <p:nvSpPr>
            <p:cNvPr id="15" name="TextBox 14"/>
            <p:cNvSpPr txBox="1"/>
            <p:nvPr/>
          </p:nvSpPr>
          <p:spPr>
            <a:xfrm>
              <a:off x="1673099" y="4794176"/>
              <a:ext cx="2341988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dirty="0"/>
                <a:t>result of 0x69^0x55</a:t>
              </a:r>
            </a:p>
          </p:txBody>
        </p:sp>
        <p:sp>
          <p:nvSpPr>
            <p:cNvPr id="17" name="矩形 9"/>
            <p:cNvSpPr/>
            <p:nvPr/>
          </p:nvSpPr>
          <p:spPr>
            <a:xfrm>
              <a:off x="4514867" y="4585725"/>
              <a:ext cx="240642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latin typeface="Verdana"/>
                  <a:cs typeface="Verdana"/>
                </a:rPr>
                <a:t>( 0 1 1 0 1 0 0 1 )</a:t>
              </a:r>
              <a:r>
                <a:rPr kumimoji="1" lang="en-US" altLang="zh-CN" baseline="-25000" dirty="0">
                  <a:latin typeface="Verdana"/>
                  <a:cs typeface="Verdana"/>
                </a:rPr>
                <a:t>2</a:t>
              </a:r>
              <a:endParaRPr lang="zh-CN" altLang="en-US" dirty="0"/>
            </a:p>
          </p:txBody>
        </p:sp>
        <p:sp>
          <p:nvSpPr>
            <p:cNvPr id="18" name="矩形 10"/>
            <p:cNvSpPr/>
            <p:nvPr/>
          </p:nvSpPr>
          <p:spPr>
            <a:xfrm>
              <a:off x="4514867" y="4934246"/>
              <a:ext cx="24609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latin typeface="Verdana"/>
                  <a:cs typeface="Verdana"/>
                </a:rPr>
                <a:t>( 0 1 0 1 0 1 0 1 )</a:t>
              </a:r>
              <a:r>
                <a:rPr kumimoji="1" lang="en-US" altLang="zh-CN" baseline="-25000" dirty="0">
                  <a:latin typeface="Verdana"/>
                  <a:cs typeface="Verdana"/>
                </a:rPr>
                <a:t>2 </a:t>
              </a:r>
              <a:endParaRPr lang="zh-CN" altLang="en-US" dirty="0"/>
            </a:p>
          </p:txBody>
        </p:sp>
        <p:sp>
          <p:nvSpPr>
            <p:cNvPr id="19" name="矩形 11"/>
            <p:cNvSpPr/>
            <p:nvPr/>
          </p:nvSpPr>
          <p:spPr>
            <a:xfrm>
              <a:off x="4232097" y="4951883"/>
              <a:ext cx="3738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latin typeface="Verdana"/>
                  <a:cs typeface="Verdana"/>
                </a:rPr>
                <a:t>^</a:t>
              </a:r>
              <a:endParaRPr lang="zh-CN" altLang="en-US" dirty="0"/>
            </a:p>
          </p:txBody>
        </p:sp>
        <p:cxnSp>
          <p:nvCxnSpPr>
            <p:cNvPr id="20" name="直线连接符 12"/>
            <p:cNvCxnSpPr/>
            <p:nvPr/>
          </p:nvCxnSpPr>
          <p:spPr>
            <a:xfrm>
              <a:off x="4232097" y="5344748"/>
              <a:ext cx="263311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" name="矩形 13"/>
          <p:cNvSpPr/>
          <p:nvPr/>
        </p:nvSpPr>
        <p:spPr>
          <a:xfrm>
            <a:off x="4537627" y="5943620"/>
            <a:ext cx="2460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Verdana"/>
                <a:cs typeface="Verdana"/>
              </a:rPr>
              <a:t>( 0 0 1 1 1 1 0 0 )</a:t>
            </a:r>
            <a:r>
              <a:rPr kumimoji="1" lang="en-US" altLang="zh-CN" baseline="-25000" dirty="0">
                <a:latin typeface="Verdana"/>
                <a:cs typeface="Verdana"/>
              </a:rPr>
              <a:t>2 </a:t>
            </a:r>
            <a:endParaRPr lang="zh-CN" alt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E43FB73-6063-554E-9C69-69F446176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638967"/>
              </p:ext>
            </p:extLst>
          </p:nvPr>
        </p:nvGraphicFramePr>
        <p:xfrm>
          <a:off x="3489317" y="1582824"/>
          <a:ext cx="2090389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287">
                  <a:extLst>
                    <a:ext uri="{9D8B030D-6E8A-4147-A177-3AD203B41FA5}">
                      <a16:colId xmlns:a16="http://schemas.microsoft.com/office/drawing/2014/main" val="3554102759"/>
                    </a:ext>
                  </a:extLst>
                </a:gridCol>
                <a:gridCol w="603380">
                  <a:extLst>
                    <a:ext uri="{9D8B030D-6E8A-4147-A177-3AD203B41FA5}">
                      <a16:colId xmlns:a16="http://schemas.microsoft.com/office/drawing/2014/main" val="2396206722"/>
                    </a:ext>
                  </a:extLst>
                </a:gridCol>
                <a:gridCol w="951722">
                  <a:extLst>
                    <a:ext uri="{9D8B030D-6E8A-4147-A177-3AD203B41FA5}">
                      <a16:colId xmlns:a16="http://schemas.microsoft.com/office/drawing/2014/main" val="4070950088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x XOR y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331235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199623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453997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377758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037718630"/>
                  </a:ext>
                </a:extLst>
              </a:tr>
            </a:tbl>
          </a:graphicData>
        </a:graphic>
      </p:graphicFrame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B0032A3-6704-6142-AB7F-F78219E1E6B8}"/>
              </a:ext>
            </a:extLst>
          </p:cNvPr>
          <p:cNvCxnSpPr/>
          <p:nvPr/>
        </p:nvCxnSpPr>
        <p:spPr>
          <a:xfrm>
            <a:off x="4668206" y="1508282"/>
            <a:ext cx="0" cy="1833730"/>
          </a:xfrm>
          <a:prstGeom prst="line">
            <a:avLst/>
          </a:prstGeom>
          <a:ln w="38100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01DDE1C-C26A-4911-A221-7D1EB31DE713}"/>
              </a:ext>
            </a:extLst>
          </p:cNvPr>
          <p:cNvSpPr txBox="1"/>
          <p:nvPr/>
        </p:nvSpPr>
        <p:spPr>
          <a:xfrm>
            <a:off x="1673099" y="3624062"/>
            <a:ext cx="5048113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Operator ^ applies XOR bitwise to two integers</a:t>
            </a:r>
          </a:p>
        </p:txBody>
      </p:sp>
    </p:spTree>
    <p:extLst>
      <p:ext uri="{BB962C8B-B14F-4D97-AF65-F5344CB8AC3E}">
        <p14:creationId xmlns:p14="http://schemas.microsoft.com/office/powerpoint/2010/main" val="81589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3016E-5E15-375E-C836-009AAB87E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335A89-273B-D782-65B5-4E21790DE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 use of XOR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873F54-5511-2E98-7DE3-BF0F52D11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5900" y="2057401"/>
            <a:ext cx="6172200" cy="1048545"/>
          </a:xfrm>
        </p:spPr>
        <p:txBody>
          <a:bodyPr>
            <a:normAutofit fontScale="70000" lnSpcReduction="20000"/>
          </a:bodyPr>
          <a:lstStyle/>
          <a:p>
            <a:r>
              <a:rPr kumimoji="1" lang="en-US" altLang="zh-CN" dirty="0">
                <a:latin typeface="Verdana"/>
                <a:cs typeface="Verdana"/>
              </a:rPr>
              <a:t>^ can be used to selectively toggle a bit</a:t>
            </a:r>
          </a:p>
          <a:p>
            <a:pPr marL="457200" lvl="1" indent="0">
              <a:buNone/>
            </a:pPr>
            <a:r>
              <a:rPr kumimoji="1" lang="en-US" altLang="zh-CN" dirty="0">
                <a:latin typeface="Verdana"/>
                <a:cs typeface="Verdana"/>
              </a:rPr>
              <a:t>b ^ 1 = ~b</a:t>
            </a:r>
          </a:p>
          <a:p>
            <a:pPr marL="457200" lvl="1" indent="0">
              <a:buNone/>
            </a:pPr>
            <a:r>
              <a:rPr kumimoji="1" lang="en-US" altLang="zh-CN" dirty="0">
                <a:latin typeface="Verdana"/>
                <a:cs typeface="Verdana"/>
              </a:rPr>
              <a:t>b ^ 0 = b</a:t>
            </a:r>
          </a:p>
          <a:p>
            <a:pPr lvl="1"/>
            <a:endParaRPr kumimoji="1" lang="en-US" altLang="zh-CN" dirty="0">
              <a:latin typeface="Verdana"/>
              <a:cs typeface="Verdana"/>
            </a:endParaRPr>
          </a:p>
          <a:p>
            <a:pPr lvl="1"/>
            <a:endParaRPr kumimoji="1" lang="en-US" altLang="zh-CN" dirty="0">
              <a:latin typeface="Verdana"/>
              <a:cs typeface="Verdana"/>
            </a:endParaRPr>
          </a:p>
          <a:p>
            <a:pPr marL="342900" lvl="1" indent="0">
              <a:buNone/>
            </a:pP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12" name="矩形 3">
            <a:extLst>
              <a:ext uri="{FF2B5EF4-FFF2-40B4-BE49-F238E27FC236}">
                <a16:creationId xmlns:a16="http://schemas.microsoft.com/office/drawing/2014/main" id="{4B08D755-D985-2C74-0AE3-D34BE39FC543}"/>
              </a:ext>
            </a:extLst>
          </p:cNvPr>
          <p:cNvSpPr/>
          <p:nvPr/>
        </p:nvSpPr>
        <p:spPr>
          <a:xfrm>
            <a:off x="1744880" y="3680140"/>
            <a:ext cx="6172200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100" dirty="0">
                <a:latin typeface="Consolas"/>
                <a:cs typeface="Consolas"/>
              </a:rPr>
              <a:t>char </a:t>
            </a:r>
            <a:r>
              <a:rPr lang="en-US" altLang="zh-CN" sz="2100" dirty="0" err="1">
                <a:latin typeface="Consolas"/>
                <a:cs typeface="Consolas"/>
              </a:rPr>
              <a:t>toggle_write_permission</a:t>
            </a:r>
            <a:r>
              <a:rPr lang="en-US" altLang="zh-CN" sz="2100" dirty="0">
                <a:latin typeface="Consolas"/>
                <a:cs typeface="Consolas"/>
              </a:rPr>
              <a:t>(char x) {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   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    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13" name="矩形 3">
            <a:extLst>
              <a:ext uri="{FF2B5EF4-FFF2-40B4-BE49-F238E27FC236}">
                <a16:creationId xmlns:a16="http://schemas.microsoft.com/office/drawing/2014/main" id="{E8E6DF6D-CC68-B7B0-F1D1-8ACB0A12B6F3}"/>
              </a:ext>
            </a:extLst>
          </p:cNvPr>
          <p:cNvSpPr/>
          <p:nvPr/>
        </p:nvSpPr>
        <p:spPr>
          <a:xfrm>
            <a:off x="2183038" y="4204117"/>
            <a:ext cx="4109901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100" dirty="0">
                <a:latin typeface="Consolas"/>
                <a:cs typeface="Consolas"/>
              </a:rPr>
              <a:t>return x ^ 0x02;</a:t>
            </a:r>
          </a:p>
        </p:txBody>
      </p:sp>
    </p:spTree>
    <p:extLst>
      <p:ext uri="{BB962C8B-B14F-4D97-AF65-F5344CB8AC3E}">
        <p14:creationId xmlns:p14="http://schemas.microsoft.com/office/powerpoint/2010/main" val="3945567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Bitwise left-shift: &lt;&lt;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32992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>
                <a:latin typeface="+mj-lt"/>
                <a:cs typeface="Verdana"/>
              </a:rPr>
              <a:t>x &lt;&lt; y, treat x as a bit-vector, shift x left by y positions</a:t>
            </a:r>
          </a:p>
          <a:p>
            <a:pPr lvl="1"/>
            <a:r>
              <a:rPr kumimoji="1" lang="en-US" altLang="zh-CN" dirty="0">
                <a:latin typeface="+mj-lt"/>
                <a:cs typeface="Verdana"/>
              </a:rPr>
              <a:t>Throw away bits shifted out on the left</a:t>
            </a:r>
          </a:p>
          <a:p>
            <a:pPr lvl="1"/>
            <a:r>
              <a:rPr kumimoji="1" lang="en-US" altLang="zh-CN" dirty="0">
                <a:latin typeface="+mj-lt"/>
                <a:cs typeface="Verdana"/>
              </a:rPr>
              <a:t>Fill in 0’s on the right</a:t>
            </a:r>
          </a:p>
          <a:p>
            <a:pPr marL="42863" indent="0">
              <a:buNone/>
            </a:pPr>
            <a:endParaRPr kumimoji="1" lang="en-US" altLang="zh-CN" dirty="0">
              <a:latin typeface="Verdana"/>
              <a:cs typeface="Verdana"/>
            </a:endParaRPr>
          </a:p>
          <a:p>
            <a:endParaRPr kumimoji="1" lang="en-US" altLang="zh-CN" dirty="0">
              <a:latin typeface="Verdana"/>
              <a:cs typeface="Verdana"/>
            </a:endParaRPr>
          </a:p>
          <a:p>
            <a:pPr marL="342900" lvl="1" indent="0">
              <a:buNone/>
            </a:pP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E7A595-2689-45C4-B586-E4A93C28CAC4}"/>
              </a:ext>
            </a:extLst>
          </p:cNvPr>
          <p:cNvSpPr txBox="1"/>
          <p:nvPr/>
        </p:nvSpPr>
        <p:spPr>
          <a:xfrm>
            <a:off x="4059442" y="4870579"/>
            <a:ext cx="2432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800" dirty="0">
                <a:latin typeface="Verdana"/>
                <a:cs typeface="Verdana"/>
              </a:rPr>
              <a:t>=(0 1 0 0 1 0 0 0)</a:t>
            </a:r>
            <a:r>
              <a:rPr kumimoji="1" lang="en-US" altLang="zh-CN" baseline="-25000" dirty="0">
                <a:latin typeface="Verdana"/>
                <a:cs typeface="Verdana"/>
              </a:rPr>
              <a:t>2</a:t>
            </a:r>
            <a:endParaRPr lang="zh-CN" alt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7CD520-EA8A-4259-A380-5D3C9222EE6C}"/>
              </a:ext>
            </a:extLst>
          </p:cNvPr>
          <p:cNvSpPr txBox="1"/>
          <p:nvPr/>
        </p:nvSpPr>
        <p:spPr>
          <a:xfrm>
            <a:off x="4059442" y="3868776"/>
            <a:ext cx="232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800" dirty="0">
                <a:latin typeface="Verdana"/>
                <a:cs typeface="Verdana"/>
              </a:rPr>
              <a:t>(0 1 1 0 1 0 0 1)</a:t>
            </a:r>
            <a:r>
              <a:rPr kumimoji="1" lang="en-US" altLang="zh-CN" sz="1800" baseline="-25000" dirty="0">
                <a:latin typeface="Verdana"/>
                <a:cs typeface="Verdana"/>
              </a:rPr>
              <a:t>2</a:t>
            </a:r>
            <a:r>
              <a:rPr kumimoji="1" lang="en-US" altLang="zh-CN" sz="1800" dirty="0">
                <a:latin typeface="Verdana"/>
                <a:cs typeface="Verdana"/>
              </a:rPr>
              <a:t> </a:t>
            </a:r>
            <a:endParaRPr lang="zh-CN" alt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941B2F-33C7-4D8E-B638-620FBF7FA4FC}"/>
              </a:ext>
            </a:extLst>
          </p:cNvPr>
          <p:cNvSpPr txBox="1"/>
          <p:nvPr/>
        </p:nvSpPr>
        <p:spPr>
          <a:xfrm>
            <a:off x="1075145" y="3852460"/>
            <a:ext cx="26052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aseline="0" dirty="0">
                <a:latin typeface="Verdana"/>
                <a:cs typeface="Verdana"/>
              </a:rPr>
              <a:t>result of </a:t>
            </a:r>
            <a:r>
              <a:rPr lang="en-US" altLang="zh-CN" sz="2000" baseline="0" dirty="0">
                <a:latin typeface="Consolas" panose="020B0609020204030204" pitchFamily="49" charset="0"/>
                <a:cs typeface="Verdana"/>
              </a:rPr>
              <a:t>0x69&lt;&lt;3 </a:t>
            </a:r>
            <a:r>
              <a:rPr lang="en-US" altLang="zh-CN" sz="2000" baseline="0" dirty="0">
                <a:latin typeface="Verdana"/>
                <a:cs typeface="Verdana"/>
              </a:rPr>
              <a:t>?</a:t>
            </a:r>
            <a:endParaRPr lang="zh-CN" altLang="en-US" sz="2000" dirty="0">
              <a:solidFill>
                <a:srgbClr val="FF0000"/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450927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Bitwise right-shift: &gt;&gt;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3616" y="2057401"/>
            <a:ext cx="7893698" cy="1581538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zh-CN" dirty="0">
                <a:latin typeface="+mj-lt"/>
                <a:cs typeface="Verdana"/>
              </a:rPr>
              <a:t>x &gt;&gt; y, shift bit-vector x right by y positions</a:t>
            </a:r>
          </a:p>
          <a:p>
            <a:pPr lvl="1"/>
            <a:r>
              <a:rPr kumimoji="1" lang="en-US" altLang="zh-CN" dirty="0">
                <a:latin typeface="+mj-lt"/>
                <a:cs typeface="Verdana"/>
              </a:rPr>
              <a:t>Throw away bits shifted out on the right</a:t>
            </a:r>
          </a:p>
          <a:p>
            <a:pPr lvl="1"/>
            <a:r>
              <a:rPr kumimoji="1" lang="en-US" altLang="zh-CN" b="1" dirty="0">
                <a:latin typeface="+mj-lt"/>
                <a:cs typeface="Verdana"/>
              </a:rPr>
              <a:t>Logical shift</a:t>
            </a:r>
            <a:r>
              <a:rPr kumimoji="1" lang="en-US" altLang="zh-CN" dirty="0">
                <a:latin typeface="+mj-lt"/>
                <a:cs typeface="Verdana"/>
              </a:rPr>
              <a:t>: Fill with 0’s on left</a:t>
            </a:r>
          </a:p>
          <a:p>
            <a:pPr lvl="1"/>
            <a:r>
              <a:rPr kumimoji="1" lang="en-US" altLang="zh-CN" b="1" dirty="0">
                <a:latin typeface="+mj-lt"/>
                <a:cs typeface="Verdana"/>
              </a:rPr>
              <a:t>Arithmetic shift</a:t>
            </a:r>
            <a:r>
              <a:rPr kumimoji="1" lang="en-US" altLang="zh-CN" dirty="0">
                <a:latin typeface="+mj-lt"/>
                <a:cs typeface="Verdana"/>
              </a:rPr>
              <a:t>: Replicate </a:t>
            </a:r>
            <a:r>
              <a:rPr kumimoji="1" lang="en-US" altLang="zh-CN" dirty="0" err="1">
                <a:latin typeface="+mj-lt"/>
                <a:cs typeface="Verdana"/>
              </a:rPr>
              <a:t>msb</a:t>
            </a:r>
            <a:r>
              <a:rPr kumimoji="1" lang="en-US" altLang="zh-CN" dirty="0">
                <a:latin typeface="+mj-lt"/>
                <a:cs typeface="Verdana"/>
              </a:rPr>
              <a:t> on the left</a:t>
            </a:r>
          </a:p>
          <a:p>
            <a:pPr marL="457200" lvl="1" indent="0">
              <a:buNone/>
            </a:pPr>
            <a:endParaRPr kumimoji="1" lang="en-US" altLang="zh-CN" dirty="0">
              <a:latin typeface="+mj-lt"/>
              <a:cs typeface="Verdana"/>
            </a:endParaRPr>
          </a:p>
          <a:p>
            <a:endParaRPr kumimoji="1" lang="en-US" altLang="zh-CN" dirty="0">
              <a:latin typeface="Verdana"/>
              <a:cs typeface="Verdana"/>
            </a:endParaRPr>
          </a:p>
          <a:p>
            <a:pPr marL="342900" lvl="1" indent="0">
              <a:buNone/>
            </a:pP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B2E905-FE02-44C4-801A-5535BB1DFD7D}"/>
              </a:ext>
            </a:extLst>
          </p:cNvPr>
          <p:cNvSpPr txBox="1"/>
          <p:nvPr/>
        </p:nvSpPr>
        <p:spPr>
          <a:xfrm>
            <a:off x="628881" y="4021719"/>
            <a:ext cx="42378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aseline="0" dirty="0"/>
              <a:t>Result of (logical) right-shift: 0xa9 &gt;&gt; 3 </a:t>
            </a:r>
            <a:endParaRPr lang="zh-CN" altLang="en-US" sz="2000" dirty="0">
              <a:solidFill>
                <a:srgbClr val="FF0000"/>
              </a:solidFill>
              <a:latin typeface="Verdana"/>
              <a:cs typeface="Verdan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D7C27E-E857-4A78-AAA3-8D9C7EB7EF60}"/>
              </a:ext>
            </a:extLst>
          </p:cNvPr>
          <p:cNvSpPr txBox="1"/>
          <p:nvPr/>
        </p:nvSpPr>
        <p:spPr>
          <a:xfrm>
            <a:off x="5466122" y="3995829"/>
            <a:ext cx="19287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(1 0 1 0 1 0 0 1)</a:t>
            </a:r>
            <a:r>
              <a:rPr kumimoji="1" lang="en-US" altLang="zh-CN" sz="2000" baseline="-25000" dirty="0"/>
              <a:t>2</a:t>
            </a:r>
            <a:r>
              <a:rPr kumimoji="1" lang="en-US" altLang="zh-CN" sz="2000" dirty="0"/>
              <a:t> </a:t>
            </a:r>
            <a:endParaRPr lang="zh-CN" alt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B27C8E-3AFA-4D86-B69B-BD98314419C2}"/>
              </a:ext>
            </a:extLst>
          </p:cNvPr>
          <p:cNvSpPr txBox="1"/>
          <p:nvPr/>
        </p:nvSpPr>
        <p:spPr>
          <a:xfrm>
            <a:off x="5337080" y="4630170"/>
            <a:ext cx="19992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=(</a:t>
            </a:r>
            <a:r>
              <a:rPr kumimoji="1" lang="en-US" altLang="zh-CN" sz="2000" dirty="0">
                <a:solidFill>
                  <a:srgbClr val="FF0000"/>
                </a:solidFill>
              </a:rPr>
              <a:t>0 0 0 </a:t>
            </a:r>
            <a:r>
              <a:rPr kumimoji="1" lang="en-US" altLang="zh-CN" sz="2000" dirty="0"/>
              <a:t>1</a:t>
            </a:r>
            <a:r>
              <a:rPr kumimoji="1" lang="en-US" altLang="zh-CN" sz="2000" baseline="0" dirty="0"/>
              <a:t> 0</a:t>
            </a:r>
            <a:r>
              <a:rPr kumimoji="1" lang="en-US" altLang="zh-CN" sz="2000" dirty="0"/>
              <a:t> 1 0 1)</a:t>
            </a:r>
            <a:r>
              <a:rPr kumimoji="1" lang="en-US" altLang="zh-CN" sz="2000" baseline="-25000" dirty="0"/>
              <a:t>2</a:t>
            </a:r>
            <a:endParaRPr lang="zh-CN" alt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CFEDB5-F7A0-4C3F-918B-9347485C38FB}"/>
              </a:ext>
            </a:extLst>
          </p:cNvPr>
          <p:cNvSpPr txBox="1"/>
          <p:nvPr/>
        </p:nvSpPr>
        <p:spPr>
          <a:xfrm>
            <a:off x="619550" y="5286995"/>
            <a:ext cx="46554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aseline="0" dirty="0"/>
              <a:t>Result of (arithmetic) right-shift: 0xa9 &gt;&gt; 3 </a:t>
            </a:r>
            <a:endParaRPr lang="zh-CN" altLang="en-US" sz="2000" dirty="0">
              <a:solidFill>
                <a:srgbClr val="FF0000"/>
              </a:solidFill>
              <a:latin typeface="Verdana"/>
              <a:cs typeface="Verdan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2B5840-0D81-44AA-AAF7-84719A444FCB}"/>
              </a:ext>
            </a:extLst>
          </p:cNvPr>
          <p:cNvSpPr txBox="1"/>
          <p:nvPr/>
        </p:nvSpPr>
        <p:spPr>
          <a:xfrm>
            <a:off x="5337080" y="5385379"/>
            <a:ext cx="19992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=(</a:t>
            </a:r>
            <a:r>
              <a:rPr kumimoji="1" lang="en-US" altLang="zh-CN" sz="2000" dirty="0">
                <a:solidFill>
                  <a:srgbClr val="FF0000"/>
                </a:solidFill>
              </a:rPr>
              <a:t>1 1 1</a:t>
            </a:r>
            <a:r>
              <a:rPr kumimoji="1" lang="en-US" altLang="zh-CN" sz="2000" baseline="0" dirty="0">
                <a:solidFill>
                  <a:srgbClr val="FF0000"/>
                </a:solidFill>
              </a:rPr>
              <a:t> </a:t>
            </a:r>
            <a:r>
              <a:rPr kumimoji="1" lang="en-US" altLang="zh-CN" sz="2000" baseline="0" dirty="0"/>
              <a:t>1</a:t>
            </a:r>
            <a:r>
              <a:rPr kumimoji="1" lang="en-US" altLang="zh-CN" sz="2000" baseline="0" dirty="0">
                <a:solidFill>
                  <a:srgbClr val="FF0000"/>
                </a:solidFill>
              </a:rPr>
              <a:t> </a:t>
            </a:r>
            <a:r>
              <a:rPr kumimoji="1" lang="en-US" altLang="zh-CN" sz="2000" baseline="0" dirty="0"/>
              <a:t>0</a:t>
            </a:r>
            <a:r>
              <a:rPr kumimoji="1" lang="en-US" altLang="zh-CN" sz="2000" dirty="0"/>
              <a:t> 1 0 1)</a:t>
            </a:r>
            <a:r>
              <a:rPr kumimoji="1" lang="en-US" altLang="zh-CN" sz="2000" baseline="-25000" dirty="0"/>
              <a:t>2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012479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/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Which shift is used in C ?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61188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>
                <a:latin typeface="+mj-lt"/>
              </a:rPr>
              <a:t>Arithmetic shift for signed numbers</a:t>
            </a:r>
          </a:p>
          <a:p>
            <a:pPr marL="0" indent="0">
              <a:buNone/>
            </a:pPr>
            <a:r>
              <a:rPr kumimoji="1" lang="en-US" altLang="zh-CN" dirty="0">
                <a:latin typeface="+mj-lt"/>
              </a:rPr>
              <a:t>Logical shifting on unsigned numbers</a:t>
            </a:r>
            <a:endParaRPr kumimoji="1" lang="zh-CN" altLang="en-US" dirty="0">
              <a:latin typeface="+mj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85384" y="3026791"/>
            <a:ext cx="2001833" cy="16312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mr-IN" altLang="zh-CN" sz="2000" dirty="0">
                <a:latin typeface="Consolas"/>
                <a:cs typeface="Consolas"/>
              </a:rPr>
              <a:t>int </a:t>
            </a:r>
            <a:r>
              <a:rPr lang="en-US" altLang="zh-CN" sz="2000" dirty="0">
                <a:latin typeface="Consolas"/>
                <a:cs typeface="Consolas"/>
              </a:rPr>
              <a:t>a</a:t>
            </a:r>
            <a:r>
              <a:rPr lang="mr-IN" altLang="zh-CN" sz="2000" dirty="0">
                <a:latin typeface="Consolas"/>
                <a:cs typeface="Consolas"/>
              </a:rPr>
              <a:t> = 1;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a = a&gt;&gt;31;</a:t>
            </a:r>
          </a:p>
          <a:p>
            <a:endParaRPr lang="en-US" altLang="zh-CN" sz="2000" dirty="0">
              <a:latin typeface="Consolas"/>
              <a:cs typeface="Consolas"/>
            </a:endParaRPr>
          </a:p>
          <a:p>
            <a:r>
              <a:rPr lang="en-US" altLang="zh-CN" sz="2000" dirty="0">
                <a:latin typeface="Consolas"/>
                <a:cs typeface="Consolas"/>
              </a:rPr>
              <a:t>int b = -1;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b = b &gt;&gt;31;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385" y="4842301"/>
            <a:ext cx="2064036" cy="4154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Consolas"/>
                <a:cs typeface="Consolas"/>
              </a:rPr>
              <a:t>a=0   b=-1</a:t>
            </a:r>
          </a:p>
        </p:txBody>
      </p:sp>
      <p:sp>
        <p:nvSpPr>
          <p:cNvPr id="15" name="矩形 3">
            <a:extLst>
              <a:ext uri="{FF2B5EF4-FFF2-40B4-BE49-F238E27FC236}">
                <a16:creationId xmlns:a16="http://schemas.microsoft.com/office/drawing/2014/main" id="{A3C5EA85-73F8-40D6-9029-D413F8E8C0B4}"/>
              </a:ext>
            </a:extLst>
          </p:cNvPr>
          <p:cNvSpPr/>
          <p:nvPr/>
        </p:nvSpPr>
        <p:spPr>
          <a:xfrm>
            <a:off x="5079532" y="3026791"/>
            <a:ext cx="2913692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/>
                <a:cs typeface="Consolas"/>
              </a:rPr>
              <a:t>unsigned int b = -1;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b = b &gt;&gt;30;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5DDE2E-29DF-4853-96F3-C283764459AF}"/>
              </a:ext>
            </a:extLst>
          </p:cNvPr>
          <p:cNvSpPr txBox="1"/>
          <p:nvPr/>
        </p:nvSpPr>
        <p:spPr>
          <a:xfrm>
            <a:off x="5091974" y="3842399"/>
            <a:ext cx="2064036" cy="4154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Consolas"/>
                <a:cs typeface="Consolas"/>
              </a:rPr>
              <a:t>b =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3CDFD0-E89B-4DCF-AE51-B33C68BD2D35}"/>
              </a:ext>
            </a:extLst>
          </p:cNvPr>
          <p:cNvSpPr txBox="1"/>
          <p:nvPr/>
        </p:nvSpPr>
        <p:spPr>
          <a:xfrm>
            <a:off x="1067370" y="4849995"/>
            <a:ext cx="441649" cy="400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??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974336-77F3-4981-A8F8-CD4DE1EC35A5}"/>
              </a:ext>
            </a:extLst>
          </p:cNvPr>
          <p:cNvSpPr txBox="1"/>
          <p:nvPr/>
        </p:nvSpPr>
        <p:spPr>
          <a:xfrm>
            <a:off x="1908395" y="4849995"/>
            <a:ext cx="441649" cy="400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??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142A7F-48B1-4622-9456-C2ECAAE3E8ED}"/>
              </a:ext>
            </a:extLst>
          </p:cNvPr>
          <p:cNvSpPr txBox="1"/>
          <p:nvPr/>
        </p:nvSpPr>
        <p:spPr>
          <a:xfrm>
            <a:off x="5682343" y="3857787"/>
            <a:ext cx="441649" cy="400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3159612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61FF7-F894-A74C-86A6-CD013014D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use of shift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1C1F24-3333-E84E-B5E0-3AA8C30C9A90}"/>
              </a:ext>
            </a:extLst>
          </p:cNvPr>
          <p:cNvSpPr/>
          <p:nvPr/>
        </p:nvSpPr>
        <p:spPr>
          <a:xfrm>
            <a:off x="1205985" y="1794300"/>
            <a:ext cx="7123142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100" dirty="0">
                <a:latin typeface="Consolas"/>
                <a:cs typeface="Consolas"/>
              </a:rPr>
              <a:t>int </a:t>
            </a:r>
            <a:r>
              <a:rPr lang="en-US" altLang="zh-CN" sz="2100" dirty="0" err="1">
                <a:latin typeface="Consolas"/>
                <a:cs typeface="Consolas"/>
              </a:rPr>
              <a:t>multiply_by_powers_of</a:t>
            </a:r>
            <a:r>
              <a:rPr lang="en-US" altLang="zh-CN" sz="2100" dirty="0">
                <a:latin typeface="Consolas"/>
                <a:cs typeface="Consolas"/>
              </a:rPr>
              <a:t> two(int x, int p) 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{</a:t>
            </a:r>
          </a:p>
          <a:p>
            <a:endParaRPr lang="en-US" altLang="zh-CN" sz="2100" dirty="0">
              <a:latin typeface="Consolas"/>
              <a:cs typeface="Consolas"/>
            </a:endParaRPr>
          </a:p>
          <a:p>
            <a:r>
              <a:rPr lang="en-US" altLang="zh-CN" sz="21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B586E551-8CD4-794A-AB56-E2F35F57F4D7}"/>
              </a:ext>
            </a:extLst>
          </p:cNvPr>
          <p:cNvSpPr/>
          <p:nvPr/>
        </p:nvSpPr>
        <p:spPr>
          <a:xfrm>
            <a:off x="1971467" y="2323036"/>
            <a:ext cx="2743199" cy="4154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100" dirty="0">
                <a:latin typeface="Consolas"/>
                <a:cs typeface="Consolas"/>
              </a:rPr>
              <a:t>return x &lt;&lt; p;</a:t>
            </a:r>
          </a:p>
        </p:txBody>
      </p:sp>
      <p:sp>
        <p:nvSpPr>
          <p:cNvPr id="3" name="矩形 3">
            <a:extLst>
              <a:ext uri="{FF2B5EF4-FFF2-40B4-BE49-F238E27FC236}">
                <a16:creationId xmlns:a16="http://schemas.microsoft.com/office/drawing/2014/main" id="{FEB0D25E-1248-487C-AE5B-BA90BACC7585}"/>
              </a:ext>
            </a:extLst>
          </p:cNvPr>
          <p:cNvSpPr/>
          <p:nvPr/>
        </p:nvSpPr>
        <p:spPr>
          <a:xfrm>
            <a:off x="1205983" y="3643932"/>
            <a:ext cx="7123143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100" dirty="0">
                <a:latin typeface="Consolas"/>
                <a:cs typeface="Consolas"/>
              </a:rPr>
              <a:t>int </a:t>
            </a:r>
            <a:r>
              <a:rPr lang="en-US" altLang="zh-CN" sz="2100" dirty="0" err="1">
                <a:latin typeface="Consolas"/>
                <a:cs typeface="Consolas"/>
              </a:rPr>
              <a:t>divide_by_powers_of</a:t>
            </a:r>
            <a:r>
              <a:rPr lang="en-US" altLang="zh-CN" sz="2100" dirty="0">
                <a:latin typeface="Consolas"/>
                <a:cs typeface="Consolas"/>
              </a:rPr>
              <a:t> two(int x, int p) 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{</a:t>
            </a:r>
          </a:p>
          <a:p>
            <a:endParaRPr lang="en-US" altLang="zh-CN" sz="2100" dirty="0">
              <a:latin typeface="Consolas"/>
              <a:cs typeface="Consolas"/>
            </a:endParaRPr>
          </a:p>
          <a:p>
            <a:r>
              <a:rPr lang="en-US" altLang="zh-CN" sz="21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13" name="矩形 3">
            <a:extLst>
              <a:ext uri="{FF2B5EF4-FFF2-40B4-BE49-F238E27FC236}">
                <a16:creationId xmlns:a16="http://schemas.microsoft.com/office/drawing/2014/main" id="{DA14BDEF-63DA-4FA9-8D18-6925FCA30E05}"/>
              </a:ext>
            </a:extLst>
          </p:cNvPr>
          <p:cNvSpPr/>
          <p:nvPr/>
        </p:nvSpPr>
        <p:spPr>
          <a:xfrm>
            <a:off x="2033671" y="4240498"/>
            <a:ext cx="2743199" cy="4154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100" dirty="0">
                <a:latin typeface="Consolas"/>
                <a:cs typeface="Consolas"/>
              </a:rPr>
              <a:t>return x &gt;&gt; p;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1F8BD2DF-632A-4D18-B78A-047744830BFD}"/>
              </a:ext>
            </a:extLst>
          </p:cNvPr>
          <p:cNvSpPr/>
          <p:nvPr/>
        </p:nvSpPr>
        <p:spPr>
          <a:xfrm>
            <a:off x="4133430" y="5405588"/>
            <a:ext cx="4830178" cy="1352473"/>
          </a:xfrm>
          <a:prstGeom prst="wedgeRoundRectCallout">
            <a:avLst>
              <a:gd name="adj1" fmla="val -65934"/>
              <a:gd name="adj2" fmla="val -102740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Caveat: right-shift rounds down, different from integer division “/” which rounds towards zero.</a:t>
            </a:r>
          </a:p>
          <a:p>
            <a:r>
              <a:rPr lang="en-US" dirty="0">
                <a:solidFill>
                  <a:schemeClr val="tx1"/>
                </a:solidFill>
              </a:rPr>
              <a:t>e.g. -1&gt;&gt;1=-1, but -1/2 = 0</a:t>
            </a:r>
          </a:p>
        </p:txBody>
      </p:sp>
    </p:spTree>
    <p:extLst>
      <p:ext uri="{BB962C8B-B14F-4D97-AF65-F5344CB8AC3E}">
        <p14:creationId xmlns:p14="http://schemas.microsoft.com/office/powerpoint/2010/main" val="2062129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 animBg="1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use of shift</a:t>
            </a:r>
          </a:p>
        </p:txBody>
      </p:sp>
      <p:sp>
        <p:nvSpPr>
          <p:cNvPr id="4" name="矩形 3"/>
          <p:cNvSpPr/>
          <p:nvPr/>
        </p:nvSpPr>
        <p:spPr>
          <a:xfrm>
            <a:off x="1635589" y="2102932"/>
            <a:ext cx="5658924" cy="26776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100" dirty="0">
                <a:latin typeface="Consolas"/>
                <a:cs typeface="Consolas"/>
              </a:rPr>
              <a:t>// clear bit at position </a:t>
            </a:r>
            <a:r>
              <a:rPr lang="en-US" altLang="zh-CN" sz="2100" dirty="0" err="1">
                <a:latin typeface="Consolas"/>
                <a:cs typeface="Consolas"/>
              </a:rPr>
              <a:t>pos</a:t>
            </a:r>
            <a:endParaRPr lang="en-US" altLang="zh-CN" sz="2100" dirty="0">
              <a:latin typeface="Consolas"/>
              <a:cs typeface="Consolas"/>
            </a:endParaRPr>
          </a:p>
          <a:p>
            <a:r>
              <a:rPr lang="en-US" altLang="zh-CN" sz="2100" dirty="0">
                <a:latin typeface="Consolas"/>
                <a:cs typeface="Consolas"/>
              </a:rPr>
              <a:t>// rightmost bit is at 0</a:t>
            </a:r>
            <a:r>
              <a:rPr lang="en-US" altLang="zh-CN" sz="2100" baseline="30000" dirty="0">
                <a:latin typeface="Consolas"/>
                <a:cs typeface="Consolas"/>
              </a:rPr>
              <a:t>th</a:t>
            </a:r>
            <a:r>
              <a:rPr lang="en-US" altLang="zh-CN" sz="2100" dirty="0">
                <a:latin typeface="Consolas"/>
                <a:cs typeface="Consolas"/>
              </a:rPr>
              <a:t> </a:t>
            </a:r>
            <a:r>
              <a:rPr lang="en-US" altLang="zh-CN" sz="2100" dirty="0" err="1">
                <a:latin typeface="Consolas"/>
                <a:cs typeface="Consolas"/>
              </a:rPr>
              <a:t>pos</a:t>
            </a:r>
            <a:endParaRPr lang="en-US" altLang="zh-CN" sz="2100" dirty="0">
              <a:latin typeface="Consolas"/>
              <a:cs typeface="Consolas"/>
            </a:endParaRPr>
          </a:p>
          <a:p>
            <a:endParaRPr lang="en-US" altLang="zh-CN" sz="2100" dirty="0">
              <a:latin typeface="Consolas"/>
              <a:cs typeface="Consolas"/>
            </a:endParaRPr>
          </a:p>
          <a:p>
            <a:r>
              <a:rPr lang="en-US" altLang="zh-CN" sz="2100" dirty="0" err="1">
                <a:latin typeface="Consolas"/>
                <a:cs typeface="Consolas"/>
              </a:rPr>
              <a:t>int</a:t>
            </a:r>
            <a:r>
              <a:rPr lang="en-US" altLang="zh-CN" sz="2100" dirty="0">
                <a:latin typeface="Consolas"/>
                <a:cs typeface="Consolas"/>
              </a:rPr>
              <a:t> </a:t>
            </a:r>
            <a:r>
              <a:rPr lang="en-US" altLang="zh-CN" sz="2100" dirty="0" err="1">
                <a:latin typeface="Consolas"/>
                <a:cs typeface="Consolas"/>
              </a:rPr>
              <a:t>clear_bit_at_pos</a:t>
            </a:r>
            <a:r>
              <a:rPr lang="en-US" altLang="zh-CN" sz="2100" dirty="0">
                <a:latin typeface="Consolas"/>
                <a:cs typeface="Consolas"/>
              </a:rPr>
              <a:t>(</a:t>
            </a:r>
            <a:r>
              <a:rPr lang="en-US" altLang="zh-CN" sz="2100" dirty="0" err="1">
                <a:latin typeface="Consolas"/>
                <a:cs typeface="Consolas"/>
              </a:rPr>
              <a:t>int</a:t>
            </a:r>
            <a:r>
              <a:rPr lang="en-US" altLang="zh-CN" sz="2100" dirty="0">
                <a:latin typeface="Consolas"/>
                <a:cs typeface="Consolas"/>
              </a:rPr>
              <a:t> x, </a:t>
            </a:r>
            <a:r>
              <a:rPr lang="en-US" altLang="zh-CN" sz="2100" dirty="0" err="1">
                <a:latin typeface="Consolas"/>
                <a:cs typeface="Consolas"/>
              </a:rPr>
              <a:t>int</a:t>
            </a:r>
            <a:r>
              <a:rPr lang="en-US" altLang="zh-CN" sz="2100" dirty="0">
                <a:latin typeface="Consolas"/>
                <a:cs typeface="Consolas"/>
              </a:rPr>
              <a:t> </a:t>
            </a:r>
            <a:r>
              <a:rPr lang="en-US" altLang="zh-CN" sz="2100" dirty="0" err="1">
                <a:latin typeface="Consolas"/>
                <a:cs typeface="Consolas"/>
              </a:rPr>
              <a:t>pos</a:t>
            </a:r>
            <a:r>
              <a:rPr lang="en-US" altLang="zh-CN" sz="2100" dirty="0">
                <a:latin typeface="Consolas"/>
                <a:cs typeface="Consolas"/>
              </a:rPr>
              <a:t>) {</a:t>
            </a:r>
          </a:p>
          <a:p>
            <a:endParaRPr lang="en-US" altLang="zh-CN" sz="2100" dirty="0">
              <a:latin typeface="Consolas"/>
              <a:cs typeface="Consolas"/>
            </a:endParaRPr>
          </a:p>
          <a:p>
            <a:endParaRPr lang="en-US" altLang="zh-CN" sz="2100" dirty="0">
              <a:latin typeface="Consolas"/>
              <a:cs typeface="Consolas"/>
            </a:endParaRPr>
          </a:p>
          <a:p>
            <a:r>
              <a:rPr lang="en-US" altLang="zh-CN" sz="21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5" name="矩形 3"/>
          <p:cNvSpPr/>
          <p:nvPr/>
        </p:nvSpPr>
        <p:spPr>
          <a:xfrm>
            <a:off x="2124081" y="3668136"/>
            <a:ext cx="55340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100" dirty="0">
                <a:latin typeface="Consolas"/>
                <a:cs typeface="Consolas"/>
              </a:rPr>
              <a:t>unsigned int mask = 1 &lt;&lt; pos;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return x &amp; (~mask);</a:t>
            </a:r>
          </a:p>
        </p:txBody>
      </p:sp>
    </p:spTree>
    <p:extLst>
      <p:ext uri="{BB962C8B-B14F-4D97-AF65-F5344CB8AC3E}">
        <p14:creationId xmlns:p14="http://schemas.microsoft.com/office/powerpoint/2010/main" val="2369116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FFF6-11A5-4A27-A96D-25F3DFCCC3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9873" y="2118462"/>
            <a:ext cx="5143500" cy="1343025"/>
          </a:xfrm>
        </p:spPr>
        <p:txBody>
          <a:bodyPr>
            <a:normAutofit/>
          </a:bodyPr>
          <a:lstStyle/>
          <a:p>
            <a:r>
              <a:rPr lang="en-US" sz="4050" dirty="0">
                <a:solidFill>
                  <a:schemeClr val="bg1"/>
                </a:solidFill>
              </a:rPr>
              <a:t>Breakout time!</a:t>
            </a:r>
          </a:p>
        </p:txBody>
      </p:sp>
      <p:pic>
        <p:nvPicPr>
          <p:cNvPr id="37892" name="Picture 4" descr="Tea Party 432*432 transprent Png Free Download - Heart, Cup, Teapot. -  CleanPNG / KissPNG">
            <a:extLst>
              <a:ext uri="{FF2B5EF4-FFF2-40B4-BE49-F238E27FC236}">
                <a16:creationId xmlns:a16="http://schemas.microsoft.com/office/drawing/2014/main" id="{12DD4D09-CDF4-4B24-878B-46BDA8ED9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000" b="93333" l="5778" r="93778">
                        <a14:foregroundMark x1="40444" y1="8889" x2="40444" y2="8889"/>
                        <a14:foregroundMark x1="36000" y1="5778" x2="36000" y2="5778"/>
                        <a14:foregroundMark x1="47556" y1="5333" x2="47556" y2="5333"/>
                        <a14:foregroundMark x1="23556" y1="4000" x2="23556" y2="4000"/>
                        <a14:foregroundMark x1="6222" y1="18667" x2="6222" y2="18667"/>
                        <a14:foregroundMark x1="93778" y1="74667" x2="93778" y2="74667"/>
                        <a14:foregroundMark x1="80889" y1="56889" x2="80889" y2="56889"/>
                        <a14:foregroundMark x1="48000" y1="70667" x2="48000" y2="70667"/>
                        <a14:foregroundMark x1="48000" y1="81778" x2="48000" y2="81778"/>
                        <a14:foregroundMark x1="82222" y1="57333" x2="82222" y2="57333"/>
                        <a14:foregroundMark x1="73778" y1="93333" x2="73778" y2="93333"/>
                        <a14:backgroundMark x1="79111" y1="57778" x2="79111" y2="57778"/>
                        <a14:backgroundMark x1="80000" y1="56000" x2="80000" y2="56000"/>
                        <a14:backgroundMark x1="81333" y1="59556" x2="81333" y2="59556"/>
                        <a14:backgroundMark x1="81333" y1="59556" x2="81333" y2="59556"/>
                        <a14:backgroundMark x1="81333" y1="59556" x2="78222" y2="56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039" y="2148530"/>
            <a:ext cx="1563668" cy="1563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07186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02B27-5F0D-4BB4-BDE3-9C100C29D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Breakout 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00B8C-5C54-4775-B849-D86434125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98510"/>
          </a:xfrm>
        </p:spPr>
        <p:txBody>
          <a:bodyPr/>
          <a:lstStyle/>
          <a:p>
            <a:r>
              <a:rPr lang="en-US" dirty="0"/>
              <a:t>Clear fraction fields of 10.0 --&gt; ??</a:t>
            </a:r>
          </a:p>
          <a:p>
            <a:r>
              <a:rPr lang="en-US" dirty="0"/>
              <a:t>Clear fraction field of 0.2 </a:t>
            </a:r>
            <a:r>
              <a:rPr lang="en-US" dirty="0">
                <a:sym typeface="Wingdings" panose="05000000000000000000" pitchFamily="2" charset="2"/>
              </a:rPr>
              <a:t> ??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1A922F-45B7-4ED8-83A1-BB9E5CC3449A}"/>
              </a:ext>
            </a:extLst>
          </p:cNvPr>
          <p:cNvSpPr txBox="1"/>
          <p:nvPr/>
        </p:nvSpPr>
        <p:spPr>
          <a:xfrm>
            <a:off x="617231" y="3418295"/>
            <a:ext cx="8289449" cy="25853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clear_exp_field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fi = *(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*)&amp;f; </a:t>
            </a:r>
            <a:r>
              <a:rPr lang="en-US" b="0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//re-interpret bit-pattern of f as int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 = </a:t>
            </a:r>
            <a:r>
              <a:rPr lang="en-US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//TODO: add your code here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*)&amp;r; </a:t>
            </a:r>
            <a:r>
              <a:rPr lang="en-US" b="0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//re-interpret bit-pattern of r as float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11698A-5A38-4FEB-B0FE-FF94A3D31EFF}"/>
              </a:ext>
            </a:extLst>
          </p:cNvPr>
          <p:cNvSpPr txBox="1"/>
          <p:nvPr/>
        </p:nvSpPr>
        <p:spPr>
          <a:xfrm>
            <a:off x="2096278" y="4510901"/>
            <a:ext cx="3825550" cy="4001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r = (fi &gt;&gt; 23) &lt;&lt;23;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AFA185-0E76-4EA0-990B-08634995C0B2}"/>
              </a:ext>
            </a:extLst>
          </p:cNvPr>
          <p:cNvSpPr txBox="1"/>
          <p:nvPr/>
        </p:nvSpPr>
        <p:spPr>
          <a:xfrm>
            <a:off x="5280306" y="1600201"/>
            <a:ext cx="641522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8.0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4BA6B5-7F3A-4F1F-BAC4-A5A512158827}"/>
              </a:ext>
            </a:extLst>
          </p:cNvPr>
          <p:cNvSpPr txBox="1"/>
          <p:nvPr/>
        </p:nvSpPr>
        <p:spPr>
          <a:xfrm>
            <a:off x="4914821" y="2156357"/>
            <a:ext cx="1007007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0.125</a:t>
            </a:r>
          </a:p>
        </p:txBody>
      </p:sp>
    </p:spTree>
    <p:extLst>
      <p:ext uri="{BB962C8B-B14F-4D97-AF65-F5344CB8AC3E}">
        <p14:creationId xmlns:p14="http://schemas.microsoft.com/office/powerpoint/2010/main" val="1996191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use of shift</a:t>
            </a:r>
          </a:p>
        </p:txBody>
      </p:sp>
      <p:sp>
        <p:nvSpPr>
          <p:cNvPr id="4" name="矩形 3"/>
          <p:cNvSpPr/>
          <p:nvPr/>
        </p:nvSpPr>
        <p:spPr>
          <a:xfrm>
            <a:off x="1635589" y="2102931"/>
            <a:ext cx="5658924" cy="26776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100" dirty="0">
                <a:latin typeface="Consolas"/>
                <a:cs typeface="Consolas"/>
              </a:rPr>
              <a:t>// set bit at position </a:t>
            </a:r>
            <a:r>
              <a:rPr lang="en-US" altLang="zh-CN" sz="2100" dirty="0" err="1">
                <a:latin typeface="Consolas"/>
                <a:cs typeface="Consolas"/>
              </a:rPr>
              <a:t>pos</a:t>
            </a:r>
            <a:endParaRPr lang="en-US" altLang="zh-CN" sz="2100" dirty="0">
              <a:latin typeface="Consolas"/>
              <a:cs typeface="Consolas"/>
            </a:endParaRPr>
          </a:p>
          <a:p>
            <a:r>
              <a:rPr lang="en-US" altLang="zh-CN" sz="2100" dirty="0">
                <a:latin typeface="Consolas"/>
                <a:cs typeface="Consolas"/>
              </a:rPr>
              <a:t>// rightmost bit is at 0</a:t>
            </a:r>
            <a:r>
              <a:rPr lang="en-US" altLang="zh-CN" sz="2100" baseline="30000" dirty="0">
                <a:latin typeface="Consolas"/>
                <a:cs typeface="Consolas"/>
              </a:rPr>
              <a:t>th</a:t>
            </a:r>
            <a:r>
              <a:rPr lang="en-US" altLang="zh-CN" sz="2100" dirty="0">
                <a:latin typeface="Consolas"/>
                <a:cs typeface="Consolas"/>
              </a:rPr>
              <a:t> </a:t>
            </a:r>
            <a:r>
              <a:rPr lang="en-US" altLang="zh-CN" sz="2100" dirty="0" err="1">
                <a:latin typeface="Consolas"/>
                <a:cs typeface="Consolas"/>
              </a:rPr>
              <a:t>pos</a:t>
            </a:r>
            <a:endParaRPr lang="en-US" altLang="zh-CN" sz="2100" dirty="0">
              <a:latin typeface="Consolas"/>
              <a:cs typeface="Consolas"/>
            </a:endParaRPr>
          </a:p>
          <a:p>
            <a:endParaRPr lang="en-US" altLang="zh-CN" sz="2100" dirty="0">
              <a:latin typeface="Consolas"/>
              <a:cs typeface="Consolas"/>
            </a:endParaRPr>
          </a:p>
          <a:p>
            <a:r>
              <a:rPr lang="en-US" altLang="zh-CN" sz="2100" dirty="0" err="1">
                <a:latin typeface="Consolas"/>
                <a:cs typeface="Consolas"/>
              </a:rPr>
              <a:t>int</a:t>
            </a:r>
            <a:r>
              <a:rPr lang="en-US" altLang="zh-CN" sz="2100" dirty="0">
                <a:latin typeface="Consolas"/>
                <a:cs typeface="Consolas"/>
              </a:rPr>
              <a:t> </a:t>
            </a:r>
            <a:r>
              <a:rPr lang="en-US" altLang="zh-CN" sz="2100" dirty="0" err="1">
                <a:latin typeface="Consolas"/>
                <a:cs typeface="Consolas"/>
              </a:rPr>
              <a:t>set_bit_at_pos</a:t>
            </a:r>
            <a:r>
              <a:rPr lang="en-US" altLang="zh-CN" sz="2100" dirty="0">
                <a:latin typeface="Consolas"/>
                <a:cs typeface="Consolas"/>
              </a:rPr>
              <a:t>(</a:t>
            </a:r>
            <a:r>
              <a:rPr lang="en-US" altLang="zh-CN" sz="2100" dirty="0" err="1">
                <a:latin typeface="Consolas"/>
                <a:cs typeface="Consolas"/>
              </a:rPr>
              <a:t>int</a:t>
            </a:r>
            <a:r>
              <a:rPr lang="en-US" altLang="zh-CN" sz="2100" dirty="0">
                <a:latin typeface="Consolas"/>
                <a:cs typeface="Consolas"/>
              </a:rPr>
              <a:t> x, </a:t>
            </a:r>
            <a:r>
              <a:rPr lang="en-US" altLang="zh-CN" sz="2100" dirty="0" err="1">
                <a:latin typeface="Consolas"/>
                <a:cs typeface="Consolas"/>
              </a:rPr>
              <a:t>int</a:t>
            </a:r>
            <a:r>
              <a:rPr lang="en-US" altLang="zh-CN" sz="2100" dirty="0">
                <a:latin typeface="Consolas"/>
                <a:cs typeface="Consolas"/>
              </a:rPr>
              <a:t> </a:t>
            </a:r>
            <a:r>
              <a:rPr lang="en-US" altLang="zh-CN" sz="2100" dirty="0" err="1">
                <a:latin typeface="Consolas"/>
                <a:cs typeface="Consolas"/>
              </a:rPr>
              <a:t>pos</a:t>
            </a:r>
            <a:r>
              <a:rPr lang="en-US" altLang="zh-CN" sz="2100" dirty="0">
                <a:latin typeface="Consolas"/>
                <a:cs typeface="Consolas"/>
              </a:rPr>
              <a:t>) 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{</a:t>
            </a:r>
          </a:p>
          <a:p>
            <a:endParaRPr lang="en-US" altLang="zh-CN" sz="2100" dirty="0">
              <a:latin typeface="Consolas"/>
              <a:cs typeface="Consolas"/>
            </a:endParaRPr>
          </a:p>
          <a:p>
            <a:endParaRPr lang="en-US" altLang="zh-CN" sz="2100" dirty="0">
              <a:latin typeface="Consolas"/>
              <a:cs typeface="Consolas"/>
            </a:endParaRPr>
          </a:p>
          <a:p>
            <a:r>
              <a:rPr lang="en-US" altLang="zh-CN" sz="21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5" name="矩形 3"/>
          <p:cNvSpPr/>
          <p:nvPr/>
        </p:nvSpPr>
        <p:spPr>
          <a:xfrm>
            <a:off x="2124081" y="3668136"/>
            <a:ext cx="55340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100" dirty="0">
                <a:latin typeface="Consolas"/>
                <a:cs typeface="Consolas"/>
              </a:rPr>
              <a:t>unsigned int mask = 1 &lt;&lt; pos;</a:t>
            </a:r>
          </a:p>
          <a:p>
            <a:r>
              <a:rPr lang="en-US" altLang="zh-CN" sz="2100" dirty="0">
                <a:latin typeface="Consolas"/>
                <a:cs typeface="Consolas"/>
              </a:rPr>
              <a:t>return x | mask;</a:t>
            </a:r>
          </a:p>
        </p:txBody>
      </p:sp>
    </p:spTree>
    <p:extLst>
      <p:ext uri="{BB962C8B-B14F-4D97-AF65-F5344CB8AC3E}">
        <p14:creationId xmlns:p14="http://schemas.microsoft.com/office/powerpoint/2010/main" val="473134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F77F5-62F3-4267-8762-62BB6F55F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E0845-D3BA-42FD-94C1-C6B2C825E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Overview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 program organization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Bitwise operators</a:t>
            </a:r>
          </a:p>
          <a:p>
            <a:r>
              <a:rPr lang="en-US" dirty="0"/>
              <a:t>Control flow</a:t>
            </a:r>
          </a:p>
        </p:txBody>
      </p:sp>
    </p:spTree>
    <p:extLst>
      <p:ext uri="{BB962C8B-B14F-4D97-AF65-F5344CB8AC3E}">
        <p14:creationId xmlns:p14="http://schemas.microsoft.com/office/powerpoint/2010/main" val="5480448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C’s Control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 as Java</a:t>
            </a:r>
          </a:p>
          <a:p>
            <a:r>
              <a:rPr lang="en-US" dirty="0"/>
              <a:t>conditional:</a:t>
            </a:r>
          </a:p>
          <a:p>
            <a:pPr lvl="1"/>
            <a:r>
              <a:rPr lang="en-US" dirty="0"/>
              <a:t> if ... else if... else</a:t>
            </a:r>
          </a:p>
          <a:p>
            <a:pPr lvl="1"/>
            <a:r>
              <a:rPr lang="en-US" dirty="0"/>
              <a:t>switch</a:t>
            </a:r>
          </a:p>
          <a:p>
            <a:r>
              <a:rPr lang="en-US" dirty="0"/>
              <a:t>loops: while, for</a:t>
            </a:r>
          </a:p>
          <a:p>
            <a:pPr lvl="1"/>
            <a:r>
              <a:rPr lang="en-US" dirty="0"/>
              <a:t>continue</a:t>
            </a:r>
          </a:p>
          <a:p>
            <a:pPr lvl="1"/>
            <a:r>
              <a:rPr lang="en-US" dirty="0"/>
              <a:t>break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1937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 err="1"/>
              <a:t>goto</a:t>
            </a:r>
            <a:r>
              <a:rPr kumimoji="1" lang="en-US" altLang="zh-CN" dirty="0"/>
              <a:t> statements allow jump anywhere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743" y="1423768"/>
            <a:ext cx="8229600" cy="648495"/>
          </a:xfrm>
        </p:spPr>
        <p:txBody>
          <a:bodyPr/>
          <a:lstStyle/>
          <a:p>
            <a:pPr marL="0" lvl="1" indent="0">
              <a:buNone/>
            </a:pPr>
            <a:r>
              <a:rPr kumimoji="1" lang="en-US" altLang="zh-CN" sz="2800" dirty="0" err="1">
                <a:latin typeface="Verdana"/>
                <a:cs typeface="Verdana"/>
              </a:rPr>
              <a:t>goto</a:t>
            </a:r>
            <a:r>
              <a:rPr kumimoji="1" lang="en-US" altLang="zh-CN" sz="2800" dirty="0">
                <a:latin typeface="Verdana"/>
                <a:cs typeface="Verdana"/>
              </a:rPr>
              <a:t> </a:t>
            </a:r>
            <a:r>
              <a:rPr kumimoji="1" lang="en-US" altLang="zh-CN" sz="2800" i="1" dirty="0">
                <a:latin typeface="Verdana"/>
                <a:cs typeface="Verdana"/>
              </a:rPr>
              <a:t>label</a:t>
            </a:r>
          </a:p>
        </p:txBody>
      </p:sp>
      <p:sp>
        <p:nvSpPr>
          <p:cNvPr id="4" name="矩形 3"/>
          <p:cNvSpPr/>
          <p:nvPr/>
        </p:nvSpPr>
        <p:spPr>
          <a:xfrm>
            <a:off x="5288413" y="2507916"/>
            <a:ext cx="3855587" cy="32316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onsolas"/>
                <a:ea typeface="宋体" pitchFamily="2" charset="-122"/>
                <a:cs typeface="Consolas"/>
              </a:rPr>
              <a:t>for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(</a:t>
            </a:r>
            <a:r>
              <a:rPr lang="en-US" altLang="zh-CN" i="1" dirty="0">
                <a:latin typeface="Consolas"/>
                <a:ea typeface="宋体" pitchFamily="2" charset="-122"/>
                <a:cs typeface="Consolas"/>
              </a:rPr>
              <a:t>...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) {</a:t>
            </a:r>
          </a:p>
          <a:p>
            <a:endParaRPr lang="en-US" altLang="zh-CN" sz="400" dirty="0">
              <a:latin typeface="Consolas"/>
              <a:ea typeface="宋体" pitchFamily="2" charset="-122"/>
              <a:cs typeface="Consolas"/>
            </a:endParaRPr>
          </a:p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	</a:t>
            </a:r>
            <a:r>
              <a:rPr lang="en-US" altLang="zh-CN" b="1" dirty="0">
                <a:latin typeface="Consolas"/>
                <a:ea typeface="宋体" pitchFamily="2" charset="-122"/>
                <a:cs typeface="Consolas"/>
              </a:rPr>
              <a:t>for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(</a:t>
            </a:r>
            <a:r>
              <a:rPr lang="en-US" altLang="zh-CN" i="1" dirty="0">
                <a:latin typeface="Consolas"/>
                <a:ea typeface="宋体" pitchFamily="2" charset="-122"/>
                <a:cs typeface="Consolas"/>
              </a:rPr>
              <a:t>...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) {</a:t>
            </a:r>
          </a:p>
          <a:p>
            <a:endParaRPr lang="en-US" altLang="zh-CN" sz="400" dirty="0">
              <a:latin typeface="Consolas"/>
              <a:ea typeface="宋体" pitchFamily="2" charset="-122"/>
              <a:cs typeface="Consolas"/>
            </a:endParaRPr>
          </a:p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		</a:t>
            </a:r>
            <a:r>
              <a:rPr lang="en-US" altLang="zh-CN" b="1" dirty="0">
                <a:latin typeface="Consolas"/>
                <a:ea typeface="宋体" pitchFamily="2" charset="-122"/>
                <a:cs typeface="Consolas"/>
              </a:rPr>
              <a:t>for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(</a:t>
            </a:r>
            <a:r>
              <a:rPr lang="en-US" altLang="zh-CN" i="1" dirty="0">
                <a:latin typeface="Consolas"/>
                <a:ea typeface="宋体" pitchFamily="2" charset="-122"/>
                <a:cs typeface="Consolas"/>
              </a:rPr>
              <a:t>...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) {</a:t>
            </a:r>
          </a:p>
          <a:p>
            <a:endParaRPr lang="en-US" altLang="zh-CN" sz="400" dirty="0">
              <a:latin typeface="Consolas"/>
              <a:ea typeface="宋体" pitchFamily="2" charset="-122"/>
              <a:cs typeface="Consolas"/>
            </a:endParaRPr>
          </a:p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			</a:t>
            </a:r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goto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 error</a:t>
            </a:r>
          </a:p>
          <a:p>
            <a:endParaRPr lang="en-US" altLang="zh-CN" sz="400" dirty="0">
              <a:latin typeface="Consolas"/>
              <a:ea typeface="宋体" pitchFamily="2" charset="-122"/>
              <a:cs typeface="Consolas"/>
            </a:endParaRPr>
          </a:p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		}</a:t>
            </a:r>
          </a:p>
          <a:p>
            <a:endParaRPr lang="en-US" altLang="zh-CN" sz="400" dirty="0">
              <a:latin typeface="Consolas"/>
              <a:ea typeface="宋体" pitchFamily="2" charset="-122"/>
              <a:cs typeface="Consolas"/>
            </a:endParaRPr>
          </a:p>
          <a:p>
            <a:r>
              <a:rPr lang="en-US" altLang="zh-CN" b="1" dirty="0">
                <a:latin typeface="Consolas"/>
                <a:ea typeface="宋体" pitchFamily="2" charset="-122"/>
                <a:cs typeface="Consolas"/>
              </a:rPr>
              <a:t>  	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}</a:t>
            </a:r>
          </a:p>
          <a:p>
            <a:endParaRPr lang="en-US" altLang="zh-CN" sz="400" b="1" dirty="0">
              <a:latin typeface="Consolas"/>
              <a:ea typeface="宋体" pitchFamily="2" charset="-122"/>
              <a:cs typeface="Consolas"/>
            </a:endParaRPr>
          </a:p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}</a:t>
            </a:r>
          </a:p>
          <a:p>
            <a:endParaRPr lang="en-US" altLang="zh-CN" dirty="0">
              <a:latin typeface="Consolas"/>
              <a:ea typeface="宋体" pitchFamily="2" charset="-122"/>
              <a:cs typeface="Consolas"/>
            </a:endParaRPr>
          </a:p>
          <a:p>
            <a:r>
              <a:rPr lang="en-US" altLang="zh-CN" b="1" i="1" dirty="0">
                <a:latin typeface="Consolas"/>
                <a:ea typeface="宋体" pitchFamily="2" charset="-122"/>
                <a:cs typeface="Consolas"/>
              </a:rPr>
              <a:t>error:</a:t>
            </a:r>
          </a:p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	code handling error</a:t>
            </a:r>
          </a:p>
        </p:txBody>
      </p:sp>
      <p:sp>
        <p:nvSpPr>
          <p:cNvPr id="6" name="矩形 3">
            <a:extLst>
              <a:ext uri="{FF2B5EF4-FFF2-40B4-BE49-F238E27FC236}">
                <a16:creationId xmlns:a16="http://schemas.microsoft.com/office/drawing/2014/main" id="{301C640F-5BD7-4693-9F5E-C1B90B4BE16B}"/>
              </a:ext>
            </a:extLst>
          </p:cNvPr>
          <p:cNvSpPr/>
          <p:nvPr/>
        </p:nvSpPr>
        <p:spPr>
          <a:xfrm>
            <a:off x="607553" y="2248695"/>
            <a:ext cx="3855587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onsolas"/>
                <a:ea typeface="宋体" pitchFamily="2" charset="-122"/>
                <a:cs typeface="Consolas"/>
              </a:rPr>
              <a:t>while 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(</a:t>
            </a:r>
            <a:r>
              <a:rPr lang="en-US" altLang="zh-CN" i="1" dirty="0" err="1">
                <a:latin typeface="Consolas"/>
                <a:ea typeface="宋体" pitchFamily="2" charset="-122"/>
                <a:cs typeface="Consolas"/>
              </a:rPr>
              <a:t>cond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) {</a:t>
            </a:r>
          </a:p>
          <a:p>
            <a:endParaRPr lang="en-US" altLang="zh-CN" sz="400" dirty="0">
              <a:latin typeface="Consolas"/>
              <a:ea typeface="宋体" pitchFamily="2" charset="-122"/>
              <a:cs typeface="Consolas"/>
            </a:endParaRPr>
          </a:p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	...</a:t>
            </a:r>
            <a:endParaRPr lang="en-US" altLang="zh-CN" sz="400" b="1" dirty="0">
              <a:latin typeface="Consolas"/>
              <a:ea typeface="宋体" pitchFamily="2" charset="-122"/>
              <a:cs typeface="Consolas"/>
            </a:endParaRPr>
          </a:p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}</a:t>
            </a:r>
          </a:p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B:</a:t>
            </a:r>
          </a:p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...</a:t>
            </a:r>
          </a:p>
        </p:txBody>
      </p:sp>
      <p:sp>
        <p:nvSpPr>
          <p:cNvPr id="8" name="矩形 3">
            <a:extLst>
              <a:ext uri="{FF2B5EF4-FFF2-40B4-BE49-F238E27FC236}">
                <a16:creationId xmlns:a16="http://schemas.microsoft.com/office/drawing/2014/main" id="{A9DDE984-1D3D-4C01-8370-20DEF038A03A}"/>
              </a:ext>
            </a:extLst>
          </p:cNvPr>
          <p:cNvSpPr/>
          <p:nvPr/>
        </p:nvSpPr>
        <p:spPr>
          <a:xfrm>
            <a:off x="607554" y="4715594"/>
            <a:ext cx="385558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onsolas"/>
                <a:ea typeface="宋体" pitchFamily="2" charset="-122"/>
                <a:cs typeface="Consolas"/>
              </a:rPr>
              <a:t>A:</a:t>
            </a:r>
          </a:p>
          <a:p>
            <a:r>
              <a:rPr lang="en-US" altLang="zh-CN" b="1" dirty="0">
                <a:latin typeface="Consolas"/>
                <a:ea typeface="宋体" pitchFamily="2" charset="-122"/>
                <a:cs typeface="Consolas"/>
              </a:rPr>
              <a:t> if 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(</a:t>
            </a:r>
            <a:r>
              <a:rPr lang="en-US" altLang="zh-CN" i="1" dirty="0" err="1">
                <a:latin typeface="Consolas"/>
                <a:ea typeface="宋体" pitchFamily="2" charset="-122"/>
                <a:cs typeface="Consolas"/>
              </a:rPr>
              <a:t>cond</a:t>
            </a:r>
            <a:r>
              <a:rPr lang="en-US" altLang="zh-CN" i="1" dirty="0">
                <a:latin typeface="Consolas"/>
                <a:ea typeface="宋体" pitchFamily="2" charset="-122"/>
                <a:cs typeface="Consolas"/>
              </a:rPr>
              <a:t> = false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) </a:t>
            </a:r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goto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 B;</a:t>
            </a:r>
          </a:p>
          <a:p>
            <a:endParaRPr lang="en-US" altLang="zh-CN" sz="400" dirty="0">
              <a:latin typeface="Consolas"/>
              <a:ea typeface="宋体" pitchFamily="2" charset="-122"/>
              <a:cs typeface="Consolas"/>
            </a:endParaRPr>
          </a:p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 ...</a:t>
            </a:r>
          </a:p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 </a:t>
            </a:r>
            <a:r>
              <a:rPr lang="en-US" altLang="zh-CN" dirty="0" err="1">
                <a:latin typeface="Consolas"/>
                <a:ea typeface="宋体" pitchFamily="2" charset="-122"/>
                <a:cs typeface="Consolas"/>
              </a:rPr>
              <a:t>goto</a:t>
            </a:r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 A</a:t>
            </a:r>
          </a:p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B:</a:t>
            </a:r>
          </a:p>
          <a:p>
            <a:r>
              <a:rPr lang="en-US" altLang="zh-CN" dirty="0">
                <a:latin typeface="Consolas"/>
                <a:ea typeface="宋体" pitchFamily="2" charset="-122"/>
                <a:cs typeface="Consolas"/>
              </a:rPr>
              <a:t> ...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39DC62B7-23B8-453A-A072-FC09EDA8CD2D}"/>
              </a:ext>
            </a:extLst>
          </p:cNvPr>
          <p:cNvSpPr/>
          <p:nvPr/>
        </p:nvSpPr>
        <p:spPr>
          <a:xfrm>
            <a:off x="761485" y="3964010"/>
            <a:ext cx="553616" cy="646331"/>
          </a:xfrm>
          <a:prstGeom prst="downArrow">
            <a:avLst/>
          </a:prstGeom>
          <a:solidFill>
            <a:srgbClr val="00B0F0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E7018A-5D57-43E6-B3F4-C536EE169AE7}"/>
              </a:ext>
            </a:extLst>
          </p:cNvPr>
          <p:cNvSpPr txBox="1"/>
          <p:nvPr/>
        </p:nvSpPr>
        <p:spPr>
          <a:xfrm>
            <a:off x="1467239" y="3851436"/>
            <a:ext cx="3336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control flow primitive can be </a:t>
            </a:r>
          </a:p>
          <a:p>
            <a:r>
              <a:rPr lang="en-US" dirty="0"/>
              <a:t>expressed as a bunch of </a:t>
            </a:r>
            <a:r>
              <a:rPr lang="en-US" dirty="0" err="1"/>
              <a:t>goto’s</a:t>
            </a:r>
            <a:r>
              <a:rPr lang="en-US" dirty="0"/>
              <a:t>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14EFCE3-D324-46DC-8D7A-E03F2570E4D4}"/>
              </a:ext>
            </a:extLst>
          </p:cNvPr>
          <p:cNvCxnSpPr/>
          <p:nvPr/>
        </p:nvCxnSpPr>
        <p:spPr>
          <a:xfrm>
            <a:off x="4691219" y="1691951"/>
            <a:ext cx="0" cy="498876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D05B2CE-D9FE-41F7-A68E-56F15315AB9D}"/>
              </a:ext>
            </a:extLst>
          </p:cNvPr>
          <p:cNvGrpSpPr/>
          <p:nvPr/>
        </p:nvGrpSpPr>
        <p:grpSpPr>
          <a:xfrm>
            <a:off x="4892336" y="5822302"/>
            <a:ext cx="4248535" cy="844852"/>
            <a:chOff x="4892336" y="5822302"/>
            <a:chExt cx="4248535" cy="84485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77290C8-E25B-4C4E-A2D7-5C3F55F611E4}"/>
                </a:ext>
              </a:extLst>
            </p:cNvPr>
            <p:cNvSpPr txBox="1"/>
            <p:nvPr/>
          </p:nvSpPr>
          <p:spPr>
            <a:xfrm>
              <a:off x="4892336" y="6297822"/>
              <a:ext cx="42485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The only acceptable scenario for using </a:t>
              </a:r>
              <a:r>
                <a:rPr lang="en-US" dirty="0" err="1"/>
                <a:t>goto</a:t>
              </a:r>
              <a:endParaRPr lang="en-US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EEF485F-5EAE-490C-9841-D916034816C4}"/>
                </a:ext>
              </a:extLst>
            </p:cNvPr>
            <p:cNvCxnSpPr/>
            <p:nvPr/>
          </p:nvCxnSpPr>
          <p:spPr>
            <a:xfrm flipV="1">
              <a:off x="5480180" y="5822302"/>
              <a:ext cx="279918" cy="3721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35806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Avoid </a:t>
            </a:r>
            <a:r>
              <a:rPr lang="en-US" dirty="0" err="1"/>
              <a:t>goto’s</a:t>
            </a:r>
            <a:r>
              <a:rPr lang="en-US" dirty="0"/>
              <a:t> whenever possible</a:t>
            </a:r>
          </a:p>
        </p:txBody>
      </p:sp>
      <p:pic>
        <p:nvPicPr>
          <p:cNvPr id="4" name="Content Placeholder 3" descr="Screen Shot 2018-09-18 at 11.52.36 PM.p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86" b="3586"/>
          <a:stretch>
            <a:fillRect/>
          </a:stretch>
        </p:blipFill>
        <p:spPr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8831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Avoid </a:t>
            </a:r>
            <a:r>
              <a:rPr lang="en-US" dirty="0" err="1"/>
              <a:t>goto’s</a:t>
            </a:r>
            <a:r>
              <a:rPr lang="en-US" dirty="0"/>
              <a:t> whenever possible</a:t>
            </a:r>
          </a:p>
        </p:txBody>
      </p:sp>
      <p:pic>
        <p:nvPicPr>
          <p:cNvPr id="5" name="Content Placeholder 4" descr="Screen Shot 2018-09-18 at 11.54.19 PM.png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5" t="-5100" r="2138" b="-9577"/>
          <a:stretch/>
        </p:blipFill>
        <p:spPr>
          <a:xfrm>
            <a:off x="0" y="1600201"/>
            <a:ext cx="9144000" cy="3813326"/>
          </a:xfrm>
        </p:spPr>
      </p:pic>
    </p:spTree>
    <p:extLst>
      <p:ext uri="{BB962C8B-B14F-4D97-AF65-F5344CB8AC3E}">
        <p14:creationId xmlns:p14="http://schemas.microsoft.com/office/powerpoint/2010/main" val="19879011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7D7A7-C5B9-BFDF-30B4-D3138E5B4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35" y="19878"/>
            <a:ext cx="8229600" cy="1143000"/>
          </a:xfrm>
        </p:spPr>
        <p:txBody>
          <a:bodyPr/>
          <a:lstStyle/>
          <a:p>
            <a:r>
              <a:rPr lang="en-US" dirty="0"/>
              <a:t>C scope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38585-B9A5-D70A-6AAD-86B89F6E0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2878"/>
            <a:ext cx="8229600" cy="2136913"/>
          </a:xfrm>
        </p:spPr>
        <p:txBody>
          <a:bodyPr/>
          <a:lstStyle/>
          <a:p>
            <a:r>
              <a:rPr lang="en-US" dirty="0"/>
              <a:t>Local variable: defined within a procedure</a:t>
            </a:r>
          </a:p>
          <a:p>
            <a:pPr lvl="1"/>
            <a:r>
              <a:rPr lang="en-US" dirty="0"/>
              <a:t>Scope: within the procedure</a:t>
            </a:r>
          </a:p>
          <a:p>
            <a:r>
              <a:rPr lang="en-US" dirty="0"/>
              <a:t>Global variable: defined outside of any procedure</a:t>
            </a:r>
          </a:p>
          <a:p>
            <a:pPr lvl="1"/>
            <a:r>
              <a:rPr lang="en-US" dirty="0"/>
              <a:t>Scope: within the file unless exported via *.h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A26EE3-E125-A1FB-E368-5BB497B14104}"/>
              </a:ext>
            </a:extLst>
          </p:cNvPr>
          <p:cNvSpPr txBox="1"/>
          <p:nvPr/>
        </p:nvSpPr>
        <p:spPr>
          <a:xfrm>
            <a:off x="675863" y="3151429"/>
            <a:ext cx="4108173" cy="3416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 x = 0;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nt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y = 1;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void swap(int x, int y)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int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x;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x = y;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y= x;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int x = 0;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int y = 1;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swap(x, y);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95880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F8ECD8-5413-4750-8EE7-99A92DCAB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AEB162-C03E-43D2-85C6-98938B5A4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487747" cy="4525963"/>
          </a:xfrm>
        </p:spPr>
        <p:txBody>
          <a:bodyPr/>
          <a:lstStyle/>
          <a:p>
            <a:r>
              <a:rPr lang="en-US" dirty="0"/>
              <a:t>C program’s basic organization</a:t>
            </a:r>
          </a:p>
          <a:p>
            <a:pPr lvl="1"/>
            <a:r>
              <a:rPr lang="en-US" dirty="0"/>
              <a:t>*.c vs. *.h files</a:t>
            </a:r>
          </a:p>
          <a:p>
            <a:pPr lvl="1"/>
            <a:r>
              <a:rPr lang="en-US" dirty="0"/>
              <a:t>Compilation and make</a:t>
            </a:r>
          </a:p>
          <a:p>
            <a:r>
              <a:rPr lang="en-US" dirty="0"/>
              <a:t>Bitwise operators, &amp;, |, ~, ^, &gt;&gt;, &lt;&lt;</a:t>
            </a:r>
          </a:p>
          <a:p>
            <a:pPr lvl="1"/>
            <a:r>
              <a:rPr lang="en-US" dirty="0"/>
              <a:t>&gt;&gt; (arithmetic vs. logical)</a:t>
            </a:r>
          </a:p>
          <a:p>
            <a:r>
              <a:rPr lang="en-US" dirty="0"/>
              <a:t>Control flow</a:t>
            </a:r>
          </a:p>
          <a:p>
            <a:pPr lvl="1"/>
            <a:r>
              <a:rPr lang="en-US" dirty="0" err="1"/>
              <a:t>goto</a:t>
            </a:r>
            <a:r>
              <a:rPr lang="en-US" dirty="0"/>
              <a:t> is general, but results in spaghetti code</a:t>
            </a:r>
          </a:p>
        </p:txBody>
      </p:sp>
    </p:spTree>
    <p:extLst>
      <p:ext uri="{BB962C8B-B14F-4D97-AF65-F5344CB8AC3E}">
        <p14:creationId xmlns:p14="http://schemas.microsoft.com/office/powerpoint/2010/main" val="36577046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Exercises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Given a number, write a function to decide if it is even? </a:t>
            </a: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02506" y="3180858"/>
            <a:ext cx="547986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err="1">
                <a:latin typeface="Consolas"/>
                <a:cs typeface="Consolas"/>
              </a:rPr>
              <a:t>bool</a:t>
            </a:r>
            <a:r>
              <a:rPr lang="en-US" altLang="zh-CN" sz="2800" dirty="0">
                <a:latin typeface="Consolas"/>
                <a:cs typeface="Consolas"/>
              </a:rPr>
              <a:t> </a:t>
            </a:r>
            <a:r>
              <a:rPr lang="en-US" altLang="zh-CN" sz="2800" dirty="0" err="1">
                <a:latin typeface="Consolas"/>
                <a:cs typeface="Consolas"/>
              </a:rPr>
              <a:t>isEven</a:t>
            </a:r>
            <a:r>
              <a:rPr lang="en-US" altLang="zh-CN" sz="2800" dirty="0">
                <a:latin typeface="Consolas"/>
                <a:cs typeface="Consolas"/>
              </a:rPr>
              <a:t>(int n) {</a:t>
            </a:r>
          </a:p>
          <a:p>
            <a:r>
              <a:rPr lang="en-US" altLang="zh-CN" sz="2800" dirty="0">
                <a:latin typeface="Consolas"/>
                <a:cs typeface="Consolas"/>
              </a:rPr>
              <a:t>    </a:t>
            </a:r>
          </a:p>
          <a:p>
            <a:r>
              <a:rPr lang="en-US" altLang="zh-CN" sz="2800" dirty="0">
                <a:latin typeface="Consolas"/>
                <a:cs typeface="Consolas"/>
              </a:rPr>
              <a:t>}</a:t>
            </a:r>
            <a:endParaRPr lang="zh-CN" altLang="en-US" sz="28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8821392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Exercises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Given a number, write a function to decide if it is even? </a:t>
            </a: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02506" y="3180858"/>
            <a:ext cx="5479868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err="1">
                <a:latin typeface="Consolas"/>
                <a:cs typeface="Consolas"/>
              </a:rPr>
              <a:t>bool</a:t>
            </a:r>
            <a:r>
              <a:rPr lang="en-US" altLang="zh-CN" sz="2800" dirty="0">
                <a:latin typeface="Consolas"/>
                <a:cs typeface="Consolas"/>
              </a:rPr>
              <a:t> </a:t>
            </a:r>
            <a:r>
              <a:rPr lang="en-US" altLang="zh-CN" sz="2800" dirty="0" err="1">
                <a:latin typeface="Consolas"/>
                <a:cs typeface="Consolas"/>
              </a:rPr>
              <a:t>isEven</a:t>
            </a:r>
            <a:r>
              <a:rPr lang="en-US" altLang="zh-CN" sz="2800" dirty="0">
                <a:latin typeface="Consolas"/>
                <a:cs typeface="Consolas"/>
              </a:rPr>
              <a:t>(int n) {</a:t>
            </a:r>
          </a:p>
          <a:p>
            <a:endParaRPr lang="en-US" altLang="zh-CN" sz="1600" dirty="0">
              <a:latin typeface="Consolas"/>
              <a:cs typeface="Consolas"/>
            </a:endParaRPr>
          </a:p>
          <a:p>
            <a:r>
              <a:rPr lang="en-US" altLang="zh-CN" sz="2800" dirty="0">
                <a:latin typeface="Consolas"/>
                <a:cs typeface="Consolas"/>
              </a:rPr>
              <a:t>  return (n &amp; 0x1) == 0;</a:t>
            </a:r>
          </a:p>
          <a:p>
            <a:endParaRPr lang="en-US" altLang="zh-CN" sz="1600" dirty="0">
              <a:latin typeface="Consolas"/>
              <a:cs typeface="Consolas"/>
            </a:endParaRPr>
          </a:p>
          <a:p>
            <a:r>
              <a:rPr lang="en-US" altLang="zh-CN" sz="2800" dirty="0">
                <a:latin typeface="Consolas"/>
                <a:cs typeface="Consolas"/>
              </a:rPr>
              <a:t>}</a:t>
            </a:r>
            <a:endParaRPr lang="zh-CN" altLang="en-US" sz="28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7891448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Exercises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Given a number, write a function to decide if it is even? </a:t>
            </a: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02506" y="3180858"/>
            <a:ext cx="5479868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err="1">
                <a:latin typeface="Consolas"/>
                <a:cs typeface="Consolas"/>
              </a:rPr>
              <a:t>bool</a:t>
            </a:r>
            <a:r>
              <a:rPr lang="en-US" altLang="zh-CN" sz="2800" dirty="0">
                <a:latin typeface="Consolas"/>
                <a:cs typeface="Consolas"/>
              </a:rPr>
              <a:t> </a:t>
            </a:r>
            <a:r>
              <a:rPr lang="en-US" altLang="zh-CN" sz="2800" dirty="0" err="1">
                <a:latin typeface="Consolas"/>
                <a:cs typeface="Consolas"/>
              </a:rPr>
              <a:t>isEven</a:t>
            </a:r>
            <a:r>
              <a:rPr lang="en-US" altLang="zh-CN" sz="2800" dirty="0">
                <a:latin typeface="Consolas"/>
                <a:cs typeface="Consolas"/>
              </a:rPr>
              <a:t>(int n) {</a:t>
            </a:r>
          </a:p>
          <a:p>
            <a:endParaRPr lang="en-US" altLang="zh-CN" sz="1600" dirty="0">
              <a:latin typeface="Consolas"/>
              <a:cs typeface="Consolas"/>
            </a:endParaRPr>
          </a:p>
          <a:p>
            <a:r>
              <a:rPr lang="en-US" altLang="zh-CN" sz="2800" dirty="0">
                <a:latin typeface="Consolas"/>
                <a:cs typeface="Consolas"/>
              </a:rPr>
              <a:t>  return (n % 2) == 0;</a:t>
            </a:r>
          </a:p>
          <a:p>
            <a:endParaRPr lang="en-US" altLang="zh-CN" sz="1600" dirty="0">
              <a:latin typeface="Consolas"/>
              <a:cs typeface="Consolas"/>
            </a:endParaRPr>
          </a:p>
          <a:p>
            <a:r>
              <a:rPr lang="en-US" altLang="zh-CN" sz="2800" dirty="0">
                <a:latin typeface="Consolas"/>
                <a:cs typeface="Consolas"/>
              </a:rPr>
              <a:t>}</a:t>
            </a:r>
            <a:endParaRPr lang="zh-CN" altLang="en-US" sz="28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6238799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Exercises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Given a number, write a function to decide if it is a power of two? </a:t>
            </a: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44017" y="3282000"/>
            <a:ext cx="834497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err="1">
                <a:latin typeface="Consolas"/>
                <a:cs typeface="Consolas"/>
              </a:rPr>
              <a:t>bool</a:t>
            </a:r>
            <a:r>
              <a:rPr lang="en-US" altLang="zh-CN" sz="2800" dirty="0">
                <a:latin typeface="Consolas"/>
                <a:cs typeface="Consolas"/>
              </a:rPr>
              <a:t> </a:t>
            </a:r>
            <a:r>
              <a:rPr lang="en-US" altLang="zh-CN" sz="2800" dirty="0" err="1">
                <a:latin typeface="Consolas"/>
                <a:cs typeface="Consolas"/>
              </a:rPr>
              <a:t>isPowerOfTwo</a:t>
            </a:r>
            <a:r>
              <a:rPr lang="en-US" altLang="zh-CN" sz="2800" dirty="0">
                <a:latin typeface="Consolas"/>
                <a:cs typeface="Consolas"/>
              </a:rPr>
              <a:t>(unsigned </a:t>
            </a:r>
            <a:r>
              <a:rPr lang="en-US" altLang="zh-CN" sz="2800" dirty="0" err="1">
                <a:latin typeface="Consolas"/>
                <a:cs typeface="Consolas"/>
              </a:rPr>
              <a:t>int</a:t>
            </a:r>
            <a:r>
              <a:rPr lang="en-US" altLang="zh-CN" sz="2800" dirty="0">
                <a:latin typeface="Consolas"/>
                <a:cs typeface="Consolas"/>
              </a:rPr>
              <a:t> n) {</a:t>
            </a:r>
          </a:p>
          <a:p>
            <a:endParaRPr lang="en-US" altLang="zh-CN" sz="2800" dirty="0">
              <a:latin typeface="Consolas"/>
              <a:cs typeface="Consolas"/>
            </a:endParaRPr>
          </a:p>
          <a:p>
            <a:r>
              <a:rPr lang="en-US" altLang="zh-CN" sz="2800" dirty="0">
                <a:latin typeface="Consolas"/>
                <a:cs typeface="Consolas"/>
              </a:rPr>
              <a:t>}</a:t>
            </a:r>
            <a:endParaRPr lang="zh-CN" altLang="en-US" sz="28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8495393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Exercises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460524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Given a number, write a function to decide if it is a power of two? </a:t>
            </a: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44017" y="2719826"/>
            <a:ext cx="8142783" cy="3693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600" dirty="0" err="1">
                <a:latin typeface="Consolas"/>
                <a:cs typeface="Consolas"/>
              </a:rPr>
              <a:t>bool</a:t>
            </a:r>
            <a:r>
              <a:rPr lang="en-US" altLang="zh-CN" sz="2600" dirty="0">
                <a:latin typeface="Consolas"/>
                <a:cs typeface="Consolas"/>
              </a:rPr>
              <a:t> </a:t>
            </a:r>
            <a:r>
              <a:rPr lang="en-US" altLang="zh-CN" sz="2600" dirty="0" err="1">
                <a:latin typeface="Consolas"/>
                <a:cs typeface="Consolas"/>
              </a:rPr>
              <a:t>isPowerOfTwo</a:t>
            </a:r>
            <a:r>
              <a:rPr lang="en-US" altLang="zh-CN" sz="2600" dirty="0">
                <a:latin typeface="Consolas"/>
                <a:cs typeface="Consolas"/>
              </a:rPr>
              <a:t>(unsigned </a:t>
            </a:r>
            <a:r>
              <a:rPr lang="en-US" altLang="zh-CN" sz="2600" dirty="0" err="1">
                <a:latin typeface="Consolas"/>
                <a:cs typeface="Consolas"/>
              </a:rPr>
              <a:t>int</a:t>
            </a:r>
            <a:r>
              <a:rPr lang="en-US" altLang="zh-CN" sz="2600" dirty="0">
                <a:latin typeface="Consolas"/>
                <a:cs typeface="Consolas"/>
              </a:rPr>
              <a:t> n) {</a:t>
            </a:r>
          </a:p>
          <a:p>
            <a:r>
              <a:rPr lang="en-US" altLang="zh-CN" sz="2600" dirty="0">
                <a:latin typeface="Consolas"/>
                <a:cs typeface="Consolas"/>
              </a:rPr>
              <a:t>   if (n==0) return false;</a:t>
            </a:r>
          </a:p>
          <a:p>
            <a:r>
              <a:rPr lang="en-US" altLang="zh-CN" sz="2600" dirty="0">
                <a:latin typeface="Consolas"/>
                <a:cs typeface="Consolas"/>
              </a:rPr>
              <a:t>   while (n &gt; 1) {</a:t>
            </a:r>
          </a:p>
          <a:p>
            <a:r>
              <a:rPr lang="en-US" altLang="zh-CN" sz="2600" dirty="0">
                <a:latin typeface="Consolas"/>
                <a:cs typeface="Consolas"/>
              </a:rPr>
              <a:t>      if (n % 2)  // (n%2)!=0</a:t>
            </a:r>
          </a:p>
          <a:p>
            <a:r>
              <a:rPr lang="en-US" altLang="zh-CN" sz="2600" dirty="0">
                <a:latin typeface="Consolas"/>
                <a:cs typeface="Consolas"/>
              </a:rPr>
              <a:t>         return false; </a:t>
            </a:r>
          </a:p>
          <a:p>
            <a:r>
              <a:rPr lang="en-US" altLang="zh-CN" sz="2600" dirty="0">
                <a:latin typeface="Consolas"/>
                <a:cs typeface="Consolas"/>
              </a:rPr>
              <a:t>      n = n &gt;&gt; 1;</a:t>
            </a:r>
          </a:p>
          <a:p>
            <a:r>
              <a:rPr lang="en-US" altLang="zh-CN" sz="2600" dirty="0">
                <a:latin typeface="Consolas"/>
                <a:cs typeface="Consolas"/>
              </a:rPr>
              <a:t>   }</a:t>
            </a:r>
          </a:p>
          <a:p>
            <a:r>
              <a:rPr lang="en-US" altLang="zh-CN" sz="2600" dirty="0">
                <a:latin typeface="Consolas"/>
                <a:cs typeface="Consolas"/>
              </a:rPr>
              <a:t>   return true;</a:t>
            </a:r>
          </a:p>
          <a:p>
            <a:r>
              <a:rPr lang="en-US" altLang="zh-CN" sz="2600" dirty="0">
                <a:latin typeface="Consolas"/>
                <a:cs typeface="Consolas"/>
              </a:rPr>
              <a:t>}</a:t>
            </a:r>
            <a:endParaRPr lang="zh-CN" altLang="en-US" sz="26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7896864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Exercises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Given a number, write a function to decide if it is a power of two? </a:t>
            </a: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02506" y="3180858"/>
            <a:ext cx="54798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sz="2800" dirty="0">
              <a:latin typeface="Consolas"/>
              <a:cs typeface="Consola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4017" y="3282000"/>
            <a:ext cx="859998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err="1">
                <a:latin typeface="Consolas"/>
                <a:cs typeface="Consolas"/>
              </a:rPr>
              <a:t>bool</a:t>
            </a:r>
            <a:r>
              <a:rPr lang="en-US" altLang="zh-CN" sz="2800" dirty="0">
                <a:latin typeface="Consolas"/>
                <a:cs typeface="Consolas"/>
              </a:rPr>
              <a:t> </a:t>
            </a:r>
            <a:r>
              <a:rPr lang="en-US" altLang="zh-CN" sz="2800" dirty="0" err="1">
                <a:latin typeface="Consolas"/>
                <a:cs typeface="Consolas"/>
              </a:rPr>
              <a:t>isPowerOfTwo</a:t>
            </a:r>
            <a:r>
              <a:rPr lang="en-US" altLang="zh-CN" sz="2800" dirty="0">
                <a:latin typeface="Consolas"/>
                <a:cs typeface="Consolas"/>
              </a:rPr>
              <a:t>(unsigned </a:t>
            </a:r>
            <a:r>
              <a:rPr lang="en-US" altLang="zh-CN" sz="2800" dirty="0" err="1">
                <a:latin typeface="Consolas"/>
                <a:cs typeface="Consolas"/>
              </a:rPr>
              <a:t>int</a:t>
            </a:r>
            <a:r>
              <a:rPr lang="en-US" altLang="zh-CN" sz="2800" dirty="0">
                <a:latin typeface="Consolas"/>
                <a:cs typeface="Consolas"/>
              </a:rPr>
              <a:t> n) {</a:t>
            </a:r>
          </a:p>
          <a:p>
            <a:endParaRPr lang="en-US" altLang="zh-CN" sz="1600" dirty="0">
              <a:latin typeface="Consolas"/>
              <a:cs typeface="Consolas"/>
            </a:endParaRPr>
          </a:p>
          <a:p>
            <a:r>
              <a:rPr lang="en-US" altLang="zh-CN" sz="2800" dirty="0">
                <a:latin typeface="Consolas"/>
                <a:cs typeface="Consolas"/>
              </a:rPr>
              <a:t>  return </a:t>
            </a:r>
            <a:r>
              <a:rPr lang="mr-IN" altLang="zh-CN" sz="2800" dirty="0">
                <a:latin typeface="Consolas"/>
                <a:cs typeface="Consolas"/>
              </a:rPr>
              <a:t>(n &amp; (n-1)</a:t>
            </a:r>
            <a:r>
              <a:rPr lang="en-US" altLang="zh-CN" sz="2800" dirty="0">
                <a:latin typeface="Consolas"/>
                <a:cs typeface="Consolas"/>
              </a:rPr>
              <a:t>) == 0; </a:t>
            </a:r>
          </a:p>
          <a:p>
            <a:r>
              <a:rPr lang="en-US" altLang="zh-CN" sz="2800" dirty="0">
                <a:latin typeface="Consolas"/>
                <a:cs typeface="Consolas"/>
              </a:rPr>
              <a:t>  // n&amp;(n-1) clears rightmost bit-of-1 in n</a:t>
            </a:r>
          </a:p>
          <a:p>
            <a:endParaRPr lang="en-US" altLang="zh-CN" sz="1600" dirty="0">
              <a:latin typeface="Consolas"/>
              <a:cs typeface="Consolas"/>
            </a:endParaRPr>
          </a:p>
          <a:p>
            <a:r>
              <a:rPr lang="en-US" altLang="zh-CN" sz="2800" dirty="0">
                <a:latin typeface="Consolas"/>
                <a:cs typeface="Consolas"/>
              </a:rPr>
              <a:t>}</a:t>
            </a:r>
            <a:endParaRPr lang="zh-CN" altLang="en-US" sz="28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2054087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Exercises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Given a number, write a function to decide if it is a power of two? </a:t>
            </a: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02506" y="3180858"/>
            <a:ext cx="54798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sz="2800" dirty="0">
              <a:latin typeface="Consolas"/>
              <a:cs typeface="Consola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4017" y="3282000"/>
            <a:ext cx="7344094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err="1">
                <a:latin typeface="Consolas"/>
                <a:cs typeface="Consolas"/>
              </a:rPr>
              <a:t>bool</a:t>
            </a:r>
            <a:r>
              <a:rPr lang="en-US" altLang="zh-CN" sz="2800" dirty="0">
                <a:latin typeface="Consolas"/>
                <a:cs typeface="Consolas"/>
              </a:rPr>
              <a:t> </a:t>
            </a:r>
            <a:r>
              <a:rPr lang="en-US" altLang="zh-CN" sz="2800" dirty="0" err="1">
                <a:latin typeface="Consolas"/>
                <a:cs typeface="Consolas"/>
              </a:rPr>
              <a:t>isPowerOfTwo</a:t>
            </a:r>
            <a:r>
              <a:rPr lang="en-US" altLang="zh-CN" sz="2800" dirty="0">
                <a:latin typeface="Consolas"/>
                <a:cs typeface="Consolas"/>
              </a:rPr>
              <a:t>(unsigned </a:t>
            </a:r>
            <a:r>
              <a:rPr lang="en-US" altLang="zh-CN" sz="2800" dirty="0" err="1">
                <a:latin typeface="Consolas"/>
                <a:cs typeface="Consolas"/>
              </a:rPr>
              <a:t>int</a:t>
            </a:r>
            <a:r>
              <a:rPr lang="en-US" altLang="zh-CN" sz="2800" dirty="0">
                <a:latin typeface="Consolas"/>
                <a:cs typeface="Consolas"/>
              </a:rPr>
              <a:t> n) {</a:t>
            </a:r>
          </a:p>
          <a:p>
            <a:endParaRPr lang="en-US" altLang="zh-CN" sz="1600" dirty="0">
              <a:latin typeface="Consolas"/>
              <a:cs typeface="Consolas"/>
            </a:endParaRPr>
          </a:p>
          <a:p>
            <a:r>
              <a:rPr lang="en-US" altLang="zh-CN" sz="2800" dirty="0">
                <a:latin typeface="Consolas"/>
                <a:cs typeface="Consolas"/>
              </a:rPr>
              <a:t>  return n != 0 &amp;&amp; </a:t>
            </a:r>
            <a:r>
              <a:rPr lang="mr-IN" altLang="zh-CN" sz="2800" dirty="0">
                <a:latin typeface="Consolas"/>
                <a:cs typeface="Consolas"/>
              </a:rPr>
              <a:t>(n &amp; (n-1)</a:t>
            </a:r>
            <a:r>
              <a:rPr lang="en-US" altLang="zh-CN" sz="2800" dirty="0">
                <a:latin typeface="Consolas"/>
                <a:cs typeface="Consolas"/>
              </a:rPr>
              <a:t>) == 0;</a:t>
            </a:r>
          </a:p>
          <a:p>
            <a:endParaRPr lang="en-US" altLang="zh-CN" sz="1600" dirty="0">
              <a:latin typeface="Consolas"/>
              <a:cs typeface="Consolas"/>
            </a:endParaRPr>
          </a:p>
          <a:p>
            <a:r>
              <a:rPr lang="en-US" altLang="zh-CN" sz="2800" dirty="0">
                <a:latin typeface="Consolas"/>
                <a:cs typeface="Consolas"/>
              </a:rPr>
              <a:t>}</a:t>
            </a:r>
            <a:endParaRPr lang="zh-CN" altLang="en-US" sz="28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7352392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Exercises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Count the number of ones in the binary representation of the given number ?</a:t>
            </a:r>
          </a:p>
          <a:p>
            <a:pPr marL="0" indent="0">
              <a:buNone/>
            </a:pPr>
            <a:r>
              <a:rPr kumimoji="1" lang="en-US" altLang="zh-CN" dirty="0"/>
              <a:t>(n &gt; 0)</a:t>
            </a: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02506" y="3180858"/>
            <a:ext cx="54798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sz="2800" dirty="0">
              <a:latin typeface="Consolas"/>
              <a:cs typeface="Consola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4017" y="3282000"/>
            <a:ext cx="767139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err="1">
                <a:latin typeface="Consolas"/>
                <a:cs typeface="Consolas"/>
              </a:rPr>
              <a:t>int</a:t>
            </a:r>
            <a:r>
              <a:rPr lang="en-US" altLang="zh-CN" sz="2800" dirty="0">
                <a:latin typeface="Consolas"/>
                <a:cs typeface="Consolas"/>
              </a:rPr>
              <a:t> </a:t>
            </a:r>
            <a:r>
              <a:rPr lang="en-US" altLang="zh-CN" sz="2800" dirty="0" err="1">
                <a:latin typeface="Consolas"/>
                <a:cs typeface="Consolas"/>
              </a:rPr>
              <a:t>count_one</a:t>
            </a:r>
            <a:r>
              <a:rPr lang="en-US" altLang="zh-CN" sz="2800" dirty="0">
                <a:latin typeface="Consolas"/>
                <a:cs typeface="Consolas"/>
              </a:rPr>
              <a:t>(int n) {</a:t>
            </a:r>
          </a:p>
          <a:p>
            <a:endParaRPr lang="en-US" altLang="zh-CN" sz="1600" dirty="0">
              <a:latin typeface="Consolas"/>
              <a:cs typeface="Consolas"/>
            </a:endParaRPr>
          </a:p>
          <a:p>
            <a:r>
              <a:rPr lang="en-US" altLang="zh-CN" sz="2800" dirty="0">
                <a:latin typeface="Consolas"/>
                <a:cs typeface="Consolas"/>
              </a:rPr>
              <a:t>   </a:t>
            </a:r>
            <a:endParaRPr lang="en-US" altLang="zh-CN" sz="1600" dirty="0">
              <a:latin typeface="Consolas"/>
              <a:cs typeface="Consolas"/>
            </a:endParaRPr>
          </a:p>
          <a:p>
            <a:r>
              <a:rPr lang="en-US" altLang="zh-CN" sz="2800" dirty="0">
                <a:latin typeface="Consolas"/>
                <a:cs typeface="Consolas"/>
              </a:rPr>
              <a:t>}</a:t>
            </a:r>
            <a:endParaRPr lang="zh-CN" altLang="en-US" sz="28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7351450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Exercises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Count the number of ones in the binary representation of the given number ?</a:t>
            </a:r>
          </a:p>
          <a:p>
            <a:pPr marL="0" indent="0">
              <a:buNone/>
            </a:pPr>
            <a:r>
              <a:rPr kumimoji="1" lang="en-US" altLang="zh-CN" dirty="0"/>
              <a:t>(n &gt; 0)</a:t>
            </a: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02506" y="3180858"/>
            <a:ext cx="54798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sz="2800" dirty="0">
              <a:latin typeface="Consolas"/>
              <a:cs typeface="Consola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4017" y="3180858"/>
            <a:ext cx="7671394" cy="35394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err="1">
                <a:latin typeface="Consolas"/>
                <a:cs typeface="Consolas"/>
              </a:rPr>
              <a:t>int</a:t>
            </a:r>
            <a:r>
              <a:rPr lang="en-US" altLang="zh-CN" sz="2800" dirty="0">
                <a:latin typeface="Consolas"/>
                <a:cs typeface="Consolas"/>
              </a:rPr>
              <a:t> </a:t>
            </a:r>
            <a:r>
              <a:rPr lang="en-US" altLang="zh-CN" sz="2800" dirty="0" err="1">
                <a:latin typeface="Consolas"/>
                <a:cs typeface="Consolas"/>
              </a:rPr>
              <a:t>count_one</a:t>
            </a:r>
            <a:r>
              <a:rPr lang="en-US" altLang="zh-CN" sz="2800" dirty="0">
                <a:latin typeface="Consolas"/>
                <a:cs typeface="Consolas"/>
              </a:rPr>
              <a:t>(int n) {</a:t>
            </a:r>
          </a:p>
          <a:p>
            <a:r>
              <a:rPr lang="en-US" altLang="zh-CN" sz="2800" dirty="0">
                <a:latin typeface="Consolas"/>
                <a:cs typeface="Consolas"/>
              </a:rPr>
              <a:t>   </a:t>
            </a:r>
            <a:r>
              <a:rPr lang="en-US" altLang="zh-CN" sz="2800" dirty="0" err="1">
                <a:latin typeface="Consolas"/>
                <a:cs typeface="Consolas"/>
              </a:rPr>
              <a:t>int</a:t>
            </a:r>
            <a:r>
              <a:rPr lang="en-US" altLang="zh-CN" sz="2800" dirty="0">
                <a:latin typeface="Consolas"/>
                <a:cs typeface="Consolas"/>
              </a:rPr>
              <a:t> count = 0;</a:t>
            </a:r>
          </a:p>
          <a:p>
            <a:r>
              <a:rPr lang="en-US" altLang="zh-CN" sz="2800" dirty="0">
                <a:latin typeface="Consolas"/>
                <a:cs typeface="Consolas"/>
              </a:rPr>
              <a:t>   while (n != 0 ) {</a:t>
            </a:r>
          </a:p>
          <a:p>
            <a:r>
              <a:rPr lang="en-US" altLang="zh-CN" sz="2800" dirty="0">
                <a:latin typeface="Consolas"/>
                <a:cs typeface="Consolas"/>
              </a:rPr>
              <a:t>      count += (n % 2);</a:t>
            </a:r>
          </a:p>
          <a:p>
            <a:r>
              <a:rPr lang="en-US" altLang="zh-CN" sz="2800" dirty="0">
                <a:latin typeface="Consolas"/>
                <a:cs typeface="Consolas"/>
              </a:rPr>
              <a:t>      n = (unsigned </a:t>
            </a:r>
            <a:r>
              <a:rPr lang="en-US" altLang="zh-CN" sz="2800" dirty="0" err="1">
                <a:latin typeface="Consolas"/>
                <a:cs typeface="Consolas"/>
              </a:rPr>
              <a:t>int</a:t>
            </a:r>
            <a:r>
              <a:rPr lang="en-US" altLang="zh-CN" sz="2800" dirty="0">
                <a:latin typeface="Consolas"/>
                <a:cs typeface="Consolas"/>
              </a:rPr>
              <a:t>)n&gt;&gt;1;</a:t>
            </a:r>
          </a:p>
          <a:p>
            <a:r>
              <a:rPr lang="en-US" altLang="zh-CN" sz="2800" dirty="0">
                <a:latin typeface="Consolas"/>
                <a:cs typeface="Consolas"/>
              </a:rPr>
              <a:t>   }</a:t>
            </a:r>
          </a:p>
          <a:p>
            <a:r>
              <a:rPr lang="en-US" altLang="zh-CN" sz="2800" dirty="0">
                <a:latin typeface="Consolas"/>
                <a:cs typeface="Consolas"/>
              </a:rPr>
              <a:t>   return count;</a:t>
            </a:r>
            <a:endParaRPr lang="en-US" altLang="zh-CN" sz="1600" dirty="0">
              <a:latin typeface="Consolas"/>
              <a:cs typeface="Consolas"/>
            </a:endParaRPr>
          </a:p>
          <a:p>
            <a:r>
              <a:rPr lang="en-US" altLang="zh-CN" sz="2800" dirty="0">
                <a:latin typeface="Consolas"/>
                <a:cs typeface="Consolas"/>
              </a:rPr>
              <a:t>}</a:t>
            </a:r>
            <a:endParaRPr lang="zh-CN" altLang="en-US" sz="28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4300524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Exercises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Count the number of ones in the binary representation of the given number ?</a:t>
            </a: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02506" y="3180858"/>
            <a:ext cx="54798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sz="2800" dirty="0">
              <a:latin typeface="Consolas"/>
              <a:cs typeface="Consola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4017" y="3282000"/>
            <a:ext cx="767139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err="1">
                <a:latin typeface="Consolas"/>
                <a:cs typeface="Consolas"/>
              </a:rPr>
              <a:t>bool</a:t>
            </a:r>
            <a:r>
              <a:rPr lang="en-US" altLang="zh-CN" sz="2800" dirty="0">
                <a:latin typeface="Consolas"/>
                <a:cs typeface="Consolas"/>
              </a:rPr>
              <a:t> </a:t>
            </a:r>
            <a:r>
              <a:rPr lang="en-US" altLang="zh-CN" sz="2800" dirty="0" err="1">
                <a:latin typeface="Consolas"/>
                <a:cs typeface="Consolas"/>
              </a:rPr>
              <a:t>count_one</a:t>
            </a:r>
            <a:r>
              <a:rPr lang="en-US" altLang="zh-CN" sz="2800" dirty="0">
                <a:latin typeface="Consolas"/>
                <a:cs typeface="Consolas"/>
              </a:rPr>
              <a:t>(int n) {</a:t>
            </a:r>
          </a:p>
          <a:p>
            <a:endParaRPr lang="en-US" altLang="zh-CN" sz="1600" dirty="0">
              <a:latin typeface="Consolas"/>
              <a:cs typeface="Consolas"/>
            </a:endParaRPr>
          </a:p>
          <a:p>
            <a:r>
              <a:rPr lang="en-US" altLang="zh-CN" sz="2800" dirty="0">
                <a:latin typeface="Consolas"/>
                <a:cs typeface="Consolas"/>
              </a:rPr>
              <a:t>   </a:t>
            </a:r>
            <a:endParaRPr lang="en-US" altLang="zh-CN" sz="1600" dirty="0">
              <a:latin typeface="Consolas"/>
              <a:cs typeface="Consolas"/>
            </a:endParaRPr>
          </a:p>
          <a:p>
            <a:r>
              <a:rPr lang="en-US" altLang="zh-CN" sz="2800" dirty="0">
                <a:latin typeface="Consolas"/>
                <a:cs typeface="Consolas"/>
              </a:rPr>
              <a:t>}</a:t>
            </a:r>
            <a:endParaRPr lang="zh-CN" altLang="en-US" sz="2800" dirty="0">
              <a:latin typeface="Consolas"/>
              <a:cs typeface="Consola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7200" y="5633665"/>
            <a:ext cx="852777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3200" dirty="0">
                <a:latin typeface="Arial"/>
                <a:cs typeface="Arial"/>
              </a:rPr>
              <a:t>A trick </a:t>
            </a:r>
            <a:r>
              <a:rPr kumimoji="1" lang="mr-IN" altLang="zh-CN" sz="3200" dirty="0">
                <a:latin typeface="Arial"/>
                <a:cs typeface="Arial"/>
              </a:rPr>
              <a:t>–</a:t>
            </a:r>
            <a:r>
              <a:rPr kumimoji="1" lang="en-US" altLang="zh-CN" sz="3200" dirty="0">
                <a:latin typeface="Arial"/>
                <a:cs typeface="Arial"/>
              </a:rPr>
              <a:t> clear the rightmost bit-of-1:  n &amp; (n -1) </a:t>
            </a:r>
          </a:p>
        </p:txBody>
      </p:sp>
    </p:spTree>
    <p:extLst>
      <p:ext uri="{BB962C8B-B14F-4D97-AF65-F5344CB8AC3E}">
        <p14:creationId xmlns:p14="http://schemas.microsoft.com/office/powerpoint/2010/main" val="15294149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Exercises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Count the number of ones in the binary representation of the given number ?</a:t>
            </a: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02506" y="3180858"/>
            <a:ext cx="54798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sz="2800" dirty="0">
              <a:latin typeface="Consolas"/>
              <a:cs typeface="Consola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4017" y="2971556"/>
            <a:ext cx="7671394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err="1">
                <a:latin typeface="Consolas"/>
                <a:cs typeface="Consolas"/>
              </a:rPr>
              <a:t>int</a:t>
            </a:r>
            <a:r>
              <a:rPr lang="en-US" altLang="zh-CN" sz="2800" dirty="0">
                <a:latin typeface="Consolas"/>
                <a:cs typeface="Consolas"/>
              </a:rPr>
              <a:t> </a:t>
            </a:r>
            <a:r>
              <a:rPr lang="en-US" altLang="zh-CN" sz="2800" dirty="0" err="1">
                <a:latin typeface="Consolas"/>
                <a:cs typeface="Consolas"/>
              </a:rPr>
              <a:t>count_one</a:t>
            </a:r>
            <a:r>
              <a:rPr lang="en-US" altLang="zh-CN" sz="2800" dirty="0">
                <a:latin typeface="Consolas"/>
                <a:cs typeface="Consolas"/>
              </a:rPr>
              <a:t>(int n) {</a:t>
            </a:r>
          </a:p>
          <a:p>
            <a:endParaRPr lang="en-US" altLang="zh-CN" sz="1600" dirty="0">
              <a:latin typeface="Consolas"/>
              <a:cs typeface="Consolas"/>
            </a:endParaRPr>
          </a:p>
          <a:p>
            <a:r>
              <a:rPr lang="en-US" altLang="zh-CN" sz="2600" dirty="0">
                <a:latin typeface="Consolas"/>
                <a:cs typeface="Consolas"/>
              </a:rPr>
              <a:t>   </a:t>
            </a:r>
            <a:r>
              <a:rPr lang="en-US" altLang="zh-CN" sz="2600" dirty="0" err="1">
                <a:latin typeface="Consolas"/>
                <a:cs typeface="Consolas"/>
              </a:rPr>
              <a:t>int</a:t>
            </a:r>
            <a:r>
              <a:rPr lang="en-US" altLang="zh-CN" sz="2600" dirty="0">
                <a:latin typeface="Consolas"/>
                <a:cs typeface="Consolas"/>
              </a:rPr>
              <a:t> count = 0;</a:t>
            </a:r>
          </a:p>
          <a:p>
            <a:r>
              <a:rPr lang="en-US" altLang="zh-CN" sz="2800" dirty="0">
                <a:latin typeface="Consolas"/>
                <a:cs typeface="Consolas"/>
              </a:rPr>
              <a:t>   while(n != 0) { </a:t>
            </a:r>
          </a:p>
          <a:p>
            <a:r>
              <a:rPr lang="en-US" altLang="zh-CN" sz="2800" dirty="0">
                <a:latin typeface="Consolas"/>
                <a:cs typeface="Consolas"/>
              </a:rPr>
              <a:t>			n = n&amp;(n-1); </a:t>
            </a:r>
          </a:p>
          <a:p>
            <a:r>
              <a:rPr lang="en-US" altLang="zh-CN" sz="2800" dirty="0">
                <a:latin typeface="Consolas"/>
                <a:cs typeface="Consolas"/>
              </a:rPr>
              <a:t>			count++;</a:t>
            </a:r>
          </a:p>
          <a:p>
            <a:r>
              <a:rPr lang="en-US" altLang="zh-CN" sz="2800" dirty="0">
                <a:latin typeface="Consolas"/>
                <a:cs typeface="Consolas"/>
              </a:rPr>
              <a:t>	} </a:t>
            </a:r>
          </a:p>
          <a:p>
            <a:r>
              <a:rPr lang="en-US" altLang="zh-CN" sz="2800" dirty="0">
                <a:latin typeface="Consolas"/>
                <a:cs typeface="Consolas"/>
              </a:rPr>
              <a:t>	return count;</a:t>
            </a:r>
            <a:endParaRPr lang="en-US" altLang="zh-CN" sz="1600" dirty="0">
              <a:latin typeface="Consolas"/>
              <a:cs typeface="Consolas"/>
            </a:endParaRPr>
          </a:p>
          <a:p>
            <a:r>
              <a:rPr lang="en-US" altLang="zh-CN" sz="2800" dirty="0">
                <a:latin typeface="Consolas"/>
                <a:cs typeface="Consolas"/>
              </a:rPr>
              <a:t>}</a:t>
            </a:r>
            <a:endParaRPr lang="zh-CN" altLang="en-US" sz="28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284994411"/>
      </p:ext>
    </p:extLst>
  </p:cSld>
  <p:clrMapOvr>
    <a:masterClrMapping/>
  </p:clrMapOvr>
</p:sld>
</file>

<file path=ppt/theme/theme1.xml><?xml version="1.0" encoding="utf-8"?>
<a:theme xmlns:a="http://schemas.openxmlformats.org/drawingml/2006/main" name="CloudVisor-Aust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B0F0"/>
        </a:solidFill>
        <a:ln w="28575">
          <a:solidFill>
            <a:schemeClr val="bg2">
              <a:lumMod val="2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30F55FC4E86843A38ABC983CBD33D2" ma:contentTypeVersion="2" ma:contentTypeDescription="Create a new document." ma:contentTypeScope="" ma:versionID="ea51d48ed41b66d32eb63de817eecbcd">
  <xsd:schema xmlns:xsd="http://www.w3.org/2001/XMLSchema" xmlns:xs="http://www.w3.org/2001/XMLSchema" xmlns:p="http://schemas.microsoft.com/office/2006/metadata/properties" xmlns:ns3="74d6482f-e53c-4fa7-ac87-951f9f66bd4c" targetNamespace="http://schemas.microsoft.com/office/2006/metadata/properties" ma:root="true" ma:fieldsID="128b5480a780b9585a060f8329b1fff7" ns3:_="">
    <xsd:import namespace="74d6482f-e53c-4fa7-ac87-951f9f66bd4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d6482f-e53c-4fa7-ac87-951f9f66bd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00399CF-0210-4C41-B302-99CA3E05A3BD}">
  <ds:schemaRefs>
    <ds:schemaRef ds:uri="http://schemas.microsoft.com/office/2006/documentManagement/types"/>
    <ds:schemaRef ds:uri="http://purl.org/dc/elements/1.1/"/>
    <ds:schemaRef ds:uri="http://www.w3.org/XML/1998/namespace"/>
    <ds:schemaRef ds:uri="http://purl.org/dc/terms/"/>
    <ds:schemaRef ds:uri="http://purl.org/dc/dcmitype/"/>
    <ds:schemaRef ds:uri="http://schemas.openxmlformats.org/package/2006/metadata/core-properties"/>
    <ds:schemaRef ds:uri="74d6482f-e53c-4fa7-ac87-951f9f66bd4c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4912D04E-EC5D-4392-B6A4-B623005FC9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4d6482f-e53c-4fa7-ac87-951f9f66bd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D9EAE06-F499-4824-BE4B-0A87E98634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CloudVisor-Austin.thmx</Template>
  <TotalTime>70219</TotalTime>
  <Words>2909</Words>
  <Application>Microsoft Macintosh PowerPoint</Application>
  <PresentationFormat>On-screen Show (4:3)</PresentationFormat>
  <Paragraphs>664</Paragraphs>
  <Slides>49</Slides>
  <Notes>18</Notes>
  <HiddenSlides>15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Arial</vt:lpstr>
      <vt:lpstr>Calibri</vt:lpstr>
      <vt:lpstr>Chalkduster</vt:lpstr>
      <vt:lpstr>Consolas</vt:lpstr>
      <vt:lpstr>Verdana</vt:lpstr>
      <vt:lpstr>Wingdings</vt:lpstr>
      <vt:lpstr>CloudVisor-Austin</vt:lpstr>
      <vt:lpstr>C - Basics, Bitwise Operator</vt:lpstr>
      <vt:lpstr>Lesson plan</vt:lpstr>
      <vt:lpstr>C is an old programming language</vt:lpstr>
      <vt:lpstr>C is an old programming language</vt:lpstr>
      <vt:lpstr>Why learn C for CSO?</vt:lpstr>
      <vt:lpstr>The simplest C program: “Hello World”</vt:lpstr>
      <vt:lpstr>C program with multiple files: naïve organization </vt:lpstr>
      <vt:lpstr>C program with multiple files: *.h vs *.c files</vt:lpstr>
      <vt:lpstr>Common compilation sequence</vt:lpstr>
      <vt:lpstr>Basic C</vt:lpstr>
      <vt:lpstr>Primitive Types (64-bit machine)</vt:lpstr>
      <vt:lpstr>Implicit conversion</vt:lpstr>
      <vt:lpstr>Explicit conversion (casting)</vt:lpstr>
      <vt:lpstr>Operators</vt:lpstr>
      <vt:lpstr>Bitwise NOT:  ~</vt:lpstr>
      <vt:lpstr>Bitwise AND: &amp;</vt:lpstr>
      <vt:lpstr>Example use of &amp;</vt:lpstr>
      <vt:lpstr>Example use of &amp;</vt:lpstr>
      <vt:lpstr>Example use of &amp;</vt:lpstr>
      <vt:lpstr>Bitwise OR: |</vt:lpstr>
      <vt:lpstr>Example use of |</vt:lpstr>
      <vt:lpstr>Bitwise XOR: ^</vt:lpstr>
      <vt:lpstr>Example use of XOR</vt:lpstr>
      <vt:lpstr>Bitwise left-shift: &lt;&lt;</vt:lpstr>
      <vt:lpstr>Bitwise right-shift: &gt;&gt;</vt:lpstr>
      <vt:lpstr>Which shift is used in C ?</vt:lpstr>
      <vt:lpstr>Example use of shift</vt:lpstr>
      <vt:lpstr>Example use of shift</vt:lpstr>
      <vt:lpstr>Breakout time!</vt:lpstr>
      <vt:lpstr>Breakout exercises</vt:lpstr>
      <vt:lpstr>Example use of shift</vt:lpstr>
      <vt:lpstr>Lesson plan</vt:lpstr>
      <vt:lpstr>C’s Control flow</vt:lpstr>
      <vt:lpstr>goto statements allow jump anywhere</vt:lpstr>
      <vt:lpstr>Avoid goto’s whenever possible</vt:lpstr>
      <vt:lpstr>Avoid goto’s whenever possible</vt:lpstr>
      <vt:lpstr>C scope rules</vt:lpstr>
      <vt:lpstr>Summary</vt:lpstr>
      <vt:lpstr>Exercises</vt:lpstr>
      <vt:lpstr>Exercises</vt:lpstr>
      <vt:lpstr>Exercises</vt:lpstr>
      <vt:lpstr>Exercises</vt:lpstr>
      <vt:lpstr>Exercises</vt:lpstr>
      <vt:lpstr>Exercises</vt:lpstr>
      <vt:lpstr>Exercises</vt:lpstr>
      <vt:lpstr>Exercises</vt:lpstr>
      <vt:lpstr>Exercises</vt:lpstr>
      <vt:lpstr>Exercises</vt:lpstr>
      <vt:lpstr>Exercises</vt:lpstr>
    </vt:vector>
  </TitlesOfParts>
  <Company>fudan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VFlash</dc:title>
  <dc:creator>xiang song</dc:creator>
  <cp:lastModifiedBy>Jinyang Li</cp:lastModifiedBy>
  <cp:revision>6312</cp:revision>
  <cp:lastPrinted>2026-02-02T17:51:10Z</cp:lastPrinted>
  <dcterms:created xsi:type="dcterms:W3CDTF">2012-08-17T04:52:30Z</dcterms:created>
  <dcterms:modified xsi:type="dcterms:W3CDTF">2026-09-16T18:05:06Z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0x010100F230F55FC4E86843A38ABC983CBD33D2</vt:lpwstr>
  </property>
</Properties>
</file>