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5" r:id="rId5"/>
    <p:sldId id="256" r:id="rId6"/>
    <p:sldId id="257" r:id="rId7"/>
    <p:sldId id="258" r:id="rId8"/>
    <p:sldId id="262" r:id="rId9"/>
    <p:sldId id="266" r:id="rId10"/>
    <p:sldId id="264" r:id="rId11"/>
    <p:sldId id="311" r:id="rId12"/>
    <p:sldId id="296" r:id="rId13"/>
    <p:sldId id="298" r:id="rId14"/>
    <p:sldId id="316" r:id="rId15"/>
    <p:sldId id="297" r:id="rId16"/>
    <p:sldId id="312" r:id="rId17"/>
    <p:sldId id="304" r:id="rId18"/>
    <p:sldId id="313" r:id="rId19"/>
    <p:sldId id="314" r:id="rId20"/>
    <p:sldId id="302" r:id="rId21"/>
    <p:sldId id="306" r:id="rId22"/>
    <p:sldId id="308" r:id="rId23"/>
    <p:sldId id="309" r:id="rId24"/>
    <p:sldId id="310" r:id="rId25"/>
    <p:sldId id="31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D29FE-EAFE-DA45-8968-B49E0D5829D1}" v="79" dt="2026-09-30T21:45:23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2"/>
    <p:restoredTop sz="94667"/>
  </p:normalViewPr>
  <p:slideViewPr>
    <p:cSldViewPr snapToGrid="0" snapToObjects="1">
      <p:cViewPr varScale="1">
        <p:scale>
          <a:sx n="103" d="100"/>
          <a:sy n="103" d="100"/>
        </p:scale>
        <p:origin x="16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3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7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6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5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8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8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98A3A-B3F1-C640-8709-1356562CC12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Struct, malloc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114765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struct: grouping variables</a:t>
            </a:r>
          </a:p>
          <a:p>
            <a:r>
              <a:rPr lang="en-US" dirty="0"/>
              <a:t>malloc: 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28532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Structs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r>
              <a:rPr lang="en-US" dirty="0"/>
              <a:t> stores fields of different types contiguously in memory</a:t>
            </a:r>
          </a:p>
        </p:txBody>
      </p:sp>
    </p:spTree>
    <p:extLst>
      <p:ext uri="{BB962C8B-B14F-4D97-AF65-F5344CB8AC3E}">
        <p14:creationId xmlns:p14="http://schemas.microsoft.com/office/powerpoint/2010/main" val="97301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What’s a struct?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+mj-lt"/>
                <a:cs typeface="Verdana"/>
              </a:rPr>
              <a:t>Array: a block of n consecutive data of the same type.</a:t>
            </a:r>
          </a:p>
          <a:p>
            <a:pPr marL="0" indent="0">
              <a:buNone/>
            </a:pPr>
            <a:endParaRPr kumimoji="1" lang="en-US" altLang="zh-CN" dirty="0">
              <a:latin typeface="+mj-lt"/>
              <a:cs typeface="Verdana"/>
            </a:endParaRPr>
          </a:p>
          <a:p>
            <a:r>
              <a:rPr kumimoji="1" lang="en-US" altLang="zh-CN" dirty="0">
                <a:latin typeface="+mj-lt"/>
                <a:cs typeface="Verdana"/>
              </a:rPr>
              <a:t>Struct: a collection of data of </a:t>
            </a:r>
            <a:r>
              <a:rPr kumimoji="1" lang="en-US" altLang="zh-CN" u="sng" dirty="0">
                <a:latin typeface="+mj-lt"/>
                <a:cs typeface="Verdana"/>
              </a:rPr>
              <a:t>different</a:t>
            </a:r>
            <a:r>
              <a:rPr kumimoji="1" lang="en-US" altLang="zh-CN" dirty="0">
                <a:latin typeface="+mj-lt"/>
                <a:cs typeface="Verdana"/>
              </a:rPr>
              <a:t> types.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C has no support for object oriented programming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You can view structs as rudimentary “objects” without associated member functions</a:t>
            </a:r>
          </a:p>
        </p:txBody>
      </p:sp>
    </p:spTree>
    <p:extLst>
      <p:ext uri="{BB962C8B-B14F-4D97-AF65-F5344CB8AC3E}">
        <p14:creationId xmlns:p14="http://schemas.microsoft.com/office/powerpoint/2010/main" val="228500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Define and access struct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8813" y="1789821"/>
            <a:ext cx="61762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struct student {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int id;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char *name;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};</a:t>
            </a:r>
          </a:p>
        </p:txBody>
      </p:sp>
      <p:sp>
        <p:nvSpPr>
          <p:cNvPr id="7" name="矩形 6"/>
          <p:cNvSpPr/>
          <p:nvPr/>
        </p:nvSpPr>
        <p:spPr>
          <a:xfrm>
            <a:off x="338813" y="3978150"/>
            <a:ext cx="7219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宋体" pitchFamily="2" charset="-122"/>
                <a:cs typeface="Verdana"/>
              </a:rPr>
              <a:t>struct student t;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F8EA39-3151-4BC5-86DA-5323D7D91B09}"/>
              </a:ext>
            </a:extLst>
          </p:cNvPr>
          <p:cNvGrpSpPr/>
          <p:nvPr/>
        </p:nvGrpSpPr>
        <p:grpSpPr>
          <a:xfrm>
            <a:off x="3875359" y="3307353"/>
            <a:ext cx="3057864" cy="1015720"/>
            <a:chOff x="3875359" y="3307353"/>
            <a:chExt cx="3057864" cy="1015720"/>
          </a:xfrm>
        </p:grpSpPr>
        <p:cxnSp>
          <p:nvCxnSpPr>
            <p:cNvPr id="8" name="曲线连接符 16"/>
            <p:cNvCxnSpPr>
              <a:cxnSpLocks noChangeShapeType="1"/>
            </p:cNvCxnSpPr>
            <p:nvPr/>
          </p:nvCxnSpPr>
          <p:spPr bwMode="auto">
            <a:xfrm rot="10800000" flipV="1">
              <a:off x="3875359" y="3766914"/>
              <a:ext cx="659066" cy="55615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Box 14"/>
            <p:cNvSpPr txBox="1">
              <a:spLocks noChangeArrowheads="1"/>
            </p:cNvSpPr>
            <p:nvPr/>
          </p:nvSpPr>
          <p:spPr bwMode="auto">
            <a:xfrm>
              <a:off x="4534425" y="3307353"/>
              <a:ext cx="2398798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+mj-lt"/>
                  <a:cs typeface="Verdana"/>
                </a:rPr>
                <a:t>define variable t with</a:t>
              </a:r>
            </a:p>
            <a:p>
              <a:pPr eaLnBrk="1" hangingPunct="1"/>
              <a:r>
                <a:rPr lang="en-US" altLang="zh-CN" sz="2000" dirty="0">
                  <a:latin typeface="+mj-lt"/>
                  <a:cs typeface="Verdana"/>
                </a:rPr>
                <a:t>type “</a:t>
              </a:r>
              <a:r>
                <a:rPr lang="en-US" altLang="zh-CN" sz="2000" dirty="0" err="1">
                  <a:latin typeface="+mj-lt"/>
                  <a:cs typeface="Verdana"/>
                </a:rPr>
                <a:t>struct</a:t>
              </a:r>
              <a:r>
                <a:rPr lang="en-US" altLang="zh-CN" sz="2000" dirty="0">
                  <a:latin typeface="+mj-lt"/>
                  <a:cs typeface="Verdana"/>
                </a:rPr>
                <a:t> student”</a:t>
              </a:r>
              <a:endParaRPr lang="zh-CN" altLang="en-US" sz="2000" dirty="0">
                <a:latin typeface="+mj-lt"/>
                <a:cs typeface="Verdan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1DB7B26-22AF-429D-A27A-4AFA646704AB}"/>
              </a:ext>
            </a:extLst>
          </p:cNvPr>
          <p:cNvSpPr txBox="1"/>
          <p:nvPr/>
        </p:nvSpPr>
        <p:spPr>
          <a:xfrm>
            <a:off x="338813" y="4555469"/>
            <a:ext cx="353654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宋体" pitchFamily="2" charset="-122"/>
                <a:cs typeface="Verdana"/>
              </a:rPr>
              <a:t>t.id = 1024;</a:t>
            </a:r>
          </a:p>
          <a:p>
            <a:r>
              <a:rPr lang="en-US" altLang="zh-CN" sz="2800" dirty="0">
                <a:latin typeface="Consolas" panose="020B0609020204030204" pitchFamily="49" charset="0"/>
                <a:ea typeface="宋体" pitchFamily="2" charset="-122"/>
                <a:cs typeface="Verdana"/>
              </a:rPr>
              <a:t>t.name = “</a:t>
            </a:r>
            <a:r>
              <a:rPr lang="en-US" altLang="zh-CN" sz="2800" dirty="0" err="1">
                <a:latin typeface="Consolas" panose="020B0609020204030204" pitchFamily="49" charset="0"/>
                <a:ea typeface="宋体" pitchFamily="2" charset="-122"/>
                <a:cs typeface="Verdana"/>
              </a:rPr>
              <a:t>alice</a:t>
            </a:r>
            <a:r>
              <a:rPr lang="en-US" altLang="zh-CN" sz="2800" dirty="0">
                <a:latin typeface="Consolas" panose="020B0609020204030204" pitchFamily="49" charset="0"/>
                <a:ea typeface="宋体" pitchFamily="2" charset="-122"/>
                <a:cs typeface="Verdana"/>
              </a:rPr>
              <a:t>”;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321E99-382A-49D8-957E-793C2DB30A5A}"/>
              </a:ext>
            </a:extLst>
          </p:cNvPr>
          <p:cNvGrpSpPr/>
          <p:nvPr/>
        </p:nvGrpSpPr>
        <p:grpSpPr>
          <a:xfrm>
            <a:off x="3947304" y="4555469"/>
            <a:ext cx="2895576" cy="707886"/>
            <a:chOff x="3947304" y="4555469"/>
            <a:chExt cx="2895576" cy="707886"/>
          </a:xfrm>
        </p:grpSpPr>
        <p:cxnSp>
          <p:nvCxnSpPr>
            <p:cNvPr id="10" name="曲线连接符 16">
              <a:extLst>
                <a:ext uri="{FF2B5EF4-FFF2-40B4-BE49-F238E27FC236}">
                  <a16:creationId xmlns:a16="http://schemas.microsoft.com/office/drawing/2014/main" id="{46F154A9-0309-4A08-9F73-99EBA892A724}"/>
                </a:ext>
              </a:extLst>
            </p:cNvPr>
            <p:cNvCxnSpPr>
              <a:cxnSpLocks noChangeShapeType="1"/>
              <a:stCxn id="11" idx="1"/>
            </p:cNvCxnSpPr>
            <p:nvPr/>
          </p:nvCxnSpPr>
          <p:spPr bwMode="auto">
            <a:xfrm rot="10800000">
              <a:off x="3947304" y="4845080"/>
              <a:ext cx="659066" cy="64332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92C120BA-ACE0-4EA4-9DF0-9B3ECEA92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370" y="4555469"/>
              <a:ext cx="2236510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+mj-lt"/>
                  <a:cs typeface="Verdana"/>
                </a:rPr>
                <a:t>Access fields of the </a:t>
              </a:r>
            </a:p>
            <a:p>
              <a:pPr eaLnBrk="1" hangingPunct="1"/>
              <a:r>
                <a:rPr lang="en-US" altLang="zh-CN" sz="2000" dirty="0">
                  <a:latin typeface="+mj-lt"/>
                  <a:cs typeface="Verdana"/>
                </a:rPr>
                <a:t>struct variable</a:t>
              </a:r>
              <a:endParaRPr lang="zh-CN" altLang="en-US" sz="2000" dirty="0">
                <a:latin typeface="+mj-lt"/>
                <a:cs typeface="Verdana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CE282A-70D7-4B21-8A23-AE48A76D35BD}"/>
              </a:ext>
            </a:extLst>
          </p:cNvPr>
          <p:cNvGrpSpPr/>
          <p:nvPr/>
        </p:nvGrpSpPr>
        <p:grpSpPr>
          <a:xfrm>
            <a:off x="3735181" y="1667703"/>
            <a:ext cx="5408819" cy="1015663"/>
            <a:chOff x="3735181" y="1667703"/>
            <a:chExt cx="5408819" cy="10156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B439FD-EF2D-4612-B121-B6890FB8A4F7}"/>
                </a:ext>
              </a:extLst>
            </p:cNvPr>
            <p:cNvSpPr txBox="1"/>
            <p:nvPr/>
          </p:nvSpPr>
          <p:spPr>
            <a:xfrm>
              <a:off x="4224255" y="1667703"/>
              <a:ext cx="4919745" cy="10156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struct declaration: </a:t>
              </a:r>
            </a:p>
            <a:p>
              <a:r>
                <a:rPr lang="en-US" sz="2000" dirty="0"/>
                <a:t>a </a:t>
              </a:r>
              <a:r>
                <a:rPr lang="en-US" sz="2000" dirty="0" err="1"/>
                <a:t>struct’s</a:t>
              </a:r>
              <a:r>
                <a:rPr lang="en-US" sz="2000" dirty="0"/>
                <a:t> fields are contiguous in memory, </a:t>
              </a:r>
            </a:p>
            <a:p>
              <a:r>
                <a:rPr lang="en-US" sz="2000" dirty="0"/>
                <a:t>with potential gaps, aka padding, in between.</a:t>
              </a:r>
            </a:p>
          </p:txBody>
        </p:sp>
        <p:cxnSp>
          <p:nvCxnSpPr>
            <p:cNvPr id="13" name="曲线连接符 16">
              <a:extLst>
                <a:ext uri="{FF2B5EF4-FFF2-40B4-BE49-F238E27FC236}">
                  <a16:creationId xmlns:a16="http://schemas.microsoft.com/office/drawing/2014/main" id="{D2134C57-33BF-46BE-9A47-56224303DE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735181" y="2107955"/>
              <a:ext cx="489074" cy="28917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013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typedef struct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337143" y="1985321"/>
            <a:ext cx="61762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itchFamily="2" charset="-122"/>
                <a:cs typeface="Verdana"/>
              </a:rPr>
              <a:t>typedef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 struct {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int id;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char *name;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} student;</a:t>
            </a:r>
          </a:p>
        </p:txBody>
      </p:sp>
      <p:sp>
        <p:nvSpPr>
          <p:cNvPr id="7" name="矩形 6"/>
          <p:cNvSpPr/>
          <p:nvPr/>
        </p:nvSpPr>
        <p:spPr>
          <a:xfrm>
            <a:off x="1337143" y="4102030"/>
            <a:ext cx="43568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strike="sngStrike" dirty="0">
                <a:latin typeface="Consolas" panose="020B0609020204030204" pitchFamily="49" charset="0"/>
                <a:ea typeface="宋体" pitchFamily="2" charset="-122"/>
                <a:cs typeface="Verdana"/>
              </a:rPr>
              <a:t>struct</a:t>
            </a:r>
            <a:r>
              <a:rPr lang="en-US" altLang="zh-CN" sz="2800" dirty="0">
                <a:latin typeface="Consolas" panose="020B0609020204030204" pitchFamily="49" charset="0"/>
                <a:ea typeface="宋体" pitchFamily="2" charset="-122"/>
                <a:cs typeface="Verdana"/>
              </a:rPr>
              <a:t> student t;</a:t>
            </a:r>
          </a:p>
        </p:txBody>
      </p:sp>
      <p:sp>
        <p:nvSpPr>
          <p:cNvPr id="5" name="矩形 6"/>
          <p:cNvSpPr/>
          <p:nvPr/>
        </p:nvSpPr>
        <p:spPr>
          <a:xfrm>
            <a:off x="4710167" y="4160772"/>
            <a:ext cx="7219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dirty="0">
              <a:latin typeface="Verdana"/>
              <a:ea typeface="宋体" pitchFamily="2" charset="-122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340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to </a:t>
            </a:r>
            <a:r>
              <a:rPr kumimoji="1" lang="en-US" altLang="zh-CN" dirty="0" err="1"/>
              <a:t>struct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70432" y="1452977"/>
            <a:ext cx="61762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typedef struct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int id;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	char *name;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Verdana"/>
              </a:rPr>
              <a:t>} student</a:t>
            </a:r>
            <a:r>
              <a:rPr lang="en-US" altLang="zh-CN" sz="2400" dirty="0">
                <a:solidFill>
                  <a:srgbClr val="000000"/>
                </a:solidFill>
                <a:latin typeface="Verdana"/>
                <a:ea typeface="宋体" pitchFamily="2" charset="-122"/>
                <a:cs typeface="Verdana"/>
              </a:rPr>
              <a:t>;</a:t>
            </a:r>
          </a:p>
          <a:p>
            <a:endParaRPr lang="en-US" altLang="zh-CN" sz="2400" dirty="0">
              <a:solidFill>
                <a:srgbClr val="000000"/>
              </a:solidFill>
              <a:latin typeface="Verdana"/>
              <a:ea typeface="宋体" pitchFamily="2" charset="-122"/>
              <a:cs typeface="Verdana"/>
            </a:endParaRPr>
          </a:p>
          <a:p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student t = {1023, “</a:t>
            </a:r>
            <a:r>
              <a:rPr lang="en-US" altLang="zh-CN" sz="2400" dirty="0" err="1">
                <a:latin typeface="Consolas" panose="020B0609020204030204" pitchFamily="49" charset="0"/>
                <a:ea typeface="宋体" pitchFamily="2" charset="-122"/>
                <a:cs typeface="Verdana"/>
              </a:rPr>
              <a:t>alice</a:t>
            </a:r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”};</a:t>
            </a:r>
          </a:p>
        </p:txBody>
      </p:sp>
      <p:sp>
        <p:nvSpPr>
          <p:cNvPr id="7" name="矩形 6"/>
          <p:cNvSpPr/>
          <p:nvPr/>
        </p:nvSpPr>
        <p:spPr>
          <a:xfrm>
            <a:off x="1970431" y="3736319"/>
            <a:ext cx="6612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student *p = &amp;t;</a:t>
            </a:r>
          </a:p>
        </p:txBody>
      </p:sp>
      <p:sp>
        <p:nvSpPr>
          <p:cNvPr id="5" name="矩形 6"/>
          <p:cNvSpPr/>
          <p:nvPr/>
        </p:nvSpPr>
        <p:spPr>
          <a:xfrm>
            <a:off x="4710167" y="4160772"/>
            <a:ext cx="7219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dirty="0">
              <a:latin typeface="Verdana"/>
              <a:ea typeface="宋体" pitchFamily="2" charset="-122"/>
              <a:cs typeface="Verdana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A65B401-83BC-4B52-909F-82EBD1184CC5}"/>
              </a:ext>
            </a:extLst>
          </p:cNvPr>
          <p:cNvSpPr/>
          <p:nvPr/>
        </p:nvSpPr>
        <p:spPr>
          <a:xfrm>
            <a:off x="216453" y="3390150"/>
            <a:ext cx="1568174" cy="989495"/>
          </a:xfrm>
          <a:prstGeom prst="wedgeRoundRectCallout">
            <a:avLst>
              <a:gd name="adj1" fmla="val 82886"/>
              <a:gd name="adj2" fmla="val 6110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P-&gt;name is shorthand for (*p).name</a:t>
            </a: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B5A4917F-95D3-42DF-AAEB-601140341437}"/>
              </a:ext>
            </a:extLst>
          </p:cNvPr>
          <p:cNvSpPr/>
          <p:nvPr/>
        </p:nvSpPr>
        <p:spPr>
          <a:xfrm>
            <a:off x="1970432" y="4288444"/>
            <a:ext cx="66125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p-&gt;id = 1024; </a:t>
            </a:r>
          </a:p>
          <a:p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p-&gt;name = “bob”;</a:t>
            </a:r>
          </a:p>
          <a:p>
            <a:r>
              <a:rPr lang="en-US" altLang="zh-CN" sz="2400" dirty="0" err="1">
                <a:latin typeface="Consolas" panose="020B0609020204030204" pitchFamily="49" charset="0"/>
                <a:ea typeface="宋体" pitchFamily="2" charset="-122"/>
                <a:cs typeface="Verdana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宋体" pitchFamily="2" charset="-122"/>
                <a:cs typeface="Verdana"/>
              </a:rPr>
              <a:t>(“%d %s\n”, t.id, t.name);</a:t>
            </a:r>
          </a:p>
        </p:txBody>
      </p:sp>
    </p:spTree>
    <p:extLst>
      <p:ext uri="{BB962C8B-B14F-4D97-AF65-F5344CB8AC3E}">
        <p14:creationId xmlns:p14="http://schemas.microsoft.com/office/powerpoint/2010/main" val="32573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E5C4-57D1-415B-8BEA-829EE4F9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* pointer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E257D-B210-4B94-ADAA-13F86EB528B6}"/>
              </a:ext>
            </a:extLst>
          </p:cNvPr>
          <p:cNvSpPr txBox="1"/>
          <p:nvPr/>
        </p:nvSpPr>
        <p:spPr>
          <a:xfrm>
            <a:off x="1187420" y="1521112"/>
            <a:ext cx="31470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void </a:t>
            </a:r>
            <a:r>
              <a:rPr lang="en-US" sz="2000" dirty="0" err="1">
                <a:latin typeface="Consolas" panose="020B0609020204030204" pitchFamily="49" charset="0"/>
              </a:rPr>
              <a:t>memset_zero</a:t>
            </a:r>
            <a:r>
              <a:rPr lang="en-US" sz="2000" dirty="0">
                <a:latin typeface="Consolas" panose="020B0609020204030204" pitchFamily="49" charset="0"/>
              </a:rPr>
              <a:t>(???)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28628-A116-47EF-BCC7-1D3D0ECB361A}"/>
              </a:ext>
            </a:extLst>
          </p:cNvPr>
          <p:cNvSpPr txBox="1"/>
          <p:nvPr/>
        </p:nvSpPr>
        <p:spPr>
          <a:xfrm>
            <a:off x="1187420" y="3721040"/>
            <a:ext cx="28648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student s;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memset_zero</a:t>
            </a:r>
            <a:r>
              <a:rPr lang="en-US" sz="2000" dirty="0">
                <a:latin typeface="Consolas" panose="020B0609020204030204" pitchFamily="49" charset="0"/>
              </a:rPr>
              <a:t>(&amp;s);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teacher 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</a:rPr>
              <a:t>memset_zero</a:t>
            </a:r>
            <a:r>
              <a:rPr lang="en-US" sz="2000" dirty="0">
                <a:latin typeface="Consolas" panose="020B0609020204030204" pitchFamily="49" charset="0"/>
              </a:rPr>
              <a:t>(&amp;t);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2333E-6928-44B4-89B3-DC9B524823A2}"/>
              </a:ext>
            </a:extLst>
          </p:cNvPr>
          <p:cNvSpPr txBox="1"/>
          <p:nvPr/>
        </p:nvSpPr>
        <p:spPr>
          <a:xfrm>
            <a:off x="3371673" y="1510827"/>
            <a:ext cx="2582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(void *p, int n)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BA1B9-EC56-4725-A344-3B27D20D03B7}"/>
              </a:ext>
            </a:extLst>
          </p:cNvPr>
          <p:cNvSpPr txBox="1"/>
          <p:nvPr/>
        </p:nvSpPr>
        <p:spPr>
          <a:xfrm>
            <a:off x="1545723" y="4992380"/>
            <a:ext cx="3993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memset_zero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(&amp;s, 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sizeof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(s));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D10BE6-425C-4742-B16F-08ECB45EC6C3}"/>
              </a:ext>
            </a:extLst>
          </p:cNvPr>
          <p:cNvSpPr txBox="1"/>
          <p:nvPr/>
        </p:nvSpPr>
        <p:spPr>
          <a:xfrm>
            <a:off x="1545723" y="5898835"/>
            <a:ext cx="3993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memset_zero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(&amp;t, 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sizeof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(t));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9AE2F-95E7-4A8A-8CA2-40AEA0EF9B9E}"/>
              </a:ext>
            </a:extLst>
          </p:cNvPr>
          <p:cNvSpPr txBox="1"/>
          <p:nvPr/>
        </p:nvSpPr>
        <p:spPr>
          <a:xfrm>
            <a:off x="1600348" y="2245331"/>
            <a:ext cx="4134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char *q = (char *)p;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 (int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= 0; i &lt; n;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q[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 = 0;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3BA778-DA0C-4156-93BA-BB9492D7ADB7}"/>
              </a:ext>
            </a:extLst>
          </p:cNvPr>
          <p:cNvSpPr/>
          <p:nvPr/>
        </p:nvSpPr>
        <p:spPr>
          <a:xfrm>
            <a:off x="6240455" y="5731372"/>
            <a:ext cx="2864887" cy="64633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memset</a:t>
            </a:r>
            <a:r>
              <a:rPr lang="en-US" dirty="0">
                <a:solidFill>
                  <a:schemeClr val="tx1"/>
                </a:solidFill>
              </a:rPr>
              <a:t> is part of </a:t>
            </a:r>
            <a:r>
              <a:rPr lang="en-US" dirty="0" err="1">
                <a:solidFill>
                  <a:schemeClr val="tx1"/>
                </a:solidFill>
              </a:rPr>
              <a:t>stdlib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A65FE60E-32EC-4D44-B3C1-C08835ABF006}"/>
              </a:ext>
            </a:extLst>
          </p:cNvPr>
          <p:cNvSpPr/>
          <p:nvPr/>
        </p:nvSpPr>
        <p:spPr>
          <a:xfrm>
            <a:off x="5343388" y="1923983"/>
            <a:ext cx="463701" cy="14711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781369-4CD2-488A-BBF6-9BE4373AEAC5}"/>
              </a:ext>
            </a:extLst>
          </p:cNvPr>
          <p:cNvSpPr txBox="1"/>
          <p:nvPr/>
        </p:nvSpPr>
        <p:spPr>
          <a:xfrm>
            <a:off x="5735942" y="2337664"/>
            <a:ext cx="3455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to make </a:t>
            </a:r>
            <a:r>
              <a:rPr lang="en-US" dirty="0" err="1">
                <a:solidFill>
                  <a:schemeClr val="accent1"/>
                </a:solidFill>
              </a:rPr>
              <a:t>memset_zero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work with different variable types?</a:t>
            </a:r>
          </a:p>
        </p:txBody>
      </p:sp>
    </p:spTree>
    <p:extLst>
      <p:ext uri="{BB962C8B-B14F-4D97-AF65-F5344CB8AC3E}">
        <p14:creationId xmlns:p14="http://schemas.microsoft.com/office/powerpoint/2010/main" val="139741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Malloc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7337691" cy="1752600"/>
          </a:xfrm>
        </p:spPr>
        <p:txBody>
          <a:bodyPr/>
          <a:lstStyle/>
          <a:p>
            <a:r>
              <a:rPr lang="en-US" dirty="0"/>
              <a:t>Allocates a chunk of memory dynamically</a:t>
            </a:r>
          </a:p>
        </p:txBody>
      </p:sp>
    </p:spTree>
    <p:extLst>
      <p:ext uri="{BB962C8B-B14F-4D97-AF65-F5344CB8AC3E}">
        <p14:creationId xmlns:p14="http://schemas.microsoft.com/office/powerpoint/2010/main" val="88888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What’s malloc?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98701" cy="4525963"/>
          </a:xfrm>
        </p:spPr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A collection of 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stdlib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 functions for dynamic memory allocation (with OS’ help):</a:t>
            </a:r>
          </a:p>
          <a:p>
            <a:pPr lvl="1">
              <a:buFont typeface="Symbol" charset="2"/>
              <a:buChar char="-"/>
            </a:pPr>
            <a:r>
              <a:rPr lang="en-US" altLang="zh-CN" dirty="0"/>
              <a:t>malloc: allocate storage of a given size</a:t>
            </a:r>
          </a:p>
          <a:p>
            <a:pPr>
              <a:buFont typeface="Symbol" charset="2"/>
              <a:buChar char="-"/>
            </a:pPr>
            <a:endParaRPr lang="en-US" altLang="zh-CN" dirty="0"/>
          </a:p>
          <a:p>
            <a:pPr lvl="1">
              <a:buFont typeface="Symbol" charset="2"/>
              <a:buChar char="-"/>
            </a:pPr>
            <a:r>
              <a:rPr lang="en-US" altLang="zh-CN" dirty="0"/>
              <a:t>free: de-allocate previously </a:t>
            </a:r>
            <a:r>
              <a:rPr lang="en-US" altLang="zh-CN" dirty="0" err="1"/>
              <a:t>malloc-ed</a:t>
            </a:r>
            <a:r>
              <a:rPr lang="en-US" altLang="zh-CN" dirty="0"/>
              <a:t> storage</a:t>
            </a:r>
          </a:p>
          <a:p>
            <a:pPr>
              <a:buFont typeface="Symbol" charset="2"/>
              <a:buChar char="-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189178" y="3255680"/>
            <a:ext cx="56723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Consolas"/>
                <a:cs typeface="Consolas"/>
              </a:rPr>
              <a:t>void *</a:t>
            </a:r>
            <a:r>
              <a:rPr lang="en-US" altLang="zh-CN" sz="2400" b="1" dirty="0" err="1">
                <a:solidFill>
                  <a:schemeClr val="accent1"/>
                </a:solidFill>
                <a:latin typeface="Consolas"/>
                <a:cs typeface="Consolas"/>
              </a:rPr>
              <a:t>malloc</a:t>
            </a:r>
            <a:r>
              <a:rPr lang="en-US" altLang="zh-CN" sz="2400" dirty="0">
                <a:solidFill>
                  <a:schemeClr val="accent1"/>
                </a:solidFill>
                <a:latin typeface="Consolas"/>
                <a:cs typeface="Consolas"/>
              </a:rPr>
              <a:t>(</a:t>
            </a:r>
            <a:r>
              <a:rPr lang="en-US" altLang="zh-CN" sz="2400" dirty="0" err="1">
                <a:solidFill>
                  <a:schemeClr val="accent1"/>
                </a:solidFill>
                <a:latin typeface="Consolas"/>
                <a:cs typeface="Consolas"/>
              </a:rPr>
              <a:t>size_t</a:t>
            </a:r>
            <a:r>
              <a:rPr lang="en-US" altLang="zh-CN" sz="2400" dirty="0">
                <a:solidFill>
                  <a:schemeClr val="accent1"/>
                </a:solidFill>
                <a:latin typeface="Consolas"/>
                <a:cs typeface="Consolas"/>
              </a:rPr>
              <a:t> size);</a:t>
            </a:r>
            <a:endParaRPr lang="zh-CN" altLang="en-US" sz="2400" dirty="0">
              <a:solidFill>
                <a:schemeClr val="accent1"/>
              </a:solidFill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9178" y="4389521"/>
            <a:ext cx="3738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Consolas"/>
                <a:cs typeface="Consolas"/>
              </a:rPr>
              <a:t>void </a:t>
            </a:r>
            <a:r>
              <a:rPr lang="en-US" altLang="zh-CN" sz="2400" b="1" dirty="0">
                <a:solidFill>
                  <a:schemeClr val="accent1"/>
                </a:solidFill>
                <a:latin typeface="Consolas"/>
                <a:cs typeface="Consolas"/>
              </a:rPr>
              <a:t>free(void</a:t>
            </a:r>
            <a:r>
              <a:rPr lang="en-US" altLang="zh-CN" sz="2400" dirty="0">
                <a:solidFill>
                  <a:schemeClr val="accent1"/>
                </a:solidFill>
                <a:latin typeface="Consolas"/>
                <a:cs typeface="Consolas"/>
              </a:rPr>
              <a:t> *</a:t>
            </a:r>
            <a:r>
              <a:rPr lang="en-US" altLang="zh-CN" sz="2400" dirty="0" err="1">
                <a:solidFill>
                  <a:schemeClr val="accent1"/>
                </a:solidFill>
                <a:latin typeface="Consolas"/>
                <a:cs typeface="Consolas"/>
              </a:rPr>
              <a:t>ptr</a:t>
            </a:r>
            <a:r>
              <a:rPr lang="en-US" altLang="zh-CN" sz="2400" b="1" dirty="0">
                <a:solidFill>
                  <a:schemeClr val="accent1"/>
                </a:solidFill>
                <a:latin typeface="Consolas"/>
                <a:cs typeface="Consolas"/>
              </a:rPr>
              <a:t>);</a:t>
            </a:r>
            <a:endParaRPr lang="zh-CN" altLang="en-US" sz="2400" dirty="0">
              <a:solidFill>
                <a:schemeClr val="accent1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302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8DCD-E754-8EA6-0529-911DB301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vs. 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56C3C-BD25-E752-A08A-69FDD53563E8}"/>
              </a:ext>
            </a:extLst>
          </p:cNvPr>
          <p:cNvSpPr txBox="1"/>
          <p:nvPr/>
        </p:nvSpPr>
        <p:spPr>
          <a:xfrm>
            <a:off x="588723" y="1728592"/>
            <a:ext cx="3477234" cy="39087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Foo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double y;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//constructor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Foo(int x, double y) {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this.x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this.y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y;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//later in code somewhere…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Foo f = new Foo(1, 3.14);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2EB49-632C-F380-F3C7-C560FFF01232}"/>
              </a:ext>
            </a:extLst>
          </p:cNvPr>
          <p:cNvSpPr txBox="1"/>
          <p:nvPr/>
        </p:nvSpPr>
        <p:spPr>
          <a:xfrm>
            <a:off x="4749452" y="1728592"/>
            <a:ext cx="3857146" cy="4001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Consolas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  <a:cs typeface="Consolas"/>
              </a:rPr>
              <a:t>stdlib.h</a:t>
            </a:r>
            <a:r>
              <a:rPr lang="en-US" altLang="zh-CN" dirty="0">
                <a:latin typeface="Consolas" panose="020B0609020204030204" pitchFamily="49" charset="0"/>
                <a:cs typeface="Consolas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typedef struct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double y;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Foo;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//later in code somewhere…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Foo *p = malloc(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(Foo));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p-&gt;x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p-&gt;y = 3.14;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free(p);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B1D54-D669-13D6-B59F-4DFE8BB5D7A2}"/>
              </a:ext>
            </a:extLst>
          </p:cNvPr>
          <p:cNvSpPr txBox="1"/>
          <p:nvPr/>
        </p:nvSpPr>
        <p:spPr>
          <a:xfrm>
            <a:off x="588723" y="1300767"/>
            <a:ext cx="5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D6681-E946-1EB2-2FD6-753C02C94C50}"/>
              </a:ext>
            </a:extLst>
          </p:cNvPr>
          <p:cNvSpPr txBox="1"/>
          <p:nvPr/>
        </p:nvSpPr>
        <p:spPr>
          <a:xfrm>
            <a:off x="4749452" y="1359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6EF0CA-827D-A70A-783B-F37BB4467365}"/>
                  </a:ext>
                </a:extLst>
              </p:cNvPr>
              <p:cNvSpPr txBox="1"/>
              <p:nvPr/>
            </p:nvSpPr>
            <p:spPr>
              <a:xfrm>
                <a:off x="4749452" y="5846673"/>
                <a:ext cx="3725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C’s malloc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java’s new - initialization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6EF0CA-827D-A70A-783B-F37BB446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52" y="5846673"/>
                <a:ext cx="3725187" cy="369332"/>
              </a:xfrm>
              <a:prstGeom prst="rect">
                <a:avLst/>
              </a:prstGeom>
              <a:blipFill>
                <a:blip r:embed="rId2"/>
                <a:stretch>
                  <a:fillRect l="-1017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3FAF97-F2CA-25C7-3337-DF8D200351CB}"/>
                  </a:ext>
                </a:extLst>
              </p:cNvPr>
              <p:cNvSpPr txBox="1"/>
              <p:nvPr/>
            </p:nvSpPr>
            <p:spPr>
              <a:xfrm>
                <a:off x="4749452" y="6269975"/>
                <a:ext cx="34287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C’s free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java’s garbage collection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3FAF97-F2CA-25C7-3337-DF8D20035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52" y="6269975"/>
                <a:ext cx="3428759" cy="369332"/>
              </a:xfrm>
              <a:prstGeom prst="rect">
                <a:avLst/>
              </a:prstGeom>
              <a:blipFill>
                <a:blip r:embed="rId3"/>
                <a:stretch>
                  <a:fillRect l="-1103" t="-6667" r="-3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2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91" y="306388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Memory allocation for </a:t>
            </a:r>
            <a:br>
              <a:rPr kumimoji="1" lang="en-US" altLang="zh-CN" dirty="0"/>
            </a:br>
            <a:r>
              <a:rPr kumimoji="1" lang="en-US" altLang="zh-CN" dirty="0"/>
              <a:t>global and local variables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10592" y="1753844"/>
            <a:ext cx="8229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zh-CN" sz="2800" dirty="0">
                <a:solidFill>
                  <a:srgbClr val="0000FF"/>
                </a:solidFill>
                <a:latin typeface="+mj-lt"/>
                <a:cs typeface="Arial"/>
              </a:rPr>
              <a:t>Global</a:t>
            </a:r>
            <a:r>
              <a:rPr lang="en-US" altLang="zh-CN" sz="2800" dirty="0">
                <a:latin typeface="+mj-lt"/>
                <a:cs typeface="Arial"/>
              </a:rPr>
              <a:t> variables are allocated space before program execution</a:t>
            </a:r>
            <a:r>
              <a:rPr lang="en-US" altLang="zh-CN" sz="2800" dirty="0">
                <a:latin typeface="+mj-lt"/>
              </a:rPr>
              <a:t>.</a:t>
            </a:r>
          </a:p>
          <a:p>
            <a:pPr marL="457200" indent="-457200">
              <a:buFont typeface="Arial"/>
              <a:buChar char="•"/>
            </a:pPr>
            <a:endParaRPr lang="en-US" altLang="zh-CN" sz="2800" dirty="0">
              <a:latin typeface="+mj-lt"/>
            </a:endParaRPr>
          </a:p>
          <a:p>
            <a:pPr marL="457200" indent="-457200">
              <a:buFont typeface="Arial"/>
              <a:buChar char="•"/>
            </a:pPr>
            <a:r>
              <a:rPr lang="en-US" altLang="zh-CN" sz="2800" dirty="0">
                <a:solidFill>
                  <a:srgbClr val="0000FF"/>
                </a:solidFill>
                <a:latin typeface="+mj-lt"/>
                <a:cs typeface="Arial"/>
              </a:rPr>
              <a:t>Local</a:t>
            </a:r>
            <a:r>
              <a:rPr lang="en-US" altLang="zh-CN" sz="2800" dirty="0">
                <a:latin typeface="+mj-lt"/>
                <a:cs typeface="Arial"/>
              </a:rPr>
              <a:t> variables are allocated when entering a function and de-allocated upon its exit.</a:t>
            </a:r>
          </a:p>
        </p:txBody>
      </p:sp>
    </p:spTree>
    <p:extLst>
      <p:ext uri="{BB962C8B-B14F-4D97-AF65-F5344CB8AC3E}">
        <p14:creationId xmlns:p14="http://schemas.microsoft.com/office/powerpoint/2010/main" val="227878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Allocating a new array?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57200" y="1417638"/>
            <a:ext cx="792125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int *</a:t>
            </a:r>
            <a:r>
              <a:rPr lang="en-US" altLang="zh-CN" sz="2000" dirty="0" err="1">
                <a:latin typeface="Consolas" panose="020B0609020204030204" pitchFamily="49" charset="0"/>
                <a:cs typeface="Consolas"/>
              </a:rPr>
              <a:t>newArray</a:t>
            </a:r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(int n) {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	int </a:t>
            </a:r>
            <a:r>
              <a:rPr lang="en-US" altLang="zh-CN" sz="2000" dirty="0" err="1">
                <a:latin typeface="Consolas" panose="020B0609020204030204" pitchFamily="49" charset="0"/>
                <a:cs typeface="Consolas"/>
              </a:rPr>
              <a:t>arr</a:t>
            </a:r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[n];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  <a:cs typeface="Consolas"/>
              </a:rPr>
              <a:t>arr</a:t>
            </a:r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}</a:t>
            </a:r>
          </a:p>
          <a:p>
            <a:endParaRPr lang="en-US" altLang="zh-CN" sz="2000" dirty="0">
              <a:latin typeface="Consolas" panose="020B0609020204030204" pitchFamily="49" charset="0"/>
              <a:cs typeface="Consolas"/>
            </a:endParaRP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int main() {</a:t>
            </a:r>
            <a:br>
              <a:rPr lang="en-US" altLang="zh-CN" sz="2000" dirty="0">
                <a:latin typeface="Consolas" panose="020B0609020204030204" pitchFamily="49" charset="0"/>
                <a:cs typeface="Consolas"/>
              </a:rPr>
            </a:br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   int *r;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   r = </a:t>
            </a:r>
            <a:r>
              <a:rPr lang="en-US" altLang="zh-CN" sz="2000" dirty="0" err="1">
                <a:latin typeface="Consolas" panose="020B0609020204030204" pitchFamily="49" charset="0"/>
                <a:cs typeface="Consolas"/>
              </a:rPr>
              <a:t>newArray</a:t>
            </a:r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(1000);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   //do something with the array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   …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/>
              </a:rPr>
              <a:t>}</a:t>
            </a:r>
            <a:endParaRPr lang="zh-CN" altLang="en-US" sz="2000" dirty="0">
              <a:latin typeface="Consolas" panose="020B0609020204030204" pitchFamily="49" charset="0"/>
              <a:cs typeface="Consola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B1E353-4B76-5277-88C6-CD5043E30799}"/>
              </a:ext>
            </a:extLst>
          </p:cNvPr>
          <p:cNvGrpSpPr/>
          <p:nvPr/>
        </p:nvGrpSpPr>
        <p:grpSpPr>
          <a:xfrm>
            <a:off x="3488499" y="2229633"/>
            <a:ext cx="5442559" cy="4353729"/>
            <a:chOff x="3488499" y="2229633"/>
            <a:chExt cx="5442559" cy="4353729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148205F7-F30D-1798-2437-9CDEABE5F9DA}"/>
                </a:ext>
              </a:extLst>
            </p:cNvPr>
            <p:cNvSpPr/>
            <p:nvPr/>
          </p:nvSpPr>
          <p:spPr>
            <a:xfrm>
              <a:off x="3488499" y="4782869"/>
              <a:ext cx="5442559" cy="180049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endParaRPr lang="en-US" altLang="zh-CN" sz="1100" dirty="0">
                <a:latin typeface="Consolas" panose="020B0609020204030204" pitchFamily="49" charset="0"/>
                <a:cs typeface="Consolas"/>
              </a:endParaRPr>
            </a:p>
            <a:p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int *</a:t>
              </a:r>
              <a:r>
                <a:rPr lang="en-US" altLang="zh-CN" sz="2000" dirty="0" err="1">
                  <a:latin typeface="Consolas" panose="020B0609020204030204" pitchFamily="49" charset="0"/>
                  <a:cs typeface="Consolas"/>
                </a:rPr>
                <a:t>newArray</a:t>
              </a:r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(int n) {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	int *p;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   p = (int*)malloc(</a:t>
              </a:r>
              <a:r>
                <a:rPr lang="en-US" altLang="zh-CN" sz="2000" dirty="0" err="1">
                  <a:latin typeface="Consolas" panose="020B0609020204030204" pitchFamily="49" charset="0"/>
                  <a:cs typeface="Consolas"/>
                </a:rPr>
                <a:t>sizeof</a:t>
              </a:r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(int)*n);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	return p;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  <a:cs typeface="Consolas"/>
                </a:rPr>
                <a:t>}</a:t>
              </a:r>
              <a:endParaRPr lang="zh-CN" altLang="en-US" sz="2000" dirty="0">
                <a:latin typeface="Consolas" panose="020B0609020204030204" pitchFamily="49" charset="0"/>
                <a:cs typeface="Consolas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6660308-D6BB-BDD2-2F54-CF05CD945D6F}"/>
                </a:ext>
              </a:extLst>
            </p:cNvPr>
            <p:cNvSpPr/>
            <p:nvPr/>
          </p:nvSpPr>
          <p:spPr>
            <a:xfrm>
              <a:off x="4509370" y="2229633"/>
              <a:ext cx="1761654" cy="2530257"/>
            </a:xfrm>
            <a:custGeom>
              <a:avLst/>
              <a:gdLst>
                <a:gd name="csX0" fmla="*/ 1365337 w 1761654"/>
                <a:gd name="csY0" fmla="*/ 2530257 h 2530257"/>
                <a:gd name="csX1" fmla="*/ 1728592 w 1761654"/>
                <a:gd name="csY1" fmla="*/ 1152394 h 2530257"/>
                <a:gd name="csX2" fmla="*/ 626301 w 1761654"/>
                <a:gd name="csY2" fmla="*/ 212942 h 2530257"/>
                <a:gd name="csX3" fmla="*/ 0 w 1761654"/>
                <a:gd name="csY3" fmla="*/ 0 h 2530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61654" h="2530257">
                  <a:moveTo>
                    <a:pt x="1365337" y="2530257"/>
                  </a:moveTo>
                  <a:cubicBezTo>
                    <a:pt x="1608551" y="2034435"/>
                    <a:pt x="1851765" y="1538613"/>
                    <a:pt x="1728592" y="1152394"/>
                  </a:cubicBezTo>
                  <a:cubicBezTo>
                    <a:pt x="1605419" y="766175"/>
                    <a:pt x="914400" y="405008"/>
                    <a:pt x="626301" y="212942"/>
                  </a:cubicBezTo>
                  <a:cubicBezTo>
                    <a:pt x="338202" y="20876"/>
                    <a:pt x="169101" y="10438"/>
                    <a:pt x="0" y="0"/>
                  </a:cubicBezTo>
                </a:path>
              </a:pathLst>
            </a:custGeom>
            <a:noFill/>
            <a:ln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Multiply 5">
            <a:extLst>
              <a:ext uri="{FF2B5EF4-FFF2-40B4-BE49-F238E27FC236}">
                <a16:creationId xmlns:a16="http://schemas.microsoft.com/office/drawing/2014/main" id="{6C25F207-36AD-035F-2C44-C7145281104B}"/>
              </a:ext>
            </a:extLst>
          </p:cNvPr>
          <p:cNvSpPr/>
          <p:nvPr/>
        </p:nvSpPr>
        <p:spPr>
          <a:xfrm>
            <a:off x="2713243" y="1960513"/>
            <a:ext cx="941787" cy="947071"/>
          </a:xfrm>
          <a:prstGeom prst="mathMultiply">
            <a:avLst/>
          </a:prstGeom>
          <a:solidFill>
            <a:srgbClr val="FF006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34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Conceptual view of a C program’s memory at runtime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memory regions for global, local, and </a:t>
            </a:r>
            <a:r>
              <a:rPr lang="en-US" dirty="0" err="1"/>
              <a:t>malloc</a:t>
            </a:r>
            <a:r>
              <a:rPr lang="en-US" dirty="0"/>
              <a:t>-ed.</a:t>
            </a:r>
          </a:p>
        </p:txBody>
      </p:sp>
      <p:sp>
        <p:nvSpPr>
          <p:cNvPr id="9" name="矩形 5"/>
          <p:cNvSpPr/>
          <p:nvPr/>
        </p:nvSpPr>
        <p:spPr>
          <a:xfrm>
            <a:off x="3553116" y="6170702"/>
            <a:ext cx="1091998" cy="363510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5"/>
          <p:cNvSpPr/>
          <p:nvPr/>
        </p:nvSpPr>
        <p:spPr>
          <a:xfrm>
            <a:off x="3553116" y="5807192"/>
            <a:ext cx="1091998" cy="363510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.....</a:t>
            </a:r>
            <a:endParaRPr kumimoji="1" lang="zh-CN" altLang="en-US" dirty="0"/>
          </a:p>
        </p:txBody>
      </p:sp>
      <p:sp>
        <p:nvSpPr>
          <p:cNvPr id="17" name="矩形 5"/>
          <p:cNvSpPr/>
          <p:nvPr/>
        </p:nvSpPr>
        <p:spPr>
          <a:xfrm>
            <a:off x="3553116" y="5443682"/>
            <a:ext cx="1091998" cy="363510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矩形 5"/>
          <p:cNvSpPr/>
          <p:nvPr/>
        </p:nvSpPr>
        <p:spPr>
          <a:xfrm>
            <a:off x="3553116" y="5080172"/>
            <a:ext cx="1091998" cy="363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矩形 5"/>
          <p:cNvSpPr/>
          <p:nvPr/>
        </p:nvSpPr>
        <p:spPr>
          <a:xfrm>
            <a:off x="3553116" y="4716662"/>
            <a:ext cx="1091998" cy="363510"/>
          </a:xfrm>
          <a:prstGeom prst="rect">
            <a:avLst/>
          </a:prstGeom>
          <a:solidFill>
            <a:srgbClr val="CCC1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...</a:t>
            </a:r>
            <a:endParaRPr kumimoji="1" lang="zh-CN" altLang="en-US" dirty="0"/>
          </a:p>
        </p:txBody>
      </p:sp>
      <p:sp>
        <p:nvSpPr>
          <p:cNvPr id="23" name="矩形 5"/>
          <p:cNvSpPr/>
          <p:nvPr/>
        </p:nvSpPr>
        <p:spPr>
          <a:xfrm>
            <a:off x="3553116" y="4353152"/>
            <a:ext cx="1091998" cy="363510"/>
          </a:xfrm>
          <a:prstGeom prst="rect">
            <a:avLst/>
          </a:prstGeom>
          <a:solidFill>
            <a:srgbClr val="CCC1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5"/>
          <p:cNvSpPr/>
          <p:nvPr/>
        </p:nvSpPr>
        <p:spPr>
          <a:xfrm>
            <a:off x="3553116" y="3989642"/>
            <a:ext cx="1091998" cy="363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5"/>
          <p:cNvSpPr/>
          <p:nvPr/>
        </p:nvSpPr>
        <p:spPr>
          <a:xfrm>
            <a:off x="3553116" y="3626132"/>
            <a:ext cx="1091998" cy="363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5"/>
          <p:cNvSpPr/>
          <p:nvPr/>
        </p:nvSpPr>
        <p:spPr>
          <a:xfrm>
            <a:off x="3553116" y="3250493"/>
            <a:ext cx="1091998" cy="363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Left Brace 28"/>
          <p:cNvSpPr/>
          <p:nvPr/>
        </p:nvSpPr>
        <p:spPr>
          <a:xfrm>
            <a:off x="3077882" y="5597734"/>
            <a:ext cx="239059" cy="9364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Left Brace 29"/>
          <p:cNvSpPr/>
          <p:nvPr/>
        </p:nvSpPr>
        <p:spPr>
          <a:xfrm>
            <a:off x="3047999" y="4507204"/>
            <a:ext cx="239059" cy="9364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Left Brace 30"/>
          <p:cNvSpPr/>
          <p:nvPr/>
        </p:nvSpPr>
        <p:spPr>
          <a:xfrm>
            <a:off x="2991223" y="3416674"/>
            <a:ext cx="239059" cy="9364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140376" y="5788670"/>
            <a:ext cx="178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data</a:t>
            </a:r>
          </a:p>
          <a:p>
            <a:r>
              <a:rPr lang="en-US" dirty="0"/>
              <a:t>(global variables)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0376" y="4716662"/>
            <a:ext cx="1977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</a:t>
            </a:r>
          </a:p>
          <a:p>
            <a:r>
              <a:rPr lang="en-US" dirty="0"/>
              <a:t>(for </a:t>
            </a:r>
            <a:r>
              <a:rPr lang="en-US" dirty="0" err="1"/>
              <a:t>malloced</a:t>
            </a:r>
            <a:r>
              <a:rPr lang="en-US" dirty="0"/>
              <a:t> data)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435" y="3614003"/>
            <a:ext cx="1975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(for local variables)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0353" y="4716662"/>
            <a:ext cx="39934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will refine this simple view</a:t>
            </a:r>
          </a:p>
          <a:p>
            <a:r>
              <a:rPr lang="en-US" sz="2400" dirty="0"/>
              <a:t> in later lectures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6941" y="6858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72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60CC-4E88-4D61-BCDD-DE328A25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136CA-5282-417F-8749-812EBD85B71A}"/>
              </a:ext>
            </a:extLst>
          </p:cNvPr>
          <p:cNvSpPr txBox="1"/>
          <p:nvPr/>
        </p:nvSpPr>
        <p:spPr>
          <a:xfrm>
            <a:off x="845062" y="1525444"/>
            <a:ext cx="3097323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Consolas"/>
                <a:cs typeface="Consolas"/>
              </a:rPr>
              <a:t>typedef struct {</a:t>
            </a:r>
          </a:p>
          <a:p>
            <a:r>
              <a:rPr lang="en-US" altLang="zh-CN" sz="1800" dirty="0">
                <a:latin typeface="Consolas"/>
                <a:cs typeface="Consolas"/>
              </a:rPr>
              <a:t>     int </a:t>
            </a:r>
            <a:r>
              <a:rPr lang="en-US" altLang="zh-CN" sz="1800" dirty="0" err="1">
                <a:latin typeface="Consolas"/>
                <a:cs typeface="Consolas"/>
              </a:rPr>
              <a:t>val</a:t>
            </a:r>
            <a:r>
              <a:rPr lang="en-US" altLang="zh-CN" sz="18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800" dirty="0">
                <a:latin typeface="Consolas"/>
                <a:cs typeface="Consolas"/>
              </a:rPr>
              <a:t>     struct node *next;</a:t>
            </a:r>
          </a:p>
          <a:p>
            <a:r>
              <a:rPr lang="en-US" altLang="zh-CN" sz="1800" dirty="0">
                <a:latin typeface="Consolas"/>
                <a:cs typeface="Consolas"/>
              </a:rPr>
              <a:t> }node;</a:t>
            </a:r>
          </a:p>
        </p:txBody>
      </p:sp>
      <p:grpSp>
        <p:nvGrpSpPr>
          <p:cNvPr id="21" name="组 8">
            <a:extLst>
              <a:ext uri="{FF2B5EF4-FFF2-40B4-BE49-F238E27FC236}">
                <a16:creationId xmlns:a16="http://schemas.microsoft.com/office/drawing/2014/main" id="{162D1468-AAC1-4941-9501-4245AA54B8AB}"/>
              </a:ext>
            </a:extLst>
          </p:cNvPr>
          <p:cNvGrpSpPr/>
          <p:nvPr/>
        </p:nvGrpSpPr>
        <p:grpSpPr>
          <a:xfrm>
            <a:off x="2650778" y="2947225"/>
            <a:ext cx="1264366" cy="646331"/>
            <a:chOff x="838953" y="1808946"/>
            <a:chExt cx="1264366" cy="646331"/>
          </a:xfrm>
        </p:grpSpPr>
        <p:sp>
          <p:nvSpPr>
            <p:cNvPr id="22" name="圆角矩形 2">
              <a:extLst>
                <a:ext uri="{FF2B5EF4-FFF2-40B4-BE49-F238E27FC236}">
                  <a16:creationId xmlns:a16="http://schemas.microsoft.com/office/drawing/2014/main" id="{5EA4394F-A070-4C83-B64F-6507140FE399}"/>
                </a:ext>
              </a:extLst>
            </p:cNvPr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val:5</a:t>
              </a:r>
              <a:endParaRPr kumimoji="1" lang="zh-CN" altLang="en-US" sz="1200" dirty="0"/>
            </a:p>
          </p:txBody>
        </p:sp>
        <p:sp>
          <p:nvSpPr>
            <p:cNvPr id="23" name="圆角矩形 5">
              <a:extLst>
                <a:ext uri="{FF2B5EF4-FFF2-40B4-BE49-F238E27FC236}">
                  <a16:creationId xmlns:a16="http://schemas.microsoft.com/office/drawing/2014/main" id="{E76DC82E-EAD0-4066-8E84-918F76E8ACB5}"/>
                </a:ext>
              </a:extLst>
            </p:cNvPr>
            <p:cNvSpPr/>
            <p:nvPr/>
          </p:nvSpPr>
          <p:spPr>
            <a:xfrm>
              <a:off x="1351646" y="2120460"/>
              <a:ext cx="75167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zh-CN" sz="1100" dirty="0"/>
                <a:t>next:</a:t>
              </a:r>
              <a:endParaRPr kumimoji="1" lang="zh-CN" altLang="en-US" sz="1100" dirty="0"/>
            </a:p>
          </p:txBody>
        </p:sp>
        <p:sp>
          <p:nvSpPr>
            <p:cNvPr id="24" name="矩形 7">
              <a:extLst>
                <a:ext uri="{FF2B5EF4-FFF2-40B4-BE49-F238E27FC236}">
                  <a16:creationId xmlns:a16="http://schemas.microsoft.com/office/drawing/2014/main" id="{6BA3449C-1CA3-40DC-A393-0D6DA8B5C72C}"/>
                </a:ext>
              </a:extLst>
            </p:cNvPr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sz="3600" b="1" dirty="0"/>
            </a:p>
          </p:txBody>
        </p:sp>
      </p:grpSp>
      <p:grpSp>
        <p:nvGrpSpPr>
          <p:cNvPr id="29" name="组 25">
            <a:extLst>
              <a:ext uri="{FF2B5EF4-FFF2-40B4-BE49-F238E27FC236}">
                <a16:creationId xmlns:a16="http://schemas.microsoft.com/office/drawing/2014/main" id="{9BD96BEE-DFFF-47A9-B6AF-30CD18828B3D}"/>
              </a:ext>
            </a:extLst>
          </p:cNvPr>
          <p:cNvGrpSpPr/>
          <p:nvPr/>
        </p:nvGrpSpPr>
        <p:grpSpPr>
          <a:xfrm>
            <a:off x="6659429" y="2936425"/>
            <a:ext cx="1381304" cy="637739"/>
            <a:chOff x="838953" y="1808946"/>
            <a:chExt cx="1381304" cy="637739"/>
          </a:xfrm>
        </p:grpSpPr>
        <p:sp>
          <p:nvSpPr>
            <p:cNvPr id="30" name="圆角矩形 26">
              <a:extLst>
                <a:ext uri="{FF2B5EF4-FFF2-40B4-BE49-F238E27FC236}">
                  <a16:creationId xmlns:a16="http://schemas.microsoft.com/office/drawing/2014/main" id="{636D0E96-2240-47D0-B06D-FA90373061F0}"/>
                </a:ext>
              </a:extLst>
            </p:cNvPr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val:3</a:t>
              </a:r>
              <a:endParaRPr kumimoji="1" lang="zh-CN" altLang="en-US" sz="1200" dirty="0"/>
            </a:p>
          </p:txBody>
        </p:sp>
        <p:sp>
          <p:nvSpPr>
            <p:cNvPr id="31" name="圆角矩形 27">
              <a:extLst>
                <a:ext uri="{FF2B5EF4-FFF2-40B4-BE49-F238E27FC236}">
                  <a16:creationId xmlns:a16="http://schemas.microsoft.com/office/drawing/2014/main" id="{FEEDC9F7-2B7E-4E7E-8D70-9EA60589CA64}"/>
                </a:ext>
              </a:extLst>
            </p:cNvPr>
            <p:cNvSpPr/>
            <p:nvPr/>
          </p:nvSpPr>
          <p:spPr>
            <a:xfrm>
              <a:off x="1351646" y="2120460"/>
              <a:ext cx="868611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200" dirty="0">
                  <a:solidFill>
                    <a:schemeClr val="tx1"/>
                  </a:solidFill>
                </a:rPr>
                <a:t>next: </a:t>
              </a:r>
              <a:r>
                <a:rPr kumimoji="1"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NULL</a:t>
              </a:r>
              <a:endParaRPr kumimoji="1"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2" name="矩形 28">
              <a:extLst>
                <a:ext uri="{FF2B5EF4-FFF2-40B4-BE49-F238E27FC236}">
                  <a16:creationId xmlns:a16="http://schemas.microsoft.com/office/drawing/2014/main" id="{13275BCB-BBC9-47F4-B175-BC29108F11F0}"/>
                </a:ext>
              </a:extLst>
            </p:cNvPr>
            <p:cNvSpPr/>
            <p:nvPr/>
          </p:nvSpPr>
          <p:spPr>
            <a:xfrm flipH="1">
              <a:off x="1351646" y="1808946"/>
              <a:ext cx="81564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sz="1000" b="1" dirty="0"/>
            </a:p>
          </p:txBody>
        </p:sp>
      </p:grpSp>
      <p:cxnSp>
        <p:nvCxnSpPr>
          <p:cNvPr id="35" name="直线箭头连接符 40">
            <a:extLst>
              <a:ext uri="{FF2B5EF4-FFF2-40B4-BE49-F238E27FC236}">
                <a16:creationId xmlns:a16="http://schemas.microsoft.com/office/drawing/2014/main" id="{3445896E-7080-4060-A45F-9B9B81F6DC0D}"/>
              </a:ext>
            </a:extLst>
          </p:cNvPr>
          <p:cNvCxnSpPr>
            <a:cxnSpLocks/>
          </p:cNvCxnSpPr>
          <p:nvPr/>
        </p:nvCxnSpPr>
        <p:spPr>
          <a:xfrm>
            <a:off x="3656995" y="3429771"/>
            <a:ext cx="905379" cy="673"/>
          </a:xfrm>
          <a:prstGeom prst="straightConnector1">
            <a:avLst/>
          </a:prstGeom>
          <a:ln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5" name="组 8">
            <a:extLst>
              <a:ext uri="{FF2B5EF4-FFF2-40B4-BE49-F238E27FC236}">
                <a16:creationId xmlns:a16="http://schemas.microsoft.com/office/drawing/2014/main" id="{68DDB399-0051-4828-94F3-9EAD06B15667}"/>
              </a:ext>
            </a:extLst>
          </p:cNvPr>
          <p:cNvGrpSpPr/>
          <p:nvPr/>
        </p:nvGrpSpPr>
        <p:grpSpPr>
          <a:xfrm>
            <a:off x="4562374" y="2959414"/>
            <a:ext cx="1264366" cy="646331"/>
            <a:chOff x="838953" y="1808946"/>
            <a:chExt cx="1264366" cy="646331"/>
          </a:xfrm>
        </p:grpSpPr>
        <p:sp>
          <p:nvSpPr>
            <p:cNvPr id="46" name="圆角矩形 2">
              <a:extLst>
                <a:ext uri="{FF2B5EF4-FFF2-40B4-BE49-F238E27FC236}">
                  <a16:creationId xmlns:a16="http://schemas.microsoft.com/office/drawing/2014/main" id="{D818FDCF-36DD-443B-91AA-79A07CEDC27F}"/>
                </a:ext>
              </a:extLst>
            </p:cNvPr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val:5</a:t>
              </a:r>
              <a:endParaRPr kumimoji="1" lang="zh-CN" altLang="en-US" sz="1200" dirty="0"/>
            </a:p>
          </p:txBody>
        </p:sp>
        <p:sp>
          <p:nvSpPr>
            <p:cNvPr id="47" name="圆角矩形 5">
              <a:extLst>
                <a:ext uri="{FF2B5EF4-FFF2-40B4-BE49-F238E27FC236}">
                  <a16:creationId xmlns:a16="http://schemas.microsoft.com/office/drawing/2014/main" id="{7123A06C-6A69-4116-8666-6AAC386FEA7B}"/>
                </a:ext>
              </a:extLst>
            </p:cNvPr>
            <p:cNvSpPr/>
            <p:nvPr/>
          </p:nvSpPr>
          <p:spPr>
            <a:xfrm>
              <a:off x="1351646" y="2120460"/>
              <a:ext cx="75167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zh-CN" sz="1100" dirty="0"/>
                <a:t>next:</a:t>
              </a:r>
              <a:endParaRPr kumimoji="1" lang="zh-CN" altLang="en-US" sz="1100" dirty="0"/>
            </a:p>
          </p:txBody>
        </p:sp>
        <p:sp>
          <p:nvSpPr>
            <p:cNvPr id="48" name="矩形 7">
              <a:extLst>
                <a:ext uri="{FF2B5EF4-FFF2-40B4-BE49-F238E27FC236}">
                  <a16:creationId xmlns:a16="http://schemas.microsoft.com/office/drawing/2014/main" id="{D36E9D69-530A-40D7-ADEC-CBD89F4E5590}"/>
                </a:ext>
              </a:extLst>
            </p:cNvPr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sz="3600" b="1" dirty="0"/>
            </a:p>
          </p:txBody>
        </p:sp>
      </p:grpSp>
      <p:cxnSp>
        <p:nvCxnSpPr>
          <p:cNvPr id="39" name="直线箭头连接符 40">
            <a:extLst>
              <a:ext uri="{FF2B5EF4-FFF2-40B4-BE49-F238E27FC236}">
                <a16:creationId xmlns:a16="http://schemas.microsoft.com/office/drawing/2014/main" id="{568AADD1-E11F-433B-B4FD-DC4998F14C47}"/>
              </a:ext>
            </a:extLst>
          </p:cNvPr>
          <p:cNvCxnSpPr>
            <a:cxnSpLocks/>
          </p:cNvCxnSpPr>
          <p:nvPr/>
        </p:nvCxnSpPr>
        <p:spPr>
          <a:xfrm>
            <a:off x="5619576" y="3429771"/>
            <a:ext cx="993337" cy="30674"/>
          </a:xfrm>
          <a:prstGeom prst="straightConnector1">
            <a:avLst/>
          </a:prstGeom>
          <a:ln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3F2F6A2-BC92-4E12-A3D9-5D8B8DBA1015}"/>
              </a:ext>
            </a:extLst>
          </p:cNvPr>
          <p:cNvSpPr txBox="1"/>
          <p:nvPr/>
        </p:nvSpPr>
        <p:spPr>
          <a:xfrm>
            <a:off x="757003" y="3235995"/>
            <a:ext cx="997389" cy="36933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headp</a:t>
            </a:r>
            <a:r>
              <a:rPr lang="en-US" dirty="0"/>
              <a:t>:  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C3D6C5-A447-4114-8D4B-FB0F2CED9E0A}"/>
              </a:ext>
            </a:extLst>
          </p:cNvPr>
          <p:cNvCxnSpPr/>
          <p:nvPr/>
        </p:nvCxnSpPr>
        <p:spPr>
          <a:xfrm flipV="1">
            <a:off x="1565314" y="3430444"/>
            <a:ext cx="1025387" cy="673"/>
          </a:xfrm>
          <a:prstGeom prst="straightConnector1">
            <a:avLst/>
          </a:prstGeom>
          <a:ln w="9525">
            <a:headEnd type="oval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08A1EB-C069-470F-B4C7-9F88D76E6B3E}"/>
              </a:ext>
            </a:extLst>
          </p:cNvPr>
          <p:cNvSpPr txBox="1"/>
          <p:nvPr/>
        </p:nvSpPr>
        <p:spPr>
          <a:xfrm>
            <a:off x="757003" y="4115549"/>
            <a:ext cx="449033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Consolas"/>
                <a:cs typeface="Consolas"/>
              </a:rPr>
              <a:t>node *find(node *</a:t>
            </a:r>
            <a:r>
              <a:rPr lang="en-US" altLang="zh-CN" sz="1800" dirty="0" err="1">
                <a:latin typeface="Consolas"/>
                <a:cs typeface="Consolas"/>
              </a:rPr>
              <a:t>headp</a:t>
            </a:r>
            <a:r>
              <a:rPr lang="en-US" altLang="zh-CN" sz="1800" dirty="0">
                <a:latin typeface="Consolas"/>
                <a:cs typeface="Consolas"/>
              </a:rPr>
              <a:t>, int </a:t>
            </a:r>
            <a:r>
              <a:rPr lang="en-US" altLang="zh-CN" sz="1800" dirty="0" err="1">
                <a:latin typeface="Consolas"/>
                <a:cs typeface="Consolas"/>
              </a:rPr>
              <a:t>val</a:t>
            </a:r>
            <a:r>
              <a:rPr lang="en-US" altLang="zh-CN" sz="1800" dirty="0">
                <a:latin typeface="Consolas"/>
                <a:cs typeface="Consolas"/>
              </a:rPr>
              <a:t>) {</a:t>
            </a:r>
          </a:p>
          <a:p>
            <a:r>
              <a:rPr lang="en-US" altLang="zh-CN" sz="1800" b="1" dirty="0">
                <a:latin typeface="Consolas"/>
                <a:cs typeface="Consolas"/>
              </a:rPr>
              <a:t> 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endParaRPr lang="en-US" altLang="zh-CN" dirty="0">
              <a:latin typeface="Consolas"/>
              <a:cs typeface="Consolas"/>
            </a:endParaRPr>
          </a:p>
          <a:p>
            <a:endParaRPr lang="en-US" altLang="zh-CN" sz="1800" dirty="0">
              <a:latin typeface="Consolas"/>
              <a:cs typeface="Consolas"/>
            </a:endParaRPr>
          </a:p>
          <a:p>
            <a:endParaRPr lang="en-US" altLang="zh-CN" sz="1800" dirty="0">
              <a:latin typeface="Consolas"/>
              <a:cs typeface="Consolas"/>
            </a:endParaRPr>
          </a:p>
          <a:p>
            <a:endParaRPr lang="en-US" altLang="zh-CN" sz="1800" dirty="0">
              <a:latin typeface="Consolas"/>
              <a:cs typeface="Consolas"/>
            </a:endParaRPr>
          </a:p>
          <a:p>
            <a:endParaRPr lang="en-US" altLang="zh-CN" sz="1800" dirty="0">
              <a:latin typeface="Consolas"/>
              <a:cs typeface="Consolas"/>
            </a:endParaRPr>
          </a:p>
          <a:p>
            <a:r>
              <a:rPr lang="en-US" altLang="zh-CN" sz="18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1FC4C-1072-42C9-9999-1BAE0962F44E}"/>
              </a:ext>
            </a:extLst>
          </p:cNvPr>
          <p:cNvSpPr txBox="1"/>
          <p:nvPr/>
        </p:nvSpPr>
        <p:spPr>
          <a:xfrm>
            <a:off x="1092080" y="4737906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while (n) {</a:t>
            </a:r>
          </a:p>
          <a:p>
            <a:r>
              <a:rPr lang="en-US" dirty="0">
                <a:latin typeface="Consolas" panose="020B0609020204030204" pitchFamily="49" charset="0"/>
              </a:rPr>
              <a:t>   if (n-&gt;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 ==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    break;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return n;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5E2A1-21EC-4CD6-B788-9FCE825585FD}"/>
              </a:ext>
            </a:extLst>
          </p:cNvPr>
          <p:cNvSpPr txBox="1"/>
          <p:nvPr/>
        </p:nvSpPr>
        <p:spPr>
          <a:xfrm>
            <a:off x="1092080" y="4441808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node *n = </a:t>
            </a:r>
            <a:r>
              <a:rPr lang="en-US" dirty="0" err="1">
                <a:latin typeface="Consolas" panose="020B0609020204030204" pitchFamily="49" charset="0"/>
              </a:rPr>
              <a:t>headp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396E9-75D1-4DAC-8B75-13E6CE77D2F8}"/>
              </a:ext>
            </a:extLst>
          </p:cNvPr>
          <p:cNvSpPr txBox="1"/>
          <p:nvPr/>
        </p:nvSpPr>
        <p:spPr>
          <a:xfrm>
            <a:off x="1499442" y="560779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 = n-&gt;next;</a:t>
            </a:r>
          </a:p>
        </p:txBody>
      </p:sp>
    </p:spTree>
    <p:extLst>
      <p:ext uri="{BB962C8B-B14F-4D97-AF65-F5344CB8AC3E}">
        <p14:creationId xmlns:p14="http://schemas.microsoft.com/office/powerpoint/2010/main" val="279219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C: insertion</a:t>
            </a:r>
          </a:p>
        </p:txBody>
      </p:sp>
      <p:sp>
        <p:nvSpPr>
          <p:cNvPr id="4" name="矩形 3"/>
          <p:cNvSpPr/>
          <p:nvPr/>
        </p:nvSpPr>
        <p:spPr>
          <a:xfrm>
            <a:off x="652756" y="1254612"/>
            <a:ext cx="812054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insert a new node with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val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in the front of the linked list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modify head pointer pointed to by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headp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node *</a:t>
            </a:r>
            <a:r>
              <a:rPr lang="en-US" altLang="zh-CN" sz="2000" dirty="0" err="1">
                <a:latin typeface="Consolas"/>
                <a:cs typeface="Consolas"/>
              </a:rPr>
              <a:t>insert_front</a:t>
            </a:r>
            <a:r>
              <a:rPr lang="en-US" altLang="zh-CN" sz="2000" dirty="0">
                <a:latin typeface="Consolas"/>
                <a:cs typeface="Consolas"/>
              </a:rPr>
              <a:t>(node *</a:t>
            </a:r>
            <a:r>
              <a:rPr lang="en-US" altLang="zh-CN" sz="2000" dirty="0" err="1">
                <a:latin typeface="Consolas"/>
                <a:cs typeface="Consolas"/>
              </a:rPr>
              <a:t>headp</a:t>
            </a:r>
            <a:r>
              <a:rPr lang="en-US" altLang="zh-CN" sz="2000" dirty="0">
                <a:latin typeface="Consolas"/>
                <a:cs typeface="Consolas"/>
              </a:rPr>
              <a:t>, int </a:t>
            </a:r>
            <a:r>
              <a:rPr lang="en-US" altLang="zh-CN" sz="2000" dirty="0" err="1">
                <a:latin typeface="Consolas"/>
                <a:cs typeface="Consolas"/>
              </a:rPr>
              <a:t>val</a:t>
            </a:r>
            <a:r>
              <a:rPr lang="en-US" altLang="zh-CN" sz="2000" dirty="0">
                <a:latin typeface="Consolas"/>
                <a:cs typeface="Consolas"/>
              </a:rPr>
              <a:t>)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 </a:t>
            </a:r>
          </a:p>
          <a:p>
            <a:endParaRPr lang="en-US" altLang="zh-CN" sz="2000" b="1" dirty="0">
              <a:latin typeface="Consolas"/>
              <a:cs typeface="Consolas"/>
            </a:endParaRP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endParaRPr lang="en-US" altLang="zh-CN" sz="2000" dirty="0">
              <a:latin typeface="Consolas"/>
              <a:cs typeface="Consolas"/>
            </a:endParaRP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 err="1">
                <a:latin typeface="Consolas"/>
                <a:cs typeface="Consolas"/>
              </a:rPr>
              <a:t>int</a:t>
            </a:r>
            <a:r>
              <a:rPr lang="en-US" altLang="zh-CN" sz="2000" dirty="0">
                <a:latin typeface="Consolas"/>
                <a:cs typeface="Consolas"/>
              </a:rPr>
              <a:t> main()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node *</a:t>
            </a:r>
            <a:r>
              <a:rPr lang="en-US" altLang="zh-CN" sz="2000" dirty="0" err="1">
                <a:latin typeface="Consolas"/>
                <a:cs typeface="Consolas"/>
              </a:rPr>
              <a:t>headp</a:t>
            </a:r>
            <a:r>
              <a:rPr lang="en-US" altLang="zh-CN" sz="2000" dirty="0">
                <a:latin typeface="Consolas"/>
                <a:cs typeface="Consolas"/>
              </a:rPr>
              <a:t> = NULL;</a:t>
            </a:r>
          </a:p>
          <a:p>
            <a:pPr lvl="1"/>
            <a:r>
              <a:rPr lang="en-US" altLang="zh-CN" sz="2000" dirty="0">
                <a:latin typeface="Consolas"/>
                <a:cs typeface="Consolas"/>
              </a:rPr>
              <a:t> for (</a:t>
            </a:r>
            <a:r>
              <a:rPr lang="en-US" altLang="zh-CN" sz="2000" dirty="0" err="1">
                <a:latin typeface="Consolas"/>
                <a:cs typeface="Consolas"/>
              </a:rPr>
              <a:t>int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 = 0;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 &lt; 3;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++) </a:t>
            </a:r>
          </a:p>
          <a:p>
            <a:pPr lvl="1"/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en-US" altLang="zh-CN" sz="2000" dirty="0" err="1">
                <a:latin typeface="Consolas"/>
                <a:cs typeface="Consolas"/>
              </a:rPr>
              <a:t>headp</a:t>
            </a:r>
            <a:r>
              <a:rPr lang="en-US" altLang="zh-CN" sz="2000" dirty="0">
                <a:latin typeface="Consolas"/>
                <a:cs typeface="Consolas"/>
              </a:rPr>
              <a:t> = </a:t>
            </a:r>
            <a:r>
              <a:rPr lang="en-US" altLang="zh-CN" sz="2000" dirty="0" err="1">
                <a:latin typeface="Consolas"/>
                <a:cs typeface="Consolas"/>
              </a:rPr>
              <a:t>insert_front</a:t>
            </a:r>
            <a:r>
              <a:rPr lang="en-US" altLang="zh-CN" sz="2000" dirty="0">
                <a:latin typeface="Consolas"/>
                <a:cs typeface="Consolas"/>
              </a:rPr>
              <a:t>(</a:t>
            </a:r>
            <a:r>
              <a:rPr lang="en-US" altLang="zh-CN" sz="2000" dirty="0" err="1">
                <a:latin typeface="Consolas"/>
                <a:cs typeface="Consolas"/>
              </a:rPr>
              <a:t>headp</a:t>
            </a:r>
            <a:r>
              <a:rPr lang="en-US" altLang="zh-CN" sz="2000" dirty="0">
                <a:latin typeface="Consolas"/>
                <a:cs typeface="Consolas"/>
              </a:rPr>
              <a:t>,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  <a:p>
            <a:endParaRPr lang="zh-CN" altLang="en-US" sz="2400" dirty="0">
              <a:latin typeface="Consolas"/>
              <a:cs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0612" y="1802056"/>
            <a:ext cx="5980541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void </a:t>
            </a:r>
            <a:r>
              <a:rPr lang="en-US" sz="2000" dirty="0" err="1">
                <a:latin typeface="Consolas" panose="020B0609020204030204" pitchFamily="49" charset="0"/>
              </a:rPr>
              <a:t>insert_front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node **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headp</a:t>
            </a:r>
            <a:r>
              <a:rPr lang="en-US" sz="2000" dirty="0">
                <a:latin typeface="Consolas" panose="020B0609020204030204" pitchFamily="49" charset="0"/>
              </a:rPr>
              <a:t>, int </a:t>
            </a:r>
            <a:r>
              <a:rPr lang="en-US" sz="2000" dirty="0" err="1">
                <a:latin typeface="Consolas" panose="020B0609020204030204" pitchFamily="49" charset="0"/>
              </a:rPr>
              <a:t>val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F03A8-5123-4247-A5FF-B586CC12DD72}"/>
              </a:ext>
            </a:extLst>
          </p:cNvPr>
          <p:cNvSpPr txBox="1"/>
          <p:nvPr/>
        </p:nvSpPr>
        <p:spPr>
          <a:xfrm>
            <a:off x="1711687" y="5203278"/>
            <a:ext cx="4437698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insert_front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headp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42212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682892" y="3030604"/>
            <a:ext cx="54611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insert_front</a:t>
            </a:r>
            <a:r>
              <a:rPr lang="en-US" dirty="0">
                <a:latin typeface="Consolas" panose="020B0609020204030204" pitchFamily="49" charset="0"/>
              </a:rPr>
              <a:t>(node **</a:t>
            </a:r>
            <a:r>
              <a:rPr lang="en-US" dirty="0" err="1">
                <a:latin typeface="Consolas" panose="020B0609020204030204" pitchFamily="49" charset="0"/>
              </a:rPr>
              <a:t>headp</a:t>
            </a:r>
            <a:r>
              <a:rPr lang="en-US" dirty="0">
                <a:latin typeface="Consolas" panose="020B0609020204030204" pitchFamily="49" charset="0"/>
              </a:rPr>
              <a:t>, int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144" y="168644"/>
            <a:ext cx="8229600" cy="1143000"/>
          </a:xfrm>
        </p:spPr>
        <p:txBody>
          <a:bodyPr/>
          <a:lstStyle/>
          <a:p>
            <a:r>
              <a:rPr lang="en-US" dirty="0"/>
              <a:t>Inserting into a linked list</a:t>
            </a:r>
          </a:p>
        </p:txBody>
      </p:sp>
      <p:grpSp>
        <p:nvGrpSpPr>
          <p:cNvPr id="5" name="组 8"/>
          <p:cNvGrpSpPr/>
          <p:nvPr/>
        </p:nvGrpSpPr>
        <p:grpSpPr>
          <a:xfrm>
            <a:off x="2011020" y="1657483"/>
            <a:ext cx="815648" cy="646331"/>
            <a:chOff x="838953" y="1808946"/>
            <a:chExt cx="815648" cy="646331"/>
          </a:xfrm>
        </p:grpSpPr>
        <p:sp>
          <p:nvSpPr>
            <p:cNvPr id="31" name="圆角矩形 2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圆角矩形 5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3" name="矩形 7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6" name="组 9"/>
          <p:cNvGrpSpPr/>
          <p:nvPr/>
        </p:nvGrpSpPr>
        <p:grpSpPr>
          <a:xfrm>
            <a:off x="3285895" y="1669135"/>
            <a:ext cx="815648" cy="646331"/>
            <a:chOff x="838953" y="1808946"/>
            <a:chExt cx="815648" cy="646331"/>
          </a:xfrm>
        </p:grpSpPr>
        <p:sp>
          <p:nvSpPr>
            <p:cNvPr id="28" name="圆角矩形 10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圆角矩形 11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0" name="矩形 12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10" name="组 25"/>
          <p:cNvGrpSpPr/>
          <p:nvPr/>
        </p:nvGrpSpPr>
        <p:grpSpPr>
          <a:xfrm>
            <a:off x="5888930" y="1669135"/>
            <a:ext cx="815648" cy="646331"/>
            <a:chOff x="838953" y="1808946"/>
            <a:chExt cx="815648" cy="646331"/>
          </a:xfrm>
        </p:grpSpPr>
        <p:sp>
          <p:nvSpPr>
            <p:cNvPr id="16" name="圆角矩形 26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7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18" name="矩形 28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cxnSp>
        <p:nvCxnSpPr>
          <p:cNvPr id="12" name="直线箭头连接符 39"/>
          <p:cNvCxnSpPr/>
          <p:nvPr/>
        </p:nvCxnSpPr>
        <p:spPr>
          <a:xfrm>
            <a:off x="2678360" y="2129050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线箭头连接符 40"/>
          <p:cNvCxnSpPr/>
          <p:nvPr/>
        </p:nvCxnSpPr>
        <p:spPr>
          <a:xfrm>
            <a:off x="3914406" y="2140701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线箭头连接符 42"/>
          <p:cNvCxnSpPr/>
          <p:nvPr/>
        </p:nvCxnSpPr>
        <p:spPr>
          <a:xfrm>
            <a:off x="5281395" y="2152356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85944" y="1842149"/>
            <a:ext cx="41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73223" y="3595357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node *n = (node *)malloc(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(node));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0901" y="4056651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n-&gt;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F9534DF-D1A6-4E65-8FA3-A4F41FEB69DD}"/>
              </a:ext>
            </a:extLst>
          </p:cNvPr>
          <p:cNvGrpSpPr/>
          <p:nvPr/>
        </p:nvGrpSpPr>
        <p:grpSpPr>
          <a:xfrm>
            <a:off x="2136948" y="5066538"/>
            <a:ext cx="815648" cy="369332"/>
            <a:chOff x="2268290" y="4429193"/>
            <a:chExt cx="815648" cy="369332"/>
          </a:xfrm>
        </p:grpSpPr>
        <p:grpSp>
          <p:nvGrpSpPr>
            <p:cNvPr id="21" name="组 8"/>
            <p:cNvGrpSpPr/>
            <p:nvPr/>
          </p:nvGrpSpPr>
          <p:grpSpPr>
            <a:xfrm>
              <a:off x="2268290" y="4464720"/>
              <a:ext cx="815648" cy="326225"/>
              <a:chOff x="838953" y="2120460"/>
              <a:chExt cx="815648" cy="326225"/>
            </a:xfrm>
          </p:grpSpPr>
          <p:sp>
            <p:nvSpPr>
              <p:cNvPr id="22" name="圆角矩形 2"/>
              <p:cNvSpPr/>
              <p:nvPr/>
            </p:nvSpPr>
            <p:spPr>
              <a:xfrm>
                <a:off x="838953" y="2120460"/>
                <a:ext cx="512693" cy="326225"/>
              </a:xfrm>
              <a:prstGeom prst="roundRect">
                <a:avLst>
                  <a:gd name="adj" fmla="val 5757"/>
                </a:avLst>
              </a:prstGeom>
              <a:ln w="28575" cmpd="sng">
                <a:solidFill>
                  <a:srgbClr val="FF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3" name="圆角矩形 5"/>
              <p:cNvSpPr/>
              <p:nvPr/>
            </p:nvSpPr>
            <p:spPr>
              <a:xfrm>
                <a:off x="1351646" y="2120460"/>
                <a:ext cx="302955" cy="326225"/>
              </a:xfrm>
              <a:prstGeom prst="roundRect">
                <a:avLst>
                  <a:gd name="adj" fmla="val 5757"/>
                </a:avLst>
              </a:prstGeom>
              <a:ln w="28575" cmpd="sng">
                <a:solidFill>
                  <a:srgbClr val="FF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kumimoji="1" lang="zh-CN" altLang="en-US" sz="3600" b="1" dirty="0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2297479" y="442919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070901" y="4392210"/>
            <a:ext cx="2520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n-&gt;next = *</a:t>
            </a:r>
            <a:r>
              <a:rPr lang="en-US" dirty="0" err="1">
                <a:latin typeface="Consolas" panose="020B0609020204030204" pitchFamily="49" charset="0"/>
              </a:rPr>
              <a:t>headp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Freeform 7"/>
          <p:cNvSpPr/>
          <p:nvPr/>
        </p:nvSpPr>
        <p:spPr>
          <a:xfrm>
            <a:off x="2064462" y="2399971"/>
            <a:ext cx="888134" cy="2800539"/>
          </a:xfrm>
          <a:custGeom>
            <a:avLst/>
            <a:gdLst>
              <a:gd name="connsiteX0" fmla="*/ 786255 w 1016703"/>
              <a:gd name="connsiteY0" fmla="*/ 2207260 h 2207260"/>
              <a:gd name="connsiteX1" fmla="*/ 967699 w 1016703"/>
              <a:gd name="connsiteY1" fmla="*/ 1330403 h 2207260"/>
              <a:gd name="connsiteX2" fmla="*/ 0 w 1016703"/>
              <a:gd name="connsiteY2" fmla="*/ 0 h 220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703" h="2207260">
                <a:moveTo>
                  <a:pt x="786255" y="2207260"/>
                </a:moveTo>
                <a:cubicBezTo>
                  <a:pt x="942498" y="1952769"/>
                  <a:pt x="1098741" y="1698279"/>
                  <a:pt x="967699" y="1330403"/>
                </a:cubicBezTo>
                <a:cubicBezTo>
                  <a:pt x="836657" y="962527"/>
                  <a:pt x="0" y="0"/>
                  <a:pt x="0" y="0"/>
                </a:cubicBezTo>
              </a:path>
            </a:pathLst>
          </a:custGeom>
          <a:ln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BA5ABA-9F6A-2E49-A587-5B90E5876D6B}"/>
              </a:ext>
            </a:extLst>
          </p:cNvPr>
          <p:cNvGrpSpPr/>
          <p:nvPr/>
        </p:nvGrpSpPr>
        <p:grpSpPr>
          <a:xfrm>
            <a:off x="4828000" y="3976706"/>
            <a:ext cx="3816702" cy="2375665"/>
            <a:chOff x="6101780" y="977909"/>
            <a:chExt cx="3816702" cy="2207909"/>
          </a:xfrm>
        </p:grpSpPr>
        <p:sp>
          <p:nvSpPr>
            <p:cNvPr id="20" name="TextBox 19"/>
            <p:cNvSpPr txBox="1"/>
            <p:nvPr/>
          </p:nvSpPr>
          <p:spPr>
            <a:xfrm>
              <a:off x="6101780" y="2262488"/>
              <a:ext cx="3816702" cy="923330"/>
            </a:xfrm>
            <a:prstGeom prst="rect">
              <a:avLst/>
            </a:prstGeom>
            <a:solidFill>
              <a:srgbClr val="B9CDE5"/>
            </a:solidFill>
            <a:ln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replace line with following?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node </a:t>
              </a:r>
              <a:r>
                <a:rPr lang="en-US" dirty="0" err="1">
                  <a:latin typeface="Consolas" panose="020B0609020204030204" pitchFamily="49" charset="0"/>
                </a:rPr>
                <a:t>new_node</a:t>
              </a:r>
              <a:r>
                <a:rPr lang="en-US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node *n = &amp;</a:t>
              </a:r>
              <a:r>
                <a:rPr lang="en-US" dirty="0" err="1">
                  <a:latin typeface="Consolas" panose="020B0609020204030204" pitchFamily="49" charset="0"/>
                </a:rPr>
                <a:t>new_node</a:t>
              </a:r>
              <a:r>
                <a:rPr lang="en-US" dirty="0">
                  <a:latin typeface="Consolas" panose="020B0609020204030204" pitchFamily="49" charset="0"/>
                </a:rPr>
                <a:t>;</a:t>
              </a:r>
            </a:p>
          </p:txBody>
        </p:sp>
        <p:cxnSp>
          <p:nvCxnSpPr>
            <p:cNvPr id="25" name="Straight Arrow Connector 24"/>
            <p:cNvCxnSpPr>
              <a:cxnSpLocks/>
            </p:cNvCxnSpPr>
            <p:nvPr/>
          </p:nvCxnSpPr>
          <p:spPr>
            <a:xfrm flipH="1" flipV="1">
              <a:off x="7494532" y="977909"/>
              <a:ext cx="332348" cy="12376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Multiply 25"/>
          <p:cNvSpPr/>
          <p:nvPr/>
        </p:nvSpPr>
        <p:spPr>
          <a:xfrm>
            <a:off x="7523237" y="5793477"/>
            <a:ext cx="941787" cy="947071"/>
          </a:xfrm>
          <a:prstGeom prst="mathMultiply">
            <a:avLst/>
          </a:prstGeom>
          <a:solidFill>
            <a:srgbClr val="FF006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ED0632-B5C0-49BF-A836-4B6198BD6F17}"/>
              </a:ext>
            </a:extLst>
          </p:cNvPr>
          <p:cNvSpPr txBox="1"/>
          <p:nvPr/>
        </p:nvSpPr>
        <p:spPr>
          <a:xfrm>
            <a:off x="4070901" y="4742304"/>
            <a:ext cx="2520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headp</a:t>
            </a:r>
            <a:r>
              <a:rPr lang="en-US" dirty="0">
                <a:latin typeface="Consolas" panose="020B0609020204030204" pitchFamily="49" charset="0"/>
              </a:rPr>
              <a:t> = n;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EBD233-7A56-4CAA-A9C4-A04DEB0E6B50}"/>
              </a:ext>
            </a:extLst>
          </p:cNvPr>
          <p:cNvSpPr txBox="1"/>
          <p:nvPr/>
        </p:nvSpPr>
        <p:spPr>
          <a:xfrm>
            <a:off x="2158043" y="5078853"/>
            <a:ext cx="448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val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91641-A0EA-8E17-B047-702FDF2AC097}"/>
              </a:ext>
            </a:extLst>
          </p:cNvPr>
          <p:cNvSpPr txBox="1"/>
          <p:nvPr/>
        </p:nvSpPr>
        <p:spPr>
          <a:xfrm>
            <a:off x="454192" y="458883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headp</a:t>
            </a:r>
            <a:r>
              <a:rPr lang="en-US" dirty="0"/>
              <a:t>: </a:t>
            </a:r>
          </a:p>
        </p:txBody>
      </p:sp>
      <p:sp>
        <p:nvSpPr>
          <p:cNvPr id="24" name="圆角矩形 5">
            <a:extLst>
              <a:ext uri="{FF2B5EF4-FFF2-40B4-BE49-F238E27FC236}">
                <a16:creationId xmlns:a16="http://schemas.microsoft.com/office/drawing/2014/main" id="{63DA026D-DA17-803D-0D51-551B91313758}"/>
              </a:ext>
            </a:extLst>
          </p:cNvPr>
          <p:cNvSpPr/>
          <p:nvPr/>
        </p:nvSpPr>
        <p:spPr>
          <a:xfrm>
            <a:off x="1253863" y="4598429"/>
            <a:ext cx="302955" cy="326225"/>
          </a:xfrm>
          <a:prstGeom prst="roundRect">
            <a:avLst>
              <a:gd name="adj" fmla="val 5757"/>
            </a:avLst>
          </a:prstGeom>
          <a:ln w="28575" cmpd="sng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kumimoji="1" lang="zh-CN" altLang="en-US" sz="3600" b="1" dirty="0">
              <a:highlight>
                <a:srgbClr val="000000"/>
              </a:highlight>
            </a:endParaRPr>
          </a:p>
        </p:txBody>
      </p:sp>
      <p:sp>
        <p:nvSpPr>
          <p:cNvPr id="35" name="圆角矩形 5">
            <a:extLst>
              <a:ext uri="{FF2B5EF4-FFF2-40B4-BE49-F238E27FC236}">
                <a16:creationId xmlns:a16="http://schemas.microsoft.com/office/drawing/2014/main" id="{0456A8B3-12AA-1FEE-A41A-3E92F47410C3}"/>
              </a:ext>
            </a:extLst>
          </p:cNvPr>
          <p:cNvSpPr/>
          <p:nvPr/>
        </p:nvSpPr>
        <p:spPr>
          <a:xfrm>
            <a:off x="1661733" y="1220936"/>
            <a:ext cx="302955" cy="326225"/>
          </a:xfrm>
          <a:prstGeom prst="roundRect">
            <a:avLst>
              <a:gd name="adj" fmla="val 5757"/>
            </a:avLst>
          </a:prstGeom>
          <a:ln w="28575" cmpd="sng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kumimoji="1" lang="zh-CN" altLang="en-US" sz="3600" b="1" dirty="0">
              <a:highlight>
                <a:srgbClr val="000000"/>
              </a:highlight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113D638-884A-D2C0-56A4-61DC2353E17F}"/>
              </a:ext>
            </a:extLst>
          </p:cNvPr>
          <p:cNvSpPr/>
          <p:nvPr/>
        </p:nvSpPr>
        <p:spPr>
          <a:xfrm flipH="1" flipV="1">
            <a:off x="1777481" y="1417638"/>
            <a:ext cx="258686" cy="531464"/>
          </a:xfrm>
          <a:custGeom>
            <a:avLst/>
            <a:gdLst>
              <a:gd name="connsiteX0" fmla="*/ 786255 w 1016703"/>
              <a:gd name="connsiteY0" fmla="*/ 2207260 h 2207260"/>
              <a:gd name="connsiteX1" fmla="*/ 967699 w 1016703"/>
              <a:gd name="connsiteY1" fmla="*/ 1330403 h 2207260"/>
              <a:gd name="connsiteX2" fmla="*/ 0 w 1016703"/>
              <a:gd name="connsiteY2" fmla="*/ 0 h 220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703" h="2207260">
                <a:moveTo>
                  <a:pt x="786255" y="2207260"/>
                </a:moveTo>
                <a:cubicBezTo>
                  <a:pt x="942498" y="1952769"/>
                  <a:pt x="1098741" y="1698279"/>
                  <a:pt x="967699" y="1330403"/>
                </a:cubicBezTo>
                <a:cubicBezTo>
                  <a:pt x="836657" y="962527"/>
                  <a:pt x="0" y="0"/>
                  <a:pt x="0" y="0"/>
                </a:cubicBezTo>
              </a:path>
            </a:pathLst>
          </a:custGeom>
          <a:ln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AB329DDE-0558-0EF2-874E-302668115C07}"/>
              </a:ext>
            </a:extLst>
          </p:cNvPr>
          <p:cNvSpPr/>
          <p:nvPr/>
        </p:nvSpPr>
        <p:spPr>
          <a:xfrm>
            <a:off x="889677" y="1469985"/>
            <a:ext cx="684480" cy="3252486"/>
          </a:xfrm>
          <a:custGeom>
            <a:avLst/>
            <a:gdLst>
              <a:gd name="csX0" fmla="*/ 534009 w 684480"/>
              <a:gd name="csY0" fmla="*/ 3252486 h 3252486"/>
              <a:gd name="csX1" fmla="*/ 1574 w 684480"/>
              <a:gd name="csY1" fmla="*/ 1527858 h 3252486"/>
              <a:gd name="csX2" fmla="*/ 684480 w 684480"/>
              <a:gd name="csY2" fmla="*/ 0 h 3252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84480" h="3252486">
                <a:moveTo>
                  <a:pt x="534009" y="3252486"/>
                </a:moveTo>
                <a:cubicBezTo>
                  <a:pt x="255252" y="2661212"/>
                  <a:pt x="-23505" y="2069939"/>
                  <a:pt x="1574" y="1527858"/>
                </a:cubicBezTo>
                <a:cubicBezTo>
                  <a:pt x="26653" y="985777"/>
                  <a:pt x="355566" y="492888"/>
                  <a:pt x="684480" y="0"/>
                </a:cubicBezTo>
              </a:path>
            </a:pathLst>
          </a:custGeom>
          <a:noFill/>
          <a:ln w="25400">
            <a:headEnd type="oval" w="lg" len="lg"/>
            <a:tailEnd type="stealth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1A012D-99DD-5FC6-D10E-960C55D2051A}"/>
              </a:ext>
            </a:extLst>
          </p:cNvPr>
          <p:cNvGrpSpPr/>
          <p:nvPr/>
        </p:nvGrpSpPr>
        <p:grpSpPr>
          <a:xfrm>
            <a:off x="720516" y="5082044"/>
            <a:ext cx="1437527" cy="369332"/>
            <a:chOff x="720516" y="5082044"/>
            <a:chExt cx="1437527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4FFA86-7888-BDD8-65D9-77B0A9D78BA9}"/>
                </a:ext>
              </a:extLst>
            </p:cNvPr>
            <p:cNvSpPr txBox="1"/>
            <p:nvPr/>
          </p:nvSpPr>
          <p:spPr>
            <a:xfrm>
              <a:off x="720516" y="5082044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n:</a:t>
              </a:r>
            </a:p>
          </p:txBody>
        </p:sp>
        <p:sp>
          <p:nvSpPr>
            <p:cNvPr id="27" name="圆角矩形 5">
              <a:extLst>
                <a:ext uri="{FF2B5EF4-FFF2-40B4-BE49-F238E27FC236}">
                  <a16:creationId xmlns:a16="http://schemas.microsoft.com/office/drawing/2014/main" id="{EEC8BC27-8854-4105-2F2F-7D00B785076E}"/>
                </a:ext>
              </a:extLst>
            </p:cNvPr>
            <p:cNvSpPr/>
            <p:nvPr/>
          </p:nvSpPr>
          <p:spPr>
            <a:xfrm>
              <a:off x="1267367" y="5109645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>
                <a:highlight>
                  <a:srgbClr val="000000"/>
                </a:highlight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FD1DE97-B0A2-07A6-0B6C-FB7D963152F1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1428494" y="5251177"/>
              <a:ext cx="729549" cy="12342"/>
            </a:xfrm>
            <a:prstGeom prst="straightConnector1">
              <a:avLst/>
            </a:prstGeom>
            <a:ln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Freeform 50">
            <a:extLst>
              <a:ext uri="{FF2B5EF4-FFF2-40B4-BE49-F238E27FC236}">
                <a16:creationId xmlns:a16="http://schemas.microsoft.com/office/drawing/2014/main" id="{71EE7CB6-4872-41C5-6166-E582430E63D3}"/>
              </a:ext>
            </a:extLst>
          </p:cNvPr>
          <p:cNvSpPr/>
          <p:nvPr/>
        </p:nvSpPr>
        <p:spPr>
          <a:xfrm>
            <a:off x="1499142" y="1359243"/>
            <a:ext cx="552080" cy="3756454"/>
          </a:xfrm>
          <a:custGeom>
            <a:avLst/>
            <a:gdLst>
              <a:gd name="csX0" fmla="*/ 354372 w 552080"/>
              <a:gd name="csY0" fmla="*/ 0 h 3756454"/>
              <a:gd name="csX1" fmla="*/ 8382 w 552080"/>
              <a:gd name="csY1" fmla="*/ 1729946 h 3756454"/>
              <a:gd name="csX2" fmla="*/ 144307 w 552080"/>
              <a:gd name="csY2" fmla="*/ 2891481 h 3756454"/>
              <a:gd name="csX3" fmla="*/ 552080 w 552080"/>
              <a:gd name="csY3" fmla="*/ 3756454 h 3756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2080" h="3756454">
                <a:moveTo>
                  <a:pt x="354372" y="0"/>
                </a:moveTo>
                <a:cubicBezTo>
                  <a:pt x="198882" y="624016"/>
                  <a:pt x="43393" y="1248033"/>
                  <a:pt x="8382" y="1729946"/>
                </a:cubicBezTo>
                <a:cubicBezTo>
                  <a:pt x="-26629" y="2211860"/>
                  <a:pt x="53691" y="2553730"/>
                  <a:pt x="144307" y="2891481"/>
                </a:cubicBezTo>
                <a:cubicBezTo>
                  <a:pt x="234923" y="3229232"/>
                  <a:pt x="393501" y="3492843"/>
                  <a:pt x="552080" y="3756454"/>
                </a:cubicBezTo>
              </a:path>
            </a:pathLst>
          </a:custGeom>
          <a:ln w="25400">
            <a:headEnd type="oval" w="lg" len="lg"/>
            <a:tailEnd type="stealth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6" grpId="0"/>
      <p:bldP spid="39" grpId="0"/>
      <p:bldP spid="8" grpId="0" animBg="1"/>
      <p:bldP spid="26" grpId="0" animBg="1"/>
      <p:bldP spid="46" grpId="0"/>
      <p:bldP spid="48" grpId="0"/>
      <p:bldP spid="40" grpId="0" animBg="1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479D-58F5-B748-BF0B-307C4CCE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C: removal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3925F4-2AF9-A740-8C96-BE8A122C6376}"/>
              </a:ext>
            </a:extLst>
          </p:cNvPr>
          <p:cNvSpPr/>
          <p:nvPr/>
        </p:nvSpPr>
        <p:spPr>
          <a:xfrm>
            <a:off x="652756" y="1254612"/>
            <a:ext cx="73969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remove node with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val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from linked list; modify the head pointer pointed to by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headp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if needed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void remove(node **</a:t>
            </a:r>
            <a:r>
              <a:rPr lang="en-US" altLang="zh-CN" sz="2000" dirty="0" err="1">
                <a:latin typeface="Consolas"/>
                <a:cs typeface="Consolas"/>
              </a:rPr>
              <a:t>headp</a:t>
            </a:r>
            <a:r>
              <a:rPr lang="en-US" altLang="zh-CN" sz="2000" dirty="0">
                <a:latin typeface="Consolas"/>
                <a:cs typeface="Consolas"/>
              </a:rPr>
              <a:t>, int </a:t>
            </a:r>
            <a:r>
              <a:rPr lang="en-US" altLang="zh-CN" sz="2000" dirty="0" err="1">
                <a:latin typeface="Consolas"/>
                <a:cs typeface="Consolas"/>
              </a:rPr>
              <a:t>val</a:t>
            </a:r>
            <a:r>
              <a:rPr lang="en-US" altLang="zh-CN" sz="2000" dirty="0">
                <a:latin typeface="Consolas"/>
                <a:cs typeface="Consolas"/>
              </a:rPr>
              <a:t>)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 err="1">
                <a:latin typeface="Consolas"/>
                <a:cs typeface="Consolas"/>
              </a:rPr>
              <a:t>int</a:t>
            </a:r>
            <a:r>
              <a:rPr lang="en-US" altLang="zh-CN" sz="2000" dirty="0">
                <a:latin typeface="Consolas"/>
                <a:cs typeface="Consolas"/>
              </a:rPr>
              <a:t> main()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node *head = NULL;</a:t>
            </a:r>
          </a:p>
          <a:p>
            <a:pPr lvl="1"/>
            <a:r>
              <a:rPr lang="en-US" altLang="zh-CN" sz="2000" dirty="0">
                <a:latin typeface="Consolas"/>
                <a:cs typeface="Consolas"/>
              </a:rPr>
              <a:t> for (</a:t>
            </a:r>
            <a:r>
              <a:rPr lang="en-US" altLang="zh-CN" sz="2000" dirty="0" err="1">
                <a:latin typeface="Consolas"/>
                <a:cs typeface="Consolas"/>
              </a:rPr>
              <a:t>int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 = 0;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 &lt; 3;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++) </a:t>
            </a:r>
          </a:p>
          <a:p>
            <a:pPr lvl="1"/>
            <a:r>
              <a:rPr lang="en-US" altLang="zh-CN" sz="2000" dirty="0">
                <a:latin typeface="Consolas"/>
                <a:cs typeface="Consolas"/>
              </a:rPr>
              <a:t>    head = insert(head, </a:t>
            </a:r>
            <a:r>
              <a:rPr lang="en-US" altLang="zh-CN" sz="2000" dirty="0" err="1">
                <a:latin typeface="Consolas"/>
                <a:cs typeface="Consolas"/>
              </a:rPr>
              <a:t>i</a:t>
            </a:r>
            <a:r>
              <a:rPr lang="en-US" altLang="zh-CN" sz="2000" dirty="0">
                <a:latin typeface="Consolas"/>
                <a:cs typeface="Consolas"/>
              </a:rPr>
              <a:t>);</a:t>
            </a:r>
          </a:p>
          <a:p>
            <a:pPr lvl="1"/>
            <a:r>
              <a:rPr lang="en-US" altLang="zh-CN" sz="2000" dirty="0">
                <a:latin typeface="Consolas"/>
                <a:cs typeface="Consolas"/>
              </a:rPr>
              <a:t> head = remove(head, 1);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  <a:p>
            <a:endParaRPr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01012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from a linked list</a:t>
            </a:r>
          </a:p>
        </p:txBody>
      </p:sp>
      <p:grpSp>
        <p:nvGrpSpPr>
          <p:cNvPr id="5" name="组 8"/>
          <p:cNvGrpSpPr/>
          <p:nvPr/>
        </p:nvGrpSpPr>
        <p:grpSpPr>
          <a:xfrm>
            <a:off x="2011020" y="1657483"/>
            <a:ext cx="815648" cy="646331"/>
            <a:chOff x="838953" y="1808946"/>
            <a:chExt cx="815648" cy="646331"/>
          </a:xfrm>
        </p:grpSpPr>
        <p:sp>
          <p:nvSpPr>
            <p:cNvPr id="31" name="圆角矩形 2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32" name="圆角矩形 5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3" name="矩形 7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6" name="组 9"/>
          <p:cNvGrpSpPr/>
          <p:nvPr/>
        </p:nvGrpSpPr>
        <p:grpSpPr>
          <a:xfrm>
            <a:off x="3285895" y="1669135"/>
            <a:ext cx="815648" cy="646331"/>
            <a:chOff x="838953" y="1808946"/>
            <a:chExt cx="815648" cy="646331"/>
          </a:xfrm>
        </p:grpSpPr>
        <p:sp>
          <p:nvSpPr>
            <p:cNvPr id="28" name="圆角矩形 10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29" name="圆角矩形 11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0" name="矩形 12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10" name="组 25"/>
          <p:cNvGrpSpPr/>
          <p:nvPr/>
        </p:nvGrpSpPr>
        <p:grpSpPr>
          <a:xfrm>
            <a:off x="4521941" y="1669135"/>
            <a:ext cx="815648" cy="646331"/>
            <a:chOff x="838953" y="1808946"/>
            <a:chExt cx="815648" cy="646331"/>
          </a:xfrm>
        </p:grpSpPr>
        <p:sp>
          <p:nvSpPr>
            <p:cNvPr id="16" name="圆角矩形 26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  <p:sp>
          <p:nvSpPr>
            <p:cNvPr id="17" name="圆角矩形 27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18" name="矩形 28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cxnSp>
        <p:nvCxnSpPr>
          <p:cNvPr id="12" name="直线箭头连接符 39"/>
          <p:cNvCxnSpPr/>
          <p:nvPr/>
        </p:nvCxnSpPr>
        <p:spPr>
          <a:xfrm>
            <a:off x="2678360" y="2129050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线箭头连接符 40"/>
          <p:cNvCxnSpPr/>
          <p:nvPr/>
        </p:nvCxnSpPr>
        <p:spPr>
          <a:xfrm>
            <a:off x="3914406" y="2140701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5CE6983-B980-2142-92A1-E8FAE5C6B91A}"/>
              </a:ext>
            </a:extLst>
          </p:cNvPr>
          <p:cNvSpPr txBox="1"/>
          <p:nvPr/>
        </p:nvSpPr>
        <p:spPr>
          <a:xfrm>
            <a:off x="767056" y="3699225"/>
            <a:ext cx="5256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remove(node **</a:t>
            </a:r>
            <a:r>
              <a:rPr lang="en-US" dirty="0" err="1">
                <a:latin typeface="Consolas" panose="020B0609020204030204" pitchFamily="49" charset="0"/>
              </a:rPr>
              <a:t>headp</a:t>
            </a:r>
            <a:r>
              <a:rPr lang="en-US" dirty="0">
                <a:latin typeface="Consolas" panose="020B0609020204030204" pitchFamily="49" charset="0"/>
              </a:rPr>
              <a:t>, int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node *n;</a:t>
            </a:r>
          </a:p>
          <a:p>
            <a:r>
              <a:rPr lang="en-US" dirty="0">
                <a:latin typeface="Consolas" panose="020B0609020204030204" pitchFamily="49" charset="0"/>
              </a:rPr>
              <a:t>    n = </a:t>
            </a:r>
            <a:r>
              <a:rPr lang="en-US" dirty="0" err="1">
                <a:latin typeface="Consolas" panose="020B0609020204030204" pitchFamily="49" charset="0"/>
              </a:rPr>
              <a:t>find_node</a:t>
            </a:r>
            <a:r>
              <a:rPr lang="en-US" dirty="0">
                <a:latin typeface="Consolas" panose="020B0609020204030204" pitchFamily="49" charset="0"/>
              </a:rPr>
              <a:t>(head,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9F8178C-9444-F643-BA81-F492B1C782B8}"/>
              </a:ext>
            </a:extLst>
          </p:cNvPr>
          <p:cNvGrpSpPr/>
          <p:nvPr/>
        </p:nvGrpSpPr>
        <p:grpSpPr>
          <a:xfrm>
            <a:off x="3094641" y="2375747"/>
            <a:ext cx="325730" cy="827205"/>
            <a:chOff x="3094641" y="2375747"/>
            <a:chExt cx="325730" cy="8272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706557F-20BF-8B43-8AC3-FB70F9C68F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5895" y="2375747"/>
              <a:ext cx="0" cy="548672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49">
              <a:extLst>
                <a:ext uri="{FF2B5EF4-FFF2-40B4-BE49-F238E27FC236}">
                  <a16:creationId xmlns:a16="http://schemas.microsoft.com/office/drawing/2014/main" id="{10D4DF65-6A3E-8C4D-A655-3D3693CC4263}"/>
                </a:ext>
              </a:extLst>
            </p:cNvPr>
            <p:cNvSpPr/>
            <p:nvPr/>
          </p:nvSpPr>
          <p:spPr>
            <a:xfrm>
              <a:off x="3094641" y="283362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Arial"/>
                  <a:cs typeface="Arial"/>
                </a:rPr>
                <a:t>n</a:t>
              </a:r>
              <a:endParaRPr lang="zh-CN" altLang="en-US" dirty="0">
                <a:latin typeface="Arial"/>
                <a:cs typeface="Arial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7E7802-F580-A34A-88B6-A84080426EED}"/>
              </a:ext>
            </a:extLst>
          </p:cNvPr>
          <p:cNvGrpSpPr/>
          <p:nvPr/>
        </p:nvGrpSpPr>
        <p:grpSpPr>
          <a:xfrm>
            <a:off x="2661313" y="1199376"/>
            <a:ext cx="1792595" cy="752254"/>
            <a:chOff x="2661313" y="1199376"/>
            <a:chExt cx="1792595" cy="752254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7C0C3CC-8FA6-F345-BED9-1FB4E56A001B}"/>
                </a:ext>
              </a:extLst>
            </p:cNvPr>
            <p:cNvSpPr/>
            <p:nvPr/>
          </p:nvSpPr>
          <p:spPr>
            <a:xfrm>
              <a:off x="2661313" y="1540354"/>
              <a:ext cx="1746914" cy="411276"/>
            </a:xfrm>
            <a:custGeom>
              <a:avLst/>
              <a:gdLst>
                <a:gd name="connsiteX0" fmla="*/ 0 w 1746914"/>
                <a:gd name="connsiteY0" fmla="*/ 288446 h 411276"/>
                <a:gd name="connsiteX1" fmla="*/ 832514 w 1746914"/>
                <a:gd name="connsiteY1" fmla="*/ 1843 h 411276"/>
                <a:gd name="connsiteX2" fmla="*/ 1746914 w 1746914"/>
                <a:gd name="connsiteY2" fmla="*/ 411276 h 41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6914" h="411276">
                  <a:moveTo>
                    <a:pt x="0" y="288446"/>
                  </a:moveTo>
                  <a:cubicBezTo>
                    <a:pt x="270681" y="134908"/>
                    <a:pt x="541362" y="-18629"/>
                    <a:pt x="832514" y="1843"/>
                  </a:cubicBezTo>
                  <a:cubicBezTo>
                    <a:pt x="1123666" y="22315"/>
                    <a:pt x="1435290" y="216795"/>
                    <a:pt x="1746914" y="411276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23421D-95FF-7C49-8291-65FE701C96F4}"/>
                </a:ext>
              </a:extLst>
            </p:cNvPr>
            <p:cNvSpPr txBox="1"/>
            <p:nvPr/>
          </p:nvSpPr>
          <p:spPr>
            <a:xfrm>
              <a:off x="2826668" y="1199376"/>
              <a:ext cx="1627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Desired change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A2D5554-D944-9B41-AA65-0B62A53C1E0D}"/>
              </a:ext>
            </a:extLst>
          </p:cNvPr>
          <p:cNvSpPr txBox="1"/>
          <p:nvPr/>
        </p:nvSpPr>
        <p:spPr>
          <a:xfrm>
            <a:off x="1170877" y="4854423"/>
            <a:ext cx="384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 // ???? How to get to n’s predecessor?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51666-8967-9CDA-67DB-B5A5440CF272}"/>
              </a:ext>
            </a:extLst>
          </p:cNvPr>
          <p:cNvSpPr txBox="1"/>
          <p:nvPr/>
        </p:nvSpPr>
        <p:spPr>
          <a:xfrm>
            <a:off x="766168" y="2924419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headp</a:t>
            </a:r>
            <a:r>
              <a:rPr lang="en-US" dirty="0"/>
              <a:t>: </a:t>
            </a:r>
          </a:p>
        </p:txBody>
      </p:sp>
      <p:sp>
        <p:nvSpPr>
          <p:cNvPr id="4" name="圆角矩形 5">
            <a:extLst>
              <a:ext uri="{FF2B5EF4-FFF2-40B4-BE49-F238E27FC236}">
                <a16:creationId xmlns:a16="http://schemas.microsoft.com/office/drawing/2014/main" id="{3A7E4244-055C-E13E-B3B3-512D7D681EFC}"/>
              </a:ext>
            </a:extLst>
          </p:cNvPr>
          <p:cNvSpPr/>
          <p:nvPr/>
        </p:nvSpPr>
        <p:spPr>
          <a:xfrm>
            <a:off x="1565839" y="2934017"/>
            <a:ext cx="302955" cy="326225"/>
          </a:xfrm>
          <a:prstGeom prst="roundRect">
            <a:avLst>
              <a:gd name="adj" fmla="val 5757"/>
            </a:avLst>
          </a:prstGeom>
          <a:ln w="28575" cmpd="sng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kumimoji="1" lang="zh-CN" altLang="en-US" sz="3600" b="1" dirty="0">
              <a:highlight>
                <a:srgbClr val="000000"/>
              </a:highlight>
            </a:endParaRP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1B14AD96-AF4C-51C4-97A6-DD2D1241C962}"/>
              </a:ext>
            </a:extLst>
          </p:cNvPr>
          <p:cNvSpPr/>
          <p:nvPr/>
        </p:nvSpPr>
        <p:spPr>
          <a:xfrm>
            <a:off x="1506281" y="1273047"/>
            <a:ext cx="302955" cy="326225"/>
          </a:xfrm>
          <a:prstGeom prst="roundRect">
            <a:avLst>
              <a:gd name="adj" fmla="val 5757"/>
            </a:avLst>
          </a:prstGeom>
          <a:ln w="28575" cmpd="sng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kumimoji="1" lang="zh-CN" altLang="en-US" sz="3600" b="1" dirty="0">
              <a:highlight>
                <a:srgbClr val="000000"/>
              </a:highlight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EE5FD77-3F12-0EF6-A408-5EB68553E206}"/>
              </a:ext>
            </a:extLst>
          </p:cNvPr>
          <p:cNvSpPr/>
          <p:nvPr/>
        </p:nvSpPr>
        <p:spPr>
          <a:xfrm flipH="1" flipV="1">
            <a:off x="1622029" y="1469749"/>
            <a:ext cx="258686" cy="531464"/>
          </a:xfrm>
          <a:custGeom>
            <a:avLst/>
            <a:gdLst>
              <a:gd name="connsiteX0" fmla="*/ 786255 w 1016703"/>
              <a:gd name="connsiteY0" fmla="*/ 2207260 h 2207260"/>
              <a:gd name="connsiteX1" fmla="*/ 967699 w 1016703"/>
              <a:gd name="connsiteY1" fmla="*/ 1330403 h 2207260"/>
              <a:gd name="connsiteX2" fmla="*/ 0 w 1016703"/>
              <a:gd name="connsiteY2" fmla="*/ 0 h 220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703" h="2207260">
                <a:moveTo>
                  <a:pt x="786255" y="2207260"/>
                </a:moveTo>
                <a:cubicBezTo>
                  <a:pt x="942498" y="1952769"/>
                  <a:pt x="1098741" y="1698279"/>
                  <a:pt x="967699" y="1330403"/>
                </a:cubicBezTo>
                <a:cubicBezTo>
                  <a:pt x="836657" y="962527"/>
                  <a:pt x="0" y="0"/>
                  <a:pt x="0" y="0"/>
                </a:cubicBezTo>
              </a:path>
            </a:pathLst>
          </a:custGeom>
          <a:ln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1480051-80B8-870A-8B32-F0D3BC4FC3A0}"/>
              </a:ext>
            </a:extLst>
          </p:cNvPr>
          <p:cNvSpPr/>
          <p:nvPr/>
        </p:nvSpPr>
        <p:spPr>
          <a:xfrm>
            <a:off x="1208242" y="1482811"/>
            <a:ext cx="546417" cy="1631092"/>
          </a:xfrm>
          <a:custGeom>
            <a:avLst/>
            <a:gdLst>
              <a:gd name="csX0" fmla="*/ 546417 w 546417"/>
              <a:gd name="csY0" fmla="*/ 1631092 h 1631092"/>
              <a:gd name="csX1" fmla="*/ 64504 w 546417"/>
              <a:gd name="csY1" fmla="*/ 902043 h 1631092"/>
              <a:gd name="csX2" fmla="*/ 27434 w 546417"/>
              <a:gd name="csY2" fmla="*/ 321275 h 1631092"/>
              <a:gd name="csX3" fmla="*/ 274569 w 546417"/>
              <a:gd name="csY3" fmla="*/ 0 h 1631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6417" h="1631092">
                <a:moveTo>
                  <a:pt x="546417" y="1631092"/>
                </a:moveTo>
                <a:cubicBezTo>
                  <a:pt x="348709" y="1375719"/>
                  <a:pt x="151001" y="1120346"/>
                  <a:pt x="64504" y="902043"/>
                </a:cubicBezTo>
                <a:cubicBezTo>
                  <a:pt x="-21993" y="683740"/>
                  <a:pt x="-7577" y="471615"/>
                  <a:pt x="27434" y="321275"/>
                </a:cubicBezTo>
                <a:cubicBezTo>
                  <a:pt x="62445" y="170935"/>
                  <a:pt x="168507" y="85467"/>
                  <a:pt x="274569" y="0"/>
                </a:cubicBezTo>
              </a:path>
            </a:pathLst>
          </a:custGeom>
          <a:noFill/>
          <a:ln w="25400">
            <a:headEnd type="oval" w="lg" len="lg"/>
            <a:tailEnd type="stealth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4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from a linked list</a:t>
            </a:r>
          </a:p>
        </p:txBody>
      </p:sp>
      <p:grpSp>
        <p:nvGrpSpPr>
          <p:cNvPr id="5" name="组 8"/>
          <p:cNvGrpSpPr/>
          <p:nvPr/>
        </p:nvGrpSpPr>
        <p:grpSpPr>
          <a:xfrm>
            <a:off x="2011020" y="1657483"/>
            <a:ext cx="815648" cy="646331"/>
            <a:chOff x="838953" y="1808946"/>
            <a:chExt cx="815648" cy="646331"/>
          </a:xfrm>
        </p:grpSpPr>
        <p:sp>
          <p:nvSpPr>
            <p:cNvPr id="31" name="圆角矩形 2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32" name="圆角矩形 5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3" name="矩形 7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6" name="组 9"/>
          <p:cNvGrpSpPr/>
          <p:nvPr/>
        </p:nvGrpSpPr>
        <p:grpSpPr>
          <a:xfrm>
            <a:off x="3285895" y="1669135"/>
            <a:ext cx="815648" cy="646331"/>
            <a:chOff x="838953" y="1808946"/>
            <a:chExt cx="815648" cy="646331"/>
          </a:xfrm>
        </p:grpSpPr>
        <p:sp>
          <p:nvSpPr>
            <p:cNvPr id="28" name="圆角矩形 10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29" name="圆角矩形 11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0" name="矩形 12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10" name="组 25"/>
          <p:cNvGrpSpPr/>
          <p:nvPr/>
        </p:nvGrpSpPr>
        <p:grpSpPr>
          <a:xfrm>
            <a:off x="4521941" y="1669135"/>
            <a:ext cx="815648" cy="646331"/>
            <a:chOff x="838953" y="1808946"/>
            <a:chExt cx="815648" cy="646331"/>
          </a:xfrm>
        </p:grpSpPr>
        <p:sp>
          <p:nvSpPr>
            <p:cNvPr id="16" name="圆角矩形 26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  <p:sp>
          <p:nvSpPr>
            <p:cNvPr id="17" name="圆角矩形 27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18" name="矩形 28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cxnSp>
        <p:nvCxnSpPr>
          <p:cNvPr id="12" name="直线箭头连接符 39"/>
          <p:cNvCxnSpPr/>
          <p:nvPr/>
        </p:nvCxnSpPr>
        <p:spPr>
          <a:xfrm>
            <a:off x="2678360" y="2129050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线箭头连接符 40"/>
          <p:cNvCxnSpPr/>
          <p:nvPr/>
        </p:nvCxnSpPr>
        <p:spPr>
          <a:xfrm>
            <a:off x="3914406" y="2140701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9F8178C-9444-F643-BA81-F492B1C782B8}"/>
              </a:ext>
            </a:extLst>
          </p:cNvPr>
          <p:cNvGrpSpPr/>
          <p:nvPr/>
        </p:nvGrpSpPr>
        <p:grpSpPr>
          <a:xfrm>
            <a:off x="3094641" y="2375747"/>
            <a:ext cx="325730" cy="827205"/>
            <a:chOff x="3094641" y="2375747"/>
            <a:chExt cx="325730" cy="8272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706557F-20BF-8B43-8AC3-FB70F9C68F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5895" y="2375747"/>
              <a:ext cx="0" cy="548672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49">
              <a:extLst>
                <a:ext uri="{FF2B5EF4-FFF2-40B4-BE49-F238E27FC236}">
                  <a16:creationId xmlns:a16="http://schemas.microsoft.com/office/drawing/2014/main" id="{10D4DF65-6A3E-8C4D-A655-3D3693CC4263}"/>
                </a:ext>
              </a:extLst>
            </p:cNvPr>
            <p:cNvSpPr/>
            <p:nvPr/>
          </p:nvSpPr>
          <p:spPr>
            <a:xfrm>
              <a:off x="3094641" y="283362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Arial"/>
                  <a:cs typeface="Arial"/>
                </a:rPr>
                <a:t>n</a:t>
              </a:r>
              <a:endParaRPr lang="zh-CN" altLang="en-US" dirty="0">
                <a:latin typeface="Arial"/>
                <a:cs typeface="Arial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7E7802-F580-A34A-88B6-A84080426EED}"/>
              </a:ext>
            </a:extLst>
          </p:cNvPr>
          <p:cNvGrpSpPr/>
          <p:nvPr/>
        </p:nvGrpSpPr>
        <p:grpSpPr>
          <a:xfrm>
            <a:off x="2661313" y="1199376"/>
            <a:ext cx="1792595" cy="752254"/>
            <a:chOff x="2661313" y="1199376"/>
            <a:chExt cx="1792595" cy="752254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7C0C3CC-8FA6-F345-BED9-1FB4E56A001B}"/>
                </a:ext>
              </a:extLst>
            </p:cNvPr>
            <p:cNvSpPr/>
            <p:nvPr/>
          </p:nvSpPr>
          <p:spPr>
            <a:xfrm>
              <a:off x="2661313" y="1540354"/>
              <a:ext cx="1746914" cy="411276"/>
            </a:xfrm>
            <a:custGeom>
              <a:avLst/>
              <a:gdLst>
                <a:gd name="connsiteX0" fmla="*/ 0 w 1746914"/>
                <a:gd name="connsiteY0" fmla="*/ 288446 h 411276"/>
                <a:gd name="connsiteX1" fmla="*/ 832514 w 1746914"/>
                <a:gd name="connsiteY1" fmla="*/ 1843 h 411276"/>
                <a:gd name="connsiteX2" fmla="*/ 1746914 w 1746914"/>
                <a:gd name="connsiteY2" fmla="*/ 411276 h 41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6914" h="411276">
                  <a:moveTo>
                    <a:pt x="0" y="288446"/>
                  </a:moveTo>
                  <a:cubicBezTo>
                    <a:pt x="270681" y="134908"/>
                    <a:pt x="541362" y="-18629"/>
                    <a:pt x="832514" y="1843"/>
                  </a:cubicBezTo>
                  <a:cubicBezTo>
                    <a:pt x="1123666" y="22315"/>
                    <a:pt x="1435290" y="216795"/>
                    <a:pt x="1746914" y="411276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23421D-95FF-7C49-8291-65FE701C96F4}"/>
                </a:ext>
              </a:extLst>
            </p:cNvPr>
            <p:cNvSpPr txBox="1"/>
            <p:nvPr/>
          </p:nvSpPr>
          <p:spPr>
            <a:xfrm>
              <a:off x="2826668" y="1199376"/>
              <a:ext cx="1627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Desired change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8BF1B8D-E352-764F-B891-D64C67557563}"/>
              </a:ext>
            </a:extLst>
          </p:cNvPr>
          <p:cNvSpPr txBox="1"/>
          <p:nvPr/>
        </p:nvSpPr>
        <p:spPr>
          <a:xfrm>
            <a:off x="353597" y="3717813"/>
            <a:ext cx="4218403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void remove(node **</a:t>
            </a:r>
            <a:r>
              <a:rPr lang="en-US" dirty="0" err="1"/>
              <a:t>headp</a:t>
            </a:r>
            <a:r>
              <a:rPr lang="en-US" dirty="0"/>
              <a:t>, int 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/>
              <a:t>    node *n;</a:t>
            </a:r>
          </a:p>
          <a:p>
            <a:r>
              <a:rPr lang="en-US" dirty="0">
                <a:solidFill>
                  <a:srgbClr val="0432FF"/>
                </a:solidFill>
              </a:rPr>
              <a:t>    node *</a:t>
            </a:r>
            <a:r>
              <a:rPr lang="en-US" dirty="0" err="1">
                <a:solidFill>
                  <a:srgbClr val="0432FF"/>
                </a:solidFill>
              </a:rPr>
              <a:t>pred</a:t>
            </a:r>
            <a:r>
              <a:rPr lang="en-US" dirty="0">
                <a:solidFill>
                  <a:srgbClr val="0432FF"/>
                </a:solidFill>
              </a:rPr>
              <a:t>;</a:t>
            </a:r>
          </a:p>
          <a:p>
            <a:r>
              <a:rPr lang="en-US" dirty="0"/>
              <a:t>    n = find(head, 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>
                <a:solidFill>
                  <a:srgbClr val="0432FF"/>
                </a:solidFill>
              </a:rPr>
              <a:t>&amp;</a:t>
            </a:r>
            <a:r>
              <a:rPr lang="en-US" dirty="0" err="1">
                <a:solidFill>
                  <a:srgbClr val="0432FF"/>
                </a:solidFill>
              </a:rPr>
              <a:t>pred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B145A6-FD43-7542-883A-08904ACEE903}"/>
              </a:ext>
            </a:extLst>
          </p:cNvPr>
          <p:cNvGrpSpPr/>
          <p:nvPr/>
        </p:nvGrpSpPr>
        <p:grpSpPr>
          <a:xfrm>
            <a:off x="2392174" y="2457635"/>
            <a:ext cx="6786759" cy="3693319"/>
            <a:chOff x="2392174" y="2457635"/>
            <a:chExt cx="6786759" cy="369331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07D709-49F8-6E49-AC06-1785E84C955D}"/>
                </a:ext>
              </a:extLst>
            </p:cNvPr>
            <p:cNvSpPr txBox="1"/>
            <p:nvPr/>
          </p:nvSpPr>
          <p:spPr>
            <a:xfrm>
              <a:off x="4408227" y="2457635"/>
              <a:ext cx="4770706" cy="36933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node *find(node *head, int </a:t>
              </a:r>
              <a:r>
                <a:rPr lang="en-US" dirty="0" err="1"/>
                <a:t>val</a:t>
              </a:r>
              <a:r>
                <a:rPr lang="en-US" dirty="0"/>
                <a:t>, </a:t>
              </a:r>
              <a:r>
                <a:rPr lang="en-US" dirty="0">
                  <a:solidFill>
                    <a:srgbClr val="0432FF"/>
                  </a:solidFill>
                </a:rPr>
                <a:t>node **</a:t>
              </a:r>
              <a:r>
                <a:rPr lang="en-US" dirty="0" err="1">
                  <a:solidFill>
                    <a:srgbClr val="0432FF"/>
                  </a:solidFill>
                </a:rPr>
                <a:t>predp</a:t>
              </a:r>
              <a:r>
                <a:rPr lang="en-US" dirty="0"/>
                <a:t>)</a:t>
              </a:r>
            </a:p>
            <a:p>
              <a:r>
                <a:rPr lang="en-US" dirty="0"/>
                <a:t>{</a:t>
              </a:r>
            </a:p>
            <a:p>
              <a:r>
                <a:rPr lang="en-US" dirty="0"/>
                <a:t>    node *n = head;</a:t>
              </a:r>
            </a:p>
            <a:p>
              <a:r>
                <a:rPr lang="en-US" dirty="0"/>
                <a:t>    </a:t>
              </a:r>
              <a:r>
                <a:rPr lang="en-US" dirty="0">
                  <a:solidFill>
                    <a:srgbClr val="0432FF"/>
                  </a:solidFill>
                </a:rPr>
                <a:t>node *</a:t>
              </a:r>
              <a:r>
                <a:rPr lang="en-US" dirty="0" err="1">
                  <a:solidFill>
                    <a:srgbClr val="0432FF"/>
                  </a:solidFill>
                </a:rPr>
                <a:t>pred</a:t>
              </a:r>
              <a:r>
                <a:rPr lang="en-US" dirty="0">
                  <a:solidFill>
                    <a:srgbClr val="0432FF"/>
                  </a:solidFill>
                </a:rPr>
                <a:t> = NULL;</a:t>
              </a:r>
              <a:r>
                <a:rPr lang="en-US" dirty="0"/>
                <a:t> </a:t>
              </a:r>
            </a:p>
            <a:p>
              <a:r>
                <a:rPr lang="en-US" dirty="0"/>
                <a:t>    while (n) {</a:t>
              </a:r>
            </a:p>
            <a:p>
              <a:r>
                <a:rPr lang="en-US" dirty="0"/>
                <a:t>         if (n-&gt;</a:t>
              </a:r>
              <a:r>
                <a:rPr lang="en-US" dirty="0" err="1"/>
                <a:t>val</a:t>
              </a:r>
              <a:r>
                <a:rPr lang="en-US" dirty="0"/>
                <a:t> == </a:t>
              </a:r>
              <a:r>
                <a:rPr lang="en-US" dirty="0" err="1"/>
                <a:t>val</a:t>
              </a:r>
              <a:r>
                <a:rPr lang="en-US" dirty="0"/>
                <a:t>) </a:t>
              </a:r>
            </a:p>
            <a:p>
              <a:r>
                <a:rPr lang="en-US" dirty="0"/>
                <a:t>              break;</a:t>
              </a:r>
            </a:p>
            <a:p>
              <a:r>
                <a:rPr lang="en-US" dirty="0"/>
                <a:t>         </a:t>
              </a:r>
              <a:r>
                <a:rPr lang="en-US" dirty="0">
                  <a:solidFill>
                    <a:srgbClr val="0432FF"/>
                  </a:solidFill>
                </a:rPr>
                <a:t>pred = n;</a:t>
              </a:r>
            </a:p>
            <a:p>
              <a:r>
                <a:rPr lang="en-US" dirty="0"/>
                <a:t>         n = n-&gt;next;</a:t>
              </a:r>
            </a:p>
            <a:p>
              <a:r>
                <a:rPr lang="en-US" dirty="0"/>
                <a:t>    }</a:t>
              </a:r>
            </a:p>
            <a:p>
              <a:r>
                <a:rPr lang="en-US" dirty="0">
                  <a:solidFill>
                    <a:srgbClr val="0432FF"/>
                  </a:solidFill>
                </a:rPr>
                <a:t>    *</a:t>
              </a:r>
              <a:r>
                <a:rPr lang="en-US" dirty="0" err="1">
                  <a:solidFill>
                    <a:srgbClr val="0432FF"/>
                  </a:solidFill>
                </a:rPr>
                <a:t>predp</a:t>
              </a:r>
              <a:r>
                <a:rPr lang="en-US" dirty="0">
                  <a:solidFill>
                    <a:srgbClr val="0432FF"/>
                  </a:solidFill>
                </a:rPr>
                <a:t> = </a:t>
              </a:r>
              <a:r>
                <a:rPr lang="en-US" dirty="0" err="1">
                  <a:solidFill>
                    <a:srgbClr val="0432FF"/>
                  </a:solidFill>
                </a:rPr>
                <a:t>pred</a:t>
              </a:r>
              <a:r>
                <a:rPr lang="en-US" dirty="0">
                  <a:solidFill>
                    <a:srgbClr val="0432FF"/>
                  </a:solidFill>
                </a:rPr>
                <a:t>;</a:t>
              </a:r>
            </a:p>
            <a:p>
              <a:r>
                <a:rPr lang="en-US" dirty="0"/>
                <a:t>    return n;</a:t>
              </a:r>
            </a:p>
            <a:p>
              <a:r>
                <a:rPr lang="en-US" dirty="0"/>
                <a:t>}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AAE4153-7EAF-6341-A2DA-903D27A5F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2174" y="3241460"/>
              <a:ext cx="1825999" cy="1321319"/>
            </a:xfrm>
            <a:prstGeom prst="straightConnector1">
              <a:avLst/>
            </a:prstGeom>
            <a:ln w="57150">
              <a:solidFill>
                <a:schemeClr val="tx2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322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F8A8B09-0FB9-9C49-8EBF-5DC05DC125F9}"/>
              </a:ext>
            </a:extLst>
          </p:cNvPr>
          <p:cNvSpPr txBox="1"/>
          <p:nvPr/>
        </p:nvSpPr>
        <p:spPr>
          <a:xfrm>
            <a:off x="717466" y="3188987"/>
            <a:ext cx="4218403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void remove(node **</a:t>
            </a:r>
            <a:r>
              <a:rPr lang="en-US" dirty="0" err="1"/>
              <a:t>headp</a:t>
            </a:r>
            <a:r>
              <a:rPr lang="en-US" dirty="0"/>
              <a:t>, int 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/>
              <a:t>    node *n;</a:t>
            </a:r>
          </a:p>
          <a:p>
            <a:r>
              <a:rPr lang="en-US" dirty="0"/>
              <a:t>    node *</a:t>
            </a:r>
            <a:r>
              <a:rPr lang="en-US" dirty="0" err="1"/>
              <a:t>pred</a:t>
            </a:r>
            <a:r>
              <a:rPr lang="en-US" dirty="0"/>
              <a:t>;</a:t>
            </a:r>
          </a:p>
          <a:p>
            <a:r>
              <a:rPr lang="en-US" dirty="0"/>
              <a:t>    n = find(head, </a:t>
            </a:r>
            <a:r>
              <a:rPr lang="en-US" dirty="0" err="1"/>
              <a:t>val</a:t>
            </a:r>
            <a:r>
              <a:rPr lang="en-US" dirty="0"/>
              <a:t>, &amp;</a:t>
            </a:r>
            <a:r>
              <a:rPr lang="en-US" dirty="0" err="1"/>
              <a:t>pred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from a linked list</a:t>
            </a:r>
          </a:p>
        </p:txBody>
      </p:sp>
      <p:grpSp>
        <p:nvGrpSpPr>
          <p:cNvPr id="5" name="组 8"/>
          <p:cNvGrpSpPr/>
          <p:nvPr/>
        </p:nvGrpSpPr>
        <p:grpSpPr>
          <a:xfrm>
            <a:off x="2011020" y="1657483"/>
            <a:ext cx="815648" cy="646331"/>
            <a:chOff x="838953" y="1808946"/>
            <a:chExt cx="815648" cy="646331"/>
          </a:xfrm>
        </p:grpSpPr>
        <p:sp>
          <p:nvSpPr>
            <p:cNvPr id="31" name="圆角矩形 2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32" name="圆角矩形 5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3" name="矩形 7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6" name="组 9"/>
          <p:cNvGrpSpPr/>
          <p:nvPr/>
        </p:nvGrpSpPr>
        <p:grpSpPr>
          <a:xfrm>
            <a:off x="3285895" y="1669135"/>
            <a:ext cx="815648" cy="646331"/>
            <a:chOff x="838953" y="1808946"/>
            <a:chExt cx="815648" cy="646331"/>
          </a:xfrm>
        </p:grpSpPr>
        <p:sp>
          <p:nvSpPr>
            <p:cNvPr id="28" name="圆角矩形 10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29" name="圆角矩形 11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30" name="矩形 12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grpSp>
        <p:nvGrpSpPr>
          <p:cNvPr id="10" name="组 25"/>
          <p:cNvGrpSpPr/>
          <p:nvPr/>
        </p:nvGrpSpPr>
        <p:grpSpPr>
          <a:xfrm>
            <a:off x="4521941" y="1669135"/>
            <a:ext cx="815648" cy="646331"/>
            <a:chOff x="838953" y="1808946"/>
            <a:chExt cx="815648" cy="646331"/>
          </a:xfrm>
        </p:grpSpPr>
        <p:sp>
          <p:nvSpPr>
            <p:cNvPr id="16" name="圆角矩形 26"/>
            <p:cNvSpPr/>
            <p:nvPr/>
          </p:nvSpPr>
          <p:spPr>
            <a:xfrm>
              <a:off x="838953" y="2120460"/>
              <a:ext cx="512693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  <p:sp>
          <p:nvSpPr>
            <p:cNvPr id="17" name="圆角矩形 27"/>
            <p:cNvSpPr/>
            <p:nvPr/>
          </p:nvSpPr>
          <p:spPr>
            <a:xfrm>
              <a:off x="1351646" y="2120460"/>
              <a:ext cx="302955" cy="326225"/>
            </a:xfrm>
            <a:prstGeom prst="roundRect">
              <a:avLst>
                <a:gd name="adj" fmla="val 5757"/>
              </a:avLst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 sz="3600" b="1" dirty="0"/>
            </a:p>
          </p:txBody>
        </p:sp>
        <p:sp>
          <p:nvSpPr>
            <p:cNvPr id="18" name="矩形 28"/>
            <p:cNvSpPr/>
            <p:nvPr/>
          </p:nvSpPr>
          <p:spPr>
            <a:xfrm flipH="1">
              <a:off x="1351647" y="1808946"/>
              <a:ext cx="2746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/>
                <a:t>.</a:t>
              </a:r>
              <a:endParaRPr lang="zh-CN" altLang="en-US" sz="3600" b="1" dirty="0"/>
            </a:p>
          </p:txBody>
        </p:sp>
      </p:grpSp>
      <p:cxnSp>
        <p:nvCxnSpPr>
          <p:cNvPr id="12" name="直线箭头连接符 39"/>
          <p:cNvCxnSpPr/>
          <p:nvPr/>
        </p:nvCxnSpPr>
        <p:spPr>
          <a:xfrm>
            <a:off x="2678360" y="2129050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线箭头连接符 40"/>
          <p:cNvCxnSpPr/>
          <p:nvPr/>
        </p:nvCxnSpPr>
        <p:spPr>
          <a:xfrm>
            <a:off x="3914406" y="2140701"/>
            <a:ext cx="607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9F8178C-9444-F643-BA81-F492B1C782B8}"/>
              </a:ext>
            </a:extLst>
          </p:cNvPr>
          <p:cNvGrpSpPr/>
          <p:nvPr/>
        </p:nvGrpSpPr>
        <p:grpSpPr>
          <a:xfrm>
            <a:off x="3094641" y="2375747"/>
            <a:ext cx="325730" cy="827205"/>
            <a:chOff x="3094641" y="2375747"/>
            <a:chExt cx="325730" cy="82720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706557F-20BF-8B43-8AC3-FB70F9C68F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5895" y="2375747"/>
              <a:ext cx="0" cy="548672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49">
              <a:extLst>
                <a:ext uri="{FF2B5EF4-FFF2-40B4-BE49-F238E27FC236}">
                  <a16:creationId xmlns:a16="http://schemas.microsoft.com/office/drawing/2014/main" id="{10D4DF65-6A3E-8C4D-A655-3D3693CC4263}"/>
                </a:ext>
              </a:extLst>
            </p:cNvPr>
            <p:cNvSpPr/>
            <p:nvPr/>
          </p:nvSpPr>
          <p:spPr>
            <a:xfrm>
              <a:off x="3094641" y="283362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Arial"/>
                  <a:cs typeface="Arial"/>
                </a:rPr>
                <a:t>n</a:t>
              </a:r>
              <a:endParaRPr lang="zh-CN" altLang="en-US" dirty="0">
                <a:latin typeface="Arial"/>
                <a:cs typeface="Arial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7E7802-F580-A34A-88B6-A84080426EED}"/>
              </a:ext>
            </a:extLst>
          </p:cNvPr>
          <p:cNvGrpSpPr/>
          <p:nvPr/>
        </p:nvGrpSpPr>
        <p:grpSpPr>
          <a:xfrm>
            <a:off x="2661313" y="1199376"/>
            <a:ext cx="1792595" cy="752254"/>
            <a:chOff x="2661313" y="1199376"/>
            <a:chExt cx="1792595" cy="752254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7C0C3CC-8FA6-F345-BED9-1FB4E56A001B}"/>
                </a:ext>
              </a:extLst>
            </p:cNvPr>
            <p:cNvSpPr/>
            <p:nvPr/>
          </p:nvSpPr>
          <p:spPr>
            <a:xfrm>
              <a:off x="2661313" y="1540354"/>
              <a:ext cx="1746914" cy="411276"/>
            </a:xfrm>
            <a:custGeom>
              <a:avLst/>
              <a:gdLst>
                <a:gd name="connsiteX0" fmla="*/ 0 w 1746914"/>
                <a:gd name="connsiteY0" fmla="*/ 288446 h 411276"/>
                <a:gd name="connsiteX1" fmla="*/ 832514 w 1746914"/>
                <a:gd name="connsiteY1" fmla="*/ 1843 h 411276"/>
                <a:gd name="connsiteX2" fmla="*/ 1746914 w 1746914"/>
                <a:gd name="connsiteY2" fmla="*/ 411276 h 41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6914" h="411276">
                  <a:moveTo>
                    <a:pt x="0" y="288446"/>
                  </a:moveTo>
                  <a:cubicBezTo>
                    <a:pt x="270681" y="134908"/>
                    <a:pt x="541362" y="-18629"/>
                    <a:pt x="832514" y="1843"/>
                  </a:cubicBezTo>
                  <a:cubicBezTo>
                    <a:pt x="1123666" y="22315"/>
                    <a:pt x="1435290" y="216795"/>
                    <a:pt x="1746914" y="411276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23421D-95FF-7C49-8291-65FE701C96F4}"/>
                </a:ext>
              </a:extLst>
            </p:cNvPr>
            <p:cNvSpPr txBox="1"/>
            <p:nvPr/>
          </p:nvSpPr>
          <p:spPr>
            <a:xfrm>
              <a:off x="2826668" y="1199376"/>
              <a:ext cx="1627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Desired change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8830525-0ABF-49C9-B9C8-523264A9BDBF}"/>
              </a:ext>
            </a:extLst>
          </p:cNvPr>
          <p:cNvSpPr txBox="1"/>
          <p:nvPr/>
        </p:nvSpPr>
        <p:spPr>
          <a:xfrm>
            <a:off x="953549" y="5277419"/>
            <a:ext cx="42184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predp</a:t>
            </a:r>
            <a:r>
              <a:rPr lang="en-US" dirty="0"/>
              <a:t>-&gt;next = n-&gt;next;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BF1B8D-E352-764F-B891-D64C67557563}"/>
              </a:ext>
            </a:extLst>
          </p:cNvPr>
          <p:cNvSpPr txBox="1"/>
          <p:nvPr/>
        </p:nvSpPr>
        <p:spPr>
          <a:xfrm>
            <a:off x="904792" y="4307923"/>
            <a:ext cx="4218403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if (!n)</a:t>
            </a:r>
          </a:p>
          <a:p>
            <a:r>
              <a:rPr lang="en-US" dirty="0">
                <a:solidFill>
                  <a:srgbClr val="0432FF"/>
                </a:solidFill>
              </a:rPr>
              <a:t>       return;</a:t>
            </a:r>
          </a:p>
          <a:p>
            <a:r>
              <a:rPr lang="en-US" dirty="0">
                <a:solidFill>
                  <a:srgbClr val="0432FF"/>
                </a:solidFill>
              </a:rPr>
              <a:t>if (!</a:t>
            </a:r>
            <a:r>
              <a:rPr lang="en-US" dirty="0" err="1">
                <a:solidFill>
                  <a:srgbClr val="0432FF"/>
                </a:solidFill>
              </a:rPr>
              <a:t>pred</a:t>
            </a:r>
            <a:r>
              <a:rPr lang="en-US" dirty="0">
                <a:solidFill>
                  <a:srgbClr val="0432FF"/>
                </a:solidFill>
              </a:rPr>
              <a:t>) </a:t>
            </a:r>
          </a:p>
          <a:p>
            <a:r>
              <a:rPr lang="en-US" dirty="0">
                <a:solidFill>
                  <a:srgbClr val="0432FF"/>
                </a:solidFill>
              </a:rPr>
              <a:t>      *</a:t>
            </a:r>
            <a:r>
              <a:rPr lang="en-US" dirty="0" err="1">
                <a:solidFill>
                  <a:srgbClr val="0432FF"/>
                </a:solidFill>
              </a:rPr>
              <a:t>headp</a:t>
            </a:r>
            <a:r>
              <a:rPr lang="en-US" dirty="0">
                <a:solidFill>
                  <a:srgbClr val="0432FF"/>
                </a:solidFill>
              </a:rPr>
              <a:t> = n-&gt;next;</a:t>
            </a:r>
          </a:p>
          <a:p>
            <a:r>
              <a:rPr lang="en-US" dirty="0">
                <a:solidFill>
                  <a:srgbClr val="0432FF"/>
                </a:solidFill>
              </a:rPr>
              <a:t>else </a:t>
            </a:r>
          </a:p>
          <a:p>
            <a:r>
              <a:rPr lang="en-US" dirty="0"/>
              <a:t>      </a:t>
            </a:r>
            <a:r>
              <a:rPr lang="en-US" dirty="0" err="1"/>
              <a:t>pred</a:t>
            </a:r>
            <a:r>
              <a:rPr lang="en-US" dirty="0"/>
              <a:t>-&gt;next = n-&gt;next;</a:t>
            </a:r>
          </a:p>
          <a:p>
            <a:r>
              <a:rPr lang="en-US" dirty="0">
                <a:solidFill>
                  <a:srgbClr val="0432FF"/>
                </a:solidFill>
              </a:rPr>
              <a:t>free(n);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73F45B99-62D7-5B48-BDE0-BD202E75EE20}"/>
              </a:ext>
            </a:extLst>
          </p:cNvPr>
          <p:cNvSpPr/>
          <p:nvPr/>
        </p:nvSpPr>
        <p:spPr>
          <a:xfrm>
            <a:off x="5427637" y="4983820"/>
            <a:ext cx="2539533" cy="918967"/>
          </a:xfrm>
          <a:prstGeom prst="wedgeRoundRectCallout">
            <a:avLst>
              <a:gd name="adj1" fmla="val -88728"/>
              <a:gd name="adj2" fmla="val -6644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Two corner cases: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val</a:t>
            </a:r>
            <a:r>
              <a:rPr lang="en-US" dirty="0">
                <a:solidFill>
                  <a:schemeClr val="tx1"/>
                </a:solidFill>
              </a:rPr>
              <a:t> is not in the list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 is the head</a:t>
            </a:r>
          </a:p>
        </p:txBody>
      </p:sp>
    </p:spTree>
    <p:extLst>
      <p:ext uri="{BB962C8B-B14F-4D97-AF65-F5344CB8AC3E}">
        <p14:creationId xmlns:p14="http://schemas.microsoft.com/office/powerpoint/2010/main" val="21116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9" grpId="0" animBg="1"/>
      <p:bldP spid="34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315E-688D-4156-A24E-C9208A56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11790-A6A4-46D2-A400-91E6984CC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</a:t>
            </a:r>
          </a:p>
          <a:p>
            <a:pPr lvl="1"/>
            <a:r>
              <a:rPr lang="en-US" dirty="0"/>
              <a:t>Group variables together into a primitive “object”</a:t>
            </a:r>
          </a:p>
          <a:p>
            <a:r>
              <a:rPr lang="en-US" dirty="0"/>
              <a:t>Malloc</a:t>
            </a:r>
          </a:p>
          <a:p>
            <a:pPr lvl="1"/>
            <a:r>
              <a:rPr lang="en-US" dirty="0"/>
              <a:t>Allocate data on the heap</a:t>
            </a:r>
          </a:p>
          <a:p>
            <a:pPr lvl="1"/>
            <a:r>
              <a:rPr lang="en-US" dirty="0"/>
              <a:t>Must be </a:t>
            </a:r>
            <a:r>
              <a:rPr lang="en-US"/>
              <a:t>explicitly free-ed by programmers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37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227868-FD94-4122-B90C-2FB375A0A8E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4d6482f-e53c-4fa7-ac87-951f9f66bd4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8B740D-AB21-43E0-B1F8-69FB41A97CFE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74d6482f-e53c-4fa7-ac87-951f9f66bd4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952D454-F99B-4B98-8368-72489BAA5C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11071</TotalTime>
  <Words>1346</Words>
  <Application>Microsoft Macintosh PowerPoint</Application>
  <PresentationFormat>On-screen Show (4:3)</PresentationFormat>
  <Paragraphs>312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宋体</vt:lpstr>
      <vt:lpstr>Arial</vt:lpstr>
      <vt:lpstr>Calibri</vt:lpstr>
      <vt:lpstr>Cambria Math</vt:lpstr>
      <vt:lpstr>Consolas</vt:lpstr>
      <vt:lpstr>Symbol</vt:lpstr>
      <vt:lpstr>Verdana</vt:lpstr>
      <vt:lpstr>Office Theme</vt:lpstr>
      <vt:lpstr>Struct, malloc</vt:lpstr>
      <vt:lpstr>Lesson plan</vt:lpstr>
      <vt:lpstr>Structs</vt:lpstr>
      <vt:lpstr>What’s a struct?</vt:lpstr>
      <vt:lpstr>Define and access struct</vt:lpstr>
      <vt:lpstr>typedef struct</vt:lpstr>
      <vt:lpstr>Pointer to struct</vt:lpstr>
      <vt:lpstr>void * pointer</vt:lpstr>
      <vt:lpstr>Malloc</vt:lpstr>
      <vt:lpstr>What’s malloc?</vt:lpstr>
      <vt:lpstr>C vs. Java</vt:lpstr>
      <vt:lpstr>Memory allocation for  global and local variables</vt:lpstr>
      <vt:lpstr>Allocating a new array?</vt:lpstr>
      <vt:lpstr>Conceptual view of a C program’s memory at runtime</vt:lpstr>
      <vt:lpstr>Linked list</vt:lpstr>
      <vt:lpstr>Linked list in C: insertion</vt:lpstr>
      <vt:lpstr>Inserting into a linked list</vt:lpstr>
      <vt:lpstr>Linked list in C: removal</vt:lpstr>
      <vt:lpstr>Removing from a linked list</vt:lpstr>
      <vt:lpstr>Removing from a linked list</vt:lpstr>
      <vt:lpstr>Removing from a linked list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85</cp:revision>
  <cp:lastPrinted>2019-09-25T19:59:45Z</cp:lastPrinted>
  <dcterms:created xsi:type="dcterms:W3CDTF">2018-09-26T03:34:32Z</dcterms:created>
  <dcterms:modified xsi:type="dcterms:W3CDTF">2026-09-30T21:46:00Z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