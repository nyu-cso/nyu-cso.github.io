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83"/>
  </p:notesMasterIdLst>
  <p:handoutMasterIdLst>
    <p:handoutMasterId r:id="rId84"/>
  </p:handoutMasterIdLst>
  <p:sldIdLst>
    <p:sldId id="256" r:id="rId2"/>
    <p:sldId id="1177" r:id="rId3"/>
    <p:sldId id="1178" r:id="rId4"/>
    <p:sldId id="1056" r:id="rId5"/>
    <p:sldId id="1058" r:id="rId6"/>
    <p:sldId id="1060" r:id="rId7"/>
    <p:sldId id="1064" r:id="rId8"/>
    <p:sldId id="1066" r:id="rId9"/>
    <p:sldId id="1067" r:id="rId10"/>
    <p:sldId id="1125" r:id="rId11"/>
    <p:sldId id="1068" r:id="rId12"/>
    <p:sldId id="1069" r:id="rId13"/>
    <p:sldId id="1070" r:id="rId14"/>
    <p:sldId id="1073" r:id="rId15"/>
    <p:sldId id="1074" r:id="rId16"/>
    <p:sldId id="1075" r:id="rId17"/>
    <p:sldId id="1142" r:id="rId18"/>
    <p:sldId id="1144" r:id="rId19"/>
    <p:sldId id="1145" r:id="rId20"/>
    <p:sldId id="1143" r:id="rId21"/>
    <p:sldId id="1182" r:id="rId22"/>
    <p:sldId id="1148" r:id="rId23"/>
    <p:sldId id="1200" r:id="rId24"/>
    <p:sldId id="1080" r:id="rId25"/>
    <p:sldId id="1081" r:id="rId26"/>
    <p:sldId id="1126" r:id="rId27"/>
    <p:sldId id="1179" r:id="rId28"/>
    <p:sldId id="1149" r:id="rId29"/>
    <p:sldId id="1196" r:id="rId30"/>
    <p:sldId id="1184" r:id="rId31"/>
    <p:sldId id="1197" r:id="rId32"/>
    <p:sldId id="1204" r:id="rId33"/>
    <p:sldId id="1205" r:id="rId34"/>
    <p:sldId id="1091" r:id="rId35"/>
    <p:sldId id="1158" r:id="rId36"/>
    <p:sldId id="1088" r:id="rId37"/>
    <p:sldId id="1157" r:id="rId38"/>
    <p:sldId id="1093" r:id="rId39"/>
    <p:sldId id="1180" r:id="rId40"/>
    <p:sldId id="1181" r:id="rId41"/>
    <p:sldId id="1160" r:id="rId42"/>
    <p:sldId id="1101" r:id="rId43"/>
    <p:sldId id="1199" r:id="rId44"/>
    <p:sldId id="1161" r:id="rId45"/>
    <p:sldId id="1162" r:id="rId46"/>
    <p:sldId id="1106" r:id="rId47"/>
    <p:sldId id="1107" r:id="rId48"/>
    <p:sldId id="1163" r:id="rId49"/>
    <p:sldId id="1171" r:id="rId50"/>
    <p:sldId id="1185" r:id="rId51"/>
    <p:sldId id="1112" r:id="rId52"/>
    <p:sldId id="1186" r:id="rId53"/>
    <p:sldId id="1152" r:id="rId54"/>
    <p:sldId id="1154" r:id="rId55"/>
    <p:sldId id="1203" r:id="rId56"/>
    <p:sldId id="1176" r:id="rId57"/>
    <p:sldId id="1201" r:id="rId58"/>
    <p:sldId id="1175" r:id="rId59"/>
    <p:sldId id="1174" r:id="rId60"/>
    <p:sldId id="1187" r:id="rId61"/>
    <p:sldId id="1188" r:id="rId62"/>
    <p:sldId id="1189" r:id="rId63"/>
    <p:sldId id="1190" r:id="rId64"/>
    <p:sldId id="1191" r:id="rId65"/>
    <p:sldId id="1192" r:id="rId66"/>
    <p:sldId id="1193" r:id="rId67"/>
    <p:sldId id="1202" r:id="rId68"/>
    <p:sldId id="1206" r:id="rId69"/>
    <p:sldId id="1114" r:id="rId70"/>
    <p:sldId id="1167" r:id="rId71"/>
    <p:sldId id="1155" r:id="rId72"/>
    <p:sldId id="1164" r:id="rId73"/>
    <p:sldId id="1133" r:id="rId74"/>
    <p:sldId id="1134" r:id="rId75"/>
    <p:sldId id="1135" r:id="rId76"/>
    <p:sldId id="1165" r:id="rId77"/>
    <p:sldId id="1166" r:id="rId78"/>
    <p:sldId id="1169" r:id="rId79"/>
    <p:sldId id="1170" r:id="rId80"/>
    <p:sldId id="1194" r:id="rId81"/>
    <p:sldId id="1195" r:id="rId82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0504D"/>
    <a:srgbClr val="FF00FF"/>
    <a:srgbClr val="FF0066"/>
    <a:srgbClr val="FCD5B5"/>
    <a:srgbClr val="F2F2F2"/>
    <a:srgbClr val="3366FF"/>
    <a:srgbClr val="3F9335"/>
    <a:srgbClr val="125B32"/>
    <a:srgbClr val="21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F44F1E-E6EF-B44D-8DEA-E2FEF9860F28}" v="88" dt="2026-04-06T17:47:48.8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06"/>
    <p:restoredTop sz="94602"/>
  </p:normalViewPr>
  <p:slideViewPr>
    <p:cSldViewPr snapToGrid="0">
      <p:cViewPr varScale="1">
        <p:scale>
          <a:sx n="190" d="100"/>
          <a:sy n="190" d="100"/>
        </p:scale>
        <p:origin x="54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4" d="100"/>
        <a:sy n="11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handoutMaster" Target="handoutMasters/handoutMaster1.xml"/><Relationship Id="rId89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C9615FF3-9FA2-1C4A-AAEA-4750F890D65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594E59E-8276-2140-BA34-7EF057B92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161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09T18:49:39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6241,'0'0'2120,"0"12"-4168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2180D89-5C43-EF4A-AA48-38E879565468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8556610F-FCBD-844B-B814-9F48A27EB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289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90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D147F-079F-4846-994D-0DB4A1A045D4}" type="datetime1">
              <a:rPr lang="zh-CN" altLang="en-US" smtClean="0"/>
              <a:t>2026/3/31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0671-2720-6742-BF3B-130F38BFD6C2}" type="datetime1">
              <a:rPr lang="zh-CN" altLang="en-US" smtClean="0"/>
              <a:t>2026/3/31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F912-C460-F747-A5A7-E580342BDBD8}" type="datetime1">
              <a:rPr lang="zh-CN" altLang="en-US" smtClean="0"/>
              <a:t>2026/3/31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4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4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B1225-B413-9941-B6FE-722B9F1A3838}" type="datetime1">
              <a:rPr lang="zh-CN" altLang="en-US" smtClean="0"/>
              <a:t>2026/3/31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182-DE75-D141-B72A-8599E29248A5}" type="datetime1">
              <a:rPr lang="zh-CN" altLang="en-US" smtClean="0"/>
              <a:t>2026/3/31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C2D7A-8A1B-DA48-9B0B-0DEE102746F0}" type="datetime1">
              <a:rPr lang="zh-CN" altLang="en-US" smtClean="0"/>
              <a:t>2026/3/31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C787-59C9-0445-8F38-642A8469076F}" type="datetime1">
              <a:rPr lang="zh-CN" altLang="en-US" smtClean="0"/>
              <a:t>2026/3/31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0209-807A-E542-A52E-D898C2D2B27F}" type="datetime1">
              <a:rPr lang="zh-CN" altLang="en-US" smtClean="0"/>
              <a:t>2026/3/31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7158-6770-8C48-8082-76913598A291}" type="datetime1">
              <a:rPr lang="zh-CN" altLang="en-US" smtClean="0"/>
              <a:t>2026/3/31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91736-879B-FE48-95EC-EDE8A01D99DB}" type="datetime1">
              <a:rPr lang="zh-CN" altLang="en-US" smtClean="0"/>
              <a:t>2026/3/31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160F-44E5-DA43-A440-B77513F80BF6}" type="datetime1">
              <a:rPr lang="zh-CN" altLang="en-US" smtClean="0"/>
              <a:t>2026/3/31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9FEBD-E571-1443-AA22-BB9E67C15179}" type="datetime1">
              <a:rPr lang="zh-CN" altLang="en-US" smtClean="0"/>
              <a:t>2026/3/31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000" b="1" i="0" kern="1200">
          <a:solidFill>
            <a:srgbClr val="3366FF"/>
          </a:solidFill>
          <a:latin typeface="Tahoma"/>
          <a:ea typeface="+mj-ea"/>
          <a:cs typeface="Tahoma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007578"/>
            <a:ext cx="9144000" cy="1788655"/>
          </a:xfrm>
        </p:spPr>
        <p:txBody>
          <a:bodyPr>
            <a:noAutofit/>
          </a:bodyPr>
          <a:lstStyle/>
          <a:p>
            <a:r>
              <a:rPr kumimoji="1" lang="en-US" altLang="zh-CN" sz="4800"/>
              <a:t>Dynamic Memory Allocation</a:t>
            </a:r>
            <a:endParaRPr lang="en-US" sz="6000" b="0">
              <a:solidFill>
                <a:schemeClr val="tx1"/>
              </a:solidFill>
              <a:latin typeface="+mj-lt"/>
              <a:ea typeface="Verdana" pitchFamily="34" charset="0"/>
              <a:cs typeface="Consolas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052320" y="3963925"/>
            <a:ext cx="5537200" cy="7032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1" i="0" kern="1200">
                <a:solidFill>
                  <a:srgbClr val="3366FF"/>
                </a:solidFill>
                <a:latin typeface="Tahoma"/>
                <a:ea typeface="+mj-ea"/>
                <a:cs typeface="Tahoma"/>
              </a:defRPr>
            </a:lvl1pPr>
          </a:lstStyle>
          <a:p>
            <a:r>
              <a:rPr lang="en-US" sz="2800" b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Jinyang Li</a:t>
            </a:r>
          </a:p>
          <a:p>
            <a:endParaRPr lang="en-US" sz="2800" b="0">
              <a:solidFill>
                <a:schemeClr val="tx1"/>
              </a:solidFill>
              <a:latin typeface="+mj-lt"/>
              <a:ea typeface="Verdana" pitchFamily="34" charset="0"/>
              <a:cs typeface="Consolas" pitchFamily="49" charset="0"/>
            </a:endParaRPr>
          </a:p>
          <a:p>
            <a:r>
              <a:rPr lang="en-US" sz="2800" b="0">
                <a:solidFill>
                  <a:schemeClr val="tx1"/>
                </a:solidFill>
                <a:latin typeface="+mj-lt"/>
                <a:ea typeface="Verdana" pitchFamily="34" charset="0"/>
                <a:cs typeface="Consolas" pitchFamily="49" charset="0"/>
              </a:rPr>
              <a:t>based on Tiger Wang’s slides</a:t>
            </a:r>
          </a:p>
        </p:txBody>
      </p:sp>
    </p:spTree>
    <p:extLst>
      <p:ext uri="{BB962C8B-B14F-4D97-AF65-F5344CB8AC3E}">
        <p14:creationId xmlns:p14="http://schemas.microsoft.com/office/powerpoint/2010/main" val="375360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"/>
    </mc:Choice>
    <mc:Fallback xmlns="">
      <p:transition spd="slow" advTm="38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8604D-CD1E-B245-93F2-0FF8297D8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What we’ve learnt: how C program is executed by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E9768-0967-1249-BA43-F854A581B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483600" cy="511957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Compiler translates C programs to machine code</a:t>
            </a:r>
          </a:p>
          <a:p>
            <a:pPr lvl="1"/>
            <a:r>
              <a:rPr lang="en-US" dirty="0"/>
              <a:t>Basic execution:</a:t>
            </a:r>
          </a:p>
          <a:p>
            <a:pPr lvl="2"/>
            <a:r>
              <a:rPr lang="en-US" dirty="0"/>
              <a:t>Load instruction from memory, decode + execute, advance %rip</a:t>
            </a:r>
          </a:p>
          <a:p>
            <a:pPr lvl="1"/>
            <a:r>
              <a:rPr lang="en-US" dirty="0"/>
              <a:t>Control flow</a:t>
            </a:r>
          </a:p>
          <a:p>
            <a:pPr lvl="2"/>
            <a:r>
              <a:rPr lang="en-US" dirty="0"/>
              <a:t>Arithmetic instructions, </a:t>
            </a:r>
            <a:r>
              <a:rPr lang="en-US" dirty="0" err="1"/>
              <a:t>cmp</a:t>
            </a:r>
            <a:r>
              <a:rPr lang="en-US" dirty="0"/>
              <a:t>/test set RFLAGS</a:t>
            </a:r>
          </a:p>
          <a:p>
            <a:pPr lvl="2"/>
            <a:r>
              <a:rPr lang="en-US" dirty="0" err="1"/>
              <a:t>jge</a:t>
            </a:r>
            <a:r>
              <a:rPr lang="en-US" dirty="0"/>
              <a:t> (…) changes %rip depending on RFLAGS</a:t>
            </a:r>
          </a:p>
          <a:p>
            <a:pPr lvl="1"/>
            <a:r>
              <a:rPr lang="en-US" dirty="0"/>
              <a:t>Procedure call</a:t>
            </a:r>
          </a:p>
          <a:p>
            <a:pPr lvl="2"/>
            <a:r>
              <a:rPr lang="en-US" dirty="0"/>
              <a:t>return address is stored on stack</a:t>
            </a:r>
          </a:p>
          <a:p>
            <a:pPr lvl="2"/>
            <a:r>
              <a:rPr lang="en-US" dirty="0"/>
              <a:t>%</a:t>
            </a:r>
            <a:r>
              <a:rPr lang="en-US" dirty="0" err="1"/>
              <a:t>rsp</a:t>
            </a:r>
            <a:r>
              <a:rPr lang="en-US" dirty="0"/>
              <a:t> points to top of stack (stack grows down)</a:t>
            </a:r>
          </a:p>
          <a:p>
            <a:pPr lvl="2"/>
            <a:r>
              <a:rPr lang="en-US" dirty="0"/>
              <a:t>call/ret</a:t>
            </a:r>
          </a:p>
          <a:p>
            <a:r>
              <a:rPr lang="en-US" dirty="0"/>
              <a:t>Linking:</a:t>
            </a:r>
          </a:p>
          <a:p>
            <a:pPr lvl="1"/>
            <a:r>
              <a:rPr lang="en-US" dirty="0"/>
              <a:t>Combine multiple compiled object files together</a:t>
            </a:r>
          </a:p>
          <a:p>
            <a:pPr lvl="1"/>
            <a:r>
              <a:rPr lang="en-US" dirty="0"/>
              <a:t>Resolve and relocate symbols (functions, global variables)</a:t>
            </a:r>
          </a:p>
        </p:txBody>
      </p:sp>
    </p:spTree>
    <p:extLst>
      <p:ext uri="{BB962C8B-B14F-4D97-AF65-F5344CB8AC3E}">
        <p14:creationId xmlns:p14="http://schemas.microsoft.com/office/powerpoint/2010/main" val="2871962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62EE2-263C-874D-B58F-3297136EA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Today’s 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FCAFE-5EAA-8440-86A5-E9218669A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4" y="1752600"/>
            <a:ext cx="8493996" cy="4373563"/>
          </a:xfrm>
        </p:spPr>
        <p:txBody>
          <a:bodyPr/>
          <a:lstStyle/>
          <a:p>
            <a:r>
              <a:rPr lang="en-US" dirty="0"/>
              <a:t>dynamic memory allocation (malloc/free)</a:t>
            </a:r>
          </a:p>
          <a:p>
            <a:pPr lvl="1"/>
            <a:r>
              <a:rPr lang="en-US" dirty="0"/>
              <a:t>Why dynamic allocation?</a:t>
            </a:r>
          </a:p>
          <a:p>
            <a:pPr lvl="1"/>
            <a:r>
              <a:rPr lang="en-US" dirty="0"/>
              <a:t>API</a:t>
            </a:r>
          </a:p>
          <a:p>
            <a:pPr lvl="1"/>
            <a:r>
              <a:rPr lang="en-US" dirty="0"/>
              <a:t>Why difficult? A strawman</a:t>
            </a:r>
          </a:p>
        </p:txBody>
      </p:sp>
    </p:spTree>
    <p:extLst>
      <p:ext uri="{BB962C8B-B14F-4D97-AF65-F5344CB8AC3E}">
        <p14:creationId xmlns:p14="http://schemas.microsoft.com/office/powerpoint/2010/main" val="452755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/>
              <a:t>Why dynamic memory allocation?</a:t>
            </a:r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70560" y="1360528"/>
            <a:ext cx="427736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zh-CN" sz="1600" err="1">
                <a:latin typeface="Consolas"/>
                <a:cs typeface="Consolas"/>
              </a:rPr>
              <a:t>typedef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struct</a:t>
            </a:r>
            <a:r>
              <a:rPr lang="en-US" altLang="zh-CN" sz="1600">
                <a:latin typeface="Consolas"/>
                <a:cs typeface="Consolas"/>
              </a:rPr>
              <a:t> node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int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val</a:t>
            </a:r>
            <a:r>
              <a:rPr lang="en-US" altLang="zh-CN" sz="1600">
                <a:latin typeface="Consolas"/>
                <a:cs typeface="Consolas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struct</a:t>
            </a:r>
            <a:r>
              <a:rPr lang="en-US" altLang="zh-CN" sz="1600">
                <a:latin typeface="Consolas"/>
                <a:cs typeface="Consolas"/>
              </a:rPr>
              <a:t> node *next;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} node;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600">
              <a:latin typeface="Consolas"/>
              <a:cs typeface="Consolas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void </a:t>
            </a:r>
            <a:r>
              <a:rPr lang="en-US" altLang="zh-CN" sz="1600" err="1">
                <a:latin typeface="Consolas"/>
                <a:cs typeface="Consolas"/>
              </a:rPr>
              <a:t>list_insert</a:t>
            </a:r>
            <a:r>
              <a:rPr lang="en-US" altLang="zh-CN" sz="1600">
                <a:latin typeface="Consolas"/>
                <a:cs typeface="Consolas"/>
              </a:rPr>
              <a:t>(node *head, int v)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   node *</a:t>
            </a:r>
            <a:r>
              <a:rPr lang="en-US" altLang="zh-CN" sz="1600" err="1">
                <a:latin typeface="Consolas"/>
                <a:cs typeface="Consolas"/>
              </a:rPr>
              <a:t>np</a:t>
            </a:r>
            <a:r>
              <a:rPr lang="en-US" altLang="zh-CN" sz="1600">
                <a:latin typeface="Consolas"/>
                <a:cs typeface="Consolas"/>
              </a:rPr>
              <a:t> = </a:t>
            </a:r>
            <a:r>
              <a:rPr lang="en-US" altLang="zh-CN" sz="1600" err="1">
                <a:solidFill>
                  <a:srgbClr val="3366FF"/>
                </a:solidFill>
                <a:latin typeface="Consolas"/>
                <a:cs typeface="Consolas"/>
              </a:rPr>
              <a:t>malloc</a:t>
            </a:r>
            <a:r>
              <a:rPr lang="en-US" altLang="zh-CN" sz="1600">
                <a:latin typeface="Consolas"/>
                <a:cs typeface="Consolas"/>
              </a:rPr>
              <a:t>(</a:t>
            </a:r>
            <a:r>
              <a:rPr lang="en-US" altLang="zh-CN" sz="1600" err="1">
                <a:latin typeface="Consolas"/>
                <a:cs typeface="Consolas"/>
              </a:rPr>
              <a:t>sizeof</a:t>
            </a:r>
            <a:r>
              <a:rPr lang="en-US" altLang="zh-CN" sz="1600">
                <a:latin typeface="Consolas"/>
                <a:cs typeface="Consolas"/>
              </a:rPr>
              <a:t>(node));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np</a:t>
            </a:r>
            <a:r>
              <a:rPr lang="en-US" altLang="zh-CN" sz="1600">
                <a:latin typeface="Consolas"/>
                <a:cs typeface="Consolas"/>
              </a:rPr>
              <a:t>-&gt;next = head;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np</a:t>
            </a:r>
            <a:r>
              <a:rPr lang="en-US" altLang="zh-CN" sz="1600">
                <a:latin typeface="Consolas"/>
                <a:cs typeface="Consolas"/>
              </a:rPr>
              <a:t>-&gt;</a:t>
            </a:r>
            <a:r>
              <a:rPr lang="en-US" altLang="zh-CN" sz="1600" err="1">
                <a:latin typeface="Consolas"/>
                <a:cs typeface="Consolas"/>
              </a:rPr>
              <a:t>val</a:t>
            </a:r>
            <a:r>
              <a:rPr lang="en-US" altLang="zh-CN" sz="1600">
                <a:latin typeface="Consolas"/>
                <a:cs typeface="Consolas"/>
              </a:rPr>
              <a:t> = v;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   *head = </a:t>
            </a:r>
            <a:r>
              <a:rPr lang="en-US" altLang="zh-CN" sz="1600" err="1">
                <a:latin typeface="Consolas"/>
                <a:cs typeface="Consolas"/>
              </a:rPr>
              <a:t>np</a:t>
            </a:r>
            <a:r>
              <a:rPr lang="en-US" altLang="zh-CN" sz="1600">
                <a:latin typeface="Consolas"/>
                <a:cs typeface="Consolas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}</a:t>
            </a:r>
          </a:p>
        </p:txBody>
      </p:sp>
      <p:sp>
        <p:nvSpPr>
          <p:cNvPr id="5" name="矩形 3"/>
          <p:cNvSpPr/>
          <p:nvPr/>
        </p:nvSpPr>
        <p:spPr>
          <a:xfrm>
            <a:off x="700332" y="4536628"/>
            <a:ext cx="65024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int main(void)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   char </a:t>
            </a:r>
            <a:r>
              <a:rPr lang="en-US" altLang="zh-CN" sz="1600" err="1">
                <a:latin typeface="Consolas"/>
                <a:cs typeface="Consolas"/>
              </a:rPr>
              <a:t>buf</a:t>
            </a:r>
            <a:r>
              <a:rPr lang="en-US" altLang="zh-CN" sz="1600">
                <a:latin typeface="Consolas"/>
                <a:cs typeface="Consolas"/>
              </a:rPr>
              <a:t>[100];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   node *head = NULL;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   while (</a:t>
            </a:r>
            <a:r>
              <a:rPr lang="en-US" altLang="zh-CN" sz="1600" err="1">
                <a:latin typeface="Consolas"/>
                <a:cs typeface="Consolas"/>
              </a:rPr>
              <a:t>fgets</a:t>
            </a:r>
            <a:r>
              <a:rPr lang="en-US" altLang="zh-CN" sz="1600">
                <a:latin typeface="Consolas"/>
                <a:cs typeface="Consolas"/>
              </a:rPr>
              <a:t>(</a:t>
            </a:r>
            <a:r>
              <a:rPr lang="en-US" altLang="zh-CN" sz="1600" err="1">
                <a:latin typeface="Consolas"/>
                <a:cs typeface="Consolas"/>
              </a:rPr>
              <a:t>buf</a:t>
            </a:r>
            <a:r>
              <a:rPr lang="en-US" altLang="zh-CN" sz="1600">
                <a:latin typeface="Consolas"/>
                <a:cs typeface="Consolas"/>
              </a:rPr>
              <a:t>, 100, </a:t>
            </a:r>
            <a:r>
              <a:rPr lang="en-US" altLang="zh-CN" sz="1600" err="1">
                <a:latin typeface="Consolas"/>
                <a:cs typeface="Consolas"/>
              </a:rPr>
              <a:t>stdin</a:t>
            </a:r>
            <a:r>
              <a:rPr lang="en-US" altLang="zh-CN" sz="1600">
                <a:latin typeface="Consolas"/>
                <a:cs typeface="Consolas"/>
              </a:rPr>
              <a:t>))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      </a:t>
            </a:r>
            <a:r>
              <a:rPr lang="en-US" altLang="zh-CN" sz="1600" err="1">
                <a:latin typeface="Consolas"/>
                <a:cs typeface="Consolas"/>
              </a:rPr>
              <a:t>list_insert</a:t>
            </a:r>
            <a:r>
              <a:rPr lang="en-US" altLang="zh-CN" sz="1600">
                <a:latin typeface="Consolas"/>
                <a:cs typeface="Consolas"/>
              </a:rPr>
              <a:t>(&amp;head, </a:t>
            </a:r>
            <a:r>
              <a:rPr lang="en-US" altLang="zh-CN" sz="1600" err="1">
                <a:latin typeface="Consolas"/>
                <a:cs typeface="Consolas"/>
              </a:rPr>
              <a:t>atoi</a:t>
            </a:r>
            <a:r>
              <a:rPr lang="en-US" altLang="zh-CN" sz="1600">
                <a:latin typeface="Consolas"/>
                <a:cs typeface="Consolas"/>
              </a:rPr>
              <a:t>(</a:t>
            </a:r>
            <a:r>
              <a:rPr lang="en-US" altLang="zh-CN" sz="1600" err="1">
                <a:latin typeface="Consolas"/>
                <a:cs typeface="Consolas"/>
              </a:rPr>
              <a:t>buf</a:t>
            </a:r>
            <a:r>
              <a:rPr lang="en-US" altLang="zh-CN" sz="1600">
                <a:latin typeface="Consolas"/>
                <a:cs typeface="Consolas"/>
              </a:rPr>
              <a:t>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}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5496560" y="3779520"/>
            <a:ext cx="2672080" cy="1788160"/>
          </a:xfrm>
          <a:prstGeom prst="wedgeRoundRectCallout">
            <a:avLst>
              <a:gd name="adj1" fmla="val -90444"/>
              <a:gd name="adj2" fmla="val 72726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How many nodes to allocate is only known at runtime (when the program executes)</a:t>
            </a:r>
          </a:p>
        </p:txBody>
      </p:sp>
    </p:spTree>
    <p:extLst>
      <p:ext uri="{BB962C8B-B14F-4D97-AF65-F5344CB8AC3E}">
        <p14:creationId xmlns:p14="http://schemas.microsoft.com/office/powerpoint/2010/main" val="142332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04141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/>
              <a:t>Dynamic allocation on heap</a:t>
            </a:r>
            <a:endParaRPr kumimoji="1" lang="zh-CN" altLang="en-US"/>
          </a:p>
        </p:txBody>
      </p:sp>
      <p:grpSp>
        <p:nvGrpSpPr>
          <p:cNvPr id="53" name="组 52"/>
          <p:cNvGrpSpPr/>
          <p:nvPr/>
        </p:nvGrpSpPr>
        <p:grpSpPr>
          <a:xfrm>
            <a:off x="4998661" y="1719263"/>
            <a:ext cx="4164538" cy="4990570"/>
            <a:chOff x="4998661" y="1719263"/>
            <a:chExt cx="4164538" cy="4990570"/>
          </a:xfrm>
        </p:grpSpPr>
        <p:sp>
          <p:nvSpPr>
            <p:cNvPr id="29" name="Rectangle 15"/>
            <p:cNvSpPr>
              <a:spLocks noChangeArrowheads="1"/>
            </p:cNvSpPr>
            <p:nvPr/>
          </p:nvSpPr>
          <p:spPr bwMode="auto">
            <a:xfrm>
              <a:off x="4998661" y="3210560"/>
              <a:ext cx="2789237" cy="423228"/>
            </a:xfrm>
            <a:prstGeom prst="rect">
              <a:avLst/>
            </a:prstGeom>
            <a:solidFill>
              <a:schemeClr val="accent3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Shared libraries</a:t>
              </a:r>
            </a:p>
          </p:txBody>
        </p:sp>
        <p:sp>
          <p:nvSpPr>
            <p:cNvPr id="30" name="Rectangle 16"/>
            <p:cNvSpPr>
              <a:spLocks noChangeArrowheads="1"/>
            </p:cNvSpPr>
            <p:nvPr/>
          </p:nvSpPr>
          <p:spPr bwMode="auto">
            <a:xfrm>
              <a:off x="4998661" y="3629025"/>
              <a:ext cx="2789237" cy="723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31" name="Rectangle 17"/>
            <p:cNvSpPr>
              <a:spLocks noChangeArrowheads="1"/>
            </p:cNvSpPr>
            <p:nvPr/>
          </p:nvSpPr>
          <p:spPr bwMode="auto">
            <a:xfrm>
              <a:off x="4998662" y="4350808"/>
              <a:ext cx="2789237" cy="669925"/>
            </a:xfrm>
            <a:prstGeom prst="rect">
              <a:avLst/>
            </a:prstGeom>
            <a:solidFill>
              <a:schemeClr val="accent1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Runtime heap</a:t>
              </a:r>
            </a:p>
          </p:txBody>
        </p:sp>
        <p:sp>
          <p:nvSpPr>
            <p:cNvPr id="32" name="Rectangle 18"/>
            <p:cNvSpPr>
              <a:spLocks noChangeArrowheads="1"/>
            </p:cNvSpPr>
            <p:nvPr/>
          </p:nvSpPr>
          <p:spPr bwMode="auto">
            <a:xfrm>
              <a:off x="4998661" y="2054225"/>
              <a:ext cx="2789237" cy="115633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33" name="Line 19"/>
            <p:cNvSpPr>
              <a:spLocks noChangeShapeType="1"/>
            </p:cNvSpPr>
            <p:nvPr/>
          </p:nvSpPr>
          <p:spPr bwMode="auto">
            <a:xfrm flipV="1">
              <a:off x="6388782" y="3957638"/>
              <a:ext cx="1588" cy="384175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34" name="Rectangle 20"/>
            <p:cNvSpPr>
              <a:spLocks noChangeArrowheads="1"/>
            </p:cNvSpPr>
            <p:nvPr/>
          </p:nvSpPr>
          <p:spPr bwMode="auto">
            <a:xfrm>
              <a:off x="4998661" y="1719263"/>
              <a:ext cx="2789237" cy="563562"/>
            </a:xfrm>
            <a:prstGeom prst="rect">
              <a:avLst/>
            </a:prstGeom>
            <a:solidFill>
              <a:schemeClr val="accent1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FFFFFF"/>
                  </a:solidFill>
                  <a:latin typeface="Arial"/>
                  <a:ea typeface="msgothic" charset="0"/>
                  <a:cs typeface="Arial"/>
                </a:rPr>
                <a:t>User stack</a:t>
              </a:r>
            </a:p>
          </p:txBody>
        </p:sp>
        <p:sp>
          <p:nvSpPr>
            <p:cNvPr id="36" name="Line 22"/>
            <p:cNvSpPr>
              <a:spLocks noChangeShapeType="1"/>
            </p:cNvSpPr>
            <p:nvPr/>
          </p:nvSpPr>
          <p:spPr bwMode="auto">
            <a:xfrm>
              <a:off x="6388782" y="2282825"/>
              <a:ext cx="1588" cy="228600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37" name="Rectangle 23"/>
            <p:cNvSpPr>
              <a:spLocks noChangeArrowheads="1"/>
            </p:cNvSpPr>
            <p:nvPr/>
          </p:nvSpPr>
          <p:spPr bwMode="auto">
            <a:xfrm>
              <a:off x="4998661" y="6312958"/>
              <a:ext cx="2789238" cy="39687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Unused</a:t>
              </a:r>
            </a:p>
          </p:txBody>
        </p:sp>
        <p:sp>
          <p:nvSpPr>
            <p:cNvPr id="38" name="Text Box 25"/>
            <p:cNvSpPr txBox="1">
              <a:spLocks noChangeArrowheads="1"/>
            </p:cNvSpPr>
            <p:nvPr/>
          </p:nvSpPr>
          <p:spPr bwMode="auto">
            <a:xfrm>
              <a:off x="8146053" y="2108200"/>
              <a:ext cx="707543" cy="32598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Arial"/>
                  <a:ea typeface="msgothic" charset="0"/>
                  <a:cs typeface="Arial"/>
                </a:rPr>
                <a:t>%</a:t>
              </a:r>
              <a:r>
                <a:rPr lang="en-GB" sz="1600" dirty="0" err="1">
                  <a:latin typeface="Arial"/>
                  <a:ea typeface="msgothic" charset="0"/>
                  <a:cs typeface="Arial"/>
                </a:rPr>
                <a:t>rsp</a:t>
              </a:r>
              <a:r>
                <a:rPr lang="en-GB" sz="1600" dirty="0">
                  <a:latin typeface="Arial"/>
                  <a:ea typeface="msgothic" charset="0"/>
                  <a:cs typeface="Arial"/>
                </a:rPr>
                <a:t> </a:t>
              </a:r>
            </a:p>
          </p:txBody>
        </p:sp>
        <p:sp>
          <p:nvSpPr>
            <p:cNvPr id="39" name="Line 26"/>
            <p:cNvSpPr>
              <a:spLocks noChangeShapeType="1"/>
            </p:cNvSpPr>
            <p:nvPr/>
          </p:nvSpPr>
          <p:spPr bwMode="auto">
            <a:xfrm flipH="1">
              <a:off x="7839666" y="2279650"/>
              <a:ext cx="384175" cy="1588"/>
            </a:xfrm>
            <a:prstGeom prst="line">
              <a:avLst/>
            </a:prstGeom>
            <a:noFill/>
            <a:ln w="3240">
              <a:solidFill>
                <a:srgbClr val="000066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42" name="Text Box 29"/>
            <p:cNvSpPr txBox="1">
              <a:spLocks noChangeArrowheads="1"/>
            </p:cNvSpPr>
            <p:nvPr/>
          </p:nvSpPr>
          <p:spPr bwMode="auto">
            <a:xfrm>
              <a:off x="8200120" y="4173538"/>
              <a:ext cx="476710" cy="32842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brk</a:t>
              </a:r>
            </a:p>
          </p:txBody>
        </p:sp>
        <p:sp>
          <p:nvSpPr>
            <p:cNvPr id="43" name="Line 30"/>
            <p:cNvSpPr>
              <a:spLocks noChangeShapeType="1"/>
            </p:cNvSpPr>
            <p:nvPr/>
          </p:nvSpPr>
          <p:spPr bwMode="auto">
            <a:xfrm flipH="1">
              <a:off x="7815945" y="4340225"/>
              <a:ext cx="384175" cy="1588"/>
            </a:xfrm>
            <a:prstGeom prst="line">
              <a:avLst/>
            </a:prstGeom>
            <a:noFill/>
            <a:ln w="3240">
              <a:solidFill>
                <a:srgbClr val="000066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45" name="Rectangle 34"/>
            <p:cNvSpPr>
              <a:spLocks noChangeArrowheads="1"/>
            </p:cNvSpPr>
            <p:nvPr/>
          </p:nvSpPr>
          <p:spPr bwMode="auto">
            <a:xfrm>
              <a:off x="4998661" y="5017558"/>
              <a:ext cx="2789238" cy="669925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Read/write segment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(.data, .</a:t>
              </a:r>
              <a:r>
                <a:rPr lang="en-GB" sz="1600" err="1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bss</a:t>
              </a: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)</a:t>
              </a:r>
            </a:p>
          </p:txBody>
        </p:sp>
        <p:sp>
          <p:nvSpPr>
            <p:cNvPr id="46" name="Rectangle 35"/>
            <p:cNvSpPr>
              <a:spLocks noChangeArrowheads="1"/>
            </p:cNvSpPr>
            <p:nvPr/>
          </p:nvSpPr>
          <p:spPr bwMode="auto">
            <a:xfrm>
              <a:off x="4998661" y="5643033"/>
              <a:ext cx="2789238" cy="66992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Read-only segment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(.text, .</a:t>
              </a:r>
              <a:r>
                <a:rPr lang="en-GB" sz="1600" err="1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rodata</a:t>
              </a: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)</a:t>
              </a:r>
            </a:p>
          </p:txBody>
        </p:sp>
        <p:sp>
          <p:nvSpPr>
            <p:cNvPr id="47" name="AutoShape 36"/>
            <p:cNvSpPr>
              <a:spLocks/>
            </p:cNvSpPr>
            <p:nvPr/>
          </p:nvSpPr>
          <p:spPr bwMode="auto">
            <a:xfrm>
              <a:off x="7836582" y="5026025"/>
              <a:ext cx="76200" cy="1295400"/>
            </a:xfrm>
            <a:prstGeom prst="rightBrace">
              <a:avLst>
                <a:gd name="adj1" fmla="val 141667"/>
                <a:gd name="adj2" fmla="val 50000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48" name="Text Box 37"/>
            <p:cNvSpPr txBox="1">
              <a:spLocks noChangeArrowheads="1"/>
            </p:cNvSpPr>
            <p:nvPr/>
          </p:nvSpPr>
          <p:spPr bwMode="auto">
            <a:xfrm>
              <a:off x="7988982" y="5010150"/>
              <a:ext cx="1174217" cy="1301819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Loaded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from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the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executable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file</a:t>
              </a:r>
            </a:p>
          </p:txBody>
        </p:sp>
      </p:grpSp>
      <p:sp>
        <p:nvSpPr>
          <p:cNvPr id="50" name="矩形 49"/>
          <p:cNvSpPr/>
          <p:nvPr/>
        </p:nvSpPr>
        <p:spPr>
          <a:xfrm>
            <a:off x="91440" y="1242160"/>
            <a:ext cx="46837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>
                <a:solidFill>
                  <a:srgbClr val="FF0066"/>
                </a:solidFill>
                <a:latin typeface="Arial"/>
                <a:cs typeface="Arial"/>
              </a:rPr>
              <a:t>Question: can one dynamically </a:t>
            </a:r>
          </a:p>
          <a:p>
            <a:r>
              <a:rPr kumimoji="1" lang="en-US" altLang="zh-CN" sz="2000">
                <a:solidFill>
                  <a:srgbClr val="FF0066"/>
                </a:solidFill>
                <a:latin typeface="Arial"/>
                <a:cs typeface="Arial"/>
              </a:rPr>
              <a:t>allocate memory on stack?   </a:t>
            </a:r>
          </a:p>
        </p:txBody>
      </p:sp>
    </p:spTree>
    <p:extLst>
      <p:ext uri="{BB962C8B-B14F-4D97-AF65-F5344CB8AC3E}">
        <p14:creationId xmlns:p14="http://schemas.microsoft.com/office/powerpoint/2010/main" val="3499408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04141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/>
              <a:t>Dynamic allocation on heap</a:t>
            </a:r>
            <a:endParaRPr kumimoji="1"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91440" y="1242160"/>
            <a:ext cx="46837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>
                <a:solidFill>
                  <a:srgbClr val="FF0066"/>
                </a:solidFill>
                <a:latin typeface="Arial"/>
                <a:cs typeface="Arial"/>
              </a:rPr>
              <a:t>Question: Is it possible to dynamically </a:t>
            </a:r>
          </a:p>
          <a:p>
            <a:r>
              <a:rPr kumimoji="1" lang="en-US" altLang="zh-CN" sz="2000">
                <a:solidFill>
                  <a:srgbClr val="FF0066"/>
                </a:solidFill>
                <a:latin typeface="Arial"/>
                <a:cs typeface="Arial"/>
              </a:rPr>
              <a:t>allocate memory on stack?   </a:t>
            </a:r>
          </a:p>
        </p:txBody>
      </p:sp>
      <p:sp>
        <p:nvSpPr>
          <p:cNvPr id="27" name="矩形 26"/>
          <p:cNvSpPr/>
          <p:nvPr/>
        </p:nvSpPr>
        <p:spPr>
          <a:xfrm>
            <a:off x="91441" y="2248923"/>
            <a:ext cx="46837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>
                <a:solidFill>
                  <a:srgbClr val="0000FF"/>
                </a:solidFill>
                <a:latin typeface="Arial"/>
                <a:cs typeface="Arial"/>
              </a:rPr>
              <a:t>Answer: Yes, but space is freed upon function return</a:t>
            </a:r>
          </a:p>
          <a:p>
            <a:endParaRPr kumimoji="1" lang="en-US" altLang="zh-CN" sz="200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862320" y="1552038"/>
            <a:ext cx="1828800" cy="5791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>
                <a:solidFill>
                  <a:srgbClr val="000000"/>
                </a:solidFill>
                <a:latin typeface="Arial"/>
                <a:cs typeface="Arial"/>
              </a:rPr>
              <a:t>...</a:t>
            </a:r>
            <a:endParaRPr kumimoji="1" lang="zh-CN" altLang="en-US" sz="2400"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5862320" y="2131158"/>
            <a:ext cx="1828800" cy="419002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000000"/>
                </a:solidFill>
                <a:latin typeface="Arial"/>
                <a:cs typeface="Arial"/>
              </a:rPr>
              <a:t>ret</a:t>
            </a:r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5862320" y="2550160"/>
            <a:ext cx="1828800" cy="772160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000000"/>
                </a:solidFill>
                <a:latin typeface="Arial"/>
                <a:cs typeface="Arial"/>
              </a:rPr>
              <a:t>node n</a:t>
            </a:r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2" name="Line 22"/>
          <p:cNvSpPr>
            <a:spLocks noChangeShapeType="1"/>
          </p:cNvSpPr>
          <p:nvPr/>
        </p:nvSpPr>
        <p:spPr bwMode="auto">
          <a:xfrm>
            <a:off x="6825932" y="3322320"/>
            <a:ext cx="0" cy="467360"/>
          </a:xfrm>
          <a:prstGeom prst="line">
            <a:avLst/>
          </a:prstGeom>
          <a:noFill/>
          <a:ln w="38100" cmpd="sng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latin typeface="Arial"/>
              <a:cs typeface="Arial"/>
            </a:endParaRPr>
          </a:p>
        </p:txBody>
      </p:sp>
      <p:sp>
        <p:nvSpPr>
          <p:cNvPr id="73" name="Text Box 25"/>
          <p:cNvSpPr txBox="1">
            <a:spLocks noChangeArrowheads="1"/>
          </p:cNvSpPr>
          <p:nvPr/>
        </p:nvSpPr>
        <p:spPr bwMode="auto">
          <a:xfrm>
            <a:off x="8027987" y="3102946"/>
            <a:ext cx="649234" cy="3284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Arial"/>
                <a:ea typeface="msgothic" charset="0"/>
                <a:cs typeface="Arial"/>
              </a:rPr>
              <a:t>%</a:t>
            </a:r>
            <a:r>
              <a:rPr lang="en-GB" sz="1600" err="1">
                <a:latin typeface="Arial"/>
                <a:ea typeface="msgothic" charset="0"/>
                <a:cs typeface="Arial"/>
              </a:rPr>
              <a:t>rsp</a:t>
            </a:r>
            <a:r>
              <a:rPr lang="en-GB" sz="1600">
                <a:latin typeface="Arial"/>
                <a:ea typeface="msgothic" charset="0"/>
                <a:cs typeface="Arial"/>
              </a:rPr>
              <a:t> </a:t>
            </a:r>
          </a:p>
        </p:txBody>
      </p:sp>
      <p:sp>
        <p:nvSpPr>
          <p:cNvPr id="74" name="Line 26"/>
          <p:cNvSpPr>
            <a:spLocks noChangeShapeType="1"/>
          </p:cNvSpPr>
          <p:nvPr/>
        </p:nvSpPr>
        <p:spPr bwMode="auto">
          <a:xfrm flipH="1">
            <a:off x="7721600" y="3274396"/>
            <a:ext cx="384175" cy="1588"/>
          </a:xfrm>
          <a:prstGeom prst="line">
            <a:avLst/>
          </a:prstGeom>
          <a:noFill/>
          <a:ln w="19050" cmpd="sng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latin typeface="Arial"/>
              <a:cs typeface="Arial"/>
            </a:endParaRPr>
          </a:p>
        </p:txBody>
      </p:sp>
      <p:cxnSp>
        <p:nvCxnSpPr>
          <p:cNvPr id="9" name="直线连接符 8"/>
          <p:cNvCxnSpPr/>
          <p:nvPr/>
        </p:nvCxnSpPr>
        <p:spPr>
          <a:xfrm>
            <a:off x="5862320" y="1552038"/>
            <a:ext cx="0" cy="27151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直线连接符 74"/>
          <p:cNvCxnSpPr/>
          <p:nvPr/>
        </p:nvCxnSpPr>
        <p:spPr>
          <a:xfrm>
            <a:off x="7691120" y="1541878"/>
            <a:ext cx="0" cy="27151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左大括号 12"/>
          <p:cNvSpPr/>
          <p:nvPr/>
        </p:nvSpPr>
        <p:spPr>
          <a:xfrm>
            <a:off x="5628640" y="2590800"/>
            <a:ext cx="111760" cy="72423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320416" y="2751176"/>
            <a:ext cx="13691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en-US" altLang="zh-CN" sz="1400" err="1">
                <a:latin typeface="Consolas"/>
                <a:cs typeface="Consolas"/>
              </a:rPr>
              <a:t>sizeof</a:t>
            </a:r>
            <a:r>
              <a:rPr kumimoji="1" lang="en-US" altLang="zh-CN" sz="1400">
                <a:latin typeface="Consolas"/>
                <a:cs typeface="Consolas"/>
              </a:rPr>
              <a:t>(node)</a:t>
            </a:r>
          </a:p>
          <a:p>
            <a:pPr algn="r"/>
            <a:r>
              <a:rPr kumimoji="1" lang="en-US" altLang="zh-CN" sz="1400">
                <a:latin typeface="Consolas"/>
                <a:cs typeface="Consolas"/>
              </a:rPr>
              <a:t>bytes</a:t>
            </a:r>
            <a:endParaRPr lang="zh-CN" altLang="en-US" sz="1400"/>
          </a:p>
        </p:txBody>
      </p:sp>
      <p:sp>
        <p:nvSpPr>
          <p:cNvPr id="15" name="矩形 14"/>
          <p:cNvSpPr/>
          <p:nvPr/>
        </p:nvSpPr>
        <p:spPr>
          <a:xfrm>
            <a:off x="6398156" y="4639362"/>
            <a:ext cx="1834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err="1">
                <a:latin typeface="Consolas"/>
                <a:cs typeface="Consolas"/>
                <a:sym typeface="Wingdings"/>
              </a:rPr>
              <a:t>subq</a:t>
            </a:r>
            <a:r>
              <a:rPr lang="en-US" altLang="zh-CN">
                <a:latin typeface="Consolas"/>
                <a:cs typeface="Consolas"/>
                <a:sym typeface="Wingdings"/>
              </a:rPr>
              <a:t> $16,%rsp</a:t>
            </a:r>
            <a:r>
              <a:rPr lang="en-US" altLang="zh-CN">
                <a:latin typeface="Consolas"/>
                <a:cs typeface="Consolas"/>
              </a:rPr>
              <a:t> </a:t>
            </a:r>
            <a:r>
              <a:rPr lang="mr-IN" altLang="zh-CN">
                <a:latin typeface="Consolas"/>
                <a:cs typeface="Consolas"/>
              </a:rPr>
              <a:t> </a:t>
            </a:r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6303247" y="1129268"/>
            <a:ext cx="12749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000000"/>
                </a:solidFill>
                <a:latin typeface="Arial"/>
                <a:cs typeface="Arial"/>
              </a:rPr>
              <a:t>User stack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1" name="矩形 3"/>
          <p:cNvSpPr/>
          <p:nvPr/>
        </p:nvSpPr>
        <p:spPr>
          <a:xfrm>
            <a:off x="294640" y="3113106"/>
            <a:ext cx="42773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endParaRPr lang="en-US" altLang="zh-CN" sz="1600">
              <a:latin typeface="Consolas"/>
              <a:cs typeface="Consolas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void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 err="1">
                <a:latin typeface="Consolas"/>
                <a:cs typeface="Consolas"/>
              </a:rPr>
              <a:t>list_insert</a:t>
            </a:r>
            <a:r>
              <a:rPr lang="en-US" altLang="zh-CN" sz="1600">
                <a:latin typeface="Consolas"/>
                <a:cs typeface="Consolas"/>
              </a:rPr>
              <a:t>(node *head, </a:t>
            </a:r>
            <a:r>
              <a:rPr lang="en-US" altLang="zh-CN" sz="1600" err="1">
                <a:latin typeface="Consolas"/>
                <a:cs typeface="Consolas"/>
              </a:rPr>
              <a:t>int</a:t>
            </a:r>
            <a:r>
              <a:rPr lang="en-US" altLang="zh-CN" sz="1600">
                <a:latin typeface="Consolas"/>
                <a:cs typeface="Consolas"/>
              </a:rPr>
              <a:t> v)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   node n;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   node *</a:t>
            </a:r>
            <a:r>
              <a:rPr lang="en-US" altLang="zh-CN" sz="1600" err="1">
                <a:latin typeface="Consolas"/>
                <a:cs typeface="Consolas"/>
              </a:rPr>
              <a:t>np</a:t>
            </a:r>
            <a:r>
              <a:rPr lang="en-US" altLang="zh-CN" sz="1600">
                <a:latin typeface="Consolas"/>
                <a:cs typeface="Consolas"/>
              </a:rPr>
              <a:t> = </a:t>
            </a:r>
            <a:r>
              <a:rPr lang="en-US" altLang="zh-CN" sz="1600">
                <a:solidFill>
                  <a:srgbClr val="3366FF"/>
                </a:solidFill>
                <a:latin typeface="Consolas"/>
                <a:cs typeface="Consolas"/>
              </a:rPr>
              <a:t>&amp;n</a:t>
            </a:r>
            <a:r>
              <a:rPr lang="en-US" altLang="zh-CN" sz="1600">
                <a:latin typeface="Consolas"/>
                <a:cs typeface="Consolas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np</a:t>
            </a:r>
            <a:r>
              <a:rPr lang="en-US" altLang="zh-CN" sz="1600">
                <a:latin typeface="Consolas"/>
                <a:cs typeface="Consolas"/>
              </a:rPr>
              <a:t>-&gt;next = head;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np</a:t>
            </a:r>
            <a:r>
              <a:rPr lang="en-US" altLang="zh-CN" sz="1600">
                <a:latin typeface="Consolas"/>
                <a:cs typeface="Consolas"/>
              </a:rPr>
              <a:t>-&gt;</a:t>
            </a:r>
            <a:r>
              <a:rPr lang="en-US" altLang="zh-CN" sz="1600" err="1">
                <a:latin typeface="Consolas"/>
                <a:cs typeface="Consolas"/>
              </a:rPr>
              <a:t>val</a:t>
            </a:r>
            <a:r>
              <a:rPr lang="en-US" altLang="zh-CN" sz="1600">
                <a:latin typeface="Consolas"/>
                <a:cs typeface="Consolas"/>
              </a:rPr>
              <a:t>= v;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   *head = </a:t>
            </a:r>
            <a:r>
              <a:rPr lang="en-US" altLang="zh-CN" sz="1600" err="1">
                <a:latin typeface="Consolas"/>
                <a:cs typeface="Consolas"/>
              </a:rPr>
              <a:t>np</a:t>
            </a:r>
            <a:r>
              <a:rPr lang="en-US" altLang="zh-CN" sz="1600">
                <a:latin typeface="Consolas"/>
                <a:cs typeface="Consolas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00"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72472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>
          <a:xfrm>
            <a:off x="457200" y="104141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/>
              <a:t>Dynamic allocation on heap</a:t>
            </a:r>
            <a:endParaRPr kumimoji="1"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91440" y="1242160"/>
            <a:ext cx="46837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>
                <a:solidFill>
                  <a:srgbClr val="FF0066"/>
                </a:solidFill>
                <a:latin typeface="Arial"/>
                <a:cs typeface="Arial"/>
              </a:rPr>
              <a:t>Question: How to allocate memory </a:t>
            </a:r>
          </a:p>
          <a:p>
            <a:r>
              <a:rPr kumimoji="1" lang="en-US" altLang="zh-CN" sz="2000">
                <a:solidFill>
                  <a:srgbClr val="FF0066"/>
                </a:solidFill>
                <a:latin typeface="Arial"/>
                <a:cs typeface="Arial"/>
              </a:rPr>
              <a:t>on heap? </a:t>
            </a:r>
          </a:p>
        </p:txBody>
      </p:sp>
      <p:grpSp>
        <p:nvGrpSpPr>
          <p:cNvPr id="29" name="组 28"/>
          <p:cNvGrpSpPr/>
          <p:nvPr/>
        </p:nvGrpSpPr>
        <p:grpSpPr>
          <a:xfrm>
            <a:off x="4998661" y="1719263"/>
            <a:ext cx="4164538" cy="4990570"/>
            <a:chOff x="4998661" y="1719263"/>
            <a:chExt cx="4164538" cy="4990570"/>
          </a:xfrm>
        </p:grpSpPr>
        <p:sp>
          <p:nvSpPr>
            <p:cNvPr id="31" name="Rectangle 15"/>
            <p:cNvSpPr>
              <a:spLocks noChangeArrowheads="1"/>
            </p:cNvSpPr>
            <p:nvPr/>
          </p:nvSpPr>
          <p:spPr bwMode="auto">
            <a:xfrm>
              <a:off x="4998661" y="3027680"/>
              <a:ext cx="2789237" cy="423228"/>
            </a:xfrm>
            <a:prstGeom prst="rect">
              <a:avLst/>
            </a:prstGeom>
            <a:solidFill>
              <a:schemeClr val="accent3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Shared libraries</a:t>
              </a:r>
            </a:p>
          </p:txBody>
        </p:sp>
        <p:sp>
          <p:nvSpPr>
            <p:cNvPr id="32" name="Rectangle 16"/>
            <p:cNvSpPr>
              <a:spLocks noChangeArrowheads="1"/>
            </p:cNvSpPr>
            <p:nvPr/>
          </p:nvSpPr>
          <p:spPr bwMode="auto">
            <a:xfrm>
              <a:off x="4998661" y="3450908"/>
              <a:ext cx="2789237" cy="9020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33" name="Rectangle 17"/>
            <p:cNvSpPr>
              <a:spLocks noChangeArrowheads="1"/>
            </p:cNvSpPr>
            <p:nvPr/>
          </p:nvSpPr>
          <p:spPr bwMode="auto">
            <a:xfrm>
              <a:off x="4998662" y="4350808"/>
              <a:ext cx="2789237" cy="669925"/>
            </a:xfrm>
            <a:prstGeom prst="rect">
              <a:avLst/>
            </a:prstGeom>
            <a:solidFill>
              <a:schemeClr val="accent1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chemeClr val="bg1"/>
                  </a:solidFill>
                  <a:latin typeface="Arial"/>
                  <a:ea typeface="msgothic" charset="0"/>
                  <a:cs typeface="Arial"/>
                </a:rPr>
                <a:t>Runtime heap</a:t>
              </a:r>
            </a:p>
          </p:txBody>
        </p:sp>
        <p:sp>
          <p:nvSpPr>
            <p:cNvPr id="34" name="Rectangle 18"/>
            <p:cNvSpPr>
              <a:spLocks noChangeArrowheads="1"/>
            </p:cNvSpPr>
            <p:nvPr/>
          </p:nvSpPr>
          <p:spPr bwMode="auto">
            <a:xfrm>
              <a:off x="4998661" y="2054225"/>
              <a:ext cx="2789237" cy="97345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35" name="Line 19"/>
            <p:cNvSpPr>
              <a:spLocks noChangeShapeType="1"/>
            </p:cNvSpPr>
            <p:nvPr/>
          </p:nvSpPr>
          <p:spPr bwMode="auto">
            <a:xfrm flipV="1">
              <a:off x="6388782" y="3957638"/>
              <a:ext cx="1588" cy="384175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36" name="Rectangle 20"/>
            <p:cNvSpPr>
              <a:spLocks noChangeArrowheads="1"/>
            </p:cNvSpPr>
            <p:nvPr/>
          </p:nvSpPr>
          <p:spPr bwMode="auto">
            <a:xfrm>
              <a:off x="4998661" y="1719263"/>
              <a:ext cx="2789237" cy="563562"/>
            </a:xfrm>
            <a:prstGeom prst="rect">
              <a:avLst/>
            </a:prstGeom>
            <a:solidFill>
              <a:schemeClr val="accent1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User stack</a:t>
              </a:r>
            </a:p>
          </p:txBody>
        </p:sp>
        <p:sp>
          <p:nvSpPr>
            <p:cNvPr id="37" name="Line 22"/>
            <p:cNvSpPr>
              <a:spLocks noChangeShapeType="1"/>
            </p:cNvSpPr>
            <p:nvPr/>
          </p:nvSpPr>
          <p:spPr bwMode="auto">
            <a:xfrm>
              <a:off x="6388782" y="2282825"/>
              <a:ext cx="1588" cy="228600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38" name="Rectangle 23"/>
            <p:cNvSpPr>
              <a:spLocks noChangeArrowheads="1"/>
            </p:cNvSpPr>
            <p:nvPr/>
          </p:nvSpPr>
          <p:spPr bwMode="auto">
            <a:xfrm>
              <a:off x="4998661" y="6312958"/>
              <a:ext cx="2789238" cy="39687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Unused</a:t>
              </a:r>
            </a:p>
          </p:txBody>
        </p:sp>
        <p:sp>
          <p:nvSpPr>
            <p:cNvPr id="39" name="Text Box 25"/>
            <p:cNvSpPr txBox="1">
              <a:spLocks noChangeArrowheads="1"/>
            </p:cNvSpPr>
            <p:nvPr/>
          </p:nvSpPr>
          <p:spPr bwMode="auto">
            <a:xfrm>
              <a:off x="8146053" y="2108200"/>
              <a:ext cx="877461" cy="8093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%</a:t>
              </a:r>
              <a:r>
                <a:rPr lang="en-GB" sz="1600" err="1">
                  <a:latin typeface="Arial"/>
                  <a:ea typeface="msgothic" charset="0"/>
                  <a:cs typeface="Arial"/>
                </a:rPr>
                <a:t>rsp</a:t>
              </a:r>
              <a:r>
                <a:rPr lang="en-GB" sz="1600">
                  <a:latin typeface="Arial"/>
                  <a:ea typeface="msgothic" charset="0"/>
                  <a:cs typeface="Arial"/>
                </a:rPr>
                <a:t>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(stack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pointer)</a:t>
              </a:r>
            </a:p>
          </p:txBody>
        </p:sp>
        <p:sp>
          <p:nvSpPr>
            <p:cNvPr id="40" name="Line 26"/>
            <p:cNvSpPr>
              <a:spLocks noChangeShapeType="1"/>
            </p:cNvSpPr>
            <p:nvPr/>
          </p:nvSpPr>
          <p:spPr bwMode="auto">
            <a:xfrm flipH="1">
              <a:off x="7839666" y="2279650"/>
              <a:ext cx="384175" cy="1588"/>
            </a:xfrm>
            <a:prstGeom prst="line">
              <a:avLst/>
            </a:prstGeom>
            <a:noFill/>
            <a:ln w="3240">
              <a:solidFill>
                <a:srgbClr val="000066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43" name="Text Box 29"/>
            <p:cNvSpPr txBox="1">
              <a:spLocks noChangeArrowheads="1"/>
            </p:cNvSpPr>
            <p:nvPr/>
          </p:nvSpPr>
          <p:spPr bwMode="auto">
            <a:xfrm>
              <a:off x="8200120" y="4173538"/>
              <a:ext cx="476710" cy="32842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brk</a:t>
              </a:r>
            </a:p>
          </p:txBody>
        </p:sp>
        <p:sp>
          <p:nvSpPr>
            <p:cNvPr id="44" name="Line 30"/>
            <p:cNvSpPr>
              <a:spLocks noChangeShapeType="1"/>
            </p:cNvSpPr>
            <p:nvPr/>
          </p:nvSpPr>
          <p:spPr bwMode="auto">
            <a:xfrm flipH="1">
              <a:off x="7815945" y="4340225"/>
              <a:ext cx="384175" cy="1588"/>
            </a:xfrm>
            <a:prstGeom prst="line">
              <a:avLst/>
            </a:prstGeom>
            <a:noFill/>
            <a:ln w="3240">
              <a:solidFill>
                <a:srgbClr val="000066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45" name="Rectangle 34"/>
            <p:cNvSpPr>
              <a:spLocks noChangeArrowheads="1"/>
            </p:cNvSpPr>
            <p:nvPr/>
          </p:nvSpPr>
          <p:spPr bwMode="auto">
            <a:xfrm>
              <a:off x="4998661" y="5017558"/>
              <a:ext cx="2789238" cy="669925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Read/write segment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(.data, .</a:t>
              </a:r>
              <a:r>
                <a:rPr lang="en-GB" sz="1600" err="1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bss</a:t>
              </a: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)</a:t>
              </a:r>
            </a:p>
          </p:txBody>
        </p:sp>
        <p:sp>
          <p:nvSpPr>
            <p:cNvPr id="46" name="Rectangle 35"/>
            <p:cNvSpPr>
              <a:spLocks noChangeArrowheads="1"/>
            </p:cNvSpPr>
            <p:nvPr/>
          </p:nvSpPr>
          <p:spPr bwMode="auto">
            <a:xfrm>
              <a:off x="4998661" y="5643033"/>
              <a:ext cx="2789238" cy="66992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Read-only segment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(.init, .text, .</a:t>
              </a:r>
              <a:r>
                <a:rPr lang="en-GB" sz="1600" err="1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rodata</a:t>
              </a: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)</a:t>
              </a:r>
            </a:p>
          </p:txBody>
        </p:sp>
        <p:sp>
          <p:nvSpPr>
            <p:cNvPr id="47" name="AutoShape 36"/>
            <p:cNvSpPr>
              <a:spLocks/>
            </p:cNvSpPr>
            <p:nvPr/>
          </p:nvSpPr>
          <p:spPr bwMode="auto">
            <a:xfrm>
              <a:off x="7836582" y="5026025"/>
              <a:ext cx="76200" cy="1295400"/>
            </a:xfrm>
            <a:prstGeom prst="rightBrace">
              <a:avLst>
                <a:gd name="adj1" fmla="val 141667"/>
                <a:gd name="adj2" fmla="val 50000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48" name="Text Box 37"/>
            <p:cNvSpPr txBox="1">
              <a:spLocks noChangeArrowheads="1"/>
            </p:cNvSpPr>
            <p:nvPr/>
          </p:nvSpPr>
          <p:spPr bwMode="auto">
            <a:xfrm>
              <a:off x="7988982" y="5010150"/>
              <a:ext cx="1174217" cy="1301819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Loaded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from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the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executable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file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236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>
          <a:xfrm>
            <a:off x="457200" y="104141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/>
              <a:t>Dynamic allocation on heap</a:t>
            </a:r>
            <a:endParaRPr kumimoji="1"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91440" y="1242160"/>
            <a:ext cx="46837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>
                <a:solidFill>
                  <a:srgbClr val="FF0066"/>
                </a:solidFill>
                <a:latin typeface="Arial"/>
                <a:cs typeface="Arial"/>
              </a:rPr>
              <a:t>Question: How to allocate memory </a:t>
            </a:r>
          </a:p>
          <a:p>
            <a:r>
              <a:rPr kumimoji="1" lang="en-US" altLang="zh-CN" sz="2000">
                <a:solidFill>
                  <a:srgbClr val="FF0066"/>
                </a:solidFill>
                <a:latin typeface="Arial"/>
                <a:cs typeface="Arial"/>
              </a:rPr>
              <a:t>on heap? </a:t>
            </a:r>
          </a:p>
        </p:txBody>
      </p:sp>
      <p:sp>
        <p:nvSpPr>
          <p:cNvPr id="24" name="矩形 23"/>
          <p:cNvSpPr/>
          <p:nvPr/>
        </p:nvSpPr>
        <p:spPr>
          <a:xfrm>
            <a:off x="162561" y="2133540"/>
            <a:ext cx="43281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>
                <a:solidFill>
                  <a:srgbClr val="000000"/>
                </a:solidFill>
                <a:latin typeface="Arial"/>
                <a:cs typeface="Arial"/>
              </a:rPr>
              <a:t>Ask OS for allocation on the heap</a:t>
            </a:r>
          </a:p>
          <a:p>
            <a:r>
              <a:rPr kumimoji="1" lang="en-US" altLang="zh-CN" sz="2000">
                <a:solidFill>
                  <a:srgbClr val="000000"/>
                </a:solidFill>
                <a:latin typeface="Arial"/>
                <a:cs typeface="Arial"/>
              </a:rPr>
              <a:t>via </a:t>
            </a:r>
            <a:r>
              <a:rPr kumimoji="1" lang="en-US" altLang="zh-CN" sz="2000">
                <a:solidFill>
                  <a:srgbClr val="3366FF"/>
                </a:solidFill>
                <a:latin typeface="Arial"/>
                <a:cs typeface="Arial"/>
              </a:rPr>
              <a:t>system calls</a:t>
            </a:r>
          </a:p>
        </p:txBody>
      </p:sp>
      <p:sp>
        <p:nvSpPr>
          <p:cNvPr id="2" name="矩形 1"/>
          <p:cNvSpPr/>
          <p:nvPr/>
        </p:nvSpPr>
        <p:spPr>
          <a:xfrm>
            <a:off x="162561" y="3210560"/>
            <a:ext cx="3484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</a:rPr>
              <a:t>void *</a:t>
            </a:r>
            <a:r>
              <a:rPr lang="en-US" altLang="zh-CN" err="1">
                <a:latin typeface="Consolas"/>
                <a:cs typeface="Consolas"/>
              </a:rPr>
              <a:t>sbrk</a:t>
            </a:r>
            <a:r>
              <a:rPr lang="en-US" altLang="zh-CN">
                <a:latin typeface="Consolas"/>
                <a:cs typeface="Consolas"/>
              </a:rPr>
              <a:t>(</a:t>
            </a:r>
            <a:r>
              <a:rPr lang="en-US" altLang="zh-CN" err="1">
                <a:latin typeface="Consolas"/>
                <a:cs typeface="Consolas"/>
              </a:rPr>
              <a:t>intptr_t</a:t>
            </a:r>
            <a:r>
              <a:rPr lang="en-US" altLang="zh-CN">
                <a:latin typeface="Consolas"/>
                <a:cs typeface="Consolas"/>
              </a:rPr>
              <a:t> size);</a:t>
            </a:r>
          </a:p>
        </p:txBody>
      </p:sp>
      <p:grpSp>
        <p:nvGrpSpPr>
          <p:cNvPr id="43" name="组 42"/>
          <p:cNvGrpSpPr/>
          <p:nvPr/>
        </p:nvGrpSpPr>
        <p:grpSpPr>
          <a:xfrm>
            <a:off x="4998661" y="1719263"/>
            <a:ext cx="4164538" cy="4990570"/>
            <a:chOff x="4998661" y="1719263"/>
            <a:chExt cx="4164538" cy="4990570"/>
          </a:xfrm>
        </p:grpSpPr>
        <p:sp>
          <p:nvSpPr>
            <p:cNvPr id="45" name="Rectangle 15"/>
            <p:cNvSpPr>
              <a:spLocks noChangeArrowheads="1"/>
            </p:cNvSpPr>
            <p:nvPr/>
          </p:nvSpPr>
          <p:spPr bwMode="auto">
            <a:xfrm>
              <a:off x="4998661" y="3027680"/>
              <a:ext cx="2789237" cy="423228"/>
            </a:xfrm>
            <a:prstGeom prst="rect">
              <a:avLst/>
            </a:prstGeom>
            <a:solidFill>
              <a:schemeClr val="accent3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Shared libraries</a:t>
              </a:r>
            </a:p>
          </p:txBody>
        </p:sp>
        <p:sp>
          <p:nvSpPr>
            <p:cNvPr id="46" name="Rectangle 16"/>
            <p:cNvSpPr>
              <a:spLocks noChangeArrowheads="1"/>
            </p:cNvSpPr>
            <p:nvPr/>
          </p:nvSpPr>
          <p:spPr bwMode="auto">
            <a:xfrm>
              <a:off x="4998661" y="3450908"/>
              <a:ext cx="2789237" cy="9020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47" name="Rectangle 17"/>
            <p:cNvSpPr>
              <a:spLocks noChangeArrowheads="1"/>
            </p:cNvSpPr>
            <p:nvPr/>
          </p:nvSpPr>
          <p:spPr bwMode="auto">
            <a:xfrm>
              <a:off x="4998662" y="4350808"/>
              <a:ext cx="2789237" cy="669925"/>
            </a:xfrm>
            <a:prstGeom prst="rect">
              <a:avLst/>
            </a:prstGeom>
            <a:solidFill>
              <a:schemeClr val="accent1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chemeClr val="bg1"/>
                  </a:solidFill>
                  <a:latin typeface="Arial"/>
                  <a:ea typeface="msgothic" charset="0"/>
                  <a:cs typeface="Arial"/>
                </a:rPr>
                <a:t>Runtime heap</a:t>
              </a:r>
            </a:p>
          </p:txBody>
        </p:sp>
        <p:sp>
          <p:nvSpPr>
            <p:cNvPr id="48" name="Rectangle 18"/>
            <p:cNvSpPr>
              <a:spLocks noChangeArrowheads="1"/>
            </p:cNvSpPr>
            <p:nvPr/>
          </p:nvSpPr>
          <p:spPr bwMode="auto">
            <a:xfrm>
              <a:off x="4998661" y="2054225"/>
              <a:ext cx="2789237" cy="97345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49" name="Line 19"/>
            <p:cNvSpPr>
              <a:spLocks noChangeShapeType="1"/>
            </p:cNvSpPr>
            <p:nvPr/>
          </p:nvSpPr>
          <p:spPr bwMode="auto">
            <a:xfrm flipV="1">
              <a:off x="6388782" y="3957638"/>
              <a:ext cx="1588" cy="384175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50" name="Rectangle 20"/>
            <p:cNvSpPr>
              <a:spLocks noChangeArrowheads="1"/>
            </p:cNvSpPr>
            <p:nvPr/>
          </p:nvSpPr>
          <p:spPr bwMode="auto">
            <a:xfrm>
              <a:off x="4998661" y="1719263"/>
              <a:ext cx="2789237" cy="563562"/>
            </a:xfrm>
            <a:prstGeom prst="rect">
              <a:avLst/>
            </a:prstGeom>
            <a:solidFill>
              <a:schemeClr val="accent1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User stack</a:t>
              </a:r>
            </a:p>
          </p:txBody>
        </p:sp>
        <p:sp>
          <p:nvSpPr>
            <p:cNvPr id="51" name="Line 22"/>
            <p:cNvSpPr>
              <a:spLocks noChangeShapeType="1"/>
            </p:cNvSpPr>
            <p:nvPr/>
          </p:nvSpPr>
          <p:spPr bwMode="auto">
            <a:xfrm>
              <a:off x="6388782" y="2282825"/>
              <a:ext cx="1588" cy="228600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52" name="Rectangle 23"/>
            <p:cNvSpPr>
              <a:spLocks noChangeArrowheads="1"/>
            </p:cNvSpPr>
            <p:nvPr/>
          </p:nvSpPr>
          <p:spPr bwMode="auto">
            <a:xfrm>
              <a:off x="4998661" y="6312958"/>
              <a:ext cx="2789238" cy="39687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Unused</a:t>
              </a:r>
            </a:p>
          </p:txBody>
        </p:sp>
        <p:sp>
          <p:nvSpPr>
            <p:cNvPr id="53" name="Text Box 25"/>
            <p:cNvSpPr txBox="1">
              <a:spLocks noChangeArrowheads="1"/>
            </p:cNvSpPr>
            <p:nvPr/>
          </p:nvSpPr>
          <p:spPr bwMode="auto">
            <a:xfrm>
              <a:off x="8146053" y="2108200"/>
              <a:ext cx="877461" cy="8093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%</a:t>
              </a:r>
              <a:r>
                <a:rPr lang="en-GB" sz="1600" err="1">
                  <a:latin typeface="Arial"/>
                  <a:ea typeface="msgothic" charset="0"/>
                  <a:cs typeface="Arial"/>
                </a:rPr>
                <a:t>rsp</a:t>
              </a:r>
              <a:r>
                <a:rPr lang="en-GB" sz="1600">
                  <a:latin typeface="Arial"/>
                  <a:ea typeface="msgothic" charset="0"/>
                  <a:cs typeface="Arial"/>
                </a:rPr>
                <a:t>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(stack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pointer)</a:t>
              </a:r>
            </a:p>
          </p:txBody>
        </p:sp>
        <p:sp>
          <p:nvSpPr>
            <p:cNvPr id="54" name="Line 26"/>
            <p:cNvSpPr>
              <a:spLocks noChangeShapeType="1"/>
            </p:cNvSpPr>
            <p:nvPr/>
          </p:nvSpPr>
          <p:spPr bwMode="auto">
            <a:xfrm flipH="1">
              <a:off x="7839666" y="2279650"/>
              <a:ext cx="384175" cy="1588"/>
            </a:xfrm>
            <a:prstGeom prst="line">
              <a:avLst/>
            </a:prstGeom>
            <a:noFill/>
            <a:ln w="3240">
              <a:solidFill>
                <a:srgbClr val="000066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57" name="Text Box 29"/>
            <p:cNvSpPr txBox="1">
              <a:spLocks noChangeArrowheads="1"/>
            </p:cNvSpPr>
            <p:nvPr/>
          </p:nvSpPr>
          <p:spPr bwMode="auto">
            <a:xfrm>
              <a:off x="8200120" y="4173538"/>
              <a:ext cx="476710" cy="32842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brk</a:t>
              </a:r>
            </a:p>
          </p:txBody>
        </p:sp>
        <p:sp>
          <p:nvSpPr>
            <p:cNvPr id="58" name="Line 30"/>
            <p:cNvSpPr>
              <a:spLocks noChangeShapeType="1"/>
            </p:cNvSpPr>
            <p:nvPr/>
          </p:nvSpPr>
          <p:spPr bwMode="auto">
            <a:xfrm flipH="1">
              <a:off x="7815945" y="4340225"/>
              <a:ext cx="384175" cy="1588"/>
            </a:xfrm>
            <a:prstGeom prst="line">
              <a:avLst/>
            </a:prstGeom>
            <a:noFill/>
            <a:ln w="3240">
              <a:solidFill>
                <a:srgbClr val="000066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59" name="Rectangle 34"/>
            <p:cNvSpPr>
              <a:spLocks noChangeArrowheads="1"/>
            </p:cNvSpPr>
            <p:nvPr/>
          </p:nvSpPr>
          <p:spPr bwMode="auto">
            <a:xfrm>
              <a:off x="4998661" y="5017558"/>
              <a:ext cx="2789238" cy="669925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Read/write segment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(.data, .</a:t>
              </a:r>
              <a:r>
                <a:rPr lang="en-GB" sz="1600" err="1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bss</a:t>
              </a: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)</a:t>
              </a:r>
            </a:p>
          </p:txBody>
        </p:sp>
        <p:sp>
          <p:nvSpPr>
            <p:cNvPr id="60" name="Rectangle 35"/>
            <p:cNvSpPr>
              <a:spLocks noChangeArrowheads="1"/>
            </p:cNvSpPr>
            <p:nvPr/>
          </p:nvSpPr>
          <p:spPr bwMode="auto">
            <a:xfrm>
              <a:off x="4998661" y="5643033"/>
              <a:ext cx="2789238" cy="66992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Read-only segment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(.init, .text, .</a:t>
              </a:r>
              <a:r>
                <a:rPr lang="en-GB" sz="1600" err="1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rodata</a:t>
              </a: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)</a:t>
              </a:r>
            </a:p>
          </p:txBody>
        </p:sp>
        <p:sp>
          <p:nvSpPr>
            <p:cNvPr id="61" name="AutoShape 36"/>
            <p:cNvSpPr>
              <a:spLocks/>
            </p:cNvSpPr>
            <p:nvPr/>
          </p:nvSpPr>
          <p:spPr bwMode="auto">
            <a:xfrm>
              <a:off x="7836582" y="5026025"/>
              <a:ext cx="76200" cy="1295400"/>
            </a:xfrm>
            <a:prstGeom prst="rightBrace">
              <a:avLst>
                <a:gd name="adj1" fmla="val 141667"/>
                <a:gd name="adj2" fmla="val 50000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62" name="Text Box 37"/>
            <p:cNvSpPr txBox="1">
              <a:spLocks noChangeArrowheads="1"/>
            </p:cNvSpPr>
            <p:nvPr/>
          </p:nvSpPr>
          <p:spPr bwMode="auto">
            <a:xfrm>
              <a:off x="7988982" y="5010150"/>
              <a:ext cx="1174217" cy="1301819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Loaded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from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the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executable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file</a:t>
              </a:r>
            </a:p>
          </p:txBody>
        </p:sp>
      </p:grpSp>
      <p:sp>
        <p:nvSpPr>
          <p:cNvPr id="63" name="矩形 62"/>
          <p:cNvSpPr/>
          <p:nvPr/>
        </p:nvSpPr>
        <p:spPr>
          <a:xfrm>
            <a:off x="0" y="3828833"/>
            <a:ext cx="48324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>
                <a:solidFill>
                  <a:srgbClr val="000000"/>
                </a:solidFill>
                <a:latin typeface="Arial"/>
                <a:cs typeface="Arial"/>
              </a:rPr>
              <a:t>It increases the top of heap by “size” and returns </a:t>
            </a:r>
          </a:p>
          <a:p>
            <a:r>
              <a:rPr kumimoji="1" lang="en-US" altLang="zh-CN" sz="1600">
                <a:solidFill>
                  <a:srgbClr val="000000"/>
                </a:solidFill>
                <a:latin typeface="Arial"/>
                <a:cs typeface="Arial"/>
              </a:rPr>
              <a:t>a pointer to the base of new storage. The “size” </a:t>
            </a:r>
          </a:p>
          <a:p>
            <a:r>
              <a:rPr kumimoji="1" lang="en-US" altLang="zh-CN" sz="1600">
                <a:solidFill>
                  <a:srgbClr val="000000"/>
                </a:solidFill>
                <a:latin typeface="Arial"/>
                <a:cs typeface="Arial"/>
              </a:rPr>
              <a:t>can be a negative number. </a:t>
            </a:r>
          </a:p>
        </p:txBody>
      </p:sp>
    </p:spTree>
    <p:extLst>
      <p:ext uri="{BB962C8B-B14F-4D97-AF65-F5344CB8AC3E}">
        <p14:creationId xmlns:p14="http://schemas.microsoft.com/office/powerpoint/2010/main" val="3567871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4998661" y="1719263"/>
            <a:ext cx="4164538" cy="4990570"/>
            <a:chOff x="4998661" y="1719263"/>
            <a:chExt cx="4164538" cy="4990570"/>
          </a:xfrm>
        </p:grpSpPr>
        <p:sp>
          <p:nvSpPr>
            <p:cNvPr id="6" name="Rectangle 15"/>
            <p:cNvSpPr>
              <a:spLocks noChangeArrowheads="1"/>
            </p:cNvSpPr>
            <p:nvPr/>
          </p:nvSpPr>
          <p:spPr bwMode="auto">
            <a:xfrm>
              <a:off x="4998661" y="3027680"/>
              <a:ext cx="2789237" cy="423228"/>
            </a:xfrm>
            <a:prstGeom prst="rect">
              <a:avLst/>
            </a:prstGeom>
            <a:solidFill>
              <a:schemeClr val="accent3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Shared libraries</a:t>
              </a:r>
            </a:p>
          </p:txBody>
        </p:sp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4998661" y="3450908"/>
              <a:ext cx="2789237" cy="9020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8" name="Rectangle 17"/>
            <p:cNvSpPr>
              <a:spLocks noChangeArrowheads="1"/>
            </p:cNvSpPr>
            <p:nvPr/>
          </p:nvSpPr>
          <p:spPr bwMode="auto">
            <a:xfrm>
              <a:off x="4998662" y="4350808"/>
              <a:ext cx="2789237" cy="669925"/>
            </a:xfrm>
            <a:prstGeom prst="rect">
              <a:avLst/>
            </a:prstGeom>
            <a:solidFill>
              <a:schemeClr val="accent1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chemeClr val="bg1"/>
                  </a:solidFill>
                  <a:latin typeface="Arial"/>
                  <a:ea typeface="msgothic" charset="0"/>
                  <a:cs typeface="Arial"/>
                </a:rPr>
                <a:t>Runtime heap</a:t>
              </a:r>
            </a:p>
          </p:txBody>
        </p:sp>
        <p:sp>
          <p:nvSpPr>
            <p:cNvPr id="9" name="Rectangle 18"/>
            <p:cNvSpPr>
              <a:spLocks noChangeArrowheads="1"/>
            </p:cNvSpPr>
            <p:nvPr/>
          </p:nvSpPr>
          <p:spPr bwMode="auto">
            <a:xfrm>
              <a:off x="4998661" y="2054225"/>
              <a:ext cx="2789237" cy="97345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0" name="Line 19"/>
            <p:cNvSpPr>
              <a:spLocks noChangeShapeType="1"/>
            </p:cNvSpPr>
            <p:nvPr/>
          </p:nvSpPr>
          <p:spPr bwMode="auto">
            <a:xfrm flipV="1">
              <a:off x="6386924" y="3558085"/>
              <a:ext cx="1588" cy="384175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1" name="Rectangle 20"/>
            <p:cNvSpPr>
              <a:spLocks noChangeArrowheads="1"/>
            </p:cNvSpPr>
            <p:nvPr/>
          </p:nvSpPr>
          <p:spPr bwMode="auto">
            <a:xfrm>
              <a:off x="4998661" y="1719263"/>
              <a:ext cx="2789237" cy="563562"/>
            </a:xfrm>
            <a:prstGeom prst="rect">
              <a:avLst/>
            </a:prstGeom>
            <a:solidFill>
              <a:schemeClr val="accent1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User stack</a:t>
              </a:r>
            </a:p>
          </p:txBody>
        </p:sp>
        <p:sp>
          <p:nvSpPr>
            <p:cNvPr id="12" name="Line 22"/>
            <p:cNvSpPr>
              <a:spLocks noChangeShapeType="1"/>
            </p:cNvSpPr>
            <p:nvPr/>
          </p:nvSpPr>
          <p:spPr bwMode="auto">
            <a:xfrm>
              <a:off x="6388782" y="2282825"/>
              <a:ext cx="1588" cy="228600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" name="Rectangle 23"/>
            <p:cNvSpPr>
              <a:spLocks noChangeArrowheads="1"/>
            </p:cNvSpPr>
            <p:nvPr/>
          </p:nvSpPr>
          <p:spPr bwMode="auto">
            <a:xfrm>
              <a:off x="4998661" y="6312958"/>
              <a:ext cx="2789238" cy="39687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Unused</a:t>
              </a:r>
            </a:p>
          </p:txBody>
        </p:sp>
        <p:sp>
          <p:nvSpPr>
            <p:cNvPr id="14" name="Text Box 25"/>
            <p:cNvSpPr txBox="1">
              <a:spLocks noChangeArrowheads="1"/>
            </p:cNvSpPr>
            <p:nvPr/>
          </p:nvSpPr>
          <p:spPr bwMode="auto">
            <a:xfrm>
              <a:off x="8146053" y="2108200"/>
              <a:ext cx="877461" cy="8093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%</a:t>
              </a:r>
              <a:r>
                <a:rPr lang="en-GB" sz="1600" err="1">
                  <a:latin typeface="Arial"/>
                  <a:ea typeface="msgothic" charset="0"/>
                  <a:cs typeface="Arial"/>
                </a:rPr>
                <a:t>rsp</a:t>
              </a:r>
              <a:r>
                <a:rPr lang="en-GB" sz="1600">
                  <a:latin typeface="Arial"/>
                  <a:ea typeface="msgothic" charset="0"/>
                  <a:cs typeface="Arial"/>
                </a:rPr>
                <a:t>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(stack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pointer)</a:t>
              </a:r>
            </a:p>
          </p:txBody>
        </p:sp>
        <p:sp>
          <p:nvSpPr>
            <p:cNvPr id="15" name="Line 26"/>
            <p:cNvSpPr>
              <a:spLocks noChangeShapeType="1"/>
            </p:cNvSpPr>
            <p:nvPr/>
          </p:nvSpPr>
          <p:spPr bwMode="auto">
            <a:xfrm flipH="1">
              <a:off x="7839666" y="2279650"/>
              <a:ext cx="384175" cy="1588"/>
            </a:xfrm>
            <a:prstGeom prst="line">
              <a:avLst/>
            </a:prstGeom>
            <a:noFill/>
            <a:ln w="3240">
              <a:solidFill>
                <a:srgbClr val="000066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8" name="Text Box 29"/>
            <p:cNvSpPr txBox="1">
              <a:spLocks noChangeArrowheads="1"/>
            </p:cNvSpPr>
            <p:nvPr/>
          </p:nvSpPr>
          <p:spPr bwMode="auto">
            <a:xfrm>
              <a:off x="8200120" y="3807778"/>
              <a:ext cx="476710" cy="32842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brk</a:t>
              </a:r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auto">
            <a:xfrm flipH="1">
              <a:off x="7815945" y="3974465"/>
              <a:ext cx="384175" cy="1588"/>
            </a:xfrm>
            <a:prstGeom prst="line">
              <a:avLst/>
            </a:prstGeom>
            <a:noFill/>
            <a:ln w="3240">
              <a:solidFill>
                <a:srgbClr val="000066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20" name="Rectangle 34"/>
            <p:cNvSpPr>
              <a:spLocks noChangeArrowheads="1"/>
            </p:cNvSpPr>
            <p:nvPr/>
          </p:nvSpPr>
          <p:spPr bwMode="auto">
            <a:xfrm>
              <a:off x="4998661" y="5017558"/>
              <a:ext cx="2789238" cy="669925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Read/write segment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(.data, .</a:t>
              </a:r>
              <a:r>
                <a:rPr lang="en-GB" sz="1600" err="1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bss</a:t>
              </a: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)</a:t>
              </a:r>
            </a:p>
          </p:txBody>
        </p:sp>
        <p:sp>
          <p:nvSpPr>
            <p:cNvPr id="21" name="Rectangle 35"/>
            <p:cNvSpPr>
              <a:spLocks noChangeArrowheads="1"/>
            </p:cNvSpPr>
            <p:nvPr/>
          </p:nvSpPr>
          <p:spPr bwMode="auto">
            <a:xfrm>
              <a:off x="4998661" y="5643033"/>
              <a:ext cx="2789238" cy="66992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Read-only segment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(.init, .text, .</a:t>
              </a:r>
              <a:r>
                <a:rPr lang="en-GB" sz="1600" err="1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rodata</a:t>
              </a: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)</a:t>
              </a:r>
            </a:p>
          </p:txBody>
        </p:sp>
        <p:sp>
          <p:nvSpPr>
            <p:cNvPr id="22" name="AutoShape 36"/>
            <p:cNvSpPr>
              <a:spLocks/>
            </p:cNvSpPr>
            <p:nvPr/>
          </p:nvSpPr>
          <p:spPr bwMode="auto">
            <a:xfrm>
              <a:off x="7836582" y="5026025"/>
              <a:ext cx="76200" cy="1295400"/>
            </a:xfrm>
            <a:prstGeom prst="rightBrace">
              <a:avLst>
                <a:gd name="adj1" fmla="val 141667"/>
                <a:gd name="adj2" fmla="val 50000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23" name="Text Box 37"/>
            <p:cNvSpPr txBox="1">
              <a:spLocks noChangeArrowheads="1"/>
            </p:cNvSpPr>
            <p:nvPr/>
          </p:nvSpPr>
          <p:spPr bwMode="auto">
            <a:xfrm>
              <a:off x="7988982" y="5010150"/>
              <a:ext cx="1174217" cy="1301819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Loaded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from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the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executable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file</a:t>
              </a:r>
            </a:p>
          </p:txBody>
        </p:sp>
      </p:grpSp>
      <p:sp>
        <p:nvSpPr>
          <p:cNvPr id="26" name="标题 1"/>
          <p:cNvSpPr>
            <a:spLocks noGrp="1"/>
          </p:cNvSpPr>
          <p:nvPr>
            <p:ph type="title"/>
          </p:nvPr>
        </p:nvSpPr>
        <p:spPr>
          <a:xfrm>
            <a:off x="457200" y="104141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/>
              <a:t>Dynamic allocation on heap</a:t>
            </a:r>
            <a:endParaRPr kumimoji="1"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91440" y="1242160"/>
            <a:ext cx="46837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>
                <a:solidFill>
                  <a:srgbClr val="FF0066"/>
                </a:solidFill>
                <a:latin typeface="Arial"/>
                <a:cs typeface="Arial"/>
              </a:rPr>
              <a:t>Question: How to allocate memory </a:t>
            </a:r>
          </a:p>
          <a:p>
            <a:r>
              <a:rPr kumimoji="1" lang="en-US" altLang="zh-CN" sz="2000">
                <a:solidFill>
                  <a:srgbClr val="FF0066"/>
                </a:solidFill>
                <a:latin typeface="Arial"/>
                <a:cs typeface="Arial"/>
              </a:rPr>
              <a:t>on heap? </a:t>
            </a:r>
          </a:p>
        </p:txBody>
      </p:sp>
      <p:sp>
        <p:nvSpPr>
          <p:cNvPr id="24" name="矩形 23"/>
          <p:cNvSpPr/>
          <p:nvPr/>
        </p:nvSpPr>
        <p:spPr>
          <a:xfrm>
            <a:off x="162561" y="2133540"/>
            <a:ext cx="43281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>
                <a:solidFill>
                  <a:srgbClr val="000000"/>
                </a:solidFill>
                <a:latin typeface="Arial"/>
                <a:cs typeface="Arial"/>
              </a:rPr>
              <a:t>Ask OS for allocation on the heap</a:t>
            </a:r>
          </a:p>
          <a:p>
            <a:r>
              <a:rPr kumimoji="1" lang="en-US" altLang="zh-CN" sz="2000">
                <a:solidFill>
                  <a:srgbClr val="000000"/>
                </a:solidFill>
                <a:latin typeface="Arial"/>
                <a:cs typeface="Arial"/>
              </a:rPr>
              <a:t>via </a:t>
            </a:r>
            <a:r>
              <a:rPr kumimoji="1" lang="en-US" altLang="zh-CN" sz="2000">
                <a:solidFill>
                  <a:srgbClr val="3366FF"/>
                </a:solidFill>
                <a:latin typeface="Arial"/>
                <a:cs typeface="Arial"/>
              </a:rPr>
              <a:t>system calls</a:t>
            </a:r>
          </a:p>
        </p:txBody>
      </p:sp>
      <p:sp>
        <p:nvSpPr>
          <p:cNvPr id="2" name="矩形 1"/>
          <p:cNvSpPr/>
          <p:nvPr/>
        </p:nvSpPr>
        <p:spPr>
          <a:xfrm>
            <a:off x="162561" y="3210560"/>
            <a:ext cx="3484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</a:rPr>
              <a:t>void *</a:t>
            </a:r>
            <a:r>
              <a:rPr lang="en-US" altLang="zh-CN" err="1">
                <a:latin typeface="Consolas"/>
                <a:cs typeface="Consolas"/>
              </a:rPr>
              <a:t>sbrk</a:t>
            </a:r>
            <a:r>
              <a:rPr lang="en-US" altLang="zh-CN">
                <a:latin typeface="Consolas"/>
                <a:cs typeface="Consolas"/>
              </a:rPr>
              <a:t>(</a:t>
            </a:r>
            <a:r>
              <a:rPr lang="en-US" altLang="zh-CN" err="1">
                <a:latin typeface="Consolas"/>
                <a:cs typeface="Consolas"/>
              </a:rPr>
              <a:t>intptr_t</a:t>
            </a:r>
            <a:r>
              <a:rPr lang="en-US" altLang="zh-CN">
                <a:latin typeface="Consolas"/>
                <a:cs typeface="Consolas"/>
              </a:rPr>
              <a:t> size);</a:t>
            </a:r>
          </a:p>
        </p:txBody>
      </p:sp>
      <p:sp>
        <p:nvSpPr>
          <p:cNvPr id="42" name="矩形 41"/>
          <p:cNvSpPr/>
          <p:nvPr/>
        </p:nvSpPr>
        <p:spPr>
          <a:xfrm>
            <a:off x="0" y="3828833"/>
            <a:ext cx="48324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>
                <a:solidFill>
                  <a:srgbClr val="000000"/>
                </a:solidFill>
                <a:latin typeface="Arial"/>
                <a:cs typeface="Arial"/>
              </a:rPr>
              <a:t>It increases the top of heap by “size” and returns </a:t>
            </a:r>
          </a:p>
          <a:p>
            <a:r>
              <a:rPr kumimoji="1" lang="en-US" altLang="zh-CN" sz="1600">
                <a:solidFill>
                  <a:srgbClr val="000000"/>
                </a:solidFill>
                <a:latin typeface="Arial"/>
                <a:cs typeface="Arial"/>
              </a:rPr>
              <a:t>a pointer to the base of new storage. The “size” </a:t>
            </a:r>
          </a:p>
          <a:p>
            <a:r>
              <a:rPr kumimoji="1" lang="en-US" altLang="zh-CN" sz="1600">
                <a:solidFill>
                  <a:srgbClr val="000000"/>
                </a:solidFill>
                <a:latin typeface="Arial"/>
                <a:cs typeface="Arial"/>
              </a:rPr>
              <a:t>can be a negative number. </a:t>
            </a:r>
          </a:p>
        </p:txBody>
      </p:sp>
      <p:sp>
        <p:nvSpPr>
          <p:cNvPr id="28" name="矩形 27"/>
          <p:cNvSpPr/>
          <p:nvPr/>
        </p:nvSpPr>
        <p:spPr>
          <a:xfrm>
            <a:off x="0" y="4850208"/>
            <a:ext cx="3638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latin typeface="Consolas"/>
                <a:cs typeface="Consolas"/>
              </a:rPr>
              <a:t>p = </a:t>
            </a:r>
            <a:r>
              <a:rPr kumimoji="1" lang="en-US" altLang="zh-CN" err="1">
                <a:latin typeface="Consolas"/>
                <a:cs typeface="Consolas"/>
              </a:rPr>
              <a:t>sbrk</a:t>
            </a:r>
            <a:r>
              <a:rPr kumimoji="1" lang="en-US" altLang="zh-CN">
                <a:latin typeface="Consolas"/>
                <a:cs typeface="Consolas"/>
              </a:rPr>
              <a:t>(1024) //</a:t>
            </a:r>
            <a:r>
              <a:rPr kumimoji="1" lang="en-US" altLang="zh-CN">
                <a:latin typeface="Arial"/>
                <a:cs typeface="Arial"/>
              </a:rPr>
              <a:t>allocate 1KB</a:t>
            </a: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4992305" y="3942260"/>
            <a:ext cx="2789237" cy="410665"/>
          </a:xfrm>
          <a:prstGeom prst="rect">
            <a:avLst/>
          </a:prstGeom>
          <a:solidFill>
            <a:schemeClr val="accent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chemeClr val="bg1"/>
                </a:solidFill>
                <a:latin typeface="Arial"/>
                <a:ea typeface="msgothic" charset="0"/>
                <a:cs typeface="Arial"/>
              </a:rPr>
              <a:t>1KB</a:t>
            </a:r>
          </a:p>
        </p:txBody>
      </p:sp>
    </p:spTree>
    <p:extLst>
      <p:ext uri="{BB962C8B-B14F-4D97-AF65-F5344CB8AC3E}">
        <p14:creationId xmlns:p14="http://schemas.microsoft.com/office/powerpoint/2010/main" val="15662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4998661" y="1719263"/>
            <a:ext cx="4164538" cy="4990570"/>
            <a:chOff x="4998661" y="1719263"/>
            <a:chExt cx="4164538" cy="4990570"/>
          </a:xfrm>
        </p:grpSpPr>
        <p:sp>
          <p:nvSpPr>
            <p:cNvPr id="6" name="Rectangle 15"/>
            <p:cNvSpPr>
              <a:spLocks noChangeArrowheads="1"/>
            </p:cNvSpPr>
            <p:nvPr/>
          </p:nvSpPr>
          <p:spPr bwMode="auto">
            <a:xfrm>
              <a:off x="4998661" y="3027680"/>
              <a:ext cx="2789237" cy="423228"/>
            </a:xfrm>
            <a:prstGeom prst="rect">
              <a:avLst/>
            </a:prstGeom>
            <a:solidFill>
              <a:schemeClr val="accent3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Shared libraries</a:t>
              </a:r>
            </a:p>
          </p:txBody>
        </p:sp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4998661" y="3450908"/>
              <a:ext cx="2789237" cy="9020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8" name="Rectangle 17"/>
            <p:cNvSpPr>
              <a:spLocks noChangeArrowheads="1"/>
            </p:cNvSpPr>
            <p:nvPr/>
          </p:nvSpPr>
          <p:spPr bwMode="auto">
            <a:xfrm>
              <a:off x="4998662" y="4350808"/>
              <a:ext cx="2789237" cy="669925"/>
            </a:xfrm>
            <a:prstGeom prst="rect">
              <a:avLst/>
            </a:prstGeom>
            <a:solidFill>
              <a:schemeClr val="accent1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chemeClr val="bg1"/>
                  </a:solidFill>
                  <a:latin typeface="Arial"/>
                  <a:ea typeface="msgothic" charset="0"/>
                  <a:cs typeface="Arial"/>
                </a:rPr>
                <a:t>Runtime heap</a:t>
              </a:r>
            </a:p>
          </p:txBody>
        </p:sp>
        <p:sp>
          <p:nvSpPr>
            <p:cNvPr id="9" name="Rectangle 18"/>
            <p:cNvSpPr>
              <a:spLocks noChangeArrowheads="1"/>
            </p:cNvSpPr>
            <p:nvPr/>
          </p:nvSpPr>
          <p:spPr bwMode="auto">
            <a:xfrm>
              <a:off x="4998661" y="2054225"/>
              <a:ext cx="2789237" cy="97345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0" name="Line 19"/>
            <p:cNvSpPr>
              <a:spLocks noChangeShapeType="1"/>
            </p:cNvSpPr>
            <p:nvPr/>
          </p:nvSpPr>
          <p:spPr bwMode="auto">
            <a:xfrm flipV="1">
              <a:off x="6386924" y="3558085"/>
              <a:ext cx="1588" cy="384175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1" name="Rectangle 20"/>
            <p:cNvSpPr>
              <a:spLocks noChangeArrowheads="1"/>
            </p:cNvSpPr>
            <p:nvPr/>
          </p:nvSpPr>
          <p:spPr bwMode="auto">
            <a:xfrm>
              <a:off x="4998661" y="1719263"/>
              <a:ext cx="2789237" cy="563562"/>
            </a:xfrm>
            <a:prstGeom prst="rect">
              <a:avLst/>
            </a:prstGeom>
            <a:solidFill>
              <a:schemeClr val="accent1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User stack</a:t>
              </a:r>
            </a:p>
          </p:txBody>
        </p:sp>
        <p:sp>
          <p:nvSpPr>
            <p:cNvPr id="12" name="Line 22"/>
            <p:cNvSpPr>
              <a:spLocks noChangeShapeType="1"/>
            </p:cNvSpPr>
            <p:nvPr/>
          </p:nvSpPr>
          <p:spPr bwMode="auto">
            <a:xfrm>
              <a:off x="6388782" y="2282825"/>
              <a:ext cx="1588" cy="228600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3" name="Rectangle 23"/>
            <p:cNvSpPr>
              <a:spLocks noChangeArrowheads="1"/>
            </p:cNvSpPr>
            <p:nvPr/>
          </p:nvSpPr>
          <p:spPr bwMode="auto">
            <a:xfrm>
              <a:off x="4998661" y="6312958"/>
              <a:ext cx="2789238" cy="39687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Unused</a:t>
              </a:r>
            </a:p>
          </p:txBody>
        </p:sp>
        <p:sp>
          <p:nvSpPr>
            <p:cNvPr id="14" name="Text Box 25"/>
            <p:cNvSpPr txBox="1">
              <a:spLocks noChangeArrowheads="1"/>
            </p:cNvSpPr>
            <p:nvPr/>
          </p:nvSpPr>
          <p:spPr bwMode="auto">
            <a:xfrm>
              <a:off x="8146053" y="2108200"/>
              <a:ext cx="877461" cy="8093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%</a:t>
              </a:r>
              <a:r>
                <a:rPr lang="en-GB" sz="1600" err="1">
                  <a:latin typeface="Arial"/>
                  <a:ea typeface="msgothic" charset="0"/>
                  <a:cs typeface="Arial"/>
                </a:rPr>
                <a:t>rsp</a:t>
              </a:r>
              <a:r>
                <a:rPr lang="en-GB" sz="1600">
                  <a:latin typeface="Arial"/>
                  <a:ea typeface="msgothic" charset="0"/>
                  <a:cs typeface="Arial"/>
                </a:rPr>
                <a:t>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(stack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pointer)</a:t>
              </a:r>
            </a:p>
          </p:txBody>
        </p:sp>
        <p:sp>
          <p:nvSpPr>
            <p:cNvPr id="15" name="Line 26"/>
            <p:cNvSpPr>
              <a:spLocks noChangeShapeType="1"/>
            </p:cNvSpPr>
            <p:nvPr/>
          </p:nvSpPr>
          <p:spPr bwMode="auto">
            <a:xfrm flipH="1">
              <a:off x="7839666" y="2279650"/>
              <a:ext cx="384175" cy="1588"/>
            </a:xfrm>
            <a:prstGeom prst="line">
              <a:avLst/>
            </a:prstGeom>
            <a:noFill/>
            <a:ln w="3240">
              <a:solidFill>
                <a:srgbClr val="000066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18" name="Text Box 29"/>
            <p:cNvSpPr txBox="1">
              <a:spLocks noChangeArrowheads="1"/>
            </p:cNvSpPr>
            <p:nvPr/>
          </p:nvSpPr>
          <p:spPr bwMode="auto">
            <a:xfrm>
              <a:off x="8200120" y="4254818"/>
              <a:ext cx="476710" cy="32842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brk</a:t>
              </a:r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auto">
            <a:xfrm flipH="1">
              <a:off x="7815945" y="4421505"/>
              <a:ext cx="384175" cy="1588"/>
            </a:xfrm>
            <a:prstGeom prst="line">
              <a:avLst/>
            </a:prstGeom>
            <a:noFill/>
            <a:ln w="3240">
              <a:solidFill>
                <a:srgbClr val="000066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20" name="Rectangle 34"/>
            <p:cNvSpPr>
              <a:spLocks noChangeArrowheads="1"/>
            </p:cNvSpPr>
            <p:nvPr/>
          </p:nvSpPr>
          <p:spPr bwMode="auto">
            <a:xfrm>
              <a:off x="4998661" y="5017558"/>
              <a:ext cx="2789238" cy="669925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Read/write segment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(.data, .</a:t>
              </a:r>
              <a:r>
                <a:rPr lang="en-GB" sz="1600" err="1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bss</a:t>
              </a: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)</a:t>
              </a:r>
            </a:p>
          </p:txBody>
        </p:sp>
        <p:sp>
          <p:nvSpPr>
            <p:cNvPr id="21" name="Rectangle 35"/>
            <p:cNvSpPr>
              <a:spLocks noChangeArrowheads="1"/>
            </p:cNvSpPr>
            <p:nvPr/>
          </p:nvSpPr>
          <p:spPr bwMode="auto">
            <a:xfrm>
              <a:off x="4998661" y="5643033"/>
              <a:ext cx="2789238" cy="66992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Read-only segment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(.init, .text, .</a:t>
              </a:r>
              <a:r>
                <a:rPr lang="en-GB" sz="1600" err="1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rodata</a:t>
              </a: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)</a:t>
              </a:r>
            </a:p>
          </p:txBody>
        </p:sp>
        <p:sp>
          <p:nvSpPr>
            <p:cNvPr id="22" name="AutoShape 36"/>
            <p:cNvSpPr>
              <a:spLocks/>
            </p:cNvSpPr>
            <p:nvPr/>
          </p:nvSpPr>
          <p:spPr bwMode="auto">
            <a:xfrm>
              <a:off x="7836582" y="5026025"/>
              <a:ext cx="76200" cy="1295400"/>
            </a:xfrm>
            <a:prstGeom prst="rightBrace">
              <a:avLst>
                <a:gd name="adj1" fmla="val 141667"/>
                <a:gd name="adj2" fmla="val 50000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23" name="Text Box 37"/>
            <p:cNvSpPr txBox="1">
              <a:spLocks noChangeArrowheads="1"/>
            </p:cNvSpPr>
            <p:nvPr/>
          </p:nvSpPr>
          <p:spPr bwMode="auto">
            <a:xfrm>
              <a:off x="7988982" y="5010150"/>
              <a:ext cx="1174217" cy="1301819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Loaded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from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the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executable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file</a:t>
              </a:r>
            </a:p>
          </p:txBody>
        </p:sp>
      </p:grpSp>
      <p:sp>
        <p:nvSpPr>
          <p:cNvPr id="26" name="标题 1"/>
          <p:cNvSpPr>
            <a:spLocks noGrp="1"/>
          </p:cNvSpPr>
          <p:nvPr>
            <p:ph type="title"/>
          </p:nvPr>
        </p:nvSpPr>
        <p:spPr>
          <a:xfrm>
            <a:off x="457200" y="104141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/>
              <a:t>Dynamic allocation on heap</a:t>
            </a:r>
            <a:endParaRPr kumimoji="1"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91440" y="1242160"/>
            <a:ext cx="46837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>
                <a:solidFill>
                  <a:srgbClr val="FF0066"/>
                </a:solidFill>
                <a:latin typeface="Arial"/>
                <a:cs typeface="Arial"/>
              </a:rPr>
              <a:t>Question: How to allocate memory </a:t>
            </a:r>
          </a:p>
          <a:p>
            <a:r>
              <a:rPr kumimoji="1" lang="en-US" altLang="zh-CN" sz="2000">
                <a:solidFill>
                  <a:srgbClr val="FF0066"/>
                </a:solidFill>
                <a:latin typeface="Arial"/>
                <a:cs typeface="Arial"/>
              </a:rPr>
              <a:t>on heap? </a:t>
            </a:r>
          </a:p>
        </p:txBody>
      </p:sp>
      <p:sp>
        <p:nvSpPr>
          <p:cNvPr id="24" name="矩形 23"/>
          <p:cNvSpPr/>
          <p:nvPr/>
        </p:nvSpPr>
        <p:spPr>
          <a:xfrm>
            <a:off x="162561" y="2133540"/>
            <a:ext cx="43281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>
                <a:solidFill>
                  <a:srgbClr val="000000"/>
                </a:solidFill>
                <a:latin typeface="Arial"/>
                <a:cs typeface="Arial"/>
              </a:rPr>
              <a:t>Ask OS for allocation on the heap</a:t>
            </a:r>
          </a:p>
          <a:p>
            <a:r>
              <a:rPr kumimoji="1" lang="en-US" altLang="zh-CN" sz="2000">
                <a:solidFill>
                  <a:srgbClr val="000000"/>
                </a:solidFill>
                <a:latin typeface="Arial"/>
                <a:cs typeface="Arial"/>
              </a:rPr>
              <a:t>via </a:t>
            </a:r>
            <a:r>
              <a:rPr kumimoji="1" lang="en-US" altLang="zh-CN" sz="2000">
                <a:solidFill>
                  <a:srgbClr val="3366FF"/>
                </a:solidFill>
                <a:latin typeface="Arial"/>
                <a:cs typeface="Arial"/>
              </a:rPr>
              <a:t>system calls</a:t>
            </a:r>
          </a:p>
        </p:txBody>
      </p:sp>
      <p:sp>
        <p:nvSpPr>
          <p:cNvPr id="2" name="矩形 1"/>
          <p:cNvSpPr/>
          <p:nvPr/>
        </p:nvSpPr>
        <p:spPr>
          <a:xfrm>
            <a:off x="162561" y="3210560"/>
            <a:ext cx="3484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</a:rPr>
              <a:t>void *</a:t>
            </a:r>
            <a:r>
              <a:rPr lang="en-US" altLang="zh-CN" err="1">
                <a:latin typeface="Consolas"/>
                <a:cs typeface="Consolas"/>
              </a:rPr>
              <a:t>sbrk</a:t>
            </a:r>
            <a:r>
              <a:rPr lang="en-US" altLang="zh-CN">
                <a:latin typeface="Consolas"/>
                <a:cs typeface="Consolas"/>
              </a:rPr>
              <a:t>(</a:t>
            </a:r>
            <a:r>
              <a:rPr lang="en-US" altLang="zh-CN" err="1">
                <a:latin typeface="Consolas"/>
                <a:cs typeface="Consolas"/>
              </a:rPr>
              <a:t>intptr_t</a:t>
            </a:r>
            <a:r>
              <a:rPr lang="en-US" altLang="zh-CN">
                <a:latin typeface="Consolas"/>
                <a:cs typeface="Consolas"/>
              </a:rPr>
              <a:t> size);</a:t>
            </a:r>
          </a:p>
        </p:txBody>
      </p:sp>
      <p:sp>
        <p:nvSpPr>
          <p:cNvPr id="42" name="矩形 41"/>
          <p:cNvSpPr/>
          <p:nvPr/>
        </p:nvSpPr>
        <p:spPr>
          <a:xfrm>
            <a:off x="0" y="3828833"/>
            <a:ext cx="48324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600">
                <a:solidFill>
                  <a:srgbClr val="000000"/>
                </a:solidFill>
                <a:latin typeface="Arial"/>
                <a:cs typeface="Arial"/>
              </a:rPr>
              <a:t>It increases the top of heap by “size” and returns </a:t>
            </a:r>
          </a:p>
          <a:p>
            <a:r>
              <a:rPr kumimoji="1" lang="en-US" altLang="zh-CN" sz="1600">
                <a:solidFill>
                  <a:srgbClr val="000000"/>
                </a:solidFill>
                <a:latin typeface="Arial"/>
                <a:cs typeface="Arial"/>
              </a:rPr>
              <a:t>a pointer to the base of new storage. The “size” </a:t>
            </a:r>
          </a:p>
          <a:p>
            <a:r>
              <a:rPr kumimoji="1" lang="en-US" altLang="zh-CN" sz="1600">
                <a:solidFill>
                  <a:srgbClr val="000000"/>
                </a:solidFill>
                <a:latin typeface="Arial"/>
                <a:cs typeface="Arial"/>
              </a:rPr>
              <a:t>can be a negative number. </a:t>
            </a:r>
          </a:p>
        </p:txBody>
      </p:sp>
      <p:sp>
        <p:nvSpPr>
          <p:cNvPr id="28" name="矩形 27"/>
          <p:cNvSpPr/>
          <p:nvPr/>
        </p:nvSpPr>
        <p:spPr>
          <a:xfrm>
            <a:off x="0" y="4850208"/>
            <a:ext cx="3638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latin typeface="Consolas"/>
                <a:cs typeface="Consolas"/>
              </a:rPr>
              <a:t>p = </a:t>
            </a:r>
            <a:r>
              <a:rPr kumimoji="1" lang="en-US" altLang="zh-CN" err="1">
                <a:latin typeface="Consolas"/>
                <a:cs typeface="Consolas"/>
              </a:rPr>
              <a:t>sbrk</a:t>
            </a:r>
            <a:r>
              <a:rPr kumimoji="1" lang="en-US" altLang="zh-CN">
                <a:latin typeface="Consolas"/>
                <a:cs typeface="Consolas"/>
              </a:rPr>
              <a:t>(1024) //</a:t>
            </a:r>
            <a:r>
              <a:rPr kumimoji="1" lang="en-US" altLang="zh-CN">
                <a:latin typeface="Arial"/>
                <a:cs typeface="Arial"/>
              </a:rPr>
              <a:t>allocate 1KB</a:t>
            </a: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4992305" y="3942260"/>
            <a:ext cx="2789237" cy="410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chemeClr val="bg1"/>
                </a:solidFill>
                <a:latin typeface="Arial"/>
                <a:ea typeface="msgothic" charset="0"/>
                <a:cs typeface="Arial"/>
              </a:rPr>
              <a:t>1KB</a:t>
            </a:r>
          </a:p>
        </p:txBody>
      </p:sp>
      <p:sp>
        <p:nvSpPr>
          <p:cNvPr id="31" name="矩形 30"/>
          <p:cNvSpPr/>
          <p:nvPr/>
        </p:nvSpPr>
        <p:spPr>
          <a:xfrm>
            <a:off x="8710" y="5257480"/>
            <a:ext cx="2551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err="1">
                <a:latin typeface="Consolas"/>
                <a:cs typeface="Consolas"/>
              </a:rPr>
              <a:t>sbrk</a:t>
            </a:r>
            <a:r>
              <a:rPr kumimoji="1" lang="en-US" altLang="zh-CN">
                <a:latin typeface="Consolas"/>
                <a:cs typeface="Consolas"/>
              </a:rPr>
              <a:t>(-1024) //</a:t>
            </a:r>
            <a:r>
              <a:rPr kumimoji="1" lang="en-US" altLang="zh-CN">
                <a:latin typeface="Arial"/>
                <a:cs typeface="Arial"/>
              </a:rPr>
              <a:t>free p</a:t>
            </a:r>
          </a:p>
        </p:txBody>
      </p:sp>
    </p:spTree>
    <p:extLst>
      <p:ext uri="{BB962C8B-B14F-4D97-AF65-F5344CB8AC3E}">
        <p14:creationId xmlns:p14="http://schemas.microsoft.com/office/powerpoint/2010/main" val="1534978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>
          <a:xfrm>
            <a:off x="457200" y="104141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/>
              <a:t>Dynamic allocation on heap</a:t>
            </a:r>
            <a:endParaRPr kumimoji="1"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91440" y="1242160"/>
            <a:ext cx="46837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>
                <a:solidFill>
                  <a:srgbClr val="FF0066"/>
                </a:solidFill>
                <a:latin typeface="Arial"/>
                <a:cs typeface="Arial"/>
              </a:rPr>
              <a:t>Question: How to allocate memory </a:t>
            </a:r>
          </a:p>
          <a:p>
            <a:r>
              <a:rPr kumimoji="1" lang="en-US" altLang="zh-CN" sz="2000">
                <a:solidFill>
                  <a:srgbClr val="FF0066"/>
                </a:solidFill>
                <a:latin typeface="Arial"/>
                <a:cs typeface="Arial"/>
              </a:rPr>
              <a:t>on heap? </a:t>
            </a:r>
          </a:p>
        </p:txBody>
      </p:sp>
      <p:sp>
        <p:nvSpPr>
          <p:cNvPr id="24" name="矩形 23"/>
          <p:cNvSpPr/>
          <p:nvPr/>
        </p:nvSpPr>
        <p:spPr>
          <a:xfrm>
            <a:off x="162561" y="2133540"/>
            <a:ext cx="43281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>
                <a:solidFill>
                  <a:srgbClr val="000000"/>
                </a:solidFill>
                <a:latin typeface="Arial"/>
                <a:cs typeface="Arial"/>
              </a:rPr>
              <a:t>Ask OS for allocation on the heap</a:t>
            </a:r>
          </a:p>
          <a:p>
            <a:r>
              <a:rPr kumimoji="1" lang="en-US" altLang="zh-CN" sz="2000">
                <a:solidFill>
                  <a:srgbClr val="000000"/>
                </a:solidFill>
                <a:latin typeface="Arial"/>
                <a:cs typeface="Arial"/>
              </a:rPr>
              <a:t>via </a:t>
            </a:r>
            <a:r>
              <a:rPr kumimoji="1" lang="en-US" altLang="zh-CN" sz="2000">
                <a:solidFill>
                  <a:srgbClr val="3366FF"/>
                </a:solidFill>
                <a:latin typeface="Arial"/>
                <a:cs typeface="Arial"/>
              </a:rPr>
              <a:t>system calls</a:t>
            </a:r>
          </a:p>
        </p:txBody>
      </p:sp>
      <p:sp>
        <p:nvSpPr>
          <p:cNvPr id="2" name="矩形 1"/>
          <p:cNvSpPr/>
          <p:nvPr/>
        </p:nvSpPr>
        <p:spPr>
          <a:xfrm>
            <a:off x="162561" y="3210560"/>
            <a:ext cx="3484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</a:rPr>
              <a:t>void *</a:t>
            </a:r>
            <a:r>
              <a:rPr lang="en-US" altLang="zh-CN" err="1">
                <a:latin typeface="Consolas"/>
                <a:cs typeface="Consolas"/>
              </a:rPr>
              <a:t>sbrk</a:t>
            </a:r>
            <a:r>
              <a:rPr lang="en-US" altLang="zh-CN">
                <a:latin typeface="Consolas"/>
                <a:cs typeface="Consolas"/>
              </a:rPr>
              <a:t>(</a:t>
            </a:r>
            <a:r>
              <a:rPr lang="en-US" altLang="zh-CN" err="1">
                <a:latin typeface="Consolas"/>
                <a:cs typeface="Consolas"/>
              </a:rPr>
              <a:t>intptr_t</a:t>
            </a:r>
            <a:r>
              <a:rPr lang="en-US" altLang="zh-CN">
                <a:latin typeface="Consolas"/>
                <a:cs typeface="Consolas"/>
              </a:rPr>
              <a:t> size);</a:t>
            </a:r>
          </a:p>
        </p:txBody>
      </p:sp>
      <p:sp>
        <p:nvSpPr>
          <p:cNvPr id="42" name="矩形 41"/>
          <p:cNvSpPr/>
          <p:nvPr/>
        </p:nvSpPr>
        <p:spPr>
          <a:xfrm>
            <a:off x="0" y="3828833"/>
            <a:ext cx="48324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>
                <a:solidFill>
                  <a:srgbClr val="FF0000"/>
                </a:solidFill>
                <a:latin typeface="Arial"/>
                <a:cs typeface="Arial"/>
              </a:rPr>
              <a:t>Issue I </a:t>
            </a:r>
            <a:r>
              <a:rPr kumimoji="1" lang="mr-IN" altLang="zh-CN" sz="2000">
                <a:solidFill>
                  <a:srgbClr val="FF0000"/>
                </a:solidFill>
                <a:latin typeface="Arial"/>
                <a:cs typeface="Arial"/>
              </a:rPr>
              <a:t>–</a:t>
            </a:r>
            <a:r>
              <a:rPr kumimoji="1" lang="en-US" altLang="zh-CN" sz="2000">
                <a:solidFill>
                  <a:srgbClr val="FF0000"/>
                </a:solidFill>
                <a:latin typeface="Arial"/>
                <a:cs typeface="Arial"/>
              </a:rPr>
              <a:t> can only free the memory </a:t>
            </a:r>
          </a:p>
          <a:p>
            <a:r>
              <a:rPr kumimoji="1" lang="en-US" altLang="zh-CN" sz="2000">
                <a:solidFill>
                  <a:srgbClr val="FF0000"/>
                </a:solidFill>
                <a:latin typeface="Arial"/>
                <a:cs typeface="Arial"/>
              </a:rPr>
              <a:t>on the top of heap </a:t>
            </a:r>
          </a:p>
        </p:txBody>
      </p:sp>
      <p:sp>
        <p:nvSpPr>
          <p:cNvPr id="28" name="矩形 27"/>
          <p:cNvSpPr/>
          <p:nvPr/>
        </p:nvSpPr>
        <p:spPr>
          <a:xfrm>
            <a:off x="0" y="4850208"/>
            <a:ext cx="376516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latin typeface="Consolas"/>
                <a:cs typeface="Consolas"/>
              </a:rPr>
              <a:t>p1 = </a:t>
            </a:r>
            <a:r>
              <a:rPr kumimoji="1" lang="en-US" altLang="zh-CN" err="1">
                <a:latin typeface="Consolas"/>
                <a:cs typeface="Consolas"/>
              </a:rPr>
              <a:t>sbrk</a:t>
            </a:r>
            <a:r>
              <a:rPr kumimoji="1" lang="en-US" altLang="zh-CN">
                <a:latin typeface="Consolas"/>
                <a:cs typeface="Consolas"/>
              </a:rPr>
              <a:t>(1024) //</a:t>
            </a:r>
            <a:r>
              <a:rPr kumimoji="1" lang="en-US" altLang="zh-CN">
                <a:latin typeface="Arial"/>
                <a:cs typeface="Arial"/>
              </a:rPr>
              <a:t>allocate 1KB</a:t>
            </a:r>
          </a:p>
          <a:p>
            <a:r>
              <a:rPr kumimoji="1" lang="en-US" altLang="zh-CN">
                <a:latin typeface="Consolas"/>
                <a:cs typeface="Consolas"/>
              </a:rPr>
              <a:t>p2 = </a:t>
            </a:r>
            <a:r>
              <a:rPr kumimoji="1" lang="en-US" altLang="zh-CN" err="1">
                <a:latin typeface="Consolas"/>
                <a:cs typeface="Consolas"/>
              </a:rPr>
              <a:t>sbrk</a:t>
            </a:r>
            <a:r>
              <a:rPr kumimoji="1" lang="en-US" altLang="zh-CN">
                <a:latin typeface="Consolas"/>
                <a:cs typeface="Consolas"/>
              </a:rPr>
              <a:t>(4096) //</a:t>
            </a:r>
            <a:r>
              <a:rPr kumimoji="1" lang="en-US" altLang="zh-CN">
                <a:latin typeface="Arial"/>
                <a:cs typeface="Arial"/>
              </a:rPr>
              <a:t>allocate 4KB</a:t>
            </a:r>
          </a:p>
          <a:p>
            <a:endParaRPr kumimoji="1" lang="en-US" altLang="zh-CN">
              <a:latin typeface="Arial"/>
              <a:cs typeface="Arial"/>
            </a:endParaRPr>
          </a:p>
          <a:p>
            <a:r>
              <a:rPr kumimoji="1" lang="en-US" altLang="zh-CN">
                <a:latin typeface="Arial"/>
                <a:cs typeface="Arial"/>
              </a:rPr>
              <a:t>How to free p1?</a:t>
            </a:r>
          </a:p>
        </p:txBody>
      </p:sp>
      <p:grpSp>
        <p:nvGrpSpPr>
          <p:cNvPr id="30" name="组 29"/>
          <p:cNvGrpSpPr/>
          <p:nvPr/>
        </p:nvGrpSpPr>
        <p:grpSpPr>
          <a:xfrm>
            <a:off x="4998661" y="1719263"/>
            <a:ext cx="4164538" cy="4990570"/>
            <a:chOff x="4998661" y="1719263"/>
            <a:chExt cx="4164538" cy="4990570"/>
          </a:xfrm>
        </p:grpSpPr>
        <p:sp>
          <p:nvSpPr>
            <p:cNvPr id="32" name="Rectangle 15"/>
            <p:cNvSpPr>
              <a:spLocks noChangeArrowheads="1"/>
            </p:cNvSpPr>
            <p:nvPr/>
          </p:nvSpPr>
          <p:spPr bwMode="auto">
            <a:xfrm>
              <a:off x="4998661" y="3027680"/>
              <a:ext cx="2789237" cy="423228"/>
            </a:xfrm>
            <a:prstGeom prst="rect">
              <a:avLst/>
            </a:prstGeom>
            <a:solidFill>
              <a:schemeClr val="accent3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Shared libraries</a:t>
              </a:r>
            </a:p>
          </p:txBody>
        </p:sp>
        <p:sp>
          <p:nvSpPr>
            <p:cNvPr id="33" name="Rectangle 16"/>
            <p:cNvSpPr>
              <a:spLocks noChangeArrowheads="1"/>
            </p:cNvSpPr>
            <p:nvPr/>
          </p:nvSpPr>
          <p:spPr bwMode="auto">
            <a:xfrm>
              <a:off x="4998661" y="3450908"/>
              <a:ext cx="2789237" cy="9020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34" name="Rectangle 17"/>
            <p:cNvSpPr>
              <a:spLocks noChangeArrowheads="1"/>
            </p:cNvSpPr>
            <p:nvPr/>
          </p:nvSpPr>
          <p:spPr bwMode="auto">
            <a:xfrm>
              <a:off x="4998662" y="4023395"/>
              <a:ext cx="2789237" cy="669925"/>
            </a:xfrm>
            <a:prstGeom prst="rect">
              <a:avLst/>
            </a:prstGeom>
            <a:solidFill>
              <a:schemeClr val="accent1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chemeClr val="bg1"/>
                  </a:solidFill>
                  <a:latin typeface="Arial"/>
                  <a:ea typeface="msgothic" charset="0"/>
                  <a:cs typeface="Arial"/>
                </a:rPr>
                <a:t>4KB</a:t>
              </a:r>
            </a:p>
          </p:txBody>
        </p:sp>
        <p:sp>
          <p:nvSpPr>
            <p:cNvPr id="35" name="Rectangle 18"/>
            <p:cNvSpPr>
              <a:spLocks noChangeArrowheads="1"/>
            </p:cNvSpPr>
            <p:nvPr/>
          </p:nvSpPr>
          <p:spPr bwMode="auto">
            <a:xfrm>
              <a:off x="4998661" y="2054225"/>
              <a:ext cx="2789237" cy="97345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36" name="Line 19"/>
            <p:cNvSpPr>
              <a:spLocks noChangeShapeType="1"/>
            </p:cNvSpPr>
            <p:nvPr/>
          </p:nvSpPr>
          <p:spPr bwMode="auto">
            <a:xfrm flipV="1">
              <a:off x="6388782" y="3636745"/>
              <a:ext cx="1588" cy="384175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37" name="Rectangle 20"/>
            <p:cNvSpPr>
              <a:spLocks noChangeArrowheads="1"/>
            </p:cNvSpPr>
            <p:nvPr/>
          </p:nvSpPr>
          <p:spPr bwMode="auto">
            <a:xfrm>
              <a:off x="4998661" y="1719263"/>
              <a:ext cx="2789237" cy="563562"/>
            </a:xfrm>
            <a:prstGeom prst="rect">
              <a:avLst/>
            </a:prstGeom>
            <a:solidFill>
              <a:schemeClr val="accent1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User stack</a:t>
              </a:r>
            </a:p>
          </p:txBody>
        </p:sp>
        <p:sp>
          <p:nvSpPr>
            <p:cNvPr id="38" name="Line 22"/>
            <p:cNvSpPr>
              <a:spLocks noChangeShapeType="1"/>
            </p:cNvSpPr>
            <p:nvPr/>
          </p:nvSpPr>
          <p:spPr bwMode="auto">
            <a:xfrm>
              <a:off x="6388782" y="2282825"/>
              <a:ext cx="1588" cy="228600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39" name="Rectangle 23"/>
            <p:cNvSpPr>
              <a:spLocks noChangeArrowheads="1"/>
            </p:cNvSpPr>
            <p:nvPr/>
          </p:nvSpPr>
          <p:spPr bwMode="auto">
            <a:xfrm>
              <a:off x="4998661" y="6312958"/>
              <a:ext cx="2789238" cy="39687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Unused</a:t>
              </a:r>
            </a:p>
          </p:txBody>
        </p:sp>
        <p:sp>
          <p:nvSpPr>
            <p:cNvPr id="40" name="Text Box 25"/>
            <p:cNvSpPr txBox="1">
              <a:spLocks noChangeArrowheads="1"/>
            </p:cNvSpPr>
            <p:nvPr/>
          </p:nvSpPr>
          <p:spPr bwMode="auto">
            <a:xfrm>
              <a:off x="8146053" y="2108200"/>
              <a:ext cx="877461" cy="8093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%</a:t>
              </a:r>
              <a:r>
                <a:rPr lang="en-GB" sz="1600" err="1">
                  <a:latin typeface="Arial"/>
                  <a:ea typeface="msgothic" charset="0"/>
                  <a:cs typeface="Arial"/>
                </a:rPr>
                <a:t>rsp</a:t>
              </a:r>
              <a:r>
                <a:rPr lang="en-GB" sz="1600">
                  <a:latin typeface="Arial"/>
                  <a:ea typeface="msgothic" charset="0"/>
                  <a:cs typeface="Arial"/>
                </a:rPr>
                <a:t>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(stack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pointer)</a:t>
              </a:r>
            </a:p>
          </p:txBody>
        </p:sp>
        <p:sp>
          <p:nvSpPr>
            <p:cNvPr id="41" name="Line 26"/>
            <p:cNvSpPr>
              <a:spLocks noChangeShapeType="1"/>
            </p:cNvSpPr>
            <p:nvPr/>
          </p:nvSpPr>
          <p:spPr bwMode="auto">
            <a:xfrm flipH="1">
              <a:off x="7839666" y="2279650"/>
              <a:ext cx="384175" cy="1588"/>
            </a:xfrm>
            <a:prstGeom prst="line">
              <a:avLst/>
            </a:prstGeom>
            <a:noFill/>
            <a:ln w="3240">
              <a:solidFill>
                <a:srgbClr val="000066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45" name="Text Box 29"/>
            <p:cNvSpPr txBox="1">
              <a:spLocks noChangeArrowheads="1"/>
            </p:cNvSpPr>
            <p:nvPr/>
          </p:nvSpPr>
          <p:spPr bwMode="auto">
            <a:xfrm>
              <a:off x="8200119" y="3856708"/>
              <a:ext cx="476710" cy="32842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brk</a:t>
              </a:r>
            </a:p>
          </p:txBody>
        </p:sp>
        <p:sp>
          <p:nvSpPr>
            <p:cNvPr id="46" name="Line 30"/>
            <p:cNvSpPr>
              <a:spLocks noChangeShapeType="1"/>
            </p:cNvSpPr>
            <p:nvPr/>
          </p:nvSpPr>
          <p:spPr bwMode="auto">
            <a:xfrm flipH="1">
              <a:off x="7815943" y="4023395"/>
              <a:ext cx="384175" cy="0"/>
            </a:xfrm>
            <a:prstGeom prst="line">
              <a:avLst/>
            </a:prstGeom>
            <a:noFill/>
            <a:ln w="3240">
              <a:solidFill>
                <a:srgbClr val="000066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47" name="Rectangle 34"/>
            <p:cNvSpPr>
              <a:spLocks noChangeArrowheads="1"/>
            </p:cNvSpPr>
            <p:nvPr/>
          </p:nvSpPr>
          <p:spPr bwMode="auto">
            <a:xfrm>
              <a:off x="4998661" y="5017558"/>
              <a:ext cx="2789238" cy="669925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Read/write segment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(.data, .</a:t>
              </a:r>
              <a:r>
                <a:rPr lang="en-GB" sz="1600" err="1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bss</a:t>
              </a: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)</a:t>
              </a:r>
            </a:p>
          </p:txBody>
        </p:sp>
        <p:sp>
          <p:nvSpPr>
            <p:cNvPr id="48" name="Rectangle 35"/>
            <p:cNvSpPr>
              <a:spLocks noChangeArrowheads="1"/>
            </p:cNvSpPr>
            <p:nvPr/>
          </p:nvSpPr>
          <p:spPr bwMode="auto">
            <a:xfrm>
              <a:off x="4998661" y="5643033"/>
              <a:ext cx="2789238" cy="66992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Read-only segment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(.init, .text, .</a:t>
              </a:r>
              <a:r>
                <a:rPr lang="en-GB" sz="1600" err="1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rodata</a:t>
              </a: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)</a:t>
              </a:r>
            </a:p>
          </p:txBody>
        </p:sp>
        <p:sp>
          <p:nvSpPr>
            <p:cNvPr id="49" name="AutoShape 36"/>
            <p:cNvSpPr>
              <a:spLocks/>
            </p:cNvSpPr>
            <p:nvPr/>
          </p:nvSpPr>
          <p:spPr bwMode="auto">
            <a:xfrm>
              <a:off x="7836582" y="5026025"/>
              <a:ext cx="76200" cy="1295400"/>
            </a:xfrm>
            <a:prstGeom prst="rightBrace">
              <a:avLst>
                <a:gd name="adj1" fmla="val 141667"/>
                <a:gd name="adj2" fmla="val 50000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50" name="Text Box 37"/>
            <p:cNvSpPr txBox="1">
              <a:spLocks noChangeArrowheads="1"/>
            </p:cNvSpPr>
            <p:nvPr/>
          </p:nvSpPr>
          <p:spPr bwMode="auto">
            <a:xfrm>
              <a:off x="7988982" y="5010150"/>
              <a:ext cx="1174217" cy="1301819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Loaded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from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the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executable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file</a:t>
              </a:r>
            </a:p>
          </p:txBody>
        </p:sp>
      </p:grpSp>
      <p:sp>
        <p:nvSpPr>
          <p:cNvPr id="52" name="Rectangle 17"/>
          <p:cNvSpPr>
            <a:spLocks noChangeArrowheads="1"/>
          </p:cNvSpPr>
          <p:nvPr/>
        </p:nvSpPr>
        <p:spPr bwMode="auto">
          <a:xfrm>
            <a:off x="4994163" y="4652080"/>
            <a:ext cx="2789237" cy="343247"/>
          </a:xfrm>
          <a:prstGeom prst="rect">
            <a:avLst/>
          </a:prstGeom>
          <a:solidFill>
            <a:schemeClr val="accent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solidFill>
                  <a:schemeClr val="bg1"/>
                </a:solidFill>
                <a:latin typeface="Arial"/>
                <a:ea typeface="msgothic" charset="0"/>
                <a:cs typeface="Arial"/>
              </a:rPr>
              <a:t>1KB</a:t>
            </a:r>
          </a:p>
        </p:txBody>
      </p:sp>
    </p:spTree>
    <p:extLst>
      <p:ext uri="{BB962C8B-B14F-4D97-AF65-F5344CB8AC3E}">
        <p14:creationId xmlns:p14="http://schemas.microsoft.com/office/powerpoint/2010/main" val="839904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>
          <a:xfrm>
            <a:off x="457200" y="104141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/>
              <a:t>Dynamic allocation on heap</a:t>
            </a:r>
            <a:endParaRPr kumimoji="1"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91440" y="1242160"/>
            <a:ext cx="46837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>
                <a:solidFill>
                  <a:srgbClr val="FF0066"/>
                </a:solidFill>
                <a:latin typeface="Arial"/>
                <a:cs typeface="Arial"/>
              </a:rPr>
              <a:t>Question: How to allocate memory </a:t>
            </a:r>
          </a:p>
          <a:p>
            <a:r>
              <a:rPr kumimoji="1" lang="en-US" altLang="zh-CN" sz="2000">
                <a:solidFill>
                  <a:srgbClr val="FF0066"/>
                </a:solidFill>
                <a:latin typeface="Arial"/>
                <a:cs typeface="Arial"/>
              </a:rPr>
              <a:t>on heap? </a:t>
            </a:r>
          </a:p>
        </p:txBody>
      </p:sp>
      <p:sp>
        <p:nvSpPr>
          <p:cNvPr id="24" name="矩形 23"/>
          <p:cNvSpPr/>
          <p:nvPr/>
        </p:nvSpPr>
        <p:spPr>
          <a:xfrm>
            <a:off x="162561" y="2133540"/>
            <a:ext cx="43281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>
                <a:solidFill>
                  <a:srgbClr val="000000"/>
                </a:solidFill>
                <a:latin typeface="Arial"/>
                <a:cs typeface="Arial"/>
              </a:rPr>
              <a:t>Ask OS for allocation on the heap</a:t>
            </a:r>
          </a:p>
          <a:p>
            <a:r>
              <a:rPr kumimoji="1" lang="en-US" altLang="zh-CN" sz="2000">
                <a:solidFill>
                  <a:srgbClr val="000000"/>
                </a:solidFill>
                <a:latin typeface="Arial"/>
                <a:cs typeface="Arial"/>
              </a:rPr>
              <a:t>via </a:t>
            </a:r>
            <a:r>
              <a:rPr kumimoji="1" lang="en-US" altLang="zh-CN" sz="2000">
                <a:solidFill>
                  <a:srgbClr val="3366FF"/>
                </a:solidFill>
                <a:latin typeface="Arial"/>
                <a:cs typeface="Arial"/>
              </a:rPr>
              <a:t>system calls</a:t>
            </a:r>
          </a:p>
        </p:txBody>
      </p:sp>
      <p:sp>
        <p:nvSpPr>
          <p:cNvPr id="2" name="矩形 1"/>
          <p:cNvSpPr/>
          <p:nvPr/>
        </p:nvSpPr>
        <p:spPr>
          <a:xfrm>
            <a:off x="162561" y="3210560"/>
            <a:ext cx="3484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nsolas"/>
                <a:cs typeface="Consolas"/>
              </a:rPr>
              <a:t>void *</a:t>
            </a:r>
            <a:r>
              <a:rPr lang="en-US" altLang="zh-CN" err="1">
                <a:latin typeface="Consolas"/>
                <a:cs typeface="Consolas"/>
              </a:rPr>
              <a:t>sbrk</a:t>
            </a:r>
            <a:r>
              <a:rPr lang="en-US" altLang="zh-CN">
                <a:latin typeface="Consolas"/>
                <a:cs typeface="Consolas"/>
              </a:rPr>
              <a:t>(</a:t>
            </a:r>
            <a:r>
              <a:rPr lang="en-US" altLang="zh-CN" err="1">
                <a:latin typeface="Consolas"/>
                <a:cs typeface="Consolas"/>
              </a:rPr>
              <a:t>intptr_t</a:t>
            </a:r>
            <a:r>
              <a:rPr lang="en-US" altLang="zh-CN">
                <a:latin typeface="Consolas"/>
                <a:cs typeface="Consolas"/>
              </a:rPr>
              <a:t> size);</a:t>
            </a:r>
          </a:p>
        </p:txBody>
      </p:sp>
      <p:sp>
        <p:nvSpPr>
          <p:cNvPr id="42" name="矩形 41"/>
          <p:cNvSpPr/>
          <p:nvPr/>
        </p:nvSpPr>
        <p:spPr>
          <a:xfrm>
            <a:off x="0" y="3828833"/>
            <a:ext cx="483247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>
                <a:solidFill>
                  <a:srgbClr val="FF0000"/>
                </a:solidFill>
                <a:latin typeface="Arial"/>
                <a:cs typeface="Arial"/>
              </a:rPr>
              <a:t>Issue I </a:t>
            </a:r>
            <a:r>
              <a:rPr kumimoji="1" lang="mr-IN" altLang="zh-CN" sz="2000">
                <a:solidFill>
                  <a:srgbClr val="FF0000"/>
                </a:solidFill>
                <a:latin typeface="Arial"/>
                <a:cs typeface="Arial"/>
              </a:rPr>
              <a:t>–</a:t>
            </a:r>
            <a:r>
              <a:rPr kumimoji="1" lang="en-US" altLang="zh-CN" sz="2000">
                <a:solidFill>
                  <a:srgbClr val="FF0000"/>
                </a:solidFill>
                <a:latin typeface="Arial"/>
                <a:cs typeface="Arial"/>
              </a:rPr>
              <a:t> can only free the memory </a:t>
            </a:r>
          </a:p>
          <a:p>
            <a:r>
              <a:rPr kumimoji="1" lang="en-US" altLang="zh-CN" sz="2000">
                <a:solidFill>
                  <a:srgbClr val="FF0000"/>
                </a:solidFill>
                <a:latin typeface="Arial"/>
                <a:cs typeface="Arial"/>
              </a:rPr>
              <a:t>on the top of heap </a:t>
            </a:r>
          </a:p>
          <a:p>
            <a:endParaRPr kumimoji="1" lang="en-US" altLang="zh-CN" sz="2000">
              <a:solidFill>
                <a:srgbClr val="FF0000"/>
              </a:solidFill>
              <a:latin typeface="Arial"/>
              <a:cs typeface="Arial"/>
            </a:endParaRPr>
          </a:p>
          <a:p>
            <a:r>
              <a:rPr kumimoji="1" lang="en-US" altLang="zh-CN" sz="2000">
                <a:solidFill>
                  <a:srgbClr val="FF0000"/>
                </a:solidFill>
                <a:latin typeface="Arial"/>
                <a:cs typeface="Arial"/>
              </a:rPr>
              <a:t>Issue II </a:t>
            </a:r>
            <a:r>
              <a:rPr kumimoji="1" lang="mr-IN" altLang="zh-CN" sz="2000">
                <a:solidFill>
                  <a:srgbClr val="FF0000"/>
                </a:solidFill>
                <a:latin typeface="Arial"/>
                <a:cs typeface="Arial"/>
              </a:rPr>
              <a:t>–</a:t>
            </a:r>
            <a:r>
              <a:rPr kumimoji="1" lang="en-US" altLang="zh-CN" sz="2000">
                <a:solidFill>
                  <a:srgbClr val="FF0000"/>
                </a:solidFill>
                <a:latin typeface="Arial"/>
                <a:cs typeface="Arial"/>
              </a:rPr>
              <a:t> system call has high performance cost &gt; 10X</a:t>
            </a:r>
          </a:p>
          <a:p>
            <a:endParaRPr kumimoji="1" lang="en-US" altLang="zh-CN" sz="2000">
              <a:solidFill>
                <a:srgbClr val="FF0000"/>
              </a:solidFill>
              <a:latin typeface="Arial"/>
              <a:cs typeface="Arial"/>
            </a:endParaRPr>
          </a:p>
        </p:txBody>
      </p:sp>
      <p:grpSp>
        <p:nvGrpSpPr>
          <p:cNvPr id="30" name="组 29"/>
          <p:cNvGrpSpPr/>
          <p:nvPr/>
        </p:nvGrpSpPr>
        <p:grpSpPr>
          <a:xfrm>
            <a:off x="4998661" y="1719263"/>
            <a:ext cx="4164538" cy="4990570"/>
            <a:chOff x="4998661" y="1719263"/>
            <a:chExt cx="4164538" cy="4990570"/>
          </a:xfrm>
        </p:grpSpPr>
        <p:sp>
          <p:nvSpPr>
            <p:cNvPr id="32" name="Rectangle 15"/>
            <p:cNvSpPr>
              <a:spLocks noChangeArrowheads="1"/>
            </p:cNvSpPr>
            <p:nvPr/>
          </p:nvSpPr>
          <p:spPr bwMode="auto">
            <a:xfrm>
              <a:off x="4998661" y="3027680"/>
              <a:ext cx="2789237" cy="423228"/>
            </a:xfrm>
            <a:prstGeom prst="rect">
              <a:avLst/>
            </a:prstGeom>
            <a:solidFill>
              <a:schemeClr val="accent3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Shared libraries</a:t>
              </a:r>
            </a:p>
          </p:txBody>
        </p:sp>
        <p:sp>
          <p:nvSpPr>
            <p:cNvPr id="33" name="Rectangle 16"/>
            <p:cNvSpPr>
              <a:spLocks noChangeArrowheads="1"/>
            </p:cNvSpPr>
            <p:nvPr/>
          </p:nvSpPr>
          <p:spPr bwMode="auto">
            <a:xfrm>
              <a:off x="4998661" y="3450908"/>
              <a:ext cx="2789237" cy="9020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34" name="Rectangle 17"/>
            <p:cNvSpPr>
              <a:spLocks noChangeArrowheads="1"/>
            </p:cNvSpPr>
            <p:nvPr/>
          </p:nvSpPr>
          <p:spPr bwMode="auto">
            <a:xfrm>
              <a:off x="4998662" y="4350808"/>
              <a:ext cx="2789237" cy="669925"/>
            </a:xfrm>
            <a:prstGeom prst="rect">
              <a:avLst/>
            </a:prstGeom>
            <a:solidFill>
              <a:schemeClr val="accent1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chemeClr val="bg1"/>
                  </a:solidFill>
                  <a:latin typeface="Arial"/>
                  <a:ea typeface="msgothic" charset="0"/>
                  <a:cs typeface="Arial"/>
                </a:rPr>
                <a:t>Runtime heap</a:t>
              </a:r>
            </a:p>
          </p:txBody>
        </p:sp>
        <p:sp>
          <p:nvSpPr>
            <p:cNvPr id="35" name="Rectangle 18"/>
            <p:cNvSpPr>
              <a:spLocks noChangeArrowheads="1"/>
            </p:cNvSpPr>
            <p:nvPr/>
          </p:nvSpPr>
          <p:spPr bwMode="auto">
            <a:xfrm>
              <a:off x="4998661" y="2054225"/>
              <a:ext cx="2789237" cy="97345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36" name="Line 19"/>
            <p:cNvSpPr>
              <a:spLocks noChangeShapeType="1"/>
            </p:cNvSpPr>
            <p:nvPr/>
          </p:nvSpPr>
          <p:spPr bwMode="auto">
            <a:xfrm flipV="1">
              <a:off x="6388782" y="3957638"/>
              <a:ext cx="1588" cy="384175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37" name="Rectangle 20"/>
            <p:cNvSpPr>
              <a:spLocks noChangeArrowheads="1"/>
            </p:cNvSpPr>
            <p:nvPr/>
          </p:nvSpPr>
          <p:spPr bwMode="auto">
            <a:xfrm>
              <a:off x="4998661" y="1719263"/>
              <a:ext cx="2789237" cy="563562"/>
            </a:xfrm>
            <a:prstGeom prst="rect">
              <a:avLst/>
            </a:prstGeom>
            <a:solidFill>
              <a:schemeClr val="accent1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User stack</a:t>
              </a:r>
            </a:p>
          </p:txBody>
        </p:sp>
        <p:sp>
          <p:nvSpPr>
            <p:cNvPr id="38" name="Line 22"/>
            <p:cNvSpPr>
              <a:spLocks noChangeShapeType="1"/>
            </p:cNvSpPr>
            <p:nvPr/>
          </p:nvSpPr>
          <p:spPr bwMode="auto">
            <a:xfrm>
              <a:off x="6388782" y="2282825"/>
              <a:ext cx="1588" cy="228600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39" name="Rectangle 23"/>
            <p:cNvSpPr>
              <a:spLocks noChangeArrowheads="1"/>
            </p:cNvSpPr>
            <p:nvPr/>
          </p:nvSpPr>
          <p:spPr bwMode="auto">
            <a:xfrm>
              <a:off x="4998661" y="6312958"/>
              <a:ext cx="2789238" cy="39687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Unused</a:t>
              </a:r>
            </a:p>
          </p:txBody>
        </p:sp>
        <p:sp>
          <p:nvSpPr>
            <p:cNvPr id="40" name="Text Box 25"/>
            <p:cNvSpPr txBox="1">
              <a:spLocks noChangeArrowheads="1"/>
            </p:cNvSpPr>
            <p:nvPr/>
          </p:nvSpPr>
          <p:spPr bwMode="auto">
            <a:xfrm>
              <a:off x="8146053" y="2108200"/>
              <a:ext cx="877461" cy="80937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%</a:t>
              </a:r>
              <a:r>
                <a:rPr lang="en-GB" sz="1600" err="1">
                  <a:latin typeface="Arial"/>
                  <a:ea typeface="msgothic" charset="0"/>
                  <a:cs typeface="Arial"/>
                </a:rPr>
                <a:t>rsp</a:t>
              </a:r>
              <a:r>
                <a:rPr lang="en-GB" sz="1600">
                  <a:latin typeface="Arial"/>
                  <a:ea typeface="msgothic" charset="0"/>
                  <a:cs typeface="Arial"/>
                </a:rPr>
                <a:t>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(stack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pointer)</a:t>
              </a:r>
            </a:p>
          </p:txBody>
        </p:sp>
        <p:sp>
          <p:nvSpPr>
            <p:cNvPr id="41" name="Line 26"/>
            <p:cNvSpPr>
              <a:spLocks noChangeShapeType="1"/>
            </p:cNvSpPr>
            <p:nvPr/>
          </p:nvSpPr>
          <p:spPr bwMode="auto">
            <a:xfrm flipH="1">
              <a:off x="7839666" y="2279650"/>
              <a:ext cx="384175" cy="1588"/>
            </a:xfrm>
            <a:prstGeom prst="line">
              <a:avLst/>
            </a:prstGeom>
            <a:noFill/>
            <a:ln w="3240">
              <a:solidFill>
                <a:srgbClr val="000066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45" name="Text Box 29"/>
            <p:cNvSpPr txBox="1">
              <a:spLocks noChangeArrowheads="1"/>
            </p:cNvSpPr>
            <p:nvPr/>
          </p:nvSpPr>
          <p:spPr bwMode="auto">
            <a:xfrm>
              <a:off x="8200120" y="4173538"/>
              <a:ext cx="476710" cy="32842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brk</a:t>
              </a:r>
            </a:p>
          </p:txBody>
        </p:sp>
        <p:sp>
          <p:nvSpPr>
            <p:cNvPr id="46" name="Line 30"/>
            <p:cNvSpPr>
              <a:spLocks noChangeShapeType="1"/>
            </p:cNvSpPr>
            <p:nvPr/>
          </p:nvSpPr>
          <p:spPr bwMode="auto">
            <a:xfrm flipH="1">
              <a:off x="7815945" y="4340225"/>
              <a:ext cx="384175" cy="1588"/>
            </a:xfrm>
            <a:prstGeom prst="line">
              <a:avLst/>
            </a:prstGeom>
            <a:noFill/>
            <a:ln w="3240">
              <a:solidFill>
                <a:srgbClr val="000066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47" name="Rectangle 34"/>
            <p:cNvSpPr>
              <a:spLocks noChangeArrowheads="1"/>
            </p:cNvSpPr>
            <p:nvPr/>
          </p:nvSpPr>
          <p:spPr bwMode="auto">
            <a:xfrm>
              <a:off x="4998661" y="5017558"/>
              <a:ext cx="2789238" cy="669925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Read/write segment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(.data, .</a:t>
              </a:r>
              <a:r>
                <a:rPr lang="en-GB" sz="1600" err="1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bss</a:t>
              </a: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)</a:t>
              </a:r>
            </a:p>
          </p:txBody>
        </p:sp>
        <p:sp>
          <p:nvSpPr>
            <p:cNvPr id="48" name="Rectangle 35"/>
            <p:cNvSpPr>
              <a:spLocks noChangeArrowheads="1"/>
            </p:cNvSpPr>
            <p:nvPr/>
          </p:nvSpPr>
          <p:spPr bwMode="auto">
            <a:xfrm>
              <a:off x="4998661" y="5643033"/>
              <a:ext cx="2789238" cy="66992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Read-only segment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(.init, .text, .</a:t>
              </a:r>
              <a:r>
                <a:rPr lang="en-GB" sz="1600" err="1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rodata</a:t>
              </a:r>
              <a:r>
                <a:rPr lang="en-GB" sz="1600">
                  <a:solidFill>
                    <a:srgbClr val="000000"/>
                  </a:solidFill>
                  <a:latin typeface="Arial"/>
                  <a:ea typeface="msgothic" charset="0"/>
                  <a:cs typeface="Arial"/>
                </a:rPr>
                <a:t>)</a:t>
              </a:r>
            </a:p>
          </p:txBody>
        </p:sp>
        <p:sp>
          <p:nvSpPr>
            <p:cNvPr id="49" name="AutoShape 36"/>
            <p:cNvSpPr>
              <a:spLocks/>
            </p:cNvSpPr>
            <p:nvPr/>
          </p:nvSpPr>
          <p:spPr bwMode="auto">
            <a:xfrm>
              <a:off x="7836582" y="5026025"/>
              <a:ext cx="76200" cy="1295400"/>
            </a:xfrm>
            <a:prstGeom prst="rightBrace">
              <a:avLst>
                <a:gd name="adj1" fmla="val 141667"/>
                <a:gd name="adj2" fmla="val 50000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sp>
          <p:nvSpPr>
            <p:cNvPr id="50" name="Text Box 37"/>
            <p:cNvSpPr txBox="1">
              <a:spLocks noChangeArrowheads="1"/>
            </p:cNvSpPr>
            <p:nvPr/>
          </p:nvSpPr>
          <p:spPr bwMode="auto">
            <a:xfrm>
              <a:off x="7988982" y="5010150"/>
              <a:ext cx="1174217" cy="1301819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Loaded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from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the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executable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Arial"/>
                  <a:ea typeface="msgothic" charset="0"/>
                  <a:cs typeface="Arial"/>
                </a:rPr>
                <a:t>file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7771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>
          <a:xfrm>
            <a:off x="457200" y="104141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/>
              <a:t>Dynamic allocation on heap</a:t>
            </a:r>
            <a:endParaRPr kumimoji="1"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62561" y="2133540"/>
            <a:ext cx="432816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>
                <a:solidFill>
                  <a:srgbClr val="000000"/>
                </a:solidFill>
                <a:latin typeface="Arial"/>
                <a:cs typeface="Arial"/>
              </a:rPr>
              <a:t>Basic idea: user program asks a large memory region from OS once, then manages this memory region by itself (using a “</a:t>
            </a:r>
            <a:r>
              <a:rPr kumimoji="1" lang="en-US" altLang="zh-CN" sz="2000" err="1">
                <a:solidFill>
                  <a:srgbClr val="000000"/>
                </a:solidFill>
                <a:latin typeface="Arial"/>
                <a:cs typeface="Arial"/>
              </a:rPr>
              <a:t>malloc</a:t>
            </a:r>
            <a:r>
              <a:rPr kumimoji="1" lang="en-US" altLang="zh-CN" sz="2000">
                <a:solidFill>
                  <a:srgbClr val="000000"/>
                </a:solidFill>
                <a:latin typeface="Arial"/>
                <a:cs typeface="Arial"/>
              </a:rPr>
              <a:t>” library)</a:t>
            </a:r>
            <a:endParaRPr kumimoji="1" lang="en-US" altLang="zh-CN" sz="2000">
              <a:solidFill>
                <a:srgbClr val="000000"/>
              </a:solidFill>
              <a:latin typeface="Arial"/>
              <a:cs typeface="Arial"/>
              <a:sym typeface="Wingdings"/>
            </a:endParaRPr>
          </a:p>
          <a:p>
            <a:endParaRPr kumimoji="1" lang="en-US" altLang="zh-CN" sz="2000">
              <a:solidFill>
                <a:srgbClr val="000000"/>
              </a:solidFill>
              <a:latin typeface="Arial"/>
              <a:cs typeface="Arial"/>
              <a:sym typeface="Wingdings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1440" y="1242160"/>
            <a:ext cx="46837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>
                <a:solidFill>
                  <a:srgbClr val="FF0066"/>
                </a:solidFill>
                <a:latin typeface="Arial"/>
                <a:cs typeface="Arial"/>
              </a:rPr>
              <a:t>Question: How to effciently allocate memory on heap? </a:t>
            </a:r>
          </a:p>
        </p:txBody>
      </p:sp>
      <p:sp>
        <p:nvSpPr>
          <p:cNvPr id="42" name="矩形 53"/>
          <p:cNvSpPr/>
          <p:nvPr/>
        </p:nvSpPr>
        <p:spPr>
          <a:xfrm>
            <a:off x="7356792" y="2078080"/>
            <a:ext cx="865786" cy="137889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81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latin typeface="Arial"/>
                <a:cs typeface="Arial"/>
              </a:rPr>
              <a:t>User program</a:t>
            </a:r>
            <a:endParaRPr kumimoji="1" lang="zh-CN" altLang="en-US" sz="1200" b="1">
              <a:latin typeface="Arial"/>
              <a:cs typeface="Arial"/>
            </a:endParaRPr>
          </a:p>
        </p:txBody>
      </p:sp>
      <p:sp>
        <p:nvSpPr>
          <p:cNvPr id="54" name="矩形 54"/>
          <p:cNvSpPr/>
          <p:nvPr/>
        </p:nvSpPr>
        <p:spPr>
          <a:xfrm>
            <a:off x="6385198" y="2094379"/>
            <a:ext cx="865786" cy="137889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81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latin typeface="Arial"/>
                <a:cs typeface="Arial"/>
              </a:rPr>
              <a:t>User program</a:t>
            </a:r>
            <a:endParaRPr kumimoji="1" lang="zh-CN" altLang="en-US" sz="1200" b="1">
              <a:latin typeface="Arial"/>
              <a:cs typeface="Arial"/>
            </a:endParaRPr>
          </a:p>
        </p:txBody>
      </p:sp>
      <p:sp>
        <p:nvSpPr>
          <p:cNvPr id="55" name="矩形 55"/>
          <p:cNvSpPr/>
          <p:nvPr/>
        </p:nvSpPr>
        <p:spPr>
          <a:xfrm>
            <a:off x="5427302" y="2098347"/>
            <a:ext cx="865786" cy="137889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81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latin typeface="Arial"/>
                <a:cs typeface="Arial"/>
              </a:rPr>
              <a:t>User program</a:t>
            </a:r>
            <a:endParaRPr kumimoji="1" lang="zh-CN" altLang="en-US" sz="1200" b="1">
              <a:latin typeface="Arial"/>
              <a:cs typeface="Arial"/>
            </a:endParaRPr>
          </a:p>
        </p:txBody>
      </p:sp>
      <p:sp>
        <p:nvSpPr>
          <p:cNvPr id="56" name="矩形 56"/>
          <p:cNvSpPr/>
          <p:nvPr/>
        </p:nvSpPr>
        <p:spPr>
          <a:xfrm>
            <a:off x="4464415" y="2098508"/>
            <a:ext cx="865786" cy="137889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81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latin typeface="Arial"/>
                <a:cs typeface="Arial"/>
              </a:rPr>
              <a:t>User program</a:t>
            </a:r>
            <a:endParaRPr kumimoji="1" lang="zh-CN" altLang="en-US" sz="1200" b="1">
              <a:latin typeface="Arial"/>
              <a:cs typeface="Arial"/>
            </a:endParaRPr>
          </a:p>
        </p:txBody>
      </p:sp>
      <p:sp>
        <p:nvSpPr>
          <p:cNvPr id="57" name="矩形 57"/>
          <p:cNvSpPr/>
          <p:nvPr/>
        </p:nvSpPr>
        <p:spPr>
          <a:xfrm>
            <a:off x="4490721" y="4821280"/>
            <a:ext cx="3830984" cy="609664"/>
          </a:xfrm>
          <a:prstGeom prst="rect">
            <a:avLst/>
          </a:prstGeom>
          <a:solidFill>
            <a:schemeClr val="accent2"/>
          </a:solidFill>
          <a:ln w="381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latin typeface="Arial"/>
                <a:cs typeface="Arial"/>
              </a:rPr>
              <a:t>Operating System</a:t>
            </a:r>
            <a:endParaRPr kumimoji="1" lang="zh-CN" altLang="en-US" sz="1200" b="1">
              <a:latin typeface="Arial"/>
              <a:cs typeface="Arial"/>
            </a:endParaRPr>
          </a:p>
        </p:txBody>
      </p:sp>
      <p:cxnSp>
        <p:nvCxnSpPr>
          <p:cNvPr id="58" name="直线箭头连接符 58"/>
          <p:cNvCxnSpPr/>
          <p:nvPr/>
        </p:nvCxnSpPr>
        <p:spPr>
          <a:xfrm flipV="1">
            <a:off x="4781518" y="3425729"/>
            <a:ext cx="0" cy="552884"/>
          </a:xfrm>
          <a:prstGeom prst="straightConnector1">
            <a:avLst/>
          </a:prstGeom>
          <a:ln w="38100" cmpd="sng">
            <a:solidFill>
              <a:srgbClr val="4F81BD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9" name="矩形 63"/>
          <p:cNvSpPr/>
          <p:nvPr/>
        </p:nvSpPr>
        <p:spPr>
          <a:xfrm>
            <a:off x="4476719" y="3978613"/>
            <a:ext cx="1680241" cy="252436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>
                <a:latin typeface="Arial"/>
                <a:cs typeface="Arial"/>
              </a:rPr>
              <a:t>C standard library</a:t>
            </a:r>
            <a:endParaRPr kumimoji="1" lang="zh-CN" altLang="en-US" sz="1200" b="1">
              <a:latin typeface="Arial"/>
              <a:cs typeface="Arial"/>
            </a:endParaRPr>
          </a:p>
        </p:txBody>
      </p:sp>
      <p:cxnSp>
        <p:nvCxnSpPr>
          <p:cNvPr id="61" name="直线箭头连接符 70"/>
          <p:cNvCxnSpPr/>
          <p:nvPr/>
        </p:nvCxnSpPr>
        <p:spPr>
          <a:xfrm flipH="1" flipV="1">
            <a:off x="4779248" y="4136539"/>
            <a:ext cx="2270" cy="684741"/>
          </a:xfrm>
          <a:prstGeom prst="straightConnector1">
            <a:avLst/>
          </a:prstGeom>
          <a:ln w="38100" cmpd="sng">
            <a:solidFill>
              <a:schemeClr val="accent2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2" name="直线箭头连接符 71"/>
          <p:cNvCxnSpPr/>
          <p:nvPr/>
        </p:nvCxnSpPr>
        <p:spPr>
          <a:xfrm flipV="1">
            <a:off x="5716238" y="3450890"/>
            <a:ext cx="0" cy="552884"/>
          </a:xfrm>
          <a:prstGeom prst="straightConnector1">
            <a:avLst/>
          </a:prstGeom>
          <a:ln w="38100" cmpd="sng">
            <a:solidFill>
              <a:srgbClr val="4F81BD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4" name="直线箭头连接符 73"/>
          <p:cNvCxnSpPr/>
          <p:nvPr/>
        </p:nvCxnSpPr>
        <p:spPr>
          <a:xfrm flipH="1" flipV="1">
            <a:off x="5713968" y="4161700"/>
            <a:ext cx="2270" cy="659580"/>
          </a:xfrm>
          <a:prstGeom prst="straightConnector1">
            <a:avLst/>
          </a:prstGeom>
          <a:ln w="38100" cmpd="sng">
            <a:solidFill>
              <a:schemeClr val="accent2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5" name="直线箭头连接符 74"/>
          <p:cNvCxnSpPr/>
          <p:nvPr/>
        </p:nvCxnSpPr>
        <p:spPr>
          <a:xfrm flipV="1">
            <a:off x="6722078" y="3440730"/>
            <a:ext cx="0" cy="552884"/>
          </a:xfrm>
          <a:prstGeom prst="straightConnector1">
            <a:avLst/>
          </a:prstGeom>
          <a:ln w="38100" cmpd="sng">
            <a:solidFill>
              <a:srgbClr val="4F81BD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7" name="直线箭头连接符 76"/>
          <p:cNvCxnSpPr/>
          <p:nvPr/>
        </p:nvCxnSpPr>
        <p:spPr>
          <a:xfrm flipV="1">
            <a:off x="6722078" y="4337817"/>
            <a:ext cx="0" cy="483464"/>
          </a:xfrm>
          <a:prstGeom prst="straightConnector1">
            <a:avLst/>
          </a:prstGeom>
          <a:ln w="38100" cmpd="sng">
            <a:solidFill>
              <a:schemeClr val="accent2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8" name="直线箭头连接符 77"/>
          <p:cNvCxnSpPr/>
          <p:nvPr/>
        </p:nvCxnSpPr>
        <p:spPr>
          <a:xfrm flipV="1">
            <a:off x="7569065" y="3450890"/>
            <a:ext cx="0" cy="552884"/>
          </a:xfrm>
          <a:prstGeom prst="straightConnector1">
            <a:avLst/>
          </a:prstGeom>
          <a:ln w="38100" cmpd="sng">
            <a:solidFill>
              <a:srgbClr val="4F81BD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0" name="直线箭头连接符 79"/>
          <p:cNvCxnSpPr/>
          <p:nvPr/>
        </p:nvCxnSpPr>
        <p:spPr>
          <a:xfrm flipH="1" flipV="1">
            <a:off x="7566795" y="4337817"/>
            <a:ext cx="2270" cy="483463"/>
          </a:xfrm>
          <a:prstGeom prst="straightConnector1">
            <a:avLst/>
          </a:prstGeom>
          <a:ln w="38100" cmpd="sng">
            <a:solidFill>
              <a:schemeClr val="accent2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393440" y="3530688"/>
            <a:ext cx="1274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solidFill>
                  <a:schemeClr val="accent1"/>
                </a:solidFill>
              </a:rPr>
              <a:t>malloc</a:t>
            </a:r>
            <a:r>
              <a:rPr lang="en-US">
                <a:solidFill>
                  <a:schemeClr val="accent1"/>
                </a:solidFill>
              </a:rPr>
              <a:t>/free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82204" y="4337817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solidFill>
                  <a:srgbClr val="FF0000"/>
                </a:solidFill>
              </a:rPr>
              <a:t>sbrk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2" name="矩形 63"/>
          <p:cNvSpPr/>
          <p:nvPr/>
        </p:nvSpPr>
        <p:spPr>
          <a:xfrm>
            <a:off x="6293088" y="3974713"/>
            <a:ext cx="1063705" cy="363104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err="1">
                <a:latin typeface="Arial"/>
                <a:cs typeface="Arial"/>
              </a:rPr>
              <a:t>tcmalloc</a:t>
            </a:r>
            <a:r>
              <a:rPr kumimoji="1" lang="en-US" altLang="zh-CN" sz="1200" b="1">
                <a:latin typeface="Arial"/>
                <a:cs typeface="Arial"/>
              </a:rPr>
              <a:t> </a:t>
            </a:r>
          </a:p>
          <a:p>
            <a:pPr algn="ctr"/>
            <a:r>
              <a:rPr kumimoji="1" lang="en-US" altLang="zh-CN" sz="1200" b="1">
                <a:latin typeface="Arial"/>
                <a:cs typeface="Arial"/>
              </a:rPr>
              <a:t>(by Google)</a:t>
            </a:r>
            <a:endParaRPr kumimoji="1" lang="zh-CN" altLang="en-US" sz="1200" b="1">
              <a:latin typeface="Arial"/>
              <a:cs typeface="Arial"/>
            </a:endParaRPr>
          </a:p>
        </p:txBody>
      </p:sp>
      <p:sp>
        <p:nvSpPr>
          <p:cNvPr id="73" name="矩形 63"/>
          <p:cNvSpPr/>
          <p:nvPr/>
        </p:nvSpPr>
        <p:spPr>
          <a:xfrm>
            <a:off x="7431008" y="3954987"/>
            <a:ext cx="1063705" cy="363104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rial"/>
                <a:cs typeface="Arial"/>
              </a:rPr>
              <a:t>your malloc</a:t>
            </a:r>
          </a:p>
          <a:p>
            <a:pPr algn="ctr"/>
            <a:r>
              <a:rPr kumimoji="1" lang="en-US" altLang="zh-CN" sz="1200" b="1" dirty="0">
                <a:latin typeface="Arial"/>
                <a:cs typeface="Arial"/>
              </a:rPr>
              <a:t>(lab4)</a:t>
            </a:r>
            <a:endParaRPr kumimoji="1" lang="zh-CN" altLang="en-US" sz="12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8710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71120" y="274638"/>
            <a:ext cx="9286240" cy="1143000"/>
          </a:xfrm>
        </p:spPr>
        <p:txBody>
          <a:bodyPr>
            <a:normAutofit/>
          </a:bodyPr>
          <a:lstStyle/>
          <a:p>
            <a:r>
              <a:rPr kumimoji="1" lang="en-US" altLang="zh-CN" sz="3200"/>
              <a:t>How to implement a memory allocator?</a:t>
            </a:r>
            <a:endParaRPr kumimoji="1"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54720" cy="4525963"/>
          </a:xfrm>
        </p:spPr>
        <p:txBody>
          <a:bodyPr/>
          <a:lstStyle/>
          <a:p>
            <a:pPr marL="514350" indent="-457200"/>
            <a:r>
              <a:rPr kumimoji="1" lang="en-US" altLang="zh-CN"/>
              <a:t>API:</a:t>
            </a:r>
          </a:p>
          <a:p>
            <a:pPr lvl="1"/>
            <a:r>
              <a:rPr kumimoji="1" lang="en-US" altLang="zh-CN"/>
              <a:t>void* </a:t>
            </a:r>
            <a:r>
              <a:rPr kumimoji="1" lang="en-US" altLang="zh-CN" err="1"/>
              <a:t>malloc</a:t>
            </a:r>
            <a:r>
              <a:rPr kumimoji="1" lang="en-US" altLang="zh-CN"/>
              <a:t>(</a:t>
            </a:r>
            <a:r>
              <a:rPr kumimoji="1" lang="en-US" altLang="zh-CN" err="1"/>
              <a:t>size_t</a:t>
            </a:r>
            <a:r>
              <a:rPr kumimoji="1" lang="en-US" altLang="zh-CN"/>
              <a:t> size);</a:t>
            </a:r>
          </a:p>
          <a:p>
            <a:pPr lvl="1"/>
            <a:r>
              <a:rPr kumimoji="1" lang="en-US" altLang="zh-CN"/>
              <a:t>void free(void *</a:t>
            </a:r>
            <a:r>
              <a:rPr kumimoji="1" lang="en-US" altLang="zh-CN" err="1"/>
              <a:t>ptr</a:t>
            </a:r>
            <a:r>
              <a:rPr kumimoji="1" lang="en-US" altLang="zh-CN"/>
              <a:t>);</a:t>
            </a:r>
          </a:p>
          <a:p>
            <a:r>
              <a:rPr kumimoji="1" lang="en-US" altLang="zh-CN"/>
              <a:t>Goal:</a:t>
            </a:r>
          </a:p>
          <a:p>
            <a:pPr lvl="1"/>
            <a:r>
              <a:rPr kumimoji="1" lang="en-US" altLang="zh-CN"/>
              <a:t>Efficiently utilize acquired memory with high throughput</a:t>
            </a:r>
          </a:p>
          <a:p>
            <a:pPr lvl="2"/>
            <a:r>
              <a:rPr kumimoji="1" lang="en-US" altLang="zh-CN"/>
              <a:t>high throughput </a:t>
            </a:r>
            <a:r>
              <a:rPr kumimoji="1" lang="mr-IN" altLang="zh-CN"/>
              <a:t>–</a:t>
            </a:r>
            <a:r>
              <a:rPr kumimoji="1" lang="en-US" altLang="zh-CN"/>
              <a:t>  how many </a:t>
            </a:r>
            <a:r>
              <a:rPr kumimoji="1" lang="en-US" altLang="zh-CN" err="1"/>
              <a:t>mallocs</a:t>
            </a:r>
            <a:r>
              <a:rPr kumimoji="1" lang="en-US" altLang="zh-CN"/>
              <a:t> / frees can be done per second</a:t>
            </a:r>
          </a:p>
          <a:p>
            <a:pPr lvl="2"/>
            <a:r>
              <a:rPr kumimoji="1" lang="en-US" altLang="zh-CN"/>
              <a:t>high utilization </a:t>
            </a:r>
            <a:r>
              <a:rPr kumimoji="1" lang="mr-IN" altLang="zh-CN"/>
              <a:t>–</a:t>
            </a:r>
            <a:r>
              <a:rPr kumimoji="1" lang="en-US" altLang="zh-CN"/>
              <a:t> fraction of allocated size / total heap size</a:t>
            </a:r>
          </a:p>
        </p:txBody>
      </p:sp>
    </p:spTree>
    <p:extLst>
      <p:ext uri="{BB962C8B-B14F-4D97-AF65-F5344CB8AC3E}">
        <p14:creationId xmlns:p14="http://schemas.microsoft.com/office/powerpoint/2010/main" val="1159504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71120" y="274638"/>
            <a:ext cx="9133840" cy="1143000"/>
          </a:xfrm>
        </p:spPr>
        <p:txBody>
          <a:bodyPr>
            <a:normAutofit/>
          </a:bodyPr>
          <a:lstStyle/>
          <a:p>
            <a:r>
              <a:rPr kumimoji="1" lang="en-US" altLang="zh-CN" sz="3200"/>
              <a:t>How to implement a memory allocator?</a:t>
            </a:r>
            <a:endParaRPr kumimoji="1"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605520" cy="4525963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Assumptions on application behavior:</a:t>
            </a:r>
          </a:p>
          <a:p>
            <a:pPr lvl="1"/>
            <a:r>
              <a:rPr kumimoji="1" lang="en-US" altLang="zh-CN" dirty="0"/>
              <a:t>Use APIs correctly</a:t>
            </a:r>
          </a:p>
          <a:p>
            <a:pPr lvl="2"/>
            <a:r>
              <a:rPr kumimoji="1" lang="en-US" altLang="zh-CN" dirty="0"/>
              <a:t>free(p): p must be the return value of a previous malloc</a:t>
            </a:r>
          </a:p>
          <a:p>
            <a:pPr lvl="2"/>
            <a:r>
              <a:rPr kumimoji="1" lang="en-US" altLang="zh-CN" dirty="0"/>
              <a:t>No double free</a:t>
            </a:r>
          </a:p>
          <a:p>
            <a:pPr lvl="1"/>
            <a:r>
              <a:rPr kumimoji="1" lang="en-US" altLang="zh-CN" dirty="0"/>
              <a:t>Use APIs freely</a:t>
            </a:r>
          </a:p>
          <a:p>
            <a:pPr lvl="2"/>
            <a:r>
              <a:rPr kumimoji="1" lang="en-US" altLang="zh-CN" dirty="0"/>
              <a:t>Can issue an arbitrary sequence of malloc/free</a:t>
            </a:r>
          </a:p>
          <a:p>
            <a:pPr marL="457200" lvl="1" indent="0">
              <a:buNone/>
            </a:pPr>
            <a:endParaRPr kumimoji="1" lang="en-US" altLang="zh-CN" dirty="0">
              <a:latin typeface="Consolas"/>
              <a:cs typeface="Consolas"/>
            </a:endParaRPr>
          </a:p>
          <a:p>
            <a:r>
              <a:rPr kumimoji="1" lang="en-US" altLang="zh-CN" dirty="0"/>
              <a:t>Restrictions on the allocator:</a:t>
            </a:r>
          </a:p>
          <a:p>
            <a:pPr lvl="1"/>
            <a:r>
              <a:rPr kumimoji="1" lang="en-US" altLang="zh-CN" dirty="0"/>
              <a:t>Once allocated, space cannot be moved around</a:t>
            </a:r>
          </a:p>
          <a:p>
            <a:pPr lvl="1"/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22657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Questions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(Basic book-keeping) How to keep track which bytes are free and which are not? </a:t>
            </a:r>
          </a:p>
          <a:p>
            <a:pPr marL="514350" indent="-514350">
              <a:buAutoNum type="arabicPeriod"/>
            </a:pPr>
            <a:endParaRPr kumimoji="1" lang="en-US" altLang="zh-CN" dirty="0"/>
          </a:p>
          <a:p>
            <a:r>
              <a:rPr kumimoji="1" lang="en-US" altLang="zh-CN" dirty="0"/>
              <a:t>(Allocation decision) Which free chunk to allocate? </a:t>
            </a:r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(API restriction)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free(p)</a:t>
            </a:r>
            <a:r>
              <a:rPr kumimoji="1" lang="en-US" altLang="zh-CN" dirty="0"/>
              <a:t>is only given a pointer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kumimoji="1" lang="en-US" altLang="zh-CN" dirty="0"/>
              <a:t>, how to find out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kumimoji="1" lang="en-US" altLang="zh-CN" dirty="0"/>
              <a:t>’s allocated size?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3447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How to bookkeep? </a:t>
            </a:r>
            <a:r>
              <a:rPr lang="en-US" err="1"/>
              <a:t>Strawman</a:t>
            </a:r>
            <a:r>
              <a:rPr lang="en-US"/>
              <a:t>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7479"/>
            <a:ext cx="8595360" cy="538480"/>
          </a:xfrm>
        </p:spPr>
        <p:txBody>
          <a:bodyPr>
            <a:normAutofit/>
          </a:bodyPr>
          <a:lstStyle/>
          <a:p>
            <a:r>
              <a:rPr lang="en-US" dirty="0"/>
              <a:t>Organize heap as n 1KB chunks + n metadata bits</a:t>
            </a:r>
          </a:p>
        </p:txBody>
      </p:sp>
      <p:sp>
        <p:nvSpPr>
          <p:cNvPr id="4" name="矩形 37"/>
          <p:cNvSpPr/>
          <p:nvPr/>
        </p:nvSpPr>
        <p:spPr>
          <a:xfrm>
            <a:off x="1356360" y="2091174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矩形 37"/>
          <p:cNvSpPr/>
          <p:nvPr/>
        </p:nvSpPr>
        <p:spPr>
          <a:xfrm>
            <a:off x="7086600" y="2075656"/>
            <a:ext cx="27432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0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9" name="矩形 37"/>
          <p:cNvSpPr/>
          <p:nvPr/>
        </p:nvSpPr>
        <p:spPr>
          <a:xfrm>
            <a:off x="7376160" y="2075656"/>
            <a:ext cx="27432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0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矩形 37"/>
          <p:cNvSpPr/>
          <p:nvPr/>
        </p:nvSpPr>
        <p:spPr>
          <a:xfrm>
            <a:off x="7650480" y="2075656"/>
            <a:ext cx="27432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0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矩形 37"/>
          <p:cNvSpPr/>
          <p:nvPr/>
        </p:nvSpPr>
        <p:spPr>
          <a:xfrm>
            <a:off x="7924800" y="2075656"/>
            <a:ext cx="27432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0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" name="矩形 37"/>
          <p:cNvSpPr/>
          <p:nvPr/>
        </p:nvSpPr>
        <p:spPr>
          <a:xfrm>
            <a:off x="8183880" y="2075482"/>
            <a:ext cx="274320" cy="291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0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81508" y="3142734"/>
            <a:ext cx="7909538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Consolas"/>
                <a:cs typeface="Consolas"/>
              </a:rPr>
              <a:t>#define CHUNKSIZE 1&lt;&lt;10;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typedef char[CHUNKSIZE] chunk;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char *bitmap;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chunk *chunks;</a:t>
            </a:r>
          </a:p>
          <a:p>
            <a:r>
              <a:rPr kumimoji="1" lang="en-US" altLang="zh-CN" dirty="0" err="1">
                <a:latin typeface="Consolas"/>
                <a:cs typeface="Consolas"/>
              </a:rPr>
              <a:t>size_t</a:t>
            </a:r>
            <a:r>
              <a:rPr kumimoji="1" lang="en-US" altLang="zh-CN" dirty="0">
                <a:latin typeface="Consolas"/>
                <a:cs typeface="Consolas"/>
              </a:rPr>
              <a:t> </a:t>
            </a:r>
            <a:r>
              <a:rPr kumimoji="1" lang="en-US" altLang="zh-CN" dirty="0" err="1">
                <a:latin typeface="Consolas"/>
                <a:cs typeface="Consolas"/>
              </a:rPr>
              <a:t>n_chunks</a:t>
            </a:r>
            <a:r>
              <a:rPr kumimoji="1" lang="en-US" altLang="zh-CN" dirty="0">
                <a:latin typeface="Consolas"/>
                <a:cs typeface="Consolas"/>
              </a:rPr>
              <a:t>;</a:t>
            </a:r>
          </a:p>
          <a:p>
            <a:endParaRPr kumimoji="1" lang="en-US" altLang="zh-CN" dirty="0">
              <a:latin typeface="Consolas"/>
              <a:cs typeface="Consolas"/>
            </a:endParaRPr>
          </a:p>
          <a:p>
            <a:r>
              <a:rPr kumimoji="1" lang="en-US" altLang="zh-CN" dirty="0">
                <a:latin typeface="Consolas"/>
                <a:cs typeface="Consolas"/>
              </a:rPr>
              <a:t>void </a:t>
            </a:r>
            <a:r>
              <a:rPr kumimoji="1" lang="en-US" altLang="zh-CN" dirty="0" err="1">
                <a:latin typeface="Consolas"/>
                <a:cs typeface="Consolas"/>
              </a:rPr>
              <a:t>init</a:t>
            </a:r>
            <a:r>
              <a:rPr kumimoji="1" lang="en-US" altLang="zh-CN" dirty="0">
                <a:latin typeface="Consolas"/>
                <a:cs typeface="Consolas"/>
              </a:rPr>
              <a:t>() {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  </a:t>
            </a:r>
            <a:r>
              <a:rPr kumimoji="1" lang="en-US" altLang="zh-CN" dirty="0" err="1">
                <a:latin typeface="Consolas"/>
                <a:cs typeface="Consolas"/>
              </a:rPr>
              <a:t>n_chunks</a:t>
            </a:r>
            <a:r>
              <a:rPr kumimoji="1" lang="en-US" altLang="zh-CN" dirty="0">
                <a:latin typeface="Consolas"/>
                <a:cs typeface="Consolas"/>
              </a:rPr>
              <a:t> = 128;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  chunks = (chunk *)</a:t>
            </a:r>
            <a:r>
              <a:rPr kumimoji="1" lang="en-US" altLang="zh-CN" dirty="0" err="1">
                <a:latin typeface="Consolas"/>
                <a:cs typeface="Consolas"/>
              </a:rPr>
              <a:t>sbrk</a:t>
            </a:r>
            <a:r>
              <a:rPr kumimoji="1" lang="en-US" altLang="zh-CN" dirty="0">
                <a:latin typeface="Consolas"/>
                <a:cs typeface="Consolas"/>
              </a:rPr>
              <a:t>(</a:t>
            </a:r>
            <a:r>
              <a:rPr kumimoji="1" lang="en-US" altLang="zh-CN" dirty="0" err="1">
                <a:latin typeface="Consolas"/>
                <a:cs typeface="Consolas"/>
              </a:rPr>
              <a:t>n_chunks</a:t>
            </a:r>
            <a:r>
              <a:rPr kumimoji="1" lang="en-US" altLang="zh-CN" dirty="0">
                <a:latin typeface="Consolas"/>
                <a:cs typeface="Consolas"/>
              </a:rPr>
              <a:t>*</a:t>
            </a:r>
            <a:r>
              <a:rPr kumimoji="1" lang="en-US" altLang="zh-CN" dirty="0" err="1">
                <a:latin typeface="Consolas"/>
                <a:cs typeface="Consolas"/>
              </a:rPr>
              <a:t>sizeof</a:t>
            </a:r>
            <a:r>
              <a:rPr kumimoji="1" lang="en-US" altLang="zh-CN" dirty="0">
                <a:latin typeface="Consolas"/>
                <a:cs typeface="Consolas"/>
              </a:rPr>
              <a:t>(chunk)+ </a:t>
            </a:r>
            <a:r>
              <a:rPr kumimoji="1" lang="en-US" altLang="zh-CN" dirty="0" err="1">
                <a:latin typeface="Consolas"/>
                <a:cs typeface="Consolas"/>
              </a:rPr>
              <a:t>n_chunks</a:t>
            </a:r>
            <a:r>
              <a:rPr kumimoji="1" lang="en-US" altLang="zh-CN" dirty="0">
                <a:latin typeface="Consolas"/>
                <a:cs typeface="Consolas"/>
              </a:rPr>
              <a:t>/8);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  bitmap = (char *)chunks + </a:t>
            </a:r>
            <a:r>
              <a:rPr kumimoji="1" lang="en-US" altLang="zh-CN" dirty="0" err="1">
                <a:latin typeface="Consolas"/>
                <a:cs typeface="Consolas"/>
              </a:rPr>
              <a:t>n_chunks</a:t>
            </a:r>
            <a:r>
              <a:rPr kumimoji="1" lang="en-US" altLang="zh-CN" dirty="0">
                <a:latin typeface="Consolas"/>
                <a:cs typeface="Consolas"/>
              </a:rPr>
              <a:t> *CHUNKSIZE;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}</a:t>
            </a:r>
            <a:endParaRPr lang="zh-CN" altLang="en-US" dirty="0">
              <a:latin typeface="Consolas"/>
              <a:cs typeface="Consolas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6334760" y="2467094"/>
            <a:ext cx="0" cy="336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101560" y="2803882"/>
            <a:ext cx="852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bitmap</a:t>
            </a:r>
          </a:p>
        </p:txBody>
      </p:sp>
      <p:sp>
        <p:nvSpPr>
          <p:cNvPr id="35" name="矩形 37"/>
          <p:cNvSpPr/>
          <p:nvPr/>
        </p:nvSpPr>
        <p:spPr>
          <a:xfrm>
            <a:off x="6253480" y="2085816"/>
            <a:ext cx="27432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0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6" name="矩形 37"/>
          <p:cNvSpPr/>
          <p:nvPr/>
        </p:nvSpPr>
        <p:spPr>
          <a:xfrm>
            <a:off x="6543040" y="2085816"/>
            <a:ext cx="27432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0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7" name="矩形 37"/>
          <p:cNvSpPr/>
          <p:nvPr/>
        </p:nvSpPr>
        <p:spPr>
          <a:xfrm>
            <a:off x="6817360" y="2085816"/>
            <a:ext cx="27432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0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5" name="矩形 37"/>
          <p:cNvSpPr/>
          <p:nvPr/>
        </p:nvSpPr>
        <p:spPr>
          <a:xfrm>
            <a:off x="1971040" y="2099548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6" name="矩形 37"/>
          <p:cNvSpPr/>
          <p:nvPr/>
        </p:nvSpPr>
        <p:spPr>
          <a:xfrm>
            <a:off x="2585720" y="2099548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7" name="矩形 37"/>
          <p:cNvSpPr/>
          <p:nvPr/>
        </p:nvSpPr>
        <p:spPr>
          <a:xfrm>
            <a:off x="3200400" y="2099548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9" name="矩形 37"/>
          <p:cNvSpPr/>
          <p:nvPr/>
        </p:nvSpPr>
        <p:spPr>
          <a:xfrm>
            <a:off x="3794760" y="2095976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0" name="矩形 37"/>
          <p:cNvSpPr/>
          <p:nvPr/>
        </p:nvSpPr>
        <p:spPr>
          <a:xfrm>
            <a:off x="4409440" y="2104350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1" name="矩形 37"/>
          <p:cNvSpPr/>
          <p:nvPr/>
        </p:nvSpPr>
        <p:spPr>
          <a:xfrm>
            <a:off x="5024120" y="2104350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2" name="矩形 37"/>
          <p:cNvSpPr/>
          <p:nvPr/>
        </p:nvSpPr>
        <p:spPr>
          <a:xfrm>
            <a:off x="5638800" y="2104350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55" name="Straight Arrow Connector 54"/>
          <p:cNvCxnSpPr/>
          <p:nvPr/>
        </p:nvCxnSpPr>
        <p:spPr>
          <a:xfrm flipV="1">
            <a:off x="1331441" y="2426176"/>
            <a:ext cx="0" cy="336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098241" y="2762964"/>
            <a:ext cx="841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chunks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5024120" y="3637280"/>
            <a:ext cx="2788920" cy="1452880"/>
          </a:xfrm>
          <a:prstGeom prst="wedgeRoundRectCallout">
            <a:avLst>
              <a:gd name="adj1" fmla="val -121379"/>
              <a:gd name="adj2" fmla="val 57605"/>
              <a:gd name="adj3" fmla="val 16667"/>
            </a:avLst>
          </a:prstGeom>
          <a:solidFill>
            <a:srgbClr val="C6D9F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rgbClr val="000000"/>
                </a:solidFill>
              </a:rPr>
              <a:t>Assume allocator asks for </a:t>
            </a:r>
          </a:p>
          <a:p>
            <a:r>
              <a:rPr lang="en-US">
                <a:solidFill>
                  <a:srgbClr val="000000"/>
                </a:solidFill>
              </a:rPr>
              <a:t>enough memory from OS </a:t>
            </a:r>
          </a:p>
          <a:p>
            <a:r>
              <a:rPr lang="en-US">
                <a:solidFill>
                  <a:srgbClr val="000000"/>
                </a:solidFill>
              </a:rPr>
              <a:t>in the beginning</a:t>
            </a:r>
          </a:p>
        </p:txBody>
      </p:sp>
    </p:spTree>
    <p:extLst>
      <p:ext uri="{BB962C8B-B14F-4D97-AF65-F5344CB8AC3E}">
        <p14:creationId xmlns:p14="http://schemas.microsoft.com/office/powerpoint/2010/main" val="1514395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How to bookkeep? </a:t>
            </a:r>
            <a:r>
              <a:rPr lang="en-US" err="1"/>
              <a:t>Strawman</a:t>
            </a:r>
            <a:r>
              <a:rPr lang="en-US"/>
              <a:t> #1</a:t>
            </a:r>
          </a:p>
        </p:txBody>
      </p:sp>
      <p:sp>
        <p:nvSpPr>
          <p:cNvPr id="4" name="矩形 37"/>
          <p:cNvSpPr/>
          <p:nvPr/>
        </p:nvSpPr>
        <p:spPr>
          <a:xfrm>
            <a:off x="904240" y="1433330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矩形 37"/>
          <p:cNvSpPr/>
          <p:nvPr/>
        </p:nvSpPr>
        <p:spPr>
          <a:xfrm>
            <a:off x="6634480" y="1417812"/>
            <a:ext cx="27432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000000"/>
                </a:solidFill>
                <a:latin typeface="Arial"/>
                <a:cs typeface="Arial"/>
              </a:rPr>
              <a:t>0</a:t>
            </a:r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" name="矩形 37"/>
          <p:cNvSpPr/>
          <p:nvPr/>
        </p:nvSpPr>
        <p:spPr>
          <a:xfrm>
            <a:off x="6924040" y="1417812"/>
            <a:ext cx="27432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0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矩形 37"/>
          <p:cNvSpPr/>
          <p:nvPr/>
        </p:nvSpPr>
        <p:spPr>
          <a:xfrm>
            <a:off x="7198360" y="1417812"/>
            <a:ext cx="27432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0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矩形 37"/>
          <p:cNvSpPr/>
          <p:nvPr/>
        </p:nvSpPr>
        <p:spPr>
          <a:xfrm>
            <a:off x="7472680" y="1417812"/>
            <a:ext cx="27432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0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" name="矩形 37"/>
          <p:cNvSpPr/>
          <p:nvPr/>
        </p:nvSpPr>
        <p:spPr>
          <a:xfrm>
            <a:off x="7731760" y="1417638"/>
            <a:ext cx="274320" cy="291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0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93069" y="2610683"/>
            <a:ext cx="774494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>
                <a:latin typeface="Consolas"/>
                <a:cs typeface="Consolas"/>
              </a:rPr>
              <a:t>void* malloc(</a:t>
            </a:r>
            <a:r>
              <a:rPr kumimoji="1" lang="en-US" altLang="zh-CN" dirty="0" err="1">
                <a:latin typeface="Consolas"/>
                <a:cs typeface="Consolas"/>
              </a:rPr>
              <a:t>size_t</a:t>
            </a:r>
            <a:r>
              <a:rPr kumimoji="1" lang="en-US" altLang="zh-CN" dirty="0">
                <a:latin typeface="Consolas"/>
                <a:cs typeface="Consolas"/>
              </a:rPr>
              <a:t> </a:t>
            </a:r>
            <a:r>
              <a:rPr kumimoji="1" lang="en-US" altLang="zh-CN" dirty="0" err="1">
                <a:latin typeface="Consolas"/>
                <a:cs typeface="Consolas"/>
              </a:rPr>
              <a:t>sz</a:t>
            </a:r>
            <a:r>
              <a:rPr kumimoji="1" lang="en-US" altLang="zh-CN" dirty="0">
                <a:latin typeface="Consolas"/>
                <a:cs typeface="Consolas"/>
              </a:rPr>
              <a:t>) {</a:t>
            </a:r>
          </a:p>
          <a:p>
            <a:r>
              <a:rPr kumimoji="1" lang="en-US" altLang="zh-CN" dirty="0">
                <a:solidFill>
                  <a:srgbClr val="3366FF"/>
                </a:solidFill>
                <a:latin typeface="Consolas"/>
                <a:cs typeface="Consolas"/>
              </a:rPr>
              <a:t>  // find out # of chunks needed to fit </a:t>
            </a:r>
            <a:r>
              <a:rPr kumimoji="1" lang="en-US" altLang="zh-CN" dirty="0" err="1">
                <a:solidFill>
                  <a:srgbClr val="3366FF"/>
                </a:solidFill>
                <a:latin typeface="Consolas"/>
                <a:cs typeface="Consolas"/>
              </a:rPr>
              <a:t>sz</a:t>
            </a:r>
            <a:r>
              <a:rPr kumimoji="1" lang="en-US" altLang="zh-CN" dirty="0">
                <a:solidFill>
                  <a:srgbClr val="3366FF"/>
                </a:solidFill>
                <a:latin typeface="Consolas"/>
                <a:cs typeface="Consolas"/>
              </a:rPr>
              <a:t> bytes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  </a:t>
            </a:r>
            <a:r>
              <a:rPr kumimoji="1" lang="en-US" altLang="zh-CN" dirty="0" err="1">
                <a:latin typeface="Consolas"/>
                <a:cs typeface="Consolas"/>
              </a:rPr>
              <a:t>csz</a:t>
            </a:r>
            <a:r>
              <a:rPr kumimoji="1" lang="en-US" altLang="zh-CN" dirty="0">
                <a:latin typeface="Consolas"/>
                <a:cs typeface="Consolas"/>
              </a:rPr>
              <a:t> = ...</a:t>
            </a:r>
          </a:p>
          <a:p>
            <a:endParaRPr kumimoji="1" lang="en-US" altLang="zh-CN" dirty="0">
              <a:latin typeface="Consolas"/>
              <a:cs typeface="Consolas"/>
            </a:endParaRPr>
          </a:p>
          <a:p>
            <a:r>
              <a:rPr kumimoji="1" lang="en-US" altLang="zh-CN" dirty="0">
                <a:solidFill>
                  <a:srgbClr val="3366FF"/>
                </a:solidFill>
                <a:latin typeface="Consolas"/>
                <a:cs typeface="Consolas"/>
              </a:rPr>
              <a:t>  //find </a:t>
            </a:r>
            <a:r>
              <a:rPr kumimoji="1" lang="en-US" altLang="zh-CN" dirty="0" err="1">
                <a:solidFill>
                  <a:srgbClr val="3366FF"/>
                </a:solidFill>
                <a:latin typeface="Consolas"/>
                <a:cs typeface="Consolas"/>
              </a:rPr>
              <a:t>csz</a:t>
            </a:r>
            <a:r>
              <a:rPr kumimoji="1" lang="en-US" altLang="zh-CN" dirty="0">
                <a:solidFill>
                  <a:srgbClr val="3366FF"/>
                </a:solidFill>
                <a:latin typeface="Consolas"/>
                <a:cs typeface="Consolas"/>
              </a:rPr>
              <a:t> consecutive free chunks according to bitmap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  int </a:t>
            </a:r>
            <a:r>
              <a:rPr kumimoji="1" lang="en-US" altLang="zh-CN" dirty="0" err="1">
                <a:latin typeface="Consolas"/>
                <a:cs typeface="Consolas"/>
              </a:rPr>
              <a:t>i</a:t>
            </a:r>
            <a:r>
              <a:rPr kumimoji="1" lang="en-US" altLang="zh-CN" dirty="0">
                <a:latin typeface="Consolas"/>
                <a:cs typeface="Consolas"/>
              </a:rPr>
              <a:t> = </a:t>
            </a:r>
            <a:r>
              <a:rPr kumimoji="1" lang="en-US" altLang="zh-CN" dirty="0" err="1">
                <a:latin typeface="Consolas"/>
                <a:cs typeface="Consolas"/>
              </a:rPr>
              <a:t>find_consecutive_chunks</a:t>
            </a:r>
            <a:r>
              <a:rPr kumimoji="1" lang="en-US" altLang="zh-CN" dirty="0">
                <a:latin typeface="Consolas"/>
                <a:cs typeface="Consolas"/>
              </a:rPr>
              <a:t>(bitmap);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    </a:t>
            </a:r>
          </a:p>
          <a:p>
            <a:r>
              <a:rPr kumimoji="1" lang="en-US" altLang="zh-CN" dirty="0">
                <a:solidFill>
                  <a:srgbClr val="3366FF"/>
                </a:solidFill>
                <a:latin typeface="Consolas"/>
                <a:cs typeface="Consolas"/>
              </a:rPr>
              <a:t>  // return NULL if did not find </a:t>
            </a:r>
            <a:r>
              <a:rPr kumimoji="1" lang="en-US" altLang="zh-CN" dirty="0" err="1">
                <a:solidFill>
                  <a:srgbClr val="3366FF"/>
                </a:solidFill>
                <a:latin typeface="Consolas"/>
                <a:cs typeface="Consolas"/>
              </a:rPr>
              <a:t>csz</a:t>
            </a:r>
            <a:r>
              <a:rPr kumimoji="1" lang="en-US" altLang="zh-CN" dirty="0">
                <a:solidFill>
                  <a:srgbClr val="3366FF"/>
                </a:solidFill>
                <a:latin typeface="Consolas"/>
                <a:cs typeface="Consolas"/>
              </a:rPr>
              <a:t> free consecutive chunks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  if (</a:t>
            </a:r>
            <a:r>
              <a:rPr kumimoji="1" lang="en-US" altLang="zh-CN" dirty="0" err="1">
                <a:latin typeface="Consolas"/>
                <a:cs typeface="Consolas"/>
              </a:rPr>
              <a:t>i</a:t>
            </a:r>
            <a:r>
              <a:rPr kumimoji="1" lang="en-US" altLang="zh-CN" dirty="0">
                <a:latin typeface="Consolas"/>
                <a:cs typeface="Consolas"/>
              </a:rPr>
              <a:t> &lt; 0)  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    return NULL;</a:t>
            </a:r>
          </a:p>
          <a:p>
            <a:endParaRPr kumimoji="1" lang="en-US" altLang="zh-CN" dirty="0">
              <a:latin typeface="Consolas"/>
              <a:cs typeface="Consolas"/>
            </a:endParaRPr>
          </a:p>
          <a:p>
            <a:r>
              <a:rPr kumimoji="1" lang="en-US" altLang="zh-CN" dirty="0">
                <a:solidFill>
                  <a:srgbClr val="3366FF"/>
                </a:solidFill>
                <a:latin typeface="Consolas"/>
                <a:cs typeface="Consolas"/>
              </a:rPr>
              <a:t>  // set bitmap at positions </a:t>
            </a:r>
            <a:r>
              <a:rPr kumimoji="1" lang="en-US" altLang="zh-CN" dirty="0" err="1">
                <a:solidFill>
                  <a:srgbClr val="3366FF"/>
                </a:solidFill>
                <a:latin typeface="Consolas"/>
                <a:cs typeface="Consolas"/>
              </a:rPr>
              <a:t>i</a:t>
            </a:r>
            <a:r>
              <a:rPr kumimoji="1" lang="en-US" altLang="zh-CN" dirty="0">
                <a:solidFill>
                  <a:srgbClr val="3366FF"/>
                </a:solidFill>
                <a:latin typeface="Consolas"/>
                <a:cs typeface="Consolas"/>
              </a:rPr>
              <a:t>, i+1, ... i+csz-1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  </a:t>
            </a:r>
            <a:r>
              <a:rPr kumimoji="1" lang="en-US" altLang="zh-CN" dirty="0" err="1">
                <a:latin typeface="Consolas"/>
                <a:cs typeface="Consolas"/>
              </a:rPr>
              <a:t>bitmap_set_pos</a:t>
            </a:r>
            <a:r>
              <a:rPr kumimoji="1" lang="en-US" altLang="zh-CN" dirty="0">
                <a:latin typeface="Consolas"/>
                <a:cs typeface="Consolas"/>
              </a:rPr>
              <a:t>(bitmap, </a:t>
            </a:r>
            <a:r>
              <a:rPr kumimoji="1" lang="en-US" altLang="zh-CN" dirty="0" err="1">
                <a:latin typeface="Consolas"/>
                <a:cs typeface="Consolas"/>
              </a:rPr>
              <a:t>i</a:t>
            </a:r>
            <a:r>
              <a:rPr kumimoji="1" lang="en-US" altLang="zh-CN" dirty="0">
                <a:latin typeface="Consolas"/>
                <a:cs typeface="Consolas"/>
              </a:rPr>
              <a:t>, </a:t>
            </a:r>
            <a:r>
              <a:rPr kumimoji="1" lang="en-US" altLang="zh-CN" dirty="0" err="1">
                <a:latin typeface="Consolas"/>
                <a:cs typeface="Consolas"/>
              </a:rPr>
              <a:t>csz</a:t>
            </a:r>
            <a:r>
              <a:rPr kumimoji="1" lang="en-US" altLang="zh-CN" dirty="0">
                <a:latin typeface="Consolas"/>
                <a:cs typeface="Consolas"/>
              </a:rPr>
              <a:t>);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  return (void *)&amp;chunks[</a:t>
            </a:r>
            <a:r>
              <a:rPr kumimoji="1" lang="en-US" altLang="zh-CN" dirty="0" err="1">
                <a:latin typeface="Consolas"/>
                <a:cs typeface="Consolas"/>
              </a:rPr>
              <a:t>i</a:t>
            </a:r>
            <a:r>
              <a:rPr kumimoji="1" lang="en-US" altLang="zh-CN" dirty="0">
                <a:latin typeface="Consolas"/>
                <a:cs typeface="Consolas"/>
              </a:rPr>
              <a:t>]; 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}</a:t>
            </a:r>
            <a:endParaRPr lang="zh-CN" altLang="en-US" dirty="0">
              <a:latin typeface="Consolas"/>
              <a:cs typeface="Consolas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5882640" y="1809250"/>
            <a:ext cx="0" cy="336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49440" y="2146038"/>
            <a:ext cx="852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bitmap</a:t>
            </a:r>
          </a:p>
        </p:txBody>
      </p:sp>
      <p:sp>
        <p:nvSpPr>
          <p:cNvPr id="35" name="矩形 37"/>
          <p:cNvSpPr/>
          <p:nvPr/>
        </p:nvSpPr>
        <p:spPr>
          <a:xfrm>
            <a:off x="5801360" y="1427972"/>
            <a:ext cx="27432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0</a:t>
            </a:r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6" name="矩形 37"/>
          <p:cNvSpPr/>
          <p:nvPr/>
        </p:nvSpPr>
        <p:spPr>
          <a:xfrm>
            <a:off x="6090920" y="1427972"/>
            <a:ext cx="27432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0</a:t>
            </a:r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7" name="矩形 37"/>
          <p:cNvSpPr/>
          <p:nvPr/>
        </p:nvSpPr>
        <p:spPr>
          <a:xfrm>
            <a:off x="6365240" y="1427972"/>
            <a:ext cx="27432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kumimoji="1" lang="zh-CN" altLang="en-US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5" name="矩形 37"/>
          <p:cNvSpPr/>
          <p:nvPr/>
        </p:nvSpPr>
        <p:spPr>
          <a:xfrm>
            <a:off x="1518920" y="1441704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6" name="矩形 37"/>
          <p:cNvSpPr/>
          <p:nvPr/>
        </p:nvSpPr>
        <p:spPr>
          <a:xfrm>
            <a:off x="2133600" y="1441704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7" name="矩形 37"/>
          <p:cNvSpPr/>
          <p:nvPr/>
        </p:nvSpPr>
        <p:spPr>
          <a:xfrm>
            <a:off x="2748280" y="1441704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9" name="矩形 37"/>
          <p:cNvSpPr/>
          <p:nvPr/>
        </p:nvSpPr>
        <p:spPr>
          <a:xfrm>
            <a:off x="3342640" y="1438132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0" name="矩形 37"/>
          <p:cNvSpPr/>
          <p:nvPr/>
        </p:nvSpPr>
        <p:spPr>
          <a:xfrm>
            <a:off x="3957320" y="1446506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1" name="矩形 37"/>
          <p:cNvSpPr/>
          <p:nvPr/>
        </p:nvSpPr>
        <p:spPr>
          <a:xfrm>
            <a:off x="4572000" y="1446506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2" name="矩形 37"/>
          <p:cNvSpPr/>
          <p:nvPr/>
        </p:nvSpPr>
        <p:spPr>
          <a:xfrm>
            <a:off x="5186680" y="1446506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55" name="Straight Arrow Connector 54"/>
          <p:cNvCxnSpPr/>
          <p:nvPr/>
        </p:nvCxnSpPr>
        <p:spPr>
          <a:xfrm flipV="1">
            <a:off x="879321" y="1768332"/>
            <a:ext cx="0" cy="336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46121" y="2105120"/>
            <a:ext cx="841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chunks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2189961" y="1788374"/>
            <a:ext cx="0" cy="336788"/>
          </a:xfrm>
          <a:prstGeom prst="straightConnector1">
            <a:avLst/>
          </a:prstGeom>
          <a:ln>
            <a:solidFill>
              <a:srgbClr val="E46C0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974153" y="2103680"/>
            <a:ext cx="171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p=</a:t>
            </a:r>
            <a:r>
              <a:rPr lang="en-US" err="1">
                <a:solidFill>
                  <a:srgbClr val="FF0000"/>
                </a:solidFill>
              </a:rPr>
              <a:t>malloc</a:t>
            </a:r>
            <a:r>
              <a:rPr lang="en-US">
                <a:solidFill>
                  <a:srgbClr val="FF0000"/>
                </a:solidFill>
              </a:rPr>
              <a:t>(1000);</a:t>
            </a:r>
          </a:p>
        </p:txBody>
      </p:sp>
    </p:spTree>
    <p:extLst>
      <p:ext uri="{BB962C8B-B14F-4D97-AF65-F5344CB8AC3E}">
        <p14:creationId xmlns:p14="http://schemas.microsoft.com/office/powerpoint/2010/main" val="2038117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How to bookkeep? </a:t>
            </a:r>
            <a:r>
              <a:rPr lang="en-US" err="1"/>
              <a:t>Strawman</a:t>
            </a:r>
            <a:r>
              <a:rPr lang="en-US"/>
              <a:t>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607878"/>
            <a:ext cx="8595360" cy="1782761"/>
          </a:xfrm>
        </p:spPr>
        <p:txBody>
          <a:bodyPr>
            <a:normAutofit fontScale="92500"/>
          </a:bodyPr>
          <a:lstStyle/>
          <a:p>
            <a:r>
              <a:rPr lang="en-US" dirty="0"/>
              <a:t>Problem with strawman?</a:t>
            </a:r>
          </a:p>
          <a:p>
            <a:pPr lvl="1"/>
            <a:r>
              <a:rPr lang="en-US" dirty="0"/>
              <a:t>free does not know how many chunks have been allocated</a:t>
            </a:r>
          </a:p>
          <a:p>
            <a:pPr lvl="1"/>
            <a:r>
              <a:rPr lang="en-US" dirty="0"/>
              <a:t>wasted space within a chunk (internal fragmentation)</a:t>
            </a:r>
          </a:p>
          <a:p>
            <a:pPr lvl="1"/>
            <a:r>
              <a:rPr lang="en-US" dirty="0"/>
              <a:t>wasted space for non-consecutive chunks (external fragmentation)</a:t>
            </a:r>
          </a:p>
          <a:p>
            <a:pPr lvl="1"/>
            <a:endParaRPr lang="en-US" dirty="0"/>
          </a:p>
        </p:txBody>
      </p:sp>
      <p:sp>
        <p:nvSpPr>
          <p:cNvPr id="4" name="矩形 37"/>
          <p:cNvSpPr/>
          <p:nvPr/>
        </p:nvSpPr>
        <p:spPr>
          <a:xfrm>
            <a:off x="1017542" y="1762308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矩形 37"/>
          <p:cNvSpPr/>
          <p:nvPr/>
        </p:nvSpPr>
        <p:spPr>
          <a:xfrm>
            <a:off x="6747782" y="1746790"/>
            <a:ext cx="27432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000000"/>
                </a:solidFill>
                <a:latin typeface="Arial"/>
                <a:cs typeface="Arial"/>
              </a:rPr>
              <a:t>0</a:t>
            </a:r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" name="矩形 37"/>
          <p:cNvSpPr/>
          <p:nvPr/>
        </p:nvSpPr>
        <p:spPr>
          <a:xfrm>
            <a:off x="7037342" y="1746790"/>
            <a:ext cx="27432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0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矩形 37"/>
          <p:cNvSpPr/>
          <p:nvPr/>
        </p:nvSpPr>
        <p:spPr>
          <a:xfrm>
            <a:off x="7311662" y="1746790"/>
            <a:ext cx="27432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0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矩形 37"/>
          <p:cNvSpPr/>
          <p:nvPr/>
        </p:nvSpPr>
        <p:spPr>
          <a:xfrm>
            <a:off x="7585982" y="1746790"/>
            <a:ext cx="27432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0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" name="矩形 37"/>
          <p:cNvSpPr/>
          <p:nvPr/>
        </p:nvSpPr>
        <p:spPr>
          <a:xfrm>
            <a:off x="7845062" y="1746616"/>
            <a:ext cx="274320" cy="291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0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82802" y="2977152"/>
            <a:ext cx="778290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Consolas"/>
                <a:cs typeface="Consolas"/>
              </a:rPr>
              <a:t>void free(void *p) {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  </a:t>
            </a:r>
            <a:r>
              <a:rPr kumimoji="1" lang="en-US" altLang="zh-CN" dirty="0" err="1">
                <a:latin typeface="Consolas"/>
                <a:cs typeface="Consolas"/>
              </a:rPr>
              <a:t>i</a:t>
            </a:r>
            <a:r>
              <a:rPr kumimoji="1" lang="en-US" altLang="zh-CN" dirty="0">
                <a:latin typeface="Consolas"/>
                <a:cs typeface="Consolas"/>
              </a:rPr>
              <a:t> = ((char *)p – (char *)chunks)/CHUNK_SIZE;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  </a:t>
            </a:r>
            <a:r>
              <a:rPr kumimoji="1" lang="en-US" altLang="zh-CN" dirty="0" err="1">
                <a:latin typeface="Consolas"/>
                <a:cs typeface="Consolas"/>
              </a:rPr>
              <a:t>bitmap_clear_pos</a:t>
            </a:r>
            <a:r>
              <a:rPr kumimoji="1" lang="en-US" altLang="zh-CN" dirty="0">
                <a:latin typeface="Consolas"/>
                <a:cs typeface="Consolas"/>
              </a:rPr>
              <a:t>(bitmap, </a:t>
            </a:r>
            <a:r>
              <a:rPr kumimoji="1" lang="en-US" altLang="zh-CN" dirty="0" err="1">
                <a:latin typeface="Consolas"/>
                <a:cs typeface="Consolas"/>
              </a:rPr>
              <a:t>i</a:t>
            </a:r>
            <a:r>
              <a:rPr kumimoji="1" lang="en-US" altLang="zh-CN" dirty="0">
                <a:latin typeface="Consolas"/>
                <a:cs typeface="Consolas"/>
              </a:rPr>
              <a:t>); // </a:t>
            </a:r>
            <a:r>
              <a:rPr kumimoji="1" lang="en-US" altLang="zh-CN" dirty="0">
                <a:latin typeface="Consolas"/>
                <a:cs typeface="Consolas"/>
                <a:sym typeface="Wingdings" pitchFamily="2" charset="2"/>
              </a:rPr>
              <a:t> </a:t>
            </a:r>
            <a:r>
              <a:rPr kumimoji="1" lang="en-US" altLang="zh-CN" dirty="0">
                <a:latin typeface="Consolas"/>
                <a:cs typeface="Consolas"/>
              </a:rPr>
              <a:t>how many bits to clear??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}</a:t>
            </a:r>
            <a:endParaRPr lang="zh-CN" altLang="en-US" dirty="0">
              <a:latin typeface="Consolas"/>
              <a:cs typeface="Consolas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5995942" y="2138228"/>
            <a:ext cx="0" cy="336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762742" y="2475016"/>
            <a:ext cx="852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bitmap</a:t>
            </a:r>
          </a:p>
        </p:txBody>
      </p:sp>
      <p:sp>
        <p:nvSpPr>
          <p:cNvPr id="35" name="矩形 37"/>
          <p:cNvSpPr/>
          <p:nvPr/>
        </p:nvSpPr>
        <p:spPr>
          <a:xfrm>
            <a:off x="5914662" y="1756950"/>
            <a:ext cx="27432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0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6" name="矩形 37"/>
          <p:cNvSpPr/>
          <p:nvPr/>
        </p:nvSpPr>
        <p:spPr>
          <a:xfrm>
            <a:off x="6204222" y="1756950"/>
            <a:ext cx="27432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0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7" name="矩形 37"/>
          <p:cNvSpPr/>
          <p:nvPr/>
        </p:nvSpPr>
        <p:spPr>
          <a:xfrm>
            <a:off x="6478542" y="1756950"/>
            <a:ext cx="27432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kumimoji="1" lang="zh-CN" altLang="en-US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5" name="矩形 37"/>
          <p:cNvSpPr/>
          <p:nvPr/>
        </p:nvSpPr>
        <p:spPr>
          <a:xfrm>
            <a:off x="1632222" y="1770682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6" name="矩形 37"/>
          <p:cNvSpPr/>
          <p:nvPr/>
        </p:nvSpPr>
        <p:spPr>
          <a:xfrm>
            <a:off x="2246902" y="1770682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7" name="矩形 37"/>
          <p:cNvSpPr/>
          <p:nvPr/>
        </p:nvSpPr>
        <p:spPr>
          <a:xfrm>
            <a:off x="2861582" y="1770682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9" name="矩形 37"/>
          <p:cNvSpPr/>
          <p:nvPr/>
        </p:nvSpPr>
        <p:spPr>
          <a:xfrm>
            <a:off x="3455942" y="1767110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0" name="矩形 37"/>
          <p:cNvSpPr/>
          <p:nvPr/>
        </p:nvSpPr>
        <p:spPr>
          <a:xfrm>
            <a:off x="4070622" y="1775484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1" name="矩形 37"/>
          <p:cNvSpPr/>
          <p:nvPr/>
        </p:nvSpPr>
        <p:spPr>
          <a:xfrm>
            <a:off x="4685302" y="1775484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2" name="矩形 37"/>
          <p:cNvSpPr/>
          <p:nvPr/>
        </p:nvSpPr>
        <p:spPr>
          <a:xfrm>
            <a:off x="5299982" y="1775484"/>
            <a:ext cx="61468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1KB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55" name="Straight Arrow Connector 54"/>
          <p:cNvCxnSpPr/>
          <p:nvPr/>
        </p:nvCxnSpPr>
        <p:spPr>
          <a:xfrm flipV="1">
            <a:off x="992623" y="2097310"/>
            <a:ext cx="0" cy="336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59423" y="2434098"/>
            <a:ext cx="841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chunks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2303263" y="2117352"/>
            <a:ext cx="0" cy="336788"/>
          </a:xfrm>
          <a:prstGeom prst="straightConnector1">
            <a:avLst/>
          </a:prstGeom>
          <a:ln>
            <a:solidFill>
              <a:srgbClr val="E46C0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070063" y="2454140"/>
            <a:ext cx="171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p=</a:t>
            </a:r>
            <a:r>
              <a:rPr lang="en-US" err="1">
                <a:solidFill>
                  <a:srgbClr val="FF0000"/>
                </a:solidFill>
              </a:rPr>
              <a:t>malloc</a:t>
            </a:r>
            <a:r>
              <a:rPr lang="en-US">
                <a:solidFill>
                  <a:srgbClr val="FF0000"/>
                </a:solidFill>
              </a:rPr>
              <a:t>(1000);</a:t>
            </a:r>
          </a:p>
        </p:txBody>
      </p:sp>
    </p:spTree>
    <p:extLst>
      <p:ext uri="{BB962C8B-B14F-4D97-AF65-F5344CB8AC3E}">
        <p14:creationId xmlns:p14="http://schemas.microsoft.com/office/powerpoint/2010/main" val="50461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bookkeep? Other </a:t>
            </a:r>
            <a:r>
              <a:rPr lang="en-US" dirty="0" err="1"/>
              <a:t>strawmans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738120"/>
          </a:xfrm>
        </p:spPr>
        <p:txBody>
          <a:bodyPr/>
          <a:lstStyle/>
          <a:p>
            <a:r>
              <a:rPr lang="en-US" dirty="0"/>
              <a:t>How to support a variable number of variable-sized chunks?</a:t>
            </a:r>
          </a:p>
          <a:p>
            <a:pPr lvl="1"/>
            <a:r>
              <a:rPr lang="en-US" dirty="0"/>
              <a:t>Idea #1: use a hash table that maps address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[chunk size, status]</a:t>
            </a:r>
          </a:p>
          <a:p>
            <a:pPr lvl="1"/>
            <a:r>
              <a:rPr lang="en-US" dirty="0"/>
              <a:t>Idea #2: use a linked list in which each node stores [address, chunk size, status]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72080" y="4541520"/>
            <a:ext cx="3791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3366FF"/>
                </a:solidFill>
              </a:rPr>
              <a:t>Problems of </a:t>
            </a:r>
            <a:r>
              <a:rPr lang="en-US" sz="2800" err="1">
                <a:solidFill>
                  <a:srgbClr val="3366FF"/>
                </a:solidFill>
              </a:rPr>
              <a:t>strawmans</a:t>
            </a:r>
            <a:r>
              <a:rPr lang="en-US" sz="2800">
                <a:solidFill>
                  <a:srgbClr val="3366FF"/>
                </a:solidFill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0080" y="5043825"/>
            <a:ext cx="64225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Implementing a hash table and linked list requires</a:t>
            </a:r>
          </a:p>
          <a:p>
            <a:r>
              <a:rPr lang="en-US" sz="2400"/>
              <a:t>use of a dynamic memory allocator! </a:t>
            </a:r>
          </a:p>
        </p:txBody>
      </p:sp>
    </p:spTree>
    <p:extLst>
      <p:ext uri="{BB962C8B-B14F-4D97-AF65-F5344CB8AC3E}">
        <p14:creationId xmlns:p14="http://schemas.microsoft.com/office/powerpoint/2010/main" val="4071474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62EE2-263C-874D-B58F-3297136EA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Today’s 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FCAFE-5EAA-8440-86A5-E9218669A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4" y="1752600"/>
            <a:ext cx="8493996" cy="4373563"/>
          </a:xfrm>
        </p:spPr>
        <p:txBody>
          <a:bodyPr/>
          <a:lstStyle/>
          <a:p>
            <a:r>
              <a:rPr lang="en-US"/>
              <a:t>Previously:</a:t>
            </a:r>
          </a:p>
          <a:p>
            <a:pPr lvl="1"/>
            <a:r>
              <a:rPr lang="en-US"/>
              <a:t>Why dynamic memory allocation?</a:t>
            </a:r>
          </a:p>
          <a:p>
            <a:pPr lvl="1"/>
            <a:r>
              <a:rPr lang="en-US"/>
              <a:t>Design requirements and challenges</a:t>
            </a:r>
          </a:p>
          <a:p>
            <a:r>
              <a:rPr lang="en-US"/>
              <a:t>Today:</a:t>
            </a:r>
          </a:p>
          <a:p>
            <a:pPr lvl="1"/>
            <a:r>
              <a:rPr lang="en-US"/>
              <a:t>Implicit list</a:t>
            </a:r>
          </a:p>
          <a:p>
            <a:pPr lvl="1"/>
            <a:r>
              <a:rPr lang="en-US"/>
              <a:t>Explicit list</a:t>
            </a:r>
          </a:p>
        </p:txBody>
      </p:sp>
    </p:spTree>
    <p:extLst>
      <p:ext uri="{BB962C8B-B14F-4D97-AF65-F5344CB8AC3E}">
        <p14:creationId xmlns:p14="http://schemas.microsoft.com/office/powerpoint/2010/main" val="2090305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122920" cy="1470025"/>
          </a:xfrm>
        </p:spPr>
        <p:txBody>
          <a:bodyPr>
            <a:normAutofit/>
          </a:bodyPr>
          <a:lstStyle/>
          <a:p>
            <a:r>
              <a:rPr lang="en-US"/>
              <a:t>How to implement a </a:t>
            </a:r>
            <a:br>
              <a:rPr lang="en-US"/>
            </a:br>
            <a:r>
              <a:rPr lang="en-US"/>
              <a:t>“linked list” without use of </a:t>
            </a:r>
            <a:r>
              <a:rPr lang="en-US" err="1"/>
              <a:t>malloc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8820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Implicit list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686800" cy="1941730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Embed a chunk’s metadata in the chunk</a:t>
            </a:r>
          </a:p>
          <a:p>
            <a:pPr lvl="1">
              <a:buFont typeface="Symbol" charset="2"/>
              <a:buChar char="-"/>
            </a:pPr>
            <a:r>
              <a:rPr kumimoji="1" lang="en-US" altLang="zh-CN" dirty="0"/>
              <a:t>Each chunk has a header storing size and status</a:t>
            </a:r>
          </a:p>
          <a:p>
            <a:pPr lvl="1">
              <a:buFont typeface="Symbol" charset="2"/>
              <a:buChar char="-"/>
            </a:pPr>
            <a:r>
              <a:rPr kumimoji="1" lang="en-US" altLang="zh-CN" dirty="0"/>
              <a:t>Payload is 16-byte aligned</a:t>
            </a:r>
          </a:p>
          <a:p>
            <a:pPr lvl="2"/>
            <a:r>
              <a:rPr kumimoji="1" lang="en-US" altLang="zh-CN" dirty="0">
                <a:sym typeface="Wingdings"/>
              </a:rPr>
              <a:t>Payload starting address must be some multiple of 16</a:t>
            </a:r>
          </a:p>
          <a:p>
            <a:pPr lvl="2"/>
            <a:r>
              <a:rPr kumimoji="1" lang="en-US" altLang="zh-CN" dirty="0">
                <a:sym typeface="Wingdings"/>
              </a:rPr>
              <a:t>To simplify design, make header size 16 byte, payload size x*16 bytes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752549" y="5069889"/>
            <a:ext cx="1767840" cy="7069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Payload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2549" y="4399111"/>
            <a:ext cx="176784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     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52549" y="5776793"/>
            <a:ext cx="1767840" cy="524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Padding (optional)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804869" y="4382531"/>
            <a:ext cx="12110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latin typeface="Arial"/>
                <a:cs typeface="Arial"/>
              </a:rPr>
              <a:t>header </a:t>
            </a:r>
          </a:p>
          <a:p>
            <a:r>
              <a:rPr kumimoji="1" lang="en-US" altLang="zh-CN">
                <a:latin typeface="Arial"/>
                <a:cs typeface="Arial"/>
              </a:rPr>
              <a:t>(16 bytes)</a:t>
            </a: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286709" y="4400897"/>
            <a:ext cx="233680" cy="304800"/>
          </a:xfrm>
          <a:prstGeom prst="rect">
            <a:avLst/>
          </a:prstGeom>
          <a:noFill/>
          <a:ln w="952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0   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61400" y="4307502"/>
            <a:ext cx="3433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latin typeface="Arial"/>
                <a:cs typeface="Arial"/>
              </a:rPr>
              <a:t>status: </a:t>
            </a:r>
            <a:r>
              <a:rPr kumimoji="1" lang="en-US" altLang="zh-CN" err="1">
                <a:latin typeface="Arial"/>
                <a:cs typeface="Arial"/>
              </a:rPr>
              <a:t>size_and_status</a:t>
            </a:r>
            <a:r>
              <a:rPr kumimoji="1" lang="en-US" altLang="zh-CN">
                <a:latin typeface="Arial"/>
                <a:cs typeface="Arial"/>
              </a:rPr>
              <a:t> &amp; 0x1L </a:t>
            </a:r>
          </a:p>
        </p:txBody>
      </p:sp>
      <p:sp>
        <p:nvSpPr>
          <p:cNvPr id="10" name="矩形 45"/>
          <p:cNvSpPr/>
          <p:nvPr/>
        </p:nvSpPr>
        <p:spPr>
          <a:xfrm>
            <a:off x="752549" y="4724449"/>
            <a:ext cx="1767840" cy="3368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8-byte padding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Right Brace 3"/>
          <p:cNvSpPr/>
          <p:nvPr/>
        </p:nvSpPr>
        <p:spPr>
          <a:xfrm>
            <a:off x="2611829" y="4400897"/>
            <a:ext cx="193040" cy="55293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76069" y="4356685"/>
            <a:ext cx="1152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chunk size</a:t>
            </a:r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 flipH="1">
            <a:off x="2398469" y="3798332"/>
            <a:ext cx="787114" cy="5091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08349" y="3465331"/>
            <a:ext cx="2718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status: allocated or free</a:t>
            </a:r>
          </a:p>
        </p:txBody>
      </p:sp>
      <p:sp>
        <p:nvSpPr>
          <p:cNvPr id="6" name="矩形 10">
            <a:extLst>
              <a:ext uri="{FF2B5EF4-FFF2-40B4-BE49-F238E27FC236}">
                <a16:creationId xmlns:a16="http://schemas.microsoft.com/office/drawing/2014/main" id="{79DF5C9A-A009-4AF7-90E7-CFD24CA0931A}"/>
              </a:ext>
            </a:extLst>
          </p:cNvPr>
          <p:cNvSpPr/>
          <p:nvPr/>
        </p:nvSpPr>
        <p:spPr>
          <a:xfrm>
            <a:off x="4572000" y="4736403"/>
            <a:ext cx="34612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latin typeface="Arial"/>
                <a:cs typeface="Arial"/>
              </a:rPr>
              <a:t>size: </a:t>
            </a:r>
            <a:r>
              <a:rPr kumimoji="1" lang="en-US" altLang="zh-CN" err="1">
                <a:latin typeface="Arial"/>
                <a:cs typeface="Arial"/>
              </a:rPr>
              <a:t>size_and_status</a:t>
            </a:r>
            <a:r>
              <a:rPr kumimoji="1" lang="en-US" altLang="zh-CN">
                <a:latin typeface="Arial"/>
                <a:cs typeface="Arial"/>
              </a:rPr>
              <a:t> &amp; ~(0x1L)</a:t>
            </a:r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EE7CFCB-8DB5-4D58-B67E-F74D4F2067F6}"/>
                  </a:ext>
                </a:extLst>
              </p14:cNvPr>
              <p14:cNvContentPartPr/>
              <p14:nvPr/>
            </p14:nvContentPartPr>
            <p14:xfrm>
              <a:off x="427826" y="4360424"/>
              <a:ext cx="360" cy="4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EE7CFCB-8DB5-4D58-B67E-F74D4F2067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8826" y="4351424"/>
                <a:ext cx="18000" cy="22320"/>
              </a:xfrm>
              <a:prstGeom prst="rect">
                <a:avLst/>
              </a:prstGeom>
            </p:spPr>
          </p:pic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0B1A8A6-6BE1-9BB4-8E66-79D57CF93A81}"/>
              </a:ext>
            </a:extLst>
          </p:cNvPr>
          <p:cNvCxnSpPr/>
          <p:nvPr/>
        </p:nvCxnSpPr>
        <p:spPr>
          <a:xfrm>
            <a:off x="278094" y="5040654"/>
            <a:ext cx="20320" cy="8839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6F4757B-DB6D-E175-B4E3-1400D8551D24}"/>
              </a:ext>
            </a:extLst>
          </p:cNvPr>
          <p:cNvSpPr txBox="1"/>
          <p:nvPr/>
        </p:nvSpPr>
        <p:spPr>
          <a:xfrm rot="5400000">
            <a:off x="-277134" y="5264174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increases</a:t>
            </a:r>
          </a:p>
        </p:txBody>
      </p:sp>
    </p:spTree>
    <p:extLst>
      <p:ext uri="{BB962C8B-B14F-4D97-AF65-F5344CB8AC3E}">
        <p14:creationId xmlns:p14="http://schemas.microsoft.com/office/powerpoint/2010/main" val="98995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Implicit list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7386320" cy="18135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dirty="0"/>
              <a:t>Embed a chunk’s metadata in the chunk</a:t>
            </a:r>
          </a:p>
          <a:p>
            <a:pPr>
              <a:buFont typeface="Symbol" charset="2"/>
              <a:buChar char="-"/>
            </a:pPr>
            <a:r>
              <a:rPr kumimoji="1" lang="en-US" altLang="zh-CN" dirty="0"/>
              <a:t>Each chunk has a header storing size and status</a:t>
            </a:r>
          </a:p>
          <a:p>
            <a:pPr>
              <a:buFont typeface="Symbol" charset="2"/>
              <a:buChar char="-"/>
            </a:pPr>
            <a:r>
              <a:rPr kumimoji="1" lang="en-US" altLang="zh-CN" dirty="0"/>
              <a:t>Payload is 16-byte aligned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57200" y="3882628"/>
            <a:ext cx="23421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latin typeface="Consolas"/>
                <a:cs typeface="Consolas"/>
              </a:rPr>
              <a:t>p </a:t>
            </a:r>
            <a:r>
              <a:rPr kumimoji="1" lang="zh-CN" altLang="en-US">
                <a:latin typeface="Consolas"/>
                <a:cs typeface="Consolas"/>
              </a:rPr>
              <a:t> </a:t>
            </a:r>
            <a:r>
              <a:rPr kumimoji="1" lang="en-US" altLang="zh-CN">
                <a:latin typeface="Consolas"/>
                <a:cs typeface="Consolas"/>
              </a:rPr>
              <a:t>= </a:t>
            </a:r>
            <a:r>
              <a:rPr kumimoji="1" lang="en-US" altLang="zh-CN" err="1">
                <a:latin typeface="Consolas"/>
                <a:cs typeface="Consolas"/>
              </a:rPr>
              <a:t>malloc</a:t>
            </a:r>
            <a:r>
              <a:rPr kumimoji="1" lang="en-US" altLang="zh-CN">
                <a:latin typeface="Consolas"/>
                <a:cs typeface="Consolas"/>
              </a:rPr>
              <a:t>(1024)</a:t>
            </a:r>
          </a:p>
        </p:txBody>
      </p:sp>
      <p:sp>
        <p:nvSpPr>
          <p:cNvPr id="12" name="矩形 11"/>
          <p:cNvSpPr/>
          <p:nvPr/>
        </p:nvSpPr>
        <p:spPr>
          <a:xfrm>
            <a:off x="4872432" y="4385430"/>
            <a:ext cx="2214880" cy="386080"/>
          </a:xfrm>
          <a:prstGeom prst="rect">
            <a:avLst/>
          </a:prstGeom>
          <a:solidFill>
            <a:srgbClr val="BFBFBF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872432" y="5159654"/>
            <a:ext cx="2214880" cy="670560"/>
          </a:xfrm>
          <a:prstGeom prst="rect">
            <a:avLst/>
          </a:prstGeom>
          <a:noFill/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000000"/>
                </a:solidFill>
                <a:latin typeface="Arial"/>
                <a:cs typeface="Arial"/>
              </a:rPr>
              <a:t>1KB payload</a:t>
            </a:r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319670" y="4956176"/>
            <a:ext cx="3130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Arial"/>
                <a:cs typeface="Arial"/>
              </a:rPr>
              <a:t>p</a:t>
            </a:r>
            <a:endParaRPr kumimoji="1" lang="zh-CN" altLang="en-US">
              <a:latin typeface="Arial"/>
              <a:cs typeface="Arial"/>
            </a:endParaRPr>
          </a:p>
        </p:txBody>
      </p:sp>
      <p:cxnSp>
        <p:nvCxnSpPr>
          <p:cNvPr id="16" name="直线箭头连接符 15"/>
          <p:cNvCxnSpPr/>
          <p:nvPr/>
        </p:nvCxnSpPr>
        <p:spPr>
          <a:xfrm>
            <a:off x="4612394" y="5213748"/>
            <a:ext cx="23971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1"/>
          <p:cNvSpPr/>
          <p:nvPr/>
        </p:nvSpPr>
        <p:spPr>
          <a:xfrm>
            <a:off x="4872432" y="4773574"/>
            <a:ext cx="2214880" cy="386080"/>
          </a:xfrm>
          <a:prstGeom prst="rect">
            <a:avLst/>
          </a:prstGeom>
          <a:solidFill>
            <a:srgbClr val="BFBFBF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000000"/>
                </a:solidFill>
                <a:latin typeface="Arial"/>
                <a:cs typeface="Arial"/>
              </a:rPr>
              <a:t>8B padding</a:t>
            </a:r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Right Brace 3"/>
          <p:cNvSpPr/>
          <p:nvPr/>
        </p:nvSpPr>
        <p:spPr>
          <a:xfrm>
            <a:off x="7217722" y="4486137"/>
            <a:ext cx="213360" cy="57074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512493" y="4633627"/>
            <a:ext cx="847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header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5695507" y="3081046"/>
            <a:ext cx="2448234" cy="821805"/>
          </a:xfrm>
          <a:prstGeom prst="wedgeRoundRectCallout">
            <a:avLst>
              <a:gd name="adj1" fmla="val -46967"/>
              <a:gd name="adj2" fmla="val 100927"/>
              <a:gd name="adj3" fmla="val 16667"/>
            </a:avLst>
          </a:prstGeom>
          <a:solidFill>
            <a:srgbClr val="C6D9F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err="1">
                <a:solidFill>
                  <a:schemeClr val="tx1"/>
                </a:solidFill>
              </a:rPr>
              <a:t>Chunk_size</a:t>
            </a:r>
            <a:r>
              <a:rPr lang="en-US">
                <a:solidFill>
                  <a:schemeClr val="tx1"/>
                </a:solidFill>
              </a:rPr>
              <a:t> = 1024 + 16 = 1040 (0x410)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F534A6-0B26-4C4E-AB63-6A50FF2076B9}"/>
              </a:ext>
            </a:extLst>
          </p:cNvPr>
          <p:cNvSpPr txBox="1"/>
          <p:nvPr/>
        </p:nvSpPr>
        <p:spPr>
          <a:xfrm>
            <a:off x="5603807" y="4404242"/>
            <a:ext cx="8146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0x411</a:t>
            </a:r>
          </a:p>
        </p:txBody>
      </p:sp>
    </p:spTree>
    <p:extLst>
      <p:ext uri="{BB962C8B-B14F-4D97-AF65-F5344CB8AC3E}">
        <p14:creationId xmlns:p14="http://schemas.microsoft.com/office/powerpoint/2010/main" val="235934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Implicit list</a:t>
            </a:r>
            <a:endParaRPr kumimoji="1"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57200" y="3882628"/>
            <a:ext cx="1961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latin typeface="Consolas"/>
                <a:cs typeface="Consolas"/>
              </a:rPr>
              <a:t>p </a:t>
            </a:r>
            <a:r>
              <a:rPr kumimoji="1" lang="zh-CN" altLang="en-US">
                <a:latin typeface="Consolas"/>
                <a:cs typeface="Consolas"/>
              </a:rPr>
              <a:t> </a:t>
            </a:r>
            <a:r>
              <a:rPr kumimoji="1" lang="en-US" altLang="zh-CN">
                <a:latin typeface="Consolas"/>
                <a:cs typeface="Consolas"/>
              </a:rPr>
              <a:t>= </a:t>
            </a:r>
            <a:r>
              <a:rPr kumimoji="1" lang="en-US" altLang="zh-CN" err="1">
                <a:latin typeface="Consolas"/>
                <a:cs typeface="Consolas"/>
              </a:rPr>
              <a:t>malloc</a:t>
            </a:r>
            <a:r>
              <a:rPr kumimoji="1" lang="en-US" altLang="zh-CN">
                <a:latin typeface="Consolas"/>
                <a:cs typeface="Consolas"/>
              </a:rPr>
              <a:t>(1)</a:t>
            </a:r>
          </a:p>
        </p:txBody>
      </p:sp>
      <p:sp>
        <p:nvSpPr>
          <p:cNvPr id="12" name="矩形 11"/>
          <p:cNvSpPr/>
          <p:nvPr/>
        </p:nvSpPr>
        <p:spPr>
          <a:xfrm>
            <a:off x="5132470" y="3884692"/>
            <a:ext cx="2214880" cy="38608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FF0000"/>
                </a:solidFill>
                <a:latin typeface="Arial"/>
                <a:cs typeface="Arial"/>
              </a:rPr>
              <a:t>???</a:t>
            </a:r>
            <a:endParaRPr kumimoji="1" lang="zh-CN" altLang="en-US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126678" y="5308600"/>
            <a:ext cx="2214880" cy="301228"/>
          </a:xfrm>
          <a:prstGeom prst="rect">
            <a:avLst/>
          </a:prstGeom>
          <a:noFill/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FF0000"/>
                </a:solidFill>
                <a:latin typeface="Arial"/>
                <a:cs typeface="Arial"/>
              </a:rPr>
              <a:t>???</a:t>
            </a:r>
            <a:endParaRPr kumimoji="1" lang="zh-CN" altLang="en-US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79708" y="4067294"/>
            <a:ext cx="3130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latin typeface="Arial"/>
                <a:cs typeface="Arial"/>
              </a:rPr>
              <a:t>p</a:t>
            </a:r>
            <a:endParaRPr kumimoji="1" lang="zh-CN" altLang="en-US">
              <a:latin typeface="Arial"/>
              <a:cs typeface="Arial"/>
            </a:endParaRPr>
          </a:p>
        </p:txBody>
      </p:sp>
      <p:cxnSp>
        <p:nvCxnSpPr>
          <p:cNvPr id="16" name="直线箭头连接符 15"/>
          <p:cNvCxnSpPr/>
          <p:nvPr/>
        </p:nvCxnSpPr>
        <p:spPr>
          <a:xfrm>
            <a:off x="4872432" y="4324866"/>
            <a:ext cx="23971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5126678" y="4572000"/>
            <a:ext cx="2214880" cy="736600"/>
          </a:xfrm>
          <a:prstGeom prst="rect">
            <a:avLst/>
          </a:prstGeom>
          <a:noFill/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FF0000"/>
                </a:solidFill>
                <a:latin typeface="Arial"/>
                <a:cs typeface="Arial"/>
              </a:rPr>
              <a:t>???</a:t>
            </a:r>
            <a:endParaRPr kumimoji="1" lang="zh-CN" altLang="en-US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1" name="矩形 11"/>
          <p:cNvSpPr/>
          <p:nvPr/>
        </p:nvSpPr>
        <p:spPr>
          <a:xfrm>
            <a:off x="5126678" y="4251960"/>
            <a:ext cx="2214880" cy="301228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8B header padding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D2E384D-BA03-567F-C884-6891ACE59254}"/>
              </a:ext>
            </a:extLst>
          </p:cNvPr>
          <p:cNvSpPr txBox="1">
            <a:spLocks/>
          </p:cNvSpPr>
          <p:nvPr/>
        </p:nvSpPr>
        <p:spPr>
          <a:xfrm>
            <a:off x="457200" y="1600201"/>
            <a:ext cx="7386320" cy="1813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en-US" altLang="zh-CN"/>
              <a:t>Embed a chunk’s metadata in the chunk</a:t>
            </a:r>
          </a:p>
          <a:p>
            <a:pPr>
              <a:buFont typeface="Symbol" charset="2"/>
              <a:buChar char="-"/>
            </a:pPr>
            <a:r>
              <a:rPr kumimoji="1" lang="en-US" altLang="zh-CN"/>
              <a:t>Each chunk has a header storing size and status</a:t>
            </a:r>
          </a:p>
          <a:p>
            <a:pPr>
              <a:buFont typeface="Symbol" charset="2"/>
              <a:buChar char="-"/>
            </a:pPr>
            <a:r>
              <a:rPr kumimoji="1" lang="en-US" altLang="zh-CN"/>
              <a:t>Payload is 16-byte aligned</a:t>
            </a:r>
          </a:p>
          <a:p>
            <a:pPr marL="0" indent="0">
              <a:buFont typeface="Arial" pitchFamily="34" charset="0"/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4213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Implicit list</a:t>
            </a:r>
            <a:endParaRPr kumimoji="1"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57200" y="3882628"/>
            <a:ext cx="1961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latin typeface="Consolas"/>
                <a:cs typeface="Consolas"/>
              </a:rPr>
              <a:t>p </a:t>
            </a:r>
            <a:r>
              <a:rPr kumimoji="1" lang="zh-CN" altLang="en-US">
                <a:latin typeface="Consolas"/>
                <a:cs typeface="Consolas"/>
              </a:rPr>
              <a:t> </a:t>
            </a:r>
            <a:r>
              <a:rPr kumimoji="1" lang="en-US" altLang="zh-CN">
                <a:latin typeface="Consolas"/>
                <a:cs typeface="Consolas"/>
              </a:rPr>
              <a:t>= </a:t>
            </a:r>
            <a:r>
              <a:rPr kumimoji="1" lang="en-US" altLang="zh-CN" err="1">
                <a:latin typeface="Consolas"/>
                <a:cs typeface="Consolas"/>
              </a:rPr>
              <a:t>malloc</a:t>
            </a:r>
            <a:r>
              <a:rPr kumimoji="1" lang="en-US" altLang="zh-CN">
                <a:latin typeface="Consolas"/>
                <a:cs typeface="Consolas"/>
              </a:rPr>
              <a:t>(1)</a:t>
            </a:r>
          </a:p>
        </p:txBody>
      </p:sp>
      <p:sp>
        <p:nvSpPr>
          <p:cNvPr id="12" name="矩形 11"/>
          <p:cNvSpPr/>
          <p:nvPr/>
        </p:nvSpPr>
        <p:spPr>
          <a:xfrm>
            <a:off x="5132470" y="3500120"/>
            <a:ext cx="2214880" cy="386080"/>
          </a:xfrm>
          <a:prstGeom prst="rect">
            <a:avLst/>
          </a:prstGeom>
          <a:solidFill>
            <a:srgbClr val="BFBFBF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000000"/>
                </a:solidFill>
                <a:latin typeface="Arial"/>
                <a:cs typeface="Arial"/>
              </a:rPr>
              <a:t>0x21</a:t>
            </a:r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132470" y="4270772"/>
            <a:ext cx="2214880" cy="301228"/>
          </a:xfrm>
          <a:prstGeom prst="rect">
            <a:avLst/>
          </a:prstGeom>
          <a:noFill/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000000"/>
                </a:solidFill>
                <a:latin typeface="Arial"/>
                <a:cs typeface="Arial"/>
              </a:rPr>
              <a:t> 1B payload</a:t>
            </a:r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79708" y="4140200"/>
            <a:ext cx="3130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>
                <a:solidFill>
                  <a:srgbClr val="FF0000"/>
                </a:solidFill>
                <a:latin typeface="Arial"/>
                <a:cs typeface="Arial"/>
              </a:rPr>
              <a:t>p</a:t>
            </a:r>
            <a:endParaRPr kumimoji="1" lang="zh-CN" altLang="en-US">
              <a:solidFill>
                <a:srgbClr val="FF0000"/>
              </a:solidFill>
              <a:latin typeface="Arial"/>
              <a:cs typeface="Arial"/>
            </a:endParaRPr>
          </a:p>
        </p:txBody>
      </p:sp>
      <p:cxnSp>
        <p:nvCxnSpPr>
          <p:cNvPr id="16" name="直线箭头连接符 15"/>
          <p:cNvCxnSpPr/>
          <p:nvPr/>
        </p:nvCxnSpPr>
        <p:spPr>
          <a:xfrm>
            <a:off x="4872432" y="4324866"/>
            <a:ext cx="23971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5126678" y="4572000"/>
            <a:ext cx="2214880" cy="762000"/>
          </a:xfrm>
          <a:prstGeom prst="rect">
            <a:avLst/>
          </a:prstGeom>
          <a:noFill/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000000"/>
                </a:solidFill>
                <a:latin typeface="Arial"/>
                <a:cs typeface="Arial"/>
              </a:rPr>
              <a:t>15B padding</a:t>
            </a:r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矩形 11"/>
          <p:cNvSpPr/>
          <p:nvPr/>
        </p:nvSpPr>
        <p:spPr>
          <a:xfrm>
            <a:off x="5132470" y="3874254"/>
            <a:ext cx="2214880" cy="386080"/>
          </a:xfrm>
          <a:prstGeom prst="rect">
            <a:avLst/>
          </a:prstGeom>
          <a:solidFill>
            <a:srgbClr val="BFBFBF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000000"/>
                </a:solidFill>
                <a:latin typeface="Arial"/>
                <a:cs typeface="Arial"/>
              </a:rPr>
              <a:t>8B padding</a:t>
            </a:r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Right Brace 3"/>
          <p:cNvSpPr/>
          <p:nvPr/>
        </p:nvSpPr>
        <p:spPr>
          <a:xfrm>
            <a:off x="7508240" y="3500120"/>
            <a:ext cx="335280" cy="75184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843520" y="3701534"/>
            <a:ext cx="847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header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219B7DAF-0B7A-A21B-D1DF-F6D44803ED95}"/>
              </a:ext>
            </a:extLst>
          </p:cNvPr>
          <p:cNvSpPr txBox="1">
            <a:spLocks/>
          </p:cNvSpPr>
          <p:nvPr/>
        </p:nvSpPr>
        <p:spPr>
          <a:xfrm>
            <a:off x="457200" y="1600201"/>
            <a:ext cx="7386320" cy="1813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en-US" altLang="zh-CN"/>
              <a:t>Embed a chunk’s metadata in the chunk</a:t>
            </a:r>
          </a:p>
          <a:p>
            <a:pPr>
              <a:buFont typeface="Symbol" charset="2"/>
              <a:buChar char="-"/>
            </a:pPr>
            <a:r>
              <a:rPr kumimoji="1" lang="en-US" altLang="zh-CN"/>
              <a:t>Each chunk has a header storing size and status</a:t>
            </a:r>
          </a:p>
          <a:p>
            <a:pPr>
              <a:buFont typeface="Symbol" charset="2"/>
              <a:buChar char="-"/>
            </a:pPr>
            <a:r>
              <a:rPr kumimoji="1" lang="en-US" altLang="zh-CN"/>
              <a:t>Payload is 16-byte aligned</a:t>
            </a:r>
          </a:p>
          <a:p>
            <a:pPr marL="0" indent="0">
              <a:buFont typeface="Arial" pitchFamily="34" charset="0"/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0448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8529-AEFB-446C-90CC-C7FD2E4B2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initialize an implicit list</a:t>
            </a:r>
          </a:p>
        </p:txBody>
      </p:sp>
      <p:sp>
        <p:nvSpPr>
          <p:cNvPr id="5" name="矩形 20">
            <a:extLst>
              <a:ext uri="{FF2B5EF4-FFF2-40B4-BE49-F238E27FC236}">
                <a16:creationId xmlns:a16="http://schemas.microsoft.com/office/drawing/2014/main" id="{BF7409AE-3EA8-476F-AC2B-7A32C71F197D}"/>
              </a:ext>
            </a:extLst>
          </p:cNvPr>
          <p:cNvSpPr/>
          <p:nvPr/>
        </p:nvSpPr>
        <p:spPr>
          <a:xfrm>
            <a:off x="386080" y="1280516"/>
            <a:ext cx="600127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nsolas"/>
                <a:cs typeface="Consolas"/>
              </a:rPr>
              <a:t>typedef struct {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unsigned long </a:t>
            </a:r>
            <a:r>
              <a:rPr lang="en-US" altLang="zh-CN" sz="1600" dirty="0" err="1">
                <a:latin typeface="Consolas"/>
                <a:cs typeface="Consolas"/>
              </a:rPr>
              <a:t>size_and_status</a:t>
            </a:r>
            <a:r>
              <a:rPr lang="en-US" altLang="zh-CN" sz="1600" dirty="0">
                <a:latin typeface="Consolas"/>
                <a:cs typeface="Consolas"/>
              </a:rPr>
              <a:t>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unsigned long padding;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} header;</a:t>
            </a:r>
          </a:p>
          <a:p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1600" dirty="0">
                <a:latin typeface="Consolas"/>
                <a:cs typeface="Consolas"/>
              </a:rPr>
              <a:t>void </a:t>
            </a:r>
            <a:r>
              <a:rPr lang="en-US" altLang="zh-CN" sz="1600" dirty="0" err="1">
                <a:latin typeface="Consolas"/>
                <a:cs typeface="Consolas"/>
              </a:rPr>
              <a:t>init_chunk</a:t>
            </a:r>
            <a:r>
              <a:rPr lang="en-US" altLang="zh-CN" sz="1600" dirty="0">
                <a:latin typeface="Consolas"/>
                <a:cs typeface="Consolas"/>
              </a:rPr>
              <a:t>(header *p, </a:t>
            </a:r>
            <a:r>
              <a:rPr lang="en-US" altLang="zh-CN" sz="1600" dirty="0" err="1">
                <a:latin typeface="Consolas"/>
                <a:cs typeface="Consolas"/>
              </a:rPr>
              <a:t>size_t</a:t>
            </a:r>
            <a:r>
              <a:rPr lang="en-US" altLang="zh-CN" sz="1600" dirty="0">
                <a:latin typeface="Consolas"/>
                <a:cs typeface="Consolas"/>
              </a:rPr>
              <a:t> </a:t>
            </a:r>
            <a:r>
              <a:rPr lang="en-US" altLang="zh-CN" sz="1600" dirty="0" err="1">
                <a:latin typeface="Consolas"/>
                <a:cs typeface="Consolas"/>
              </a:rPr>
              <a:t>sz</a:t>
            </a:r>
            <a:r>
              <a:rPr lang="en-US" altLang="zh-CN" sz="1600" dirty="0">
                <a:latin typeface="Consolas"/>
                <a:cs typeface="Consolas"/>
              </a:rPr>
              <a:t>, bool status)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{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 p-&gt;</a:t>
            </a:r>
            <a:r>
              <a:rPr lang="en-US" altLang="zh-CN" sz="1600" dirty="0" err="1">
                <a:latin typeface="Consolas"/>
                <a:cs typeface="Consolas"/>
              </a:rPr>
              <a:t>size_and_status</a:t>
            </a:r>
            <a:r>
              <a:rPr lang="en-US" altLang="zh-CN" sz="1600" dirty="0">
                <a:latin typeface="Consolas"/>
                <a:cs typeface="Consolas"/>
              </a:rPr>
              <a:t> = ??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}</a:t>
            </a:r>
          </a:p>
          <a:p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1600" dirty="0">
                <a:latin typeface="Consolas"/>
                <a:cs typeface="Consolas"/>
              </a:rPr>
              <a:t>void </a:t>
            </a:r>
            <a:r>
              <a:rPr lang="en-US" altLang="zh-CN" sz="1600" dirty="0" err="1">
                <a:latin typeface="Consolas"/>
                <a:cs typeface="Consolas"/>
              </a:rPr>
              <a:t>init</a:t>
            </a:r>
            <a:r>
              <a:rPr lang="en-US" altLang="zh-CN" sz="1600" dirty="0">
                <a:latin typeface="Consolas"/>
                <a:cs typeface="Consolas"/>
              </a:rPr>
              <a:t>()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{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 header *p;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 p = </a:t>
            </a:r>
            <a:r>
              <a:rPr lang="en-US" altLang="zh-CN" sz="1600" dirty="0" err="1">
                <a:latin typeface="Consolas"/>
                <a:cs typeface="Consolas"/>
              </a:rPr>
              <a:t>sbrk</a:t>
            </a:r>
            <a:r>
              <a:rPr lang="en-US" altLang="zh-CN" sz="1600" dirty="0">
                <a:latin typeface="Consolas"/>
                <a:cs typeface="Consolas"/>
              </a:rPr>
              <a:t>(INITIAL_CSZ);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 </a:t>
            </a:r>
            <a:r>
              <a:rPr lang="en-US" altLang="zh-CN" sz="1600" dirty="0" err="1">
                <a:latin typeface="Consolas"/>
                <a:cs typeface="Consolas"/>
              </a:rPr>
              <a:t>init_chunk</a:t>
            </a:r>
            <a:r>
              <a:rPr lang="en-US" altLang="zh-CN" sz="1600" dirty="0">
                <a:latin typeface="Consolas"/>
                <a:cs typeface="Consolas"/>
              </a:rPr>
              <a:t>(p, INITIAL_CSZ, status);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78AD94-2405-43AA-A55F-4E1625EA2FBE}"/>
              </a:ext>
            </a:extLst>
          </p:cNvPr>
          <p:cNvSpPr txBox="1"/>
          <p:nvPr/>
        </p:nvSpPr>
        <p:spPr>
          <a:xfrm>
            <a:off x="3180786" y="2957898"/>
            <a:ext cx="1312154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 err="1"/>
              <a:t>sz</a:t>
            </a:r>
            <a:r>
              <a:rPr lang="en-US" sz="2000" dirty="0"/>
              <a:t> | status;</a:t>
            </a:r>
          </a:p>
        </p:txBody>
      </p:sp>
      <p:sp>
        <p:nvSpPr>
          <p:cNvPr id="3" name="矩形 11">
            <a:extLst>
              <a:ext uri="{FF2B5EF4-FFF2-40B4-BE49-F238E27FC236}">
                <a16:creationId xmlns:a16="http://schemas.microsoft.com/office/drawing/2014/main" id="{32ACA60A-F206-2987-331B-07F2E5F8F631}"/>
              </a:ext>
            </a:extLst>
          </p:cNvPr>
          <p:cNvSpPr/>
          <p:nvPr/>
        </p:nvSpPr>
        <p:spPr>
          <a:xfrm>
            <a:off x="5431680" y="3369825"/>
            <a:ext cx="1566045" cy="386080"/>
          </a:xfrm>
          <a:prstGeom prst="rect">
            <a:avLst/>
          </a:prstGeom>
          <a:solidFill>
            <a:srgbClr val="BFBFBF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000000"/>
                </a:solidFill>
                <a:latin typeface="Arial"/>
                <a:cs typeface="Arial"/>
              </a:rPr>
              <a:t>size | status</a:t>
            </a:r>
            <a:endParaRPr kumimoji="1" lang="zh-CN" altLang="en-US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矩形 13">
            <a:extLst>
              <a:ext uri="{FF2B5EF4-FFF2-40B4-BE49-F238E27FC236}">
                <a16:creationId xmlns:a16="http://schemas.microsoft.com/office/drawing/2014/main" id="{7EE4055B-C45C-9C77-1BF5-E801BEBB6FA9}"/>
              </a:ext>
            </a:extLst>
          </p:cNvPr>
          <p:cNvSpPr/>
          <p:nvPr/>
        </p:nvSpPr>
        <p:spPr>
          <a:xfrm>
            <a:off x="5425888" y="4130039"/>
            <a:ext cx="1566045" cy="1073666"/>
          </a:xfrm>
          <a:prstGeom prst="rect">
            <a:avLst/>
          </a:prstGeom>
          <a:noFill/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000000"/>
                </a:solidFill>
                <a:latin typeface="Arial"/>
                <a:cs typeface="Arial"/>
              </a:rPr>
              <a:t>payload</a:t>
            </a:r>
            <a:endParaRPr kumimoji="1" lang="zh-CN" altLang="en-US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矩形 11">
            <a:extLst>
              <a:ext uri="{FF2B5EF4-FFF2-40B4-BE49-F238E27FC236}">
                <a16:creationId xmlns:a16="http://schemas.microsoft.com/office/drawing/2014/main" id="{15342C23-F36C-ED4E-714E-0EE4CA9B9ADE}"/>
              </a:ext>
            </a:extLst>
          </p:cNvPr>
          <p:cNvSpPr/>
          <p:nvPr/>
        </p:nvSpPr>
        <p:spPr>
          <a:xfrm>
            <a:off x="5431680" y="3743959"/>
            <a:ext cx="1566045" cy="386080"/>
          </a:xfrm>
          <a:prstGeom prst="rect">
            <a:avLst/>
          </a:prstGeom>
          <a:solidFill>
            <a:srgbClr val="BFBFBF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000000"/>
                </a:solidFill>
                <a:latin typeface="Arial"/>
                <a:cs typeface="Arial"/>
              </a:rPr>
              <a:t>8B padding</a:t>
            </a:r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BC37C50F-5B0C-7036-266A-E75B749B1BCA}"/>
              </a:ext>
            </a:extLst>
          </p:cNvPr>
          <p:cNvSpPr/>
          <p:nvPr/>
        </p:nvSpPr>
        <p:spPr>
          <a:xfrm>
            <a:off x="7089031" y="3382980"/>
            <a:ext cx="237062" cy="75184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ECA4A8-4FFB-D7FF-8CD8-AA1858196EA5}"/>
              </a:ext>
            </a:extLst>
          </p:cNvPr>
          <p:cNvSpPr txBox="1"/>
          <p:nvPr/>
        </p:nvSpPr>
        <p:spPr>
          <a:xfrm>
            <a:off x="7326093" y="3562865"/>
            <a:ext cx="8585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96335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505"/>
            <a:ext cx="8229600" cy="1143000"/>
          </a:xfrm>
        </p:spPr>
        <p:txBody>
          <a:bodyPr/>
          <a:lstStyle/>
          <a:p>
            <a:r>
              <a:rPr lang="en-US"/>
              <a:t>How to traverse an implicit list</a:t>
            </a:r>
          </a:p>
        </p:txBody>
      </p:sp>
      <p:sp>
        <p:nvSpPr>
          <p:cNvPr id="4" name="矩形 20"/>
          <p:cNvSpPr/>
          <p:nvPr/>
        </p:nvSpPr>
        <p:spPr>
          <a:xfrm>
            <a:off x="302868" y="1781620"/>
            <a:ext cx="4417299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>
                <a:latin typeface="Consolas"/>
                <a:cs typeface="Consolas"/>
              </a:rPr>
              <a:t>bool get_status(header *h) {</a:t>
            </a:r>
          </a:p>
          <a:p>
            <a:r>
              <a:rPr lang="en-US" altLang="zh-CN" sz="1600">
                <a:latin typeface="Consolas"/>
                <a:cs typeface="Consolas"/>
              </a:rPr>
              <a:t>  return h-&gt;</a:t>
            </a:r>
            <a:r>
              <a:rPr lang="en-US" altLang="zh-CN" sz="1600" err="1">
                <a:latin typeface="Consolas"/>
                <a:cs typeface="Consolas"/>
              </a:rPr>
              <a:t>size_and_status</a:t>
            </a:r>
            <a:r>
              <a:rPr lang="en-US" altLang="zh-CN" sz="1600">
                <a:latin typeface="Consolas"/>
                <a:cs typeface="Consolas"/>
              </a:rPr>
              <a:t> &amp; 0x1L;</a:t>
            </a: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  <a:p>
            <a:r>
              <a:rPr lang="en-US" altLang="zh-CN" sz="1600" err="1">
                <a:latin typeface="Consolas"/>
                <a:cs typeface="Consolas"/>
              </a:rPr>
              <a:t>size_t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get_size</a:t>
            </a:r>
            <a:r>
              <a:rPr lang="en-US" altLang="zh-CN" sz="1600">
                <a:latin typeface="Consolas"/>
                <a:cs typeface="Consolas"/>
              </a:rPr>
              <a:t>(header *h) {</a:t>
            </a:r>
          </a:p>
          <a:p>
            <a:r>
              <a:rPr lang="en-US" altLang="zh-CN" sz="1600">
                <a:latin typeface="Consolas"/>
                <a:cs typeface="Consolas"/>
              </a:rPr>
              <a:t>  return h-&gt;</a:t>
            </a:r>
            <a:r>
              <a:rPr lang="en-US" altLang="zh-CN" sz="1600" err="1">
                <a:latin typeface="Consolas"/>
                <a:cs typeface="Consolas"/>
              </a:rPr>
              <a:t>size_and_status</a:t>
            </a:r>
            <a:r>
              <a:rPr lang="en-US" altLang="zh-CN" sz="1600">
                <a:latin typeface="Consolas"/>
                <a:cs typeface="Consolas"/>
              </a:rPr>
              <a:t> &amp; ~(0x1L);</a:t>
            </a: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  <a:p>
            <a:endParaRPr lang="en-US" altLang="zh-CN">
              <a:latin typeface="Consolas"/>
              <a:cs typeface="Consolas"/>
            </a:endParaRPr>
          </a:p>
        </p:txBody>
      </p:sp>
      <p:sp>
        <p:nvSpPr>
          <p:cNvPr id="6" name="矩形 20">
            <a:extLst>
              <a:ext uri="{FF2B5EF4-FFF2-40B4-BE49-F238E27FC236}">
                <a16:creationId xmlns:a16="http://schemas.microsoft.com/office/drawing/2014/main" id="{B9A7425D-024B-264F-8E5E-EE7A6D86D0E3}"/>
              </a:ext>
            </a:extLst>
          </p:cNvPr>
          <p:cNvSpPr/>
          <p:nvPr/>
        </p:nvSpPr>
        <p:spPr>
          <a:xfrm>
            <a:off x="13252" y="4446101"/>
            <a:ext cx="6812151" cy="2446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700" dirty="0">
                <a:latin typeface="Consolas"/>
                <a:cs typeface="Consolas"/>
              </a:rPr>
              <a:t>void </a:t>
            </a:r>
            <a:r>
              <a:rPr lang="en-US" altLang="zh-CN" sz="1700" dirty="0" err="1">
                <a:latin typeface="Consolas"/>
                <a:cs typeface="Consolas"/>
              </a:rPr>
              <a:t>traverse_implicit_list</a:t>
            </a:r>
            <a:r>
              <a:rPr lang="en-US" altLang="zh-CN" sz="1700" dirty="0">
                <a:latin typeface="Consolas"/>
                <a:cs typeface="Consolas"/>
              </a:rPr>
              <a:t>() {</a:t>
            </a:r>
          </a:p>
          <a:p>
            <a:r>
              <a:rPr lang="en-US" altLang="zh-CN" sz="1700" dirty="0">
                <a:latin typeface="Consolas"/>
                <a:cs typeface="Consolas"/>
              </a:rPr>
              <a:t>  header *</a:t>
            </a:r>
            <a:r>
              <a:rPr lang="en-US" altLang="zh-CN" sz="1700" dirty="0" err="1">
                <a:latin typeface="Consolas"/>
                <a:cs typeface="Consolas"/>
              </a:rPr>
              <a:t>curr</a:t>
            </a:r>
            <a:r>
              <a:rPr lang="en-US" altLang="zh-CN" sz="1700" dirty="0">
                <a:latin typeface="Consolas"/>
                <a:cs typeface="Consolas"/>
              </a:rPr>
              <a:t> = (header *)</a:t>
            </a:r>
            <a:r>
              <a:rPr lang="en-US" altLang="zh-CN" sz="1700" dirty="0" err="1">
                <a:latin typeface="Consolas"/>
                <a:cs typeface="Consolas"/>
              </a:rPr>
              <a:t>heap_lo</a:t>
            </a:r>
            <a:r>
              <a:rPr lang="en-US" altLang="zh-CN" sz="1700" dirty="0">
                <a:latin typeface="Consolas"/>
                <a:cs typeface="Consolas"/>
              </a:rPr>
              <a:t>();</a:t>
            </a:r>
          </a:p>
          <a:p>
            <a:r>
              <a:rPr lang="en-US" altLang="zh-CN" sz="1700" dirty="0">
                <a:latin typeface="Consolas"/>
                <a:cs typeface="Consolas"/>
              </a:rPr>
              <a:t>  while ((char *)</a:t>
            </a:r>
            <a:r>
              <a:rPr lang="en-US" altLang="zh-CN" sz="1700" dirty="0" err="1">
                <a:latin typeface="Consolas"/>
                <a:cs typeface="Consolas"/>
              </a:rPr>
              <a:t>curr</a:t>
            </a:r>
            <a:r>
              <a:rPr lang="en-US" altLang="zh-CN" sz="1700" dirty="0">
                <a:latin typeface="Consolas"/>
                <a:cs typeface="Consolas"/>
              </a:rPr>
              <a:t> &lt; </a:t>
            </a:r>
            <a:r>
              <a:rPr lang="en-US" altLang="zh-CN" sz="1700" dirty="0" err="1">
                <a:latin typeface="Consolas"/>
                <a:cs typeface="Consolas"/>
              </a:rPr>
              <a:t>heap_high</a:t>
            </a:r>
            <a:r>
              <a:rPr lang="en-US" altLang="zh-CN" sz="1700" dirty="0">
                <a:latin typeface="Consolas"/>
                <a:cs typeface="Consolas"/>
              </a:rPr>
              <a:t>()) {</a:t>
            </a:r>
          </a:p>
          <a:p>
            <a:r>
              <a:rPr lang="en-US" altLang="zh-CN" sz="1700" dirty="0">
                <a:latin typeface="Consolas"/>
                <a:cs typeface="Consolas"/>
              </a:rPr>
              <a:t>    bool allocated = </a:t>
            </a:r>
            <a:r>
              <a:rPr lang="en-US" altLang="zh-CN" sz="1700" dirty="0" err="1">
                <a:latin typeface="Consolas"/>
                <a:cs typeface="Consolas"/>
              </a:rPr>
              <a:t>get_status</a:t>
            </a:r>
            <a:r>
              <a:rPr lang="en-US" altLang="zh-CN" sz="1700" dirty="0">
                <a:latin typeface="Consolas"/>
                <a:cs typeface="Consolas"/>
              </a:rPr>
              <a:t>(</a:t>
            </a:r>
            <a:r>
              <a:rPr lang="en-US" altLang="zh-CN" sz="1700" dirty="0" err="1">
                <a:latin typeface="Consolas"/>
                <a:cs typeface="Consolas"/>
              </a:rPr>
              <a:t>curr</a:t>
            </a:r>
            <a:r>
              <a:rPr lang="en-US" altLang="zh-CN" sz="1700" dirty="0">
                <a:latin typeface="Consolas"/>
                <a:cs typeface="Consolas"/>
              </a:rPr>
              <a:t>);</a:t>
            </a:r>
          </a:p>
          <a:p>
            <a:r>
              <a:rPr lang="en-US" altLang="zh-CN" sz="1700" dirty="0">
                <a:latin typeface="Consolas"/>
                <a:cs typeface="Consolas"/>
              </a:rPr>
              <a:t>    </a:t>
            </a:r>
            <a:r>
              <a:rPr lang="en-US" altLang="zh-CN" sz="1700" dirty="0" err="1">
                <a:latin typeface="Consolas"/>
                <a:cs typeface="Consolas"/>
              </a:rPr>
              <a:t>size_t</a:t>
            </a:r>
            <a:r>
              <a:rPr lang="en-US" altLang="zh-CN" sz="1700" dirty="0">
                <a:latin typeface="Consolas"/>
                <a:cs typeface="Consolas"/>
              </a:rPr>
              <a:t> </a:t>
            </a:r>
            <a:r>
              <a:rPr lang="en-US" altLang="zh-CN" sz="1700" dirty="0" err="1">
                <a:latin typeface="Consolas"/>
                <a:cs typeface="Consolas"/>
              </a:rPr>
              <a:t>csz</a:t>
            </a:r>
            <a:r>
              <a:rPr lang="en-US" altLang="zh-CN" sz="1700" dirty="0">
                <a:latin typeface="Consolas"/>
                <a:cs typeface="Consolas"/>
              </a:rPr>
              <a:t> = </a:t>
            </a:r>
            <a:r>
              <a:rPr lang="en-US" altLang="zh-CN" sz="1700" dirty="0" err="1">
                <a:latin typeface="Consolas"/>
                <a:cs typeface="Consolas"/>
              </a:rPr>
              <a:t>get_size</a:t>
            </a:r>
            <a:r>
              <a:rPr lang="en-US" altLang="zh-CN" sz="1700" dirty="0">
                <a:latin typeface="Consolas"/>
                <a:cs typeface="Consolas"/>
              </a:rPr>
              <a:t>(</a:t>
            </a:r>
            <a:r>
              <a:rPr lang="en-US" altLang="zh-CN" sz="1700" dirty="0" err="1">
                <a:latin typeface="Consolas"/>
                <a:cs typeface="Consolas"/>
              </a:rPr>
              <a:t>curr</a:t>
            </a:r>
            <a:r>
              <a:rPr lang="en-US" altLang="zh-CN" sz="1700" dirty="0">
                <a:latin typeface="Consolas"/>
                <a:cs typeface="Consolas"/>
              </a:rPr>
              <a:t>);</a:t>
            </a:r>
          </a:p>
          <a:p>
            <a:r>
              <a:rPr lang="en-US" altLang="zh-CN" sz="1700" dirty="0">
                <a:latin typeface="Consolas"/>
                <a:cs typeface="Consolas"/>
              </a:rPr>
              <a:t>	</a:t>
            </a:r>
            <a:r>
              <a:rPr lang="en-US" altLang="zh-CN" sz="1700" dirty="0" err="1">
                <a:latin typeface="Consolas"/>
                <a:cs typeface="Consolas"/>
              </a:rPr>
              <a:t>printf</a:t>
            </a:r>
            <a:r>
              <a:rPr lang="en-US" altLang="zh-CN" sz="1700" dirty="0">
                <a:latin typeface="Consolas"/>
                <a:cs typeface="Consolas"/>
              </a:rPr>
              <a:t>(“chunk size=%d status=%d\n”,</a:t>
            </a:r>
            <a:r>
              <a:rPr lang="en-US" altLang="zh-CN" sz="1700" dirty="0" err="1">
                <a:latin typeface="Consolas"/>
                <a:cs typeface="Consolas"/>
              </a:rPr>
              <a:t>csz,allocated</a:t>
            </a:r>
            <a:r>
              <a:rPr lang="en-US" altLang="zh-CN" sz="1700" dirty="0">
                <a:latin typeface="Consolas"/>
                <a:cs typeface="Consolas"/>
              </a:rPr>
              <a:t>);</a:t>
            </a:r>
          </a:p>
          <a:p>
            <a:r>
              <a:rPr lang="en-US" altLang="zh-CN" sz="1700" dirty="0">
                <a:latin typeface="Consolas"/>
                <a:cs typeface="Consolas"/>
              </a:rPr>
              <a:t>    </a:t>
            </a:r>
            <a:r>
              <a:rPr lang="en-US" altLang="zh-CN" sz="1700" dirty="0" err="1">
                <a:latin typeface="Consolas"/>
                <a:cs typeface="Consolas"/>
              </a:rPr>
              <a:t>curr</a:t>
            </a:r>
            <a:r>
              <a:rPr lang="en-US" altLang="zh-CN" sz="1700" dirty="0">
                <a:latin typeface="Consolas"/>
                <a:cs typeface="Consolas"/>
              </a:rPr>
              <a:t> = </a:t>
            </a:r>
            <a:r>
              <a:rPr lang="en-US" altLang="zh-CN" sz="1700" dirty="0" err="1">
                <a:latin typeface="Consolas"/>
                <a:cs typeface="Consolas"/>
              </a:rPr>
              <a:t>next_chunk</a:t>
            </a:r>
            <a:r>
              <a:rPr lang="en-US" altLang="zh-CN" sz="1700" dirty="0">
                <a:latin typeface="Consolas"/>
                <a:cs typeface="Consolas"/>
              </a:rPr>
              <a:t>(</a:t>
            </a:r>
            <a:r>
              <a:rPr lang="en-US" altLang="zh-CN" sz="1700" dirty="0" err="1">
                <a:latin typeface="Consolas"/>
                <a:cs typeface="Consolas"/>
              </a:rPr>
              <a:t>curr</a:t>
            </a:r>
            <a:r>
              <a:rPr lang="en-US" altLang="zh-CN" sz="1700" dirty="0">
                <a:latin typeface="Consolas"/>
                <a:cs typeface="Consolas"/>
              </a:rPr>
              <a:t>);</a:t>
            </a:r>
          </a:p>
          <a:p>
            <a:r>
              <a:rPr lang="en-US" altLang="zh-CN" sz="1700" dirty="0">
                <a:latin typeface="Consolas"/>
                <a:cs typeface="Consolas"/>
              </a:rPr>
              <a:t>  } </a:t>
            </a:r>
          </a:p>
          <a:p>
            <a:r>
              <a:rPr lang="en-US" altLang="zh-CN" sz="17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14" name="矩形 20">
            <a:extLst>
              <a:ext uri="{FF2B5EF4-FFF2-40B4-BE49-F238E27FC236}">
                <a16:creationId xmlns:a16="http://schemas.microsoft.com/office/drawing/2014/main" id="{69D931BC-4F12-9545-BDB2-FB6B15E37C1C}"/>
              </a:ext>
            </a:extLst>
          </p:cNvPr>
          <p:cNvSpPr/>
          <p:nvPr/>
        </p:nvSpPr>
        <p:spPr>
          <a:xfrm>
            <a:off x="4901802" y="1580548"/>
            <a:ext cx="4084993" cy="107721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</a:rPr>
              <a:t>typedef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struct</a:t>
            </a:r>
            <a:r>
              <a:rPr lang="en-US" altLang="zh-CN" sz="1600">
                <a:latin typeface="Consolas"/>
                <a:cs typeface="Consolas"/>
              </a:rPr>
              <a:t> {</a:t>
            </a:r>
          </a:p>
          <a:p>
            <a:r>
              <a:rPr lang="en-US" altLang="zh-CN" sz="1600">
                <a:latin typeface="Consolas"/>
                <a:cs typeface="Consolas"/>
              </a:rPr>
              <a:t>  unsigned long </a:t>
            </a:r>
            <a:r>
              <a:rPr lang="en-US" altLang="zh-CN" sz="1600" err="1">
                <a:latin typeface="Consolas"/>
                <a:cs typeface="Consolas"/>
              </a:rPr>
              <a:t>size_and_status</a:t>
            </a:r>
            <a:r>
              <a:rPr lang="en-US" altLang="zh-CN" sz="1600">
                <a:latin typeface="Consolas"/>
                <a:cs typeface="Consolas"/>
              </a:rPr>
              <a:t>;</a:t>
            </a:r>
          </a:p>
          <a:p>
            <a:r>
              <a:rPr lang="en-US" altLang="zh-CN" sz="1600">
                <a:latin typeface="Consolas"/>
                <a:cs typeface="Consolas"/>
              </a:rPr>
              <a:t>  unsigned long padding;</a:t>
            </a:r>
          </a:p>
          <a:p>
            <a:r>
              <a:rPr lang="en-US" altLang="zh-CN" sz="1600">
                <a:latin typeface="Consolas"/>
                <a:cs typeface="Consolas"/>
              </a:rPr>
              <a:t>} header;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A936A8-2AB5-6841-9A04-4BEC53BCB0C5}"/>
              </a:ext>
            </a:extLst>
          </p:cNvPr>
          <p:cNvSpPr txBox="1"/>
          <p:nvPr/>
        </p:nvSpPr>
        <p:spPr>
          <a:xfrm>
            <a:off x="497615" y="2073041"/>
            <a:ext cx="3967508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/>
              <a:t>// return status of the chunk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E1AF10-05DA-3243-974E-FE569BE1933B}"/>
              </a:ext>
            </a:extLst>
          </p:cNvPr>
          <p:cNvSpPr txBox="1"/>
          <p:nvPr/>
        </p:nvSpPr>
        <p:spPr>
          <a:xfrm>
            <a:off x="527763" y="2820677"/>
            <a:ext cx="4192404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// return size of the chunk</a:t>
            </a:r>
          </a:p>
        </p:txBody>
      </p:sp>
    </p:spTree>
    <p:extLst>
      <p:ext uri="{BB962C8B-B14F-4D97-AF65-F5344CB8AC3E}">
        <p14:creationId xmlns:p14="http://schemas.microsoft.com/office/powerpoint/2010/main" val="369210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505"/>
            <a:ext cx="8229600" cy="1143000"/>
          </a:xfrm>
        </p:spPr>
        <p:txBody>
          <a:bodyPr/>
          <a:lstStyle/>
          <a:p>
            <a:r>
              <a:rPr lang="en-US"/>
              <a:t>How to traverse an implicit list</a:t>
            </a:r>
          </a:p>
        </p:txBody>
      </p:sp>
      <p:sp>
        <p:nvSpPr>
          <p:cNvPr id="11" name="矩形 16">
            <a:extLst>
              <a:ext uri="{FF2B5EF4-FFF2-40B4-BE49-F238E27FC236}">
                <a16:creationId xmlns:a16="http://schemas.microsoft.com/office/drawing/2014/main" id="{E55E9CB9-988B-064F-8EB6-1DF391CF8E67}"/>
              </a:ext>
            </a:extLst>
          </p:cNvPr>
          <p:cNvSpPr/>
          <p:nvPr/>
        </p:nvSpPr>
        <p:spPr>
          <a:xfrm>
            <a:off x="3902865" y="3332570"/>
            <a:ext cx="968753" cy="47621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2" name="矩形 14">
            <a:extLst>
              <a:ext uri="{FF2B5EF4-FFF2-40B4-BE49-F238E27FC236}">
                <a16:creationId xmlns:a16="http://schemas.microsoft.com/office/drawing/2014/main" id="{89831D51-486D-DB46-BC61-9B1389E1E949}"/>
              </a:ext>
            </a:extLst>
          </p:cNvPr>
          <p:cNvSpPr/>
          <p:nvPr/>
        </p:nvSpPr>
        <p:spPr>
          <a:xfrm>
            <a:off x="3902865" y="2992173"/>
            <a:ext cx="968753" cy="320119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3" name="矩形 10">
            <a:extLst>
              <a:ext uri="{FF2B5EF4-FFF2-40B4-BE49-F238E27FC236}">
                <a16:creationId xmlns:a16="http://schemas.microsoft.com/office/drawing/2014/main" id="{7EBA4363-9CCA-4F47-ADA0-0594E4EFC99F}"/>
              </a:ext>
            </a:extLst>
          </p:cNvPr>
          <p:cNvSpPr/>
          <p:nvPr/>
        </p:nvSpPr>
        <p:spPr>
          <a:xfrm>
            <a:off x="3899905" y="2139854"/>
            <a:ext cx="968753" cy="84354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5" name="矩形 8">
            <a:extLst>
              <a:ext uri="{FF2B5EF4-FFF2-40B4-BE49-F238E27FC236}">
                <a16:creationId xmlns:a16="http://schemas.microsoft.com/office/drawing/2014/main" id="{C0BC9A71-F0AD-CA49-9832-B31E7B58ABAF}"/>
              </a:ext>
            </a:extLst>
          </p:cNvPr>
          <p:cNvSpPr/>
          <p:nvPr/>
        </p:nvSpPr>
        <p:spPr>
          <a:xfrm>
            <a:off x="3899905" y="1657674"/>
            <a:ext cx="968753" cy="459701"/>
          </a:xfrm>
          <a:prstGeom prst="rect">
            <a:avLst/>
          </a:prstGeom>
          <a:solidFill>
            <a:srgbClr val="4F81BD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6" name="矩形 6">
            <a:extLst>
              <a:ext uri="{FF2B5EF4-FFF2-40B4-BE49-F238E27FC236}">
                <a16:creationId xmlns:a16="http://schemas.microsoft.com/office/drawing/2014/main" id="{60214481-75A2-504B-B1E5-4EBAB2F6A244}"/>
              </a:ext>
            </a:extLst>
          </p:cNvPr>
          <p:cNvSpPr/>
          <p:nvPr/>
        </p:nvSpPr>
        <p:spPr>
          <a:xfrm>
            <a:off x="3899905" y="1332930"/>
            <a:ext cx="968753" cy="3104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矩形 18">
            <a:extLst>
              <a:ext uri="{FF2B5EF4-FFF2-40B4-BE49-F238E27FC236}">
                <a16:creationId xmlns:a16="http://schemas.microsoft.com/office/drawing/2014/main" id="{488DD706-EF5C-6F4A-9E91-F91B991C31FE}"/>
              </a:ext>
            </a:extLst>
          </p:cNvPr>
          <p:cNvSpPr/>
          <p:nvPr/>
        </p:nvSpPr>
        <p:spPr>
          <a:xfrm>
            <a:off x="3913015" y="3819936"/>
            <a:ext cx="968753" cy="8250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8" name="矩形 4">
            <a:extLst>
              <a:ext uri="{FF2B5EF4-FFF2-40B4-BE49-F238E27FC236}">
                <a16:creationId xmlns:a16="http://schemas.microsoft.com/office/drawing/2014/main" id="{AC77BC84-CDA4-2345-8EDC-05117A20686A}"/>
              </a:ext>
            </a:extLst>
          </p:cNvPr>
          <p:cNvSpPr/>
          <p:nvPr/>
        </p:nvSpPr>
        <p:spPr>
          <a:xfrm>
            <a:off x="3913015" y="1350447"/>
            <a:ext cx="916554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9" name="矩形 7">
            <a:extLst>
              <a:ext uri="{FF2B5EF4-FFF2-40B4-BE49-F238E27FC236}">
                <a16:creationId xmlns:a16="http://schemas.microsoft.com/office/drawing/2014/main" id="{34255691-2762-6D4F-AE1C-1386C6DC1FFD}"/>
              </a:ext>
            </a:extLst>
          </p:cNvPr>
          <p:cNvSpPr/>
          <p:nvPr/>
        </p:nvSpPr>
        <p:spPr>
          <a:xfrm>
            <a:off x="3913015" y="1675772"/>
            <a:ext cx="941118" cy="131593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0" name="矩形 9">
            <a:extLst>
              <a:ext uri="{FF2B5EF4-FFF2-40B4-BE49-F238E27FC236}">
                <a16:creationId xmlns:a16="http://schemas.microsoft.com/office/drawing/2014/main" id="{C3A1C4E0-6AB3-1B44-93E2-B17A14757A99}"/>
              </a:ext>
            </a:extLst>
          </p:cNvPr>
          <p:cNvSpPr/>
          <p:nvPr/>
        </p:nvSpPr>
        <p:spPr>
          <a:xfrm>
            <a:off x="3925424" y="2160042"/>
            <a:ext cx="928709" cy="134457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1" name="矩形 13">
            <a:extLst>
              <a:ext uri="{FF2B5EF4-FFF2-40B4-BE49-F238E27FC236}">
                <a16:creationId xmlns:a16="http://schemas.microsoft.com/office/drawing/2014/main" id="{611CA216-95B2-BA46-97F9-A7C2E582A970}"/>
              </a:ext>
            </a:extLst>
          </p:cNvPr>
          <p:cNvSpPr/>
          <p:nvPr/>
        </p:nvSpPr>
        <p:spPr>
          <a:xfrm>
            <a:off x="3929516" y="3012450"/>
            <a:ext cx="924617" cy="104714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2" name="矩形 15">
            <a:extLst>
              <a:ext uri="{FF2B5EF4-FFF2-40B4-BE49-F238E27FC236}">
                <a16:creationId xmlns:a16="http://schemas.microsoft.com/office/drawing/2014/main" id="{AFE62A16-5890-924C-BF32-52E1207DD59C}"/>
              </a:ext>
            </a:extLst>
          </p:cNvPr>
          <p:cNvSpPr/>
          <p:nvPr/>
        </p:nvSpPr>
        <p:spPr>
          <a:xfrm>
            <a:off x="3925424" y="3335211"/>
            <a:ext cx="916855" cy="10080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3" name="矩形 17">
            <a:extLst>
              <a:ext uri="{FF2B5EF4-FFF2-40B4-BE49-F238E27FC236}">
                <a16:creationId xmlns:a16="http://schemas.microsoft.com/office/drawing/2014/main" id="{6E3AF681-D533-8D44-89ED-6ED908301CCB}"/>
              </a:ext>
            </a:extLst>
          </p:cNvPr>
          <p:cNvSpPr/>
          <p:nvPr/>
        </p:nvSpPr>
        <p:spPr>
          <a:xfrm>
            <a:off x="3932028" y="3836687"/>
            <a:ext cx="931526" cy="134747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4" name="矩形 19">
            <a:extLst>
              <a:ext uri="{FF2B5EF4-FFF2-40B4-BE49-F238E27FC236}">
                <a16:creationId xmlns:a16="http://schemas.microsoft.com/office/drawing/2014/main" id="{6F76CC7D-13D1-0247-852F-94B9DAF380C8}"/>
              </a:ext>
            </a:extLst>
          </p:cNvPr>
          <p:cNvSpPr/>
          <p:nvPr/>
        </p:nvSpPr>
        <p:spPr>
          <a:xfrm>
            <a:off x="3929516" y="4669271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5" name="矩形 20">
            <a:extLst>
              <a:ext uri="{FF2B5EF4-FFF2-40B4-BE49-F238E27FC236}">
                <a16:creationId xmlns:a16="http://schemas.microsoft.com/office/drawing/2014/main" id="{F8476E77-B58A-6B4E-8BB8-D709FAD89718}"/>
              </a:ext>
            </a:extLst>
          </p:cNvPr>
          <p:cNvSpPr/>
          <p:nvPr/>
        </p:nvSpPr>
        <p:spPr>
          <a:xfrm>
            <a:off x="3910877" y="4644975"/>
            <a:ext cx="968753" cy="8250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6" name="矩形 26">
            <a:extLst>
              <a:ext uri="{FF2B5EF4-FFF2-40B4-BE49-F238E27FC236}">
                <a16:creationId xmlns:a16="http://schemas.microsoft.com/office/drawing/2014/main" id="{AF17898A-603A-8D4F-B4EE-D1AC26D34963}"/>
              </a:ext>
            </a:extLst>
          </p:cNvPr>
          <p:cNvSpPr/>
          <p:nvPr/>
        </p:nvSpPr>
        <p:spPr>
          <a:xfrm>
            <a:off x="5596892" y="1518701"/>
            <a:ext cx="423171" cy="6674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7" name="矩形 29">
            <a:extLst>
              <a:ext uri="{FF2B5EF4-FFF2-40B4-BE49-F238E27FC236}">
                <a16:creationId xmlns:a16="http://schemas.microsoft.com/office/drawing/2014/main" id="{DFAAD2EF-1420-0343-80EE-C5FFA7C92DA7}"/>
              </a:ext>
            </a:extLst>
          </p:cNvPr>
          <p:cNvSpPr/>
          <p:nvPr/>
        </p:nvSpPr>
        <p:spPr>
          <a:xfrm>
            <a:off x="5596892" y="1740623"/>
            <a:ext cx="423171" cy="6674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8" name="矩形 33">
            <a:extLst>
              <a:ext uri="{FF2B5EF4-FFF2-40B4-BE49-F238E27FC236}">
                <a16:creationId xmlns:a16="http://schemas.microsoft.com/office/drawing/2014/main" id="{13EA4DFB-E1E4-BA40-83C9-4718824BFF40}"/>
              </a:ext>
            </a:extLst>
          </p:cNvPr>
          <p:cNvSpPr/>
          <p:nvPr/>
        </p:nvSpPr>
        <p:spPr>
          <a:xfrm>
            <a:off x="5596892" y="1940418"/>
            <a:ext cx="423171" cy="667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cxnSp>
        <p:nvCxnSpPr>
          <p:cNvPr id="29" name="直线箭头连接符 36">
            <a:extLst>
              <a:ext uri="{FF2B5EF4-FFF2-40B4-BE49-F238E27FC236}">
                <a16:creationId xmlns:a16="http://schemas.microsoft.com/office/drawing/2014/main" id="{AE573729-3295-AF45-ACA8-6553C7AC5D8E}"/>
              </a:ext>
            </a:extLst>
          </p:cNvPr>
          <p:cNvCxnSpPr>
            <a:cxnSpLocks/>
          </p:cNvCxnSpPr>
          <p:nvPr/>
        </p:nvCxnSpPr>
        <p:spPr>
          <a:xfrm>
            <a:off x="4980892" y="4107447"/>
            <a:ext cx="0" cy="12358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矩形 40">
            <a:extLst>
              <a:ext uri="{FF2B5EF4-FFF2-40B4-BE49-F238E27FC236}">
                <a16:creationId xmlns:a16="http://schemas.microsoft.com/office/drawing/2014/main" id="{BB50B5C0-189C-F044-99FF-ECFDDF33C24B}"/>
              </a:ext>
            </a:extLst>
          </p:cNvPr>
          <p:cNvSpPr/>
          <p:nvPr/>
        </p:nvSpPr>
        <p:spPr>
          <a:xfrm rot="5400000">
            <a:off x="4455749" y="4603165"/>
            <a:ext cx="135806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err="1">
                <a:latin typeface="Arial"/>
                <a:cs typeface="Arial"/>
              </a:rPr>
              <a:t>addr</a:t>
            </a:r>
            <a:r>
              <a:rPr lang="en-US" altLang="zh-CN" sz="1400" dirty="0">
                <a:latin typeface="Arial"/>
                <a:cs typeface="Arial"/>
              </a:rPr>
              <a:t> increases</a:t>
            </a:r>
            <a:endParaRPr lang="zh-CN" altLang="en-US" sz="1400" dirty="0">
              <a:latin typeface="Arial"/>
              <a:cs typeface="Arial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A33E51-7282-F94D-AD02-9F4110708D82}"/>
              </a:ext>
            </a:extLst>
          </p:cNvPr>
          <p:cNvSpPr txBox="1"/>
          <p:nvPr/>
        </p:nvSpPr>
        <p:spPr>
          <a:xfrm>
            <a:off x="2609762" y="1126473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heap_lo</a:t>
            </a:r>
            <a:r>
              <a:rPr lang="en-US"/>
              <a:t>()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28AC8C0-0114-DC42-99A2-B19DEFBD0956}"/>
              </a:ext>
            </a:extLst>
          </p:cNvPr>
          <p:cNvCxnSpPr>
            <a:cxnSpLocks/>
          </p:cNvCxnSpPr>
          <p:nvPr/>
        </p:nvCxnSpPr>
        <p:spPr>
          <a:xfrm flipV="1">
            <a:off x="3620205" y="1333534"/>
            <a:ext cx="211035" cy="3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A5F896E-08E6-1F41-8D0B-A9D05D2DDA26}"/>
              </a:ext>
            </a:extLst>
          </p:cNvPr>
          <p:cNvSpPr txBox="1"/>
          <p:nvPr/>
        </p:nvSpPr>
        <p:spPr>
          <a:xfrm>
            <a:off x="2002094" y="5216792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heap_hi</a:t>
            </a:r>
            <a:r>
              <a:rPr lang="en-US" dirty="0"/>
              <a:t>()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98CE764-5EE7-874F-8A34-7FFB3F40EF9C}"/>
              </a:ext>
            </a:extLst>
          </p:cNvPr>
          <p:cNvCxnSpPr>
            <a:cxnSpLocks/>
          </p:cNvCxnSpPr>
          <p:nvPr/>
        </p:nvCxnSpPr>
        <p:spPr>
          <a:xfrm flipV="1">
            <a:off x="3167689" y="5468244"/>
            <a:ext cx="663551" cy="1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27">
            <a:extLst>
              <a:ext uri="{FF2B5EF4-FFF2-40B4-BE49-F238E27FC236}">
                <a16:creationId xmlns:a16="http://schemas.microsoft.com/office/drawing/2014/main" id="{6FDF7F92-FCFF-5548-AFC4-7F70A90F73EB}"/>
              </a:ext>
            </a:extLst>
          </p:cNvPr>
          <p:cNvSpPr/>
          <p:nvPr/>
        </p:nvSpPr>
        <p:spPr>
          <a:xfrm>
            <a:off x="6084609" y="1385274"/>
            <a:ext cx="7489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header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36" name="矩形 30">
            <a:extLst>
              <a:ext uri="{FF2B5EF4-FFF2-40B4-BE49-F238E27FC236}">
                <a16:creationId xmlns:a16="http://schemas.microsoft.com/office/drawing/2014/main" id="{33FFED77-4BDD-B44E-A922-200D9F8DDA0C}"/>
              </a:ext>
            </a:extLst>
          </p:cNvPr>
          <p:cNvSpPr/>
          <p:nvPr/>
        </p:nvSpPr>
        <p:spPr>
          <a:xfrm>
            <a:off x="6084609" y="1607196"/>
            <a:ext cx="15821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allocated payload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37" name="矩形 34">
            <a:extLst>
              <a:ext uri="{FF2B5EF4-FFF2-40B4-BE49-F238E27FC236}">
                <a16:creationId xmlns:a16="http://schemas.microsoft.com/office/drawing/2014/main" id="{12783D5A-A6B0-EE40-91C5-81197A8F87E8}"/>
              </a:ext>
            </a:extLst>
          </p:cNvPr>
          <p:cNvSpPr/>
          <p:nvPr/>
        </p:nvSpPr>
        <p:spPr>
          <a:xfrm>
            <a:off x="6076149" y="1815891"/>
            <a:ext cx="9797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free block</a:t>
            </a:r>
            <a:endParaRPr lang="zh-CN" altLang="en-US" sz="1400">
              <a:latin typeface="Arial"/>
              <a:cs typeface="Arial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C3523FE-55CC-CE49-80EE-90D6A2BA6A7F}"/>
              </a:ext>
            </a:extLst>
          </p:cNvPr>
          <p:cNvCxnSpPr>
            <a:cxnSpLocks/>
          </p:cNvCxnSpPr>
          <p:nvPr/>
        </p:nvCxnSpPr>
        <p:spPr>
          <a:xfrm>
            <a:off x="3416131" y="3332570"/>
            <a:ext cx="3342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6ABAA06-7490-3A4F-840A-086080D60C34}"/>
              </a:ext>
            </a:extLst>
          </p:cNvPr>
          <p:cNvSpPr txBox="1"/>
          <p:nvPr/>
        </p:nvSpPr>
        <p:spPr>
          <a:xfrm>
            <a:off x="2822649" y="3155052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accent1"/>
                </a:solidFill>
                <a:latin typeface="Consolas" panose="020B0609020204030204" pitchFamily="49" charset="0"/>
              </a:rPr>
              <a:t>curr</a:t>
            </a:r>
            <a:endParaRPr lang="en-US" sz="140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B4DA04B-C5AC-7E44-944B-07BE1F3CDCCA}"/>
              </a:ext>
            </a:extLst>
          </p:cNvPr>
          <p:cNvGrpSpPr/>
          <p:nvPr/>
        </p:nvGrpSpPr>
        <p:grpSpPr>
          <a:xfrm>
            <a:off x="4863554" y="2611458"/>
            <a:ext cx="4198155" cy="2037513"/>
            <a:chOff x="4863554" y="2611458"/>
            <a:chExt cx="4198155" cy="2037513"/>
          </a:xfrm>
        </p:grpSpPr>
        <p:cxnSp>
          <p:nvCxnSpPr>
            <p:cNvPr id="57" name="直线连接符 11">
              <a:extLst>
                <a:ext uri="{FF2B5EF4-FFF2-40B4-BE49-F238E27FC236}">
                  <a16:creationId xmlns:a16="http://schemas.microsoft.com/office/drawing/2014/main" id="{6EFC9B87-1D42-D04F-A546-B3E6A42ED1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3862" y="2611458"/>
              <a:ext cx="855466" cy="116206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线连接符 46">
              <a:extLst>
                <a:ext uri="{FF2B5EF4-FFF2-40B4-BE49-F238E27FC236}">
                  <a16:creationId xmlns:a16="http://schemas.microsoft.com/office/drawing/2014/main" id="{0BAB418D-3EE6-4748-9501-8FC0568B131B}"/>
                </a:ext>
              </a:extLst>
            </p:cNvPr>
            <p:cNvCxnSpPr/>
            <p:nvPr/>
          </p:nvCxnSpPr>
          <p:spPr>
            <a:xfrm>
              <a:off x="4863554" y="4648971"/>
              <a:ext cx="885774" cy="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矩形 47">
              <a:extLst>
                <a:ext uri="{FF2B5EF4-FFF2-40B4-BE49-F238E27FC236}">
                  <a16:creationId xmlns:a16="http://schemas.microsoft.com/office/drawing/2014/main" id="{09BD74B7-764E-F849-A0DB-1AC1503CB952}"/>
                </a:ext>
              </a:extLst>
            </p:cNvPr>
            <p:cNvSpPr/>
            <p:nvPr/>
          </p:nvSpPr>
          <p:spPr>
            <a:xfrm>
              <a:off x="5749328" y="2611458"/>
              <a:ext cx="1852198" cy="20375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Arial"/>
                  <a:cs typeface="Arial"/>
                </a:rPr>
                <a:t>48B Payload</a:t>
              </a:r>
              <a:endParaRPr kumimoji="1" lang="zh-CN" altLang="en-US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60" name="矩形 48">
              <a:extLst>
                <a:ext uri="{FF2B5EF4-FFF2-40B4-BE49-F238E27FC236}">
                  <a16:creationId xmlns:a16="http://schemas.microsoft.com/office/drawing/2014/main" id="{E99D0A04-4504-F44B-B983-0F239CD3CDCF}"/>
                </a:ext>
              </a:extLst>
            </p:cNvPr>
            <p:cNvSpPr/>
            <p:nvPr/>
          </p:nvSpPr>
          <p:spPr>
            <a:xfrm>
              <a:off x="5749328" y="2611458"/>
              <a:ext cx="1852198" cy="31730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1400" err="1">
                  <a:solidFill>
                    <a:schemeClr val="tx1"/>
                  </a:solidFill>
                  <a:latin typeface="Arial"/>
                  <a:cs typeface="Arial"/>
                </a:rPr>
                <a:t>size|status</a:t>
              </a:r>
              <a:r>
                <a:rPr kumimoji="1" lang="en-US" altLang="zh-CN" sz="1400">
                  <a:solidFill>
                    <a:schemeClr val="tx1"/>
                  </a:solidFill>
                  <a:latin typeface="Arial"/>
                  <a:cs typeface="Arial"/>
                </a:rPr>
                <a:t>=0x40 (8B)</a:t>
              </a:r>
            </a:p>
          </p:txBody>
        </p:sp>
        <p:sp>
          <p:nvSpPr>
            <p:cNvPr id="61" name="矩形 48">
              <a:extLst>
                <a:ext uri="{FF2B5EF4-FFF2-40B4-BE49-F238E27FC236}">
                  <a16:creationId xmlns:a16="http://schemas.microsoft.com/office/drawing/2014/main" id="{09097DDC-34CE-9E4F-9218-BFFCC7D5F529}"/>
                </a:ext>
              </a:extLst>
            </p:cNvPr>
            <p:cNvSpPr/>
            <p:nvPr/>
          </p:nvSpPr>
          <p:spPr>
            <a:xfrm>
              <a:off x="5749327" y="2927761"/>
              <a:ext cx="1852197" cy="2459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1400">
                  <a:solidFill>
                    <a:schemeClr val="tx1"/>
                  </a:solidFill>
                  <a:latin typeface="Arial"/>
                  <a:cs typeface="Arial"/>
                </a:rPr>
                <a:t>Header padding (8B)</a:t>
              </a:r>
              <a:endParaRPr kumimoji="1" lang="en-US" altLang="zh-CN" sz="1200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62" name="Right Brace 61">
              <a:extLst>
                <a:ext uri="{FF2B5EF4-FFF2-40B4-BE49-F238E27FC236}">
                  <a16:creationId xmlns:a16="http://schemas.microsoft.com/office/drawing/2014/main" id="{6D1F6927-2543-1043-AFAF-F6E7F9397A82}"/>
                </a:ext>
              </a:extLst>
            </p:cNvPr>
            <p:cNvSpPr/>
            <p:nvPr/>
          </p:nvSpPr>
          <p:spPr>
            <a:xfrm>
              <a:off x="7661218" y="2611458"/>
              <a:ext cx="324454" cy="203351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158C363-F2DF-2F47-AE44-26D277E1989B}"/>
                </a:ext>
              </a:extLst>
            </p:cNvPr>
            <p:cNvSpPr txBox="1"/>
            <p:nvPr/>
          </p:nvSpPr>
          <p:spPr>
            <a:xfrm>
              <a:off x="7928065" y="3332570"/>
              <a:ext cx="113364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Chunk size</a:t>
              </a:r>
            </a:p>
            <a:p>
              <a:r>
                <a:rPr lang="en-US" sz="1600"/>
                <a:t>=64B(0x40)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BF8CB6B-638E-4043-AE59-174B3ED4834B}"/>
              </a:ext>
            </a:extLst>
          </p:cNvPr>
          <p:cNvGrpSpPr/>
          <p:nvPr/>
        </p:nvGrpSpPr>
        <p:grpSpPr>
          <a:xfrm>
            <a:off x="-33015" y="2028565"/>
            <a:ext cx="3958439" cy="1791371"/>
            <a:chOff x="17684" y="2317014"/>
            <a:chExt cx="3958439" cy="1791371"/>
          </a:xfrm>
        </p:grpSpPr>
        <p:cxnSp>
          <p:nvCxnSpPr>
            <p:cNvPr id="65" name="直线连接符 11">
              <a:extLst>
                <a:ext uri="{FF2B5EF4-FFF2-40B4-BE49-F238E27FC236}">
                  <a16:creationId xmlns:a16="http://schemas.microsoft.com/office/drawing/2014/main" id="{359BEED9-37B1-324A-A1E5-E65D85950E09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>
              <a:off x="2705096" y="2364874"/>
              <a:ext cx="1271027" cy="1309187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线连接符 11">
              <a:extLst>
                <a:ext uri="{FF2B5EF4-FFF2-40B4-BE49-F238E27FC236}">
                  <a16:creationId xmlns:a16="http://schemas.microsoft.com/office/drawing/2014/main" id="{9B68D977-634F-9C43-8ABE-051982174876}"/>
                </a:ext>
              </a:extLst>
            </p:cNvPr>
            <p:cNvCxnSpPr>
              <a:cxnSpLocks/>
            </p:cNvCxnSpPr>
            <p:nvPr/>
          </p:nvCxnSpPr>
          <p:spPr>
            <a:xfrm>
              <a:off x="2667648" y="3800100"/>
              <a:ext cx="1293928" cy="308285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矩形 47">
              <a:extLst>
                <a:ext uri="{FF2B5EF4-FFF2-40B4-BE49-F238E27FC236}">
                  <a16:creationId xmlns:a16="http://schemas.microsoft.com/office/drawing/2014/main" id="{22146DBF-482D-DB42-8383-B71F9458F916}"/>
                </a:ext>
              </a:extLst>
            </p:cNvPr>
            <p:cNvSpPr/>
            <p:nvPr/>
          </p:nvSpPr>
          <p:spPr>
            <a:xfrm>
              <a:off x="793206" y="2317015"/>
              <a:ext cx="1852198" cy="148308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zh-CN">
                <a:solidFill>
                  <a:schemeClr val="bg1"/>
                </a:solidFill>
                <a:latin typeface="Arial"/>
                <a:cs typeface="Arial"/>
              </a:endParaRPr>
            </a:p>
            <a:p>
              <a:pPr algn="ctr"/>
              <a:r>
                <a:rPr kumimoji="1" lang="en-US" altLang="zh-CN">
                  <a:solidFill>
                    <a:schemeClr val="bg1"/>
                  </a:solidFill>
                  <a:latin typeface="Arial"/>
                  <a:cs typeface="Arial"/>
                </a:rPr>
                <a:t>32B Payload</a:t>
              </a:r>
              <a:endParaRPr kumimoji="1" lang="zh-CN" altLang="en-US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68" name="矩形 48">
              <a:extLst>
                <a:ext uri="{FF2B5EF4-FFF2-40B4-BE49-F238E27FC236}">
                  <a16:creationId xmlns:a16="http://schemas.microsoft.com/office/drawing/2014/main" id="{B693D89E-EDD6-5E41-824E-3ACE7A81B0ED}"/>
                </a:ext>
              </a:extLst>
            </p:cNvPr>
            <p:cNvSpPr/>
            <p:nvPr/>
          </p:nvSpPr>
          <p:spPr>
            <a:xfrm>
              <a:off x="793206" y="2317014"/>
              <a:ext cx="1852198" cy="31730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1400" err="1">
                  <a:solidFill>
                    <a:schemeClr val="tx1"/>
                  </a:solidFill>
                  <a:latin typeface="Arial"/>
                  <a:cs typeface="Arial"/>
                </a:rPr>
                <a:t>size|status</a:t>
              </a:r>
              <a:r>
                <a:rPr kumimoji="1" lang="en-US" altLang="zh-CN" sz="1400">
                  <a:solidFill>
                    <a:schemeClr val="tx1"/>
                  </a:solidFill>
                  <a:latin typeface="Arial"/>
                  <a:cs typeface="Arial"/>
                </a:rPr>
                <a:t>=0x31 (8B)</a:t>
              </a:r>
            </a:p>
          </p:txBody>
        </p:sp>
        <p:sp>
          <p:nvSpPr>
            <p:cNvPr id="69" name="矩形 48">
              <a:extLst>
                <a:ext uri="{FF2B5EF4-FFF2-40B4-BE49-F238E27FC236}">
                  <a16:creationId xmlns:a16="http://schemas.microsoft.com/office/drawing/2014/main" id="{01B8FF5D-4ED6-194B-A2A9-AFD6F8B695AE}"/>
                </a:ext>
              </a:extLst>
            </p:cNvPr>
            <p:cNvSpPr/>
            <p:nvPr/>
          </p:nvSpPr>
          <p:spPr>
            <a:xfrm>
              <a:off x="793205" y="2633317"/>
              <a:ext cx="1852197" cy="2459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 sz="1400">
                  <a:solidFill>
                    <a:schemeClr val="tx1"/>
                  </a:solidFill>
                  <a:latin typeface="Arial"/>
                  <a:cs typeface="Arial"/>
                </a:rPr>
                <a:t>Header padding (8B)</a:t>
              </a:r>
              <a:endParaRPr kumimoji="1" lang="en-US" altLang="zh-CN" sz="1200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70" name="Right Brace 69">
              <a:extLst>
                <a:ext uri="{FF2B5EF4-FFF2-40B4-BE49-F238E27FC236}">
                  <a16:creationId xmlns:a16="http://schemas.microsoft.com/office/drawing/2014/main" id="{E526658F-8F02-F142-9448-031C7B59438D}"/>
                </a:ext>
              </a:extLst>
            </p:cNvPr>
            <p:cNvSpPr/>
            <p:nvPr/>
          </p:nvSpPr>
          <p:spPr>
            <a:xfrm flipH="1">
              <a:off x="364522" y="2321588"/>
              <a:ext cx="324454" cy="1478512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1C7947B-C453-1C48-AC0E-B7448C3F2E6A}"/>
                </a:ext>
              </a:extLst>
            </p:cNvPr>
            <p:cNvSpPr txBox="1"/>
            <p:nvPr/>
          </p:nvSpPr>
          <p:spPr>
            <a:xfrm>
              <a:off x="17684" y="2694593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48B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DF9B731F-2FE6-EC42-9A59-F4914998F09B}"/>
              </a:ext>
            </a:extLst>
          </p:cNvPr>
          <p:cNvGrpSpPr/>
          <p:nvPr/>
        </p:nvGrpSpPr>
        <p:grpSpPr>
          <a:xfrm>
            <a:off x="1028611" y="3682798"/>
            <a:ext cx="2720233" cy="307777"/>
            <a:chOff x="1028611" y="3682798"/>
            <a:chExt cx="2720233" cy="307777"/>
          </a:xfrm>
        </p:grpSpPr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ACBDBF57-019E-D043-A6D6-C2CAF41A0C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3639" y="3842059"/>
              <a:ext cx="435205" cy="7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0DBBB45-D338-3847-91EF-60D1B269E822}"/>
                </a:ext>
              </a:extLst>
            </p:cNvPr>
            <p:cNvSpPr txBox="1"/>
            <p:nvPr/>
          </p:nvSpPr>
          <p:spPr>
            <a:xfrm>
              <a:off x="1028611" y="3682798"/>
              <a:ext cx="22717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curr</a:t>
              </a:r>
              <a:r>
                <a:rPr lang="en-US" sz="1400">
                  <a:solidFill>
                    <a:schemeClr val="accent1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140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next_chunk</a:t>
              </a:r>
              <a:r>
                <a:rPr lang="en-US" sz="1400">
                  <a:solidFill>
                    <a:schemeClr val="accent1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40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curr</a:t>
              </a:r>
              <a:r>
                <a:rPr lang="en-US" sz="1400">
                  <a:solidFill>
                    <a:schemeClr val="accent1"/>
                  </a:solidFill>
                  <a:latin typeface="Consolas" panose="020B0609020204030204" pitchFamily="49" charset="0"/>
                </a:rPr>
                <a:t>)</a:t>
              </a:r>
            </a:p>
          </p:txBody>
        </p:sp>
      </p:grpSp>
      <p:sp>
        <p:nvSpPr>
          <p:cNvPr id="3" name="矩形 20">
            <a:extLst>
              <a:ext uri="{FF2B5EF4-FFF2-40B4-BE49-F238E27FC236}">
                <a16:creationId xmlns:a16="http://schemas.microsoft.com/office/drawing/2014/main" id="{BEF38422-023B-22CB-C598-216F5B6E27EC}"/>
              </a:ext>
            </a:extLst>
          </p:cNvPr>
          <p:cNvSpPr/>
          <p:nvPr/>
        </p:nvSpPr>
        <p:spPr>
          <a:xfrm>
            <a:off x="678204" y="5688226"/>
            <a:ext cx="60950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nsolas"/>
                <a:cs typeface="Consolas"/>
              </a:rPr>
              <a:t>header *</a:t>
            </a:r>
            <a:r>
              <a:rPr lang="en-US" altLang="zh-CN" sz="1600" dirty="0" err="1">
                <a:latin typeface="Consolas"/>
                <a:cs typeface="Consolas"/>
              </a:rPr>
              <a:t>next_chunk</a:t>
            </a:r>
            <a:r>
              <a:rPr lang="en-US" altLang="zh-CN" sz="1600" dirty="0">
                <a:latin typeface="Consolas"/>
                <a:cs typeface="Consolas"/>
              </a:rPr>
              <a:t>(header *</a:t>
            </a:r>
            <a:r>
              <a:rPr lang="en-US" altLang="zh-CN" sz="1600" dirty="0" err="1">
                <a:latin typeface="Consolas"/>
                <a:cs typeface="Consolas"/>
              </a:rPr>
              <a:t>curr</a:t>
            </a:r>
            <a:r>
              <a:rPr lang="en-US" altLang="zh-CN" sz="1600" dirty="0">
                <a:latin typeface="Consolas"/>
                <a:cs typeface="Consolas"/>
              </a:rPr>
              <a:t>) {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return (header *)((char *)</a:t>
            </a:r>
            <a:r>
              <a:rPr lang="en-US" altLang="zh-CN" sz="1600" dirty="0" err="1">
                <a:latin typeface="Consolas"/>
                <a:cs typeface="Consolas"/>
              </a:rPr>
              <a:t>curr</a:t>
            </a:r>
            <a:r>
              <a:rPr lang="en-US" altLang="zh-CN" sz="1600" dirty="0">
                <a:latin typeface="Consolas"/>
                <a:cs typeface="Consolas"/>
              </a:rPr>
              <a:t> + </a:t>
            </a:r>
            <a:r>
              <a:rPr lang="en-US" altLang="zh-CN" sz="1600" dirty="0" err="1">
                <a:latin typeface="Consolas"/>
                <a:cs typeface="Consolas"/>
              </a:rPr>
              <a:t>get_size</a:t>
            </a:r>
            <a:r>
              <a:rPr lang="en-US" altLang="zh-CN" sz="1600" dirty="0">
                <a:latin typeface="Consolas"/>
                <a:cs typeface="Consolas"/>
              </a:rPr>
              <a:t>(</a:t>
            </a:r>
            <a:r>
              <a:rPr lang="en-US" altLang="zh-CN" sz="1600" dirty="0" err="1">
                <a:latin typeface="Consolas"/>
                <a:cs typeface="Consolas"/>
              </a:rPr>
              <a:t>curr</a:t>
            </a:r>
            <a:r>
              <a:rPr lang="en-US" altLang="zh-CN" sz="1600" dirty="0">
                <a:latin typeface="Consolas"/>
                <a:cs typeface="Consolas"/>
              </a:rPr>
              <a:t>));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79FE4C-98B7-F3F1-D35A-4FC366F96369}"/>
              </a:ext>
            </a:extLst>
          </p:cNvPr>
          <p:cNvSpPr txBox="1"/>
          <p:nvPr/>
        </p:nvSpPr>
        <p:spPr>
          <a:xfrm>
            <a:off x="894812" y="5985360"/>
            <a:ext cx="5705541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288294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6">
            <a:extLst>
              <a:ext uri="{FF2B5EF4-FFF2-40B4-BE49-F238E27FC236}">
                <a16:creationId xmlns:a16="http://schemas.microsoft.com/office/drawing/2014/main" id="{A4E7FA8A-B0DA-4E7C-97FD-722F9E8E7CC8}"/>
              </a:ext>
            </a:extLst>
          </p:cNvPr>
          <p:cNvSpPr/>
          <p:nvPr/>
        </p:nvSpPr>
        <p:spPr>
          <a:xfrm>
            <a:off x="6828976" y="3437573"/>
            <a:ext cx="968753" cy="47621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5" name="矩形 14">
            <a:extLst>
              <a:ext uri="{FF2B5EF4-FFF2-40B4-BE49-F238E27FC236}">
                <a16:creationId xmlns:a16="http://schemas.microsoft.com/office/drawing/2014/main" id="{A0BFB382-51C0-40E5-99BA-505C1A556287}"/>
              </a:ext>
            </a:extLst>
          </p:cNvPr>
          <p:cNvSpPr/>
          <p:nvPr/>
        </p:nvSpPr>
        <p:spPr>
          <a:xfrm>
            <a:off x="6828976" y="3097176"/>
            <a:ext cx="968753" cy="320119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0" name="矩形 10">
            <a:extLst>
              <a:ext uri="{FF2B5EF4-FFF2-40B4-BE49-F238E27FC236}">
                <a16:creationId xmlns:a16="http://schemas.microsoft.com/office/drawing/2014/main" id="{2E5A8A26-AB77-4CB3-95A0-68487BC92D31}"/>
              </a:ext>
            </a:extLst>
          </p:cNvPr>
          <p:cNvSpPr/>
          <p:nvPr/>
        </p:nvSpPr>
        <p:spPr>
          <a:xfrm>
            <a:off x="6826016" y="2244857"/>
            <a:ext cx="968753" cy="84354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4E3CDD59-572B-4B88-A329-218B0DD11FFA}"/>
              </a:ext>
            </a:extLst>
          </p:cNvPr>
          <p:cNvSpPr/>
          <p:nvPr/>
        </p:nvSpPr>
        <p:spPr>
          <a:xfrm>
            <a:off x="6826016" y="1762677"/>
            <a:ext cx="968753" cy="459701"/>
          </a:xfrm>
          <a:prstGeom prst="rect">
            <a:avLst/>
          </a:prstGeom>
          <a:solidFill>
            <a:srgbClr val="4F81BD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矩形 6">
            <a:extLst>
              <a:ext uri="{FF2B5EF4-FFF2-40B4-BE49-F238E27FC236}">
                <a16:creationId xmlns:a16="http://schemas.microsoft.com/office/drawing/2014/main" id="{26443EB5-5BFA-4A9D-B8AB-95BECCA3DEB8}"/>
              </a:ext>
            </a:extLst>
          </p:cNvPr>
          <p:cNvSpPr/>
          <p:nvPr/>
        </p:nvSpPr>
        <p:spPr>
          <a:xfrm>
            <a:off x="6826016" y="1437933"/>
            <a:ext cx="968753" cy="3104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1496E0-E6BD-4EEC-BF38-60FF25E98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11" y="146612"/>
            <a:ext cx="8229600" cy="1143000"/>
          </a:xfrm>
        </p:spPr>
        <p:txBody>
          <a:bodyPr/>
          <a:lstStyle/>
          <a:p>
            <a:r>
              <a:rPr lang="en-US"/>
              <a:t>Implicit list</a:t>
            </a:r>
          </a:p>
        </p:txBody>
      </p:sp>
      <p:sp>
        <p:nvSpPr>
          <p:cNvPr id="4" name="矩形 18">
            <a:extLst>
              <a:ext uri="{FF2B5EF4-FFF2-40B4-BE49-F238E27FC236}">
                <a16:creationId xmlns:a16="http://schemas.microsoft.com/office/drawing/2014/main" id="{BF48FB70-C430-4B24-AFD0-F9648F6C4252}"/>
              </a:ext>
            </a:extLst>
          </p:cNvPr>
          <p:cNvSpPr/>
          <p:nvPr/>
        </p:nvSpPr>
        <p:spPr>
          <a:xfrm>
            <a:off x="6839126" y="3924939"/>
            <a:ext cx="968753" cy="8250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B72F06-A60D-42C2-B735-7D00C8E512EC}"/>
              </a:ext>
            </a:extLst>
          </p:cNvPr>
          <p:cNvSpPr/>
          <p:nvPr/>
        </p:nvSpPr>
        <p:spPr>
          <a:xfrm>
            <a:off x="6839126" y="1455450"/>
            <a:ext cx="916554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矩形 7">
            <a:extLst>
              <a:ext uri="{FF2B5EF4-FFF2-40B4-BE49-F238E27FC236}">
                <a16:creationId xmlns:a16="http://schemas.microsoft.com/office/drawing/2014/main" id="{12D05F66-5407-44B9-AAB0-E369DCBE4C9F}"/>
              </a:ext>
            </a:extLst>
          </p:cNvPr>
          <p:cNvSpPr/>
          <p:nvPr/>
        </p:nvSpPr>
        <p:spPr>
          <a:xfrm>
            <a:off x="6839126" y="1780775"/>
            <a:ext cx="941118" cy="131593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" name="矩形 9">
            <a:extLst>
              <a:ext uri="{FF2B5EF4-FFF2-40B4-BE49-F238E27FC236}">
                <a16:creationId xmlns:a16="http://schemas.microsoft.com/office/drawing/2014/main" id="{13B40DEE-D812-403D-B272-4342CDE60E51}"/>
              </a:ext>
            </a:extLst>
          </p:cNvPr>
          <p:cNvSpPr/>
          <p:nvPr/>
        </p:nvSpPr>
        <p:spPr>
          <a:xfrm>
            <a:off x="6851535" y="2265045"/>
            <a:ext cx="928709" cy="134457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1" name="矩形 13">
            <a:extLst>
              <a:ext uri="{FF2B5EF4-FFF2-40B4-BE49-F238E27FC236}">
                <a16:creationId xmlns:a16="http://schemas.microsoft.com/office/drawing/2014/main" id="{65610BB0-43FE-4C23-911A-D82E98A0DD73}"/>
              </a:ext>
            </a:extLst>
          </p:cNvPr>
          <p:cNvSpPr/>
          <p:nvPr/>
        </p:nvSpPr>
        <p:spPr>
          <a:xfrm>
            <a:off x="6855627" y="3117453"/>
            <a:ext cx="924617" cy="104714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2" name="矩形 15">
            <a:extLst>
              <a:ext uri="{FF2B5EF4-FFF2-40B4-BE49-F238E27FC236}">
                <a16:creationId xmlns:a16="http://schemas.microsoft.com/office/drawing/2014/main" id="{2EFB4363-03F6-4279-84C9-50615289C88D}"/>
              </a:ext>
            </a:extLst>
          </p:cNvPr>
          <p:cNvSpPr/>
          <p:nvPr/>
        </p:nvSpPr>
        <p:spPr>
          <a:xfrm>
            <a:off x="6851535" y="3440214"/>
            <a:ext cx="916855" cy="10080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4" name="矩形 17">
            <a:extLst>
              <a:ext uri="{FF2B5EF4-FFF2-40B4-BE49-F238E27FC236}">
                <a16:creationId xmlns:a16="http://schemas.microsoft.com/office/drawing/2014/main" id="{88E5C9F0-0371-4D62-B48D-2C04A3B289E5}"/>
              </a:ext>
            </a:extLst>
          </p:cNvPr>
          <p:cNvSpPr/>
          <p:nvPr/>
        </p:nvSpPr>
        <p:spPr>
          <a:xfrm>
            <a:off x="6858139" y="3941690"/>
            <a:ext cx="931526" cy="134747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5" name="矩形 19">
            <a:extLst>
              <a:ext uri="{FF2B5EF4-FFF2-40B4-BE49-F238E27FC236}">
                <a16:creationId xmlns:a16="http://schemas.microsoft.com/office/drawing/2014/main" id="{78382B00-0F49-412D-AFCD-46A8E5BD2AC1}"/>
              </a:ext>
            </a:extLst>
          </p:cNvPr>
          <p:cNvSpPr/>
          <p:nvPr/>
        </p:nvSpPr>
        <p:spPr>
          <a:xfrm>
            <a:off x="6855627" y="4774274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6" name="矩形 20">
            <a:extLst>
              <a:ext uri="{FF2B5EF4-FFF2-40B4-BE49-F238E27FC236}">
                <a16:creationId xmlns:a16="http://schemas.microsoft.com/office/drawing/2014/main" id="{633C3154-DEDB-4B6E-ADDD-4984A31AB8D4}"/>
              </a:ext>
            </a:extLst>
          </p:cNvPr>
          <p:cNvSpPr/>
          <p:nvPr/>
        </p:nvSpPr>
        <p:spPr>
          <a:xfrm>
            <a:off x="6836988" y="4749978"/>
            <a:ext cx="968753" cy="1986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矩形 26">
            <a:extLst>
              <a:ext uri="{FF2B5EF4-FFF2-40B4-BE49-F238E27FC236}">
                <a16:creationId xmlns:a16="http://schemas.microsoft.com/office/drawing/2014/main" id="{715CF9C9-745C-429A-8310-5FA791C4C980}"/>
              </a:ext>
            </a:extLst>
          </p:cNvPr>
          <p:cNvSpPr/>
          <p:nvPr/>
        </p:nvSpPr>
        <p:spPr>
          <a:xfrm>
            <a:off x="6874232" y="524908"/>
            <a:ext cx="423171" cy="6674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8" name="矩形 27">
            <a:extLst>
              <a:ext uri="{FF2B5EF4-FFF2-40B4-BE49-F238E27FC236}">
                <a16:creationId xmlns:a16="http://schemas.microsoft.com/office/drawing/2014/main" id="{5E4E9D4F-E156-46D7-A101-AC768D889782}"/>
              </a:ext>
            </a:extLst>
          </p:cNvPr>
          <p:cNvSpPr/>
          <p:nvPr/>
        </p:nvSpPr>
        <p:spPr>
          <a:xfrm>
            <a:off x="7361949" y="391481"/>
            <a:ext cx="7489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header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19" name="矩形 29">
            <a:extLst>
              <a:ext uri="{FF2B5EF4-FFF2-40B4-BE49-F238E27FC236}">
                <a16:creationId xmlns:a16="http://schemas.microsoft.com/office/drawing/2014/main" id="{936C3F6A-58B3-4E11-A4EF-D167E13A0814}"/>
              </a:ext>
            </a:extLst>
          </p:cNvPr>
          <p:cNvSpPr/>
          <p:nvPr/>
        </p:nvSpPr>
        <p:spPr>
          <a:xfrm>
            <a:off x="6874232" y="746830"/>
            <a:ext cx="423171" cy="6674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0" name="矩形 30">
            <a:extLst>
              <a:ext uri="{FF2B5EF4-FFF2-40B4-BE49-F238E27FC236}">
                <a16:creationId xmlns:a16="http://schemas.microsoft.com/office/drawing/2014/main" id="{2B6DFBE1-990F-46F4-97BE-36C31FEFB1A0}"/>
              </a:ext>
            </a:extLst>
          </p:cNvPr>
          <p:cNvSpPr/>
          <p:nvPr/>
        </p:nvSpPr>
        <p:spPr>
          <a:xfrm>
            <a:off x="7361949" y="613403"/>
            <a:ext cx="15821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allocated payload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23" name="矩形 33">
            <a:extLst>
              <a:ext uri="{FF2B5EF4-FFF2-40B4-BE49-F238E27FC236}">
                <a16:creationId xmlns:a16="http://schemas.microsoft.com/office/drawing/2014/main" id="{FC9C4A73-CE38-4F51-8C72-76FAC8547C7C}"/>
              </a:ext>
            </a:extLst>
          </p:cNvPr>
          <p:cNvSpPr/>
          <p:nvPr/>
        </p:nvSpPr>
        <p:spPr>
          <a:xfrm>
            <a:off x="6874232" y="946625"/>
            <a:ext cx="423171" cy="667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4" name="矩形 34">
            <a:extLst>
              <a:ext uri="{FF2B5EF4-FFF2-40B4-BE49-F238E27FC236}">
                <a16:creationId xmlns:a16="http://schemas.microsoft.com/office/drawing/2014/main" id="{523699D1-4500-41DF-B8D8-4E97E9555073}"/>
              </a:ext>
            </a:extLst>
          </p:cNvPr>
          <p:cNvSpPr/>
          <p:nvPr/>
        </p:nvSpPr>
        <p:spPr>
          <a:xfrm>
            <a:off x="7353489" y="822098"/>
            <a:ext cx="9797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free block</a:t>
            </a:r>
            <a:endParaRPr lang="zh-CN" altLang="en-US" sz="1400">
              <a:latin typeface="Arial"/>
              <a:cs typeface="Arial"/>
            </a:endParaRPr>
          </a:p>
        </p:txBody>
      </p:sp>
      <p:cxnSp>
        <p:nvCxnSpPr>
          <p:cNvPr id="26" name="直线箭头连接符 36">
            <a:extLst>
              <a:ext uri="{FF2B5EF4-FFF2-40B4-BE49-F238E27FC236}">
                <a16:creationId xmlns:a16="http://schemas.microsoft.com/office/drawing/2014/main" id="{82D38EE8-B470-42D6-9522-5F108C49FB06}"/>
              </a:ext>
            </a:extLst>
          </p:cNvPr>
          <p:cNvCxnSpPr/>
          <p:nvPr/>
        </p:nvCxnSpPr>
        <p:spPr>
          <a:xfrm>
            <a:off x="7986892" y="5120680"/>
            <a:ext cx="0" cy="14646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矩形 40">
            <a:extLst>
              <a:ext uri="{FF2B5EF4-FFF2-40B4-BE49-F238E27FC236}">
                <a16:creationId xmlns:a16="http://schemas.microsoft.com/office/drawing/2014/main" id="{13662FE1-AEFF-48F2-B1C7-DC7933648553}"/>
              </a:ext>
            </a:extLst>
          </p:cNvPr>
          <p:cNvSpPr/>
          <p:nvPr/>
        </p:nvSpPr>
        <p:spPr>
          <a:xfrm rot="5400000">
            <a:off x="7383195" y="5702122"/>
            <a:ext cx="16987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err="1">
                <a:latin typeface="Arial"/>
                <a:cs typeface="Arial"/>
              </a:rPr>
              <a:t>addr</a:t>
            </a:r>
            <a:r>
              <a:rPr lang="en-US" altLang="zh-CN">
                <a:latin typeface="Arial"/>
                <a:cs typeface="Arial"/>
              </a:rPr>
              <a:t> increases</a:t>
            </a:r>
            <a:endParaRPr lang="zh-CN" altLang="en-US">
              <a:latin typeface="Arial"/>
              <a:cs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B3A082-FEF6-4A50-8AE1-C39FA65536E1}"/>
              </a:ext>
            </a:extLst>
          </p:cNvPr>
          <p:cNvSpPr txBox="1"/>
          <p:nvPr/>
        </p:nvSpPr>
        <p:spPr>
          <a:xfrm>
            <a:off x="5535873" y="1231476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solidFill>
                  <a:schemeClr val="accent1"/>
                </a:solidFill>
              </a:rPr>
              <a:t>heap_lo</a:t>
            </a:r>
            <a:r>
              <a:rPr lang="en-US">
                <a:solidFill>
                  <a:schemeClr val="accent1"/>
                </a:solidFill>
              </a:rPr>
              <a:t>()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CB3F9E8-E746-4A71-9E09-B1DF6F408455}"/>
              </a:ext>
            </a:extLst>
          </p:cNvPr>
          <p:cNvCxnSpPr>
            <a:cxnSpLocks/>
          </p:cNvCxnSpPr>
          <p:nvPr/>
        </p:nvCxnSpPr>
        <p:spPr>
          <a:xfrm flipV="1">
            <a:off x="6546316" y="1438537"/>
            <a:ext cx="211035" cy="3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24DC11E-DAAC-42DF-A634-E5D17DB4AB5D}"/>
              </a:ext>
            </a:extLst>
          </p:cNvPr>
          <p:cNvSpPr txBox="1"/>
          <p:nvPr/>
        </p:nvSpPr>
        <p:spPr>
          <a:xfrm>
            <a:off x="5496282" y="6527133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>
                <a:solidFill>
                  <a:schemeClr val="accent1"/>
                </a:solidFill>
              </a:rPr>
              <a:t>heap_hi</a:t>
            </a:r>
            <a:r>
              <a:rPr lang="en-US">
                <a:solidFill>
                  <a:schemeClr val="accent1"/>
                </a:solidFill>
              </a:rPr>
              <a:t>()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0FBB447-BC94-4EBD-91B2-A8C70C81BC80}"/>
              </a:ext>
            </a:extLst>
          </p:cNvPr>
          <p:cNvCxnSpPr>
            <a:cxnSpLocks/>
          </p:cNvCxnSpPr>
          <p:nvPr/>
        </p:nvCxnSpPr>
        <p:spPr>
          <a:xfrm flipV="1">
            <a:off x="6480414" y="6715239"/>
            <a:ext cx="211035" cy="3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050DE7-558E-4A11-A516-7C9C399D0C56}"/>
              </a:ext>
            </a:extLst>
          </p:cNvPr>
          <p:cNvCxnSpPr>
            <a:cxnSpLocks/>
          </p:cNvCxnSpPr>
          <p:nvPr/>
        </p:nvCxnSpPr>
        <p:spPr>
          <a:xfrm>
            <a:off x="6438669" y="1741063"/>
            <a:ext cx="3342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44B910B-D62D-4CAB-9CA4-B2EAD229A06A}"/>
              </a:ext>
            </a:extLst>
          </p:cNvPr>
          <p:cNvSpPr txBox="1"/>
          <p:nvPr/>
        </p:nvSpPr>
        <p:spPr>
          <a:xfrm>
            <a:off x="5898195" y="1563545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>
                <a:solidFill>
                  <a:schemeClr val="accent1"/>
                </a:solidFill>
                <a:latin typeface="Consolas" panose="020B0609020204030204" pitchFamily="49" charset="0"/>
              </a:rPr>
              <a:t>curr</a:t>
            </a:r>
            <a:endParaRPr lang="en-US" sz="140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矩形 20">
            <a:extLst>
              <a:ext uri="{FF2B5EF4-FFF2-40B4-BE49-F238E27FC236}">
                <a16:creationId xmlns:a16="http://schemas.microsoft.com/office/drawing/2014/main" id="{69ECD974-5902-45AA-A4ED-E7D9E60C1B88}"/>
              </a:ext>
            </a:extLst>
          </p:cNvPr>
          <p:cNvSpPr/>
          <p:nvPr/>
        </p:nvSpPr>
        <p:spPr>
          <a:xfrm>
            <a:off x="325871" y="4668178"/>
            <a:ext cx="437761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>
                <a:latin typeface="Consolas"/>
                <a:cs typeface="Consolas"/>
              </a:rPr>
              <a:t>header *</a:t>
            </a:r>
            <a:r>
              <a:rPr lang="en-US" altLang="zh-CN" sz="1600" err="1">
                <a:latin typeface="Consolas"/>
                <a:cs typeface="Consolas"/>
              </a:rPr>
              <a:t>next_chunk</a:t>
            </a:r>
            <a:r>
              <a:rPr lang="en-US" altLang="zh-CN" sz="1600">
                <a:latin typeface="Consolas"/>
                <a:cs typeface="Consolas"/>
              </a:rPr>
              <a:t>(header *</a:t>
            </a:r>
            <a:r>
              <a:rPr lang="en-US" altLang="zh-CN" sz="1600" err="1">
                <a:latin typeface="Consolas"/>
                <a:cs typeface="Consolas"/>
              </a:rPr>
              <a:t>curr</a:t>
            </a:r>
            <a:r>
              <a:rPr lang="en-US" altLang="zh-CN" sz="1600">
                <a:latin typeface="Consolas"/>
                <a:cs typeface="Consolas"/>
              </a:rPr>
              <a:t>)</a:t>
            </a:r>
          </a:p>
          <a:p>
            <a:r>
              <a:rPr lang="en-US" altLang="zh-CN" sz="1600">
                <a:latin typeface="Consolas"/>
                <a:cs typeface="Consolas"/>
              </a:rPr>
              <a:t>{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A73F4A5-6FB9-49F9-A951-B551FD89FB91}"/>
              </a:ext>
            </a:extLst>
          </p:cNvPr>
          <p:cNvCxnSpPr/>
          <p:nvPr/>
        </p:nvCxnSpPr>
        <p:spPr>
          <a:xfrm>
            <a:off x="6456981" y="2244159"/>
            <a:ext cx="3342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7883217-0410-423C-AF78-BCD10D6442EB}"/>
              </a:ext>
            </a:extLst>
          </p:cNvPr>
          <p:cNvSpPr txBox="1"/>
          <p:nvPr/>
        </p:nvSpPr>
        <p:spPr>
          <a:xfrm>
            <a:off x="4598141" y="1912784"/>
            <a:ext cx="2271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>
                <a:solidFill>
                  <a:schemeClr val="accent1"/>
                </a:solidFill>
                <a:latin typeface="Consolas" panose="020B0609020204030204" pitchFamily="49" charset="0"/>
              </a:rPr>
              <a:t>curr</a:t>
            </a:r>
            <a:r>
              <a:rPr lang="en-US" sz="1400">
                <a:solidFill>
                  <a:schemeClr val="accent1"/>
                </a:solidFill>
                <a:latin typeface="Consolas" panose="020B0609020204030204" pitchFamily="49" charset="0"/>
              </a:rPr>
              <a:t>=</a:t>
            </a:r>
            <a:r>
              <a:rPr lang="en-US" sz="1400" err="1">
                <a:solidFill>
                  <a:schemeClr val="accent1"/>
                </a:solidFill>
                <a:latin typeface="Consolas" panose="020B0609020204030204" pitchFamily="49" charset="0"/>
              </a:rPr>
              <a:t>next_chunk</a:t>
            </a:r>
            <a:r>
              <a:rPr lang="en-US" sz="140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lang="en-US" sz="1400" err="1">
                <a:solidFill>
                  <a:schemeClr val="accent1"/>
                </a:solidFill>
                <a:latin typeface="Consolas" panose="020B0609020204030204" pitchFamily="49" charset="0"/>
              </a:rPr>
              <a:t>curr</a:t>
            </a:r>
            <a:r>
              <a:rPr lang="en-US" sz="1400">
                <a:solidFill>
                  <a:schemeClr val="accent1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7" name="矩形 20">
            <a:extLst>
              <a:ext uri="{FF2B5EF4-FFF2-40B4-BE49-F238E27FC236}">
                <a16:creationId xmlns:a16="http://schemas.microsoft.com/office/drawing/2014/main" id="{816E67D1-1678-42F6-9C3D-32680FCA9932}"/>
              </a:ext>
            </a:extLst>
          </p:cNvPr>
          <p:cNvSpPr/>
          <p:nvPr/>
        </p:nvSpPr>
        <p:spPr>
          <a:xfrm>
            <a:off x="325871" y="1259630"/>
            <a:ext cx="4637425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</a:rPr>
              <a:t>typedef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struct</a:t>
            </a:r>
            <a:r>
              <a:rPr lang="en-US" altLang="zh-CN" sz="1600">
                <a:latin typeface="Consolas"/>
                <a:cs typeface="Consolas"/>
              </a:rPr>
              <a:t> {</a:t>
            </a:r>
          </a:p>
          <a:p>
            <a:r>
              <a:rPr lang="en-US" altLang="zh-CN" sz="1600">
                <a:latin typeface="Consolas"/>
                <a:cs typeface="Consolas"/>
              </a:rPr>
              <a:t>  unsigned long </a:t>
            </a:r>
            <a:r>
              <a:rPr lang="en-US" altLang="zh-CN" sz="1600" err="1">
                <a:latin typeface="Consolas"/>
                <a:cs typeface="Consolas"/>
              </a:rPr>
              <a:t>size_and_status</a:t>
            </a:r>
            <a:r>
              <a:rPr lang="en-US" altLang="zh-CN" sz="1600">
                <a:latin typeface="Consolas"/>
                <a:cs typeface="Consolas"/>
              </a:rPr>
              <a:t>;</a:t>
            </a:r>
          </a:p>
          <a:p>
            <a:r>
              <a:rPr lang="en-US" altLang="zh-CN" sz="1600">
                <a:latin typeface="Consolas"/>
                <a:cs typeface="Consolas"/>
              </a:rPr>
              <a:t>  unsigned long padding;</a:t>
            </a:r>
          </a:p>
          <a:p>
            <a:r>
              <a:rPr lang="en-US" altLang="zh-CN" sz="1600">
                <a:latin typeface="Consolas"/>
                <a:cs typeface="Consolas"/>
              </a:rPr>
              <a:t>} header;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>
                <a:latin typeface="Consolas"/>
                <a:cs typeface="Consolas"/>
              </a:rPr>
              <a:t>bool </a:t>
            </a:r>
            <a:r>
              <a:rPr lang="en-US" altLang="zh-CN" sz="1600" err="1">
                <a:latin typeface="Consolas"/>
                <a:cs typeface="Consolas"/>
              </a:rPr>
              <a:t>get_status</a:t>
            </a:r>
            <a:r>
              <a:rPr lang="en-US" altLang="zh-CN" sz="1600">
                <a:latin typeface="Consolas"/>
                <a:cs typeface="Consolas"/>
              </a:rPr>
              <a:t>(header *h) {</a:t>
            </a:r>
          </a:p>
          <a:p>
            <a:r>
              <a:rPr lang="en-US" altLang="zh-CN" sz="1600">
                <a:latin typeface="Consolas"/>
                <a:cs typeface="Consolas"/>
              </a:rPr>
              <a:t>   return h-&gt;</a:t>
            </a:r>
            <a:r>
              <a:rPr lang="en-US" altLang="zh-CN" sz="1600" err="1">
                <a:latin typeface="Consolas"/>
                <a:cs typeface="Consolas"/>
              </a:rPr>
              <a:t>size_and_status</a:t>
            </a:r>
            <a:r>
              <a:rPr lang="en-US" altLang="zh-CN" sz="1600">
                <a:latin typeface="Consolas"/>
                <a:cs typeface="Consolas"/>
              </a:rPr>
              <a:t> &amp; 0x1L;</a:t>
            </a: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>
                <a:latin typeface="Consolas"/>
                <a:cs typeface="Consolas"/>
              </a:rPr>
              <a:t>unsigned long </a:t>
            </a:r>
            <a:r>
              <a:rPr lang="en-US" altLang="zh-CN" sz="1600" err="1">
                <a:latin typeface="Consolas"/>
                <a:cs typeface="Consolas"/>
              </a:rPr>
              <a:t>get_size</a:t>
            </a:r>
            <a:r>
              <a:rPr lang="en-US" altLang="zh-CN" sz="1600">
                <a:latin typeface="Consolas"/>
                <a:cs typeface="Consolas"/>
              </a:rPr>
              <a:t>(header *h) </a:t>
            </a:r>
          </a:p>
          <a:p>
            <a:r>
              <a:rPr lang="en-US" altLang="zh-CN" sz="1600">
                <a:latin typeface="Consolas"/>
                <a:cs typeface="Consolas"/>
              </a:rPr>
              <a:t>{</a:t>
            </a:r>
          </a:p>
          <a:p>
            <a:r>
              <a:rPr lang="en-US" altLang="zh-CN" sz="1600">
                <a:latin typeface="Consolas"/>
                <a:cs typeface="Consolas"/>
              </a:rPr>
              <a:t>   return h-&gt;</a:t>
            </a:r>
            <a:r>
              <a:rPr lang="en-US" altLang="zh-CN" sz="1600" err="1">
                <a:latin typeface="Consolas"/>
                <a:cs typeface="Consolas"/>
              </a:rPr>
              <a:t>size_and_status</a:t>
            </a:r>
            <a:r>
              <a:rPr lang="en-US" altLang="zh-CN" sz="1600">
                <a:latin typeface="Consolas"/>
                <a:cs typeface="Consolas"/>
              </a:rPr>
              <a:t> &amp; ~(0x1L);</a:t>
            </a: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DD09FF-C4DA-4423-8D30-75EBCE7A4591}"/>
              </a:ext>
            </a:extLst>
          </p:cNvPr>
          <p:cNvSpPr txBox="1"/>
          <p:nvPr/>
        </p:nvSpPr>
        <p:spPr>
          <a:xfrm>
            <a:off x="467150" y="5110327"/>
            <a:ext cx="5795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Consolas"/>
                <a:cs typeface="Consolas"/>
              </a:rPr>
              <a:t> return (header *)((char *)</a:t>
            </a:r>
            <a:r>
              <a:rPr lang="en-US" altLang="zh-CN" sz="1600" err="1">
                <a:latin typeface="Consolas"/>
                <a:cs typeface="Consolas"/>
              </a:rPr>
              <a:t>curr</a:t>
            </a:r>
            <a:r>
              <a:rPr lang="en-US" altLang="zh-CN" sz="1600">
                <a:latin typeface="Consolas"/>
                <a:cs typeface="Consolas"/>
              </a:rPr>
              <a:t> + </a:t>
            </a:r>
            <a:r>
              <a:rPr lang="en-US" altLang="zh-CN" sz="1600" err="1">
                <a:latin typeface="Consolas"/>
                <a:cs typeface="Consolas"/>
              </a:rPr>
              <a:t>get_size</a:t>
            </a:r>
            <a:r>
              <a:rPr lang="en-US" altLang="zh-CN" sz="1600">
                <a:latin typeface="Consolas"/>
                <a:cs typeface="Consolas"/>
              </a:rPr>
              <a:t>(</a:t>
            </a:r>
            <a:r>
              <a:rPr lang="en-US" altLang="zh-CN" sz="1600" err="1">
                <a:latin typeface="Consolas"/>
                <a:cs typeface="Consolas"/>
              </a:rPr>
              <a:t>curr</a:t>
            </a:r>
            <a:r>
              <a:rPr lang="en-US" altLang="zh-CN" sz="1600">
                <a:latin typeface="Consolas"/>
                <a:cs typeface="Consolas"/>
              </a:rPr>
              <a:t>));</a:t>
            </a:r>
            <a:endParaRPr lang="en-US" sz="1600"/>
          </a:p>
        </p:txBody>
      </p:sp>
      <p:sp>
        <p:nvSpPr>
          <p:cNvPr id="59" name="矩形 20">
            <a:extLst>
              <a:ext uri="{FF2B5EF4-FFF2-40B4-BE49-F238E27FC236}">
                <a16:creationId xmlns:a16="http://schemas.microsoft.com/office/drawing/2014/main" id="{FCFB1514-A05C-4188-8824-24242BA7F268}"/>
              </a:ext>
            </a:extLst>
          </p:cNvPr>
          <p:cNvSpPr/>
          <p:nvPr/>
        </p:nvSpPr>
        <p:spPr>
          <a:xfrm>
            <a:off x="301814" y="5780782"/>
            <a:ext cx="437761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>
                <a:latin typeface="Consolas"/>
                <a:cs typeface="Consolas"/>
              </a:rPr>
              <a:t>header *payload2header(void *p)</a:t>
            </a:r>
          </a:p>
          <a:p>
            <a:r>
              <a:rPr lang="en-US" altLang="zh-CN" sz="1600">
                <a:latin typeface="Consolas"/>
                <a:cs typeface="Consolas"/>
              </a:rPr>
              <a:t>{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6096F3D-4F8B-40BF-87D0-CB05847B1F80}"/>
              </a:ext>
            </a:extLst>
          </p:cNvPr>
          <p:cNvSpPr txBox="1"/>
          <p:nvPr/>
        </p:nvSpPr>
        <p:spPr>
          <a:xfrm>
            <a:off x="443093" y="6222931"/>
            <a:ext cx="5458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Consolas"/>
                <a:cs typeface="Consolas"/>
              </a:rPr>
              <a:t> return (header *)((char *)p – </a:t>
            </a:r>
            <a:r>
              <a:rPr lang="en-US" altLang="zh-CN" sz="1600" err="1">
                <a:latin typeface="Consolas"/>
                <a:cs typeface="Consolas"/>
              </a:rPr>
              <a:t>sizeof</a:t>
            </a:r>
            <a:r>
              <a:rPr lang="en-US" altLang="zh-CN" sz="1600">
                <a:latin typeface="Consolas"/>
                <a:cs typeface="Consolas"/>
              </a:rPr>
              <a:t>(header));</a:t>
            </a:r>
            <a:endParaRPr lang="en-US" sz="160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1086E70-060E-4ABF-AE52-DECCE4C75199}"/>
              </a:ext>
            </a:extLst>
          </p:cNvPr>
          <p:cNvCxnSpPr>
            <a:cxnSpLocks/>
          </p:cNvCxnSpPr>
          <p:nvPr/>
        </p:nvCxnSpPr>
        <p:spPr>
          <a:xfrm>
            <a:off x="6440888" y="3575186"/>
            <a:ext cx="33427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4B44D99-96E1-4F61-A608-3908C1D96FC9}"/>
              </a:ext>
            </a:extLst>
          </p:cNvPr>
          <p:cNvSpPr txBox="1"/>
          <p:nvPr/>
        </p:nvSpPr>
        <p:spPr>
          <a:xfrm>
            <a:off x="6231045" y="34027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accent1"/>
                </a:solidFill>
                <a:latin typeface="Consolas" panose="020B0609020204030204" pitchFamily="49" charset="0"/>
              </a:rPr>
              <a:t>p</a:t>
            </a:r>
            <a:endParaRPr lang="en-US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12E180C-BF86-4B40-AD5A-AF3ACC6ED958}"/>
              </a:ext>
            </a:extLst>
          </p:cNvPr>
          <p:cNvCxnSpPr>
            <a:cxnSpLocks/>
          </p:cNvCxnSpPr>
          <p:nvPr/>
        </p:nvCxnSpPr>
        <p:spPr>
          <a:xfrm flipV="1">
            <a:off x="6231045" y="3422321"/>
            <a:ext cx="541902" cy="1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15D322B-A87E-423E-BBA8-0846DA615674}"/>
              </a:ext>
            </a:extLst>
          </p:cNvPr>
          <p:cNvSpPr txBox="1"/>
          <p:nvPr/>
        </p:nvSpPr>
        <p:spPr>
          <a:xfrm>
            <a:off x="4883120" y="3132437"/>
            <a:ext cx="18742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accent1"/>
                </a:solidFill>
                <a:latin typeface="Consolas" panose="020B0609020204030204" pitchFamily="49" charset="0"/>
              </a:rPr>
              <a:t>payload2header(p)</a:t>
            </a:r>
          </a:p>
        </p:txBody>
      </p:sp>
    </p:spTree>
    <p:extLst>
      <p:ext uri="{BB962C8B-B14F-4D97-AF65-F5344CB8AC3E}">
        <p14:creationId xmlns:p14="http://schemas.microsoft.com/office/powerpoint/2010/main" val="3179942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6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505"/>
            <a:ext cx="8229600" cy="1143000"/>
          </a:xfrm>
        </p:spPr>
        <p:txBody>
          <a:bodyPr/>
          <a:lstStyle/>
          <a:p>
            <a:r>
              <a:rPr lang="en-US" dirty="0"/>
              <a:t>Allocation in an implicit list</a:t>
            </a:r>
          </a:p>
        </p:txBody>
      </p:sp>
      <p:sp>
        <p:nvSpPr>
          <p:cNvPr id="6" name="矩形 20">
            <a:extLst>
              <a:ext uri="{FF2B5EF4-FFF2-40B4-BE49-F238E27FC236}">
                <a16:creationId xmlns:a16="http://schemas.microsoft.com/office/drawing/2014/main" id="{B9A7425D-024B-264F-8E5E-EE7A6D86D0E3}"/>
              </a:ext>
            </a:extLst>
          </p:cNvPr>
          <p:cNvSpPr/>
          <p:nvPr/>
        </p:nvSpPr>
        <p:spPr>
          <a:xfrm>
            <a:off x="457200" y="1872444"/>
            <a:ext cx="808236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Consolas"/>
                <a:cs typeface="Consolas"/>
              </a:rPr>
              <a:t>void malloc(unsigned long size) {</a:t>
            </a:r>
          </a:p>
          <a:p>
            <a:r>
              <a:rPr lang="en-US" altLang="zh-CN" sz="2000">
                <a:latin typeface="Consolas"/>
                <a:cs typeface="Consolas"/>
              </a:rPr>
              <a:t>  unsigned long </a:t>
            </a:r>
            <a:r>
              <a:rPr lang="en-US" altLang="zh-CN" sz="2000" err="1">
                <a:latin typeface="Consolas"/>
                <a:cs typeface="Consolas"/>
              </a:rPr>
              <a:t>chunk_sz</a:t>
            </a:r>
            <a:r>
              <a:rPr lang="en-US" altLang="zh-CN" sz="2000">
                <a:latin typeface="Consolas"/>
                <a:cs typeface="Consolas"/>
              </a:rPr>
              <a:t> = align(size) + </a:t>
            </a:r>
            <a:r>
              <a:rPr lang="en-US" altLang="zh-CN" sz="2000" err="1">
                <a:latin typeface="Consolas"/>
                <a:cs typeface="Consolas"/>
              </a:rPr>
              <a:t>sizeof</a:t>
            </a:r>
            <a:r>
              <a:rPr lang="en-US" altLang="zh-CN" sz="2000">
                <a:latin typeface="Consolas"/>
                <a:cs typeface="Consolas"/>
              </a:rPr>
              <a:t>(header); </a:t>
            </a:r>
          </a:p>
          <a:p>
            <a:r>
              <a:rPr lang="en-US" altLang="zh-CN" sz="2000">
                <a:latin typeface="Consolas"/>
                <a:cs typeface="Consolas"/>
              </a:rPr>
              <a:t>  header *h = </a:t>
            </a:r>
            <a:r>
              <a:rPr lang="en-US" altLang="zh-CN" sz="2000" err="1">
                <a:solidFill>
                  <a:srgbClr val="0000FF"/>
                </a:solidFill>
                <a:latin typeface="Consolas"/>
                <a:cs typeface="Consolas"/>
              </a:rPr>
              <a:t>find_fit</a:t>
            </a:r>
            <a:r>
              <a:rPr lang="en-US" altLang="zh-CN" sz="2000">
                <a:latin typeface="Consolas"/>
                <a:cs typeface="Consolas"/>
              </a:rPr>
              <a:t>(</a:t>
            </a:r>
            <a:r>
              <a:rPr lang="en-US" altLang="zh-CN" sz="2000" err="1">
                <a:latin typeface="Consolas"/>
                <a:cs typeface="Consolas"/>
              </a:rPr>
              <a:t>chunk_sz</a:t>
            </a:r>
            <a:r>
              <a:rPr lang="en-US" altLang="zh-CN" sz="2000">
                <a:latin typeface="Consolas"/>
                <a:cs typeface="Consolas"/>
              </a:rPr>
              <a:t>);</a:t>
            </a:r>
          </a:p>
          <a:p>
            <a:r>
              <a:rPr lang="en-US" altLang="zh-CN" sz="2000">
                <a:latin typeface="Consolas"/>
                <a:cs typeface="Consolas"/>
              </a:rPr>
              <a:t>  //split if chunk is larger than necessary</a:t>
            </a:r>
          </a:p>
          <a:p>
            <a:r>
              <a:rPr lang="en-US" altLang="zh-CN" sz="2000">
                <a:latin typeface="Consolas"/>
                <a:cs typeface="Consolas"/>
              </a:rPr>
              <a:t>  </a:t>
            </a:r>
            <a:r>
              <a:rPr lang="en-US" altLang="zh-CN" sz="2000">
                <a:solidFill>
                  <a:srgbClr val="0000FF"/>
                </a:solidFill>
                <a:latin typeface="Consolas"/>
                <a:cs typeface="Consolas"/>
              </a:rPr>
              <a:t>split</a:t>
            </a:r>
            <a:r>
              <a:rPr lang="en-US" altLang="zh-CN" sz="2000">
                <a:latin typeface="Consolas"/>
                <a:cs typeface="Consolas"/>
              </a:rPr>
              <a:t>(h, </a:t>
            </a:r>
            <a:r>
              <a:rPr lang="en-US" altLang="zh-CN" sz="2000" err="1">
                <a:latin typeface="Consolas"/>
                <a:cs typeface="Consolas"/>
              </a:rPr>
              <a:t>chunk_sz</a:t>
            </a:r>
            <a:r>
              <a:rPr lang="en-US" altLang="zh-CN" sz="2000">
                <a:latin typeface="Consolas"/>
                <a:cs typeface="Consolas"/>
              </a:rPr>
              <a:t>);</a:t>
            </a:r>
          </a:p>
          <a:p>
            <a:r>
              <a:rPr lang="en-US" altLang="zh-CN" sz="2000">
                <a:latin typeface="Consolas"/>
                <a:cs typeface="Consolas"/>
              </a:rPr>
              <a:t>  </a:t>
            </a:r>
            <a:r>
              <a:rPr lang="en-US" altLang="zh-CN" sz="2000" err="1">
                <a:latin typeface="Consolas"/>
                <a:cs typeface="Consolas"/>
              </a:rPr>
              <a:t>set_status</a:t>
            </a:r>
            <a:r>
              <a:rPr lang="en-US" altLang="zh-CN" sz="2000">
                <a:latin typeface="Consolas"/>
                <a:cs typeface="Consolas"/>
              </a:rPr>
              <a:t>(h, true);</a:t>
            </a:r>
          </a:p>
          <a:p>
            <a:r>
              <a:rPr lang="en-US" altLang="zh-CN" sz="2000"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87169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C1620-BF94-1693-19C2-2C1A62B1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18">
            <a:extLst>
              <a:ext uri="{FF2B5EF4-FFF2-40B4-BE49-F238E27FC236}">
                <a16:creationId xmlns:a16="http://schemas.microsoft.com/office/drawing/2014/main" id="{F14A39D4-A272-87F7-648C-88AB2F3DE6D9}"/>
              </a:ext>
            </a:extLst>
          </p:cNvPr>
          <p:cNvSpPr/>
          <p:nvPr/>
        </p:nvSpPr>
        <p:spPr>
          <a:xfrm>
            <a:off x="3913015" y="3923813"/>
            <a:ext cx="968753" cy="72116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056D45-0805-EE52-9497-2BFF6B917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495" y="57973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Allocation: splitting a free block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192FB80-2FC5-1124-CA32-4DE4B363BFDD}"/>
              </a:ext>
            </a:extLst>
          </p:cNvPr>
          <p:cNvSpPr/>
          <p:nvPr/>
        </p:nvSpPr>
        <p:spPr>
          <a:xfrm>
            <a:off x="3897873" y="1332930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93A3E7-66EC-0276-E1F9-3CE3E270D340}"/>
              </a:ext>
            </a:extLst>
          </p:cNvPr>
          <p:cNvSpPr/>
          <p:nvPr/>
        </p:nvSpPr>
        <p:spPr>
          <a:xfrm>
            <a:off x="3895786" y="1445098"/>
            <a:ext cx="968753" cy="21034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9237C0-5B27-D5E8-05DC-26256E5EB996}"/>
              </a:ext>
            </a:extLst>
          </p:cNvPr>
          <p:cNvSpPr/>
          <p:nvPr/>
        </p:nvSpPr>
        <p:spPr>
          <a:xfrm>
            <a:off x="3897873" y="1661827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E469C61-E4C1-FB52-0FCC-488F81D0F875}"/>
              </a:ext>
            </a:extLst>
          </p:cNvPr>
          <p:cNvSpPr/>
          <p:nvPr/>
        </p:nvSpPr>
        <p:spPr>
          <a:xfrm>
            <a:off x="3895786" y="1773995"/>
            <a:ext cx="968753" cy="343380"/>
          </a:xfrm>
          <a:prstGeom prst="rect">
            <a:avLst/>
          </a:prstGeom>
          <a:solidFill>
            <a:srgbClr val="4F81BD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DFC236-E408-0CEA-386E-C2407CB60993}"/>
              </a:ext>
            </a:extLst>
          </p:cNvPr>
          <p:cNvSpPr/>
          <p:nvPr/>
        </p:nvSpPr>
        <p:spPr>
          <a:xfrm>
            <a:off x="3905937" y="2143295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08F901-C13A-8083-FDCE-25F2E8D26E90}"/>
              </a:ext>
            </a:extLst>
          </p:cNvPr>
          <p:cNvSpPr/>
          <p:nvPr/>
        </p:nvSpPr>
        <p:spPr>
          <a:xfrm>
            <a:off x="3895786" y="2255462"/>
            <a:ext cx="968753" cy="74831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66E9BEE-848B-6E21-6B61-4E14720843E6}"/>
              </a:ext>
            </a:extLst>
          </p:cNvPr>
          <p:cNvSpPr/>
          <p:nvPr/>
        </p:nvSpPr>
        <p:spPr>
          <a:xfrm>
            <a:off x="3904952" y="2998420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A03F81-39E7-C2A8-7B8D-C26CF7259E64}"/>
              </a:ext>
            </a:extLst>
          </p:cNvPr>
          <p:cNvSpPr/>
          <p:nvPr/>
        </p:nvSpPr>
        <p:spPr>
          <a:xfrm>
            <a:off x="3904952" y="3327317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D98E24F-A8D1-5DF6-3D07-7838ACDA03A4}"/>
              </a:ext>
            </a:extLst>
          </p:cNvPr>
          <p:cNvSpPr/>
          <p:nvPr/>
        </p:nvSpPr>
        <p:spPr>
          <a:xfrm>
            <a:off x="3902865" y="3439484"/>
            <a:ext cx="968753" cy="36930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E74D15E-59AB-F1B4-9A5B-F1AA86D69AF4}"/>
              </a:ext>
            </a:extLst>
          </p:cNvPr>
          <p:cNvSpPr/>
          <p:nvPr/>
        </p:nvSpPr>
        <p:spPr>
          <a:xfrm>
            <a:off x="3913015" y="3808785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DA920DE-AD7A-7192-7000-85BCF702BEED}"/>
              </a:ext>
            </a:extLst>
          </p:cNvPr>
          <p:cNvSpPr/>
          <p:nvPr/>
        </p:nvSpPr>
        <p:spPr>
          <a:xfrm>
            <a:off x="3913015" y="4669271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86A250-9453-354C-B4E1-251D35006662}"/>
              </a:ext>
            </a:extLst>
          </p:cNvPr>
          <p:cNvSpPr/>
          <p:nvPr/>
        </p:nvSpPr>
        <p:spPr>
          <a:xfrm>
            <a:off x="3910877" y="4795751"/>
            <a:ext cx="968753" cy="20962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00B5D3D-AB4D-EC5C-A69E-6415D22CB2A1}"/>
              </a:ext>
            </a:extLst>
          </p:cNvPr>
          <p:cNvSpPr/>
          <p:nvPr/>
        </p:nvSpPr>
        <p:spPr>
          <a:xfrm>
            <a:off x="5596892" y="1518701"/>
            <a:ext cx="423171" cy="6674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C454A3E-89A7-D09E-3517-0B9659E055BE}"/>
              </a:ext>
            </a:extLst>
          </p:cNvPr>
          <p:cNvSpPr/>
          <p:nvPr/>
        </p:nvSpPr>
        <p:spPr>
          <a:xfrm>
            <a:off x="6084609" y="1385274"/>
            <a:ext cx="7489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header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0D5C164-14D5-8143-DE4A-B86F7D93BE54}"/>
              </a:ext>
            </a:extLst>
          </p:cNvPr>
          <p:cNvSpPr/>
          <p:nvPr/>
        </p:nvSpPr>
        <p:spPr>
          <a:xfrm>
            <a:off x="5596892" y="1740623"/>
            <a:ext cx="423171" cy="6674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D1AE6F4-9F8F-9A23-DA2E-A686E1F4D49A}"/>
              </a:ext>
            </a:extLst>
          </p:cNvPr>
          <p:cNvSpPr/>
          <p:nvPr/>
        </p:nvSpPr>
        <p:spPr>
          <a:xfrm>
            <a:off x="6084609" y="1607196"/>
            <a:ext cx="15821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allocated payload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2B16581-4244-B35C-0969-9119E6AE32A4}"/>
              </a:ext>
            </a:extLst>
          </p:cNvPr>
          <p:cNvSpPr/>
          <p:nvPr/>
        </p:nvSpPr>
        <p:spPr>
          <a:xfrm>
            <a:off x="5596892" y="1960045"/>
            <a:ext cx="423171" cy="667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A8237A9-BA82-4554-52E6-9D7F92D94AAF}"/>
              </a:ext>
            </a:extLst>
          </p:cNvPr>
          <p:cNvSpPr/>
          <p:nvPr/>
        </p:nvSpPr>
        <p:spPr>
          <a:xfrm>
            <a:off x="6076149" y="1835518"/>
            <a:ext cx="9797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free block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76A7484-7F58-A167-1EDC-ECD5FEF7CBFC}"/>
              </a:ext>
            </a:extLst>
          </p:cNvPr>
          <p:cNvSpPr/>
          <p:nvPr/>
        </p:nvSpPr>
        <p:spPr>
          <a:xfrm>
            <a:off x="3902865" y="3101948"/>
            <a:ext cx="968753" cy="210344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84ECD54-5266-6C29-9F59-B627DBB60F12}"/>
              </a:ext>
            </a:extLst>
          </p:cNvPr>
          <p:cNvSpPr/>
          <p:nvPr/>
        </p:nvSpPr>
        <p:spPr>
          <a:xfrm>
            <a:off x="4064208" y="1000014"/>
            <a:ext cx="6411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>
                <a:latin typeface="Arial"/>
                <a:cs typeface="Arial"/>
              </a:rPr>
              <a:t>heap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48AA5EE-4BCB-B257-F672-EE907234A4B1}"/>
              </a:ext>
            </a:extLst>
          </p:cNvPr>
          <p:cNvSpPr/>
          <p:nvPr/>
        </p:nvSpPr>
        <p:spPr>
          <a:xfrm>
            <a:off x="638311" y="1575828"/>
            <a:ext cx="208835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latin typeface="Consolas"/>
                <a:cs typeface="Consolas"/>
              </a:rPr>
              <a:t>...</a:t>
            </a:r>
          </a:p>
          <a:p>
            <a:r>
              <a:rPr kumimoji="1" lang="en-US" altLang="zh-CN">
                <a:latin typeface="Consolas"/>
                <a:cs typeface="Consolas"/>
              </a:rPr>
              <a:t>p9 = </a:t>
            </a:r>
            <a:r>
              <a:rPr kumimoji="1" lang="en-US" altLang="zh-CN" err="1">
                <a:latin typeface="Consolas"/>
                <a:cs typeface="Consolas"/>
              </a:rPr>
              <a:t>malloc</a:t>
            </a:r>
            <a:r>
              <a:rPr kumimoji="1" lang="en-US" altLang="zh-CN">
                <a:latin typeface="Consolas"/>
                <a:cs typeface="Consolas"/>
              </a:rPr>
              <a:t>(16)</a:t>
            </a:r>
          </a:p>
          <a:p>
            <a:endParaRPr kumimoji="1" lang="en-US" altLang="zh-CN">
              <a:latin typeface="Consolas"/>
              <a:cs typeface="Consola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F2B209F-AAAE-EBD8-D4F6-97F9FFEAB63A}"/>
              </a:ext>
            </a:extLst>
          </p:cNvPr>
          <p:cNvGrpSpPr/>
          <p:nvPr/>
        </p:nvGrpSpPr>
        <p:grpSpPr>
          <a:xfrm>
            <a:off x="2977551" y="3808785"/>
            <a:ext cx="918235" cy="338554"/>
            <a:chOff x="2977551" y="3808785"/>
            <a:chExt cx="918235" cy="338554"/>
          </a:xfrm>
        </p:grpSpPr>
        <p:cxnSp>
          <p:nvCxnSpPr>
            <p:cNvPr id="44" name="直线箭头连接符 37">
              <a:extLst>
                <a:ext uri="{FF2B5EF4-FFF2-40B4-BE49-F238E27FC236}">
                  <a16:creationId xmlns:a16="http://schemas.microsoft.com/office/drawing/2014/main" id="{0D666CF9-08FF-D2CA-9876-430DB18D7D1C}"/>
                </a:ext>
              </a:extLst>
            </p:cNvPr>
            <p:cNvCxnSpPr/>
            <p:nvPr/>
          </p:nvCxnSpPr>
          <p:spPr>
            <a:xfrm flipV="1">
              <a:off x="3390444" y="3965015"/>
              <a:ext cx="505342" cy="374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矩形 41">
              <a:extLst>
                <a:ext uri="{FF2B5EF4-FFF2-40B4-BE49-F238E27FC236}">
                  <a16:creationId xmlns:a16="http://schemas.microsoft.com/office/drawing/2014/main" id="{30C69392-CD53-744D-0580-80B16519BAF6}"/>
                </a:ext>
              </a:extLst>
            </p:cNvPr>
            <p:cNvSpPr/>
            <p:nvPr/>
          </p:nvSpPr>
          <p:spPr>
            <a:xfrm>
              <a:off x="2977551" y="3808785"/>
              <a:ext cx="41289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p9</a:t>
              </a:r>
              <a:endParaRPr lang="zh-CN" altLang="en-US" sz="1600">
                <a:latin typeface="Arial"/>
                <a:cs typeface="Arial"/>
              </a:endParaRPr>
            </a:p>
          </p:txBody>
        </p:sp>
      </p:grpSp>
      <p:cxnSp>
        <p:nvCxnSpPr>
          <p:cNvPr id="48" name="直线箭头连接符 36">
            <a:extLst>
              <a:ext uri="{FF2B5EF4-FFF2-40B4-BE49-F238E27FC236}">
                <a16:creationId xmlns:a16="http://schemas.microsoft.com/office/drawing/2014/main" id="{5D91649B-EB66-7424-164C-DF424612F5CC}"/>
              </a:ext>
            </a:extLst>
          </p:cNvPr>
          <p:cNvCxnSpPr/>
          <p:nvPr/>
        </p:nvCxnSpPr>
        <p:spPr>
          <a:xfrm>
            <a:off x="5104074" y="5181600"/>
            <a:ext cx="0" cy="14646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矩形 40">
            <a:extLst>
              <a:ext uri="{FF2B5EF4-FFF2-40B4-BE49-F238E27FC236}">
                <a16:creationId xmlns:a16="http://schemas.microsoft.com/office/drawing/2014/main" id="{5D8E6A88-809B-CB5C-DBCD-1A2C0D0694FE}"/>
              </a:ext>
            </a:extLst>
          </p:cNvPr>
          <p:cNvSpPr/>
          <p:nvPr/>
        </p:nvSpPr>
        <p:spPr>
          <a:xfrm rot="5400000">
            <a:off x="4562868" y="5655297"/>
            <a:ext cx="16987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err="1">
                <a:latin typeface="Arial"/>
                <a:cs typeface="Arial"/>
              </a:rPr>
              <a:t>addr</a:t>
            </a:r>
            <a:r>
              <a:rPr lang="en-US" altLang="zh-CN">
                <a:latin typeface="Arial"/>
                <a:cs typeface="Arial"/>
              </a:rPr>
              <a:t> increases</a:t>
            </a:r>
            <a:endParaRPr lang="zh-CN" altLang="en-US">
              <a:latin typeface="Arial"/>
              <a:cs typeface="Arial"/>
            </a:endParaRPr>
          </a:p>
        </p:txBody>
      </p:sp>
      <p:cxnSp>
        <p:nvCxnSpPr>
          <p:cNvPr id="50" name="直线连接符 11">
            <a:extLst>
              <a:ext uri="{FF2B5EF4-FFF2-40B4-BE49-F238E27FC236}">
                <a16:creationId xmlns:a16="http://schemas.microsoft.com/office/drawing/2014/main" id="{E1FF1CFD-25EF-E9AE-21A4-AA69F01258E6}"/>
              </a:ext>
            </a:extLst>
          </p:cNvPr>
          <p:cNvCxnSpPr/>
          <p:nvPr/>
        </p:nvCxnSpPr>
        <p:spPr>
          <a:xfrm flipV="1">
            <a:off x="4893862" y="2940242"/>
            <a:ext cx="771108" cy="83327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线连接符 46">
            <a:extLst>
              <a:ext uri="{FF2B5EF4-FFF2-40B4-BE49-F238E27FC236}">
                <a16:creationId xmlns:a16="http://schemas.microsoft.com/office/drawing/2014/main" id="{44FC189C-AF00-60DA-389C-D9F63C652ECA}"/>
              </a:ext>
            </a:extLst>
          </p:cNvPr>
          <p:cNvCxnSpPr/>
          <p:nvPr/>
        </p:nvCxnSpPr>
        <p:spPr>
          <a:xfrm>
            <a:off x="4863554" y="4648971"/>
            <a:ext cx="885774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矩形 47">
            <a:extLst>
              <a:ext uri="{FF2B5EF4-FFF2-40B4-BE49-F238E27FC236}">
                <a16:creationId xmlns:a16="http://schemas.microsoft.com/office/drawing/2014/main" id="{A10FEF7C-FEC1-910A-FAB9-27FA36750A46}"/>
              </a:ext>
            </a:extLst>
          </p:cNvPr>
          <p:cNvSpPr/>
          <p:nvPr/>
        </p:nvSpPr>
        <p:spPr>
          <a:xfrm>
            <a:off x="5749328" y="3186184"/>
            <a:ext cx="1767840" cy="14627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48B Payload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3" name="矩形 48">
            <a:extLst>
              <a:ext uri="{FF2B5EF4-FFF2-40B4-BE49-F238E27FC236}">
                <a16:creationId xmlns:a16="http://schemas.microsoft.com/office/drawing/2014/main" id="{31097C1D-F9A5-1343-50D4-5044253B7ED6}"/>
              </a:ext>
            </a:extLst>
          </p:cNvPr>
          <p:cNvSpPr/>
          <p:nvPr/>
        </p:nvSpPr>
        <p:spPr>
          <a:xfrm>
            <a:off x="5749328" y="2672080"/>
            <a:ext cx="1767840" cy="5141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        0x40</a:t>
            </a:r>
          </a:p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     8B padding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62828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C70EB-AE7F-1C8D-6DEC-FFBA2F067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788D6A-5875-5401-0212-366ECD03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99" y="0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Allocation: splitting a free block 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65A90E-BE84-CDB7-8F3A-BF792EE80178}"/>
              </a:ext>
            </a:extLst>
          </p:cNvPr>
          <p:cNvSpPr/>
          <p:nvPr/>
        </p:nvSpPr>
        <p:spPr>
          <a:xfrm>
            <a:off x="3897873" y="1332930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C02681-B55B-865B-6A0E-ED35C995AB90}"/>
              </a:ext>
            </a:extLst>
          </p:cNvPr>
          <p:cNvSpPr/>
          <p:nvPr/>
        </p:nvSpPr>
        <p:spPr>
          <a:xfrm>
            <a:off x="3895786" y="1445098"/>
            <a:ext cx="968753" cy="21034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4B636E-641D-51D9-394F-44813E3A6CAF}"/>
              </a:ext>
            </a:extLst>
          </p:cNvPr>
          <p:cNvSpPr/>
          <p:nvPr/>
        </p:nvSpPr>
        <p:spPr>
          <a:xfrm>
            <a:off x="3897873" y="1661827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88D3F0-0D33-FB8C-565D-07D27F8CCE51}"/>
              </a:ext>
            </a:extLst>
          </p:cNvPr>
          <p:cNvSpPr/>
          <p:nvPr/>
        </p:nvSpPr>
        <p:spPr>
          <a:xfrm>
            <a:off x="3895786" y="1773995"/>
            <a:ext cx="968753" cy="343380"/>
          </a:xfrm>
          <a:prstGeom prst="rect">
            <a:avLst/>
          </a:prstGeom>
          <a:solidFill>
            <a:srgbClr val="4F81BD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69A03B-EFD1-99BA-FE5A-170E1B37C4BD}"/>
              </a:ext>
            </a:extLst>
          </p:cNvPr>
          <p:cNvSpPr/>
          <p:nvPr/>
        </p:nvSpPr>
        <p:spPr>
          <a:xfrm>
            <a:off x="3905937" y="2143295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C0201BA-04AF-BC81-37EE-53376DAC7B7E}"/>
              </a:ext>
            </a:extLst>
          </p:cNvPr>
          <p:cNvSpPr/>
          <p:nvPr/>
        </p:nvSpPr>
        <p:spPr>
          <a:xfrm>
            <a:off x="3895786" y="2255462"/>
            <a:ext cx="968753" cy="74831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11C68B-6F2F-BE3B-1609-C032984C289F}"/>
              </a:ext>
            </a:extLst>
          </p:cNvPr>
          <p:cNvSpPr/>
          <p:nvPr/>
        </p:nvSpPr>
        <p:spPr>
          <a:xfrm>
            <a:off x="3904952" y="2998420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AF678DD-6A30-1018-D5AF-8EA7C3A79B64}"/>
              </a:ext>
            </a:extLst>
          </p:cNvPr>
          <p:cNvSpPr/>
          <p:nvPr/>
        </p:nvSpPr>
        <p:spPr>
          <a:xfrm>
            <a:off x="3904952" y="3327317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99A40BD-CF35-1433-A197-9796A0CDF1A7}"/>
              </a:ext>
            </a:extLst>
          </p:cNvPr>
          <p:cNvSpPr/>
          <p:nvPr/>
        </p:nvSpPr>
        <p:spPr>
          <a:xfrm>
            <a:off x="3902865" y="3439484"/>
            <a:ext cx="968753" cy="36930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5629334-A14C-FBDA-8760-D3B06C692FE2}"/>
              </a:ext>
            </a:extLst>
          </p:cNvPr>
          <p:cNvSpPr/>
          <p:nvPr/>
        </p:nvSpPr>
        <p:spPr>
          <a:xfrm>
            <a:off x="3913015" y="3808785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A1CB37D-C3A3-ABC5-96FF-F3607FCC0373}"/>
              </a:ext>
            </a:extLst>
          </p:cNvPr>
          <p:cNvSpPr/>
          <p:nvPr/>
        </p:nvSpPr>
        <p:spPr>
          <a:xfrm>
            <a:off x="3902865" y="3920953"/>
            <a:ext cx="968753" cy="748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8B921F0-0E11-11F6-B862-27ACFD2273C2}"/>
              </a:ext>
            </a:extLst>
          </p:cNvPr>
          <p:cNvSpPr/>
          <p:nvPr/>
        </p:nvSpPr>
        <p:spPr>
          <a:xfrm>
            <a:off x="3913015" y="4669271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8D94E1-C7D8-0BDD-ABE3-3A3D0FFEC02F}"/>
              </a:ext>
            </a:extLst>
          </p:cNvPr>
          <p:cNvSpPr/>
          <p:nvPr/>
        </p:nvSpPr>
        <p:spPr>
          <a:xfrm>
            <a:off x="3910877" y="4808232"/>
            <a:ext cx="960741" cy="20606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FC6D638-035F-19E6-4C67-D69BB73D3A64}"/>
              </a:ext>
            </a:extLst>
          </p:cNvPr>
          <p:cNvSpPr/>
          <p:nvPr/>
        </p:nvSpPr>
        <p:spPr>
          <a:xfrm>
            <a:off x="5596892" y="1518701"/>
            <a:ext cx="423171" cy="6674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02941F2-11BC-10AA-66FB-9043B755BC8D}"/>
              </a:ext>
            </a:extLst>
          </p:cNvPr>
          <p:cNvSpPr/>
          <p:nvPr/>
        </p:nvSpPr>
        <p:spPr>
          <a:xfrm>
            <a:off x="6084609" y="1385274"/>
            <a:ext cx="7489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header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351C0E5-AB6B-5D22-E683-D2EFFA5043BD}"/>
              </a:ext>
            </a:extLst>
          </p:cNvPr>
          <p:cNvSpPr/>
          <p:nvPr/>
        </p:nvSpPr>
        <p:spPr>
          <a:xfrm>
            <a:off x="5596892" y="1740623"/>
            <a:ext cx="423171" cy="6674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2AF9930-F07C-FD5A-4CCE-D5B32BD92FCB}"/>
              </a:ext>
            </a:extLst>
          </p:cNvPr>
          <p:cNvSpPr/>
          <p:nvPr/>
        </p:nvSpPr>
        <p:spPr>
          <a:xfrm>
            <a:off x="6084609" y="1607196"/>
            <a:ext cx="15821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allocated payload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C8EC009-1D2B-43DD-B5C8-91D5A116994C}"/>
              </a:ext>
            </a:extLst>
          </p:cNvPr>
          <p:cNvSpPr/>
          <p:nvPr/>
        </p:nvSpPr>
        <p:spPr>
          <a:xfrm>
            <a:off x="5596892" y="1974344"/>
            <a:ext cx="423171" cy="667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07DC96B-BA08-BC2F-9C78-A6EA55787760}"/>
              </a:ext>
            </a:extLst>
          </p:cNvPr>
          <p:cNvSpPr/>
          <p:nvPr/>
        </p:nvSpPr>
        <p:spPr>
          <a:xfrm>
            <a:off x="6076149" y="1849817"/>
            <a:ext cx="9797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free block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1D5F5D-659F-23D4-A01B-F7455D52A870}"/>
              </a:ext>
            </a:extLst>
          </p:cNvPr>
          <p:cNvSpPr/>
          <p:nvPr/>
        </p:nvSpPr>
        <p:spPr>
          <a:xfrm>
            <a:off x="3902865" y="3101948"/>
            <a:ext cx="968753" cy="210344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A3BA512-AC54-36D9-9F11-96163912EDA8}"/>
              </a:ext>
            </a:extLst>
          </p:cNvPr>
          <p:cNvSpPr/>
          <p:nvPr/>
        </p:nvSpPr>
        <p:spPr>
          <a:xfrm>
            <a:off x="4064208" y="1000014"/>
            <a:ext cx="6411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>
                <a:latin typeface="Arial"/>
                <a:cs typeface="Arial"/>
              </a:rPr>
              <a:t>heap</a:t>
            </a:r>
            <a:endParaRPr lang="zh-CN" altLang="en-US" sz="1600">
              <a:latin typeface="Arial"/>
              <a:cs typeface="Arial"/>
            </a:endParaRPr>
          </a:p>
        </p:txBody>
      </p: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49582448-654E-A68D-9FF6-C3516F2DFF79}"/>
              </a:ext>
            </a:extLst>
          </p:cNvPr>
          <p:cNvCxnSpPr/>
          <p:nvPr/>
        </p:nvCxnSpPr>
        <p:spPr>
          <a:xfrm>
            <a:off x="5104074" y="5181600"/>
            <a:ext cx="0" cy="14646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BD175C25-E618-2241-1EC4-EABDA4C0130A}"/>
              </a:ext>
            </a:extLst>
          </p:cNvPr>
          <p:cNvSpPr/>
          <p:nvPr/>
        </p:nvSpPr>
        <p:spPr>
          <a:xfrm rot="5400000">
            <a:off x="4562868" y="5655297"/>
            <a:ext cx="16987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err="1">
                <a:latin typeface="Arial"/>
                <a:cs typeface="Arial"/>
              </a:rPr>
              <a:t>addr</a:t>
            </a:r>
            <a:r>
              <a:rPr lang="en-US" altLang="zh-CN">
                <a:latin typeface="Arial"/>
                <a:cs typeface="Arial"/>
              </a:rPr>
              <a:t> increases</a:t>
            </a:r>
            <a:endParaRPr lang="zh-CN" altLang="en-US">
              <a:latin typeface="Arial"/>
              <a:cs typeface="Arial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FDD63FF-E041-0D65-5A95-DD059D33BE8A}"/>
              </a:ext>
            </a:extLst>
          </p:cNvPr>
          <p:cNvSpPr/>
          <p:nvPr/>
        </p:nvSpPr>
        <p:spPr>
          <a:xfrm>
            <a:off x="3902864" y="3923813"/>
            <a:ext cx="968753" cy="348005"/>
          </a:xfrm>
          <a:prstGeom prst="rect">
            <a:avLst/>
          </a:prstGeom>
          <a:solidFill>
            <a:srgbClr val="4F81BD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17959F2-4D23-6EDB-2DBB-3BB8835B7437}"/>
              </a:ext>
            </a:extLst>
          </p:cNvPr>
          <p:cNvSpPr/>
          <p:nvPr/>
        </p:nvSpPr>
        <p:spPr>
          <a:xfrm>
            <a:off x="3895786" y="4246522"/>
            <a:ext cx="983844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C0A65D34-387E-FAE8-4838-950F66B2A4A3}"/>
              </a:ext>
            </a:extLst>
          </p:cNvPr>
          <p:cNvCxnSpPr/>
          <p:nvPr/>
        </p:nvCxnSpPr>
        <p:spPr>
          <a:xfrm flipV="1">
            <a:off x="3390444" y="3928115"/>
            <a:ext cx="505342" cy="3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E7C477E5-8657-A892-B111-47F49C78439D}"/>
              </a:ext>
            </a:extLst>
          </p:cNvPr>
          <p:cNvSpPr/>
          <p:nvPr/>
        </p:nvSpPr>
        <p:spPr>
          <a:xfrm>
            <a:off x="2952359" y="3743496"/>
            <a:ext cx="4128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>
                <a:latin typeface="Arial"/>
                <a:cs typeface="Arial"/>
              </a:rPr>
              <a:t>p9</a:t>
            </a:r>
            <a:endParaRPr lang="zh-CN" altLang="en-US" sz="1600">
              <a:latin typeface="Arial"/>
              <a:cs typeface="Arial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59C57FD5-C8FF-B110-C5B0-50B35AD4A5BF}"/>
              </a:ext>
            </a:extLst>
          </p:cNvPr>
          <p:cNvCxnSpPr>
            <a:endCxn id="49" idx="1"/>
          </p:cNvCxnSpPr>
          <p:nvPr/>
        </p:nvCxnSpPr>
        <p:spPr>
          <a:xfrm flipV="1">
            <a:off x="4893862" y="2929132"/>
            <a:ext cx="855466" cy="84438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线连接符 46">
            <a:extLst>
              <a:ext uri="{FF2B5EF4-FFF2-40B4-BE49-F238E27FC236}">
                <a16:creationId xmlns:a16="http://schemas.microsoft.com/office/drawing/2014/main" id="{A81F3F06-17CD-236F-DE02-F85A94F2D3D2}"/>
              </a:ext>
            </a:extLst>
          </p:cNvPr>
          <p:cNvCxnSpPr/>
          <p:nvPr/>
        </p:nvCxnSpPr>
        <p:spPr>
          <a:xfrm>
            <a:off x="4863554" y="4648971"/>
            <a:ext cx="885774" cy="276245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4705057F-69E1-EA04-9C54-A4E5BAFA340D}"/>
              </a:ext>
            </a:extLst>
          </p:cNvPr>
          <p:cNvSpPr/>
          <p:nvPr/>
        </p:nvSpPr>
        <p:spPr>
          <a:xfrm>
            <a:off x="5749328" y="3186184"/>
            <a:ext cx="1767840" cy="6226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16B Payload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BEF5386-A64D-4812-190E-6B17154CED4C}"/>
              </a:ext>
            </a:extLst>
          </p:cNvPr>
          <p:cNvSpPr/>
          <p:nvPr/>
        </p:nvSpPr>
        <p:spPr>
          <a:xfrm>
            <a:off x="5749328" y="2672080"/>
            <a:ext cx="1767840" cy="514104"/>
          </a:xfrm>
          <a:prstGeom prst="rect">
            <a:avLst/>
          </a:prstGeom>
          <a:solidFill>
            <a:srgbClr val="E6B9B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        0x21</a:t>
            </a:r>
          </a:p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     8B padding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9864BAB-B865-A6E3-5D81-0C4F2AA5AF98}"/>
              </a:ext>
            </a:extLst>
          </p:cNvPr>
          <p:cNvSpPr/>
          <p:nvPr/>
        </p:nvSpPr>
        <p:spPr>
          <a:xfrm>
            <a:off x="5749328" y="4372725"/>
            <a:ext cx="1767840" cy="6178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rgbClr val="FF0000"/>
                </a:solidFill>
                <a:latin typeface="Arial"/>
                <a:cs typeface="Arial"/>
              </a:rPr>
              <a:t>???</a:t>
            </a:r>
            <a:endParaRPr kumimoji="1" lang="zh-CN" altLang="en-US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28F5E06-8FD5-A05A-74BA-4680FB47DB28}"/>
              </a:ext>
            </a:extLst>
          </p:cNvPr>
          <p:cNvSpPr/>
          <p:nvPr/>
        </p:nvSpPr>
        <p:spPr>
          <a:xfrm>
            <a:off x="5749328" y="3801820"/>
            <a:ext cx="1767840" cy="556870"/>
          </a:xfrm>
          <a:prstGeom prst="rect">
            <a:avLst/>
          </a:prstGeom>
          <a:solidFill>
            <a:srgbClr val="E6B9B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        </a:t>
            </a:r>
            <a:r>
              <a:rPr kumimoji="1" lang="en-US" altLang="zh-CN">
                <a:solidFill>
                  <a:srgbClr val="FF0000"/>
                </a:solidFill>
                <a:latin typeface="Arial"/>
                <a:cs typeface="Arial"/>
              </a:rPr>
              <a:t>???</a:t>
            </a:r>
            <a:endParaRPr kumimoji="1" lang="zh-CN" altLang="en-US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22E5E8E-41C5-D6C0-8E54-66B257021C78}"/>
              </a:ext>
            </a:extLst>
          </p:cNvPr>
          <p:cNvSpPr/>
          <p:nvPr/>
        </p:nvSpPr>
        <p:spPr>
          <a:xfrm>
            <a:off x="561341" y="1575828"/>
            <a:ext cx="20883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latin typeface="Consolas"/>
                <a:cs typeface="Consolas"/>
              </a:rPr>
              <a:t>...</a:t>
            </a:r>
          </a:p>
          <a:p>
            <a:r>
              <a:rPr kumimoji="1" lang="en-US" altLang="zh-CN">
                <a:latin typeface="Consolas"/>
                <a:cs typeface="Consolas"/>
              </a:rPr>
              <a:t>p9 = </a:t>
            </a:r>
            <a:r>
              <a:rPr kumimoji="1" lang="en-US" altLang="zh-CN" err="1">
                <a:latin typeface="Consolas"/>
                <a:cs typeface="Consolas"/>
              </a:rPr>
              <a:t>malloc</a:t>
            </a:r>
            <a:r>
              <a:rPr kumimoji="1" lang="en-US" altLang="zh-CN">
                <a:latin typeface="Consolas"/>
                <a:cs typeface="Consolas"/>
              </a:rPr>
              <a:t>(16)</a:t>
            </a:r>
          </a:p>
        </p:txBody>
      </p:sp>
      <p:cxnSp>
        <p:nvCxnSpPr>
          <p:cNvPr id="50" name="直线连接符 46">
            <a:extLst>
              <a:ext uri="{FF2B5EF4-FFF2-40B4-BE49-F238E27FC236}">
                <a16:creationId xmlns:a16="http://schemas.microsoft.com/office/drawing/2014/main" id="{8D3491FC-AEC7-3722-0279-74CBC8BD32E6}"/>
              </a:ext>
            </a:extLst>
          </p:cNvPr>
          <p:cNvCxnSpPr/>
          <p:nvPr/>
        </p:nvCxnSpPr>
        <p:spPr>
          <a:xfrm flipV="1">
            <a:off x="4893862" y="3811980"/>
            <a:ext cx="855466" cy="43454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矩形 48">
            <a:extLst>
              <a:ext uri="{FF2B5EF4-FFF2-40B4-BE49-F238E27FC236}">
                <a16:creationId xmlns:a16="http://schemas.microsoft.com/office/drawing/2014/main" id="{416DEC69-9932-F95B-3001-C0B30CA06003}"/>
              </a:ext>
            </a:extLst>
          </p:cNvPr>
          <p:cNvSpPr/>
          <p:nvPr/>
        </p:nvSpPr>
        <p:spPr>
          <a:xfrm>
            <a:off x="5749328" y="3844586"/>
            <a:ext cx="1767840" cy="514104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        0x20</a:t>
            </a:r>
          </a:p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     8B padding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5" name="矩形 47">
            <a:extLst>
              <a:ext uri="{FF2B5EF4-FFF2-40B4-BE49-F238E27FC236}">
                <a16:creationId xmlns:a16="http://schemas.microsoft.com/office/drawing/2014/main" id="{711C73BD-7408-51FC-1280-B83C7A3166C0}"/>
              </a:ext>
            </a:extLst>
          </p:cNvPr>
          <p:cNvSpPr/>
          <p:nvPr/>
        </p:nvSpPr>
        <p:spPr>
          <a:xfrm>
            <a:off x="5749328" y="4386927"/>
            <a:ext cx="1767840" cy="538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16B Payload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AE150134-9335-780D-F9FA-4D976E11CFBC}"/>
              </a:ext>
            </a:extLst>
          </p:cNvPr>
          <p:cNvSpPr txBox="1">
            <a:spLocks/>
          </p:cNvSpPr>
          <p:nvPr/>
        </p:nvSpPr>
        <p:spPr>
          <a:xfrm>
            <a:off x="207370" y="4919900"/>
            <a:ext cx="3587279" cy="578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Q: what’s the smallest chunk?</a:t>
            </a: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4EDAD36C-A01F-210C-8AC9-83192FE637C0}"/>
              </a:ext>
            </a:extLst>
          </p:cNvPr>
          <p:cNvSpPr txBox="1">
            <a:spLocks/>
          </p:cNvSpPr>
          <p:nvPr/>
        </p:nvSpPr>
        <p:spPr>
          <a:xfrm>
            <a:off x="207370" y="5370742"/>
            <a:ext cx="3643819" cy="85385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A: 16 (header)+16(min payload) </a:t>
            </a:r>
          </a:p>
          <a:p>
            <a:pPr marL="0" indent="0">
              <a:buNone/>
            </a:pPr>
            <a:r>
              <a:rPr lang="en-US" sz="2000" dirty="0"/>
              <a:t>= 32B</a:t>
            </a:r>
          </a:p>
        </p:txBody>
      </p:sp>
    </p:spTree>
    <p:extLst>
      <p:ext uri="{BB962C8B-B14F-4D97-AF65-F5344CB8AC3E}">
        <p14:creationId xmlns:p14="http://schemas.microsoft.com/office/powerpoint/2010/main" val="4114456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5" grpId="0" animBg="1"/>
      <p:bldP spid="42" grpId="0"/>
      <p:bldP spid="5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92"/>
          <p:cNvSpPr/>
          <p:nvPr/>
        </p:nvSpPr>
        <p:spPr>
          <a:xfrm>
            <a:off x="3895786" y="1740623"/>
            <a:ext cx="943459" cy="376752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Which chunk to allocate? First fit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78870" y="1580696"/>
            <a:ext cx="195758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Consolas"/>
                <a:cs typeface="Consolas"/>
              </a:rPr>
              <a:t>…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p7 = malloc(8)</a:t>
            </a:r>
          </a:p>
          <a:p>
            <a:endParaRPr kumimoji="1" lang="en-US" altLang="zh-CN" dirty="0">
              <a:latin typeface="Consolas"/>
              <a:cs typeface="Consolas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3897873" y="1332930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3895786" y="1445098"/>
            <a:ext cx="968753" cy="21034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897873" y="1661827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3898240" y="2125072"/>
            <a:ext cx="958602" cy="13808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3895786" y="2255462"/>
            <a:ext cx="968753" cy="74831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3904952" y="2998420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904952" y="3327317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3902865" y="3439484"/>
            <a:ext cx="968753" cy="36930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3913015" y="3808785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3902865" y="3920952"/>
            <a:ext cx="968753" cy="724023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3913015" y="4669271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3910877" y="4795751"/>
            <a:ext cx="968753" cy="20962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5596892" y="1518701"/>
            <a:ext cx="423171" cy="6674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6084609" y="1385274"/>
            <a:ext cx="7489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header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5596892" y="1740623"/>
            <a:ext cx="423171" cy="6674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6084609" y="1607196"/>
            <a:ext cx="15821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allocated payload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5596892" y="1986162"/>
            <a:ext cx="423171" cy="667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6076149" y="1861635"/>
            <a:ext cx="9797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free block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902865" y="3101948"/>
            <a:ext cx="968753" cy="210344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4064208" y="1000014"/>
            <a:ext cx="6411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>
                <a:latin typeface="Arial"/>
                <a:cs typeface="Arial"/>
              </a:rPr>
              <a:t>heap</a:t>
            </a:r>
            <a:endParaRPr lang="zh-CN" altLang="en-US" sz="1600">
              <a:latin typeface="Arial"/>
              <a:cs typeface="Arial"/>
            </a:endParaRPr>
          </a:p>
        </p:txBody>
      </p:sp>
      <p:cxnSp>
        <p:nvCxnSpPr>
          <p:cNvPr id="95" name="直线箭头连接符 94"/>
          <p:cNvCxnSpPr/>
          <p:nvPr/>
        </p:nvCxnSpPr>
        <p:spPr>
          <a:xfrm>
            <a:off x="5097117" y="2394610"/>
            <a:ext cx="0" cy="35356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8" name="矩形 97"/>
          <p:cNvSpPr/>
          <p:nvPr/>
        </p:nvSpPr>
        <p:spPr>
          <a:xfrm rot="5400000">
            <a:off x="4330789" y="3736286"/>
            <a:ext cx="20579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Arial"/>
                <a:cs typeface="Arial"/>
              </a:rPr>
              <a:t>address increases</a:t>
            </a:r>
            <a:endParaRPr lang="zh-CN" altLang="en-US">
              <a:latin typeface="Arial"/>
              <a:cs typeface="Arial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5439465" y="2850627"/>
            <a:ext cx="386660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>
                <a:latin typeface="Arial"/>
                <a:cs typeface="Arial"/>
              </a:rPr>
              <a:t>First fit </a:t>
            </a:r>
            <a:r>
              <a:rPr lang="mr-IN" altLang="zh-CN">
                <a:latin typeface="Arial"/>
                <a:cs typeface="Arial"/>
              </a:rPr>
              <a:t>–</a:t>
            </a:r>
            <a:r>
              <a:rPr lang="en-US" altLang="zh-CN">
                <a:latin typeface="Arial"/>
                <a:cs typeface="Arial"/>
              </a:rPr>
              <a:t> Search list from beginning, </a:t>
            </a:r>
          </a:p>
          <a:p>
            <a:pPr marL="0" lvl="1"/>
            <a:r>
              <a:rPr lang="en-US" altLang="zh-CN">
                <a:latin typeface="Arial"/>
                <a:cs typeface="Arial"/>
              </a:rPr>
              <a:t>choose first free block that fits</a:t>
            </a:r>
          </a:p>
          <a:p>
            <a:pPr marL="0" lvl="1"/>
            <a:endParaRPr lang="en-US" altLang="zh-CN">
              <a:latin typeface="Arial"/>
              <a:cs typeface="Arial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941064" y="1169291"/>
            <a:ext cx="975042" cy="338554"/>
            <a:chOff x="2941064" y="1169291"/>
            <a:chExt cx="975042" cy="338554"/>
          </a:xfrm>
        </p:grpSpPr>
        <p:cxnSp>
          <p:nvCxnSpPr>
            <p:cNvPr id="100" name="直线箭头连接符 99"/>
            <p:cNvCxnSpPr/>
            <p:nvPr/>
          </p:nvCxnSpPr>
          <p:spPr>
            <a:xfrm flipV="1">
              <a:off x="3410764" y="1364287"/>
              <a:ext cx="505342" cy="374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1" name="矩形 100"/>
            <p:cNvSpPr/>
            <p:nvPr/>
          </p:nvSpPr>
          <p:spPr>
            <a:xfrm>
              <a:off x="2941064" y="1169291"/>
              <a:ext cx="4697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cur</a:t>
              </a:r>
              <a:endParaRPr lang="zh-CN" altLang="en-US" sz="1600">
                <a:latin typeface="Arial"/>
                <a:cs typeface="Arial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460240" y="1524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99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1.11111E-6 L 0.00104 0.0430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92"/>
          <p:cNvSpPr/>
          <p:nvPr/>
        </p:nvSpPr>
        <p:spPr>
          <a:xfrm>
            <a:off x="3895786" y="1740623"/>
            <a:ext cx="943459" cy="376752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kumimoji="1" lang="en-US" altLang="zh-CN"/>
              <a:t>First fit</a:t>
            </a:r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78870" y="1580696"/>
            <a:ext cx="195758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Consolas"/>
                <a:cs typeface="Consolas"/>
              </a:rPr>
              <a:t>…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p7 = malloc(8)</a:t>
            </a:r>
          </a:p>
          <a:p>
            <a:endParaRPr kumimoji="1" lang="en-US" altLang="zh-CN" dirty="0">
              <a:latin typeface="Consolas"/>
              <a:cs typeface="Consolas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3897873" y="1332930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3895786" y="1445098"/>
            <a:ext cx="968753" cy="21034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897873" y="1661827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3898240" y="2125072"/>
            <a:ext cx="958602" cy="13808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3895786" y="2255462"/>
            <a:ext cx="968753" cy="74831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3904952" y="2998420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904952" y="3327317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3902865" y="3439484"/>
            <a:ext cx="968753" cy="36930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3913015" y="3808785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3902865" y="3920952"/>
            <a:ext cx="968753" cy="724023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3913015" y="4669271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3910877" y="4795751"/>
            <a:ext cx="968753" cy="20962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5596892" y="1518701"/>
            <a:ext cx="423171" cy="6674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6084609" y="1385274"/>
            <a:ext cx="7489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header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5596892" y="1740623"/>
            <a:ext cx="423171" cy="6674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6084609" y="1607196"/>
            <a:ext cx="15821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allocated payload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5636144" y="1958166"/>
            <a:ext cx="423171" cy="667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6115401" y="1833639"/>
            <a:ext cx="9797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free block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902865" y="3101948"/>
            <a:ext cx="968753" cy="210344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4064208" y="1000014"/>
            <a:ext cx="6411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>
                <a:latin typeface="Arial"/>
                <a:cs typeface="Arial"/>
              </a:rPr>
              <a:t>heap</a:t>
            </a:r>
            <a:endParaRPr lang="zh-CN" altLang="en-US" sz="1600">
              <a:latin typeface="Arial"/>
              <a:cs typeface="Arial"/>
            </a:endParaRPr>
          </a:p>
        </p:txBody>
      </p:sp>
      <p:cxnSp>
        <p:nvCxnSpPr>
          <p:cNvPr id="95" name="直线箭头连接符 94"/>
          <p:cNvCxnSpPr/>
          <p:nvPr/>
        </p:nvCxnSpPr>
        <p:spPr>
          <a:xfrm>
            <a:off x="5097117" y="2394610"/>
            <a:ext cx="0" cy="35356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8" name="矩形 97"/>
          <p:cNvSpPr/>
          <p:nvPr/>
        </p:nvSpPr>
        <p:spPr>
          <a:xfrm rot="5400000">
            <a:off x="4330789" y="3736286"/>
            <a:ext cx="20579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Arial"/>
                <a:cs typeface="Arial"/>
              </a:rPr>
              <a:t>address increases</a:t>
            </a:r>
            <a:endParaRPr lang="zh-CN" altLang="en-US">
              <a:latin typeface="Arial"/>
              <a:cs typeface="Arial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5439465" y="2850627"/>
            <a:ext cx="386660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>
                <a:latin typeface="Arial"/>
                <a:cs typeface="Arial"/>
              </a:rPr>
              <a:t>First fit </a:t>
            </a:r>
            <a:r>
              <a:rPr lang="mr-IN" altLang="zh-CN">
                <a:latin typeface="Arial"/>
                <a:cs typeface="Arial"/>
              </a:rPr>
              <a:t>–</a:t>
            </a:r>
            <a:r>
              <a:rPr lang="en-US" altLang="zh-CN">
                <a:latin typeface="Arial"/>
                <a:cs typeface="Arial"/>
              </a:rPr>
              <a:t> Search list from beginning, </a:t>
            </a:r>
          </a:p>
          <a:p>
            <a:pPr marL="0" lvl="1"/>
            <a:r>
              <a:rPr lang="en-US" altLang="zh-CN">
                <a:latin typeface="Arial"/>
                <a:cs typeface="Arial"/>
              </a:rPr>
              <a:t>choose first free block that fits</a:t>
            </a:r>
          </a:p>
          <a:p>
            <a:pPr marL="0" lvl="1"/>
            <a:endParaRPr lang="en-US" altLang="zh-CN">
              <a:latin typeface="Arial"/>
              <a:cs typeface="Arial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3913016" y="1773994"/>
            <a:ext cx="943460" cy="32678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2941064" y="1693051"/>
            <a:ext cx="975042" cy="338554"/>
            <a:chOff x="2941064" y="1276899"/>
            <a:chExt cx="975042" cy="338554"/>
          </a:xfrm>
        </p:grpSpPr>
        <p:cxnSp>
          <p:nvCxnSpPr>
            <p:cNvPr id="38" name="直线箭头连接符 99"/>
            <p:cNvCxnSpPr/>
            <p:nvPr/>
          </p:nvCxnSpPr>
          <p:spPr>
            <a:xfrm flipV="1">
              <a:off x="3410764" y="1394767"/>
              <a:ext cx="505342" cy="374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矩形 100"/>
            <p:cNvSpPr/>
            <p:nvPr/>
          </p:nvSpPr>
          <p:spPr>
            <a:xfrm>
              <a:off x="2941064" y="1276899"/>
              <a:ext cx="41289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p7</a:t>
              </a:r>
              <a:endParaRPr lang="zh-CN" altLang="en-US" sz="1600">
                <a:latin typeface="Arial"/>
                <a:cs typeface="Arial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5495495" y="3597787"/>
            <a:ext cx="34181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altLang="zh-CN">
                <a:latin typeface="Arial"/>
                <a:cs typeface="Arial"/>
              </a:rPr>
              <a:t>Downside: cause fragmentation</a:t>
            </a:r>
          </a:p>
          <a:p>
            <a:pPr marL="0" lvl="1"/>
            <a:r>
              <a:rPr lang="en-US" altLang="zh-CN">
                <a:latin typeface="Arial"/>
                <a:cs typeface="Arial"/>
              </a:rPr>
              <a:t>at beginning of the heap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0240" y="1524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C7FBAD-BE6C-42FD-ACAB-8717282681E1}"/>
              </a:ext>
            </a:extLst>
          </p:cNvPr>
          <p:cNvGrpSpPr/>
          <p:nvPr/>
        </p:nvGrpSpPr>
        <p:grpSpPr>
          <a:xfrm>
            <a:off x="3904114" y="1973465"/>
            <a:ext cx="2556959" cy="577577"/>
            <a:chOff x="3904114" y="1973465"/>
            <a:chExt cx="2556959" cy="577577"/>
          </a:xfrm>
        </p:grpSpPr>
        <p:sp>
          <p:nvSpPr>
            <p:cNvPr id="3" name="矩形 86">
              <a:extLst>
                <a:ext uri="{FF2B5EF4-FFF2-40B4-BE49-F238E27FC236}">
                  <a16:creationId xmlns:a16="http://schemas.microsoft.com/office/drawing/2014/main" id="{732AFDAA-405B-4F55-99B7-0C2ABDB250F2}"/>
                </a:ext>
              </a:extLst>
            </p:cNvPr>
            <p:cNvSpPr/>
            <p:nvPr/>
          </p:nvSpPr>
          <p:spPr>
            <a:xfrm>
              <a:off x="3904114" y="1973465"/>
              <a:ext cx="957313" cy="2052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5FBB740-63FA-4A0A-83C0-1D3A6B1EFDE3}"/>
                </a:ext>
              </a:extLst>
            </p:cNvPr>
            <p:cNvCxnSpPr/>
            <p:nvPr/>
          </p:nvCxnSpPr>
          <p:spPr>
            <a:xfrm flipH="1" flipV="1">
              <a:off x="4991886" y="2089220"/>
              <a:ext cx="367865" cy="2069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3586036-24EE-4725-BC07-FAB4639D88B8}"/>
                </a:ext>
              </a:extLst>
            </p:cNvPr>
            <p:cNvSpPr txBox="1"/>
            <p:nvPr/>
          </p:nvSpPr>
          <p:spPr>
            <a:xfrm>
              <a:off x="5314605" y="2181710"/>
              <a:ext cx="1146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Split block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034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8963"/>
            <a:ext cx="8229600" cy="1143000"/>
          </a:xfrm>
        </p:spPr>
        <p:txBody>
          <a:bodyPr/>
          <a:lstStyle/>
          <a:p>
            <a:r>
              <a:rPr kumimoji="1" lang="en-US" altLang="zh-CN"/>
              <a:t>Best fit</a:t>
            </a:r>
            <a:endParaRPr kumimoji="1" lang="zh-CN" altLang="en-US"/>
          </a:p>
        </p:txBody>
      </p:sp>
      <p:grpSp>
        <p:nvGrpSpPr>
          <p:cNvPr id="3" name="组 2"/>
          <p:cNvGrpSpPr/>
          <p:nvPr/>
        </p:nvGrpSpPr>
        <p:grpSpPr>
          <a:xfrm>
            <a:off x="3895786" y="1000014"/>
            <a:ext cx="3770944" cy="5892002"/>
            <a:chOff x="3895786" y="1000014"/>
            <a:chExt cx="3770944" cy="5892002"/>
          </a:xfrm>
        </p:grpSpPr>
        <p:sp>
          <p:nvSpPr>
            <p:cNvPr id="5" name="矩形 4"/>
            <p:cNvSpPr/>
            <p:nvPr/>
          </p:nvSpPr>
          <p:spPr>
            <a:xfrm>
              <a:off x="3897873" y="1332930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895786" y="1445098"/>
              <a:ext cx="968753" cy="21034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897873" y="1661827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895786" y="1773995"/>
              <a:ext cx="968753" cy="343380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905937" y="2143295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895786" y="2255462"/>
              <a:ext cx="968753" cy="74831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904952" y="2998420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904952" y="3327317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902865" y="3439484"/>
              <a:ext cx="968753" cy="3693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3913015" y="3808785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3902865" y="3920952"/>
              <a:ext cx="968753" cy="724023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13015" y="4669271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3910877" y="4795751"/>
              <a:ext cx="968753" cy="209626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5596892" y="1518701"/>
              <a:ext cx="423171" cy="66742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6084609" y="1385274"/>
              <a:ext cx="74892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>
                  <a:latin typeface="Arial"/>
                  <a:cs typeface="Arial"/>
                </a:rPr>
                <a:t>header</a:t>
              </a:r>
              <a:endParaRPr lang="zh-CN" altLang="en-US" sz="1400">
                <a:latin typeface="Arial"/>
                <a:cs typeface="Arial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5596892" y="1740623"/>
              <a:ext cx="423171" cy="6674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6084609" y="1607196"/>
              <a:ext cx="158212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>
                  <a:latin typeface="Arial"/>
                  <a:cs typeface="Arial"/>
                </a:rPr>
                <a:t>allocated payload</a:t>
              </a:r>
              <a:endParaRPr lang="zh-CN" altLang="en-US" sz="1400">
                <a:latin typeface="Arial"/>
                <a:cs typeface="Arial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5596892" y="2014294"/>
              <a:ext cx="423171" cy="6674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6076149" y="1889767"/>
              <a:ext cx="97975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>
                  <a:latin typeface="Arial"/>
                  <a:cs typeface="Arial"/>
                </a:rPr>
                <a:t>free block</a:t>
              </a:r>
              <a:endParaRPr lang="zh-CN" altLang="en-US" sz="1400">
                <a:latin typeface="Arial"/>
                <a:cs typeface="Arial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902865" y="3101948"/>
              <a:ext cx="968753" cy="210344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4064208" y="1000014"/>
              <a:ext cx="64112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heap</a:t>
              </a:r>
              <a:endParaRPr lang="zh-CN" altLang="en-US" sz="1600">
                <a:latin typeface="Arial"/>
                <a:cs typeface="Arial"/>
              </a:endParaRPr>
            </a:p>
          </p:txBody>
        </p:sp>
        <p:cxnSp>
          <p:nvCxnSpPr>
            <p:cNvPr id="37" name="直线箭头连接符 36"/>
            <p:cNvCxnSpPr/>
            <p:nvPr/>
          </p:nvCxnSpPr>
          <p:spPr>
            <a:xfrm>
              <a:off x="5097117" y="2394610"/>
              <a:ext cx="0" cy="353568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矩形 40"/>
            <p:cNvSpPr/>
            <p:nvPr/>
          </p:nvSpPr>
          <p:spPr>
            <a:xfrm rot="5400000">
              <a:off x="4330789" y="3736286"/>
              <a:ext cx="20579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Arial"/>
                  <a:cs typeface="Arial"/>
                </a:rPr>
                <a:t>address increases</a:t>
              </a:r>
              <a:endParaRPr lang="zh-CN" altLang="en-US">
                <a:latin typeface="Arial"/>
                <a:cs typeface="Arial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733908" y="1151005"/>
            <a:ext cx="1074502" cy="338554"/>
            <a:chOff x="2733908" y="1509120"/>
            <a:chExt cx="1074502" cy="338554"/>
          </a:xfrm>
        </p:grpSpPr>
        <p:cxnSp>
          <p:nvCxnSpPr>
            <p:cNvPr id="38" name="直线箭头连接符 37"/>
            <p:cNvCxnSpPr/>
            <p:nvPr/>
          </p:nvCxnSpPr>
          <p:spPr>
            <a:xfrm flipV="1">
              <a:off x="3303068" y="1693739"/>
              <a:ext cx="505342" cy="374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矩形 41"/>
            <p:cNvSpPr/>
            <p:nvPr/>
          </p:nvSpPr>
          <p:spPr>
            <a:xfrm>
              <a:off x="2733908" y="1509120"/>
              <a:ext cx="4697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cur</a:t>
              </a:r>
              <a:endParaRPr lang="zh-CN" altLang="en-US" sz="1600">
                <a:latin typeface="Arial"/>
                <a:cs typeface="Arial"/>
              </a:endParaRPr>
            </a:p>
          </p:txBody>
        </p:sp>
      </p:grpSp>
      <p:sp>
        <p:nvSpPr>
          <p:cNvPr id="43" name="矩形 42"/>
          <p:cNvSpPr/>
          <p:nvPr/>
        </p:nvSpPr>
        <p:spPr>
          <a:xfrm>
            <a:off x="5439465" y="2850627"/>
            <a:ext cx="33539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>
                <a:latin typeface="Arial"/>
                <a:cs typeface="Arial"/>
              </a:rPr>
              <a:t>Best fit </a:t>
            </a:r>
            <a:r>
              <a:rPr lang="mr-IN" altLang="zh-CN">
                <a:latin typeface="Arial"/>
                <a:cs typeface="Arial"/>
              </a:rPr>
              <a:t>–</a:t>
            </a:r>
            <a:r>
              <a:rPr lang="en-US" altLang="zh-CN">
                <a:latin typeface="Arial"/>
                <a:cs typeface="Arial"/>
              </a:rPr>
              <a:t> choose the free block </a:t>
            </a:r>
          </a:p>
          <a:p>
            <a:pPr marL="0" lvl="1"/>
            <a:r>
              <a:rPr lang="en-US" altLang="zh-CN">
                <a:latin typeface="Arial"/>
                <a:cs typeface="Arial"/>
              </a:rPr>
              <a:t>with the closest size that fits</a:t>
            </a:r>
          </a:p>
        </p:txBody>
      </p:sp>
      <p:sp>
        <p:nvSpPr>
          <p:cNvPr id="44" name="矩形 43"/>
          <p:cNvSpPr/>
          <p:nvPr/>
        </p:nvSpPr>
        <p:spPr>
          <a:xfrm>
            <a:off x="778870" y="1580696"/>
            <a:ext cx="195758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Consolas"/>
                <a:cs typeface="Consolas"/>
              </a:rPr>
              <a:t>…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p7 = malloc(8)</a:t>
            </a:r>
          </a:p>
          <a:p>
            <a:endParaRPr kumimoji="1" lang="en-US" altLang="zh-CN" dirty="0">
              <a:latin typeface="Consolas"/>
              <a:cs typeface="Consolas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750164" y="1494142"/>
            <a:ext cx="1074502" cy="338554"/>
            <a:chOff x="2750164" y="1494142"/>
            <a:chExt cx="1074502" cy="338554"/>
          </a:xfrm>
        </p:grpSpPr>
        <p:cxnSp>
          <p:nvCxnSpPr>
            <p:cNvPr id="46" name="直线箭头连接符 37"/>
            <p:cNvCxnSpPr/>
            <p:nvPr/>
          </p:nvCxnSpPr>
          <p:spPr>
            <a:xfrm flipV="1">
              <a:off x="3319324" y="1678761"/>
              <a:ext cx="505342" cy="374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矩形 41"/>
            <p:cNvSpPr/>
            <p:nvPr/>
          </p:nvSpPr>
          <p:spPr>
            <a:xfrm>
              <a:off x="2750164" y="1494142"/>
              <a:ext cx="4697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cur</a:t>
              </a:r>
              <a:endParaRPr lang="zh-CN" altLang="en-US" sz="1600">
                <a:latin typeface="Arial"/>
                <a:cs typeface="Arial"/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2782073" y="1973821"/>
            <a:ext cx="1074502" cy="338554"/>
            <a:chOff x="2750164" y="1494142"/>
            <a:chExt cx="1074502" cy="338554"/>
          </a:xfrm>
        </p:grpSpPr>
        <p:cxnSp>
          <p:nvCxnSpPr>
            <p:cNvPr id="49" name="直线箭头连接符 37"/>
            <p:cNvCxnSpPr/>
            <p:nvPr/>
          </p:nvCxnSpPr>
          <p:spPr>
            <a:xfrm flipV="1">
              <a:off x="3319324" y="1678761"/>
              <a:ext cx="505342" cy="374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矩形 41"/>
            <p:cNvSpPr/>
            <p:nvPr/>
          </p:nvSpPr>
          <p:spPr>
            <a:xfrm>
              <a:off x="2750164" y="1494142"/>
              <a:ext cx="4697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cur</a:t>
              </a:r>
              <a:endParaRPr lang="zh-CN" altLang="en-US" sz="1600">
                <a:latin typeface="Arial"/>
                <a:cs typeface="Arial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2765817" y="2834504"/>
            <a:ext cx="1074502" cy="338554"/>
            <a:chOff x="2750164" y="1494142"/>
            <a:chExt cx="1074502" cy="338554"/>
          </a:xfrm>
        </p:grpSpPr>
        <p:cxnSp>
          <p:nvCxnSpPr>
            <p:cNvPr id="52" name="直线箭头连接符 37"/>
            <p:cNvCxnSpPr/>
            <p:nvPr/>
          </p:nvCxnSpPr>
          <p:spPr>
            <a:xfrm flipV="1">
              <a:off x="3319324" y="1678761"/>
              <a:ext cx="505342" cy="374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矩形 41"/>
            <p:cNvSpPr/>
            <p:nvPr/>
          </p:nvSpPr>
          <p:spPr>
            <a:xfrm>
              <a:off x="2750164" y="1494142"/>
              <a:ext cx="4697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cur</a:t>
              </a:r>
              <a:endParaRPr lang="zh-CN" altLang="en-US" sz="1600">
                <a:latin typeface="Arial"/>
                <a:cs typeface="Arial"/>
              </a:endParaRP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2790804" y="3639508"/>
            <a:ext cx="1074502" cy="338554"/>
            <a:chOff x="2750164" y="1494142"/>
            <a:chExt cx="1074502" cy="338554"/>
          </a:xfrm>
        </p:grpSpPr>
        <p:cxnSp>
          <p:nvCxnSpPr>
            <p:cNvPr id="55" name="直线箭头连接符 37"/>
            <p:cNvCxnSpPr/>
            <p:nvPr/>
          </p:nvCxnSpPr>
          <p:spPr>
            <a:xfrm flipV="1">
              <a:off x="3319324" y="1678761"/>
              <a:ext cx="505342" cy="374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矩形 41"/>
            <p:cNvSpPr/>
            <p:nvPr/>
          </p:nvSpPr>
          <p:spPr>
            <a:xfrm>
              <a:off x="2750164" y="1494142"/>
              <a:ext cx="4697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cur</a:t>
              </a:r>
              <a:endParaRPr lang="zh-CN" altLang="en-US" sz="1600">
                <a:latin typeface="Arial"/>
                <a:cs typeface="Arial"/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2753022" y="3152831"/>
            <a:ext cx="1064342" cy="338554"/>
            <a:chOff x="2689204" y="1494142"/>
            <a:chExt cx="1064342" cy="338554"/>
          </a:xfrm>
        </p:grpSpPr>
        <p:cxnSp>
          <p:nvCxnSpPr>
            <p:cNvPr id="58" name="直线箭头连接符 37"/>
            <p:cNvCxnSpPr/>
            <p:nvPr/>
          </p:nvCxnSpPr>
          <p:spPr>
            <a:xfrm flipV="1">
              <a:off x="3248204" y="1678761"/>
              <a:ext cx="505342" cy="374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矩形 41"/>
            <p:cNvSpPr/>
            <p:nvPr/>
          </p:nvSpPr>
          <p:spPr>
            <a:xfrm>
              <a:off x="2689204" y="1494142"/>
              <a:ext cx="4697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cur</a:t>
              </a:r>
              <a:endParaRPr lang="zh-CN" altLang="en-US" sz="1600">
                <a:latin typeface="Arial"/>
                <a:cs typeface="Arial"/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2774548" y="4475698"/>
            <a:ext cx="1074502" cy="338554"/>
            <a:chOff x="2750164" y="1494142"/>
            <a:chExt cx="1074502" cy="338554"/>
          </a:xfrm>
        </p:grpSpPr>
        <p:cxnSp>
          <p:nvCxnSpPr>
            <p:cNvPr id="66" name="直线箭头连接符 37"/>
            <p:cNvCxnSpPr/>
            <p:nvPr/>
          </p:nvCxnSpPr>
          <p:spPr>
            <a:xfrm flipV="1">
              <a:off x="3319324" y="1678761"/>
              <a:ext cx="505342" cy="374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矩形 41"/>
            <p:cNvSpPr/>
            <p:nvPr/>
          </p:nvSpPr>
          <p:spPr>
            <a:xfrm>
              <a:off x="2750164" y="1494142"/>
              <a:ext cx="4697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cur</a:t>
              </a:r>
              <a:endParaRPr lang="zh-CN" altLang="en-US" sz="16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1241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8963"/>
            <a:ext cx="8229600" cy="1143000"/>
          </a:xfrm>
        </p:spPr>
        <p:txBody>
          <a:bodyPr/>
          <a:lstStyle/>
          <a:p>
            <a:r>
              <a:rPr kumimoji="1" lang="en-US" altLang="zh-CN"/>
              <a:t>Best fit</a:t>
            </a:r>
            <a:endParaRPr kumimoji="1" lang="zh-CN" altLang="en-US"/>
          </a:p>
        </p:txBody>
      </p:sp>
      <p:grpSp>
        <p:nvGrpSpPr>
          <p:cNvPr id="3" name="组 2"/>
          <p:cNvGrpSpPr/>
          <p:nvPr/>
        </p:nvGrpSpPr>
        <p:grpSpPr>
          <a:xfrm>
            <a:off x="3895786" y="1000014"/>
            <a:ext cx="3770944" cy="5892002"/>
            <a:chOff x="3895786" y="1000014"/>
            <a:chExt cx="3770944" cy="5892002"/>
          </a:xfrm>
        </p:grpSpPr>
        <p:sp>
          <p:nvSpPr>
            <p:cNvPr id="5" name="矩形 4"/>
            <p:cNvSpPr/>
            <p:nvPr/>
          </p:nvSpPr>
          <p:spPr>
            <a:xfrm>
              <a:off x="3897873" y="1332930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895786" y="1445098"/>
              <a:ext cx="968753" cy="21034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897873" y="1661827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895786" y="1773995"/>
              <a:ext cx="968753" cy="343380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905937" y="2143295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895786" y="2255462"/>
              <a:ext cx="968753" cy="74831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904952" y="2998420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904952" y="3327317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902865" y="3439484"/>
              <a:ext cx="968753" cy="3693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3913015" y="3808785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3902865" y="3920952"/>
              <a:ext cx="968753" cy="724023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13015" y="4669271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3910877" y="4795751"/>
              <a:ext cx="968753" cy="209626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5596892" y="1518701"/>
              <a:ext cx="423171" cy="66742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6084609" y="1385274"/>
              <a:ext cx="74892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>
                  <a:latin typeface="Arial"/>
                  <a:cs typeface="Arial"/>
                </a:rPr>
                <a:t>header</a:t>
              </a:r>
              <a:endParaRPr lang="zh-CN" altLang="en-US" sz="1400">
                <a:latin typeface="Arial"/>
                <a:cs typeface="Arial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5596892" y="1740623"/>
              <a:ext cx="423171" cy="6674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6084609" y="1607196"/>
              <a:ext cx="158212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>
                  <a:latin typeface="Arial"/>
                  <a:cs typeface="Arial"/>
                </a:rPr>
                <a:t>allocated payload</a:t>
              </a:r>
              <a:endParaRPr lang="zh-CN" altLang="en-US" sz="1400">
                <a:latin typeface="Arial"/>
                <a:cs typeface="Arial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5596892" y="2023908"/>
              <a:ext cx="423171" cy="6674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6076149" y="1899381"/>
              <a:ext cx="97975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>
                  <a:latin typeface="Arial"/>
                  <a:cs typeface="Arial"/>
                </a:rPr>
                <a:t>free block</a:t>
              </a:r>
              <a:endParaRPr lang="zh-CN" altLang="en-US" sz="1400">
                <a:latin typeface="Arial"/>
                <a:cs typeface="Arial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902865" y="3101948"/>
              <a:ext cx="968753" cy="210344"/>
            </a:xfrm>
            <a:prstGeom prst="rect">
              <a:avLst/>
            </a:prstGeom>
            <a:solidFill>
              <a:srgbClr val="4F81BD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4064208" y="1000014"/>
              <a:ext cx="64112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heap</a:t>
              </a:r>
              <a:endParaRPr lang="zh-CN" altLang="en-US" sz="1600">
                <a:latin typeface="Arial"/>
                <a:cs typeface="Arial"/>
              </a:endParaRPr>
            </a:p>
          </p:txBody>
        </p:sp>
        <p:cxnSp>
          <p:nvCxnSpPr>
            <p:cNvPr id="37" name="直线箭头连接符 36"/>
            <p:cNvCxnSpPr/>
            <p:nvPr/>
          </p:nvCxnSpPr>
          <p:spPr>
            <a:xfrm>
              <a:off x="5097117" y="2394610"/>
              <a:ext cx="0" cy="353568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矩形 40"/>
            <p:cNvSpPr/>
            <p:nvPr/>
          </p:nvSpPr>
          <p:spPr>
            <a:xfrm rot="5400000">
              <a:off x="4330789" y="3736286"/>
              <a:ext cx="20579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Arial"/>
                  <a:cs typeface="Arial"/>
                </a:rPr>
                <a:t>address increases</a:t>
              </a:r>
              <a:endParaRPr lang="zh-CN" altLang="en-US">
                <a:latin typeface="Arial"/>
                <a:cs typeface="Arial"/>
              </a:endParaRPr>
            </a:p>
          </p:txBody>
        </p:sp>
      </p:grpSp>
      <p:sp>
        <p:nvSpPr>
          <p:cNvPr id="43" name="矩形 42"/>
          <p:cNvSpPr/>
          <p:nvPr/>
        </p:nvSpPr>
        <p:spPr>
          <a:xfrm>
            <a:off x="5439465" y="2850627"/>
            <a:ext cx="33539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>
                <a:latin typeface="Arial"/>
                <a:cs typeface="Arial"/>
              </a:rPr>
              <a:t>Best fit </a:t>
            </a:r>
            <a:r>
              <a:rPr lang="mr-IN" altLang="zh-CN">
                <a:latin typeface="Arial"/>
                <a:cs typeface="Arial"/>
              </a:rPr>
              <a:t>–</a:t>
            </a:r>
            <a:r>
              <a:rPr lang="en-US" altLang="zh-CN">
                <a:latin typeface="Arial"/>
                <a:cs typeface="Arial"/>
              </a:rPr>
              <a:t> choose the free block </a:t>
            </a:r>
          </a:p>
          <a:p>
            <a:pPr marL="0" lvl="1"/>
            <a:r>
              <a:rPr lang="en-US" altLang="zh-CN">
                <a:latin typeface="Arial"/>
                <a:cs typeface="Arial"/>
              </a:rPr>
              <a:t>with the closest size that fits</a:t>
            </a:r>
          </a:p>
        </p:txBody>
      </p:sp>
      <p:sp>
        <p:nvSpPr>
          <p:cNvPr id="44" name="矩形 43"/>
          <p:cNvSpPr/>
          <p:nvPr/>
        </p:nvSpPr>
        <p:spPr>
          <a:xfrm>
            <a:off x="778870" y="1580696"/>
            <a:ext cx="195758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Consolas"/>
                <a:cs typeface="Consolas"/>
              </a:rPr>
              <a:t>…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p7 = malloc(8)</a:t>
            </a:r>
          </a:p>
          <a:p>
            <a:endParaRPr kumimoji="1" lang="en-US" altLang="zh-CN" dirty="0">
              <a:latin typeface="Consolas"/>
              <a:cs typeface="Consolas"/>
            </a:endParaRPr>
          </a:p>
        </p:txBody>
      </p:sp>
      <p:sp>
        <p:nvSpPr>
          <p:cNvPr id="60" name="矩形 43"/>
          <p:cNvSpPr/>
          <p:nvPr/>
        </p:nvSpPr>
        <p:spPr>
          <a:xfrm>
            <a:off x="5544417" y="3962227"/>
            <a:ext cx="33406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>
                <a:latin typeface="Arial"/>
                <a:cs typeface="Arial"/>
              </a:rPr>
              <a:t>Downside: run slower than first</a:t>
            </a:r>
          </a:p>
          <a:p>
            <a:pPr marL="0" lvl="1"/>
            <a:r>
              <a:rPr lang="en-US" altLang="zh-CN">
                <a:latin typeface="Arial"/>
                <a:cs typeface="Arial"/>
              </a:rPr>
              <a:t>fit.</a:t>
            </a:r>
          </a:p>
        </p:txBody>
      </p:sp>
      <p:grpSp>
        <p:nvGrpSpPr>
          <p:cNvPr id="61" name="Group 60"/>
          <p:cNvGrpSpPr/>
          <p:nvPr/>
        </p:nvGrpSpPr>
        <p:grpSpPr>
          <a:xfrm>
            <a:off x="2933044" y="2943258"/>
            <a:ext cx="932262" cy="338554"/>
            <a:chOff x="2892404" y="1494142"/>
            <a:chExt cx="932262" cy="338554"/>
          </a:xfrm>
        </p:grpSpPr>
        <p:cxnSp>
          <p:nvCxnSpPr>
            <p:cNvPr id="62" name="直线箭头连接符 37"/>
            <p:cNvCxnSpPr/>
            <p:nvPr/>
          </p:nvCxnSpPr>
          <p:spPr>
            <a:xfrm flipV="1">
              <a:off x="3319324" y="1678761"/>
              <a:ext cx="505342" cy="374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矩形 41"/>
            <p:cNvSpPr/>
            <p:nvPr/>
          </p:nvSpPr>
          <p:spPr>
            <a:xfrm>
              <a:off x="2892404" y="1494142"/>
              <a:ext cx="41289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p7</a:t>
              </a:r>
              <a:endParaRPr lang="zh-CN" altLang="en-US" sz="16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092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5809" y="74865"/>
            <a:ext cx="8229600" cy="1143000"/>
          </a:xfrm>
        </p:spPr>
        <p:txBody>
          <a:bodyPr/>
          <a:lstStyle/>
          <a:p>
            <a:r>
              <a:rPr kumimoji="1" lang="en-US" altLang="zh-CN"/>
              <a:t>Next fit</a:t>
            </a:r>
            <a:endParaRPr kumimoji="1" lang="zh-CN" altLang="en-US"/>
          </a:p>
        </p:txBody>
      </p:sp>
      <p:grpSp>
        <p:nvGrpSpPr>
          <p:cNvPr id="3" name="组 2"/>
          <p:cNvGrpSpPr/>
          <p:nvPr/>
        </p:nvGrpSpPr>
        <p:grpSpPr>
          <a:xfrm>
            <a:off x="3895786" y="1000014"/>
            <a:ext cx="3770944" cy="5892002"/>
            <a:chOff x="3895786" y="1000014"/>
            <a:chExt cx="3770944" cy="5892002"/>
          </a:xfrm>
        </p:grpSpPr>
        <p:sp>
          <p:nvSpPr>
            <p:cNvPr id="5" name="矩形 4"/>
            <p:cNvSpPr/>
            <p:nvPr/>
          </p:nvSpPr>
          <p:spPr>
            <a:xfrm>
              <a:off x="3897873" y="1332930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895786" y="1445098"/>
              <a:ext cx="968753" cy="21034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897873" y="1661827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895786" y="1773995"/>
              <a:ext cx="968753" cy="343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905937" y="2143295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895786" y="2255462"/>
              <a:ext cx="968753" cy="74831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904952" y="2998420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904952" y="3327317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902865" y="3439484"/>
              <a:ext cx="968753" cy="3693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3913015" y="3808785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3902865" y="3920952"/>
              <a:ext cx="968753" cy="724023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13015" y="4669271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3910877" y="4795751"/>
              <a:ext cx="968753" cy="209626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5596892" y="1518701"/>
              <a:ext cx="423171" cy="66742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6084609" y="1385274"/>
              <a:ext cx="74892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>
                  <a:latin typeface="Arial"/>
                  <a:cs typeface="Arial"/>
                </a:rPr>
                <a:t>header</a:t>
              </a:r>
              <a:endParaRPr lang="zh-CN" altLang="en-US" sz="1400">
                <a:latin typeface="Arial"/>
                <a:cs typeface="Arial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5596892" y="1740623"/>
              <a:ext cx="423171" cy="6674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6084609" y="1607196"/>
              <a:ext cx="158212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>
                  <a:latin typeface="Arial"/>
                  <a:cs typeface="Arial"/>
                </a:rPr>
                <a:t>allocated payload</a:t>
              </a:r>
              <a:endParaRPr lang="zh-CN" altLang="en-US" sz="1400">
                <a:latin typeface="Arial"/>
                <a:cs typeface="Arial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5596892" y="1991536"/>
              <a:ext cx="423171" cy="6674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6076149" y="1867009"/>
              <a:ext cx="97975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>
                  <a:latin typeface="Arial"/>
                  <a:cs typeface="Arial"/>
                </a:rPr>
                <a:t>free block</a:t>
              </a:r>
              <a:endParaRPr lang="zh-CN" altLang="en-US" sz="1400">
                <a:latin typeface="Arial"/>
                <a:cs typeface="Arial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902865" y="3101948"/>
              <a:ext cx="968753" cy="2103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4064208" y="1000014"/>
              <a:ext cx="64112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heap</a:t>
              </a:r>
              <a:endParaRPr lang="zh-CN" altLang="en-US" sz="1600">
                <a:latin typeface="Arial"/>
                <a:cs typeface="Arial"/>
              </a:endParaRPr>
            </a:p>
          </p:txBody>
        </p:sp>
        <p:cxnSp>
          <p:nvCxnSpPr>
            <p:cNvPr id="37" name="直线箭头连接符 36"/>
            <p:cNvCxnSpPr/>
            <p:nvPr/>
          </p:nvCxnSpPr>
          <p:spPr>
            <a:xfrm>
              <a:off x="5097117" y="2394610"/>
              <a:ext cx="0" cy="353568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矩形 40"/>
            <p:cNvSpPr/>
            <p:nvPr/>
          </p:nvSpPr>
          <p:spPr>
            <a:xfrm rot="5400000">
              <a:off x="4856811" y="3736286"/>
              <a:ext cx="10058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Arial"/>
                  <a:cs typeface="Arial"/>
                </a:rPr>
                <a:t>address</a:t>
              </a:r>
              <a:endParaRPr lang="zh-CN" altLang="en-US">
                <a:latin typeface="Arial"/>
                <a:cs typeface="Arial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856198" y="1501882"/>
            <a:ext cx="975042" cy="338554"/>
            <a:chOff x="2873007" y="2819162"/>
            <a:chExt cx="975042" cy="338554"/>
          </a:xfrm>
        </p:grpSpPr>
        <p:cxnSp>
          <p:nvCxnSpPr>
            <p:cNvPr id="38" name="直线箭头连接符 37"/>
            <p:cNvCxnSpPr/>
            <p:nvPr/>
          </p:nvCxnSpPr>
          <p:spPr>
            <a:xfrm flipV="1">
              <a:off x="3342707" y="3003781"/>
              <a:ext cx="505342" cy="374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矩形 41"/>
            <p:cNvSpPr/>
            <p:nvPr/>
          </p:nvSpPr>
          <p:spPr>
            <a:xfrm>
              <a:off x="2873007" y="2819162"/>
              <a:ext cx="4697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cur</a:t>
              </a:r>
              <a:endParaRPr lang="zh-CN" altLang="en-US" sz="1600">
                <a:latin typeface="Arial"/>
                <a:cs typeface="Arial"/>
              </a:endParaRPr>
            </a:p>
          </p:txBody>
        </p:sp>
      </p:grpSp>
      <p:sp>
        <p:nvSpPr>
          <p:cNvPr id="43" name="矩形 42"/>
          <p:cNvSpPr/>
          <p:nvPr/>
        </p:nvSpPr>
        <p:spPr>
          <a:xfrm>
            <a:off x="5439465" y="2850627"/>
            <a:ext cx="340448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>
                <a:latin typeface="Arial"/>
                <a:cs typeface="Arial"/>
              </a:rPr>
              <a:t>Next fit </a:t>
            </a:r>
            <a:r>
              <a:rPr lang="mr-IN" altLang="zh-CN">
                <a:latin typeface="Arial"/>
                <a:cs typeface="Arial"/>
              </a:rPr>
              <a:t>–</a:t>
            </a:r>
            <a:r>
              <a:rPr lang="en-US" altLang="zh-CN">
                <a:latin typeface="Arial"/>
                <a:cs typeface="Arial"/>
              </a:rPr>
              <a:t> like first-fit, but search</a:t>
            </a:r>
          </a:p>
          <a:p>
            <a:pPr marL="0" lvl="1"/>
            <a:r>
              <a:rPr lang="en-US" altLang="zh-CN">
                <a:latin typeface="Arial"/>
                <a:cs typeface="Arial"/>
              </a:rPr>
              <a:t>starts from where the</a:t>
            </a:r>
          </a:p>
          <a:p>
            <a:pPr marL="0" lvl="1"/>
            <a:r>
              <a:rPr lang="en-US" altLang="zh-CN">
                <a:latin typeface="Arial"/>
                <a:cs typeface="Arial"/>
              </a:rPr>
              <a:t>previous search left off.</a:t>
            </a:r>
          </a:p>
        </p:txBody>
      </p:sp>
      <p:sp>
        <p:nvSpPr>
          <p:cNvPr id="45" name="矩形 44"/>
          <p:cNvSpPr/>
          <p:nvPr/>
        </p:nvSpPr>
        <p:spPr>
          <a:xfrm>
            <a:off x="778870" y="1580696"/>
            <a:ext cx="208422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Consolas"/>
                <a:cs typeface="Consolas"/>
              </a:rPr>
              <a:t>…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p7 = malloc(8)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p8 = malloc(56)</a:t>
            </a:r>
          </a:p>
          <a:p>
            <a:endParaRPr kumimoji="1" lang="en-US" altLang="zh-CN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5119444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5809" y="74865"/>
            <a:ext cx="8229600" cy="1143000"/>
          </a:xfrm>
        </p:spPr>
        <p:txBody>
          <a:bodyPr/>
          <a:lstStyle/>
          <a:p>
            <a:r>
              <a:rPr kumimoji="1" lang="en-US" altLang="zh-CN"/>
              <a:t>Next fit</a:t>
            </a:r>
            <a:endParaRPr kumimoji="1" lang="zh-CN" altLang="en-US"/>
          </a:p>
        </p:txBody>
      </p:sp>
      <p:grpSp>
        <p:nvGrpSpPr>
          <p:cNvPr id="3" name="组 2"/>
          <p:cNvGrpSpPr/>
          <p:nvPr/>
        </p:nvGrpSpPr>
        <p:grpSpPr>
          <a:xfrm>
            <a:off x="3895786" y="1000014"/>
            <a:ext cx="3770944" cy="5892002"/>
            <a:chOff x="3895786" y="1000014"/>
            <a:chExt cx="3770944" cy="5892002"/>
          </a:xfrm>
        </p:grpSpPr>
        <p:sp>
          <p:nvSpPr>
            <p:cNvPr id="5" name="矩形 4"/>
            <p:cNvSpPr/>
            <p:nvPr/>
          </p:nvSpPr>
          <p:spPr>
            <a:xfrm>
              <a:off x="3897873" y="1332930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895786" y="1445098"/>
              <a:ext cx="968753" cy="21034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897873" y="1661827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895786" y="1773995"/>
              <a:ext cx="968753" cy="34338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905937" y="2143295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895786" y="2255462"/>
              <a:ext cx="968753" cy="74831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904952" y="2998420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904952" y="3327317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902865" y="3439484"/>
              <a:ext cx="968753" cy="3693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3913015" y="3808785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3902865" y="3920952"/>
              <a:ext cx="968753" cy="724023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13015" y="4669271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3910877" y="4795751"/>
              <a:ext cx="968753" cy="209626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5596892" y="1518701"/>
              <a:ext cx="423171" cy="66742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6084609" y="1385274"/>
              <a:ext cx="74892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>
                  <a:latin typeface="Arial"/>
                  <a:cs typeface="Arial"/>
                </a:rPr>
                <a:t>header</a:t>
              </a:r>
              <a:endParaRPr lang="zh-CN" altLang="en-US" sz="1400">
                <a:latin typeface="Arial"/>
                <a:cs typeface="Arial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5596892" y="1740623"/>
              <a:ext cx="423171" cy="6674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6084609" y="1607196"/>
              <a:ext cx="158212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>
                  <a:latin typeface="Arial"/>
                  <a:cs typeface="Arial"/>
                </a:rPr>
                <a:t>allocated payload</a:t>
              </a:r>
              <a:endParaRPr lang="zh-CN" altLang="en-US" sz="1400">
                <a:latin typeface="Arial"/>
                <a:cs typeface="Arial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5605352" y="1976656"/>
              <a:ext cx="423171" cy="6674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6084609" y="1852129"/>
              <a:ext cx="97975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>
                  <a:latin typeface="Arial"/>
                  <a:cs typeface="Arial"/>
                </a:rPr>
                <a:t>free block</a:t>
              </a:r>
              <a:endParaRPr lang="zh-CN" altLang="en-US" sz="1400">
                <a:latin typeface="Arial"/>
                <a:cs typeface="Arial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902865" y="3101948"/>
              <a:ext cx="968753" cy="2103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4064208" y="1000014"/>
              <a:ext cx="64112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heap</a:t>
              </a:r>
              <a:endParaRPr lang="zh-CN" altLang="en-US" sz="1600">
                <a:latin typeface="Arial"/>
                <a:cs typeface="Arial"/>
              </a:endParaRPr>
            </a:p>
          </p:txBody>
        </p:sp>
        <p:cxnSp>
          <p:nvCxnSpPr>
            <p:cNvPr id="37" name="直线箭头连接符 36"/>
            <p:cNvCxnSpPr/>
            <p:nvPr/>
          </p:nvCxnSpPr>
          <p:spPr>
            <a:xfrm>
              <a:off x="5097117" y="2394610"/>
              <a:ext cx="0" cy="353568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矩形 40"/>
            <p:cNvSpPr/>
            <p:nvPr/>
          </p:nvSpPr>
          <p:spPr>
            <a:xfrm rot="5400000">
              <a:off x="4856811" y="3736286"/>
              <a:ext cx="10058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Arial"/>
                  <a:cs typeface="Arial"/>
                </a:rPr>
                <a:t>address</a:t>
              </a:r>
              <a:endParaRPr lang="zh-CN" altLang="en-US">
                <a:latin typeface="Arial"/>
                <a:cs typeface="Arial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838377" y="1978936"/>
            <a:ext cx="975042" cy="338554"/>
            <a:chOff x="2873007" y="2819162"/>
            <a:chExt cx="975042" cy="338554"/>
          </a:xfrm>
        </p:grpSpPr>
        <p:cxnSp>
          <p:nvCxnSpPr>
            <p:cNvPr id="38" name="直线箭头连接符 37"/>
            <p:cNvCxnSpPr/>
            <p:nvPr/>
          </p:nvCxnSpPr>
          <p:spPr>
            <a:xfrm flipV="1">
              <a:off x="3342707" y="3003781"/>
              <a:ext cx="505342" cy="374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矩形 41"/>
            <p:cNvSpPr/>
            <p:nvPr/>
          </p:nvSpPr>
          <p:spPr>
            <a:xfrm>
              <a:off x="2873007" y="2819162"/>
              <a:ext cx="4697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cur</a:t>
              </a:r>
              <a:endParaRPr lang="zh-CN" altLang="en-US" sz="1600">
                <a:latin typeface="Arial"/>
                <a:cs typeface="Arial"/>
              </a:endParaRPr>
            </a:p>
          </p:txBody>
        </p:sp>
      </p:grpSp>
      <p:sp>
        <p:nvSpPr>
          <p:cNvPr id="43" name="矩形 42"/>
          <p:cNvSpPr/>
          <p:nvPr/>
        </p:nvSpPr>
        <p:spPr>
          <a:xfrm>
            <a:off x="5439465" y="2850627"/>
            <a:ext cx="340448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>
                <a:latin typeface="Arial"/>
                <a:cs typeface="Arial"/>
              </a:rPr>
              <a:t>Next fit </a:t>
            </a:r>
            <a:r>
              <a:rPr lang="mr-IN" altLang="zh-CN">
                <a:latin typeface="Arial"/>
                <a:cs typeface="Arial"/>
              </a:rPr>
              <a:t>–</a:t>
            </a:r>
            <a:r>
              <a:rPr lang="en-US" altLang="zh-CN">
                <a:latin typeface="Arial"/>
                <a:cs typeface="Arial"/>
              </a:rPr>
              <a:t> like first-fit, but search</a:t>
            </a:r>
          </a:p>
          <a:p>
            <a:pPr marL="0" lvl="1"/>
            <a:r>
              <a:rPr lang="en-US" altLang="zh-CN">
                <a:latin typeface="Arial"/>
                <a:cs typeface="Arial"/>
              </a:rPr>
              <a:t>starts from where the</a:t>
            </a:r>
          </a:p>
          <a:p>
            <a:pPr marL="0" lvl="1"/>
            <a:r>
              <a:rPr lang="en-US" altLang="zh-CN">
                <a:latin typeface="Arial"/>
                <a:cs typeface="Arial"/>
              </a:rPr>
              <a:t>previous search left off.</a:t>
            </a:r>
          </a:p>
        </p:txBody>
      </p:sp>
      <p:sp>
        <p:nvSpPr>
          <p:cNvPr id="45" name="矩形 44"/>
          <p:cNvSpPr/>
          <p:nvPr/>
        </p:nvSpPr>
        <p:spPr>
          <a:xfrm>
            <a:off x="778870" y="1580696"/>
            <a:ext cx="208422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Consolas"/>
                <a:cs typeface="Consolas"/>
              </a:rPr>
              <a:t>…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p7 = malloc(8)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p8 = malloc(56)</a:t>
            </a:r>
          </a:p>
          <a:p>
            <a:endParaRPr kumimoji="1" lang="en-US" altLang="zh-CN" dirty="0">
              <a:latin typeface="Consolas"/>
              <a:cs typeface="Consola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6AD1B68-727A-486E-98A3-F5E49F9D1269}"/>
              </a:ext>
            </a:extLst>
          </p:cNvPr>
          <p:cNvCxnSpPr/>
          <p:nvPr/>
        </p:nvCxnSpPr>
        <p:spPr>
          <a:xfrm>
            <a:off x="3444949" y="1787236"/>
            <a:ext cx="3147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6CA97E8-1DCD-4BDE-9C14-BE75D85961F0}"/>
              </a:ext>
            </a:extLst>
          </p:cNvPr>
          <p:cNvSpPr txBox="1"/>
          <p:nvPr/>
        </p:nvSpPr>
        <p:spPr>
          <a:xfrm>
            <a:off x="3116672" y="1605908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p7</a:t>
            </a:r>
          </a:p>
        </p:txBody>
      </p:sp>
    </p:spTree>
    <p:extLst>
      <p:ext uri="{BB962C8B-B14F-4D97-AF65-F5344CB8AC3E}">
        <p14:creationId xmlns:p14="http://schemas.microsoft.com/office/powerpoint/2010/main" val="42266436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5809" y="74865"/>
            <a:ext cx="8229600" cy="1143000"/>
          </a:xfrm>
        </p:spPr>
        <p:txBody>
          <a:bodyPr/>
          <a:lstStyle/>
          <a:p>
            <a:r>
              <a:rPr kumimoji="1" lang="en-US" altLang="zh-CN"/>
              <a:t>Next fit</a:t>
            </a:r>
            <a:endParaRPr kumimoji="1" lang="zh-CN" altLang="en-US"/>
          </a:p>
        </p:txBody>
      </p:sp>
      <p:grpSp>
        <p:nvGrpSpPr>
          <p:cNvPr id="3" name="组 2"/>
          <p:cNvGrpSpPr/>
          <p:nvPr/>
        </p:nvGrpSpPr>
        <p:grpSpPr>
          <a:xfrm>
            <a:off x="3895786" y="1000014"/>
            <a:ext cx="3770944" cy="5892002"/>
            <a:chOff x="3895786" y="1000014"/>
            <a:chExt cx="3770944" cy="5892002"/>
          </a:xfrm>
        </p:grpSpPr>
        <p:sp>
          <p:nvSpPr>
            <p:cNvPr id="5" name="矩形 4"/>
            <p:cNvSpPr/>
            <p:nvPr/>
          </p:nvSpPr>
          <p:spPr>
            <a:xfrm>
              <a:off x="3897873" y="1332930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895786" y="1445098"/>
              <a:ext cx="968753" cy="21034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897873" y="1661827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895786" y="1773995"/>
              <a:ext cx="968753" cy="34338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905937" y="2143295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895786" y="2255462"/>
              <a:ext cx="968753" cy="74831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904952" y="2998420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904952" y="3327317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902865" y="3439484"/>
              <a:ext cx="968753" cy="3693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3913015" y="3808785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3902865" y="3920952"/>
              <a:ext cx="968753" cy="7240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13015" y="4669271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3910877" y="4795751"/>
              <a:ext cx="968753" cy="209626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5596892" y="1518701"/>
              <a:ext cx="423171" cy="66742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6084609" y="1385274"/>
              <a:ext cx="74892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>
                  <a:latin typeface="Arial"/>
                  <a:cs typeface="Arial"/>
                </a:rPr>
                <a:t>header</a:t>
              </a:r>
              <a:endParaRPr lang="zh-CN" altLang="en-US" sz="1400">
                <a:latin typeface="Arial"/>
                <a:cs typeface="Arial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5596892" y="1740623"/>
              <a:ext cx="423171" cy="6674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6084609" y="1607196"/>
              <a:ext cx="158212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>
                  <a:latin typeface="Arial"/>
                  <a:cs typeface="Arial"/>
                </a:rPr>
                <a:t>allocated payload</a:t>
              </a:r>
              <a:endParaRPr lang="zh-CN" altLang="en-US" sz="1400">
                <a:latin typeface="Arial"/>
                <a:cs typeface="Arial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5605352" y="1991536"/>
              <a:ext cx="423171" cy="6674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6084609" y="1867009"/>
              <a:ext cx="97975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>
                  <a:latin typeface="Arial"/>
                  <a:cs typeface="Arial"/>
                </a:rPr>
                <a:t>free block</a:t>
              </a:r>
              <a:endParaRPr lang="zh-CN" altLang="en-US" sz="1400">
                <a:latin typeface="Arial"/>
                <a:cs typeface="Arial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902865" y="3101948"/>
              <a:ext cx="968753" cy="2103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4064208" y="1000014"/>
              <a:ext cx="64112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heap</a:t>
              </a:r>
              <a:endParaRPr lang="zh-CN" altLang="en-US" sz="1600">
                <a:latin typeface="Arial"/>
                <a:cs typeface="Arial"/>
              </a:endParaRPr>
            </a:p>
          </p:txBody>
        </p:sp>
        <p:cxnSp>
          <p:nvCxnSpPr>
            <p:cNvPr id="37" name="直线箭头连接符 36"/>
            <p:cNvCxnSpPr/>
            <p:nvPr/>
          </p:nvCxnSpPr>
          <p:spPr>
            <a:xfrm>
              <a:off x="5097117" y="2394610"/>
              <a:ext cx="0" cy="353568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矩形 40"/>
            <p:cNvSpPr/>
            <p:nvPr/>
          </p:nvSpPr>
          <p:spPr>
            <a:xfrm rot="5400000">
              <a:off x="4856811" y="3736286"/>
              <a:ext cx="10058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Arial"/>
                  <a:cs typeface="Arial"/>
                </a:rPr>
                <a:t>address</a:t>
              </a:r>
              <a:endParaRPr lang="zh-CN" altLang="en-US">
                <a:latin typeface="Arial"/>
                <a:cs typeface="Arial"/>
              </a:endParaRPr>
            </a:p>
          </p:txBody>
        </p:sp>
      </p:grpSp>
      <p:sp>
        <p:nvSpPr>
          <p:cNvPr id="43" name="矩形 42"/>
          <p:cNvSpPr/>
          <p:nvPr/>
        </p:nvSpPr>
        <p:spPr>
          <a:xfrm>
            <a:off x="5439465" y="2850627"/>
            <a:ext cx="340448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>
                <a:latin typeface="Arial"/>
                <a:cs typeface="Arial"/>
              </a:rPr>
              <a:t>Next fit </a:t>
            </a:r>
            <a:r>
              <a:rPr lang="mr-IN" altLang="zh-CN">
                <a:latin typeface="Arial"/>
                <a:cs typeface="Arial"/>
              </a:rPr>
              <a:t>–</a:t>
            </a:r>
            <a:r>
              <a:rPr lang="en-US" altLang="zh-CN">
                <a:latin typeface="Arial"/>
                <a:cs typeface="Arial"/>
              </a:rPr>
              <a:t> like first-fit, but search</a:t>
            </a:r>
          </a:p>
          <a:p>
            <a:pPr marL="0" lvl="1"/>
            <a:r>
              <a:rPr lang="en-US" altLang="zh-CN">
                <a:latin typeface="Arial"/>
                <a:cs typeface="Arial"/>
              </a:rPr>
              <a:t>starts from where the</a:t>
            </a:r>
          </a:p>
          <a:p>
            <a:pPr marL="0" lvl="1"/>
            <a:r>
              <a:rPr lang="en-US" altLang="zh-CN">
                <a:latin typeface="Arial"/>
                <a:cs typeface="Arial"/>
              </a:rPr>
              <a:t>previous search left off.</a:t>
            </a:r>
          </a:p>
        </p:txBody>
      </p:sp>
      <p:sp>
        <p:nvSpPr>
          <p:cNvPr id="45" name="矩形 44"/>
          <p:cNvSpPr/>
          <p:nvPr/>
        </p:nvSpPr>
        <p:spPr>
          <a:xfrm>
            <a:off x="778870" y="1580696"/>
            <a:ext cx="208422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Consolas"/>
                <a:cs typeface="Consolas"/>
              </a:rPr>
              <a:t>…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p7 = malloc(8)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p8 = malloc(56)</a:t>
            </a:r>
          </a:p>
          <a:p>
            <a:endParaRPr kumimoji="1" lang="en-US" altLang="zh-CN" dirty="0">
              <a:latin typeface="Consolas"/>
              <a:cs typeface="Consolas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C2784C5-F7DF-4033-98BC-3D34BC362291}"/>
              </a:ext>
            </a:extLst>
          </p:cNvPr>
          <p:cNvGrpSpPr/>
          <p:nvPr/>
        </p:nvGrpSpPr>
        <p:grpSpPr>
          <a:xfrm>
            <a:off x="2875612" y="3611433"/>
            <a:ext cx="975042" cy="338554"/>
            <a:chOff x="2873007" y="2819162"/>
            <a:chExt cx="975042" cy="338554"/>
          </a:xfrm>
        </p:grpSpPr>
        <p:cxnSp>
          <p:nvCxnSpPr>
            <p:cNvPr id="52" name="直线箭头连接符 37">
              <a:extLst>
                <a:ext uri="{FF2B5EF4-FFF2-40B4-BE49-F238E27FC236}">
                  <a16:creationId xmlns:a16="http://schemas.microsoft.com/office/drawing/2014/main" id="{41E93CE2-3C71-4478-98D0-5516AD0F3071}"/>
                </a:ext>
              </a:extLst>
            </p:cNvPr>
            <p:cNvCxnSpPr/>
            <p:nvPr/>
          </p:nvCxnSpPr>
          <p:spPr>
            <a:xfrm flipV="1">
              <a:off x="3342707" y="3003781"/>
              <a:ext cx="505342" cy="374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矩形 41">
              <a:extLst>
                <a:ext uri="{FF2B5EF4-FFF2-40B4-BE49-F238E27FC236}">
                  <a16:creationId xmlns:a16="http://schemas.microsoft.com/office/drawing/2014/main" id="{B6611E82-347A-4F15-AF44-657ED6F05AA2}"/>
                </a:ext>
              </a:extLst>
            </p:cNvPr>
            <p:cNvSpPr/>
            <p:nvPr/>
          </p:nvSpPr>
          <p:spPr>
            <a:xfrm>
              <a:off x="2873007" y="2819162"/>
              <a:ext cx="4697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cur</a:t>
              </a:r>
              <a:endParaRPr lang="zh-CN" altLang="en-US" sz="1600">
                <a:latin typeface="Arial"/>
                <a:cs typeface="Arial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9A2AB1A-F23C-4A6B-94DB-BA338E6AC95C}"/>
              </a:ext>
            </a:extLst>
          </p:cNvPr>
          <p:cNvGrpSpPr/>
          <p:nvPr/>
        </p:nvGrpSpPr>
        <p:grpSpPr>
          <a:xfrm>
            <a:off x="2867227" y="2086833"/>
            <a:ext cx="975042" cy="338554"/>
            <a:chOff x="2873007" y="2819162"/>
            <a:chExt cx="975042" cy="338554"/>
          </a:xfrm>
        </p:grpSpPr>
        <p:cxnSp>
          <p:nvCxnSpPr>
            <p:cNvPr id="55" name="直线箭头连接符 37">
              <a:extLst>
                <a:ext uri="{FF2B5EF4-FFF2-40B4-BE49-F238E27FC236}">
                  <a16:creationId xmlns:a16="http://schemas.microsoft.com/office/drawing/2014/main" id="{CC666C4C-3077-4A91-9445-A5AA961144D6}"/>
                </a:ext>
              </a:extLst>
            </p:cNvPr>
            <p:cNvCxnSpPr/>
            <p:nvPr/>
          </p:nvCxnSpPr>
          <p:spPr>
            <a:xfrm flipV="1">
              <a:off x="3342707" y="3003781"/>
              <a:ext cx="505342" cy="374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矩形 41">
              <a:extLst>
                <a:ext uri="{FF2B5EF4-FFF2-40B4-BE49-F238E27FC236}">
                  <a16:creationId xmlns:a16="http://schemas.microsoft.com/office/drawing/2014/main" id="{CED26CDC-7FA7-4321-A212-A781D5D0929B}"/>
                </a:ext>
              </a:extLst>
            </p:cNvPr>
            <p:cNvSpPr/>
            <p:nvPr/>
          </p:nvSpPr>
          <p:spPr>
            <a:xfrm>
              <a:off x="2873007" y="2819162"/>
              <a:ext cx="4697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cur</a:t>
              </a:r>
              <a:endParaRPr lang="zh-CN" altLang="en-US" sz="1600">
                <a:latin typeface="Arial"/>
                <a:cs typeface="Arial"/>
              </a:endParaRPr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351F6C2-F9E2-49B4-A7CD-32C43DBF1739}"/>
              </a:ext>
            </a:extLst>
          </p:cNvPr>
          <p:cNvCxnSpPr/>
          <p:nvPr/>
        </p:nvCxnSpPr>
        <p:spPr>
          <a:xfrm>
            <a:off x="3444949" y="1787236"/>
            <a:ext cx="3147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282485F-C057-464F-A3B9-E2885B624149}"/>
              </a:ext>
            </a:extLst>
          </p:cNvPr>
          <p:cNvSpPr txBox="1"/>
          <p:nvPr/>
        </p:nvSpPr>
        <p:spPr>
          <a:xfrm>
            <a:off x="3116672" y="1605908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p7</a:t>
            </a:r>
          </a:p>
        </p:txBody>
      </p:sp>
    </p:spTree>
    <p:extLst>
      <p:ext uri="{BB962C8B-B14F-4D97-AF65-F5344CB8AC3E}">
        <p14:creationId xmlns:p14="http://schemas.microsoft.com/office/powerpoint/2010/main" val="2098031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5809" y="74865"/>
            <a:ext cx="8229600" cy="1143000"/>
          </a:xfrm>
        </p:spPr>
        <p:txBody>
          <a:bodyPr/>
          <a:lstStyle/>
          <a:p>
            <a:r>
              <a:rPr kumimoji="1" lang="en-US" altLang="zh-CN"/>
              <a:t>Next fit</a:t>
            </a:r>
            <a:endParaRPr kumimoji="1" lang="zh-CN" altLang="en-US"/>
          </a:p>
        </p:txBody>
      </p:sp>
      <p:grpSp>
        <p:nvGrpSpPr>
          <p:cNvPr id="3" name="组 2"/>
          <p:cNvGrpSpPr/>
          <p:nvPr/>
        </p:nvGrpSpPr>
        <p:grpSpPr>
          <a:xfrm>
            <a:off x="3895786" y="1000014"/>
            <a:ext cx="3770944" cy="5892002"/>
            <a:chOff x="3895786" y="1000014"/>
            <a:chExt cx="3770944" cy="5892002"/>
          </a:xfrm>
        </p:grpSpPr>
        <p:sp>
          <p:nvSpPr>
            <p:cNvPr id="5" name="矩形 4"/>
            <p:cNvSpPr/>
            <p:nvPr/>
          </p:nvSpPr>
          <p:spPr>
            <a:xfrm>
              <a:off x="3897873" y="1332930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895786" y="1445098"/>
              <a:ext cx="968753" cy="21034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897873" y="1661827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895786" y="1773995"/>
              <a:ext cx="968753" cy="34338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905937" y="2143295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895786" y="2255462"/>
              <a:ext cx="968753" cy="74831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904952" y="2998420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904952" y="3327317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902865" y="3439484"/>
              <a:ext cx="968753" cy="3693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3913015" y="3808785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3902865" y="3920952"/>
              <a:ext cx="968753" cy="724023"/>
            </a:xfrm>
            <a:prstGeom prst="rect">
              <a:avLst/>
            </a:prstGeom>
            <a:solidFill>
              <a:srgbClr val="4F81BD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913015" y="4669271"/>
              <a:ext cx="958602" cy="112168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3910877" y="4795751"/>
              <a:ext cx="968753" cy="209626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5596892" y="1518701"/>
              <a:ext cx="423171" cy="66742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6084609" y="1385274"/>
              <a:ext cx="74892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>
                  <a:latin typeface="Arial"/>
                  <a:cs typeface="Arial"/>
                </a:rPr>
                <a:t>header</a:t>
              </a:r>
              <a:endParaRPr lang="zh-CN" altLang="en-US" sz="1400">
                <a:latin typeface="Arial"/>
                <a:cs typeface="Arial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5596892" y="1740623"/>
              <a:ext cx="423171" cy="6674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6084609" y="1607196"/>
              <a:ext cx="158212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>
                  <a:latin typeface="Arial"/>
                  <a:cs typeface="Arial"/>
                </a:rPr>
                <a:t>allocated payload</a:t>
              </a:r>
              <a:endParaRPr lang="zh-CN" altLang="en-US" sz="1400">
                <a:latin typeface="Arial"/>
                <a:cs typeface="Arial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5596892" y="2015782"/>
              <a:ext cx="423171" cy="6674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6076149" y="1891255"/>
              <a:ext cx="97975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>
                  <a:latin typeface="Arial"/>
                  <a:cs typeface="Arial"/>
                </a:rPr>
                <a:t>free block</a:t>
              </a:r>
              <a:endParaRPr lang="zh-CN" altLang="en-US" sz="1400">
                <a:latin typeface="Arial"/>
                <a:cs typeface="Arial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902865" y="3101948"/>
              <a:ext cx="968753" cy="2103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4064208" y="1000014"/>
              <a:ext cx="64112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heap</a:t>
              </a:r>
              <a:endParaRPr lang="zh-CN" altLang="en-US" sz="1600">
                <a:latin typeface="Arial"/>
                <a:cs typeface="Arial"/>
              </a:endParaRPr>
            </a:p>
          </p:txBody>
        </p:sp>
        <p:cxnSp>
          <p:nvCxnSpPr>
            <p:cNvPr id="37" name="直线箭头连接符 36"/>
            <p:cNvCxnSpPr/>
            <p:nvPr/>
          </p:nvCxnSpPr>
          <p:spPr>
            <a:xfrm>
              <a:off x="5097117" y="2394610"/>
              <a:ext cx="0" cy="353568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矩形 40"/>
            <p:cNvSpPr/>
            <p:nvPr/>
          </p:nvSpPr>
          <p:spPr>
            <a:xfrm rot="5400000">
              <a:off x="4856811" y="3736286"/>
              <a:ext cx="10058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Arial"/>
                  <a:cs typeface="Arial"/>
                </a:rPr>
                <a:t>address</a:t>
              </a:r>
              <a:endParaRPr lang="zh-CN" altLang="en-US">
                <a:latin typeface="Arial"/>
                <a:cs typeface="Arial"/>
              </a:endParaRPr>
            </a:p>
          </p:txBody>
        </p:sp>
      </p:grpSp>
      <p:sp>
        <p:nvSpPr>
          <p:cNvPr id="43" name="矩形 42"/>
          <p:cNvSpPr/>
          <p:nvPr/>
        </p:nvSpPr>
        <p:spPr>
          <a:xfrm>
            <a:off x="5439465" y="2850627"/>
            <a:ext cx="340448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>
                <a:latin typeface="Arial"/>
                <a:cs typeface="Arial"/>
              </a:rPr>
              <a:t>Next fit </a:t>
            </a:r>
            <a:r>
              <a:rPr lang="mr-IN" altLang="zh-CN">
                <a:latin typeface="Arial"/>
                <a:cs typeface="Arial"/>
              </a:rPr>
              <a:t>–</a:t>
            </a:r>
            <a:r>
              <a:rPr lang="en-US" altLang="zh-CN">
                <a:latin typeface="Arial"/>
                <a:cs typeface="Arial"/>
              </a:rPr>
              <a:t> like first-fit, but search</a:t>
            </a:r>
          </a:p>
          <a:p>
            <a:pPr marL="0" lvl="1"/>
            <a:r>
              <a:rPr lang="en-US" altLang="zh-CN">
                <a:latin typeface="Arial"/>
                <a:cs typeface="Arial"/>
              </a:rPr>
              <a:t>starts from where the</a:t>
            </a:r>
          </a:p>
          <a:p>
            <a:pPr marL="0" lvl="1"/>
            <a:r>
              <a:rPr lang="en-US" altLang="zh-CN">
                <a:latin typeface="Arial"/>
                <a:cs typeface="Arial"/>
              </a:rPr>
              <a:t>previous search left off.</a:t>
            </a:r>
          </a:p>
        </p:txBody>
      </p:sp>
      <p:sp>
        <p:nvSpPr>
          <p:cNvPr id="45" name="矩形 44"/>
          <p:cNvSpPr/>
          <p:nvPr/>
        </p:nvSpPr>
        <p:spPr>
          <a:xfrm>
            <a:off x="778870" y="1580696"/>
            <a:ext cx="208422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Consolas"/>
                <a:cs typeface="Consolas"/>
              </a:rPr>
              <a:t>…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p7 = malloc(8)</a:t>
            </a:r>
          </a:p>
          <a:p>
            <a:r>
              <a:rPr kumimoji="1" lang="en-US" altLang="zh-CN" dirty="0">
                <a:latin typeface="Consolas"/>
                <a:cs typeface="Consolas"/>
              </a:rPr>
              <a:t>p8 = malloc(56)</a:t>
            </a:r>
          </a:p>
          <a:p>
            <a:endParaRPr kumimoji="1" lang="en-US" altLang="zh-CN" dirty="0">
              <a:latin typeface="Consolas"/>
              <a:cs typeface="Consolas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2867227" y="3751675"/>
            <a:ext cx="975042" cy="338554"/>
            <a:chOff x="2867227" y="3624166"/>
            <a:chExt cx="975042" cy="338554"/>
          </a:xfrm>
        </p:grpSpPr>
        <p:cxnSp>
          <p:nvCxnSpPr>
            <p:cNvPr id="44" name="直线箭头连接符 37"/>
            <p:cNvCxnSpPr/>
            <p:nvPr/>
          </p:nvCxnSpPr>
          <p:spPr>
            <a:xfrm flipV="1">
              <a:off x="3336927" y="3808785"/>
              <a:ext cx="505342" cy="374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矩形 41"/>
            <p:cNvSpPr/>
            <p:nvPr/>
          </p:nvSpPr>
          <p:spPr>
            <a:xfrm>
              <a:off x="2867227" y="3624166"/>
              <a:ext cx="41289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p8</a:t>
              </a:r>
              <a:endParaRPr lang="zh-CN" altLang="en-US" sz="1600">
                <a:latin typeface="Arial"/>
                <a:cs typeface="Arial"/>
              </a:endParaRPr>
            </a:p>
          </p:txBody>
        </p:sp>
      </p:grpSp>
      <p:sp>
        <p:nvSpPr>
          <p:cNvPr id="51" name="矩形 43"/>
          <p:cNvSpPr/>
          <p:nvPr/>
        </p:nvSpPr>
        <p:spPr>
          <a:xfrm>
            <a:off x="5439465" y="3962227"/>
            <a:ext cx="33147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>
                <a:latin typeface="Arial"/>
                <a:cs typeface="Arial"/>
              </a:rPr>
              <a:t>Next fit runs faster than first fit,</a:t>
            </a:r>
          </a:p>
          <a:p>
            <a:pPr marL="0" lvl="1"/>
            <a:r>
              <a:rPr lang="en-US" altLang="zh-CN">
                <a:latin typeface="Arial"/>
                <a:cs typeface="Arial"/>
              </a:rPr>
              <a:t>but fragmentation is worse. 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58A8198-DADC-4F15-B330-C06B68947A8F}"/>
              </a:ext>
            </a:extLst>
          </p:cNvPr>
          <p:cNvCxnSpPr/>
          <p:nvPr/>
        </p:nvCxnSpPr>
        <p:spPr>
          <a:xfrm>
            <a:off x="3444949" y="1787236"/>
            <a:ext cx="3147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2B17EF1-4A32-474F-B535-F12C913B6555}"/>
              </a:ext>
            </a:extLst>
          </p:cNvPr>
          <p:cNvSpPr txBox="1"/>
          <p:nvPr/>
        </p:nvSpPr>
        <p:spPr>
          <a:xfrm>
            <a:off x="3116672" y="1605908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p7</a:t>
            </a:r>
          </a:p>
        </p:txBody>
      </p:sp>
    </p:spTree>
    <p:extLst>
      <p:ext uri="{BB962C8B-B14F-4D97-AF65-F5344CB8AC3E}">
        <p14:creationId xmlns:p14="http://schemas.microsoft.com/office/powerpoint/2010/main" val="230278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0030" y="37335"/>
            <a:ext cx="8616464" cy="114300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/>
              <a:t>Free a block: coalesce with its free neighbor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78870" y="1580696"/>
            <a:ext cx="132688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latin typeface="Consolas"/>
                <a:cs typeface="Consolas"/>
              </a:rPr>
              <a:t>...</a:t>
            </a:r>
          </a:p>
          <a:p>
            <a:r>
              <a:rPr kumimoji="1" lang="en-US" altLang="zh-CN">
                <a:latin typeface="Consolas"/>
                <a:cs typeface="Consolas"/>
              </a:rPr>
              <a:t>free(p10)</a:t>
            </a:r>
          </a:p>
          <a:p>
            <a:endParaRPr kumimoji="1" lang="en-US" altLang="zh-CN">
              <a:latin typeface="Consolas"/>
              <a:cs typeface="Consola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97873" y="1332930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895786" y="1445098"/>
            <a:ext cx="968753" cy="21034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97873" y="1661827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895786" y="1773995"/>
            <a:ext cx="968753" cy="343380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905937" y="2143295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95786" y="2255462"/>
            <a:ext cx="968753" cy="74831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904952" y="2998420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904952" y="3327317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902865" y="3439484"/>
            <a:ext cx="968753" cy="36930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913015" y="3808785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902865" y="3920952"/>
            <a:ext cx="968753" cy="724023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913015" y="4669271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910877" y="4795751"/>
            <a:ext cx="968753" cy="20962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596892" y="1518701"/>
            <a:ext cx="423171" cy="6674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084609" y="1385274"/>
            <a:ext cx="7489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header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596892" y="1740623"/>
            <a:ext cx="423171" cy="6674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084609" y="1607196"/>
            <a:ext cx="15821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allocated payload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596892" y="1988486"/>
            <a:ext cx="423171" cy="667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076149" y="1863959"/>
            <a:ext cx="9797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free block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902865" y="3101948"/>
            <a:ext cx="968753" cy="210344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064208" y="1000014"/>
            <a:ext cx="6411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>
                <a:latin typeface="Arial"/>
                <a:cs typeface="Arial"/>
              </a:rPr>
              <a:t>heap</a:t>
            </a:r>
            <a:endParaRPr lang="zh-CN" altLang="en-US" sz="1600">
              <a:latin typeface="Arial"/>
              <a:cs typeface="Arial"/>
            </a:endParaRPr>
          </a:p>
        </p:txBody>
      </p:sp>
      <p:cxnSp>
        <p:nvCxnSpPr>
          <p:cNvPr id="37" name="直线箭头连接符 36"/>
          <p:cNvCxnSpPr/>
          <p:nvPr/>
        </p:nvCxnSpPr>
        <p:spPr>
          <a:xfrm>
            <a:off x="3682136" y="4983778"/>
            <a:ext cx="0" cy="1673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 rot="5400000">
            <a:off x="2570361" y="5648470"/>
            <a:ext cx="16987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err="1">
                <a:latin typeface="Arial"/>
                <a:cs typeface="Arial"/>
              </a:rPr>
              <a:t>addr</a:t>
            </a:r>
            <a:r>
              <a:rPr lang="en-US" altLang="zh-CN">
                <a:latin typeface="Arial"/>
                <a:cs typeface="Arial"/>
              </a:rPr>
              <a:t> increases</a:t>
            </a:r>
            <a:endParaRPr lang="zh-CN" altLang="en-US">
              <a:latin typeface="Arial"/>
              <a:cs typeface="Arial"/>
            </a:endParaRPr>
          </a:p>
        </p:txBody>
      </p:sp>
      <p:cxnSp>
        <p:nvCxnSpPr>
          <p:cNvPr id="38" name="直线箭头连接符 37"/>
          <p:cNvCxnSpPr/>
          <p:nvPr/>
        </p:nvCxnSpPr>
        <p:spPr>
          <a:xfrm flipV="1">
            <a:off x="3390444" y="3470915"/>
            <a:ext cx="505342" cy="3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2789799" y="3286296"/>
            <a:ext cx="5270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>
                <a:latin typeface="Arial"/>
                <a:cs typeface="Arial"/>
              </a:rPr>
              <a:t>p10</a:t>
            </a:r>
            <a:endParaRPr lang="zh-CN" altLang="en-US"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98570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505"/>
            <a:ext cx="8229600" cy="1143000"/>
          </a:xfrm>
        </p:spPr>
        <p:txBody>
          <a:bodyPr/>
          <a:lstStyle/>
          <a:p>
            <a:r>
              <a:rPr lang="en-US" dirty="0"/>
              <a:t>free() in an implicit list</a:t>
            </a:r>
          </a:p>
        </p:txBody>
      </p:sp>
      <p:sp>
        <p:nvSpPr>
          <p:cNvPr id="6" name="矩形 20">
            <a:extLst>
              <a:ext uri="{FF2B5EF4-FFF2-40B4-BE49-F238E27FC236}">
                <a16:creationId xmlns:a16="http://schemas.microsoft.com/office/drawing/2014/main" id="{B9A7425D-024B-264F-8E5E-EE7A6D86D0E3}"/>
              </a:ext>
            </a:extLst>
          </p:cNvPr>
          <p:cNvSpPr/>
          <p:nvPr/>
        </p:nvSpPr>
        <p:spPr>
          <a:xfrm>
            <a:off x="457200" y="1872444"/>
            <a:ext cx="808236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/>
                <a:cs typeface="Consolas"/>
              </a:rPr>
              <a:t>void free(void *p) {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header *h = payload2header(p);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</a:t>
            </a:r>
            <a:r>
              <a:rPr lang="en-US" altLang="zh-CN" sz="2000" dirty="0" err="1">
                <a:latin typeface="Consolas"/>
                <a:cs typeface="Consolas"/>
              </a:rPr>
              <a:t>set_status</a:t>
            </a:r>
            <a:r>
              <a:rPr lang="en-US" altLang="zh-CN" sz="2000" dirty="0">
                <a:latin typeface="Consolas"/>
                <a:cs typeface="Consolas"/>
              </a:rPr>
              <a:t>(h, false);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  coalesce(h);</a:t>
            </a:r>
          </a:p>
          <a:p>
            <a:r>
              <a:rPr lang="en-US" altLang="zh-CN" sz="20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8" name="矩形 30">
            <a:extLst>
              <a:ext uri="{FF2B5EF4-FFF2-40B4-BE49-F238E27FC236}">
                <a16:creationId xmlns:a16="http://schemas.microsoft.com/office/drawing/2014/main" id="{9D83B98A-A2A2-40C3-9D4F-F716F8B59C2B}"/>
              </a:ext>
            </a:extLst>
          </p:cNvPr>
          <p:cNvSpPr/>
          <p:nvPr/>
        </p:nvSpPr>
        <p:spPr>
          <a:xfrm>
            <a:off x="5406888" y="4086149"/>
            <a:ext cx="1767840" cy="12702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Payload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9" name="矩形 32">
            <a:extLst>
              <a:ext uri="{FF2B5EF4-FFF2-40B4-BE49-F238E27FC236}">
                <a16:creationId xmlns:a16="http://schemas.microsoft.com/office/drawing/2014/main" id="{610F7BFA-37FC-447C-9A74-F7973D509C0B}"/>
              </a:ext>
            </a:extLst>
          </p:cNvPr>
          <p:cNvSpPr/>
          <p:nvPr/>
        </p:nvSpPr>
        <p:spPr>
          <a:xfrm>
            <a:off x="5406888" y="3415372"/>
            <a:ext cx="176784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     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矩形 48">
            <a:extLst>
              <a:ext uri="{FF2B5EF4-FFF2-40B4-BE49-F238E27FC236}">
                <a16:creationId xmlns:a16="http://schemas.microsoft.com/office/drawing/2014/main" id="{08948BB4-C718-4705-BC89-BA280D4F94D3}"/>
              </a:ext>
            </a:extLst>
          </p:cNvPr>
          <p:cNvSpPr/>
          <p:nvPr/>
        </p:nvSpPr>
        <p:spPr>
          <a:xfrm>
            <a:off x="6941048" y="3417158"/>
            <a:ext cx="23368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   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" name="矩形 45">
            <a:extLst>
              <a:ext uri="{FF2B5EF4-FFF2-40B4-BE49-F238E27FC236}">
                <a16:creationId xmlns:a16="http://schemas.microsoft.com/office/drawing/2014/main" id="{69FB9175-281D-4AB3-9FCF-E63D51FCE666}"/>
              </a:ext>
            </a:extLst>
          </p:cNvPr>
          <p:cNvSpPr/>
          <p:nvPr/>
        </p:nvSpPr>
        <p:spPr>
          <a:xfrm>
            <a:off x="5406888" y="3740710"/>
            <a:ext cx="1767840" cy="3368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6C7DCDB4-0721-4480-B71B-B94170B5702C}"/>
              </a:ext>
            </a:extLst>
          </p:cNvPr>
          <p:cNvSpPr/>
          <p:nvPr/>
        </p:nvSpPr>
        <p:spPr>
          <a:xfrm>
            <a:off x="7266168" y="3417158"/>
            <a:ext cx="193040" cy="55293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AF1B16-66F0-4914-8343-2337FF420FB6}"/>
              </a:ext>
            </a:extLst>
          </p:cNvPr>
          <p:cNvSpPr txBox="1"/>
          <p:nvPr/>
        </p:nvSpPr>
        <p:spPr>
          <a:xfrm>
            <a:off x="5630408" y="3372946"/>
            <a:ext cx="1152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chunk size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69AE44-30D1-4C73-A4B7-A4286ED43040}"/>
              </a:ext>
            </a:extLst>
          </p:cNvPr>
          <p:cNvCxnSpPr/>
          <p:nvPr/>
        </p:nvCxnSpPr>
        <p:spPr>
          <a:xfrm flipH="1">
            <a:off x="7007511" y="3117290"/>
            <a:ext cx="107956" cy="4630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E661C08-8981-4806-BBB2-523610151E9F}"/>
              </a:ext>
            </a:extLst>
          </p:cNvPr>
          <p:cNvSpPr txBox="1"/>
          <p:nvPr/>
        </p:nvSpPr>
        <p:spPr>
          <a:xfrm>
            <a:off x="6894656" y="2736180"/>
            <a:ext cx="743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status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31AF71-A806-463E-B6DD-F009F85E1C70}"/>
              </a:ext>
            </a:extLst>
          </p:cNvPr>
          <p:cNvSpPr txBox="1"/>
          <p:nvPr/>
        </p:nvSpPr>
        <p:spPr>
          <a:xfrm>
            <a:off x="7501145" y="3445897"/>
            <a:ext cx="1623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16-byte header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5DBB59-EE0D-4C48-B8DF-72CA75CC4CBC}"/>
              </a:ext>
            </a:extLst>
          </p:cNvPr>
          <p:cNvCxnSpPr>
            <a:cxnSpLocks/>
          </p:cNvCxnSpPr>
          <p:nvPr/>
        </p:nvCxnSpPr>
        <p:spPr>
          <a:xfrm>
            <a:off x="4806017" y="4086149"/>
            <a:ext cx="54170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0321AF0-B33E-4634-B136-EF3E2D3C6BD3}"/>
              </a:ext>
            </a:extLst>
          </p:cNvPr>
          <p:cNvSpPr txBox="1"/>
          <p:nvPr/>
        </p:nvSpPr>
        <p:spPr>
          <a:xfrm>
            <a:off x="4534566" y="390913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p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9942DE5-D806-43CC-8187-FE837A32FA56}"/>
              </a:ext>
            </a:extLst>
          </p:cNvPr>
          <p:cNvCxnSpPr>
            <a:cxnSpLocks/>
          </p:cNvCxnSpPr>
          <p:nvPr/>
        </p:nvCxnSpPr>
        <p:spPr>
          <a:xfrm>
            <a:off x="4821502" y="3415152"/>
            <a:ext cx="54170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6DE1A47-7D76-42D5-8C90-2F5E9C9B3547}"/>
              </a:ext>
            </a:extLst>
          </p:cNvPr>
          <p:cNvSpPr txBox="1"/>
          <p:nvPr/>
        </p:nvSpPr>
        <p:spPr>
          <a:xfrm>
            <a:off x="4550051" y="323813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90082F-3E4C-47A1-95D4-4A6786E318A7}"/>
              </a:ext>
            </a:extLst>
          </p:cNvPr>
          <p:cNvSpPr txBox="1"/>
          <p:nvPr/>
        </p:nvSpPr>
        <p:spPr>
          <a:xfrm>
            <a:off x="545474" y="4651350"/>
            <a:ext cx="45785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Consolas"/>
                <a:cs typeface="Consolas"/>
              </a:rPr>
              <a:t>header *payload2header(void *p)</a:t>
            </a:r>
          </a:p>
          <a:p>
            <a:r>
              <a:rPr lang="en-US" altLang="zh-CN" sz="1800" dirty="0">
                <a:latin typeface="Consolas"/>
                <a:cs typeface="Consolas"/>
              </a:rPr>
              <a:t>{</a:t>
            </a:r>
          </a:p>
          <a:p>
            <a:endParaRPr lang="en-US" altLang="zh-CN" sz="1800" dirty="0">
              <a:latin typeface="Consolas"/>
              <a:cs typeface="Consolas"/>
            </a:endParaRPr>
          </a:p>
          <a:p>
            <a:endParaRPr lang="en-US" altLang="zh-CN" sz="1800" dirty="0">
              <a:latin typeface="Consolas"/>
              <a:cs typeface="Consolas"/>
            </a:endParaRPr>
          </a:p>
          <a:p>
            <a:r>
              <a:rPr lang="en-US" altLang="zh-CN" sz="1800" dirty="0"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740472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650" y="100176"/>
            <a:ext cx="9274010" cy="114300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/>
              <a:t>Coalescing a free block with next free neighbor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78870" y="1580696"/>
            <a:ext cx="132688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latin typeface="Consolas"/>
                <a:cs typeface="Consolas"/>
              </a:rPr>
              <a:t>...</a:t>
            </a:r>
          </a:p>
          <a:p>
            <a:r>
              <a:rPr kumimoji="1" lang="en-US" altLang="zh-CN">
                <a:latin typeface="Consolas"/>
                <a:cs typeface="Consolas"/>
              </a:rPr>
              <a:t>free(p10)</a:t>
            </a:r>
          </a:p>
          <a:p>
            <a:endParaRPr kumimoji="1" lang="en-US" altLang="zh-CN">
              <a:latin typeface="Consolas"/>
              <a:cs typeface="Consola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97873" y="1332930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895786" y="1445098"/>
            <a:ext cx="968753" cy="21034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97873" y="1661827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895786" y="1773995"/>
            <a:ext cx="968753" cy="343380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905937" y="2143295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95786" y="2255462"/>
            <a:ext cx="968753" cy="74831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904952" y="2998420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904952" y="3327317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902865" y="3439484"/>
            <a:ext cx="968753" cy="36930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913015" y="3808785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902865" y="3920952"/>
            <a:ext cx="968753" cy="724023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913015" y="4669271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910877" y="4795751"/>
            <a:ext cx="968753" cy="20962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596892" y="1518701"/>
            <a:ext cx="423171" cy="6674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084609" y="1385274"/>
            <a:ext cx="7489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header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596892" y="1740623"/>
            <a:ext cx="423171" cy="6674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084609" y="1607196"/>
            <a:ext cx="15821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allocated payload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600959" y="1968405"/>
            <a:ext cx="423171" cy="6674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84609" y="1840436"/>
            <a:ext cx="8236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padding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596892" y="2211360"/>
            <a:ext cx="423171" cy="667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076149" y="2086833"/>
            <a:ext cx="9797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free block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902865" y="3101948"/>
            <a:ext cx="968753" cy="210344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064208" y="1000014"/>
            <a:ext cx="6411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>
                <a:latin typeface="Arial"/>
                <a:cs typeface="Arial"/>
              </a:rPr>
              <a:t>heap</a:t>
            </a:r>
            <a:endParaRPr lang="zh-CN" altLang="en-US" sz="1600">
              <a:latin typeface="Arial"/>
              <a:cs typeface="Arial"/>
            </a:endParaRPr>
          </a:p>
        </p:txBody>
      </p:sp>
      <p:cxnSp>
        <p:nvCxnSpPr>
          <p:cNvPr id="37" name="直线箭头连接符 36"/>
          <p:cNvCxnSpPr/>
          <p:nvPr/>
        </p:nvCxnSpPr>
        <p:spPr>
          <a:xfrm>
            <a:off x="3682136" y="4983778"/>
            <a:ext cx="0" cy="1673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 rot="5400000">
            <a:off x="2570361" y="5648470"/>
            <a:ext cx="16987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err="1">
                <a:latin typeface="Arial"/>
                <a:cs typeface="Arial"/>
              </a:rPr>
              <a:t>addr</a:t>
            </a:r>
            <a:r>
              <a:rPr lang="en-US" altLang="zh-CN">
                <a:latin typeface="Arial"/>
                <a:cs typeface="Arial"/>
              </a:rPr>
              <a:t> increases</a:t>
            </a:r>
            <a:endParaRPr lang="zh-CN" altLang="en-US">
              <a:latin typeface="Arial"/>
              <a:cs typeface="Arial"/>
            </a:endParaRPr>
          </a:p>
        </p:txBody>
      </p:sp>
      <p:cxnSp>
        <p:nvCxnSpPr>
          <p:cNvPr id="38" name="直线箭头连接符 37"/>
          <p:cNvCxnSpPr/>
          <p:nvPr/>
        </p:nvCxnSpPr>
        <p:spPr>
          <a:xfrm flipV="1">
            <a:off x="3390444" y="3470915"/>
            <a:ext cx="505342" cy="3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2338754" y="3270207"/>
            <a:ext cx="105169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>
                <a:latin typeface="Arial"/>
                <a:cs typeface="Arial"/>
              </a:rPr>
              <a:t>freed p10</a:t>
            </a:r>
            <a:endParaRPr lang="zh-CN" altLang="en-US" sz="1600">
              <a:latin typeface="Arial"/>
              <a:cs typeface="Arial"/>
            </a:endParaRPr>
          </a:p>
        </p:txBody>
      </p:sp>
      <p:cxnSp>
        <p:nvCxnSpPr>
          <p:cNvPr id="39" name="直线连接符 37"/>
          <p:cNvCxnSpPr/>
          <p:nvPr/>
        </p:nvCxnSpPr>
        <p:spPr>
          <a:xfrm flipV="1">
            <a:off x="4864539" y="2851382"/>
            <a:ext cx="915097" cy="475935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线连接符 41"/>
          <p:cNvCxnSpPr/>
          <p:nvPr/>
        </p:nvCxnSpPr>
        <p:spPr>
          <a:xfrm>
            <a:off x="4893862" y="3808785"/>
            <a:ext cx="885774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5728467" y="3156181"/>
            <a:ext cx="1767840" cy="6226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16B Payload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728467" y="2651760"/>
            <a:ext cx="1767840" cy="5044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        0x20</a:t>
            </a:r>
          </a:p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8B padding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45" name="直线连接符 44"/>
          <p:cNvCxnSpPr/>
          <p:nvPr/>
        </p:nvCxnSpPr>
        <p:spPr>
          <a:xfrm>
            <a:off x="4864539" y="4689724"/>
            <a:ext cx="915097" cy="593476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5728836" y="4303194"/>
            <a:ext cx="1767840" cy="9495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48B Payload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728836" y="3778305"/>
            <a:ext cx="1767840" cy="5248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        0x40</a:t>
            </a:r>
          </a:p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8B padding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48" name="直线连接符 47"/>
          <p:cNvCxnSpPr/>
          <p:nvPr/>
        </p:nvCxnSpPr>
        <p:spPr>
          <a:xfrm>
            <a:off x="4871617" y="3864869"/>
            <a:ext cx="908019" cy="164005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5439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" y="37335"/>
            <a:ext cx="9035136" cy="1143000"/>
          </a:xfrm>
        </p:spPr>
        <p:txBody>
          <a:bodyPr>
            <a:noAutofit/>
          </a:bodyPr>
          <a:lstStyle/>
          <a:p>
            <a:r>
              <a:rPr kumimoji="1" lang="en-US" altLang="zh-CN" sz="3200" dirty="0"/>
              <a:t>Coalescing a free block with next free neighbor</a:t>
            </a:r>
            <a:endParaRPr kumimoji="1" lang="zh-CN" altLang="en-US" sz="3200" dirty="0"/>
          </a:p>
        </p:txBody>
      </p:sp>
      <p:sp>
        <p:nvSpPr>
          <p:cNvPr id="4" name="矩形 3"/>
          <p:cNvSpPr/>
          <p:nvPr/>
        </p:nvSpPr>
        <p:spPr>
          <a:xfrm>
            <a:off x="778870" y="1580696"/>
            <a:ext cx="132688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latin typeface="Consolas"/>
                <a:cs typeface="Consolas"/>
              </a:rPr>
              <a:t>...</a:t>
            </a:r>
          </a:p>
          <a:p>
            <a:r>
              <a:rPr kumimoji="1" lang="en-US" altLang="zh-CN">
                <a:latin typeface="Consolas"/>
                <a:cs typeface="Consolas"/>
              </a:rPr>
              <a:t>free(p10)</a:t>
            </a:r>
          </a:p>
          <a:p>
            <a:endParaRPr kumimoji="1" lang="en-US" altLang="zh-CN">
              <a:latin typeface="Consolas"/>
              <a:cs typeface="Consola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97873" y="1332930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895786" y="1445098"/>
            <a:ext cx="968753" cy="21034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97873" y="1661827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895786" y="1773995"/>
            <a:ext cx="968753" cy="343380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905937" y="2143295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95786" y="2255462"/>
            <a:ext cx="968753" cy="74831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904952" y="2998420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904952" y="3327317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902865" y="3439484"/>
            <a:ext cx="968753" cy="122978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913015" y="4669271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910877" y="4795751"/>
            <a:ext cx="968753" cy="20962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596892" y="1518701"/>
            <a:ext cx="423171" cy="6674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084609" y="1385274"/>
            <a:ext cx="7489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header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596892" y="1740623"/>
            <a:ext cx="423171" cy="6674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084609" y="1607196"/>
            <a:ext cx="15821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allocated payload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600959" y="1968405"/>
            <a:ext cx="423171" cy="6674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84609" y="1840436"/>
            <a:ext cx="8236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padding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596892" y="2211360"/>
            <a:ext cx="423171" cy="667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076149" y="2086833"/>
            <a:ext cx="9797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Arial"/>
                <a:cs typeface="Arial"/>
              </a:rPr>
              <a:t>free block</a:t>
            </a:r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902865" y="3101948"/>
            <a:ext cx="968753" cy="210344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064208" y="1000014"/>
            <a:ext cx="6411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>
                <a:latin typeface="Arial"/>
                <a:cs typeface="Arial"/>
              </a:rPr>
              <a:t>heap</a:t>
            </a:r>
            <a:endParaRPr lang="zh-CN" altLang="en-US" sz="1600">
              <a:latin typeface="Arial"/>
              <a:cs typeface="Arial"/>
            </a:endParaRPr>
          </a:p>
        </p:txBody>
      </p:sp>
      <p:cxnSp>
        <p:nvCxnSpPr>
          <p:cNvPr id="37" name="直线箭头连接符 36"/>
          <p:cNvCxnSpPr/>
          <p:nvPr/>
        </p:nvCxnSpPr>
        <p:spPr>
          <a:xfrm>
            <a:off x="3682136" y="4983778"/>
            <a:ext cx="0" cy="1673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 rot="5400000">
            <a:off x="2570361" y="5648470"/>
            <a:ext cx="16987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err="1">
                <a:latin typeface="Arial"/>
                <a:cs typeface="Arial"/>
              </a:rPr>
              <a:t>addr</a:t>
            </a:r>
            <a:r>
              <a:rPr lang="en-US" altLang="zh-CN">
                <a:latin typeface="Arial"/>
                <a:cs typeface="Arial"/>
              </a:rPr>
              <a:t> increases</a:t>
            </a:r>
            <a:endParaRPr lang="zh-CN" altLang="en-US">
              <a:latin typeface="Arial"/>
              <a:cs typeface="Arial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864539" y="2651760"/>
            <a:ext cx="2631768" cy="2631440"/>
            <a:chOff x="4864539" y="2651760"/>
            <a:chExt cx="2631768" cy="2631440"/>
          </a:xfrm>
        </p:grpSpPr>
        <p:cxnSp>
          <p:nvCxnSpPr>
            <p:cNvPr id="39" name="直线连接符 37"/>
            <p:cNvCxnSpPr/>
            <p:nvPr/>
          </p:nvCxnSpPr>
          <p:spPr>
            <a:xfrm flipV="1">
              <a:off x="4864539" y="2851382"/>
              <a:ext cx="915097" cy="475935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矩形 42"/>
            <p:cNvSpPr/>
            <p:nvPr/>
          </p:nvSpPr>
          <p:spPr>
            <a:xfrm>
              <a:off x="5728467" y="3156181"/>
              <a:ext cx="1767840" cy="21270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Arial"/>
                  <a:cs typeface="Arial"/>
                </a:rPr>
                <a:t>80B Payload</a:t>
              </a:r>
              <a:endParaRPr kumimoji="1" lang="zh-CN" altLang="en-US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5728467" y="2651760"/>
              <a:ext cx="1767840" cy="50442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zh-CN">
                  <a:solidFill>
                    <a:schemeClr val="tx1"/>
                  </a:solidFill>
                  <a:latin typeface="Arial"/>
                  <a:cs typeface="Arial"/>
                </a:rPr>
                <a:t>        0x60</a:t>
              </a:r>
            </a:p>
            <a:p>
              <a:r>
                <a:rPr kumimoji="1" lang="en-US" altLang="zh-CN">
                  <a:solidFill>
                    <a:schemeClr val="tx1"/>
                  </a:solidFill>
                  <a:latin typeface="Arial"/>
                  <a:cs typeface="Arial"/>
                </a:rPr>
                <a:t>8B padding</a:t>
              </a:r>
              <a:endParaRPr kumimoji="1" lang="zh-CN" altLang="en-US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cxnSp>
          <p:nvCxnSpPr>
            <p:cNvPr id="45" name="直线连接符 44"/>
            <p:cNvCxnSpPr/>
            <p:nvPr/>
          </p:nvCxnSpPr>
          <p:spPr>
            <a:xfrm>
              <a:off x="4864539" y="4689724"/>
              <a:ext cx="915097" cy="593476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Rounded Rectangular Callout 5"/>
          <p:cNvSpPr/>
          <p:nvPr/>
        </p:nvSpPr>
        <p:spPr>
          <a:xfrm>
            <a:off x="934720" y="3586480"/>
            <a:ext cx="1960880" cy="904240"/>
          </a:xfrm>
          <a:prstGeom prst="wedgeRoundRectCallout">
            <a:avLst>
              <a:gd name="adj1" fmla="val 99622"/>
              <a:gd name="adj2" fmla="val -100421"/>
              <a:gd name="adj3" fmla="val 16667"/>
            </a:avLst>
          </a:prstGeom>
          <a:solidFill>
            <a:schemeClr val="bg2">
              <a:lumMod val="9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rgbClr val="000000"/>
                </a:solidFill>
              </a:rPr>
              <a:t>How to coalesce with the previous free block?</a:t>
            </a:r>
          </a:p>
        </p:txBody>
      </p:sp>
    </p:spTree>
    <p:extLst>
      <p:ext uri="{BB962C8B-B14F-4D97-AF65-F5344CB8AC3E}">
        <p14:creationId xmlns:p14="http://schemas.microsoft.com/office/powerpoint/2010/main" val="126117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/>
              <a:t>Use footer to coalesce with previous block</a:t>
            </a:r>
            <a:endParaRPr kumimoji="1" lang="zh-CN" alt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5026" y="1339421"/>
            <a:ext cx="8229600" cy="919480"/>
          </a:xfrm>
        </p:spPr>
        <p:txBody>
          <a:bodyPr/>
          <a:lstStyle/>
          <a:p>
            <a:r>
              <a:rPr lang="en-US" dirty="0"/>
              <a:t>Duplicate header information into the footer</a:t>
            </a:r>
          </a:p>
        </p:txBody>
      </p:sp>
      <p:sp>
        <p:nvSpPr>
          <p:cNvPr id="10" name="矩形 9"/>
          <p:cNvSpPr/>
          <p:nvPr/>
        </p:nvSpPr>
        <p:spPr>
          <a:xfrm>
            <a:off x="4569826" y="3088697"/>
            <a:ext cx="234218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Consolas"/>
                <a:cs typeface="Consolas"/>
              </a:rPr>
              <a:t>p </a:t>
            </a:r>
            <a:r>
              <a:rPr kumimoji="1" lang="zh-CN" altLang="en-US" dirty="0">
                <a:latin typeface="Consolas"/>
                <a:cs typeface="Consolas"/>
              </a:rPr>
              <a:t> </a:t>
            </a:r>
            <a:r>
              <a:rPr kumimoji="1" lang="en-US" altLang="zh-CN" dirty="0">
                <a:latin typeface="Consolas"/>
                <a:cs typeface="Consolas"/>
              </a:rPr>
              <a:t>= malloc(1024)</a:t>
            </a:r>
          </a:p>
        </p:txBody>
      </p:sp>
      <p:sp>
        <p:nvSpPr>
          <p:cNvPr id="12" name="矩形 11"/>
          <p:cNvSpPr/>
          <p:nvPr/>
        </p:nvSpPr>
        <p:spPr>
          <a:xfrm>
            <a:off x="6981669" y="3550587"/>
            <a:ext cx="1645925" cy="2833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000000"/>
                </a:solidFill>
                <a:latin typeface="Arial"/>
                <a:cs typeface="Arial"/>
              </a:rPr>
              <a:t>0x421</a:t>
            </a:r>
          </a:p>
        </p:txBody>
      </p:sp>
      <p:sp>
        <p:nvSpPr>
          <p:cNvPr id="13" name="矩形 12"/>
          <p:cNvSpPr/>
          <p:nvPr/>
        </p:nvSpPr>
        <p:spPr>
          <a:xfrm>
            <a:off x="6981669" y="3833892"/>
            <a:ext cx="1645925" cy="1144217"/>
          </a:xfrm>
          <a:prstGeom prst="rect">
            <a:avLst/>
          </a:prstGeom>
          <a:noFill/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algn="ctr"/>
            <a:r>
              <a:rPr kumimoji="1" lang="en-US" altLang="zh-CN" dirty="0">
                <a:solidFill>
                  <a:srgbClr val="000000"/>
                </a:solidFill>
                <a:latin typeface="Arial"/>
                <a:cs typeface="Arial"/>
              </a:rPr>
              <a:t>1KB payload</a:t>
            </a:r>
            <a:endParaRPr kumimoji="1" lang="zh-CN" altLang="en-US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428907" y="3739275"/>
            <a:ext cx="313044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>
                <a:latin typeface="Arial"/>
                <a:cs typeface="Arial"/>
              </a:rPr>
              <a:t>p</a:t>
            </a:r>
            <a:endParaRPr kumimoji="1" lang="zh-CN" altLang="en-US" dirty="0">
              <a:latin typeface="Arial"/>
              <a:cs typeface="Arial"/>
            </a:endParaRPr>
          </a:p>
        </p:txBody>
      </p:sp>
      <p:cxnSp>
        <p:nvCxnSpPr>
          <p:cNvPr id="16" name="直线箭头连接符 15"/>
          <p:cNvCxnSpPr/>
          <p:nvPr/>
        </p:nvCxnSpPr>
        <p:spPr>
          <a:xfrm>
            <a:off x="6721631" y="3887987"/>
            <a:ext cx="239718" cy="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6983121" y="4978400"/>
            <a:ext cx="1645925" cy="2684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000000"/>
                </a:solidFill>
                <a:latin typeface="Arial"/>
                <a:cs typeface="Arial"/>
              </a:rPr>
              <a:t>0x421</a:t>
            </a:r>
          </a:p>
        </p:txBody>
      </p:sp>
      <p:sp>
        <p:nvSpPr>
          <p:cNvPr id="17" name="矩形 16"/>
          <p:cNvSpPr/>
          <p:nvPr/>
        </p:nvSpPr>
        <p:spPr>
          <a:xfrm>
            <a:off x="923838" y="3594854"/>
            <a:ext cx="1245324" cy="13832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Payload</a:t>
            </a:r>
          </a:p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(w/ padding)</a:t>
            </a:r>
            <a:endParaRPr kumimoji="1" lang="zh-CN" altLang="en-US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23838" y="2995414"/>
            <a:ext cx="1011644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     size</a:t>
            </a:r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935482" y="2997200"/>
            <a:ext cx="23368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0   </a:t>
            </a:r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23838" y="4979908"/>
            <a:ext cx="1011644" cy="304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     size</a:t>
            </a:r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935486" y="4981694"/>
            <a:ext cx="233680" cy="304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0   </a:t>
            </a:r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2" name="矩形 17"/>
          <p:cNvSpPr/>
          <p:nvPr/>
        </p:nvSpPr>
        <p:spPr>
          <a:xfrm>
            <a:off x="933998" y="3309592"/>
            <a:ext cx="1235164" cy="2736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     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4359" y="3272423"/>
            <a:ext cx="11176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8B padding</a:t>
            </a:r>
          </a:p>
        </p:txBody>
      </p:sp>
      <p:sp>
        <p:nvSpPr>
          <p:cNvPr id="27" name="矩形 23"/>
          <p:cNvSpPr/>
          <p:nvPr/>
        </p:nvSpPr>
        <p:spPr>
          <a:xfrm>
            <a:off x="933998" y="5284708"/>
            <a:ext cx="1245324" cy="304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600" dirty="0">
                <a:solidFill>
                  <a:schemeClr val="tx1"/>
                </a:solidFill>
                <a:latin typeface="Arial"/>
                <a:cs typeface="Arial"/>
              </a:rPr>
              <a:t>     </a:t>
            </a:r>
            <a:endParaRPr kumimoji="1" lang="zh-CN" altLang="en-US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8" name="矩形 25"/>
          <p:cNvSpPr/>
          <p:nvPr/>
        </p:nvSpPr>
        <p:spPr>
          <a:xfrm>
            <a:off x="-15812" y="3243124"/>
            <a:ext cx="82266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Arial"/>
                <a:cs typeface="Arial"/>
              </a:rPr>
              <a:t>header</a:t>
            </a:r>
            <a:endParaRPr lang="zh-CN" altLang="en-US" sz="1600" dirty="0"/>
          </a:p>
        </p:txBody>
      </p:sp>
      <p:sp>
        <p:nvSpPr>
          <p:cNvPr id="6" name="Right Brace 5"/>
          <p:cNvSpPr/>
          <p:nvPr/>
        </p:nvSpPr>
        <p:spPr>
          <a:xfrm flipH="1">
            <a:off x="661131" y="3044845"/>
            <a:ext cx="233679" cy="48081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/>
          <p:cNvSpPr/>
          <p:nvPr/>
        </p:nvSpPr>
        <p:spPr>
          <a:xfrm flipH="1">
            <a:off x="700440" y="5011058"/>
            <a:ext cx="233680" cy="46641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ular Callout 8"/>
          <p:cNvSpPr/>
          <p:nvPr/>
        </p:nvSpPr>
        <p:spPr>
          <a:xfrm>
            <a:off x="6828092" y="2169439"/>
            <a:ext cx="1858708" cy="607814"/>
          </a:xfrm>
          <a:prstGeom prst="wedgeRoundRectCallout">
            <a:avLst>
              <a:gd name="adj1" fmla="val 1213"/>
              <a:gd name="adj2" fmla="val 165898"/>
              <a:gd name="adj3" fmla="val 16667"/>
            </a:avLst>
          </a:prstGeom>
          <a:solidFill>
            <a:srgbClr val="DDD9C3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0x410 = 1024+16 </a:t>
            </a:r>
          </a:p>
        </p:txBody>
      </p:sp>
      <p:sp>
        <p:nvSpPr>
          <p:cNvPr id="3" name="矩形 25">
            <a:extLst>
              <a:ext uri="{FF2B5EF4-FFF2-40B4-BE49-F238E27FC236}">
                <a16:creationId xmlns:a16="http://schemas.microsoft.com/office/drawing/2014/main" id="{1850A7F1-0A3A-5432-EAB6-C76D0E126367}"/>
              </a:ext>
            </a:extLst>
          </p:cNvPr>
          <p:cNvSpPr/>
          <p:nvPr/>
        </p:nvSpPr>
        <p:spPr>
          <a:xfrm>
            <a:off x="17206" y="5048935"/>
            <a:ext cx="71045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Arial"/>
                <a:cs typeface="Arial"/>
              </a:rPr>
              <a:t>footer</a:t>
            </a:r>
            <a:endParaRPr lang="zh-CN" altLang="en-US" sz="1600" dirty="0"/>
          </a:p>
        </p:txBody>
      </p:sp>
      <p:sp>
        <p:nvSpPr>
          <p:cNvPr id="23" name="矩形 16">
            <a:extLst>
              <a:ext uri="{FF2B5EF4-FFF2-40B4-BE49-F238E27FC236}">
                <a16:creationId xmlns:a16="http://schemas.microsoft.com/office/drawing/2014/main" id="{471FB8CC-7B77-F15F-D877-73A2CFF07FAD}"/>
              </a:ext>
            </a:extLst>
          </p:cNvPr>
          <p:cNvSpPr/>
          <p:nvPr/>
        </p:nvSpPr>
        <p:spPr>
          <a:xfrm>
            <a:off x="2774406" y="3747251"/>
            <a:ext cx="1245324" cy="1372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Payload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9" name="矩形 17">
            <a:extLst>
              <a:ext uri="{FF2B5EF4-FFF2-40B4-BE49-F238E27FC236}">
                <a16:creationId xmlns:a16="http://schemas.microsoft.com/office/drawing/2014/main" id="{6A354823-3341-15E7-931B-8D4DFCDD56DB}"/>
              </a:ext>
            </a:extLst>
          </p:cNvPr>
          <p:cNvSpPr/>
          <p:nvPr/>
        </p:nvSpPr>
        <p:spPr>
          <a:xfrm>
            <a:off x="2774406" y="3441727"/>
            <a:ext cx="1011644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     size</a:t>
            </a:r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1" name="矩形 20">
            <a:extLst>
              <a:ext uri="{FF2B5EF4-FFF2-40B4-BE49-F238E27FC236}">
                <a16:creationId xmlns:a16="http://schemas.microsoft.com/office/drawing/2014/main" id="{52C169EF-8309-3520-9261-97DD3530C1A6}"/>
              </a:ext>
            </a:extLst>
          </p:cNvPr>
          <p:cNvSpPr/>
          <p:nvPr/>
        </p:nvSpPr>
        <p:spPr>
          <a:xfrm>
            <a:off x="3786050" y="3443513"/>
            <a:ext cx="23368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0   </a:t>
            </a:r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2" name="矩形 23">
            <a:extLst>
              <a:ext uri="{FF2B5EF4-FFF2-40B4-BE49-F238E27FC236}">
                <a16:creationId xmlns:a16="http://schemas.microsoft.com/office/drawing/2014/main" id="{5BB3906F-AFFA-2A55-38E5-7EE040411FF4}"/>
              </a:ext>
            </a:extLst>
          </p:cNvPr>
          <p:cNvSpPr/>
          <p:nvPr/>
        </p:nvSpPr>
        <p:spPr>
          <a:xfrm>
            <a:off x="2774406" y="5132306"/>
            <a:ext cx="1011644" cy="304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     size</a:t>
            </a:r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3" name="矩形 24">
            <a:extLst>
              <a:ext uri="{FF2B5EF4-FFF2-40B4-BE49-F238E27FC236}">
                <a16:creationId xmlns:a16="http://schemas.microsoft.com/office/drawing/2014/main" id="{E224E234-8A8A-DF65-D466-7C1FC74096CA}"/>
              </a:ext>
            </a:extLst>
          </p:cNvPr>
          <p:cNvSpPr/>
          <p:nvPr/>
        </p:nvSpPr>
        <p:spPr>
          <a:xfrm>
            <a:off x="3786054" y="5134092"/>
            <a:ext cx="233680" cy="304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0   </a:t>
            </a:r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C3B5982C-CDD4-0041-83D2-2B1382DFAC92}"/>
              </a:ext>
            </a:extLst>
          </p:cNvPr>
          <p:cNvSpPr/>
          <p:nvPr/>
        </p:nvSpPr>
        <p:spPr>
          <a:xfrm>
            <a:off x="2318657" y="4345709"/>
            <a:ext cx="424543" cy="358371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A5011D-2A2C-18D4-887C-278BCD67B7F8}"/>
              </a:ext>
            </a:extLst>
          </p:cNvPr>
          <p:cNvCxnSpPr>
            <a:cxnSpLocks/>
          </p:cNvCxnSpPr>
          <p:nvPr/>
        </p:nvCxnSpPr>
        <p:spPr>
          <a:xfrm flipV="1">
            <a:off x="894810" y="3365381"/>
            <a:ext cx="1236712" cy="12747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4B8B3B3-BEF9-52FF-CC6C-1B63A9AD4301}"/>
              </a:ext>
            </a:extLst>
          </p:cNvPr>
          <p:cNvCxnSpPr/>
          <p:nvPr/>
        </p:nvCxnSpPr>
        <p:spPr>
          <a:xfrm flipV="1">
            <a:off x="894810" y="5372479"/>
            <a:ext cx="1236712" cy="12747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16">
            <a:extLst>
              <a:ext uri="{FF2B5EF4-FFF2-40B4-BE49-F238E27FC236}">
                <a16:creationId xmlns:a16="http://schemas.microsoft.com/office/drawing/2014/main" id="{74FA7C2C-23E2-340F-1986-ABE1AB291218}"/>
              </a:ext>
            </a:extLst>
          </p:cNvPr>
          <p:cNvSpPr/>
          <p:nvPr/>
        </p:nvSpPr>
        <p:spPr>
          <a:xfrm>
            <a:off x="2774406" y="2280584"/>
            <a:ext cx="1245324" cy="8349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7" name="矩形 17">
            <a:extLst>
              <a:ext uri="{FF2B5EF4-FFF2-40B4-BE49-F238E27FC236}">
                <a16:creationId xmlns:a16="http://schemas.microsoft.com/office/drawing/2014/main" id="{776FC356-32F0-D24A-9329-FF938EEF4A24}"/>
              </a:ext>
            </a:extLst>
          </p:cNvPr>
          <p:cNvSpPr/>
          <p:nvPr/>
        </p:nvSpPr>
        <p:spPr>
          <a:xfrm>
            <a:off x="2774406" y="1975059"/>
            <a:ext cx="1011644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     size</a:t>
            </a:r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9" name="矩形 20">
            <a:extLst>
              <a:ext uri="{FF2B5EF4-FFF2-40B4-BE49-F238E27FC236}">
                <a16:creationId xmlns:a16="http://schemas.microsoft.com/office/drawing/2014/main" id="{5BD0E621-DE7C-45DF-CC9B-7D8CE31F0E16}"/>
              </a:ext>
            </a:extLst>
          </p:cNvPr>
          <p:cNvSpPr/>
          <p:nvPr/>
        </p:nvSpPr>
        <p:spPr>
          <a:xfrm>
            <a:off x="3786050" y="1976845"/>
            <a:ext cx="23368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0   </a:t>
            </a:r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0" name="矩形 23">
            <a:extLst>
              <a:ext uri="{FF2B5EF4-FFF2-40B4-BE49-F238E27FC236}">
                <a16:creationId xmlns:a16="http://schemas.microsoft.com/office/drawing/2014/main" id="{33E5382C-CD12-7DC3-CB7A-BE33D5FBAD3C}"/>
              </a:ext>
            </a:extLst>
          </p:cNvPr>
          <p:cNvSpPr/>
          <p:nvPr/>
        </p:nvSpPr>
        <p:spPr>
          <a:xfrm>
            <a:off x="2774406" y="3126436"/>
            <a:ext cx="1011644" cy="304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     size</a:t>
            </a:r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1" name="矩形 24">
            <a:extLst>
              <a:ext uri="{FF2B5EF4-FFF2-40B4-BE49-F238E27FC236}">
                <a16:creationId xmlns:a16="http://schemas.microsoft.com/office/drawing/2014/main" id="{2A1D48A6-6F7D-5FF8-9789-052CE3F1DB90}"/>
              </a:ext>
            </a:extLst>
          </p:cNvPr>
          <p:cNvSpPr/>
          <p:nvPr/>
        </p:nvSpPr>
        <p:spPr>
          <a:xfrm>
            <a:off x="3786054" y="3128222"/>
            <a:ext cx="233680" cy="304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0   </a:t>
            </a:r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3" name="矩形 16">
            <a:extLst>
              <a:ext uri="{FF2B5EF4-FFF2-40B4-BE49-F238E27FC236}">
                <a16:creationId xmlns:a16="http://schemas.microsoft.com/office/drawing/2014/main" id="{32030599-6A8C-56E4-3FE7-8A173F0E11B1}"/>
              </a:ext>
            </a:extLst>
          </p:cNvPr>
          <p:cNvSpPr/>
          <p:nvPr/>
        </p:nvSpPr>
        <p:spPr>
          <a:xfrm>
            <a:off x="2774406" y="5742631"/>
            <a:ext cx="1245324" cy="7318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4" name="矩形 17">
            <a:extLst>
              <a:ext uri="{FF2B5EF4-FFF2-40B4-BE49-F238E27FC236}">
                <a16:creationId xmlns:a16="http://schemas.microsoft.com/office/drawing/2014/main" id="{CB88847C-B95C-6633-D5A1-291BA66C3E8F}"/>
              </a:ext>
            </a:extLst>
          </p:cNvPr>
          <p:cNvSpPr/>
          <p:nvPr/>
        </p:nvSpPr>
        <p:spPr>
          <a:xfrm>
            <a:off x="2774406" y="5437106"/>
            <a:ext cx="1011644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     size</a:t>
            </a:r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5" name="矩形 20">
            <a:extLst>
              <a:ext uri="{FF2B5EF4-FFF2-40B4-BE49-F238E27FC236}">
                <a16:creationId xmlns:a16="http://schemas.microsoft.com/office/drawing/2014/main" id="{1A2A7A81-62A4-0187-2CE1-42CE7ED9240E}"/>
              </a:ext>
            </a:extLst>
          </p:cNvPr>
          <p:cNvSpPr/>
          <p:nvPr/>
        </p:nvSpPr>
        <p:spPr>
          <a:xfrm>
            <a:off x="3786050" y="5438892"/>
            <a:ext cx="23368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0   </a:t>
            </a:r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6" name="矩形 23">
            <a:extLst>
              <a:ext uri="{FF2B5EF4-FFF2-40B4-BE49-F238E27FC236}">
                <a16:creationId xmlns:a16="http://schemas.microsoft.com/office/drawing/2014/main" id="{79F57145-05CD-149B-2E2B-86C21EFB3C33}"/>
              </a:ext>
            </a:extLst>
          </p:cNvPr>
          <p:cNvSpPr/>
          <p:nvPr/>
        </p:nvSpPr>
        <p:spPr>
          <a:xfrm>
            <a:off x="2774406" y="6479623"/>
            <a:ext cx="1011644" cy="304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     size</a:t>
            </a:r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7" name="矩形 24">
            <a:extLst>
              <a:ext uri="{FF2B5EF4-FFF2-40B4-BE49-F238E27FC236}">
                <a16:creationId xmlns:a16="http://schemas.microsoft.com/office/drawing/2014/main" id="{4421372D-DCE1-1F32-0F22-1C37C389030A}"/>
              </a:ext>
            </a:extLst>
          </p:cNvPr>
          <p:cNvSpPr/>
          <p:nvPr/>
        </p:nvSpPr>
        <p:spPr>
          <a:xfrm>
            <a:off x="3786054" y="6481409"/>
            <a:ext cx="233680" cy="304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0   </a:t>
            </a:r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0E0D12-8B19-D659-9FEA-EB4FF182CBC7}"/>
              </a:ext>
            </a:extLst>
          </p:cNvPr>
          <p:cNvSpPr txBox="1"/>
          <p:nvPr/>
        </p:nvSpPr>
        <p:spPr>
          <a:xfrm>
            <a:off x="997914" y="5264666"/>
            <a:ext cx="11176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8B padding</a:t>
            </a:r>
          </a:p>
        </p:txBody>
      </p:sp>
    </p:spTree>
    <p:extLst>
      <p:ext uri="{BB962C8B-B14F-4D97-AF65-F5344CB8AC3E}">
        <p14:creationId xmlns:p14="http://schemas.microsoft.com/office/powerpoint/2010/main" val="1394925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5440" y="78293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/>
              <a:t>Coalescing </a:t>
            </a:r>
            <a:r>
              <a:rPr kumimoji="1" lang="en-US" altLang="zh-CN" err="1"/>
              <a:t>prev</a:t>
            </a:r>
            <a:r>
              <a:rPr kumimoji="1" lang="en-US" altLang="zh-CN"/>
              <a:t> and next blocks</a:t>
            </a:r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78870" y="1580696"/>
            <a:ext cx="132688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latin typeface="Consolas"/>
                <a:cs typeface="Consolas"/>
              </a:rPr>
              <a:t>...</a:t>
            </a:r>
          </a:p>
          <a:p>
            <a:r>
              <a:rPr kumimoji="1" lang="en-US" altLang="zh-CN">
                <a:latin typeface="Consolas"/>
                <a:cs typeface="Consolas"/>
              </a:rPr>
              <a:t>free(p10)</a:t>
            </a:r>
          </a:p>
          <a:p>
            <a:endParaRPr kumimoji="1" lang="en-US" altLang="zh-CN">
              <a:latin typeface="Consolas"/>
              <a:cs typeface="Consola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97873" y="1332930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895786" y="1445098"/>
            <a:ext cx="968753" cy="21034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97873" y="1804067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895786" y="1916235"/>
            <a:ext cx="968753" cy="343380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905937" y="2397295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95786" y="2519622"/>
            <a:ext cx="968753" cy="74831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904952" y="3414980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904952" y="3886117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902865" y="4025685"/>
            <a:ext cx="968753" cy="36343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913015" y="5540052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910868" y="5669753"/>
            <a:ext cx="968753" cy="20962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902865" y="3518508"/>
            <a:ext cx="968753" cy="210344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064208" y="1000014"/>
            <a:ext cx="6411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>
                <a:latin typeface="Arial"/>
                <a:cs typeface="Arial"/>
              </a:rPr>
              <a:t>heap</a:t>
            </a:r>
            <a:endParaRPr lang="zh-CN" altLang="en-US" sz="1600">
              <a:latin typeface="Arial"/>
              <a:cs typeface="Arial"/>
            </a:endParaRPr>
          </a:p>
        </p:txBody>
      </p:sp>
      <p:cxnSp>
        <p:nvCxnSpPr>
          <p:cNvPr id="37" name="直线箭头连接符 36"/>
          <p:cNvCxnSpPr/>
          <p:nvPr/>
        </p:nvCxnSpPr>
        <p:spPr>
          <a:xfrm>
            <a:off x="3603597" y="4667867"/>
            <a:ext cx="0" cy="17443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线箭头连接符 48"/>
          <p:cNvCxnSpPr/>
          <p:nvPr/>
        </p:nvCxnSpPr>
        <p:spPr>
          <a:xfrm flipV="1">
            <a:off x="3407673" y="3984422"/>
            <a:ext cx="505342" cy="3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2783374" y="3815145"/>
            <a:ext cx="5270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>
                <a:latin typeface="Arial"/>
                <a:cs typeface="Arial"/>
              </a:rPr>
              <a:t>p10</a:t>
            </a:r>
            <a:endParaRPr lang="zh-CN" altLang="en-US" sz="1600">
              <a:latin typeface="Arial"/>
              <a:cs typeface="Arial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897873" y="1677607"/>
            <a:ext cx="958602" cy="11216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905941" y="2277694"/>
            <a:ext cx="958602" cy="11216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3905941" y="3278487"/>
            <a:ext cx="958602" cy="11216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3900708" y="3748764"/>
            <a:ext cx="958602" cy="11216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910868" y="5407972"/>
            <a:ext cx="958602" cy="11216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910868" y="4389120"/>
            <a:ext cx="958602" cy="11216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908028" y="4501288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905941" y="4613456"/>
            <a:ext cx="968753" cy="784356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cxnSp>
        <p:nvCxnSpPr>
          <p:cNvPr id="60" name="直线连接符 59"/>
          <p:cNvCxnSpPr>
            <a:cxnSpLocks/>
          </p:cNvCxnSpPr>
          <p:nvPr/>
        </p:nvCxnSpPr>
        <p:spPr>
          <a:xfrm flipV="1">
            <a:off x="4867582" y="3526477"/>
            <a:ext cx="784171" cy="37351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线连接符 60"/>
          <p:cNvCxnSpPr>
            <a:cxnSpLocks/>
          </p:cNvCxnSpPr>
          <p:nvPr/>
        </p:nvCxnSpPr>
        <p:spPr>
          <a:xfrm>
            <a:off x="4879621" y="4501288"/>
            <a:ext cx="739474" cy="20430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5658202" y="3838429"/>
            <a:ext cx="1767840" cy="6226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16B Payload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658202" y="3542883"/>
            <a:ext cx="1767840" cy="2955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        0x21</a:t>
            </a:r>
          </a:p>
        </p:txBody>
      </p:sp>
      <p:sp>
        <p:nvSpPr>
          <p:cNvPr id="64" name="矩形 63"/>
          <p:cNvSpPr/>
          <p:nvPr/>
        </p:nvSpPr>
        <p:spPr>
          <a:xfrm>
            <a:off x="5658202" y="4462551"/>
            <a:ext cx="1767840" cy="24999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        0x21</a:t>
            </a:r>
          </a:p>
        </p:txBody>
      </p:sp>
      <p:sp>
        <p:nvSpPr>
          <p:cNvPr id="67" name="矩形 66"/>
          <p:cNvSpPr/>
          <p:nvPr/>
        </p:nvSpPr>
        <p:spPr>
          <a:xfrm>
            <a:off x="5663792" y="4997179"/>
            <a:ext cx="1767840" cy="6226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48B Payload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5663792" y="4707691"/>
            <a:ext cx="1767840" cy="2894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        0x40</a:t>
            </a:r>
          </a:p>
        </p:txBody>
      </p:sp>
      <p:sp>
        <p:nvSpPr>
          <p:cNvPr id="69" name="矩形 68"/>
          <p:cNvSpPr/>
          <p:nvPr/>
        </p:nvSpPr>
        <p:spPr>
          <a:xfrm>
            <a:off x="5668656" y="5621014"/>
            <a:ext cx="1767840" cy="21587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        0x40</a:t>
            </a:r>
          </a:p>
        </p:txBody>
      </p:sp>
      <p:cxnSp>
        <p:nvCxnSpPr>
          <p:cNvPr id="71" name="直线连接符 70"/>
          <p:cNvCxnSpPr>
            <a:cxnSpLocks/>
            <a:stCxn id="52" idx="3"/>
          </p:cNvCxnSpPr>
          <p:nvPr/>
        </p:nvCxnSpPr>
        <p:spPr>
          <a:xfrm>
            <a:off x="4869470" y="5464056"/>
            <a:ext cx="788732" cy="38673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矩形 61"/>
          <p:cNvSpPr/>
          <p:nvPr/>
        </p:nvSpPr>
        <p:spPr>
          <a:xfrm>
            <a:off x="5658202" y="2652374"/>
            <a:ext cx="1767840" cy="6226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16B Payload</a:t>
            </a:r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4" name="矩形 62"/>
          <p:cNvSpPr/>
          <p:nvPr/>
        </p:nvSpPr>
        <p:spPr>
          <a:xfrm>
            <a:off x="5658202" y="2356190"/>
            <a:ext cx="1767840" cy="2961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        0x20</a:t>
            </a:r>
          </a:p>
        </p:txBody>
      </p:sp>
      <p:sp>
        <p:nvSpPr>
          <p:cNvPr id="55" name="矩形 63"/>
          <p:cNvSpPr/>
          <p:nvPr/>
        </p:nvSpPr>
        <p:spPr>
          <a:xfrm>
            <a:off x="5658202" y="3276914"/>
            <a:ext cx="1767840" cy="26869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        0x20</a:t>
            </a:r>
          </a:p>
        </p:txBody>
      </p:sp>
      <p:cxnSp>
        <p:nvCxnSpPr>
          <p:cNvPr id="56" name="直线连接符 59"/>
          <p:cNvCxnSpPr>
            <a:cxnSpLocks/>
          </p:cNvCxnSpPr>
          <p:nvPr/>
        </p:nvCxnSpPr>
        <p:spPr>
          <a:xfrm flipV="1">
            <a:off x="4879621" y="2356190"/>
            <a:ext cx="739474" cy="105879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矩形 40"/>
          <p:cNvSpPr/>
          <p:nvPr/>
        </p:nvSpPr>
        <p:spPr>
          <a:xfrm rot="5400000">
            <a:off x="2570361" y="5648470"/>
            <a:ext cx="16987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err="1">
                <a:latin typeface="Arial"/>
                <a:cs typeface="Arial"/>
              </a:rPr>
              <a:t>addr</a:t>
            </a:r>
            <a:r>
              <a:rPr lang="en-US" altLang="zh-CN">
                <a:latin typeface="Arial"/>
                <a:cs typeface="Arial"/>
              </a:rPr>
              <a:t> increases</a:t>
            </a:r>
            <a:endParaRPr lang="zh-CN" alt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85200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5440" y="78293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/>
              <a:t>Coalescing </a:t>
            </a:r>
            <a:r>
              <a:rPr kumimoji="1" lang="en-US" altLang="zh-CN" err="1"/>
              <a:t>prev</a:t>
            </a:r>
            <a:r>
              <a:rPr kumimoji="1" lang="en-US" altLang="zh-CN"/>
              <a:t> and next blocks</a:t>
            </a:r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78870" y="1580696"/>
            <a:ext cx="132688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latin typeface="Consolas"/>
                <a:cs typeface="Consolas"/>
              </a:rPr>
              <a:t>...</a:t>
            </a:r>
          </a:p>
          <a:p>
            <a:r>
              <a:rPr kumimoji="1" lang="en-US" altLang="zh-CN">
                <a:latin typeface="Consolas"/>
                <a:cs typeface="Consolas"/>
              </a:rPr>
              <a:t>free(p10)</a:t>
            </a:r>
          </a:p>
          <a:p>
            <a:endParaRPr kumimoji="1" lang="en-US" altLang="zh-CN">
              <a:latin typeface="Consolas"/>
              <a:cs typeface="Consola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97873" y="1332930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895786" y="1445098"/>
            <a:ext cx="968753" cy="21034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97873" y="1804067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895786" y="1916235"/>
            <a:ext cx="968753" cy="343380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905937" y="2397295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95786" y="2519622"/>
            <a:ext cx="968753" cy="74831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904952" y="3414980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913015" y="5540052"/>
            <a:ext cx="958602" cy="11216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910868" y="5669753"/>
            <a:ext cx="968753" cy="20962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902865" y="3518508"/>
            <a:ext cx="968753" cy="1889464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064208" y="1000014"/>
            <a:ext cx="6411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>
                <a:latin typeface="Arial"/>
                <a:cs typeface="Arial"/>
              </a:rPr>
              <a:t>heap</a:t>
            </a:r>
            <a:endParaRPr lang="zh-CN" altLang="en-US" sz="1600">
              <a:latin typeface="Arial"/>
              <a:cs typeface="Arial"/>
            </a:endParaRPr>
          </a:p>
        </p:txBody>
      </p:sp>
      <p:cxnSp>
        <p:nvCxnSpPr>
          <p:cNvPr id="37" name="直线箭头连接符 36"/>
          <p:cNvCxnSpPr/>
          <p:nvPr/>
        </p:nvCxnSpPr>
        <p:spPr>
          <a:xfrm>
            <a:off x="3603597" y="4667867"/>
            <a:ext cx="0" cy="17443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3897873" y="1677607"/>
            <a:ext cx="958602" cy="11216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905941" y="2277694"/>
            <a:ext cx="958602" cy="11216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3905941" y="3278487"/>
            <a:ext cx="958602" cy="11216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910868" y="5407972"/>
            <a:ext cx="958602" cy="11216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5668656" y="5631900"/>
            <a:ext cx="1767840" cy="2399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        0x80</a:t>
            </a:r>
          </a:p>
        </p:txBody>
      </p:sp>
      <p:cxnSp>
        <p:nvCxnSpPr>
          <p:cNvPr id="71" name="直线连接符 70"/>
          <p:cNvCxnSpPr>
            <a:cxnSpLocks/>
            <a:stCxn id="52" idx="3"/>
          </p:cNvCxnSpPr>
          <p:nvPr/>
        </p:nvCxnSpPr>
        <p:spPr>
          <a:xfrm>
            <a:off x="4869470" y="5464056"/>
            <a:ext cx="789035" cy="407821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矩形 61"/>
          <p:cNvSpPr/>
          <p:nvPr/>
        </p:nvSpPr>
        <p:spPr>
          <a:xfrm>
            <a:off x="5669088" y="1629114"/>
            <a:ext cx="1767840" cy="40027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112B Payload</a:t>
            </a:r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4" name="矩形 62"/>
          <p:cNvSpPr/>
          <p:nvPr/>
        </p:nvSpPr>
        <p:spPr>
          <a:xfrm>
            <a:off x="5669088" y="1332930"/>
            <a:ext cx="1767840" cy="2961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        0x80</a:t>
            </a:r>
          </a:p>
        </p:txBody>
      </p:sp>
      <p:cxnSp>
        <p:nvCxnSpPr>
          <p:cNvPr id="56" name="直线连接符 59"/>
          <p:cNvCxnSpPr>
            <a:cxnSpLocks/>
          </p:cNvCxnSpPr>
          <p:nvPr/>
        </p:nvCxnSpPr>
        <p:spPr>
          <a:xfrm flipV="1">
            <a:off x="4879621" y="1332930"/>
            <a:ext cx="789035" cy="208205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矩形 40"/>
          <p:cNvSpPr/>
          <p:nvPr/>
        </p:nvSpPr>
        <p:spPr>
          <a:xfrm rot="5400000">
            <a:off x="2570361" y="5648470"/>
            <a:ext cx="16987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err="1">
                <a:latin typeface="Arial"/>
                <a:cs typeface="Arial"/>
              </a:rPr>
              <a:t>addr</a:t>
            </a:r>
            <a:r>
              <a:rPr lang="en-US" altLang="zh-CN">
                <a:latin typeface="Arial"/>
                <a:cs typeface="Arial"/>
              </a:rPr>
              <a:t> increases</a:t>
            </a:r>
            <a:endParaRPr lang="zh-CN" alt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90557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Summary: malloc using implicit list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idx="1"/>
          </p:nvPr>
        </p:nvSpPr>
        <p:spPr>
          <a:xfrm>
            <a:off x="3026229" y="1829118"/>
            <a:ext cx="5528491" cy="4525963"/>
          </a:xfrm>
        </p:spPr>
        <p:txBody>
          <a:bodyPr>
            <a:normAutofit/>
          </a:bodyPr>
          <a:lstStyle/>
          <a:p>
            <a:r>
              <a:rPr lang="en-US" sz="2400" dirty="0"/>
              <a:t>We can traverse the entire list of chunks on heap by incrementing pointer with chunk sizes,</a:t>
            </a:r>
          </a:p>
          <a:p>
            <a:r>
              <a:rPr lang="en-US" sz="2400" dirty="0"/>
              <a:t>To allocate, find a block that fits, split if necessary</a:t>
            </a:r>
          </a:p>
          <a:p>
            <a:r>
              <a:rPr lang="en-US" sz="2400" dirty="0"/>
              <a:t>To de-allocate, merge with predecessor and/or successor free blocks</a:t>
            </a:r>
          </a:p>
        </p:txBody>
      </p:sp>
      <p:sp>
        <p:nvSpPr>
          <p:cNvPr id="4" name="矩形 16"/>
          <p:cNvSpPr/>
          <p:nvPr/>
        </p:nvSpPr>
        <p:spPr>
          <a:xfrm>
            <a:off x="589280" y="3026784"/>
            <a:ext cx="1767840" cy="1385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Payload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" name="矩形 17"/>
          <p:cNvSpPr/>
          <p:nvPr/>
        </p:nvSpPr>
        <p:spPr>
          <a:xfrm>
            <a:off x="589280" y="2720627"/>
            <a:ext cx="176784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  <a:latin typeface="Arial"/>
                <a:cs typeface="Arial"/>
              </a:rPr>
              <a:t>     size</a:t>
            </a:r>
            <a:endParaRPr kumimoji="1"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矩形 20"/>
          <p:cNvSpPr/>
          <p:nvPr/>
        </p:nvSpPr>
        <p:spPr>
          <a:xfrm>
            <a:off x="2123440" y="2723044"/>
            <a:ext cx="233680" cy="304800"/>
          </a:xfrm>
          <a:prstGeom prst="rect">
            <a:avLst/>
          </a:prstGeom>
          <a:noFill/>
          <a:ln w="127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    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矩形 23"/>
          <p:cNvSpPr/>
          <p:nvPr/>
        </p:nvSpPr>
        <p:spPr>
          <a:xfrm>
            <a:off x="589280" y="4411838"/>
            <a:ext cx="1767840" cy="304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     size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9" name="矩形 24"/>
          <p:cNvSpPr/>
          <p:nvPr/>
        </p:nvSpPr>
        <p:spPr>
          <a:xfrm>
            <a:off x="2123440" y="4413624"/>
            <a:ext cx="233680" cy="304800"/>
          </a:xfrm>
          <a:prstGeom prst="rect">
            <a:avLst/>
          </a:prstGeom>
          <a:noFill/>
          <a:ln w="952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    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18" name="Straight Arrow Connector 17"/>
          <p:cNvCxnSpPr>
            <a:cxnSpLocks/>
          </p:cNvCxnSpPr>
          <p:nvPr/>
        </p:nvCxnSpPr>
        <p:spPr>
          <a:xfrm flipH="1">
            <a:off x="2165709" y="2366801"/>
            <a:ext cx="154448" cy="45369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40678" y="2000273"/>
            <a:ext cx="751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2987559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3110C-4F94-44BA-B131-A6A467278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advanced malloc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DECD5-AA35-4B91-8597-3EBCF31F7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Explicit list</a:t>
            </a:r>
          </a:p>
          <a:p>
            <a:r>
              <a:rPr lang="en-US" dirty="0"/>
              <a:t>Segregated list</a:t>
            </a:r>
          </a:p>
          <a:p>
            <a:r>
              <a:rPr lang="en-US" dirty="0"/>
              <a:t>Buddy system</a:t>
            </a:r>
          </a:p>
        </p:txBody>
      </p:sp>
    </p:spTree>
    <p:extLst>
      <p:ext uri="{BB962C8B-B14F-4D97-AF65-F5344CB8AC3E}">
        <p14:creationId xmlns:p14="http://schemas.microsoft.com/office/powerpoint/2010/main" val="9299528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Explicit free lists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556171" cy="4525963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Problems of implicit list:</a:t>
            </a:r>
          </a:p>
          <a:p>
            <a:pPr lvl="1"/>
            <a:r>
              <a:rPr kumimoji="1" lang="en-US" altLang="zh-CN" dirty="0"/>
              <a:t>Allocation time is linear in # of total (free and allocated) chunks</a:t>
            </a:r>
          </a:p>
          <a:p>
            <a:pPr marL="457200" lvl="1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Explicit free list:</a:t>
            </a:r>
          </a:p>
          <a:p>
            <a:pPr lvl="1"/>
            <a:r>
              <a:rPr kumimoji="1" lang="en-US" altLang="zh-CN" dirty="0"/>
              <a:t>Maintain a linked list of free chunks only.</a:t>
            </a:r>
          </a:p>
        </p:txBody>
      </p:sp>
    </p:spTree>
    <p:extLst>
      <p:ext uri="{BB962C8B-B14F-4D97-AF65-F5344CB8AC3E}">
        <p14:creationId xmlns:p14="http://schemas.microsoft.com/office/powerpoint/2010/main" val="31250486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CA02E-A340-4412-8551-D2B7EEE98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721"/>
            <a:ext cx="8229600" cy="1143000"/>
          </a:xfrm>
        </p:spPr>
        <p:txBody>
          <a:bodyPr/>
          <a:lstStyle/>
          <a:p>
            <a:r>
              <a:rPr lang="en-US" dirty="0"/>
              <a:t>Evolution from implicit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explict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9850ED-F501-4F4F-8DB4-42DA7831F8C8}"/>
              </a:ext>
            </a:extLst>
          </p:cNvPr>
          <p:cNvSpPr txBox="1"/>
          <p:nvPr/>
        </p:nvSpPr>
        <p:spPr>
          <a:xfrm>
            <a:off x="1217296" y="1369023"/>
            <a:ext cx="2517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Implicit list </a:t>
            </a:r>
            <a:r>
              <a:rPr lang="en-US">
                <a:solidFill>
                  <a:schemeClr val="accent1"/>
                </a:solidFill>
              </a:rPr>
              <a:t>(header-only)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755A5A-8DEE-43F2-A302-AF8DE1A19EE0}"/>
              </a:ext>
            </a:extLst>
          </p:cNvPr>
          <p:cNvSpPr txBox="1"/>
          <p:nvPr/>
        </p:nvSpPr>
        <p:spPr>
          <a:xfrm>
            <a:off x="1127463" y="4679791"/>
            <a:ext cx="2728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explicit list </a:t>
            </a:r>
            <a:r>
              <a:rPr lang="en-US">
                <a:solidFill>
                  <a:schemeClr val="accent1"/>
                </a:solidFill>
              </a:rPr>
              <a:t>(</a:t>
            </a:r>
            <a:r>
              <a:rPr lang="en-US" err="1">
                <a:solidFill>
                  <a:schemeClr val="accent1"/>
                </a:solidFill>
              </a:rPr>
              <a:t>header+footer</a:t>
            </a:r>
            <a:r>
              <a:rPr lang="en-US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7F337C9A-AD01-43B0-B796-A3665431157D}"/>
              </a:ext>
            </a:extLst>
          </p:cNvPr>
          <p:cNvSpPr/>
          <p:nvPr/>
        </p:nvSpPr>
        <p:spPr>
          <a:xfrm>
            <a:off x="1450525" y="3459176"/>
            <a:ext cx="230659" cy="1066906"/>
          </a:xfrm>
          <a:prstGeom prst="down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FD0289-A369-46C9-8F01-35E2632BC438}"/>
              </a:ext>
            </a:extLst>
          </p:cNvPr>
          <p:cNvSpPr/>
          <p:nvPr/>
        </p:nvSpPr>
        <p:spPr>
          <a:xfrm>
            <a:off x="6404919" y="1232429"/>
            <a:ext cx="947351" cy="49838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074E2F-AF42-43CB-A1F8-8EB3617D4F26}"/>
              </a:ext>
            </a:extLst>
          </p:cNvPr>
          <p:cNvSpPr/>
          <p:nvPr/>
        </p:nvSpPr>
        <p:spPr>
          <a:xfrm>
            <a:off x="6404919" y="1730818"/>
            <a:ext cx="947351" cy="49838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458305-44CE-442C-9117-18C4F8001A8D}"/>
              </a:ext>
            </a:extLst>
          </p:cNvPr>
          <p:cNvSpPr/>
          <p:nvPr/>
        </p:nvSpPr>
        <p:spPr>
          <a:xfrm>
            <a:off x="6404919" y="2229207"/>
            <a:ext cx="947351" cy="49838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3E15DF-8C87-44C5-B1BF-5A6D2636B874}"/>
              </a:ext>
            </a:extLst>
          </p:cNvPr>
          <p:cNvSpPr/>
          <p:nvPr/>
        </p:nvSpPr>
        <p:spPr>
          <a:xfrm>
            <a:off x="6425513" y="1250364"/>
            <a:ext cx="926757" cy="1468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FA394B-25B8-4F76-A05E-12ED67540600}"/>
              </a:ext>
            </a:extLst>
          </p:cNvPr>
          <p:cNvSpPr/>
          <p:nvPr/>
        </p:nvSpPr>
        <p:spPr>
          <a:xfrm>
            <a:off x="6404919" y="1750407"/>
            <a:ext cx="947351" cy="1228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C9FDA7-1274-4E4C-AC4F-1A5DD75D3668}"/>
              </a:ext>
            </a:extLst>
          </p:cNvPr>
          <p:cNvSpPr/>
          <p:nvPr/>
        </p:nvSpPr>
        <p:spPr>
          <a:xfrm>
            <a:off x="6404919" y="2248837"/>
            <a:ext cx="947350" cy="1228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50BA25DE-B8FC-4382-ADCA-A25F0B4B55B9}"/>
              </a:ext>
            </a:extLst>
          </p:cNvPr>
          <p:cNvGrpSpPr/>
          <p:nvPr/>
        </p:nvGrpSpPr>
        <p:grpSpPr>
          <a:xfrm>
            <a:off x="424249" y="1788401"/>
            <a:ext cx="8382000" cy="1522196"/>
            <a:chOff x="424249" y="1788401"/>
            <a:chExt cx="8382000" cy="152219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2CE0196-9ABD-4D9A-A616-FA9D876C65C7}"/>
                </a:ext>
              </a:extLst>
            </p:cNvPr>
            <p:cNvSpPr txBox="1"/>
            <p:nvPr/>
          </p:nvSpPr>
          <p:spPr>
            <a:xfrm>
              <a:off x="1096749" y="2941265"/>
              <a:ext cx="27587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Implicit list </a:t>
              </a:r>
              <a:r>
                <a:rPr lang="en-US">
                  <a:solidFill>
                    <a:schemeClr val="accent1"/>
                  </a:solidFill>
                </a:rPr>
                <a:t>(</a:t>
              </a:r>
              <a:r>
                <a:rPr lang="en-US" err="1">
                  <a:solidFill>
                    <a:schemeClr val="accent1"/>
                  </a:solidFill>
                </a:rPr>
                <a:t>header+footer</a:t>
              </a:r>
              <a:r>
                <a:rPr lang="en-US">
                  <a:solidFill>
                    <a:schemeClr val="accent1"/>
                  </a:solidFill>
                </a:rPr>
                <a:t>)</a:t>
              </a:r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1881FE62-A731-4224-8C64-5BA4D64E0E0A}"/>
                </a:ext>
              </a:extLst>
            </p:cNvPr>
            <p:cNvSpPr/>
            <p:nvPr/>
          </p:nvSpPr>
          <p:spPr>
            <a:xfrm>
              <a:off x="1495688" y="1788401"/>
              <a:ext cx="230659" cy="1102135"/>
            </a:xfrm>
            <a:prstGeom prst="downArrow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062A8F0-39D3-4068-8799-8085DAEA4BE3}"/>
                </a:ext>
              </a:extLst>
            </p:cNvPr>
            <p:cNvCxnSpPr/>
            <p:nvPr/>
          </p:nvCxnSpPr>
          <p:spPr>
            <a:xfrm>
              <a:off x="424249" y="2930408"/>
              <a:ext cx="838200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686BF04-A1D4-4EC4-9487-1C7EAE15E5AF}"/>
              </a:ext>
            </a:extLst>
          </p:cNvPr>
          <p:cNvCxnSpPr/>
          <p:nvPr/>
        </p:nvCxnSpPr>
        <p:spPr>
          <a:xfrm>
            <a:off x="582828" y="4647112"/>
            <a:ext cx="8382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F1979DC-544A-47E3-AEB1-D2034811BCDC}"/>
              </a:ext>
            </a:extLst>
          </p:cNvPr>
          <p:cNvSpPr/>
          <p:nvPr/>
        </p:nvSpPr>
        <p:spPr>
          <a:xfrm>
            <a:off x="6437871" y="3071339"/>
            <a:ext cx="947351" cy="49838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9BC5CBF-9CE9-4DA5-A626-2D2608FEBC49}"/>
              </a:ext>
            </a:extLst>
          </p:cNvPr>
          <p:cNvSpPr/>
          <p:nvPr/>
        </p:nvSpPr>
        <p:spPr>
          <a:xfrm>
            <a:off x="6437871" y="3569728"/>
            <a:ext cx="947351" cy="498389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DCBF5D0-2390-4820-BFE7-A48AFE102C1F}"/>
              </a:ext>
            </a:extLst>
          </p:cNvPr>
          <p:cNvSpPr/>
          <p:nvPr/>
        </p:nvSpPr>
        <p:spPr>
          <a:xfrm>
            <a:off x="6437871" y="4068117"/>
            <a:ext cx="947351" cy="49838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698256-AB0B-4E16-AC48-6FEB65EDECF0}"/>
              </a:ext>
            </a:extLst>
          </p:cNvPr>
          <p:cNvSpPr/>
          <p:nvPr/>
        </p:nvSpPr>
        <p:spPr>
          <a:xfrm>
            <a:off x="6458465" y="3089274"/>
            <a:ext cx="926757" cy="1468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C6DDF25-70DE-4F60-9272-DC2BE4B7ADEE}"/>
              </a:ext>
            </a:extLst>
          </p:cNvPr>
          <p:cNvSpPr/>
          <p:nvPr/>
        </p:nvSpPr>
        <p:spPr>
          <a:xfrm>
            <a:off x="6437871" y="3589317"/>
            <a:ext cx="947351" cy="1228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3FE6AD7-4C7F-456E-A7A9-6D4A090AB6FF}"/>
              </a:ext>
            </a:extLst>
          </p:cNvPr>
          <p:cNvSpPr/>
          <p:nvPr/>
        </p:nvSpPr>
        <p:spPr>
          <a:xfrm>
            <a:off x="6437871" y="4087747"/>
            <a:ext cx="947350" cy="1228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1BD6E49-C7B7-41FD-B63D-0F2E0159CEE7}"/>
              </a:ext>
            </a:extLst>
          </p:cNvPr>
          <p:cNvSpPr/>
          <p:nvPr/>
        </p:nvSpPr>
        <p:spPr>
          <a:xfrm>
            <a:off x="6454346" y="3411631"/>
            <a:ext cx="926757" cy="14682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4295712-D44C-409A-ACAF-B665E88F2AD6}"/>
              </a:ext>
            </a:extLst>
          </p:cNvPr>
          <p:cNvSpPr/>
          <p:nvPr/>
        </p:nvSpPr>
        <p:spPr>
          <a:xfrm>
            <a:off x="6458465" y="3919218"/>
            <a:ext cx="926757" cy="14682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5D06699-8629-4D1C-AB3D-1574C4FD7AB3}"/>
              </a:ext>
            </a:extLst>
          </p:cNvPr>
          <p:cNvSpPr/>
          <p:nvPr/>
        </p:nvSpPr>
        <p:spPr>
          <a:xfrm>
            <a:off x="6454346" y="4408527"/>
            <a:ext cx="926757" cy="14682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9384051-5050-4313-9BC3-EE77B4BC70AF}"/>
              </a:ext>
            </a:extLst>
          </p:cNvPr>
          <p:cNvSpPr txBox="1"/>
          <p:nvPr/>
        </p:nvSpPr>
        <p:spPr>
          <a:xfrm>
            <a:off x="1726347" y="2005306"/>
            <a:ext cx="3890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Problem: cannot coalesce with previous free block </a:t>
            </a:r>
          </a:p>
          <a:p>
            <a:r>
              <a:rPr lang="en-US" sz="1400">
                <a:sym typeface="Wingdings" panose="05000000000000000000" pitchFamily="2" charset="2"/>
              </a:rPr>
              <a:t> contiguous free blocks</a:t>
            </a:r>
            <a:endParaRPr lang="en-US" sz="14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6067488-18F8-4390-8F50-3F43F3F3931E}"/>
              </a:ext>
            </a:extLst>
          </p:cNvPr>
          <p:cNvSpPr txBox="1"/>
          <p:nvPr/>
        </p:nvSpPr>
        <p:spPr>
          <a:xfrm>
            <a:off x="1701778" y="3677932"/>
            <a:ext cx="43813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Problem: search for free block scans over allocated blocks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65B2971-6B68-4861-8C08-43D6EE1EDDC8}"/>
              </a:ext>
            </a:extLst>
          </p:cNvPr>
          <p:cNvGrpSpPr/>
          <p:nvPr/>
        </p:nvGrpSpPr>
        <p:grpSpPr>
          <a:xfrm>
            <a:off x="4285750" y="4893425"/>
            <a:ext cx="3532441" cy="1841006"/>
            <a:chOff x="4285750" y="4893425"/>
            <a:chExt cx="3532441" cy="1841006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8493490-A318-4299-8D43-337D3C75B30C}"/>
                </a:ext>
              </a:extLst>
            </p:cNvPr>
            <p:cNvSpPr/>
            <p:nvPr/>
          </p:nvSpPr>
          <p:spPr>
            <a:xfrm>
              <a:off x="6448165" y="4931359"/>
              <a:ext cx="947351" cy="6438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562FE1F-AA88-4E74-8618-A721FCA279AA}"/>
                </a:ext>
              </a:extLst>
            </p:cNvPr>
            <p:cNvSpPr/>
            <p:nvPr/>
          </p:nvSpPr>
          <p:spPr>
            <a:xfrm>
              <a:off x="6448166" y="5595701"/>
              <a:ext cx="947351" cy="498389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4306CA7-7E1F-46C0-BC99-609552F9CDDC}"/>
                </a:ext>
              </a:extLst>
            </p:cNvPr>
            <p:cNvSpPr/>
            <p:nvPr/>
          </p:nvSpPr>
          <p:spPr>
            <a:xfrm>
              <a:off x="6448167" y="6114621"/>
              <a:ext cx="947351" cy="61981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30834B4-2A4C-4928-AA9E-2A8BD1904248}"/>
                </a:ext>
              </a:extLst>
            </p:cNvPr>
            <p:cNvSpPr/>
            <p:nvPr/>
          </p:nvSpPr>
          <p:spPr>
            <a:xfrm>
              <a:off x="6448166" y="5611171"/>
              <a:ext cx="947351" cy="122837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19A9644-A96E-434B-BD17-9338DF652266}"/>
                </a:ext>
              </a:extLst>
            </p:cNvPr>
            <p:cNvSpPr/>
            <p:nvPr/>
          </p:nvSpPr>
          <p:spPr>
            <a:xfrm>
              <a:off x="6458465" y="6133124"/>
              <a:ext cx="922638" cy="122837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24FD3E5-ECB1-4F43-B6F5-9856E769E918}"/>
                </a:ext>
              </a:extLst>
            </p:cNvPr>
            <p:cNvSpPr/>
            <p:nvPr/>
          </p:nvSpPr>
          <p:spPr>
            <a:xfrm>
              <a:off x="6468760" y="5945191"/>
              <a:ext cx="926757" cy="14682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D5574ED-C20A-416D-AEA8-3FAC4088BA75}"/>
                </a:ext>
              </a:extLst>
            </p:cNvPr>
            <p:cNvSpPr/>
            <p:nvPr/>
          </p:nvSpPr>
          <p:spPr>
            <a:xfrm>
              <a:off x="6454346" y="6571948"/>
              <a:ext cx="926757" cy="14682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AB89AC7-6AC4-4AFA-B598-7E9D025D8FDC}"/>
                </a:ext>
              </a:extLst>
            </p:cNvPr>
            <p:cNvSpPr/>
            <p:nvPr/>
          </p:nvSpPr>
          <p:spPr>
            <a:xfrm>
              <a:off x="6468760" y="4943629"/>
              <a:ext cx="912342" cy="14001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39978086-2A99-48E0-AF67-4862248C1718}"/>
                </a:ext>
              </a:extLst>
            </p:cNvPr>
            <p:cNvSpPr/>
            <p:nvPr/>
          </p:nvSpPr>
          <p:spPr>
            <a:xfrm>
              <a:off x="6454346" y="5416896"/>
              <a:ext cx="926757" cy="14682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E472824-AA2F-4F4F-9ED2-A88A9C7CA989}"/>
                </a:ext>
              </a:extLst>
            </p:cNvPr>
            <p:cNvSpPr txBox="1"/>
            <p:nvPr/>
          </p:nvSpPr>
          <p:spPr>
            <a:xfrm>
              <a:off x="4285750" y="4893816"/>
              <a:ext cx="14957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head of </a:t>
              </a:r>
              <a:r>
                <a:rPr lang="en-US" sz="1600" err="1"/>
                <a:t>freelist</a:t>
              </a:r>
              <a:r>
                <a:rPr lang="en-US" sz="1600"/>
                <a:t>:</a:t>
              </a: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EBC9C34-CDE9-4EF3-B8DD-01CE44DB6471}"/>
                </a:ext>
              </a:extLst>
            </p:cNvPr>
            <p:cNvSpPr/>
            <p:nvPr/>
          </p:nvSpPr>
          <p:spPr>
            <a:xfrm>
              <a:off x="5750011" y="4893425"/>
              <a:ext cx="638432" cy="172845"/>
            </a:xfrm>
            <a:custGeom>
              <a:avLst/>
              <a:gdLst>
                <a:gd name="connsiteX0" fmla="*/ 0 w 638432"/>
                <a:gd name="connsiteY0" fmla="*/ 172845 h 172845"/>
                <a:gd name="connsiteX1" fmla="*/ 148281 w 638432"/>
                <a:gd name="connsiteY1" fmla="*/ 3970 h 172845"/>
                <a:gd name="connsiteX2" fmla="*/ 638432 w 638432"/>
                <a:gd name="connsiteY2" fmla="*/ 69872 h 172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8432" h="172845">
                  <a:moveTo>
                    <a:pt x="0" y="172845"/>
                  </a:moveTo>
                  <a:cubicBezTo>
                    <a:pt x="20938" y="96988"/>
                    <a:pt x="41876" y="21132"/>
                    <a:pt x="148281" y="3970"/>
                  </a:cubicBezTo>
                  <a:cubicBezTo>
                    <a:pt x="254686" y="-13192"/>
                    <a:pt x="446559" y="28340"/>
                    <a:pt x="638432" y="69872"/>
                  </a:cubicBezTo>
                </a:path>
              </a:pathLst>
            </a:custGeom>
            <a:noFill/>
            <a:ln w="28575">
              <a:solidFill>
                <a:schemeClr val="accent3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6E35CCF-C674-41CF-9554-2DC4D2428C0D}"/>
                </a:ext>
              </a:extLst>
            </p:cNvPr>
            <p:cNvSpPr txBox="1"/>
            <p:nvPr/>
          </p:nvSpPr>
          <p:spPr>
            <a:xfrm>
              <a:off x="6592629" y="5023663"/>
              <a:ext cx="4748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next:</a:t>
              </a: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C918D22-80BD-49C8-8E1A-6C1A93A807E2}"/>
                </a:ext>
              </a:extLst>
            </p:cNvPr>
            <p:cNvSpPr/>
            <p:nvPr/>
          </p:nvSpPr>
          <p:spPr>
            <a:xfrm>
              <a:off x="7051589" y="5142915"/>
              <a:ext cx="766602" cy="977799"/>
            </a:xfrm>
            <a:custGeom>
              <a:avLst/>
              <a:gdLst>
                <a:gd name="connsiteX0" fmla="*/ 0 w 766602"/>
                <a:gd name="connsiteY0" fmla="*/ 18090 h 977799"/>
                <a:gd name="connsiteX1" fmla="*/ 568411 w 766602"/>
                <a:gd name="connsiteY1" fmla="*/ 92231 h 977799"/>
                <a:gd name="connsiteX2" fmla="*/ 762000 w 766602"/>
                <a:gd name="connsiteY2" fmla="*/ 734782 h 977799"/>
                <a:gd name="connsiteX3" fmla="*/ 407773 w 766602"/>
                <a:gd name="connsiteY3" fmla="*/ 977799 h 977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6602" h="977799">
                  <a:moveTo>
                    <a:pt x="0" y="18090"/>
                  </a:moveTo>
                  <a:cubicBezTo>
                    <a:pt x="220705" y="-4564"/>
                    <a:pt x="441411" y="-27218"/>
                    <a:pt x="568411" y="92231"/>
                  </a:cubicBezTo>
                  <a:cubicBezTo>
                    <a:pt x="695411" y="211680"/>
                    <a:pt x="788773" y="587187"/>
                    <a:pt x="762000" y="734782"/>
                  </a:cubicBezTo>
                  <a:cubicBezTo>
                    <a:pt x="735227" y="882377"/>
                    <a:pt x="571500" y="930088"/>
                    <a:pt x="407773" y="977799"/>
                  </a:cubicBezTo>
                </a:path>
              </a:pathLst>
            </a:custGeom>
            <a:noFill/>
            <a:ln w="28575">
              <a:solidFill>
                <a:schemeClr val="tx2">
                  <a:lumMod val="40000"/>
                  <a:lumOff val="6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69C1DE5-A3FA-4044-A83F-0293B2870537}"/>
                </a:ext>
              </a:extLst>
            </p:cNvPr>
            <p:cNvSpPr txBox="1"/>
            <p:nvPr/>
          </p:nvSpPr>
          <p:spPr>
            <a:xfrm>
              <a:off x="6543496" y="6189187"/>
              <a:ext cx="71846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/>
                <a:t>next: null</a:t>
              </a: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6E277A24-3B01-4FE0-9AD6-58844C41248C}"/>
              </a:ext>
            </a:extLst>
          </p:cNvPr>
          <p:cNvSpPr txBox="1"/>
          <p:nvPr/>
        </p:nvSpPr>
        <p:spPr>
          <a:xfrm>
            <a:off x="1127463" y="5631814"/>
            <a:ext cx="3167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Q: Why use a doubly linked list?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BADD4FF-FC7A-499F-AAF0-170588529E3F}"/>
              </a:ext>
            </a:extLst>
          </p:cNvPr>
          <p:cNvGrpSpPr/>
          <p:nvPr/>
        </p:nvGrpSpPr>
        <p:grpSpPr>
          <a:xfrm>
            <a:off x="6550703" y="4922108"/>
            <a:ext cx="1627039" cy="1694408"/>
            <a:chOff x="6550703" y="4922108"/>
            <a:chExt cx="1627039" cy="1694408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0884EC1-5CEE-4FDD-9E62-401ED1D3F008}"/>
                </a:ext>
              </a:extLst>
            </p:cNvPr>
            <p:cNvSpPr txBox="1"/>
            <p:nvPr/>
          </p:nvSpPr>
          <p:spPr>
            <a:xfrm>
              <a:off x="6550703" y="6354906"/>
              <a:ext cx="48122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err="1"/>
                <a:t>prev</a:t>
              </a:r>
              <a:r>
                <a:rPr lang="en-US" sz="1100"/>
                <a:t>: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03A13E2C-3B5E-42E0-A37D-6677A4C92517}"/>
                </a:ext>
              </a:extLst>
            </p:cNvPr>
            <p:cNvSpPr txBox="1"/>
            <p:nvPr/>
          </p:nvSpPr>
          <p:spPr>
            <a:xfrm>
              <a:off x="6598239" y="5181656"/>
              <a:ext cx="72487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err="1"/>
                <a:t>prev</a:t>
              </a:r>
              <a:r>
                <a:rPr lang="en-US" sz="1100"/>
                <a:t>: null</a:t>
              </a: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560EB2-403A-44EA-AFC1-C6D25EDF1974}"/>
                </a:ext>
              </a:extLst>
            </p:cNvPr>
            <p:cNvSpPr/>
            <p:nvPr/>
          </p:nvSpPr>
          <p:spPr>
            <a:xfrm>
              <a:off x="7059827" y="4922108"/>
              <a:ext cx="1117915" cy="1587625"/>
            </a:xfrm>
            <a:custGeom>
              <a:avLst/>
              <a:gdLst>
                <a:gd name="connsiteX0" fmla="*/ 0 w 1117915"/>
                <a:gd name="connsiteY0" fmla="*/ 1561070 h 1587625"/>
                <a:gd name="connsiteX1" fmla="*/ 860854 w 1117915"/>
                <a:gd name="connsiteY1" fmla="*/ 1561070 h 1587625"/>
                <a:gd name="connsiteX2" fmla="*/ 1058562 w 1117915"/>
                <a:gd name="connsiteY2" fmla="*/ 1285103 h 1587625"/>
                <a:gd name="connsiteX3" fmla="*/ 1062681 w 1117915"/>
                <a:gd name="connsiteY3" fmla="*/ 457200 h 1587625"/>
                <a:gd name="connsiteX4" fmla="*/ 407773 w 1117915"/>
                <a:gd name="connsiteY4" fmla="*/ 0 h 158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7915" h="1587625">
                  <a:moveTo>
                    <a:pt x="0" y="1561070"/>
                  </a:moveTo>
                  <a:cubicBezTo>
                    <a:pt x="342213" y="1584067"/>
                    <a:pt x="684427" y="1607065"/>
                    <a:pt x="860854" y="1561070"/>
                  </a:cubicBezTo>
                  <a:cubicBezTo>
                    <a:pt x="1037281" y="1515075"/>
                    <a:pt x="1024924" y="1469081"/>
                    <a:pt x="1058562" y="1285103"/>
                  </a:cubicBezTo>
                  <a:cubicBezTo>
                    <a:pt x="1092200" y="1101125"/>
                    <a:pt x="1171146" y="671384"/>
                    <a:pt x="1062681" y="457200"/>
                  </a:cubicBezTo>
                  <a:cubicBezTo>
                    <a:pt x="954216" y="243016"/>
                    <a:pt x="680994" y="121508"/>
                    <a:pt x="407773" y="0"/>
                  </a:cubicBezTo>
                </a:path>
              </a:pathLst>
            </a:custGeom>
            <a:noFill/>
            <a:ln w="28575">
              <a:solidFill>
                <a:schemeClr val="tx2">
                  <a:lumMod val="40000"/>
                  <a:lumOff val="6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723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  <p:bldP spid="38" grpId="0" animBg="1"/>
      <p:bldP spid="40" grpId="0" animBg="1"/>
      <p:bldP spid="42" grpId="0" animBg="1"/>
      <p:bldP spid="44" grpId="0" animBg="1"/>
      <p:bldP spid="46" grpId="0" animBg="1"/>
      <p:bldP spid="48" grpId="0" animBg="1"/>
      <p:bldP spid="50" grpId="0" animBg="1"/>
      <p:bldP spid="52" grpId="0" animBg="1"/>
      <p:bldP spid="54" grpId="0" animBg="1"/>
      <p:bldP spid="77" grpId="0"/>
      <p:bldP spid="79" grpId="0"/>
      <p:bldP spid="9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Explicit free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920" y="4968557"/>
            <a:ext cx="8229600" cy="578803"/>
          </a:xfrm>
        </p:spPr>
        <p:txBody>
          <a:bodyPr>
            <a:normAutofit fontScale="85000" lnSpcReduction="10000"/>
          </a:bodyPr>
          <a:lstStyle/>
          <a:p>
            <a:r>
              <a:rPr lang="en-US"/>
              <a:t>Question: do we need next/</a:t>
            </a:r>
            <a:r>
              <a:rPr lang="en-US" err="1"/>
              <a:t>prev</a:t>
            </a:r>
            <a:r>
              <a:rPr lang="en-US"/>
              <a:t> fields for allocated blocks?</a:t>
            </a:r>
          </a:p>
        </p:txBody>
      </p:sp>
      <p:sp>
        <p:nvSpPr>
          <p:cNvPr id="4" name="矩形 3"/>
          <p:cNvSpPr/>
          <p:nvPr/>
        </p:nvSpPr>
        <p:spPr>
          <a:xfrm>
            <a:off x="4194694" y="2378726"/>
            <a:ext cx="1767840" cy="1797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...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94694" y="1571523"/>
            <a:ext cx="1767840" cy="26788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     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28854" y="1574152"/>
            <a:ext cx="233680" cy="26788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0   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92184" y="4499529"/>
            <a:ext cx="13388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/>
              <a:t>Free chunk</a:t>
            </a:r>
            <a:endParaRPr lang="zh-CN" altLang="en-US" sz="2000"/>
          </a:p>
        </p:txBody>
      </p:sp>
      <p:sp>
        <p:nvSpPr>
          <p:cNvPr id="9" name="矩形 9"/>
          <p:cNvSpPr/>
          <p:nvPr/>
        </p:nvSpPr>
        <p:spPr>
          <a:xfrm>
            <a:off x="4194694" y="1838312"/>
            <a:ext cx="1767840" cy="26788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Next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矩形 11"/>
          <p:cNvSpPr/>
          <p:nvPr/>
        </p:nvSpPr>
        <p:spPr>
          <a:xfrm>
            <a:off x="4194694" y="2106193"/>
            <a:ext cx="1767840" cy="26788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err="1">
                <a:solidFill>
                  <a:schemeClr val="tx1"/>
                </a:solidFill>
                <a:latin typeface="Arial"/>
                <a:cs typeface="Arial"/>
              </a:rPr>
              <a:t>Prev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矩形 42"/>
          <p:cNvSpPr/>
          <p:nvPr/>
        </p:nvSpPr>
        <p:spPr>
          <a:xfrm>
            <a:off x="4194694" y="4176480"/>
            <a:ext cx="1767840" cy="26788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" name="矩形 43"/>
          <p:cNvSpPr/>
          <p:nvPr/>
        </p:nvSpPr>
        <p:spPr>
          <a:xfrm>
            <a:off x="5730390" y="4176480"/>
            <a:ext cx="233680" cy="267881"/>
          </a:xfrm>
          <a:prstGeom prst="rect">
            <a:avLst/>
          </a:prstGeom>
          <a:noFill/>
          <a:ln w="952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0   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" name="矩形 3"/>
          <p:cNvSpPr/>
          <p:nvPr/>
        </p:nvSpPr>
        <p:spPr>
          <a:xfrm>
            <a:off x="1053096" y="1849565"/>
            <a:ext cx="1767840" cy="23370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Payload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6" name="矩形 4"/>
          <p:cNvSpPr/>
          <p:nvPr/>
        </p:nvSpPr>
        <p:spPr>
          <a:xfrm>
            <a:off x="1053096" y="1581683"/>
            <a:ext cx="1767840" cy="267881"/>
          </a:xfrm>
          <a:prstGeom prst="rect">
            <a:avLst/>
          </a:prstGeom>
          <a:solidFill>
            <a:srgbClr val="E6B9B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     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矩形 6"/>
          <p:cNvSpPr/>
          <p:nvPr/>
        </p:nvSpPr>
        <p:spPr>
          <a:xfrm>
            <a:off x="2587256" y="1584312"/>
            <a:ext cx="233680" cy="267881"/>
          </a:xfrm>
          <a:prstGeom prst="rect">
            <a:avLst/>
          </a:prstGeom>
          <a:noFill/>
          <a:ln w="952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8" name="矩形 7"/>
          <p:cNvSpPr/>
          <p:nvPr/>
        </p:nvSpPr>
        <p:spPr>
          <a:xfrm>
            <a:off x="975360" y="4477025"/>
            <a:ext cx="21539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/>
              <a:t>Allocated chunk</a:t>
            </a:r>
            <a:endParaRPr lang="zh-CN" altLang="en-US" sz="2000"/>
          </a:p>
        </p:txBody>
      </p:sp>
      <p:sp>
        <p:nvSpPr>
          <p:cNvPr id="21" name="矩形 42"/>
          <p:cNvSpPr/>
          <p:nvPr/>
        </p:nvSpPr>
        <p:spPr>
          <a:xfrm>
            <a:off x="1053096" y="4186640"/>
            <a:ext cx="1767840" cy="26788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2" name="矩形 43"/>
          <p:cNvSpPr/>
          <p:nvPr/>
        </p:nvSpPr>
        <p:spPr>
          <a:xfrm>
            <a:off x="2588792" y="4186640"/>
            <a:ext cx="233680" cy="267881"/>
          </a:xfrm>
          <a:prstGeom prst="rect">
            <a:avLst/>
          </a:prstGeom>
          <a:noFill/>
          <a:ln w="952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1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3129280" y="2875280"/>
            <a:ext cx="629920" cy="396240"/>
          </a:xfrm>
          <a:prstGeom prst="rightArrow">
            <a:avLst/>
          </a:prstGeom>
          <a:solidFill>
            <a:srgbClr val="00B0F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129280" y="2516108"/>
            <a:ext cx="878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free (p)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457200" y="1835683"/>
            <a:ext cx="447040" cy="26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3360" y="1736861"/>
            <a:ext cx="30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5731012" y="1971040"/>
            <a:ext cx="486908" cy="10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89040" y="1667527"/>
            <a:ext cx="253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points to next free chunk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9040" y="2040374"/>
            <a:ext cx="2931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points to previous free chunk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5731012" y="2225040"/>
            <a:ext cx="48690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/>
          <p:cNvSpPr txBox="1">
            <a:spLocks/>
          </p:cNvSpPr>
          <p:nvPr/>
        </p:nvSpPr>
        <p:spPr>
          <a:xfrm>
            <a:off x="528320" y="5410358"/>
            <a:ext cx="8229600" cy="578803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Answer: No. We do not need to chain together allocated blocks. We can still traverse all blocks (free and allocated) as in the case of implicit list.</a:t>
            </a:r>
          </a:p>
        </p:txBody>
      </p:sp>
      <p:sp>
        <p:nvSpPr>
          <p:cNvPr id="37" name="Content Placeholder 2"/>
          <p:cNvSpPr txBox="1">
            <a:spLocks/>
          </p:cNvSpPr>
          <p:nvPr/>
        </p:nvSpPr>
        <p:spPr>
          <a:xfrm>
            <a:off x="375920" y="5989161"/>
            <a:ext cx="7172960" cy="578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Question: what’s the minimal size of a chunk?</a:t>
            </a: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519302" y="6387861"/>
            <a:ext cx="8307473" cy="36020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Answer: 16 (header) + 16 (footer) + 8 (next pointer) + 8 (previous pointer) = 48 bytes</a:t>
            </a:r>
          </a:p>
        </p:txBody>
      </p:sp>
    </p:spTree>
    <p:extLst>
      <p:ext uri="{BB962C8B-B14F-4D97-AF65-F5344CB8AC3E}">
        <p14:creationId xmlns:p14="http://schemas.microsoft.com/office/powerpoint/2010/main" val="1218845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Explicit list: types, basic helpers</a:t>
            </a:r>
          </a:p>
        </p:txBody>
      </p:sp>
      <p:sp>
        <p:nvSpPr>
          <p:cNvPr id="4" name="矩形 20"/>
          <p:cNvSpPr/>
          <p:nvPr/>
        </p:nvSpPr>
        <p:spPr>
          <a:xfrm>
            <a:off x="71120" y="1229996"/>
            <a:ext cx="4622800" cy="5262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</a:rPr>
              <a:t>typedef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struct</a:t>
            </a:r>
            <a:r>
              <a:rPr lang="en-US" altLang="zh-CN" sz="1600">
                <a:latin typeface="Consolas"/>
                <a:cs typeface="Consolas"/>
              </a:rPr>
              <a:t> {</a:t>
            </a:r>
          </a:p>
          <a:p>
            <a:r>
              <a:rPr lang="en-US" altLang="zh-CN" sz="1600">
                <a:latin typeface="Consolas"/>
                <a:cs typeface="Consolas"/>
              </a:rPr>
              <a:t>  unsigned long </a:t>
            </a:r>
            <a:r>
              <a:rPr lang="en-US" altLang="zh-CN" sz="1600" err="1">
                <a:latin typeface="Consolas"/>
                <a:cs typeface="Consolas"/>
              </a:rPr>
              <a:t>size_and_status</a:t>
            </a:r>
            <a:r>
              <a:rPr lang="en-US" altLang="zh-CN" sz="1600">
                <a:latin typeface="Consolas"/>
                <a:cs typeface="Consolas"/>
              </a:rPr>
              <a:t>;</a:t>
            </a:r>
          </a:p>
          <a:p>
            <a:r>
              <a:rPr lang="en-US" altLang="zh-CN" sz="1600">
                <a:latin typeface="Consolas"/>
                <a:cs typeface="Consolas"/>
              </a:rPr>
              <a:t>  unsigned long padding;</a:t>
            </a:r>
          </a:p>
          <a:p>
            <a:r>
              <a:rPr lang="en-US" altLang="zh-CN" sz="1600">
                <a:latin typeface="Consolas"/>
                <a:cs typeface="Consolas"/>
              </a:rPr>
              <a:t>} header;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 err="1">
                <a:latin typeface="Consolas"/>
                <a:cs typeface="Consolas"/>
              </a:rPr>
              <a:t>typedef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struct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{</a:t>
            </a:r>
          </a:p>
          <a:p>
            <a:r>
              <a:rPr lang="en-US" altLang="zh-CN" sz="1600">
                <a:latin typeface="Consolas"/>
                <a:cs typeface="Consolas"/>
              </a:rPr>
              <a:t>   header </a:t>
            </a:r>
            <a:r>
              <a:rPr lang="en-US" altLang="zh-CN" sz="1600" err="1">
                <a:latin typeface="Consolas"/>
                <a:cs typeface="Consolas"/>
              </a:rPr>
              <a:t>common_header</a:t>
            </a:r>
            <a:r>
              <a:rPr lang="en-US" altLang="zh-CN" sz="1600">
                <a:latin typeface="Consolas"/>
                <a:cs typeface="Consolas"/>
              </a:rPr>
              <a:t>;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struct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*next;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struct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</a:t>
            </a:r>
            <a:r>
              <a:rPr lang="en-US" altLang="zh-CN" sz="1600" err="1">
                <a:latin typeface="Consolas"/>
                <a:cs typeface="Consolas"/>
              </a:rPr>
              <a:t>prev</a:t>
            </a:r>
            <a:r>
              <a:rPr lang="en-US" altLang="zh-CN" sz="1600">
                <a:latin typeface="Consolas"/>
                <a:cs typeface="Consolas"/>
              </a:rPr>
              <a:t>; </a:t>
            </a:r>
          </a:p>
          <a:p>
            <a:r>
              <a:rPr lang="en-US" altLang="zh-CN" sz="1600">
                <a:latin typeface="Consolas"/>
                <a:cs typeface="Consolas"/>
              </a:rPr>
              <a:t>} 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;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 err="1">
                <a:latin typeface="Consolas"/>
                <a:cs typeface="Consolas"/>
              </a:rPr>
              <a:t>bool</a:t>
            </a:r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 err="1">
                <a:latin typeface="Consolas"/>
                <a:cs typeface="Consolas"/>
              </a:rPr>
              <a:t>get_status</a:t>
            </a:r>
            <a:r>
              <a:rPr lang="en-US" altLang="zh-CN" sz="1600">
                <a:latin typeface="Consolas"/>
                <a:cs typeface="Consolas"/>
              </a:rPr>
              <a:t>(header *h) {</a:t>
            </a:r>
          </a:p>
          <a:p>
            <a:r>
              <a:rPr lang="en-US" altLang="zh-CN" sz="1600">
                <a:latin typeface="Consolas"/>
                <a:cs typeface="Consolas"/>
              </a:rPr>
              <a:t>  return h-&gt;</a:t>
            </a:r>
            <a:r>
              <a:rPr lang="en-US" altLang="zh-CN" sz="1600" err="1">
                <a:latin typeface="Consolas"/>
                <a:cs typeface="Consolas"/>
              </a:rPr>
              <a:t>size_and_status</a:t>
            </a:r>
            <a:r>
              <a:rPr lang="en-US" altLang="zh-CN" sz="1600">
                <a:latin typeface="Consolas"/>
                <a:cs typeface="Consolas"/>
              </a:rPr>
              <a:t> &amp; 0x1L;</a:t>
            </a: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 err="1">
                <a:latin typeface="Consolas"/>
                <a:cs typeface="Consolas"/>
              </a:rPr>
              <a:t>size_t</a:t>
            </a:r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 err="1">
                <a:latin typeface="Consolas"/>
                <a:cs typeface="Consolas"/>
              </a:rPr>
              <a:t>get_size</a:t>
            </a:r>
            <a:r>
              <a:rPr lang="en-US" altLang="zh-CN" sz="1600">
                <a:latin typeface="Consolas"/>
                <a:cs typeface="Consolas"/>
              </a:rPr>
              <a:t>(header *h) {</a:t>
            </a:r>
          </a:p>
          <a:p>
            <a:r>
              <a:rPr lang="en-US" altLang="zh-CN" sz="1600">
                <a:latin typeface="Consolas"/>
                <a:cs typeface="Consolas"/>
              </a:rPr>
              <a:t>  return h-&gt;</a:t>
            </a:r>
            <a:r>
              <a:rPr lang="en-US" altLang="zh-CN" sz="1600" err="1">
                <a:latin typeface="Consolas"/>
                <a:cs typeface="Consolas"/>
              </a:rPr>
              <a:t>size_and_status</a:t>
            </a:r>
            <a:r>
              <a:rPr lang="en-US" altLang="zh-CN" sz="1600">
                <a:latin typeface="Consolas"/>
                <a:cs typeface="Consolas"/>
              </a:rPr>
              <a:t> &amp; ~(0x1L);</a:t>
            </a: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  <a:p>
            <a:endParaRPr lang="en-US" altLang="zh-CN" sz="1600"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76800" y="1225870"/>
            <a:ext cx="4133063" cy="45243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Consolas"/>
                <a:cs typeface="Consolas"/>
              </a:rPr>
              <a:t>void</a:t>
            </a:r>
          </a:p>
          <a:p>
            <a:r>
              <a:rPr lang="en-US" altLang="zh-CN" sz="1600" err="1">
                <a:latin typeface="Consolas"/>
                <a:cs typeface="Consolas"/>
              </a:rPr>
              <a:t>set_size_status</a:t>
            </a:r>
            <a:r>
              <a:rPr lang="en-US" altLang="zh-CN" sz="1600">
                <a:latin typeface="Consolas"/>
                <a:cs typeface="Consolas"/>
              </a:rPr>
              <a:t>(header *h, </a:t>
            </a:r>
          </a:p>
          <a:p>
            <a:r>
              <a:rPr lang="en-US" altLang="zh-CN" sz="1600">
                <a:latin typeface="Consolas"/>
                <a:cs typeface="Consolas"/>
              </a:rPr>
              <a:t>  </a:t>
            </a:r>
            <a:r>
              <a:rPr lang="en-US" altLang="zh-CN" sz="1600" err="1">
                <a:latin typeface="Consolas"/>
                <a:cs typeface="Consolas"/>
              </a:rPr>
              <a:t>size_t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sz</a:t>
            </a:r>
            <a:r>
              <a:rPr lang="en-US" altLang="zh-CN" sz="1600">
                <a:latin typeface="Consolas"/>
                <a:cs typeface="Consolas"/>
              </a:rPr>
              <a:t>, </a:t>
            </a:r>
            <a:r>
              <a:rPr lang="en-US" altLang="zh-CN" sz="1600" err="1">
                <a:latin typeface="Consolas"/>
                <a:cs typeface="Consolas"/>
              </a:rPr>
              <a:t>bool</a:t>
            </a:r>
            <a:r>
              <a:rPr lang="en-US" altLang="zh-CN" sz="1600">
                <a:latin typeface="Consolas"/>
                <a:cs typeface="Consolas"/>
              </a:rPr>
              <a:t> status) {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>
                <a:latin typeface="Consolas"/>
                <a:cs typeface="Consolas"/>
              </a:rPr>
              <a:t>  h-&gt;</a:t>
            </a:r>
            <a:r>
              <a:rPr lang="en-US" altLang="zh-CN" sz="1600" err="1">
                <a:latin typeface="Consolas"/>
                <a:cs typeface="Consolas"/>
              </a:rPr>
              <a:t>size_and_status</a:t>
            </a:r>
            <a:r>
              <a:rPr lang="en-US" altLang="zh-CN" sz="1600">
                <a:latin typeface="Consolas"/>
                <a:cs typeface="Consolas"/>
              </a:rPr>
              <a:t> = </a:t>
            </a:r>
            <a:r>
              <a:rPr lang="en-US" altLang="zh-CN" sz="1600" err="1">
                <a:latin typeface="Consolas"/>
                <a:cs typeface="Consolas"/>
              </a:rPr>
              <a:t>sz</a:t>
            </a:r>
            <a:r>
              <a:rPr lang="en-US" altLang="zh-CN" sz="1600">
                <a:latin typeface="Consolas"/>
                <a:cs typeface="Consolas"/>
              </a:rPr>
              <a:t> | status; </a:t>
            </a: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>
                <a:latin typeface="Consolas"/>
                <a:cs typeface="Consolas"/>
              </a:rPr>
              <a:t>void </a:t>
            </a:r>
          </a:p>
          <a:p>
            <a:r>
              <a:rPr lang="en-US" altLang="zh-CN" sz="1600" err="1">
                <a:latin typeface="Consolas"/>
                <a:cs typeface="Consolas"/>
              </a:rPr>
              <a:t>set_status</a:t>
            </a:r>
            <a:r>
              <a:rPr lang="en-US" altLang="zh-CN" sz="1600">
                <a:latin typeface="Consolas"/>
                <a:cs typeface="Consolas"/>
              </a:rPr>
              <a:t>(header *h, </a:t>
            </a:r>
            <a:r>
              <a:rPr lang="en-US" altLang="zh-CN" sz="1600" err="1">
                <a:latin typeface="Consolas"/>
                <a:cs typeface="Consolas"/>
              </a:rPr>
              <a:t>bool</a:t>
            </a:r>
            <a:r>
              <a:rPr lang="en-US" altLang="zh-CN" sz="1600">
                <a:latin typeface="Consolas"/>
                <a:cs typeface="Consolas"/>
              </a:rPr>
              <a:t> status){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size_t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sz</a:t>
            </a:r>
            <a:r>
              <a:rPr lang="en-US" altLang="zh-CN" sz="1600">
                <a:latin typeface="Consolas"/>
                <a:cs typeface="Consolas"/>
              </a:rPr>
              <a:t> = </a:t>
            </a:r>
            <a:r>
              <a:rPr lang="en-US" altLang="zh-CN" sz="1600" err="1">
                <a:latin typeface="Consolas"/>
                <a:cs typeface="Consolas"/>
              </a:rPr>
              <a:t>get_size</a:t>
            </a:r>
            <a:r>
              <a:rPr lang="en-US" altLang="zh-CN" sz="1600">
                <a:latin typeface="Consolas"/>
                <a:cs typeface="Consolas"/>
              </a:rPr>
              <a:t>(h);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set_size_status</a:t>
            </a:r>
            <a:r>
              <a:rPr lang="en-US" altLang="zh-CN" sz="1600">
                <a:latin typeface="Consolas"/>
                <a:cs typeface="Consolas"/>
              </a:rPr>
              <a:t>(h, </a:t>
            </a:r>
            <a:r>
              <a:rPr lang="en-US" altLang="zh-CN" sz="1600" err="1">
                <a:latin typeface="Consolas"/>
                <a:cs typeface="Consolas"/>
              </a:rPr>
              <a:t>sz</a:t>
            </a:r>
            <a:r>
              <a:rPr lang="en-US" altLang="zh-CN" sz="1600">
                <a:latin typeface="Consolas"/>
                <a:cs typeface="Consolas"/>
              </a:rPr>
              <a:t>, status);</a:t>
            </a: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>
                <a:latin typeface="Consolas"/>
                <a:cs typeface="Consolas"/>
              </a:rPr>
              <a:t>void</a:t>
            </a:r>
          </a:p>
          <a:p>
            <a:r>
              <a:rPr lang="en-US" altLang="zh-CN" sz="1600" err="1">
                <a:latin typeface="Consolas"/>
                <a:cs typeface="Consolas"/>
              </a:rPr>
              <a:t>set_size</a:t>
            </a:r>
            <a:r>
              <a:rPr lang="en-US" altLang="zh-CN" sz="1600">
                <a:latin typeface="Consolas"/>
                <a:cs typeface="Consolas"/>
              </a:rPr>
              <a:t>(header *h, </a:t>
            </a:r>
            <a:r>
              <a:rPr lang="en-US" altLang="zh-CN" sz="1600" err="1">
                <a:latin typeface="Consolas"/>
                <a:cs typeface="Consolas"/>
              </a:rPr>
              <a:t>size_t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sz</a:t>
            </a:r>
            <a:r>
              <a:rPr lang="en-US" altLang="zh-CN" sz="1600">
                <a:latin typeface="Consolas"/>
                <a:cs typeface="Consolas"/>
              </a:rPr>
              <a:t>) {</a:t>
            </a:r>
          </a:p>
          <a:p>
            <a:r>
              <a:rPr lang="en-US" altLang="zh-CN" sz="1600">
                <a:latin typeface="Consolas"/>
                <a:cs typeface="Consolas"/>
              </a:rPr>
              <a:t>   status = </a:t>
            </a:r>
            <a:r>
              <a:rPr lang="en-US" altLang="zh-CN" sz="1600" err="1">
                <a:latin typeface="Consolas"/>
                <a:cs typeface="Consolas"/>
              </a:rPr>
              <a:t>get_status</a:t>
            </a:r>
            <a:r>
              <a:rPr lang="en-US" altLang="zh-CN" sz="1600">
                <a:latin typeface="Consolas"/>
                <a:cs typeface="Consolas"/>
              </a:rPr>
              <a:t>(h);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set_size_status</a:t>
            </a:r>
            <a:r>
              <a:rPr lang="en-US" altLang="zh-CN" sz="1600">
                <a:latin typeface="Consolas"/>
                <a:cs typeface="Consolas"/>
              </a:rPr>
              <a:t>(h, </a:t>
            </a:r>
            <a:r>
              <a:rPr lang="en-US" altLang="zh-CN" sz="1600" err="1">
                <a:latin typeface="Consolas"/>
                <a:cs typeface="Consolas"/>
              </a:rPr>
              <a:t>sz</a:t>
            </a:r>
            <a:r>
              <a:rPr lang="en-US" altLang="zh-CN" sz="1600">
                <a:latin typeface="Consolas"/>
                <a:cs typeface="Consolas"/>
              </a:rPr>
              <a:t>, status);</a:t>
            </a: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61221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Explicit list: types, basic helpers</a:t>
            </a:r>
          </a:p>
        </p:txBody>
      </p:sp>
      <p:sp>
        <p:nvSpPr>
          <p:cNvPr id="4" name="矩形 20"/>
          <p:cNvSpPr/>
          <p:nvPr/>
        </p:nvSpPr>
        <p:spPr>
          <a:xfrm>
            <a:off x="180177" y="1485860"/>
            <a:ext cx="3812983" cy="304698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</a:rPr>
              <a:t>typedef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struct</a:t>
            </a:r>
            <a:r>
              <a:rPr lang="en-US" altLang="zh-CN" sz="1600">
                <a:latin typeface="Consolas"/>
                <a:cs typeface="Consolas"/>
              </a:rPr>
              <a:t> {</a:t>
            </a:r>
          </a:p>
          <a:p>
            <a:r>
              <a:rPr lang="en-US" altLang="zh-CN" sz="1600">
                <a:latin typeface="Consolas"/>
                <a:cs typeface="Consolas"/>
              </a:rPr>
              <a:t>  unsigned long </a:t>
            </a:r>
            <a:r>
              <a:rPr lang="en-US" altLang="zh-CN" sz="1600" err="1">
                <a:latin typeface="Consolas"/>
                <a:cs typeface="Consolas"/>
              </a:rPr>
              <a:t>size_and_status</a:t>
            </a:r>
            <a:r>
              <a:rPr lang="en-US" altLang="zh-CN" sz="1600">
                <a:latin typeface="Consolas"/>
                <a:cs typeface="Consolas"/>
              </a:rPr>
              <a:t>;</a:t>
            </a:r>
          </a:p>
          <a:p>
            <a:r>
              <a:rPr lang="en-US" altLang="zh-CN" sz="1600">
                <a:latin typeface="Consolas"/>
                <a:cs typeface="Consolas"/>
              </a:rPr>
              <a:t>  unsigned long padding;</a:t>
            </a:r>
          </a:p>
          <a:p>
            <a:r>
              <a:rPr lang="en-US" altLang="zh-CN" sz="1600">
                <a:latin typeface="Consolas"/>
                <a:cs typeface="Consolas"/>
              </a:rPr>
              <a:t>} header;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 err="1">
                <a:latin typeface="Consolas"/>
                <a:cs typeface="Consolas"/>
              </a:rPr>
              <a:t>typedef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struct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{</a:t>
            </a:r>
          </a:p>
          <a:p>
            <a:r>
              <a:rPr lang="en-US" altLang="zh-CN" sz="1600">
                <a:latin typeface="Consolas"/>
                <a:cs typeface="Consolas"/>
              </a:rPr>
              <a:t>   header </a:t>
            </a:r>
            <a:r>
              <a:rPr lang="en-US" altLang="zh-CN" sz="1600" err="1">
                <a:latin typeface="Consolas"/>
                <a:cs typeface="Consolas"/>
              </a:rPr>
              <a:t>common_header</a:t>
            </a:r>
            <a:r>
              <a:rPr lang="en-US" altLang="zh-CN" sz="1600">
                <a:latin typeface="Consolas"/>
                <a:cs typeface="Consolas"/>
              </a:rPr>
              <a:t>;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struct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*next;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struct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</a:t>
            </a:r>
            <a:r>
              <a:rPr lang="en-US" altLang="zh-CN" sz="1600" err="1">
                <a:latin typeface="Consolas"/>
                <a:cs typeface="Consolas"/>
              </a:rPr>
              <a:t>prev</a:t>
            </a:r>
            <a:r>
              <a:rPr lang="en-US" altLang="zh-CN" sz="1600">
                <a:latin typeface="Consolas"/>
                <a:cs typeface="Consolas"/>
              </a:rPr>
              <a:t>; </a:t>
            </a:r>
          </a:p>
          <a:p>
            <a:r>
              <a:rPr lang="en-US" altLang="zh-CN" sz="1600">
                <a:latin typeface="Consolas"/>
                <a:cs typeface="Consolas"/>
              </a:rPr>
              <a:t>} 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;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02479" y="1367985"/>
            <a:ext cx="4673074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Consolas"/>
                <a:cs typeface="Consolas"/>
              </a:rPr>
              <a:t>bool </a:t>
            </a:r>
            <a:r>
              <a:rPr lang="en-US" altLang="zh-CN" sz="1600" err="1">
                <a:latin typeface="Consolas"/>
                <a:cs typeface="Consolas"/>
              </a:rPr>
              <a:t>get_status</a:t>
            </a:r>
            <a:r>
              <a:rPr lang="en-US" altLang="zh-CN" sz="1600">
                <a:latin typeface="Consolas"/>
                <a:cs typeface="Consolas"/>
              </a:rPr>
              <a:t>(header *h) {</a:t>
            </a:r>
          </a:p>
          <a:p>
            <a:r>
              <a:rPr lang="en-US" altLang="zh-CN" sz="1600">
                <a:latin typeface="Consolas"/>
                <a:cs typeface="Consolas"/>
              </a:rPr>
              <a:t>  …</a:t>
            </a: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 err="1">
                <a:latin typeface="Consolas"/>
                <a:cs typeface="Consolas"/>
              </a:rPr>
              <a:t>size_t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get_size</a:t>
            </a:r>
            <a:r>
              <a:rPr lang="en-US" altLang="zh-CN" sz="1600">
                <a:latin typeface="Consolas"/>
                <a:cs typeface="Consolas"/>
              </a:rPr>
              <a:t>(header *h) {</a:t>
            </a:r>
          </a:p>
          <a:p>
            <a:r>
              <a:rPr lang="en-US" altLang="zh-CN" sz="1600">
                <a:latin typeface="Consolas"/>
                <a:cs typeface="Consolas"/>
              </a:rPr>
              <a:t>  …</a:t>
            </a: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>
                <a:latin typeface="Consolas"/>
                <a:cs typeface="Consolas"/>
              </a:rPr>
              <a:t>void </a:t>
            </a:r>
            <a:r>
              <a:rPr lang="en-US" altLang="zh-CN" sz="1600" err="1">
                <a:latin typeface="Consolas"/>
                <a:cs typeface="Consolas"/>
              </a:rPr>
              <a:t>set_status</a:t>
            </a:r>
            <a:r>
              <a:rPr lang="en-US" altLang="zh-CN" sz="1600">
                <a:latin typeface="Consolas"/>
                <a:cs typeface="Consolas"/>
              </a:rPr>
              <a:t>(header *h, bool status){</a:t>
            </a:r>
          </a:p>
          <a:p>
            <a:r>
              <a:rPr lang="en-US" altLang="zh-CN" sz="1600">
                <a:latin typeface="Consolas"/>
                <a:cs typeface="Consolas"/>
              </a:rPr>
              <a:t>   …</a:t>
            </a: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>
                <a:latin typeface="Consolas"/>
                <a:cs typeface="Consolas"/>
              </a:rPr>
              <a:t>Void </a:t>
            </a:r>
            <a:r>
              <a:rPr lang="en-US" altLang="zh-CN" sz="1600" err="1">
                <a:latin typeface="Consolas"/>
                <a:cs typeface="Consolas"/>
              </a:rPr>
              <a:t>set_size</a:t>
            </a:r>
            <a:r>
              <a:rPr lang="en-US" altLang="zh-CN" sz="1600">
                <a:latin typeface="Consolas"/>
                <a:cs typeface="Consolas"/>
              </a:rPr>
              <a:t>(header *h, </a:t>
            </a:r>
            <a:r>
              <a:rPr lang="en-US" altLang="zh-CN" sz="1600" err="1">
                <a:latin typeface="Consolas"/>
                <a:cs typeface="Consolas"/>
              </a:rPr>
              <a:t>size_t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sz</a:t>
            </a:r>
            <a:r>
              <a:rPr lang="en-US" altLang="zh-CN" sz="1600">
                <a:latin typeface="Consolas"/>
                <a:cs typeface="Consolas"/>
              </a:rPr>
              <a:t>) {</a:t>
            </a:r>
          </a:p>
          <a:p>
            <a:r>
              <a:rPr lang="en-US" altLang="zh-CN" sz="1600">
                <a:latin typeface="Consolas"/>
                <a:cs typeface="Consolas"/>
              </a:rPr>
              <a:t>   …</a:t>
            </a: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5496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62242"/>
            <a:ext cx="8229600" cy="1143000"/>
          </a:xfrm>
        </p:spPr>
        <p:txBody>
          <a:bodyPr>
            <a:normAutofit/>
          </a:bodyPr>
          <a:lstStyle/>
          <a:p>
            <a:r>
              <a:rPr lang="en-US"/>
              <a:t>Explicit list: </a:t>
            </a:r>
            <a:r>
              <a:rPr lang="en-US" err="1"/>
              <a:t>globals</a:t>
            </a:r>
            <a:r>
              <a:rPr lang="en-US"/>
              <a:t>, initialization</a:t>
            </a:r>
          </a:p>
        </p:txBody>
      </p:sp>
      <p:sp>
        <p:nvSpPr>
          <p:cNvPr id="4" name="矩形 20"/>
          <p:cNvSpPr/>
          <p:nvPr/>
        </p:nvSpPr>
        <p:spPr>
          <a:xfrm>
            <a:off x="406400" y="919798"/>
            <a:ext cx="3230880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</a:t>
            </a:r>
            <a:r>
              <a:rPr lang="en-US" altLang="zh-CN" sz="1600" err="1">
                <a:latin typeface="Consolas"/>
                <a:cs typeface="Consolas"/>
              </a:rPr>
              <a:t>freelist</a:t>
            </a:r>
            <a:r>
              <a:rPr lang="en-US" altLang="zh-CN" sz="1600">
                <a:latin typeface="Consolas"/>
                <a:cs typeface="Consolas"/>
              </a:rPr>
              <a:t>;</a:t>
            </a:r>
          </a:p>
          <a:p>
            <a:endParaRPr lang="en-US" altLang="zh-CN" sz="1600">
              <a:latin typeface="Consolas"/>
              <a:cs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642677"/>
            <a:ext cx="60195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Consolas"/>
                <a:cs typeface="Consolas"/>
              </a:rPr>
              <a:t>#define MIN_OS_ALLOC_SZ 1024</a:t>
            </a:r>
          </a:p>
          <a:p>
            <a:r>
              <a:rPr lang="en-US" altLang="zh-CN" sz="1600">
                <a:latin typeface="Consolas"/>
                <a:cs typeface="Consolas"/>
              </a:rPr>
              <a:t>void </a:t>
            </a:r>
            <a:r>
              <a:rPr lang="en-US" altLang="zh-CN" sz="1600" err="1">
                <a:latin typeface="Consolas"/>
                <a:cs typeface="Consolas"/>
              </a:rPr>
              <a:t>init</a:t>
            </a:r>
            <a:r>
              <a:rPr lang="en-US" altLang="zh-CN" sz="1600">
                <a:latin typeface="Consolas"/>
                <a:cs typeface="Consolas"/>
              </a:rPr>
              <a:t>() {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*h = </a:t>
            </a:r>
            <a:r>
              <a:rPr lang="en-US" altLang="zh-CN" sz="1600" err="1">
                <a:latin typeface="Consolas"/>
                <a:cs typeface="Consolas"/>
              </a:rPr>
              <a:t>get_block_from_OS</a:t>
            </a:r>
            <a:r>
              <a:rPr lang="en-US" altLang="zh-CN" sz="1600">
                <a:latin typeface="Consolas"/>
                <a:cs typeface="Consolas"/>
              </a:rPr>
              <a:t>(MIN_OS_ALLOC_SZ);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init_free_chunk</a:t>
            </a:r>
            <a:r>
              <a:rPr lang="en-US" altLang="zh-CN" sz="1600">
                <a:latin typeface="Consolas"/>
                <a:cs typeface="Consolas"/>
              </a:rPr>
              <a:t>(h, MIN_OS_ALLOC_SZ);</a:t>
            </a:r>
          </a:p>
          <a:p>
            <a:r>
              <a:rPr lang="en-US" altLang="zh-CN" sz="1600">
                <a:latin typeface="Consolas"/>
                <a:cs typeface="Consolas"/>
              </a:rPr>
              <a:t>   insert(&amp;</a:t>
            </a:r>
            <a:r>
              <a:rPr lang="en-US" altLang="zh-CN" sz="1600" err="1">
                <a:latin typeface="Consolas"/>
                <a:cs typeface="Consolas"/>
              </a:rPr>
              <a:t>freelist</a:t>
            </a:r>
            <a:r>
              <a:rPr lang="en-US" altLang="zh-CN" sz="1600">
                <a:latin typeface="Consolas"/>
                <a:cs typeface="Consolas"/>
              </a:rPr>
              <a:t>, h);</a:t>
            </a: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66110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62242"/>
            <a:ext cx="8229600" cy="1143000"/>
          </a:xfrm>
        </p:spPr>
        <p:txBody>
          <a:bodyPr>
            <a:normAutofit/>
          </a:bodyPr>
          <a:lstStyle/>
          <a:p>
            <a:r>
              <a:rPr lang="en-US"/>
              <a:t>Explicit list: </a:t>
            </a:r>
            <a:r>
              <a:rPr lang="en-US" err="1"/>
              <a:t>globals</a:t>
            </a:r>
            <a:r>
              <a:rPr lang="en-US"/>
              <a:t>, initialization</a:t>
            </a:r>
          </a:p>
        </p:txBody>
      </p:sp>
      <p:sp>
        <p:nvSpPr>
          <p:cNvPr id="4" name="矩形 20"/>
          <p:cNvSpPr/>
          <p:nvPr/>
        </p:nvSpPr>
        <p:spPr>
          <a:xfrm>
            <a:off x="406400" y="919798"/>
            <a:ext cx="3230880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</a:t>
            </a:r>
            <a:r>
              <a:rPr lang="en-US" altLang="zh-CN" sz="1600" err="1">
                <a:latin typeface="Consolas"/>
                <a:cs typeface="Consolas"/>
              </a:rPr>
              <a:t>freelist</a:t>
            </a:r>
            <a:r>
              <a:rPr lang="en-US" altLang="zh-CN" sz="1600">
                <a:latin typeface="Consolas"/>
                <a:cs typeface="Consolas"/>
              </a:rPr>
              <a:t>;</a:t>
            </a:r>
          </a:p>
          <a:p>
            <a:endParaRPr lang="en-US" altLang="zh-CN" sz="1600">
              <a:latin typeface="Consolas"/>
              <a:cs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59267"/>
            <a:ext cx="6019597" cy="5755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Consolas"/>
                <a:cs typeface="Consolas"/>
              </a:rPr>
              <a:t>header* </a:t>
            </a:r>
          </a:p>
          <a:p>
            <a:r>
              <a:rPr lang="en-US" altLang="zh-CN" sz="1600" err="1">
                <a:latin typeface="Consolas"/>
                <a:cs typeface="Consolas"/>
              </a:rPr>
              <a:t>get_footer_from_header</a:t>
            </a:r>
            <a:r>
              <a:rPr lang="en-US" altLang="zh-CN" sz="1600">
                <a:latin typeface="Consolas"/>
                <a:cs typeface="Consolas"/>
              </a:rPr>
              <a:t>(header *h) {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 err="1">
                <a:latin typeface="Consolas"/>
                <a:cs typeface="Consolas"/>
              </a:rPr>
              <a:t>init_free_chunk</a:t>
            </a:r>
            <a:r>
              <a:rPr lang="en-US" altLang="zh-CN" sz="1600">
                <a:latin typeface="Consolas"/>
                <a:cs typeface="Consolas"/>
              </a:rPr>
              <a:t>(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*h, </a:t>
            </a:r>
            <a:r>
              <a:rPr lang="en-US" altLang="zh-CN" sz="1600" err="1">
                <a:latin typeface="Consolas"/>
                <a:cs typeface="Consolas"/>
              </a:rPr>
              <a:t>size_t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sz</a:t>
            </a:r>
            <a:r>
              <a:rPr lang="en-US" altLang="zh-CN" sz="1600">
                <a:latin typeface="Consolas"/>
                <a:cs typeface="Consolas"/>
              </a:rPr>
              <a:t>) {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</a:t>
            </a:r>
          </a:p>
          <a:p>
            <a:r>
              <a:rPr lang="en-US" altLang="zh-CN" sz="1600" err="1">
                <a:latin typeface="Consolas"/>
                <a:cs typeface="Consolas"/>
              </a:rPr>
              <a:t>get_block_from_OS</a:t>
            </a:r>
            <a:r>
              <a:rPr lang="en-US" altLang="zh-CN" sz="1600">
                <a:latin typeface="Consolas"/>
                <a:cs typeface="Consolas"/>
              </a:rPr>
              <a:t>(</a:t>
            </a:r>
            <a:r>
              <a:rPr lang="en-US" altLang="zh-CN" sz="1600" err="1">
                <a:latin typeface="Consolas"/>
                <a:cs typeface="Consolas"/>
              </a:rPr>
              <a:t>size_t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sz</a:t>
            </a:r>
            <a:r>
              <a:rPr lang="en-US" altLang="zh-CN" sz="1600">
                <a:latin typeface="Consolas"/>
                <a:cs typeface="Consolas"/>
              </a:rPr>
              <a:t>) {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*h = </a:t>
            </a:r>
            <a:r>
              <a:rPr lang="en-US" altLang="zh-CN" sz="1600" err="1">
                <a:latin typeface="Consolas"/>
                <a:cs typeface="Consolas"/>
              </a:rPr>
              <a:t>sbrk</a:t>
            </a:r>
            <a:r>
              <a:rPr lang="en-US" altLang="zh-CN" sz="1600">
                <a:latin typeface="Consolas"/>
                <a:cs typeface="Consolas"/>
              </a:rPr>
              <a:t>(</a:t>
            </a:r>
            <a:r>
              <a:rPr lang="en-US" altLang="zh-CN" sz="1600" err="1">
                <a:latin typeface="Consolas"/>
                <a:cs typeface="Consolas"/>
              </a:rPr>
              <a:t>sz</a:t>
            </a:r>
            <a:r>
              <a:rPr lang="en-US" altLang="zh-CN" sz="1600">
                <a:latin typeface="Consolas"/>
                <a:cs typeface="Consolas"/>
              </a:rPr>
              <a:t>);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init_free_chunk</a:t>
            </a:r>
            <a:r>
              <a:rPr lang="en-US" altLang="zh-CN" sz="1600">
                <a:latin typeface="Consolas"/>
                <a:cs typeface="Consolas"/>
              </a:rPr>
              <a:t>(h, </a:t>
            </a:r>
            <a:r>
              <a:rPr lang="en-US" altLang="zh-CN" sz="1600" err="1">
                <a:latin typeface="Consolas"/>
                <a:cs typeface="Consolas"/>
              </a:rPr>
              <a:t>sz</a:t>
            </a:r>
            <a:r>
              <a:rPr lang="en-US" altLang="zh-CN" sz="1600">
                <a:latin typeface="Consolas"/>
                <a:cs typeface="Consolas"/>
              </a:rPr>
              <a:t>); //</a:t>
            </a:r>
            <a:r>
              <a:rPr lang="en-US" altLang="zh-CN" sz="1600" err="1">
                <a:latin typeface="Consolas"/>
                <a:cs typeface="Consolas"/>
              </a:rPr>
              <a:t>init</a:t>
            </a:r>
            <a:r>
              <a:rPr lang="en-US" altLang="zh-CN" sz="1600">
                <a:latin typeface="Consolas"/>
                <a:cs typeface="Consolas"/>
              </a:rPr>
              <a:t> header and footer</a:t>
            </a:r>
          </a:p>
          <a:p>
            <a:r>
              <a:rPr lang="en-US" altLang="zh-CN" sz="1600">
                <a:latin typeface="Consolas"/>
                <a:cs typeface="Consolas"/>
              </a:rPr>
              <a:t>   return h;</a:t>
            </a: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  <a:p>
            <a:r>
              <a:rPr lang="en-US" altLang="zh-CN" sz="1600">
                <a:latin typeface="Consolas"/>
                <a:cs typeface="Consolas"/>
              </a:rPr>
              <a:t>#define MIN_OS_ALLOC_SZ 1024</a:t>
            </a:r>
          </a:p>
          <a:p>
            <a:r>
              <a:rPr lang="en-US" altLang="zh-CN" sz="1600">
                <a:latin typeface="Consolas"/>
                <a:cs typeface="Consolas"/>
              </a:rPr>
              <a:t>void </a:t>
            </a:r>
            <a:r>
              <a:rPr lang="en-US" altLang="zh-CN" sz="1600" err="1">
                <a:latin typeface="Consolas"/>
                <a:cs typeface="Consolas"/>
              </a:rPr>
              <a:t>init</a:t>
            </a:r>
            <a:r>
              <a:rPr lang="en-US" altLang="zh-CN" sz="1600">
                <a:latin typeface="Consolas"/>
                <a:cs typeface="Consolas"/>
              </a:rPr>
              <a:t>() {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*h = </a:t>
            </a:r>
            <a:r>
              <a:rPr lang="en-US" altLang="zh-CN" sz="1600" err="1">
                <a:latin typeface="Consolas"/>
                <a:cs typeface="Consolas"/>
              </a:rPr>
              <a:t>get_block_from_OS</a:t>
            </a:r>
            <a:r>
              <a:rPr lang="en-US" altLang="zh-CN" sz="1600">
                <a:latin typeface="Consolas"/>
                <a:cs typeface="Consolas"/>
              </a:rPr>
              <a:t>(MIN_OS_ALLOC_SZ);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init_free_chunk</a:t>
            </a:r>
            <a:r>
              <a:rPr lang="en-US" altLang="zh-CN" sz="1600">
                <a:latin typeface="Consolas"/>
                <a:cs typeface="Consolas"/>
              </a:rPr>
              <a:t>(h, MIN_OS_ALLOC_SZ);</a:t>
            </a:r>
          </a:p>
          <a:p>
            <a:r>
              <a:rPr lang="en-US" altLang="zh-CN" sz="1600">
                <a:latin typeface="Consolas"/>
                <a:cs typeface="Consolas"/>
              </a:rPr>
              <a:t>   insert(&amp;</a:t>
            </a:r>
            <a:r>
              <a:rPr lang="en-US" altLang="zh-CN" sz="1600" err="1">
                <a:latin typeface="Consolas"/>
                <a:cs typeface="Consolas"/>
              </a:rPr>
              <a:t>freelist</a:t>
            </a:r>
            <a:r>
              <a:rPr lang="en-US" altLang="zh-CN" sz="1600">
                <a:latin typeface="Consolas"/>
                <a:cs typeface="Consolas"/>
              </a:rPr>
              <a:t>, h);</a:t>
            </a: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1360" y="1877427"/>
            <a:ext cx="70661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Consolas"/>
                <a:cs typeface="Consolas"/>
              </a:rPr>
              <a:t> return (header *)((char *)h + </a:t>
            </a:r>
            <a:r>
              <a:rPr lang="en-US" altLang="zh-CN" sz="1600" err="1">
                <a:latin typeface="Consolas"/>
                <a:cs typeface="Consolas"/>
              </a:rPr>
              <a:t>get_size</a:t>
            </a:r>
            <a:r>
              <a:rPr lang="en-US" altLang="zh-CN" sz="1600">
                <a:latin typeface="Consolas"/>
                <a:cs typeface="Consolas"/>
              </a:rPr>
              <a:t>(h) – </a:t>
            </a:r>
            <a:r>
              <a:rPr lang="en-US" altLang="zh-CN" sz="1600" err="1">
                <a:latin typeface="Consolas"/>
                <a:cs typeface="Consolas"/>
              </a:rPr>
              <a:t>sizeof</a:t>
            </a:r>
            <a:r>
              <a:rPr lang="en-US" altLang="zh-CN" sz="1600">
                <a:latin typeface="Consolas"/>
                <a:cs typeface="Consolas"/>
              </a:rPr>
              <a:t>(header));</a:t>
            </a:r>
            <a:endParaRPr lang="en-US" sz="1600"/>
          </a:p>
        </p:txBody>
      </p:sp>
      <p:sp>
        <p:nvSpPr>
          <p:cNvPr id="7" name="TextBox 6"/>
          <p:cNvSpPr txBox="1"/>
          <p:nvPr/>
        </p:nvSpPr>
        <p:spPr>
          <a:xfrm>
            <a:off x="782320" y="2883267"/>
            <a:ext cx="79686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</a:rPr>
              <a:t>set_size_status</a:t>
            </a:r>
            <a:r>
              <a:rPr lang="en-US" altLang="zh-CN" sz="1600">
                <a:latin typeface="Consolas"/>
                <a:cs typeface="Consolas"/>
              </a:rPr>
              <a:t>(&amp;h-&gt;</a:t>
            </a:r>
            <a:r>
              <a:rPr lang="en-US" altLang="zh-CN" sz="1600" err="1">
                <a:latin typeface="Consolas"/>
                <a:cs typeface="Consolas"/>
              </a:rPr>
              <a:t>common_header</a:t>
            </a:r>
            <a:r>
              <a:rPr lang="en-US" altLang="zh-CN" sz="1600">
                <a:latin typeface="Consolas"/>
                <a:cs typeface="Consolas"/>
              </a:rPr>
              <a:t>, </a:t>
            </a:r>
            <a:r>
              <a:rPr lang="en-US" altLang="zh-CN" sz="1600" err="1">
                <a:latin typeface="Consolas"/>
                <a:cs typeface="Consolas"/>
              </a:rPr>
              <a:t>sz</a:t>
            </a:r>
            <a:r>
              <a:rPr lang="en-US" altLang="zh-CN" sz="1600">
                <a:latin typeface="Consolas"/>
                <a:cs typeface="Consolas"/>
              </a:rPr>
              <a:t>, false);</a:t>
            </a:r>
          </a:p>
          <a:p>
            <a:r>
              <a:rPr lang="en-US" altLang="zh-CN" sz="1600">
                <a:latin typeface="Consolas"/>
                <a:cs typeface="Consolas"/>
              </a:rPr>
              <a:t>h-&gt;</a:t>
            </a:r>
            <a:r>
              <a:rPr lang="en-US" altLang="zh-CN" sz="1600" err="1">
                <a:latin typeface="Consolas"/>
                <a:cs typeface="Consolas"/>
              </a:rPr>
              <a:t>prev</a:t>
            </a:r>
            <a:r>
              <a:rPr lang="en-US" altLang="zh-CN" sz="1600">
                <a:latin typeface="Consolas"/>
                <a:cs typeface="Consolas"/>
              </a:rPr>
              <a:t> = h-&gt;next = NULL;</a:t>
            </a:r>
          </a:p>
          <a:p>
            <a:r>
              <a:rPr lang="en-US" altLang="zh-CN" sz="1600" err="1">
                <a:latin typeface="Consolas"/>
                <a:cs typeface="Consolas"/>
              </a:rPr>
              <a:t>set_size_status</a:t>
            </a:r>
            <a:r>
              <a:rPr lang="en-US" altLang="zh-CN" sz="1600">
                <a:latin typeface="Consolas"/>
                <a:cs typeface="Consolas"/>
              </a:rPr>
              <a:t>(</a:t>
            </a:r>
            <a:r>
              <a:rPr lang="en-US" altLang="zh-CN" sz="1600" err="1">
                <a:latin typeface="Consolas"/>
                <a:cs typeface="Consolas"/>
              </a:rPr>
              <a:t>get_footer_from_header</a:t>
            </a:r>
            <a:r>
              <a:rPr lang="en-US" altLang="zh-CN" sz="1600">
                <a:latin typeface="Consolas"/>
                <a:cs typeface="Consolas"/>
              </a:rPr>
              <a:t>(h-&gt;</a:t>
            </a:r>
            <a:r>
              <a:rPr lang="en-US" altLang="zh-CN" sz="1600" err="1">
                <a:latin typeface="Consolas"/>
                <a:cs typeface="Consolas"/>
              </a:rPr>
              <a:t>common_header</a:t>
            </a:r>
            <a:r>
              <a:rPr lang="en-US" altLang="zh-CN" sz="1600">
                <a:latin typeface="Consolas"/>
                <a:cs typeface="Consolas"/>
              </a:rPr>
              <a:t>), </a:t>
            </a:r>
            <a:r>
              <a:rPr lang="en-US" altLang="zh-CN" sz="1600" err="1">
                <a:latin typeface="Consolas"/>
                <a:cs typeface="Consolas"/>
              </a:rPr>
              <a:t>sz</a:t>
            </a:r>
            <a:r>
              <a:rPr lang="en-US" altLang="zh-CN" sz="1600">
                <a:latin typeface="Consolas"/>
                <a:cs typeface="Consolas"/>
              </a:rPr>
              <a:t>, false);</a:t>
            </a:r>
          </a:p>
        </p:txBody>
      </p:sp>
    </p:spTree>
    <p:extLst>
      <p:ext uri="{BB962C8B-B14F-4D97-AF65-F5344CB8AC3E}">
        <p14:creationId xmlns:p14="http://schemas.microsoft.com/office/powerpoint/2010/main" val="1614782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Explicit list: helpers to insert and detach from </a:t>
            </a:r>
            <a:r>
              <a:rPr lang="en-US" err="1"/>
              <a:t>freelist</a:t>
            </a:r>
            <a:endParaRPr lang="en-US"/>
          </a:p>
        </p:txBody>
      </p:sp>
      <p:sp>
        <p:nvSpPr>
          <p:cNvPr id="4" name="矩形 20"/>
          <p:cNvSpPr/>
          <p:nvPr/>
        </p:nvSpPr>
        <p:spPr>
          <a:xfrm>
            <a:off x="365760" y="1570038"/>
            <a:ext cx="8971280" cy="5016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>
                <a:latin typeface="Consolas"/>
                <a:cs typeface="Consolas"/>
              </a:rPr>
              <a:t>void insert(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**head, 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*node) {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>
                <a:latin typeface="Consolas"/>
                <a:cs typeface="Consolas"/>
              </a:rPr>
              <a:t>void delete(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**head, 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*node) {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760" y="1930400"/>
            <a:ext cx="492274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/>
                <a:cs typeface="Consolas"/>
              </a:rPr>
              <a:t>if (*head)</a:t>
            </a:r>
          </a:p>
          <a:p>
            <a:r>
              <a:rPr lang="en-US" sz="1600">
                <a:latin typeface="Consolas"/>
                <a:cs typeface="Consolas"/>
              </a:rPr>
              <a:t>      (*head)-&gt;</a:t>
            </a:r>
            <a:r>
              <a:rPr lang="en-US" sz="1600" err="1">
                <a:latin typeface="Consolas"/>
                <a:cs typeface="Consolas"/>
              </a:rPr>
              <a:t>prev</a:t>
            </a:r>
            <a:r>
              <a:rPr lang="en-US" sz="1600">
                <a:latin typeface="Consolas"/>
                <a:cs typeface="Consolas"/>
              </a:rPr>
              <a:t> = node;</a:t>
            </a:r>
          </a:p>
          <a:p>
            <a:r>
              <a:rPr lang="en-US" sz="1600">
                <a:latin typeface="Consolas"/>
                <a:cs typeface="Consolas"/>
              </a:rPr>
              <a:t>node-&gt;next = *head;</a:t>
            </a:r>
          </a:p>
          <a:p>
            <a:r>
              <a:rPr lang="en-US" sz="1600">
                <a:latin typeface="Consolas"/>
                <a:cs typeface="Consolas"/>
              </a:rPr>
              <a:t>*head = node;  </a:t>
            </a:r>
            <a:r>
              <a:rPr lang="en-US" sz="1600">
                <a:solidFill>
                  <a:srgbClr val="0000FF"/>
                </a:solidFill>
                <a:latin typeface="Consolas"/>
                <a:cs typeface="Consolas"/>
              </a:rPr>
              <a:t>//node becomes the new 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80" y="3833207"/>
            <a:ext cx="684053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Consolas"/>
                <a:cs typeface="Consolas"/>
              </a:rPr>
              <a:t>if (node-&gt;</a:t>
            </a:r>
            <a:r>
              <a:rPr lang="en-US" altLang="zh-CN" sz="1600" err="1">
                <a:latin typeface="Consolas"/>
                <a:cs typeface="Consolas"/>
              </a:rPr>
              <a:t>prev</a:t>
            </a:r>
            <a:r>
              <a:rPr lang="en-US" altLang="zh-CN" sz="1600">
                <a:latin typeface="Consolas"/>
                <a:cs typeface="Consolas"/>
              </a:rPr>
              <a:t>) { </a:t>
            </a:r>
            <a:r>
              <a:rPr lang="en-US" altLang="zh-CN" sz="1600">
                <a:solidFill>
                  <a:srgbClr val="0000FF"/>
                </a:solidFill>
                <a:latin typeface="Consolas"/>
                <a:cs typeface="Consolas"/>
              </a:rPr>
              <a:t>//node is not the first node in the list</a:t>
            </a:r>
          </a:p>
          <a:p>
            <a:r>
              <a:rPr lang="en-US" altLang="zh-CN" sz="1600">
                <a:latin typeface="Consolas"/>
                <a:cs typeface="Consolas"/>
              </a:rPr>
              <a:t>    node-&gt;</a:t>
            </a:r>
            <a:r>
              <a:rPr lang="en-US" altLang="zh-CN" sz="1600" err="1">
                <a:latin typeface="Consolas"/>
                <a:cs typeface="Consolas"/>
              </a:rPr>
              <a:t>prev</a:t>
            </a:r>
            <a:r>
              <a:rPr lang="en-US" altLang="zh-CN" sz="1600">
                <a:latin typeface="Consolas"/>
                <a:cs typeface="Consolas"/>
              </a:rPr>
              <a:t>-&gt;next = node-&gt;next;</a:t>
            </a:r>
          </a:p>
          <a:p>
            <a:r>
              <a:rPr lang="en-US" altLang="zh-CN" sz="1600">
                <a:latin typeface="Consolas"/>
                <a:cs typeface="Consolas"/>
              </a:rPr>
              <a:t>    if (node-&gt;next) </a:t>
            </a:r>
          </a:p>
          <a:p>
            <a:r>
              <a:rPr lang="en-US" altLang="zh-CN" sz="1600">
                <a:latin typeface="Consolas"/>
                <a:cs typeface="Consolas"/>
              </a:rPr>
              <a:t>        node-&gt;next-&gt;</a:t>
            </a:r>
            <a:r>
              <a:rPr lang="en-US" altLang="zh-CN" sz="1600" err="1">
                <a:latin typeface="Consolas"/>
                <a:cs typeface="Consolas"/>
              </a:rPr>
              <a:t>prev</a:t>
            </a:r>
            <a:r>
              <a:rPr lang="en-US" altLang="zh-CN" sz="1600">
                <a:latin typeface="Consolas"/>
                <a:cs typeface="Consolas"/>
              </a:rPr>
              <a:t> = node-&gt;</a:t>
            </a:r>
            <a:r>
              <a:rPr lang="en-US" altLang="zh-CN" sz="1600" err="1">
                <a:latin typeface="Consolas"/>
                <a:cs typeface="Consolas"/>
              </a:rPr>
              <a:t>prev</a:t>
            </a:r>
            <a:r>
              <a:rPr lang="en-US" altLang="zh-CN" sz="1600">
                <a:latin typeface="Consolas"/>
                <a:cs typeface="Consolas"/>
              </a:rPr>
              <a:t>;</a:t>
            </a:r>
          </a:p>
          <a:p>
            <a:r>
              <a:rPr lang="en-US" altLang="zh-CN" sz="1600">
                <a:latin typeface="Consolas"/>
                <a:cs typeface="Consolas"/>
              </a:rPr>
              <a:t>} else { </a:t>
            </a:r>
            <a:r>
              <a:rPr lang="en-US" altLang="zh-CN" sz="1600">
                <a:solidFill>
                  <a:srgbClr val="0000FF"/>
                </a:solidFill>
                <a:latin typeface="Consolas"/>
                <a:cs typeface="Consolas"/>
              </a:rPr>
              <a:t>//delete the first node in the list</a:t>
            </a:r>
          </a:p>
          <a:p>
            <a:r>
              <a:rPr lang="en-US" altLang="zh-CN" sz="1600">
                <a:latin typeface="Consolas"/>
                <a:cs typeface="Consolas"/>
              </a:rPr>
              <a:t>    *head = node-&gt;next;</a:t>
            </a:r>
          </a:p>
          <a:p>
            <a:r>
              <a:rPr lang="en-US" altLang="zh-CN" sz="1600">
                <a:latin typeface="Consolas"/>
                <a:cs typeface="Consolas"/>
              </a:rPr>
              <a:t>    if (node-&gt;next) </a:t>
            </a:r>
          </a:p>
          <a:p>
            <a:r>
              <a:rPr lang="en-US" altLang="zh-CN" sz="1600">
                <a:latin typeface="Consolas"/>
                <a:cs typeface="Consolas"/>
              </a:rPr>
              <a:t>        node-&gt;next-&gt;</a:t>
            </a:r>
            <a:r>
              <a:rPr lang="en-US" altLang="zh-CN" sz="1600" err="1">
                <a:latin typeface="Consolas"/>
                <a:cs typeface="Consolas"/>
              </a:rPr>
              <a:t>prev</a:t>
            </a:r>
            <a:r>
              <a:rPr lang="en-US" altLang="zh-CN" sz="1600">
                <a:latin typeface="Consolas"/>
                <a:cs typeface="Consolas"/>
              </a:rPr>
              <a:t> = NULL;     </a:t>
            </a: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6737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456"/>
            <a:ext cx="8229600" cy="1143000"/>
          </a:xfrm>
        </p:spPr>
        <p:txBody>
          <a:bodyPr/>
          <a:lstStyle/>
          <a:p>
            <a:r>
              <a:rPr lang="en-US"/>
              <a:t>Explicit list: allocate</a:t>
            </a:r>
          </a:p>
        </p:txBody>
      </p:sp>
      <p:sp>
        <p:nvSpPr>
          <p:cNvPr id="4" name="矩形 20"/>
          <p:cNvSpPr/>
          <p:nvPr/>
        </p:nvSpPr>
        <p:spPr>
          <a:xfrm>
            <a:off x="457200" y="760331"/>
            <a:ext cx="897128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400">
                <a:latin typeface="Consolas"/>
                <a:cs typeface="Consolas"/>
              </a:rPr>
              <a:t>void *</a:t>
            </a:r>
          </a:p>
          <a:p>
            <a:r>
              <a:rPr lang="en-US" altLang="zh-CN" sz="1400">
                <a:latin typeface="Consolas"/>
                <a:cs typeface="Consolas"/>
              </a:rPr>
              <a:t>malloc(</a:t>
            </a:r>
            <a:r>
              <a:rPr lang="en-US" altLang="zh-CN" sz="1400" err="1">
                <a:latin typeface="Consolas"/>
                <a:cs typeface="Consolas"/>
              </a:rPr>
              <a:t>size_t</a:t>
            </a:r>
            <a:r>
              <a:rPr lang="en-US" altLang="zh-CN" sz="1400">
                <a:latin typeface="Consolas"/>
                <a:cs typeface="Consolas"/>
              </a:rPr>
              <a:t> s) {</a:t>
            </a:r>
          </a:p>
          <a:p>
            <a:r>
              <a:rPr lang="en-US" altLang="zh-CN" sz="1400">
                <a:latin typeface="Consolas"/>
                <a:cs typeface="Consolas"/>
              </a:rPr>
              <a:t>   </a:t>
            </a:r>
            <a:r>
              <a:rPr lang="en-US" altLang="zh-CN" sz="1400" err="1">
                <a:latin typeface="Consolas"/>
                <a:cs typeface="Consolas"/>
              </a:rPr>
              <a:t>size_t</a:t>
            </a:r>
            <a:r>
              <a:rPr lang="en-US" altLang="zh-CN" sz="1400">
                <a:latin typeface="Consolas"/>
                <a:cs typeface="Consolas"/>
              </a:rPr>
              <a:t> </a:t>
            </a:r>
            <a:r>
              <a:rPr lang="en-US" altLang="zh-CN" sz="1400" err="1">
                <a:latin typeface="Consolas"/>
                <a:cs typeface="Consolas"/>
              </a:rPr>
              <a:t>csz</a:t>
            </a:r>
            <a:r>
              <a:rPr lang="en-US" altLang="zh-CN" sz="1400">
                <a:latin typeface="Consolas"/>
                <a:cs typeface="Consolas"/>
              </a:rPr>
              <a:t> = s + 2*</a:t>
            </a:r>
            <a:r>
              <a:rPr lang="en-US" altLang="zh-CN" sz="1400" err="1">
                <a:latin typeface="Consolas"/>
                <a:cs typeface="Consolas"/>
              </a:rPr>
              <a:t>sizeof</a:t>
            </a:r>
            <a:r>
              <a:rPr lang="en-US" altLang="zh-CN" sz="1400">
                <a:latin typeface="Consolas"/>
                <a:cs typeface="Consolas"/>
              </a:rPr>
              <a:t>(header); //min chunk size required</a:t>
            </a:r>
          </a:p>
          <a:p>
            <a:r>
              <a:rPr lang="en-US" altLang="zh-CN" sz="1400">
                <a:latin typeface="Consolas"/>
                <a:cs typeface="Consolas"/>
              </a:rPr>
              <a:t>   </a:t>
            </a:r>
            <a:r>
              <a:rPr lang="en-US" altLang="zh-CN" sz="1400" err="1">
                <a:latin typeface="Consolas"/>
                <a:cs typeface="Consolas"/>
              </a:rPr>
              <a:t>free_hdr</a:t>
            </a:r>
            <a:r>
              <a:rPr lang="en-US" altLang="zh-CN" sz="1400">
                <a:latin typeface="Consolas"/>
                <a:cs typeface="Consolas"/>
              </a:rPr>
              <a:t> *n = </a:t>
            </a:r>
            <a:r>
              <a:rPr lang="en-US" altLang="zh-CN" sz="1400" err="1">
                <a:latin typeface="Consolas"/>
                <a:cs typeface="Consolas"/>
              </a:rPr>
              <a:t>first_fit</a:t>
            </a:r>
            <a:r>
              <a:rPr lang="en-US" altLang="zh-CN" sz="1400">
                <a:latin typeface="Consolas"/>
                <a:cs typeface="Consolas"/>
              </a:rPr>
              <a:t>(</a:t>
            </a:r>
            <a:r>
              <a:rPr lang="en-US" altLang="zh-CN" sz="1400" err="1">
                <a:latin typeface="Consolas"/>
                <a:cs typeface="Consolas"/>
              </a:rPr>
              <a:t>csz</a:t>
            </a:r>
            <a:r>
              <a:rPr lang="en-US" altLang="zh-CN" sz="1400">
                <a:latin typeface="Consolas"/>
                <a:cs typeface="Consolas"/>
              </a:rPr>
              <a:t>);</a:t>
            </a:r>
          </a:p>
          <a:p>
            <a:r>
              <a:rPr lang="en-US" altLang="zh-CN" sz="1400">
                <a:latin typeface="Consolas"/>
                <a:cs typeface="Consolas"/>
              </a:rPr>
              <a:t>   //if n is NULL, then ask OS to increase heap size</a:t>
            </a:r>
          </a:p>
          <a:p>
            <a:r>
              <a:rPr lang="en-US" altLang="zh-CN" sz="1400">
                <a:latin typeface="Consolas"/>
                <a:cs typeface="Consolas"/>
              </a:rPr>
              <a:t>   </a:t>
            </a:r>
            <a:r>
              <a:rPr lang="en-US" altLang="zh-CN" sz="1400" err="1">
                <a:latin typeface="Consolas"/>
                <a:cs typeface="Consolas"/>
              </a:rPr>
              <a:t>free_hdr</a:t>
            </a:r>
            <a:r>
              <a:rPr lang="en-US" altLang="zh-CN" sz="1400">
                <a:latin typeface="Consolas"/>
                <a:cs typeface="Consolas"/>
              </a:rPr>
              <a:t> *</a:t>
            </a:r>
            <a:r>
              <a:rPr lang="en-US" altLang="zh-CN" sz="1400" err="1">
                <a:latin typeface="Consolas"/>
                <a:cs typeface="Consolas"/>
              </a:rPr>
              <a:t>newchunk</a:t>
            </a:r>
            <a:r>
              <a:rPr lang="en-US" altLang="zh-CN" sz="1400">
                <a:latin typeface="Consolas"/>
                <a:cs typeface="Consolas"/>
              </a:rPr>
              <a:t> = split(n, </a:t>
            </a:r>
            <a:r>
              <a:rPr lang="en-US" altLang="zh-CN" sz="1400" err="1">
                <a:latin typeface="Consolas"/>
                <a:cs typeface="Consolas"/>
              </a:rPr>
              <a:t>csz</a:t>
            </a:r>
            <a:r>
              <a:rPr lang="en-US" altLang="zh-CN" sz="1400">
                <a:latin typeface="Consolas"/>
                <a:cs typeface="Consolas"/>
              </a:rPr>
              <a:t>);</a:t>
            </a:r>
          </a:p>
          <a:p>
            <a:r>
              <a:rPr lang="en-US" altLang="zh-CN" sz="1400">
                <a:latin typeface="Consolas"/>
                <a:cs typeface="Consolas"/>
              </a:rPr>
              <a:t>   if (</a:t>
            </a:r>
            <a:r>
              <a:rPr lang="en-US" altLang="zh-CN" sz="1400" err="1">
                <a:latin typeface="Consolas"/>
                <a:cs typeface="Consolas"/>
              </a:rPr>
              <a:t>newchunk</a:t>
            </a:r>
            <a:r>
              <a:rPr lang="en-US" altLang="zh-CN" sz="1400">
                <a:latin typeface="Consolas"/>
                <a:cs typeface="Consolas"/>
              </a:rPr>
              <a:t>)</a:t>
            </a:r>
          </a:p>
          <a:p>
            <a:r>
              <a:rPr lang="en-US" altLang="zh-CN" sz="1400">
                <a:latin typeface="Consolas"/>
                <a:cs typeface="Consolas"/>
              </a:rPr>
              <a:t>      insert(&amp;</a:t>
            </a:r>
            <a:r>
              <a:rPr lang="en-US" altLang="zh-CN" sz="1400" err="1">
                <a:latin typeface="Consolas"/>
                <a:cs typeface="Consolas"/>
              </a:rPr>
              <a:t>freelist</a:t>
            </a:r>
            <a:r>
              <a:rPr lang="en-US" altLang="zh-CN" sz="1400">
                <a:latin typeface="Consolas"/>
                <a:cs typeface="Consolas"/>
              </a:rPr>
              <a:t>, </a:t>
            </a:r>
            <a:r>
              <a:rPr lang="en-US" altLang="zh-CN" sz="1400" err="1">
                <a:latin typeface="Consolas"/>
                <a:cs typeface="Consolas"/>
              </a:rPr>
              <a:t>newchunk</a:t>
            </a:r>
            <a:r>
              <a:rPr lang="en-US" altLang="zh-CN" sz="1400">
                <a:latin typeface="Consolas"/>
                <a:cs typeface="Consolas"/>
              </a:rPr>
              <a:t>);</a:t>
            </a:r>
          </a:p>
          <a:p>
            <a:r>
              <a:rPr lang="en-US" altLang="zh-CN" sz="1400">
                <a:latin typeface="Consolas"/>
                <a:cs typeface="Consolas"/>
              </a:rPr>
              <a:t>   </a:t>
            </a:r>
            <a:r>
              <a:rPr lang="en-US" altLang="zh-CN" sz="1400" err="1">
                <a:latin typeface="Consolas"/>
                <a:cs typeface="Consolas"/>
              </a:rPr>
              <a:t>set_status</a:t>
            </a:r>
            <a:r>
              <a:rPr lang="en-US" altLang="zh-CN" sz="1400">
                <a:latin typeface="Consolas"/>
                <a:cs typeface="Consolas"/>
              </a:rPr>
              <a:t>(n, true);</a:t>
            </a:r>
          </a:p>
          <a:p>
            <a:r>
              <a:rPr lang="en-US" altLang="zh-CN" sz="1400">
                <a:latin typeface="Consolas"/>
                <a:cs typeface="Consolas"/>
              </a:rPr>
              <a:t>   return header2payload(n);</a:t>
            </a:r>
          </a:p>
          <a:p>
            <a:r>
              <a:rPr lang="en-US" altLang="zh-CN" sz="1400">
                <a:latin typeface="Consolas"/>
                <a:cs typeface="Consolas"/>
              </a:rPr>
              <a:t>}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282726" y="1040427"/>
            <a:ext cx="4039721" cy="499626"/>
            <a:chOff x="2204720" y="1309210"/>
            <a:chExt cx="4039721" cy="499626"/>
          </a:xfrm>
        </p:grpSpPr>
        <p:cxnSp>
          <p:nvCxnSpPr>
            <p:cNvPr id="5" name="Straight Arrow Connector 4"/>
            <p:cNvCxnSpPr/>
            <p:nvPr/>
          </p:nvCxnSpPr>
          <p:spPr>
            <a:xfrm flipH="1">
              <a:off x="2204720" y="1493876"/>
              <a:ext cx="426720" cy="31496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2631440" y="1309210"/>
              <a:ext cx="36130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chemeClr val="accent1"/>
                  </a:solidFill>
                </a:rPr>
                <a:t>assume s&gt;=16 and is 16-byte aligned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57200" y="4002384"/>
            <a:ext cx="4855816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err="1">
                <a:latin typeface="Consolas"/>
                <a:cs typeface="Consolas"/>
              </a:rPr>
              <a:t>free_hdr</a:t>
            </a:r>
            <a:r>
              <a:rPr lang="en-US" altLang="zh-CN" sz="1400">
                <a:latin typeface="Consolas"/>
                <a:cs typeface="Consolas"/>
              </a:rPr>
              <a:t> *</a:t>
            </a:r>
          </a:p>
          <a:p>
            <a:r>
              <a:rPr lang="en-US" altLang="zh-CN" sz="1400" err="1">
                <a:latin typeface="Consolas"/>
                <a:cs typeface="Consolas"/>
              </a:rPr>
              <a:t>first_fit</a:t>
            </a:r>
            <a:r>
              <a:rPr lang="en-US" altLang="zh-CN" sz="1400">
                <a:latin typeface="Consolas"/>
                <a:cs typeface="Consolas"/>
              </a:rPr>
              <a:t>(</a:t>
            </a:r>
            <a:r>
              <a:rPr lang="en-US" altLang="zh-CN" sz="1400" err="1">
                <a:latin typeface="Consolas"/>
                <a:cs typeface="Consolas"/>
              </a:rPr>
              <a:t>size_t</a:t>
            </a:r>
            <a:r>
              <a:rPr lang="en-US" altLang="zh-CN" sz="1400">
                <a:latin typeface="Consolas"/>
                <a:cs typeface="Consolas"/>
              </a:rPr>
              <a:t> </a:t>
            </a:r>
            <a:r>
              <a:rPr lang="en-US" altLang="zh-CN" sz="1400" err="1">
                <a:latin typeface="Consolas"/>
                <a:cs typeface="Consolas"/>
              </a:rPr>
              <a:t>sz</a:t>
            </a:r>
            <a:r>
              <a:rPr lang="en-US" altLang="zh-CN" sz="1400">
                <a:latin typeface="Consolas"/>
                <a:cs typeface="Consolas"/>
              </a:rPr>
              <a:t>) {</a:t>
            </a:r>
          </a:p>
          <a:p>
            <a:r>
              <a:rPr lang="en-US" altLang="zh-CN" sz="1400">
                <a:latin typeface="Consolas"/>
                <a:cs typeface="Consolas"/>
              </a:rPr>
              <a:t>   </a:t>
            </a:r>
            <a:r>
              <a:rPr lang="en-US" altLang="zh-CN" sz="1400" err="1">
                <a:latin typeface="Consolas"/>
                <a:cs typeface="Consolas"/>
              </a:rPr>
              <a:t>free_hdr</a:t>
            </a:r>
            <a:r>
              <a:rPr lang="en-US" altLang="zh-CN" sz="1400">
                <a:latin typeface="Consolas"/>
                <a:cs typeface="Consolas"/>
              </a:rPr>
              <a:t> *n = </a:t>
            </a:r>
            <a:r>
              <a:rPr lang="en-US" altLang="zh-CN" sz="1400" err="1">
                <a:latin typeface="Consolas"/>
                <a:cs typeface="Consolas"/>
              </a:rPr>
              <a:t>freelist</a:t>
            </a:r>
            <a:r>
              <a:rPr lang="en-US" altLang="zh-CN" sz="1400">
                <a:latin typeface="Consolas"/>
                <a:cs typeface="Consolas"/>
              </a:rPr>
              <a:t>;</a:t>
            </a:r>
          </a:p>
          <a:p>
            <a:r>
              <a:rPr lang="en-US" altLang="zh-CN" sz="1400">
                <a:latin typeface="Consolas"/>
                <a:cs typeface="Consolas"/>
              </a:rPr>
              <a:t>   while (n) {</a:t>
            </a:r>
          </a:p>
          <a:p>
            <a:r>
              <a:rPr lang="en-US" altLang="zh-CN" sz="1400">
                <a:latin typeface="Consolas"/>
                <a:cs typeface="Consolas"/>
              </a:rPr>
              <a:t>      if (</a:t>
            </a:r>
            <a:r>
              <a:rPr lang="en-US" altLang="zh-CN" sz="1400" err="1">
                <a:latin typeface="Consolas"/>
                <a:cs typeface="Consolas"/>
              </a:rPr>
              <a:t>get_size</a:t>
            </a:r>
            <a:r>
              <a:rPr lang="en-US" altLang="zh-CN" sz="1400">
                <a:latin typeface="Consolas"/>
                <a:cs typeface="Consolas"/>
              </a:rPr>
              <a:t>(&amp;(n-&gt;</a:t>
            </a:r>
            <a:r>
              <a:rPr lang="en-US" altLang="zh-CN" sz="1400" err="1">
                <a:latin typeface="Consolas"/>
                <a:cs typeface="Consolas"/>
              </a:rPr>
              <a:t>common_header</a:t>
            </a:r>
            <a:r>
              <a:rPr lang="en-US" altLang="zh-CN" sz="1400">
                <a:latin typeface="Consolas"/>
                <a:cs typeface="Consolas"/>
              </a:rPr>
              <a:t>))&gt;= </a:t>
            </a:r>
            <a:r>
              <a:rPr lang="en-US" altLang="zh-CN" sz="1400" err="1">
                <a:latin typeface="Consolas"/>
                <a:cs typeface="Consolas"/>
              </a:rPr>
              <a:t>sz</a:t>
            </a:r>
            <a:r>
              <a:rPr lang="en-US" altLang="zh-CN" sz="1400">
                <a:latin typeface="Consolas"/>
                <a:cs typeface="Consolas"/>
              </a:rPr>
              <a:t>) {</a:t>
            </a:r>
          </a:p>
          <a:p>
            <a:r>
              <a:rPr lang="en-US" altLang="zh-CN" sz="1400">
                <a:latin typeface="Consolas"/>
                <a:cs typeface="Consolas"/>
              </a:rPr>
              <a:t>          delete(&amp;</a:t>
            </a:r>
            <a:r>
              <a:rPr lang="en-US" altLang="zh-CN" sz="1400" err="1">
                <a:latin typeface="Consolas"/>
                <a:cs typeface="Consolas"/>
              </a:rPr>
              <a:t>freelist</a:t>
            </a:r>
            <a:r>
              <a:rPr lang="en-US" altLang="zh-CN" sz="1400">
                <a:latin typeface="Consolas"/>
                <a:cs typeface="Consolas"/>
              </a:rPr>
              <a:t>, n);</a:t>
            </a:r>
          </a:p>
          <a:p>
            <a:r>
              <a:rPr lang="en-US" altLang="zh-CN" sz="1400">
                <a:latin typeface="Consolas"/>
                <a:cs typeface="Consolas"/>
              </a:rPr>
              <a:t>		 break;</a:t>
            </a:r>
          </a:p>
          <a:p>
            <a:pPr lvl="1"/>
            <a:r>
              <a:rPr lang="en-US" altLang="zh-CN" sz="1400">
                <a:latin typeface="Consolas"/>
                <a:cs typeface="Consolas"/>
              </a:rPr>
              <a:t>  }</a:t>
            </a:r>
          </a:p>
          <a:p>
            <a:r>
              <a:rPr lang="en-US" altLang="zh-CN" sz="1400">
                <a:latin typeface="Consolas"/>
                <a:cs typeface="Consolas"/>
              </a:rPr>
              <a:t>      n = n-&gt;next;</a:t>
            </a:r>
          </a:p>
          <a:p>
            <a:r>
              <a:rPr lang="en-US" altLang="zh-CN" sz="1400">
                <a:latin typeface="Consolas"/>
                <a:cs typeface="Consolas"/>
              </a:rPr>
              <a:t>   }</a:t>
            </a:r>
          </a:p>
          <a:p>
            <a:r>
              <a:rPr lang="en-US" altLang="zh-CN" sz="1400">
                <a:latin typeface="Consolas"/>
                <a:cs typeface="Consolas"/>
              </a:rPr>
              <a:t>   return n;</a:t>
            </a:r>
          </a:p>
          <a:p>
            <a:r>
              <a:rPr lang="en-US" altLang="zh-CN" sz="1400">
                <a:latin typeface="Consolas"/>
                <a:cs typeface="Consolas"/>
              </a:rPr>
              <a:t>}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7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42">
            <a:extLst>
              <a:ext uri="{FF2B5EF4-FFF2-40B4-BE49-F238E27FC236}">
                <a16:creationId xmlns:a16="http://schemas.microsoft.com/office/drawing/2014/main" id="{0970F3D2-14C0-4D43-BADF-1157A8B69305}"/>
              </a:ext>
            </a:extLst>
          </p:cNvPr>
          <p:cNvSpPr/>
          <p:nvPr/>
        </p:nvSpPr>
        <p:spPr>
          <a:xfrm>
            <a:off x="6301749" y="2640228"/>
            <a:ext cx="1767840" cy="26788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>
                <a:solidFill>
                  <a:schemeClr val="tx1"/>
                </a:solidFill>
                <a:latin typeface="Arial"/>
                <a:cs typeface="Arial"/>
              </a:rPr>
              <a:t>size_and_status</a:t>
            </a:r>
            <a:endParaRPr kumimoji="1" lang="en-US" altLang="zh-CN" sz="14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Explicit list: implementation</a:t>
            </a:r>
          </a:p>
        </p:txBody>
      </p:sp>
      <p:sp>
        <p:nvSpPr>
          <p:cNvPr id="4" name="矩形 20"/>
          <p:cNvSpPr/>
          <p:nvPr/>
        </p:nvSpPr>
        <p:spPr>
          <a:xfrm>
            <a:off x="388277" y="1456536"/>
            <a:ext cx="46228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1600" dirty="0">
                <a:latin typeface="Consolas"/>
                <a:cs typeface="Consolas"/>
              </a:rPr>
              <a:t>typedef unsigned long </a:t>
            </a:r>
            <a:r>
              <a:rPr lang="en-US" altLang="zh-CN" sz="1600" dirty="0" err="1">
                <a:latin typeface="Consolas"/>
                <a:cs typeface="Consolas"/>
              </a:rPr>
              <a:t>header_t</a:t>
            </a:r>
            <a:r>
              <a:rPr lang="en-US" altLang="zh-CN" sz="1600" dirty="0">
                <a:latin typeface="Consolas"/>
                <a:cs typeface="Consolas"/>
              </a:rPr>
              <a:t>;</a:t>
            </a:r>
          </a:p>
          <a:p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1600" dirty="0">
                <a:latin typeface="Consolas"/>
                <a:cs typeface="Consolas"/>
              </a:rPr>
              <a:t>typedef struct </a:t>
            </a:r>
            <a:r>
              <a:rPr lang="en-US" altLang="zh-CN" sz="1600" dirty="0" err="1">
                <a:latin typeface="Consolas"/>
                <a:cs typeface="Consolas"/>
              </a:rPr>
              <a:t>free_hdr</a:t>
            </a:r>
            <a:r>
              <a:rPr lang="en-US" altLang="zh-CN" sz="1600" dirty="0">
                <a:latin typeface="Consolas"/>
                <a:cs typeface="Consolas"/>
              </a:rPr>
              <a:t> {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</a:t>
            </a:r>
            <a:r>
              <a:rPr lang="en-US" altLang="zh-CN" sz="1600" dirty="0" err="1">
                <a:latin typeface="Consolas"/>
                <a:cs typeface="Consolas"/>
              </a:rPr>
              <a:t>header_t</a:t>
            </a:r>
            <a:r>
              <a:rPr lang="en-US" altLang="zh-CN" sz="1600" dirty="0">
                <a:latin typeface="Consolas"/>
                <a:cs typeface="Consolas"/>
              </a:rPr>
              <a:t> </a:t>
            </a:r>
            <a:r>
              <a:rPr lang="en-US" altLang="zh-CN" sz="1600" dirty="0" err="1">
                <a:latin typeface="Consolas"/>
                <a:cs typeface="Consolas"/>
              </a:rPr>
              <a:t>size_n_status</a:t>
            </a:r>
            <a:r>
              <a:rPr lang="en-US" altLang="zh-CN" sz="1600" dirty="0">
                <a:latin typeface="Consolas"/>
                <a:cs typeface="Consolas"/>
              </a:rPr>
              <a:t>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struct </a:t>
            </a:r>
            <a:r>
              <a:rPr lang="en-US" altLang="zh-CN" sz="1600" dirty="0" err="1">
                <a:latin typeface="Consolas"/>
                <a:cs typeface="Consolas"/>
              </a:rPr>
              <a:t>free_hdr</a:t>
            </a:r>
            <a:r>
              <a:rPr lang="en-US" altLang="zh-CN" sz="1600" dirty="0">
                <a:latin typeface="Consolas"/>
                <a:cs typeface="Consolas"/>
              </a:rPr>
              <a:t> *next;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struct </a:t>
            </a:r>
            <a:r>
              <a:rPr lang="en-US" altLang="zh-CN" sz="1600" dirty="0" err="1">
                <a:latin typeface="Consolas"/>
                <a:cs typeface="Consolas"/>
              </a:rPr>
              <a:t>free_hdr</a:t>
            </a:r>
            <a:r>
              <a:rPr lang="en-US" altLang="zh-CN" sz="1600" dirty="0">
                <a:latin typeface="Consolas"/>
                <a:cs typeface="Consolas"/>
              </a:rPr>
              <a:t> *</a:t>
            </a:r>
            <a:r>
              <a:rPr lang="en-US" altLang="zh-CN" sz="1600" dirty="0" err="1">
                <a:latin typeface="Consolas"/>
                <a:cs typeface="Consolas"/>
              </a:rPr>
              <a:t>prev</a:t>
            </a:r>
            <a:r>
              <a:rPr lang="en-US" altLang="zh-CN" sz="1600" dirty="0">
                <a:latin typeface="Consolas"/>
                <a:cs typeface="Consolas"/>
              </a:rPr>
              <a:t>; 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} </a:t>
            </a:r>
            <a:r>
              <a:rPr lang="en-US" altLang="zh-CN" sz="1600" dirty="0" err="1">
                <a:latin typeface="Consolas"/>
                <a:cs typeface="Consolas"/>
              </a:rPr>
              <a:t>free_hdr</a:t>
            </a:r>
            <a:r>
              <a:rPr lang="en-US" altLang="zh-CN" sz="1600" dirty="0">
                <a:latin typeface="Consolas"/>
                <a:cs typeface="Consolas"/>
              </a:rPr>
              <a:t>;</a:t>
            </a:r>
          </a:p>
        </p:txBody>
      </p:sp>
      <p:sp>
        <p:nvSpPr>
          <p:cNvPr id="9" name="矩形 7">
            <a:extLst>
              <a:ext uri="{FF2B5EF4-FFF2-40B4-BE49-F238E27FC236}">
                <a16:creationId xmlns:a16="http://schemas.microsoft.com/office/drawing/2014/main" id="{05AD91DD-E21E-401B-B9CA-EB9BB0D9BD8D}"/>
              </a:ext>
            </a:extLst>
          </p:cNvPr>
          <p:cNvSpPr/>
          <p:nvPr/>
        </p:nvSpPr>
        <p:spPr>
          <a:xfrm>
            <a:off x="4879483" y="6104447"/>
            <a:ext cx="1281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/>
              <a:t>Free chunk:</a:t>
            </a:r>
            <a:endParaRPr lang="zh-CN" altLang="en-US"/>
          </a:p>
        </p:txBody>
      </p:sp>
      <p:sp>
        <p:nvSpPr>
          <p:cNvPr id="14" name="矩形 3">
            <a:extLst>
              <a:ext uri="{FF2B5EF4-FFF2-40B4-BE49-F238E27FC236}">
                <a16:creationId xmlns:a16="http://schemas.microsoft.com/office/drawing/2014/main" id="{033D51E3-CE0C-432B-BB95-22C896EFE601}"/>
              </a:ext>
            </a:extLst>
          </p:cNvPr>
          <p:cNvSpPr/>
          <p:nvPr/>
        </p:nvSpPr>
        <p:spPr>
          <a:xfrm>
            <a:off x="6300213" y="1674106"/>
            <a:ext cx="1767840" cy="966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Payload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" name="矩形 4">
            <a:extLst>
              <a:ext uri="{FF2B5EF4-FFF2-40B4-BE49-F238E27FC236}">
                <a16:creationId xmlns:a16="http://schemas.microsoft.com/office/drawing/2014/main" id="{302533ED-D1B5-451F-9308-B97118E17C97}"/>
              </a:ext>
            </a:extLst>
          </p:cNvPr>
          <p:cNvSpPr/>
          <p:nvPr/>
        </p:nvSpPr>
        <p:spPr>
          <a:xfrm>
            <a:off x="6300213" y="1651579"/>
            <a:ext cx="1767840" cy="255480"/>
          </a:xfrm>
          <a:prstGeom prst="rect">
            <a:avLst/>
          </a:prstGeom>
          <a:solidFill>
            <a:srgbClr val="E6B9B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/>
                <a:cs typeface="Arial"/>
              </a:rPr>
              <a:t>     </a:t>
            </a:r>
            <a:r>
              <a:rPr kumimoji="1" lang="en-US" altLang="zh-CN" sz="1400" dirty="0" err="1">
                <a:solidFill>
                  <a:schemeClr val="tx1"/>
                </a:solidFill>
                <a:latin typeface="Arial"/>
                <a:cs typeface="Arial"/>
              </a:rPr>
              <a:t>size_and_status</a:t>
            </a:r>
            <a:endParaRPr kumimoji="1" lang="en-US" altLang="zh-CN" sz="14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矩形 7">
            <a:extLst>
              <a:ext uri="{FF2B5EF4-FFF2-40B4-BE49-F238E27FC236}">
                <a16:creationId xmlns:a16="http://schemas.microsoft.com/office/drawing/2014/main" id="{3E65162D-BC27-4D70-A415-1DBF851E8883}"/>
              </a:ext>
            </a:extLst>
          </p:cNvPr>
          <p:cNvSpPr/>
          <p:nvPr/>
        </p:nvSpPr>
        <p:spPr>
          <a:xfrm>
            <a:off x="4471937" y="2743334"/>
            <a:ext cx="2153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/>
              <a:t>Allocated chunk:</a:t>
            </a:r>
            <a:endParaRPr lang="zh-CN" altLang="en-US"/>
          </a:p>
        </p:txBody>
      </p:sp>
      <p:sp>
        <p:nvSpPr>
          <p:cNvPr id="26" name="矩形 42">
            <a:extLst>
              <a:ext uri="{FF2B5EF4-FFF2-40B4-BE49-F238E27FC236}">
                <a16:creationId xmlns:a16="http://schemas.microsoft.com/office/drawing/2014/main" id="{BDAA1CB7-478A-4333-826F-CFDB0733FEA6}"/>
              </a:ext>
            </a:extLst>
          </p:cNvPr>
          <p:cNvSpPr/>
          <p:nvPr/>
        </p:nvSpPr>
        <p:spPr>
          <a:xfrm>
            <a:off x="6334701" y="6043455"/>
            <a:ext cx="1767840" cy="24481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>
                <a:solidFill>
                  <a:schemeClr val="tx1"/>
                </a:solidFill>
                <a:latin typeface="Arial"/>
                <a:cs typeface="Arial"/>
              </a:rPr>
              <a:t>size_and_status</a:t>
            </a:r>
            <a:endParaRPr kumimoji="1" lang="en-US" altLang="zh-CN" sz="14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8" name="矩形 3">
            <a:extLst>
              <a:ext uri="{FF2B5EF4-FFF2-40B4-BE49-F238E27FC236}">
                <a16:creationId xmlns:a16="http://schemas.microsoft.com/office/drawing/2014/main" id="{EC8E7806-E12D-4203-B524-6B307CC02D9C}"/>
              </a:ext>
            </a:extLst>
          </p:cNvPr>
          <p:cNvSpPr/>
          <p:nvPr/>
        </p:nvSpPr>
        <p:spPr>
          <a:xfrm>
            <a:off x="6333165" y="4359305"/>
            <a:ext cx="1767840" cy="16841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>
              <a:solidFill>
                <a:schemeClr val="tx1"/>
              </a:solidFill>
              <a:latin typeface="Arial"/>
              <a:cs typeface="Arial"/>
            </a:endParaRPr>
          </a:p>
          <a:p>
            <a:pPr algn="ctr"/>
            <a:endParaRPr kumimoji="1" lang="en-US" altLang="zh-CN">
              <a:solidFill>
                <a:schemeClr val="tx1"/>
              </a:solidFill>
              <a:latin typeface="Arial"/>
              <a:cs typeface="Arial"/>
            </a:endParaRPr>
          </a:p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…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0" name="矩形 4">
            <a:extLst>
              <a:ext uri="{FF2B5EF4-FFF2-40B4-BE49-F238E27FC236}">
                <a16:creationId xmlns:a16="http://schemas.microsoft.com/office/drawing/2014/main" id="{B21E28E4-6239-4E39-BF39-9E14689785B2}"/>
              </a:ext>
            </a:extLst>
          </p:cNvPr>
          <p:cNvSpPr/>
          <p:nvPr/>
        </p:nvSpPr>
        <p:spPr>
          <a:xfrm>
            <a:off x="6333165" y="4324378"/>
            <a:ext cx="1767840" cy="267881"/>
          </a:xfrm>
          <a:prstGeom prst="rect">
            <a:avLst/>
          </a:prstGeom>
          <a:solidFill>
            <a:srgbClr val="E6B9B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/>
                <a:cs typeface="Arial"/>
              </a:rPr>
              <a:t>     </a:t>
            </a:r>
            <a:r>
              <a:rPr kumimoji="1" lang="en-US" altLang="zh-CN" sz="1400" dirty="0" err="1">
                <a:solidFill>
                  <a:schemeClr val="tx1"/>
                </a:solidFill>
                <a:latin typeface="Arial"/>
                <a:cs typeface="Arial"/>
              </a:rPr>
              <a:t>size_and_status</a:t>
            </a:r>
            <a:endParaRPr kumimoji="1" lang="en-US" altLang="zh-CN" sz="14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2" name="矩形 4">
            <a:extLst>
              <a:ext uri="{FF2B5EF4-FFF2-40B4-BE49-F238E27FC236}">
                <a16:creationId xmlns:a16="http://schemas.microsoft.com/office/drawing/2014/main" id="{275C1835-6AB5-41AB-8838-D066444D11E9}"/>
              </a:ext>
            </a:extLst>
          </p:cNvPr>
          <p:cNvSpPr/>
          <p:nvPr/>
        </p:nvSpPr>
        <p:spPr>
          <a:xfrm>
            <a:off x="6334701" y="4593246"/>
            <a:ext cx="1767840" cy="500835"/>
          </a:xfrm>
          <a:prstGeom prst="rect">
            <a:avLst/>
          </a:prstGeom>
          <a:solidFill>
            <a:srgbClr val="E6B9B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chemeClr val="tx1"/>
                </a:solidFill>
                <a:latin typeface="Arial"/>
                <a:cs typeface="Arial"/>
              </a:rPr>
              <a:t>next</a:t>
            </a:r>
          </a:p>
          <a:p>
            <a:pPr algn="ctr"/>
            <a:r>
              <a:rPr kumimoji="1" lang="en-US" altLang="zh-CN" sz="1400" err="1">
                <a:solidFill>
                  <a:schemeClr val="tx1"/>
                </a:solidFill>
                <a:latin typeface="Arial"/>
                <a:cs typeface="Arial"/>
              </a:rPr>
              <a:t>prev</a:t>
            </a:r>
            <a:endParaRPr kumimoji="1" lang="en-US" altLang="zh-CN" sz="140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40553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4EAAD-D1FC-4095-8626-3721C22F4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Explicit list: initialize a free chunk</a:t>
            </a:r>
          </a:p>
        </p:txBody>
      </p:sp>
      <p:sp>
        <p:nvSpPr>
          <p:cNvPr id="5" name="矩形 20">
            <a:extLst>
              <a:ext uri="{FF2B5EF4-FFF2-40B4-BE49-F238E27FC236}">
                <a16:creationId xmlns:a16="http://schemas.microsoft.com/office/drawing/2014/main" id="{F1D365D4-4005-4FC4-AC71-D65482AF764D}"/>
              </a:ext>
            </a:extLst>
          </p:cNvPr>
          <p:cNvSpPr/>
          <p:nvPr/>
        </p:nvSpPr>
        <p:spPr>
          <a:xfrm>
            <a:off x="388277" y="1456536"/>
            <a:ext cx="46228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/>
                <a:cs typeface="Consolas"/>
              </a:rPr>
              <a:t>typedef struct </a:t>
            </a:r>
            <a:r>
              <a:rPr lang="en-US" altLang="zh-CN" sz="1400" err="1">
                <a:latin typeface="Consolas"/>
                <a:cs typeface="Consolas"/>
              </a:rPr>
              <a:t>free_hdr</a:t>
            </a:r>
            <a:r>
              <a:rPr lang="en-US" altLang="zh-CN" sz="1400">
                <a:latin typeface="Consolas"/>
                <a:cs typeface="Consolas"/>
              </a:rPr>
              <a:t> {</a:t>
            </a:r>
          </a:p>
          <a:p>
            <a:r>
              <a:rPr lang="en-US" altLang="zh-CN" sz="1400">
                <a:latin typeface="Consolas"/>
                <a:cs typeface="Consolas"/>
              </a:rPr>
              <a:t>   header </a:t>
            </a:r>
            <a:r>
              <a:rPr lang="en-US" altLang="zh-CN" sz="1400" err="1">
                <a:latin typeface="Consolas"/>
                <a:cs typeface="Consolas"/>
              </a:rPr>
              <a:t>common_header</a:t>
            </a:r>
            <a:r>
              <a:rPr lang="en-US" altLang="zh-CN" sz="1400">
                <a:latin typeface="Consolas"/>
                <a:cs typeface="Consolas"/>
              </a:rPr>
              <a:t>;</a:t>
            </a:r>
          </a:p>
          <a:p>
            <a:r>
              <a:rPr lang="en-US" altLang="zh-CN" sz="1400">
                <a:latin typeface="Consolas"/>
                <a:cs typeface="Consolas"/>
              </a:rPr>
              <a:t>   </a:t>
            </a:r>
            <a:r>
              <a:rPr lang="en-US" altLang="zh-CN" sz="1400" err="1">
                <a:latin typeface="Consolas"/>
                <a:cs typeface="Consolas"/>
              </a:rPr>
              <a:t>struct</a:t>
            </a:r>
            <a:r>
              <a:rPr lang="en-US" altLang="zh-CN" sz="1400">
                <a:latin typeface="Consolas"/>
                <a:cs typeface="Consolas"/>
              </a:rPr>
              <a:t> </a:t>
            </a:r>
            <a:r>
              <a:rPr lang="en-US" altLang="zh-CN" sz="1400" err="1">
                <a:latin typeface="Consolas"/>
                <a:cs typeface="Consolas"/>
              </a:rPr>
              <a:t>free_hdr</a:t>
            </a:r>
            <a:r>
              <a:rPr lang="en-US" altLang="zh-CN" sz="1400">
                <a:latin typeface="Consolas"/>
                <a:cs typeface="Consolas"/>
              </a:rPr>
              <a:t> *next;</a:t>
            </a:r>
          </a:p>
          <a:p>
            <a:r>
              <a:rPr lang="en-US" altLang="zh-CN" sz="1400">
                <a:latin typeface="Consolas"/>
                <a:cs typeface="Consolas"/>
              </a:rPr>
              <a:t>   </a:t>
            </a:r>
            <a:r>
              <a:rPr lang="en-US" altLang="zh-CN" sz="1400" err="1">
                <a:latin typeface="Consolas"/>
                <a:cs typeface="Consolas"/>
              </a:rPr>
              <a:t>struct</a:t>
            </a:r>
            <a:r>
              <a:rPr lang="en-US" altLang="zh-CN" sz="1400">
                <a:latin typeface="Consolas"/>
                <a:cs typeface="Consolas"/>
              </a:rPr>
              <a:t> </a:t>
            </a:r>
            <a:r>
              <a:rPr lang="en-US" altLang="zh-CN" sz="1400" err="1">
                <a:latin typeface="Consolas"/>
                <a:cs typeface="Consolas"/>
              </a:rPr>
              <a:t>free_hdr</a:t>
            </a:r>
            <a:r>
              <a:rPr lang="en-US" altLang="zh-CN" sz="1400">
                <a:latin typeface="Consolas"/>
                <a:cs typeface="Consolas"/>
              </a:rPr>
              <a:t> *</a:t>
            </a:r>
            <a:r>
              <a:rPr lang="en-US" altLang="zh-CN" sz="1400" err="1">
                <a:latin typeface="Consolas"/>
                <a:cs typeface="Consolas"/>
              </a:rPr>
              <a:t>prev</a:t>
            </a:r>
            <a:r>
              <a:rPr lang="en-US" altLang="zh-CN" sz="1400">
                <a:latin typeface="Consolas"/>
                <a:cs typeface="Consolas"/>
              </a:rPr>
              <a:t>; </a:t>
            </a:r>
          </a:p>
          <a:p>
            <a:r>
              <a:rPr lang="en-US" altLang="zh-CN" sz="1400">
                <a:latin typeface="Consolas"/>
                <a:cs typeface="Consolas"/>
              </a:rPr>
              <a:t>} </a:t>
            </a:r>
            <a:r>
              <a:rPr lang="en-US" altLang="zh-CN" sz="1400" err="1">
                <a:latin typeface="Consolas"/>
                <a:cs typeface="Consolas"/>
              </a:rPr>
              <a:t>free_hdr</a:t>
            </a:r>
            <a:r>
              <a:rPr lang="en-US" altLang="zh-CN" sz="1400">
                <a:latin typeface="Consolas"/>
                <a:cs typeface="Consolas"/>
              </a:rPr>
              <a:t>;</a:t>
            </a:r>
          </a:p>
        </p:txBody>
      </p:sp>
      <p:sp>
        <p:nvSpPr>
          <p:cNvPr id="9" name="矩形 42">
            <a:extLst>
              <a:ext uri="{FF2B5EF4-FFF2-40B4-BE49-F238E27FC236}">
                <a16:creationId xmlns:a16="http://schemas.microsoft.com/office/drawing/2014/main" id="{F68AFF9F-7688-4C13-965E-96555183ECE8}"/>
              </a:ext>
            </a:extLst>
          </p:cNvPr>
          <p:cNvSpPr/>
          <p:nvPr/>
        </p:nvSpPr>
        <p:spPr>
          <a:xfrm>
            <a:off x="6075210" y="3312612"/>
            <a:ext cx="1767840" cy="4148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err="1">
                <a:solidFill>
                  <a:schemeClr val="tx1"/>
                </a:solidFill>
                <a:latin typeface="Arial"/>
                <a:cs typeface="Arial"/>
              </a:rPr>
              <a:t>size_and_status</a:t>
            </a:r>
            <a:endParaRPr kumimoji="1" lang="en-US" altLang="zh-CN" sz="1400">
              <a:solidFill>
                <a:schemeClr val="tx1"/>
              </a:solidFill>
              <a:latin typeface="Arial"/>
              <a:cs typeface="Arial"/>
            </a:endParaRPr>
          </a:p>
          <a:p>
            <a:pPr algn="ctr"/>
            <a:r>
              <a:rPr kumimoji="1" lang="en-US" altLang="zh-CN" sz="1400">
                <a:solidFill>
                  <a:schemeClr val="tx1"/>
                </a:solidFill>
                <a:latin typeface="Arial"/>
                <a:cs typeface="Arial"/>
              </a:rPr>
              <a:t>padding</a:t>
            </a:r>
            <a:endParaRPr kumimoji="1" lang="zh-CN" altLang="en-US" sz="14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矩形 3">
            <a:extLst>
              <a:ext uri="{FF2B5EF4-FFF2-40B4-BE49-F238E27FC236}">
                <a16:creationId xmlns:a16="http://schemas.microsoft.com/office/drawing/2014/main" id="{254FF382-6566-4227-A48A-EA91B74C1E84}"/>
              </a:ext>
            </a:extLst>
          </p:cNvPr>
          <p:cNvSpPr/>
          <p:nvPr/>
        </p:nvSpPr>
        <p:spPr>
          <a:xfrm>
            <a:off x="6073674" y="1628462"/>
            <a:ext cx="1767840" cy="16841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>
              <a:solidFill>
                <a:schemeClr val="tx1"/>
              </a:solidFill>
              <a:latin typeface="Arial"/>
              <a:cs typeface="Arial"/>
            </a:endParaRPr>
          </a:p>
          <a:p>
            <a:pPr algn="ctr"/>
            <a:endParaRPr kumimoji="1" lang="en-US" altLang="zh-CN">
              <a:solidFill>
                <a:schemeClr val="tx1"/>
              </a:solidFill>
              <a:latin typeface="Arial"/>
              <a:cs typeface="Arial"/>
            </a:endParaRPr>
          </a:p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…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" name="矩形 4">
            <a:extLst>
              <a:ext uri="{FF2B5EF4-FFF2-40B4-BE49-F238E27FC236}">
                <a16:creationId xmlns:a16="http://schemas.microsoft.com/office/drawing/2014/main" id="{7957819E-5D93-4AF9-9661-FAAE47E1B2B8}"/>
              </a:ext>
            </a:extLst>
          </p:cNvPr>
          <p:cNvSpPr/>
          <p:nvPr/>
        </p:nvSpPr>
        <p:spPr>
          <a:xfrm>
            <a:off x="6073674" y="1360581"/>
            <a:ext cx="1767840" cy="500835"/>
          </a:xfrm>
          <a:prstGeom prst="rect">
            <a:avLst/>
          </a:prstGeom>
          <a:solidFill>
            <a:srgbClr val="E6B9B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chemeClr val="tx1"/>
                </a:solidFill>
                <a:latin typeface="Arial"/>
                <a:cs typeface="Arial"/>
              </a:rPr>
              <a:t>     </a:t>
            </a:r>
            <a:r>
              <a:rPr kumimoji="1" lang="en-US" altLang="zh-CN" sz="1400" err="1">
                <a:solidFill>
                  <a:schemeClr val="tx1"/>
                </a:solidFill>
                <a:latin typeface="Arial"/>
                <a:cs typeface="Arial"/>
              </a:rPr>
              <a:t>size_and_status</a:t>
            </a:r>
            <a:endParaRPr kumimoji="1" lang="en-US" altLang="zh-CN" sz="1400">
              <a:solidFill>
                <a:schemeClr val="tx1"/>
              </a:solidFill>
              <a:latin typeface="Arial"/>
              <a:cs typeface="Arial"/>
            </a:endParaRPr>
          </a:p>
          <a:p>
            <a:pPr algn="ctr"/>
            <a:r>
              <a:rPr kumimoji="1" lang="en-US" altLang="zh-CN" sz="1400">
                <a:solidFill>
                  <a:schemeClr val="tx1"/>
                </a:solidFill>
                <a:latin typeface="Arial"/>
                <a:cs typeface="Arial"/>
              </a:rPr>
              <a:t>padding</a:t>
            </a:r>
          </a:p>
        </p:txBody>
      </p:sp>
      <p:sp>
        <p:nvSpPr>
          <p:cNvPr id="15" name="矩形 4">
            <a:extLst>
              <a:ext uri="{FF2B5EF4-FFF2-40B4-BE49-F238E27FC236}">
                <a16:creationId xmlns:a16="http://schemas.microsoft.com/office/drawing/2014/main" id="{8923C606-9089-489F-9FF7-C4DCD3E1A89B}"/>
              </a:ext>
            </a:extLst>
          </p:cNvPr>
          <p:cNvSpPr/>
          <p:nvPr/>
        </p:nvSpPr>
        <p:spPr>
          <a:xfrm>
            <a:off x="6075210" y="1862403"/>
            <a:ext cx="1767840" cy="500835"/>
          </a:xfrm>
          <a:prstGeom prst="rect">
            <a:avLst/>
          </a:prstGeom>
          <a:solidFill>
            <a:srgbClr val="E6B9B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chemeClr val="tx1"/>
                </a:solidFill>
                <a:latin typeface="Arial"/>
                <a:cs typeface="Arial"/>
              </a:rPr>
              <a:t>next</a:t>
            </a:r>
          </a:p>
          <a:p>
            <a:pPr algn="ctr"/>
            <a:r>
              <a:rPr kumimoji="1" lang="en-US" altLang="zh-CN" sz="1400" err="1">
                <a:solidFill>
                  <a:schemeClr val="tx1"/>
                </a:solidFill>
                <a:latin typeface="Arial"/>
                <a:cs typeface="Arial"/>
              </a:rPr>
              <a:t>prev</a:t>
            </a:r>
            <a:endParaRPr kumimoji="1" lang="en-US" altLang="zh-CN" sz="14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矩形 20">
            <a:extLst>
              <a:ext uri="{FF2B5EF4-FFF2-40B4-BE49-F238E27FC236}">
                <a16:creationId xmlns:a16="http://schemas.microsoft.com/office/drawing/2014/main" id="{24451611-DF8A-40DC-960B-6EA77A697989}"/>
              </a:ext>
            </a:extLst>
          </p:cNvPr>
          <p:cNvSpPr/>
          <p:nvPr/>
        </p:nvSpPr>
        <p:spPr>
          <a:xfrm>
            <a:off x="347087" y="3095865"/>
            <a:ext cx="5279355" cy="33547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latin typeface="Consolas"/>
                <a:cs typeface="Consolas"/>
              </a:rPr>
              <a:t>//initialize a region of memory of size ‘</a:t>
            </a:r>
            <a:r>
              <a:rPr lang="en-US" altLang="zh-CN" sz="1400" err="1">
                <a:latin typeface="Consolas"/>
                <a:cs typeface="Consolas"/>
              </a:rPr>
              <a:t>sz</a:t>
            </a:r>
            <a:r>
              <a:rPr lang="en-US" altLang="zh-CN" sz="1400">
                <a:latin typeface="Consolas"/>
                <a:cs typeface="Consolas"/>
              </a:rPr>
              <a:t>’ //with start address ‘h’ as a free chunk</a:t>
            </a:r>
          </a:p>
          <a:p>
            <a:r>
              <a:rPr lang="en-US" altLang="zh-CN" sz="1400">
                <a:latin typeface="Consolas"/>
                <a:cs typeface="Consolas"/>
              </a:rPr>
              <a:t>void </a:t>
            </a:r>
            <a:r>
              <a:rPr lang="en-US" altLang="zh-CN" sz="1400" err="1">
                <a:latin typeface="Consolas"/>
                <a:cs typeface="Consolas"/>
              </a:rPr>
              <a:t>init_free_chunk</a:t>
            </a:r>
            <a:r>
              <a:rPr lang="en-US" altLang="zh-CN" sz="1400">
                <a:latin typeface="Consolas"/>
                <a:cs typeface="Consolas"/>
              </a:rPr>
              <a:t>(</a:t>
            </a:r>
            <a:r>
              <a:rPr lang="en-US" altLang="zh-CN" sz="1400" err="1">
                <a:latin typeface="Consolas"/>
                <a:cs typeface="Consolas"/>
              </a:rPr>
              <a:t>free_hdr</a:t>
            </a:r>
            <a:r>
              <a:rPr lang="en-US" altLang="zh-CN" sz="1400">
                <a:latin typeface="Consolas"/>
                <a:cs typeface="Consolas"/>
              </a:rPr>
              <a:t> *h, </a:t>
            </a:r>
            <a:r>
              <a:rPr lang="en-US" altLang="zh-CN" sz="1400" err="1">
                <a:latin typeface="Consolas"/>
                <a:cs typeface="Consolas"/>
              </a:rPr>
              <a:t>size_t</a:t>
            </a:r>
            <a:r>
              <a:rPr lang="en-US" altLang="zh-CN" sz="1400">
                <a:latin typeface="Consolas"/>
                <a:cs typeface="Consolas"/>
              </a:rPr>
              <a:t> </a:t>
            </a:r>
            <a:r>
              <a:rPr lang="en-US" altLang="zh-CN" sz="1400" err="1">
                <a:latin typeface="Consolas"/>
                <a:cs typeface="Consolas"/>
              </a:rPr>
              <a:t>sz</a:t>
            </a:r>
            <a:r>
              <a:rPr lang="en-US" altLang="zh-CN" sz="1400">
                <a:latin typeface="Consolas"/>
                <a:cs typeface="Consolas"/>
              </a:rPr>
              <a:t>)</a:t>
            </a:r>
          </a:p>
          <a:p>
            <a:r>
              <a:rPr lang="en-US" altLang="zh-CN" sz="1400">
                <a:latin typeface="Consolas"/>
                <a:cs typeface="Consolas"/>
              </a:rPr>
              <a:t>{</a:t>
            </a:r>
          </a:p>
          <a:p>
            <a:endParaRPr lang="en-US" altLang="zh-CN" sz="1400">
              <a:latin typeface="Consolas"/>
              <a:cs typeface="Consolas"/>
            </a:endParaRPr>
          </a:p>
          <a:p>
            <a:endParaRPr lang="en-US" altLang="zh-CN" sz="1400">
              <a:latin typeface="Consolas"/>
              <a:cs typeface="Consolas"/>
            </a:endParaRPr>
          </a:p>
          <a:p>
            <a:endParaRPr lang="en-US" altLang="zh-CN" sz="1400">
              <a:latin typeface="Consolas"/>
              <a:cs typeface="Consolas"/>
            </a:endParaRPr>
          </a:p>
          <a:p>
            <a:endParaRPr lang="en-US" altLang="zh-CN" sz="1400">
              <a:latin typeface="Consolas"/>
              <a:cs typeface="Consolas"/>
            </a:endParaRPr>
          </a:p>
          <a:p>
            <a:endParaRPr lang="en-US" altLang="zh-CN" sz="1400">
              <a:latin typeface="Consolas"/>
              <a:cs typeface="Consolas"/>
            </a:endParaRPr>
          </a:p>
          <a:p>
            <a:endParaRPr lang="en-US" altLang="zh-CN" sz="1400">
              <a:latin typeface="Consolas"/>
              <a:cs typeface="Consolas"/>
            </a:endParaRPr>
          </a:p>
          <a:p>
            <a:endParaRPr lang="en-US" altLang="zh-CN" sz="1400">
              <a:latin typeface="Consolas"/>
              <a:cs typeface="Consolas"/>
            </a:endParaRPr>
          </a:p>
          <a:p>
            <a:endParaRPr lang="en-US" altLang="zh-CN" sz="1400">
              <a:latin typeface="Consolas"/>
              <a:cs typeface="Consolas"/>
            </a:endParaRPr>
          </a:p>
          <a:p>
            <a:endParaRPr lang="en-US" altLang="zh-CN" sz="1400">
              <a:latin typeface="Consolas"/>
              <a:cs typeface="Consolas"/>
            </a:endParaRPr>
          </a:p>
          <a:p>
            <a:r>
              <a:rPr lang="en-US" altLang="zh-CN" sz="1400">
                <a:latin typeface="Consolas"/>
                <a:cs typeface="Consolas"/>
              </a:rPr>
              <a:t>}</a:t>
            </a:r>
          </a:p>
          <a:p>
            <a:endParaRPr lang="en-US" altLang="zh-CN" sz="1600">
              <a:latin typeface="Consolas"/>
              <a:cs typeface="Consola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1C5491-DA2C-464C-B41B-0D0C98D96276}"/>
              </a:ext>
            </a:extLst>
          </p:cNvPr>
          <p:cNvSpPr txBox="1"/>
          <p:nvPr/>
        </p:nvSpPr>
        <p:spPr>
          <a:xfrm>
            <a:off x="388277" y="2656748"/>
            <a:ext cx="1691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err="1">
                <a:solidFill>
                  <a:schemeClr val="accent1"/>
                </a:solidFill>
              </a:rPr>
              <a:t>free_hdr</a:t>
            </a:r>
            <a:r>
              <a:rPr lang="en-US" sz="1600">
                <a:solidFill>
                  <a:schemeClr val="accent1"/>
                </a:solidFill>
              </a:rPr>
              <a:t> *</a:t>
            </a:r>
            <a:r>
              <a:rPr lang="en-US" sz="1600" err="1">
                <a:solidFill>
                  <a:schemeClr val="accent1"/>
                </a:solidFill>
              </a:rPr>
              <a:t>freelist</a:t>
            </a:r>
            <a:r>
              <a:rPr lang="en-US" sz="1600">
                <a:solidFill>
                  <a:schemeClr val="accent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3590278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20">
            <a:extLst>
              <a:ext uri="{FF2B5EF4-FFF2-40B4-BE49-F238E27FC236}">
                <a16:creationId xmlns:a16="http://schemas.microsoft.com/office/drawing/2014/main" id="{24451611-DF8A-40DC-960B-6EA77A697989}"/>
              </a:ext>
            </a:extLst>
          </p:cNvPr>
          <p:cNvSpPr/>
          <p:nvPr/>
        </p:nvSpPr>
        <p:spPr>
          <a:xfrm>
            <a:off x="388277" y="2462451"/>
            <a:ext cx="7651854" cy="203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nsolas"/>
                <a:cs typeface="Consolas"/>
              </a:rPr>
              <a:t>//initialize a region of memory of size ‘</a:t>
            </a:r>
            <a:r>
              <a:rPr lang="en-US" altLang="zh-CN" sz="1400" dirty="0" err="1">
                <a:latin typeface="Consolas"/>
                <a:cs typeface="Consolas"/>
              </a:rPr>
              <a:t>sz</a:t>
            </a:r>
            <a:r>
              <a:rPr lang="en-US" altLang="zh-CN" sz="1400" dirty="0">
                <a:latin typeface="Consolas"/>
                <a:cs typeface="Consolas"/>
              </a:rPr>
              <a:t>’ </a:t>
            </a:r>
          </a:p>
          <a:p>
            <a:r>
              <a:rPr lang="en-US" altLang="zh-CN" sz="1400" dirty="0">
                <a:latin typeface="Consolas"/>
                <a:cs typeface="Consolas"/>
              </a:rPr>
              <a:t>//with start address ‘h’ as a free chunk</a:t>
            </a:r>
          </a:p>
          <a:p>
            <a:r>
              <a:rPr lang="en-US" altLang="zh-CN" sz="1400" dirty="0">
                <a:latin typeface="Consolas"/>
                <a:cs typeface="Consolas"/>
              </a:rPr>
              <a:t>void </a:t>
            </a:r>
            <a:r>
              <a:rPr lang="en-US" altLang="zh-CN" sz="1400" dirty="0" err="1">
                <a:latin typeface="Consolas"/>
                <a:cs typeface="Consolas"/>
              </a:rPr>
              <a:t>init_free_chunk</a:t>
            </a:r>
            <a:r>
              <a:rPr lang="en-US" altLang="zh-CN" sz="1400" dirty="0">
                <a:latin typeface="Consolas"/>
                <a:cs typeface="Consolas"/>
              </a:rPr>
              <a:t>(</a:t>
            </a:r>
            <a:r>
              <a:rPr lang="en-US" altLang="zh-CN" sz="1400" dirty="0" err="1">
                <a:latin typeface="Consolas"/>
                <a:cs typeface="Consolas"/>
              </a:rPr>
              <a:t>free_hdr</a:t>
            </a:r>
            <a:r>
              <a:rPr lang="en-US" altLang="zh-CN" sz="1400" dirty="0">
                <a:latin typeface="Consolas"/>
                <a:cs typeface="Consolas"/>
              </a:rPr>
              <a:t> *h, </a:t>
            </a:r>
            <a:r>
              <a:rPr lang="en-US" altLang="zh-CN" sz="1400" dirty="0" err="1">
                <a:latin typeface="Consolas"/>
                <a:cs typeface="Consolas"/>
              </a:rPr>
              <a:t>size_t</a:t>
            </a:r>
            <a:r>
              <a:rPr lang="en-US" altLang="zh-CN" sz="1400" dirty="0">
                <a:latin typeface="Consolas"/>
                <a:cs typeface="Consolas"/>
              </a:rPr>
              <a:t> </a:t>
            </a:r>
            <a:r>
              <a:rPr lang="en-US" altLang="zh-CN" sz="1400" dirty="0" err="1">
                <a:latin typeface="Consolas"/>
                <a:cs typeface="Consolas"/>
              </a:rPr>
              <a:t>sz</a:t>
            </a:r>
            <a:r>
              <a:rPr lang="en-US" altLang="zh-CN" sz="1400" dirty="0">
                <a:latin typeface="Consolas"/>
                <a:cs typeface="Consolas"/>
              </a:rPr>
              <a:t>)</a:t>
            </a:r>
          </a:p>
          <a:p>
            <a:r>
              <a:rPr lang="en-US" altLang="zh-CN" sz="1400" dirty="0">
                <a:latin typeface="Consolas"/>
                <a:cs typeface="Consolas"/>
              </a:rPr>
              <a:t>{</a:t>
            </a:r>
          </a:p>
          <a:p>
            <a:endParaRPr lang="en-US" altLang="zh-CN" sz="1400" dirty="0">
              <a:latin typeface="Consolas"/>
              <a:cs typeface="Consolas"/>
            </a:endParaRPr>
          </a:p>
          <a:p>
            <a:r>
              <a:rPr lang="en-US" altLang="zh-CN" sz="1400" dirty="0">
                <a:latin typeface="Consolas"/>
                <a:cs typeface="Consolas"/>
              </a:rPr>
              <a:t>  </a:t>
            </a:r>
            <a:r>
              <a:rPr lang="en-US" altLang="zh-CN" sz="1400" dirty="0" err="1">
                <a:latin typeface="Consolas"/>
                <a:cs typeface="Consolas"/>
              </a:rPr>
              <a:t>set_size_status</a:t>
            </a:r>
            <a:r>
              <a:rPr lang="en-US" altLang="zh-CN" sz="1400" dirty="0">
                <a:latin typeface="Consolas"/>
                <a:cs typeface="Consolas"/>
              </a:rPr>
              <a:t>(&amp;h-&gt;</a:t>
            </a:r>
            <a:r>
              <a:rPr lang="en-US" altLang="zh-CN" sz="1400" dirty="0" err="1">
                <a:latin typeface="Consolas"/>
                <a:cs typeface="Consolas"/>
              </a:rPr>
              <a:t>size_n_status</a:t>
            </a:r>
            <a:r>
              <a:rPr lang="en-US" altLang="zh-CN" sz="1400" dirty="0">
                <a:latin typeface="Consolas"/>
                <a:cs typeface="Consolas"/>
              </a:rPr>
              <a:t>, </a:t>
            </a:r>
            <a:r>
              <a:rPr lang="en-US" altLang="zh-CN" sz="1400" dirty="0" err="1">
                <a:latin typeface="Consolas"/>
                <a:cs typeface="Consolas"/>
              </a:rPr>
              <a:t>sz</a:t>
            </a:r>
            <a:r>
              <a:rPr lang="en-US" altLang="zh-CN" sz="1400" dirty="0">
                <a:latin typeface="Consolas"/>
                <a:cs typeface="Consolas"/>
              </a:rPr>
              <a:t>, false);</a:t>
            </a:r>
          </a:p>
          <a:p>
            <a:r>
              <a:rPr lang="en-US" altLang="zh-CN" sz="1400" dirty="0">
                <a:latin typeface="Consolas"/>
                <a:cs typeface="Consolas"/>
              </a:rPr>
              <a:t>  h-&gt;</a:t>
            </a:r>
            <a:r>
              <a:rPr lang="en-US" altLang="zh-CN" sz="1400" dirty="0" err="1">
                <a:latin typeface="Consolas"/>
                <a:cs typeface="Consolas"/>
              </a:rPr>
              <a:t>prev</a:t>
            </a:r>
            <a:r>
              <a:rPr lang="en-US" altLang="zh-CN" sz="1400" dirty="0">
                <a:latin typeface="Consolas"/>
                <a:cs typeface="Consolas"/>
              </a:rPr>
              <a:t> = h-&gt;next = NULL;</a:t>
            </a:r>
          </a:p>
          <a:p>
            <a:r>
              <a:rPr lang="en-US" altLang="zh-CN" sz="1400" dirty="0">
                <a:latin typeface="Consolas"/>
                <a:cs typeface="Consolas"/>
              </a:rPr>
              <a:t>  </a:t>
            </a:r>
            <a:r>
              <a:rPr lang="en-US" altLang="zh-CN" sz="1400" dirty="0" err="1">
                <a:latin typeface="Consolas"/>
                <a:cs typeface="Consolas"/>
              </a:rPr>
              <a:t>set_size_status</a:t>
            </a:r>
            <a:r>
              <a:rPr lang="en-US" altLang="zh-CN" sz="1400" dirty="0">
                <a:latin typeface="Consolas"/>
                <a:cs typeface="Consolas"/>
              </a:rPr>
              <a:t>(header2footer(&amp;h-&gt;</a:t>
            </a:r>
            <a:r>
              <a:rPr lang="en-US" altLang="zh-CN" sz="1400" dirty="0" err="1">
                <a:latin typeface="Consolas"/>
                <a:cs typeface="Consolas"/>
              </a:rPr>
              <a:t>size_n_status</a:t>
            </a:r>
            <a:r>
              <a:rPr lang="en-US" altLang="zh-CN" sz="1400" dirty="0">
                <a:latin typeface="Consolas"/>
                <a:cs typeface="Consolas"/>
              </a:rPr>
              <a:t>), </a:t>
            </a:r>
            <a:r>
              <a:rPr lang="en-US" altLang="zh-CN" sz="1400" dirty="0" err="1">
                <a:latin typeface="Consolas"/>
                <a:cs typeface="Consolas"/>
              </a:rPr>
              <a:t>sz</a:t>
            </a:r>
            <a:r>
              <a:rPr lang="en-US" altLang="zh-CN" sz="1400" dirty="0">
                <a:latin typeface="Consolas"/>
                <a:cs typeface="Consolas"/>
              </a:rPr>
              <a:t>, false);</a:t>
            </a:r>
          </a:p>
          <a:p>
            <a:r>
              <a:rPr lang="en-US" altLang="zh-CN" sz="14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4EAAD-D1FC-4095-8626-3721C22F4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3" y="-32837"/>
            <a:ext cx="8229600" cy="1143000"/>
          </a:xfrm>
        </p:spPr>
        <p:txBody>
          <a:bodyPr/>
          <a:lstStyle/>
          <a:p>
            <a:r>
              <a:rPr lang="en-US"/>
              <a:t>Explicit list: initialization</a:t>
            </a:r>
          </a:p>
        </p:txBody>
      </p:sp>
      <p:sp>
        <p:nvSpPr>
          <p:cNvPr id="5" name="矩形 20">
            <a:extLst>
              <a:ext uri="{FF2B5EF4-FFF2-40B4-BE49-F238E27FC236}">
                <a16:creationId xmlns:a16="http://schemas.microsoft.com/office/drawing/2014/main" id="{F1D365D4-4005-4FC4-AC71-D65482AF764D}"/>
              </a:ext>
            </a:extLst>
          </p:cNvPr>
          <p:cNvSpPr/>
          <p:nvPr/>
        </p:nvSpPr>
        <p:spPr>
          <a:xfrm>
            <a:off x="388277" y="956274"/>
            <a:ext cx="46228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nsolas"/>
                <a:cs typeface="Consolas"/>
              </a:rPr>
              <a:t>typedef struct </a:t>
            </a:r>
            <a:r>
              <a:rPr lang="en-US" altLang="zh-CN" sz="1400" dirty="0" err="1">
                <a:latin typeface="Consolas"/>
                <a:cs typeface="Consolas"/>
              </a:rPr>
              <a:t>free_hdr</a:t>
            </a:r>
            <a:r>
              <a:rPr lang="en-US" altLang="zh-CN" sz="1400" dirty="0">
                <a:latin typeface="Consolas"/>
                <a:cs typeface="Consolas"/>
              </a:rPr>
              <a:t> {</a:t>
            </a:r>
          </a:p>
          <a:p>
            <a:r>
              <a:rPr lang="en-US" altLang="zh-CN" sz="1400" dirty="0">
                <a:latin typeface="Consolas"/>
                <a:cs typeface="Consolas"/>
              </a:rPr>
              <a:t>   </a:t>
            </a:r>
            <a:r>
              <a:rPr lang="en-US" altLang="zh-CN" sz="1400" dirty="0" err="1">
                <a:latin typeface="Consolas"/>
                <a:cs typeface="Consolas"/>
              </a:rPr>
              <a:t>header_t</a:t>
            </a:r>
            <a:r>
              <a:rPr lang="en-US" altLang="zh-CN" sz="1400" dirty="0">
                <a:latin typeface="Consolas"/>
                <a:cs typeface="Consolas"/>
              </a:rPr>
              <a:t> </a:t>
            </a:r>
            <a:r>
              <a:rPr lang="en-US" altLang="zh-CN" sz="1400" dirty="0" err="1">
                <a:latin typeface="Consolas"/>
                <a:cs typeface="Consolas"/>
              </a:rPr>
              <a:t>size_n_status</a:t>
            </a:r>
            <a:r>
              <a:rPr lang="en-US" altLang="zh-CN" sz="1400" dirty="0">
                <a:latin typeface="Consolas"/>
                <a:cs typeface="Consolas"/>
              </a:rPr>
              <a:t>;</a:t>
            </a:r>
          </a:p>
          <a:p>
            <a:r>
              <a:rPr lang="en-US" altLang="zh-CN" sz="1400" dirty="0">
                <a:latin typeface="Consolas"/>
                <a:cs typeface="Consolas"/>
              </a:rPr>
              <a:t>   struct </a:t>
            </a:r>
            <a:r>
              <a:rPr lang="en-US" altLang="zh-CN" sz="1400" dirty="0" err="1">
                <a:latin typeface="Consolas"/>
                <a:cs typeface="Consolas"/>
              </a:rPr>
              <a:t>free_hdr</a:t>
            </a:r>
            <a:r>
              <a:rPr lang="en-US" altLang="zh-CN" sz="1400" dirty="0">
                <a:latin typeface="Consolas"/>
                <a:cs typeface="Consolas"/>
              </a:rPr>
              <a:t> *next;</a:t>
            </a:r>
          </a:p>
          <a:p>
            <a:r>
              <a:rPr lang="en-US" altLang="zh-CN" sz="1400" dirty="0">
                <a:latin typeface="Consolas"/>
                <a:cs typeface="Consolas"/>
              </a:rPr>
              <a:t>   struct </a:t>
            </a:r>
            <a:r>
              <a:rPr lang="en-US" altLang="zh-CN" sz="1400" dirty="0" err="1">
                <a:latin typeface="Consolas"/>
                <a:cs typeface="Consolas"/>
              </a:rPr>
              <a:t>free_hdr</a:t>
            </a:r>
            <a:r>
              <a:rPr lang="en-US" altLang="zh-CN" sz="1400" dirty="0">
                <a:latin typeface="Consolas"/>
                <a:cs typeface="Consolas"/>
              </a:rPr>
              <a:t> *</a:t>
            </a:r>
            <a:r>
              <a:rPr lang="en-US" altLang="zh-CN" sz="1400" dirty="0" err="1">
                <a:latin typeface="Consolas"/>
                <a:cs typeface="Consolas"/>
              </a:rPr>
              <a:t>prev</a:t>
            </a:r>
            <a:r>
              <a:rPr lang="en-US" altLang="zh-CN" sz="1400" dirty="0">
                <a:latin typeface="Consolas"/>
                <a:cs typeface="Consolas"/>
              </a:rPr>
              <a:t>; </a:t>
            </a:r>
          </a:p>
          <a:p>
            <a:r>
              <a:rPr lang="en-US" altLang="zh-CN" sz="1400" dirty="0">
                <a:latin typeface="Consolas"/>
                <a:cs typeface="Consolas"/>
              </a:rPr>
              <a:t>} </a:t>
            </a:r>
            <a:r>
              <a:rPr lang="en-US" altLang="zh-CN" sz="1400" dirty="0" err="1">
                <a:latin typeface="Consolas"/>
                <a:cs typeface="Consolas"/>
              </a:rPr>
              <a:t>free_hdr</a:t>
            </a:r>
            <a:r>
              <a:rPr lang="en-US" altLang="zh-CN" sz="1400" dirty="0">
                <a:latin typeface="Consolas"/>
                <a:cs typeface="Consolas"/>
              </a:rPr>
              <a:t>;</a:t>
            </a:r>
          </a:p>
        </p:txBody>
      </p:sp>
      <p:sp>
        <p:nvSpPr>
          <p:cNvPr id="9" name="矩形 42">
            <a:extLst>
              <a:ext uri="{FF2B5EF4-FFF2-40B4-BE49-F238E27FC236}">
                <a16:creationId xmlns:a16="http://schemas.microsoft.com/office/drawing/2014/main" id="{F68AFF9F-7688-4C13-965E-96555183ECE8}"/>
              </a:ext>
            </a:extLst>
          </p:cNvPr>
          <p:cNvSpPr/>
          <p:nvPr/>
        </p:nvSpPr>
        <p:spPr>
          <a:xfrm>
            <a:off x="6268799" y="2811777"/>
            <a:ext cx="1767840" cy="2339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>
                <a:solidFill>
                  <a:schemeClr val="tx1"/>
                </a:solidFill>
                <a:latin typeface="Arial"/>
                <a:cs typeface="Arial"/>
              </a:rPr>
              <a:t>size_n_status</a:t>
            </a:r>
            <a:endParaRPr kumimoji="1" lang="en-US" altLang="zh-CN" sz="14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矩形 3">
            <a:extLst>
              <a:ext uri="{FF2B5EF4-FFF2-40B4-BE49-F238E27FC236}">
                <a16:creationId xmlns:a16="http://schemas.microsoft.com/office/drawing/2014/main" id="{254FF382-6566-4227-A48A-EA91B74C1E84}"/>
              </a:ext>
            </a:extLst>
          </p:cNvPr>
          <p:cNvSpPr/>
          <p:nvPr/>
        </p:nvSpPr>
        <p:spPr>
          <a:xfrm>
            <a:off x="6267263" y="1127627"/>
            <a:ext cx="1767840" cy="16841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>
              <a:solidFill>
                <a:schemeClr val="tx1"/>
              </a:solidFill>
              <a:latin typeface="Arial"/>
              <a:cs typeface="Arial"/>
            </a:endParaRPr>
          </a:p>
          <a:p>
            <a:pPr algn="ctr"/>
            <a:endParaRPr kumimoji="1" lang="en-US" altLang="zh-CN">
              <a:solidFill>
                <a:schemeClr val="tx1"/>
              </a:solidFill>
              <a:latin typeface="Arial"/>
              <a:cs typeface="Arial"/>
            </a:endParaRPr>
          </a:p>
          <a:p>
            <a:pPr algn="ctr"/>
            <a:r>
              <a:rPr kumimoji="1" lang="en-US" altLang="zh-CN">
                <a:solidFill>
                  <a:schemeClr val="tx1"/>
                </a:solidFill>
                <a:latin typeface="Arial"/>
                <a:cs typeface="Arial"/>
              </a:rPr>
              <a:t>…</a:t>
            </a:r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" name="矩形 4">
            <a:extLst>
              <a:ext uri="{FF2B5EF4-FFF2-40B4-BE49-F238E27FC236}">
                <a16:creationId xmlns:a16="http://schemas.microsoft.com/office/drawing/2014/main" id="{7957819E-5D93-4AF9-9661-FAAE47E1B2B8}"/>
              </a:ext>
            </a:extLst>
          </p:cNvPr>
          <p:cNvSpPr/>
          <p:nvPr/>
        </p:nvSpPr>
        <p:spPr>
          <a:xfrm>
            <a:off x="6267263" y="1075190"/>
            <a:ext cx="1767840" cy="285391"/>
          </a:xfrm>
          <a:prstGeom prst="rect">
            <a:avLst/>
          </a:prstGeom>
          <a:solidFill>
            <a:srgbClr val="E6B9B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  <a:latin typeface="Arial"/>
                <a:cs typeface="Arial"/>
              </a:rPr>
              <a:t>     </a:t>
            </a:r>
            <a:r>
              <a:rPr kumimoji="1" lang="en-US" altLang="zh-CN" sz="1400" dirty="0" err="1">
                <a:solidFill>
                  <a:schemeClr val="tx1"/>
                </a:solidFill>
                <a:latin typeface="Arial"/>
                <a:cs typeface="Arial"/>
              </a:rPr>
              <a:t>size_n_status</a:t>
            </a:r>
            <a:endParaRPr kumimoji="1" lang="en-US" altLang="zh-CN" sz="14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" name="矩形 4">
            <a:extLst>
              <a:ext uri="{FF2B5EF4-FFF2-40B4-BE49-F238E27FC236}">
                <a16:creationId xmlns:a16="http://schemas.microsoft.com/office/drawing/2014/main" id="{8923C606-9089-489F-9FF7-C4DCD3E1A89B}"/>
              </a:ext>
            </a:extLst>
          </p:cNvPr>
          <p:cNvSpPr/>
          <p:nvPr/>
        </p:nvSpPr>
        <p:spPr>
          <a:xfrm>
            <a:off x="6268799" y="1361568"/>
            <a:ext cx="1767840" cy="500835"/>
          </a:xfrm>
          <a:prstGeom prst="rect">
            <a:avLst/>
          </a:prstGeom>
          <a:solidFill>
            <a:srgbClr val="E6B9B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chemeClr val="tx1"/>
                </a:solidFill>
                <a:latin typeface="Arial"/>
                <a:cs typeface="Arial"/>
              </a:rPr>
              <a:t>next</a:t>
            </a:r>
          </a:p>
          <a:p>
            <a:pPr algn="ctr"/>
            <a:r>
              <a:rPr kumimoji="1" lang="en-US" altLang="zh-CN" sz="1400" err="1">
                <a:solidFill>
                  <a:schemeClr val="tx1"/>
                </a:solidFill>
                <a:latin typeface="Arial"/>
                <a:cs typeface="Arial"/>
              </a:rPr>
              <a:t>prev</a:t>
            </a:r>
            <a:endParaRPr kumimoji="1" lang="en-US" altLang="zh-CN" sz="14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1C5491-DA2C-464C-B41B-0D0C98D96276}"/>
              </a:ext>
            </a:extLst>
          </p:cNvPr>
          <p:cNvSpPr txBox="1"/>
          <p:nvPr/>
        </p:nvSpPr>
        <p:spPr>
          <a:xfrm>
            <a:off x="388277" y="2074784"/>
            <a:ext cx="55672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accent1"/>
                </a:solidFill>
              </a:rPr>
              <a:t>free_hdr</a:t>
            </a:r>
            <a:r>
              <a:rPr lang="en-US" sz="1600" dirty="0">
                <a:solidFill>
                  <a:schemeClr val="accent1"/>
                </a:solidFill>
              </a:rPr>
              <a:t> *</a:t>
            </a:r>
            <a:r>
              <a:rPr lang="en-US" sz="1600" dirty="0" err="1">
                <a:solidFill>
                  <a:schemeClr val="accent1"/>
                </a:solidFill>
              </a:rPr>
              <a:t>freelist</a:t>
            </a:r>
            <a:r>
              <a:rPr lang="en-US" sz="1600" dirty="0">
                <a:solidFill>
                  <a:schemeClr val="accent1"/>
                </a:solidFill>
              </a:rPr>
              <a:t> = NULL; // pointer to the head of the linked list</a:t>
            </a:r>
          </a:p>
        </p:txBody>
      </p:sp>
      <p:sp>
        <p:nvSpPr>
          <p:cNvPr id="3" name="矩形 20">
            <a:extLst>
              <a:ext uri="{FF2B5EF4-FFF2-40B4-BE49-F238E27FC236}">
                <a16:creationId xmlns:a16="http://schemas.microsoft.com/office/drawing/2014/main" id="{7E6668DF-F12B-45AA-943B-A540B9D34810}"/>
              </a:ext>
            </a:extLst>
          </p:cNvPr>
          <p:cNvSpPr/>
          <p:nvPr/>
        </p:nvSpPr>
        <p:spPr>
          <a:xfrm>
            <a:off x="383249" y="4613259"/>
            <a:ext cx="7651854" cy="11695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nsolas"/>
                <a:cs typeface="Consolas"/>
              </a:rPr>
              <a:t>void </a:t>
            </a:r>
            <a:r>
              <a:rPr lang="en-US" altLang="zh-CN" sz="1400" dirty="0" err="1">
                <a:latin typeface="Consolas"/>
                <a:cs typeface="Consolas"/>
              </a:rPr>
              <a:t>init</a:t>
            </a:r>
            <a:r>
              <a:rPr lang="en-US" altLang="zh-CN" sz="1400" dirty="0">
                <a:latin typeface="Consolas"/>
                <a:cs typeface="Consolas"/>
              </a:rPr>
              <a:t>() {</a:t>
            </a:r>
          </a:p>
          <a:p>
            <a:r>
              <a:rPr lang="en-US" altLang="zh-CN" sz="1400" dirty="0">
                <a:latin typeface="Consolas"/>
                <a:cs typeface="Consolas"/>
              </a:rPr>
              <a:t>   </a:t>
            </a:r>
            <a:r>
              <a:rPr lang="en-US" altLang="zh-CN" sz="1400" dirty="0" err="1">
                <a:latin typeface="Consolas"/>
                <a:cs typeface="Consolas"/>
              </a:rPr>
              <a:t>free_hdr</a:t>
            </a:r>
            <a:r>
              <a:rPr lang="en-US" altLang="zh-CN" sz="1400" dirty="0">
                <a:latin typeface="Consolas"/>
                <a:cs typeface="Consolas"/>
              </a:rPr>
              <a:t> *h = </a:t>
            </a:r>
            <a:r>
              <a:rPr lang="en-US" altLang="zh-CN" sz="1400" dirty="0" err="1">
                <a:latin typeface="Consolas"/>
                <a:cs typeface="Consolas"/>
              </a:rPr>
              <a:t>sbrk</a:t>
            </a:r>
            <a:r>
              <a:rPr lang="en-US" altLang="zh-CN" sz="1400" dirty="0">
                <a:latin typeface="Consolas"/>
                <a:cs typeface="Consolas"/>
              </a:rPr>
              <a:t>(INIT_HEAP_SZ); //alignment is omitted</a:t>
            </a:r>
          </a:p>
          <a:p>
            <a:r>
              <a:rPr lang="en-US" altLang="zh-CN" sz="1400" dirty="0">
                <a:latin typeface="Consolas"/>
                <a:cs typeface="Consolas"/>
              </a:rPr>
              <a:t>   </a:t>
            </a:r>
            <a:r>
              <a:rPr lang="en-US" altLang="zh-CN" sz="1400" dirty="0" err="1">
                <a:latin typeface="Consolas"/>
                <a:cs typeface="Consolas"/>
              </a:rPr>
              <a:t>init_free_chunk</a:t>
            </a:r>
            <a:r>
              <a:rPr lang="en-US" altLang="zh-CN" sz="1400" dirty="0">
                <a:latin typeface="Consolas"/>
                <a:cs typeface="Consolas"/>
              </a:rPr>
              <a:t>(h, </a:t>
            </a:r>
            <a:r>
              <a:rPr lang="en-US" altLang="zh-CN" sz="1400" dirty="0" err="1">
                <a:latin typeface="Consolas"/>
                <a:cs typeface="Consolas"/>
              </a:rPr>
              <a:t>sz</a:t>
            </a:r>
            <a:r>
              <a:rPr lang="en-US" altLang="zh-CN" sz="1400" dirty="0">
                <a:latin typeface="Consolas"/>
                <a:cs typeface="Consolas"/>
              </a:rPr>
              <a:t>);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Consolas"/>
                <a:cs typeface="Consolas"/>
              </a:rPr>
              <a:t>   insert(&amp;</a:t>
            </a:r>
            <a:r>
              <a:rPr lang="en-US" altLang="zh-CN" sz="1400" dirty="0" err="1">
                <a:solidFill>
                  <a:srgbClr val="FF0000"/>
                </a:solidFill>
                <a:latin typeface="Consolas"/>
                <a:cs typeface="Consolas"/>
              </a:rPr>
              <a:t>freelist</a:t>
            </a:r>
            <a:r>
              <a:rPr lang="en-US" altLang="zh-CN" sz="1400" dirty="0">
                <a:solidFill>
                  <a:srgbClr val="FF0000"/>
                </a:solidFill>
                <a:latin typeface="Consolas"/>
                <a:cs typeface="Consolas"/>
              </a:rPr>
              <a:t>, h);</a:t>
            </a:r>
          </a:p>
          <a:p>
            <a:r>
              <a:rPr lang="en-US" altLang="zh-CN" sz="1400" dirty="0"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73151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456"/>
            <a:ext cx="8229600" cy="1143000"/>
          </a:xfrm>
        </p:spPr>
        <p:txBody>
          <a:bodyPr/>
          <a:lstStyle/>
          <a:p>
            <a:r>
              <a:rPr lang="en-US"/>
              <a:t>Explicit list: allocate</a:t>
            </a:r>
          </a:p>
        </p:txBody>
      </p:sp>
      <p:sp>
        <p:nvSpPr>
          <p:cNvPr id="4" name="矩形 20"/>
          <p:cNvSpPr/>
          <p:nvPr/>
        </p:nvSpPr>
        <p:spPr>
          <a:xfrm>
            <a:off x="457200" y="760331"/>
            <a:ext cx="853579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1600" dirty="0">
                <a:latin typeface="Consolas"/>
                <a:cs typeface="Consolas"/>
              </a:rPr>
              <a:t>void *malloc(</a:t>
            </a:r>
            <a:r>
              <a:rPr lang="en-US" altLang="zh-CN" sz="1600" dirty="0" err="1">
                <a:latin typeface="Consolas"/>
                <a:cs typeface="Consolas"/>
              </a:rPr>
              <a:t>size_t</a:t>
            </a:r>
            <a:r>
              <a:rPr lang="en-US" altLang="zh-CN" sz="1600" dirty="0">
                <a:latin typeface="Consolas"/>
                <a:cs typeface="Consolas"/>
              </a:rPr>
              <a:t> s) {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</a:t>
            </a:r>
            <a:r>
              <a:rPr lang="en-US" altLang="zh-CN" sz="1600" dirty="0" err="1">
                <a:latin typeface="Consolas"/>
                <a:cs typeface="Consolas"/>
              </a:rPr>
              <a:t>size_t</a:t>
            </a:r>
            <a:r>
              <a:rPr lang="en-US" altLang="zh-CN" sz="1600" dirty="0">
                <a:latin typeface="Consolas"/>
                <a:cs typeface="Consolas"/>
              </a:rPr>
              <a:t> </a:t>
            </a:r>
            <a:r>
              <a:rPr lang="en-US" altLang="zh-CN" sz="1600" dirty="0" err="1">
                <a:latin typeface="Consolas"/>
                <a:cs typeface="Consolas"/>
              </a:rPr>
              <a:t>csz</a:t>
            </a:r>
            <a:r>
              <a:rPr lang="en-US" altLang="zh-CN" sz="1600" dirty="0">
                <a:latin typeface="Consolas"/>
                <a:cs typeface="Consolas"/>
              </a:rPr>
              <a:t> = align(s) + 2*</a:t>
            </a:r>
            <a:r>
              <a:rPr lang="en-US" altLang="zh-CN" sz="1600" dirty="0" err="1">
                <a:latin typeface="Consolas"/>
                <a:cs typeface="Consolas"/>
              </a:rPr>
              <a:t>sizeof</a:t>
            </a:r>
            <a:r>
              <a:rPr lang="en-US" altLang="zh-CN" sz="1600" dirty="0">
                <a:latin typeface="Consolas"/>
                <a:cs typeface="Consolas"/>
              </a:rPr>
              <a:t>(</a:t>
            </a:r>
            <a:r>
              <a:rPr lang="en-US" altLang="zh-CN" sz="1600" dirty="0" err="1">
                <a:latin typeface="Consolas"/>
                <a:cs typeface="Consolas"/>
              </a:rPr>
              <a:t>header_t</a:t>
            </a:r>
            <a:r>
              <a:rPr lang="en-US" altLang="zh-CN" sz="1600" dirty="0">
                <a:latin typeface="Consolas"/>
                <a:cs typeface="Consolas"/>
              </a:rPr>
              <a:t>); //min chunk size required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</a:t>
            </a:r>
            <a:r>
              <a:rPr lang="en-US" altLang="zh-CN" sz="1600" dirty="0" err="1">
                <a:latin typeface="Consolas"/>
                <a:cs typeface="Consolas"/>
              </a:rPr>
              <a:t>free_hdr</a:t>
            </a:r>
            <a:r>
              <a:rPr lang="en-US" altLang="zh-CN" sz="1600" dirty="0">
                <a:latin typeface="Consolas"/>
                <a:cs typeface="Consolas"/>
              </a:rPr>
              <a:t> *h = </a:t>
            </a:r>
            <a:r>
              <a:rPr lang="en-US" altLang="zh-CN" sz="1600" dirty="0" err="1">
                <a:solidFill>
                  <a:srgbClr val="FF0000"/>
                </a:solidFill>
                <a:latin typeface="Consolas"/>
                <a:cs typeface="Consolas"/>
              </a:rPr>
              <a:t>first_fit</a:t>
            </a:r>
            <a:r>
              <a:rPr lang="en-US" altLang="zh-CN" sz="1600" dirty="0">
                <a:latin typeface="Consolas"/>
                <a:cs typeface="Consolas"/>
              </a:rPr>
              <a:t>(</a:t>
            </a:r>
            <a:r>
              <a:rPr lang="en-US" altLang="zh-CN" sz="1600" dirty="0" err="1">
                <a:latin typeface="Consolas"/>
                <a:cs typeface="Consolas"/>
              </a:rPr>
              <a:t>csz</a:t>
            </a:r>
            <a:r>
              <a:rPr lang="en-US" altLang="zh-CN" sz="1600" dirty="0">
                <a:latin typeface="Consolas"/>
                <a:cs typeface="Consolas"/>
              </a:rPr>
              <a:t>); 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//if h=NULL (not enough space), ask OS to enlarge heap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</a:t>
            </a:r>
            <a:r>
              <a:rPr lang="en-US" altLang="zh-CN" sz="1600" dirty="0" err="1">
                <a:latin typeface="Consolas"/>
                <a:cs typeface="Consolas"/>
              </a:rPr>
              <a:t>free_hdr</a:t>
            </a:r>
            <a:r>
              <a:rPr lang="en-US" altLang="zh-CN" sz="1600" dirty="0">
                <a:latin typeface="Consolas"/>
                <a:cs typeface="Consolas"/>
              </a:rPr>
              <a:t> *</a:t>
            </a:r>
            <a:r>
              <a:rPr lang="en-US" altLang="zh-CN" sz="1600" dirty="0" err="1">
                <a:latin typeface="Consolas"/>
                <a:cs typeface="Consolas"/>
              </a:rPr>
              <a:t>newchunk</a:t>
            </a:r>
            <a:r>
              <a:rPr lang="en-US" altLang="zh-CN" sz="1600" dirty="0">
                <a:latin typeface="Consolas"/>
                <a:cs typeface="Consolas"/>
              </a:rPr>
              <a:t> = split(h, </a:t>
            </a:r>
            <a:r>
              <a:rPr lang="en-US" altLang="zh-CN" sz="1600" dirty="0" err="1">
                <a:latin typeface="Consolas"/>
                <a:cs typeface="Consolas"/>
              </a:rPr>
              <a:t>csz</a:t>
            </a:r>
            <a:r>
              <a:rPr lang="en-US" altLang="zh-CN" sz="1600" dirty="0">
                <a:latin typeface="Consolas"/>
                <a:cs typeface="Consolas"/>
              </a:rPr>
              <a:t>);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if (</a:t>
            </a:r>
            <a:r>
              <a:rPr lang="en-US" altLang="zh-CN" sz="1600" dirty="0" err="1">
                <a:latin typeface="Consolas"/>
                <a:cs typeface="Consolas"/>
              </a:rPr>
              <a:t>newchunk</a:t>
            </a:r>
            <a:r>
              <a:rPr lang="en-US" altLang="zh-CN" sz="1600" dirty="0">
                <a:latin typeface="Consolas"/>
                <a:cs typeface="Consolas"/>
              </a:rPr>
              <a:t>)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   insert(&amp;</a:t>
            </a:r>
            <a:r>
              <a:rPr lang="en-US" altLang="zh-CN" sz="1600" dirty="0" err="1">
                <a:latin typeface="Consolas"/>
                <a:cs typeface="Consolas"/>
              </a:rPr>
              <a:t>freelist</a:t>
            </a:r>
            <a:r>
              <a:rPr lang="en-US" altLang="zh-CN" sz="1600" dirty="0">
                <a:latin typeface="Consolas"/>
                <a:cs typeface="Consolas"/>
              </a:rPr>
              <a:t>, </a:t>
            </a:r>
            <a:r>
              <a:rPr lang="en-US" altLang="zh-CN" sz="1600" dirty="0" err="1">
                <a:latin typeface="Consolas"/>
                <a:cs typeface="Consolas"/>
              </a:rPr>
              <a:t>newchunk</a:t>
            </a:r>
            <a:r>
              <a:rPr lang="en-US" altLang="zh-CN" sz="1600" dirty="0">
                <a:latin typeface="Consolas"/>
                <a:cs typeface="Consolas"/>
              </a:rPr>
              <a:t>);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</a:t>
            </a:r>
            <a:r>
              <a:rPr lang="en-US" altLang="zh-CN" sz="1600" dirty="0" err="1">
                <a:latin typeface="Consolas"/>
                <a:cs typeface="Consolas"/>
              </a:rPr>
              <a:t>set_status</a:t>
            </a:r>
            <a:r>
              <a:rPr lang="en-US" altLang="zh-CN" sz="1600" dirty="0">
                <a:latin typeface="Consolas"/>
                <a:cs typeface="Consolas"/>
              </a:rPr>
              <a:t>(&amp;h-&gt;</a:t>
            </a:r>
            <a:r>
              <a:rPr lang="en-US" altLang="zh-CN" sz="1600" dirty="0" err="1">
                <a:latin typeface="Consolas"/>
                <a:cs typeface="Consolas"/>
              </a:rPr>
              <a:t>common_header</a:t>
            </a:r>
            <a:r>
              <a:rPr lang="en-US" altLang="zh-CN" sz="1600" dirty="0">
                <a:latin typeface="Consolas"/>
                <a:cs typeface="Consolas"/>
              </a:rPr>
              <a:t>, true);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return header2payload(h);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}</a:t>
            </a:r>
          </a:p>
          <a:p>
            <a:endParaRPr lang="en-US" altLang="zh-CN" sz="1600" dirty="0">
              <a:latin typeface="Consolas"/>
              <a:cs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3473488"/>
            <a:ext cx="415187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Consolas"/>
                <a:cs typeface="Consolas"/>
              </a:rPr>
              <a:t>free_hdr</a:t>
            </a:r>
            <a:r>
              <a:rPr lang="en-US" altLang="zh-CN" sz="1600" dirty="0">
                <a:latin typeface="Consolas"/>
                <a:cs typeface="Consolas"/>
              </a:rPr>
              <a:t> *</a:t>
            </a:r>
            <a:r>
              <a:rPr lang="en-US" altLang="zh-CN" sz="1600" dirty="0" err="1">
                <a:latin typeface="Consolas"/>
                <a:cs typeface="Consolas"/>
              </a:rPr>
              <a:t>first_fit</a:t>
            </a:r>
            <a:r>
              <a:rPr lang="en-US" altLang="zh-CN" sz="1600" dirty="0">
                <a:latin typeface="Consolas"/>
                <a:cs typeface="Consolas"/>
              </a:rPr>
              <a:t>(</a:t>
            </a:r>
            <a:r>
              <a:rPr lang="en-US" altLang="zh-CN" sz="1600" dirty="0" err="1">
                <a:latin typeface="Consolas"/>
                <a:cs typeface="Consolas"/>
              </a:rPr>
              <a:t>size_t</a:t>
            </a:r>
            <a:r>
              <a:rPr lang="en-US" altLang="zh-CN" sz="1600" dirty="0">
                <a:latin typeface="Consolas"/>
                <a:cs typeface="Consolas"/>
              </a:rPr>
              <a:t> </a:t>
            </a:r>
            <a:r>
              <a:rPr lang="en-US" altLang="zh-CN" sz="1600" dirty="0" err="1">
                <a:latin typeface="Consolas"/>
                <a:cs typeface="Consolas"/>
              </a:rPr>
              <a:t>sz</a:t>
            </a:r>
            <a:r>
              <a:rPr lang="en-US" altLang="zh-CN" sz="1600" dirty="0">
                <a:latin typeface="Consolas"/>
                <a:cs typeface="Consolas"/>
              </a:rPr>
              <a:t>) {</a:t>
            </a: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1600" dirty="0">
                <a:latin typeface="Consolas"/>
                <a:cs typeface="Consolas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77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456"/>
            <a:ext cx="8229600" cy="1143000"/>
          </a:xfrm>
        </p:spPr>
        <p:txBody>
          <a:bodyPr/>
          <a:lstStyle/>
          <a:p>
            <a:r>
              <a:rPr lang="en-US"/>
              <a:t>Explicit list: allocate</a:t>
            </a:r>
          </a:p>
        </p:txBody>
      </p:sp>
      <p:sp>
        <p:nvSpPr>
          <p:cNvPr id="4" name="矩形 20"/>
          <p:cNvSpPr/>
          <p:nvPr/>
        </p:nvSpPr>
        <p:spPr>
          <a:xfrm>
            <a:off x="457200" y="760331"/>
            <a:ext cx="897128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>
                <a:latin typeface="Consolas"/>
                <a:cs typeface="Consolas"/>
              </a:rPr>
              <a:t>void *malloc(</a:t>
            </a:r>
            <a:r>
              <a:rPr lang="en-US" altLang="zh-CN" sz="1600" err="1">
                <a:latin typeface="Consolas"/>
                <a:cs typeface="Consolas"/>
              </a:rPr>
              <a:t>size_t</a:t>
            </a:r>
            <a:r>
              <a:rPr lang="en-US" altLang="zh-CN" sz="1600">
                <a:latin typeface="Consolas"/>
                <a:cs typeface="Consolas"/>
              </a:rPr>
              <a:t> s) {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size_t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csz</a:t>
            </a:r>
            <a:r>
              <a:rPr lang="en-US" altLang="zh-CN" sz="1600">
                <a:latin typeface="Consolas"/>
                <a:cs typeface="Consolas"/>
              </a:rPr>
              <a:t> = align(s) + 2*</a:t>
            </a:r>
            <a:r>
              <a:rPr lang="en-US" altLang="zh-CN" sz="1600" err="1">
                <a:latin typeface="Consolas"/>
                <a:cs typeface="Consolas"/>
              </a:rPr>
              <a:t>sizeof</a:t>
            </a:r>
            <a:r>
              <a:rPr lang="en-US" altLang="zh-CN" sz="1600">
                <a:latin typeface="Consolas"/>
                <a:cs typeface="Consolas"/>
              </a:rPr>
              <a:t>(header); //min chunk size required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*h = </a:t>
            </a:r>
            <a:r>
              <a:rPr lang="en-US" altLang="zh-CN" sz="1600" err="1">
                <a:solidFill>
                  <a:srgbClr val="FF0000"/>
                </a:solidFill>
                <a:latin typeface="Consolas"/>
                <a:cs typeface="Consolas"/>
              </a:rPr>
              <a:t>first_fit</a:t>
            </a:r>
            <a:r>
              <a:rPr lang="en-US" altLang="zh-CN" sz="1600">
                <a:latin typeface="Consolas"/>
                <a:cs typeface="Consolas"/>
              </a:rPr>
              <a:t>(</a:t>
            </a:r>
            <a:r>
              <a:rPr lang="en-US" altLang="zh-CN" sz="1600" err="1">
                <a:latin typeface="Consolas"/>
                <a:cs typeface="Consolas"/>
              </a:rPr>
              <a:t>csz</a:t>
            </a:r>
            <a:r>
              <a:rPr lang="en-US" altLang="zh-CN" sz="1600">
                <a:latin typeface="Consolas"/>
                <a:cs typeface="Consolas"/>
              </a:rPr>
              <a:t>);</a:t>
            </a:r>
          </a:p>
          <a:p>
            <a:r>
              <a:rPr lang="en-US" altLang="zh-CN" sz="1600">
                <a:latin typeface="Consolas"/>
                <a:cs typeface="Consolas"/>
              </a:rPr>
              <a:t>   //if h=NULL (not enough space), ask OS to enlarge heap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</a:t>
            </a:r>
            <a:r>
              <a:rPr lang="en-US" altLang="zh-CN" sz="1600" err="1">
                <a:latin typeface="Consolas"/>
                <a:cs typeface="Consolas"/>
              </a:rPr>
              <a:t>newchunk</a:t>
            </a:r>
            <a:r>
              <a:rPr lang="en-US" altLang="zh-CN" sz="1600">
                <a:latin typeface="Consolas"/>
                <a:cs typeface="Consolas"/>
              </a:rPr>
              <a:t> = split(h, </a:t>
            </a:r>
            <a:r>
              <a:rPr lang="en-US" altLang="zh-CN" sz="1600" err="1">
                <a:latin typeface="Consolas"/>
                <a:cs typeface="Consolas"/>
              </a:rPr>
              <a:t>csz</a:t>
            </a:r>
            <a:r>
              <a:rPr lang="en-US" altLang="zh-CN" sz="1600">
                <a:latin typeface="Consolas"/>
                <a:cs typeface="Consolas"/>
              </a:rPr>
              <a:t>);</a:t>
            </a:r>
          </a:p>
          <a:p>
            <a:r>
              <a:rPr lang="en-US" altLang="zh-CN" sz="1600">
                <a:latin typeface="Consolas"/>
                <a:cs typeface="Consolas"/>
              </a:rPr>
              <a:t>   if (</a:t>
            </a:r>
            <a:r>
              <a:rPr lang="en-US" altLang="zh-CN" sz="1600" err="1">
                <a:latin typeface="Consolas"/>
                <a:cs typeface="Consolas"/>
              </a:rPr>
              <a:t>newchunk</a:t>
            </a:r>
            <a:r>
              <a:rPr lang="en-US" altLang="zh-CN" sz="1600">
                <a:latin typeface="Consolas"/>
                <a:cs typeface="Consolas"/>
              </a:rPr>
              <a:t>)</a:t>
            </a:r>
          </a:p>
          <a:p>
            <a:r>
              <a:rPr lang="en-US" altLang="zh-CN" sz="1600">
                <a:latin typeface="Consolas"/>
                <a:cs typeface="Consolas"/>
              </a:rPr>
              <a:t>      insert(&amp;</a:t>
            </a:r>
            <a:r>
              <a:rPr lang="en-US" altLang="zh-CN" sz="1600" err="1">
                <a:latin typeface="Consolas"/>
                <a:cs typeface="Consolas"/>
              </a:rPr>
              <a:t>freelist</a:t>
            </a:r>
            <a:r>
              <a:rPr lang="en-US" altLang="zh-CN" sz="1600">
                <a:latin typeface="Consolas"/>
                <a:cs typeface="Consolas"/>
              </a:rPr>
              <a:t>, </a:t>
            </a:r>
            <a:r>
              <a:rPr lang="en-US" altLang="zh-CN" sz="1600" err="1">
                <a:latin typeface="Consolas"/>
                <a:cs typeface="Consolas"/>
              </a:rPr>
              <a:t>newchunk</a:t>
            </a:r>
            <a:r>
              <a:rPr lang="en-US" altLang="zh-CN" sz="1600">
                <a:latin typeface="Consolas"/>
                <a:cs typeface="Consolas"/>
              </a:rPr>
              <a:t>);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set_status</a:t>
            </a:r>
            <a:r>
              <a:rPr lang="en-US" altLang="zh-CN" sz="1600">
                <a:latin typeface="Consolas"/>
                <a:cs typeface="Consolas"/>
              </a:rPr>
              <a:t>(h, true);</a:t>
            </a:r>
          </a:p>
          <a:p>
            <a:r>
              <a:rPr lang="en-US" altLang="zh-CN" sz="1600">
                <a:latin typeface="Consolas"/>
                <a:cs typeface="Consolas"/>
              </a:rPr>
              <a:t>   return header2payload(h);</a:t>
            </a: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3488"/>
            <a:ext cx="5234125" cy="3077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latin typeface="Consolas"/>
                <a:cs typeface="Consolas"/>
              </a:rPr>
              <a:t>free_hdr</a:t>
            </a:r>
            <a:r>
              <a:rPr lang="en-US" altLang="zh-CN" sz="1600" dirty="0">
                <a:latin typeface="Consolas"/>
                <a:cs typeface="Consolas"/>
              </a:rPr>
              <a:t> *</a:t>
            </a:r>
            <a:r>
              <a:rPr lang="en-US" altLang="zh-CN" sz="1600" dirty="0" err="1">
                <a:latin typeface="Consolas"/>
                <a:cs typeface="Consolas"/>
              </a:rPr>
              <a:t>first_fit</a:t>
            </a:r>
            <a:r>
              <a:rPr lang="en-US" altLang="zh-CN" sz="1600" dirty="0">
                <a:latin typeface="Consolas"/>
                <a:cs typeface="Consolas"/>
              </a:rPr>
              <a:t>(</a:t>
            </a:r>
            <a:r>
              <a:rPr lang="en-US" altLang="zh-CN" sz="1600" dirty="0" err="1">
                <a:latin typeface="Consolas"/>
                <a:cs typeface="Consolas"/>
              </a:rPr>
              <a:t>size_t</a:t>
            </a:r>
            <a:r>
              <a:rPr lang="en-US" altLang="zh-CN" sz="1600" dirty="0">
                <a:latin typeface="Consolas"/>
                <a:cs typeface="Consolas"/>
              </a:rPr>
              <a:t> </a:t>
            </a:r>
            <a:r>
              <a:rPr lang="en-US" altLang="zh-CN" sz="1600" dirty="0" err="1">
                <a:latin typeface="Consolas"/>
                <a:cs typeface="Consolas"/>
              </a:rPr>
              <a:t>sz</a:t>
            </a:r>
            <a:r>
              <a:rPr lang="en-US" altLang="zh-CN" sz="1600" dirty="0">
                <a:latin typeface="Consolas"/>
                <a:cs typeface="Consolas"/>
              </a:rPr>
              <a:t>) {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</a:t>
            </a:r>
            <a:r>
              <a:rPr lang="en-US" altLang="zh-CN" sz="1600" dirty="0" err="1">
                <a:latin typeface="Consolas"/>
                <a:cs typeface="Consolas"/>
              </a:rPr>
              <a:t>free_hdr</a:t>
            </a:r>
            <a:r>
              <a:rPr lang="en-US" altLang="zh-CN" sz="1600" dirty="0">
                <a:latin typeface="Consolas"/>
                <a:cs typeface="Consolas"/>
              </a:rPr>
              <a:t> *h = </a:t>
            </a:r>
            <a:r>
              <a:rPr lang="en-US" altLang="zh-CN" sz="1600" dirty="0" err="1">
                <a:latin typeface="Consolas"/>
                <a:cs typeface="Consolas"/>
              </a:rPr>
              <a:t>freelist</a:t>
            </a:r>
            <a:r>
              <a:rPr lang="en-US" altLang="zh-CN" sz="1600" dirty="0">
                <a:latin typeface="Consolas"/>
                <a:cs typeface="Consolas"/>
              </a:rPr>
              <a:t>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while (h) {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   if (</a:t>
            </a:r>
            <a:r>
              <a:rPr lang="en-US" altLang="zh-CN" sz="1600" dirty="0" err="1">
                <a:latin typeface="Consolas"/>
                <a:cs typeface="Consolas"/>
              </a:rPr>
              <a:t>get_size</a:t>
            </a:r>
            <a:r>
              <a:rPr lang="en-US" altLang="zh-CN" sz="1600" dirty="0">
                <a:latin typeface="Consolas"/>
                <a:cs typeface="Consolas"/>
              </a:rPr>
              <a:t>(&amp;h-&gt;</a:t>
            </a:r>
            <a:r>
              <a:rPr lang="en-US" altLang="zh-CN" sz="1600" dirty="0" err="1">
                <a:latin typeface="Consolas"/>
                <a:cs typeface="Consolas"/>
              </a:rPr>
              <a:t>size_n_status</a:t>
            </a:r>
            <a:r>
              <a:rPr lang="en-US" altLang="zh-CN" sz="1600" dirty="0">
                <a:latin typeface="Consolas"/>
                <a:cs typeface="Consolas"/>
              </a:rPr>
              <a:t>)&gt;= </a:t>
            </a:r>
            <a:r>
              <a:rPr lang="en-US" altLang="zh-CN" sz="1600" dirty="0" err="1">
                <a:latin typeface="Consolas"/>
                <a:cs typeface="Consolas"/>
              </a:rPr>
              <a:t>sz</a:t>
            </a:r>
            <a:r>
              <a:rPr lang="en-US" altLang="zh-CN" sz="1600" dirty="0">
                <a:latin typeface="Consolas"/>
                <a:cs typeface="Consolas"/>
              </a:rPr>
              <a:t>) {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       delete(&amp;</a:t>
            </a:r>
            <a:r>
              <a:rPr lang="en-US" altLang="zh-CN" sz="1600" dirty="0" err="1">
                <a:latin typeface="Consolas"/>
                <a:cs typeface="Consolas"/>
              </a:rPr>
              <a:t>freelist</a:t>
            </a:r>
            <a:r>
              <a:rPr lang="en-US" altLang="zh-CN" sz="1600" dirty="0">
                <a:latin typeface="Consolas"/>
                <a:cs typeface="Consolas"/>
              </a:rPr>
              <a:t>, h);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		  break;</a:t>
            </a:r>
          </a:p>
          <a:p>
            <a:pPr lvl="1"/>
            <a:r>
              <a:rPr lang="en-US" altLang="zh-CN" sz="1600" dirty="0">
                <a:latin typeface="Consolas"/>
                <a:cs typeface="Consolas"/>
              </a:rPr>
              <a:t>  }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   h = h-&gt;next;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}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return h;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573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456"/>
            <a:ext cx="8229600" cy="1143000"/>
          </a:xfrm>
        </p:spPr>
        <p:txBody>
          <a:bodyPr/>
          <a:lstStyle/>
          <a:p>
            <a:r>
              <a:rPr lang="en-US"/>
              <a:t>Explicit list: allocate</a:t>
            </a:r>
          </a:p>
        </p:txBody>
      </p:sp>
      <p:sp>
        <p:nvSpPr>
          <p:cNvPr id="4" name="矩形 20"/>
          <p:cNvSpPr/>
          <p:nvPr/>
        </p:nvSpPr>
        <p:spPr>
          <a:xfrm>
            <a:off x="457200" y="760331"/>
            <a:ext cx="897128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>
                <a:latin typeface="Consolas"/>
                <a:cs typeface="Consolas"/>
              </a:rPr>
              <a:t>void *malloc(</a:t>
            </a:r>
            <a:r>
              <a:rPr lang="en-US" altLang="zh-CN" sz="1600" err="1">
                <a:latin typeface="Consolas"/>
                <a:cs typeface="Consolas"/>
              </a:rPr>
              <a:t>size_t</a:t>
            </a:r>
            <a:r>
              <a:rPr lang="en-US" altLang="zh-CN" sz="1600">
                <a:latin typeface="Consolas"/>
                <a:cs typeface="Consolas"/>
              </a:rPr>
              <a:t> s) {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size_t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csz</a:t>
            </a:r>
            <a:r>
              <a:rPr lang="en-US" altLang="zh-CN" sz="1600">
                <a:latin typeface="Consolas"/>
                <a:cs typeface="Consolas"/>
              </a:rPr>
              <a:t> = align(s) + 2*</a:t>
            </a:r>
            <a:r>
              <a:rPr lang="en-US" altLang="zh-CN" sz="1600" err="1">
                <a:latin typeface="Consolas"/>
                <a:cs typeface="Consolas"/>
              </a:rPr>
              <a:t>sizeof</a:t>
            </a:r>
            <a:r>
              <a:rPr lang="en-US" altLang="zh-CN" sz="1600">
                <a:latin typeface="Consolas"/>
                <a:cs typeface="Consolas"/>
              </a:rPr>
              <a:t>(header); //min chunk size required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*h = </a:t>
            </a:r>
            <a:r>
              <a:rPr lang="en-US" altLang="zh-CN" sz="1600" err="1">
                <a:latin typeface="Consolas"/>
                <a:cs typeface="Consolas"/>
              </a:rPr>
              <a:t>first_fit</a:t>
            </a:r>
            <a:r>
              <a:rPr lang="en-US" altLang="zh-CN" sz="1600">
                <a:latin typeface="Consolas"/>
                <a:cs typeface="Consolas"/>
              </a:rPr>
              <a:t>(</a:t>
            </a:r>
            <a:r>
              <a:rPr lang="en-US" altLang="zh-CN" sz="1600" err="1">
                <a:latin typeface="Consolas"/>
                <a:cs typeface="Consolas"/>
              </a:rPr>
              <a:t>csz</a:t>
            </a:r>
            <a:r>
              <a:rPr lang="en-US" altLang="zh-CN" sz="1600">
                <a:latin typeface="Consolas"/>
                <a:cs typeface="Consolas"/>
              </a:rPr>
              <a:t>); </a:t>
            </a:r>
          </a:p>
          <a:p>
            <a:r>
              <a:rPr lang="en-US" altLang="zh-CN" sz="1600">
                <a:latin typeface="Consolas"/>
                <a:cs typeface="Consolas"/>
              </a:rPr>
              <a:t>   //if h=NULL (not enough space), ask OS to enlarge heap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</a:t>
            </a:r>
            <a:r>
              <a:rPr lang="en-US" altLang="zh-CN" sz="1600" err="1">
                <a:latin typeface="Consolas"/>
                <a:cs typeface="Consolas"/>
              </a:rPr>
              <a:t>newchunk</a:t>
            </a:r>
            <a:r>
              <a:rPr lang="en-US" altLang="zh-CN" sz="1600">
                <a:latin typeface="Consolas"/>
                <a:cs typeface="Consolas"/>
              </a:rPr>
              <a:t> = </a:t>
            </a:r>
            <a:r>
              <a:rPr lang="en-US" altLang="zh-CN" sz="1600">
                <a:solidFill>
                  <a:srgbClr val="FF0000"/>
                </a:solidFill>
                <a:latin typeface="Consolas"/>
                <a:cs typeface="Consolas"/>
              </a:rPr>
              <a:t>split</a:t>
            </a:r>
            <a:r>
              <a:rPr lang="en-US" altLang="zh-CN" sz="1600">
                <a:latin typeface="Consolas"/>
                <a:cs typeface="Consolas"/>
              </a:rPr>
              <a:t>(h, </a:t>
            </a:r>
            <a:r>
              <a:rPr lang="en-US" altLang="zh-CN" sz="1600" err="1">
                <a:latin typeface="Consolas"/>
                <a:cs typeface="Consolas"/>
              </a:rPr>
              <a:t>csz</a:t>
            </a:r>
            <a:r>
              <a:rPr lang="en-US" altLang="zh-CN" sz="1600">
                <a:latin typeface="Consolas"/>
                <a:cs typeface="Consolas"/>
              </a:rPr>
              <a:t>);</a:t>
            </a:r>
          </a:p>
          <a:p>
            <a:r>
              <a:rPr lang="en-US" altLang="zh-CN" sz="1600">
                <a:latin typeface="Consolas"/>
                <a:cs typeface="Consolas"/>
              </a:rPr>
              <a:t>   if (</a:t>
            </a:r>
            <a:r>
              <a:rPr lang="en-US" altLang="zh-CN" sz="1600" err="1">
                <a:latin typeface="Consolas"/>
                <a:cs typeface="Consolas"/>
              </a:rPr>
              <a:t>newchunk</a:t>
            </a:r>
            <a:r>
              <a:rPr lang="en-US" altLang="zh-CN" sz="1600">
                <a:latin typeface="Consolas"/>
                <a:cs typeface="Consolas"/>
              </a:rPr>
              <a:t>)</a:t>
            </a:r>
          </a:p>
          <a:p>
            <a:r>
              <a:rPr lang="en-US" altLang="zh-CN" sz="1600">
                <a:latin typeface="Consolas"/>
                <a:cs typeface="Consolas"/>
              </a:rPr>
              <a:t>      insert(&amp;</a:t>
            </a:r>
            <a:r>
              <a:rPr lang="en-US" altLang="zh-CN" sz="1600" err="1">
                <a:latin typeface="Consolas"/>
                <a:cs typeface="Consolas"/>
              </a:rPr>
              <a:t>freelist</a:t>
            </a:r>
            <a:r>
              <a:rPr lang="en-US" altLang="zh-CN" sz="1600">
                <a:latin typeface="Consolas"/>
                <a:cs typeface="Consolas"/>
              </a:rPr>
              <a:t>, </a:t>
            </a:r>
            <a:r>
              <a:rPr lang="en-US" altLang="zh-CN" sz="1600" err="1">
                <a:latin typeface="Consolas"/>
                <a:cs typeface="Consolas"/>
              </a:rPr>
              <a:t>newchunk</a:t>
            </a:r>
            <a:r>
              <a:rPr lang="en-US" altLang="zh-CN" sz="1600">
                <a:latin typeface="Consolas"/>
                <a:cs typeface="Consolas"/>
              </a:rPr>
              <a:t>);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set_status</a:t>
            </a:r>
            <a:r>
              <a:rPr lang="en-US" altLang="zh-CN" sz="1600">
                <a:latin typeface="Consolas"/>
                <a:cs typeface="Consolas"/>
              </a:rPr>
              <a:t>(h, true);</a:t>
            </a:r>
          </a:p>
          <a:p>
            <a:r>
              <a:rPr lang="en-US" altLang="zh-CN" sz="1600">
                <a:latin typeface="Consolas"/>
                <a:cs typeface="Consolas"/>
              </a:rPr>
              <a:t>   return header2payload(h);</a:t>
            </a: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3644" y="3624490"/>
            <a:ext cx="5647038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*split(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*h, </a:t>
            </a:r>
            <a:r>
              <a:rPr lang="en-US" altLang="zh-CN" sz="1600" err="1">
                <a:latin typeface="Consolas"/>
                <a:cs typeface="Consolas"/>
              </a:rPr>
              <a:t>size_t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csz</a:t>
            </a:r>
            <a:r>
              <a:rPr lang="en-US" altLang="zh-CN" sz="1600">
                <a:latin typeface="Consolas"/>
                <a:cs typeface="Consolas"/>
              </a:rPr>
              <a:t>) </a:t>
            </a:r>
          </a:p>
          <a:p>
            <a:r>
              <a:rPr lang="en-US" altLang="zh-CN" sz="1600">
                <a:latin typeface="Consolas"/>
                <a:cs typeface="Consolas"/>
              </a:rPr>
              <a:t>{</a:t>
            </a: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0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456"/>
            <a:ext cx="8229600" cy="1143000"/>
          </a:xfrm>
        </p:spPr>
        <p:txBody>
          <a:bodyPr/>
          <a:lstStyle/>
          <a:p>
            <a:r>
              <a:rPr lang="en-US"/>
              <a:t>Explicit list: allocate</a:t>
            </a:r>
          </a:p>
        </p:txBody>
      </p:sp>
      <p:sp>
        <p:nvSpPr>
          <p:cNvPr id="4" name="矩形 20"/>
          <p:cNvSpPr/>
          <p:nvPr/>
        </p:nvSpPr>
        <p:spPr>
          <a:xfrm>
            <a:off x="457200" y="672721"/>
            <a:ext cx="897128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600">
              <a:latin typeface="Consolas"/>
              <a:cs typeface="Consolas"/>
            </a:endParaRPr>
          </a:p>
          <a:p>
            <a:r>
              <a:rPr lang="en-US" altLang="zh-CN" sz="1600">
                <a:latin typeface="Consolas"/>
                <a:cs typeface="Consolas"/>
              </a:rPr>
              <a:t>void *malloc(</a:t>
            </a:r>
            <a:r>
              <a:rPr lang="en-US" altLang="zh-CN" sz="1600" err="1">
                <a:latin typeface="Consolas"/>
                <a:cs typeface="Consolas"/>
              </a:rPr>
              <a:t>size_t</a:t>
            </a:r>
            <a:r>
              <a:rPr lang="en-US" altLang="zh-CN" sz="1600">
                <a:latin typeface="Consolas"/>
                <a:cs typeface="Consolas"/>
              </a:rPr>
              <a:t> s) {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size_t</a:t>
            </a:r>
            <a:r>
              <a:rPr lang="en-US" altLang="zh-CN" sz="1600">
                <a:latin typeface="Consolas"/>
                <a:cs typeface="Consolas"/>
              </a:rPr>
              <a:t> </a:t>
            </a:r>
            <a:r>
              <a:rPr lang="en-US" altLang="zh-CN" sz="1600" err="1">
                <a:latin typeface="Consolas"/>
                <a:cs typeface="Consolas"/>
              </a:rPr>
              <a:t>csz</a:t>
            </a:r>
            <a:r>
              <a:rPr lang="en-US" altLang="zh-CN" sz="1600">
                <a:latin typeface="Consolas"/>
                <a:cs typeface="Consolas"/>
              </a:rPr>
              <a:t> = align(s) + 2*</a:t>
            </a:r>
            <a:r>
              <a:rPr lang="en-US" altLang="zh-CN" sz="1600" err="1">
                <a:latin typeface="Consolas"/>
                <a:cs typeface="Consolas"/>
              </a:rPr>
              <a:t>sizeof</a:t>
            </a:r>
            <a:r>
              <a:rPr lang="en-US" altLang="zh-CN" sz="1600">
                <a:latin typeface="Consolas"/>
                <a:cs typeface="Consolas"/>
              </a:rPr>
              <a:t>(header); //min chunk size required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*h = </a:t>
            </a:r>
            <a:r>
              <a:rPr lang="en-US" altLang="zh-CN" sz="1600" err="1">
                <a:latin typeface="Consolas"/>
                <a:cs typeface="Consolas"/>
              </a:rPr>
              <a:t>first_fit</a:t>
            </a:r>
            <a:r>
              <a:rPr lang="en-US" altLang="zh-CN" sz="1600">
                <a:latin typeface="Consolas"/>
                <a:cs typeface="Consolas"/>
              </a:rPr>
              <a:t>(</a:t>
            </a:r>
            <a:r>
              <a:rPr lang="en-US" altLang="zh-CN" sz="1600" err="1">
                <a:latin typeface="Consolas"/>
                <a:cs typeface="Consolas"/>
              </a:rPr>
              <a:t>csz</a:t>
            </a:r>
            <a:r>
              <a:rPr lang="en-US" altLang="zh-CN" sz="1600">
                <a:latin typeface="Consolas"/>
                <a:cs typeface="Consolas"/>
              </a:rPr>
              <a:t>); </a:t>
            </a:r>
          </a:p>
          <a:p>
            <a:r>
              <a:rPr lang="en-US" altLang="zh-CN" sz="1600">
                <a:latin typeface="Consolas"/>
                <a:cs typeface="Consolas"/>
              </a:rPr>
              <a:t>   //if h=NULL (not enough space), ask OS to enlarge heap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free_hdr</a:t>
            </a:r>
            <a:r>
              <a:rPr lang="en-US" altLang="zh-CN" sz="1600">
                <a:latin typeface="Consolas"/>
                <a:cs typeface="Consolas"/>
              </a:rPr>
              <a:t> *</a:t>
            </a:r>
            <a:r>
              <a:rPr lang="en-US" altLang="zh-CN" sz="1600" err="1">
                <a:latin typeface="Consolas"/>
                <a:cs typeface="Consolas"/>
              </a:rPr>
              <a:t>newchunk</a:t>
            </a:r>
            <a:r>
              <a:rPr lang="en-US" altLang="zh-CN" sz="1600">
                <a:latin typeface="Consolas"/>
                <a:cs typeface="Consolas"/>
              </a:rPr>
              <a:t> = </a:t>
            </a:r>
            <a:r>
              <a:rPr lang="en-US" altLang="zh-CN" sz="1600">
                <a:solidFill>
                  <a:srgbClr val="FF0000"/>
                </a:solidFill>
                <a:latin typeface="Consolas"/>
                <a:cs typeface="Consolas"/>
              </a:rPr>
              <a:t>split</a:t>
            </a:r>
            <a:r>
              <a:rPr lang="en-US" altLang="zh-CN" sz="1600">
                <a:latin typeface="Consolas"/>
                <a:cs typeface="Consolas"/>
              </a:rPr>
              <a:t>(h, </a:t>
            </a:r>
            <a:r>
              <a:rPr lang="en-US" altLang="zh-CN" sz="1600" err="1">
                <a:latin typeface="Consolas"/>
                <a:cs typeface="Consolas"/>
              </a:rPr>
              <a:t>csz</a:t>
            </a:r>
            <a:r>
              <a:rPr lang="en-US" altLang="zh-CN" sz="1600">
                <a:latin typeface="Consolas"/>
                <a:cs typeface="Consolas"/>
              </a:rPr>
              <a:t>);</a:t>
            </a:r>
          </a:p>
          <a:p>
            <a:r>
              <a:rPr lang="en-US" altLang="zh-CN" sz="1600">
                <a:latin typeface="Consolas"/>
                <a:cs typeface="Consolas"/>
              </a:rPr>
              <a:t>   if (</a:t>
            </a:r>
            <a:r>
              <a:rPr lang="en-US" altLang="zh-CN" sz="1600" err="1">
                <a:latin typeface="Consolas"/>
                <a:cs typeface="Consolas"/>
              </a:rPr>
              <a:t>newchunk</a:t>
            </a:r>
            <a:r>
              <a:rPr lang="en-US" altLang="zh-CN" sz="1600">
                <a:latin typeface="Consolas"/>
                <a:cs typeface="Consolas"/>
              </a:rPr>
              <a:t>)</a:t>
            </a:r>
          </a:p>
          <a:p>
            <a:r>
              <a:rPr lang="en-US" altLang="zh-CN" sz="1600">
                <a:latin typeface="Consolas"/>
                <a:cs typeface="Consolas"/>
              </a:rPr>
              <a:t>      insert(&amp;</a:t>
            </a:r>
            <a:r>
              <a:rPr lang="en-US" altLang="zh-CN" sz="1600" err="1">
                <a:latin typeface="Consolas"/>
                <a:cs typeface="Consolas"/>
              </a:rPr>
              <a:t>freelist</a:t>
            </a:r>
            <a:r>
              <a:rPr lang="en-US" altLang="zh-CN" sz="1600">
                <a:latin typeface="Consolas"/>
                <a:cs typeface="Consolas"/>
              </a:rPr>
              <a:t>, </a:t>
            </a:r>
            <a:r>
              <a:rPr lang="en-US" altLang="zh-CN" sz="1600" err="1">
                <a:latin typeface="Consolas"/>
                <a:cs typeface="Consolas"/>
              </a:rPr>
              <a:t>newchunk</a:t>
            </a:r>
            <a:r>
              <a:rPr lang="en-US" altLang="zh-CN" sz="1600">
                <a:latin typeface="Consolas"/>
                <a:cs typeface="Consolas"/>
              </a:rPr>
              <a:t>);</a:t>
            </a:r>
          </a:p>
          <a:p>
            <a:r>
              <a:rPr lang="en-US" altLang="zh-CN" sz="1600">
                <a:latin typeface="Consolas"/>
                <a:cs typeface="Consolas"/>
              </a:rPr>
              <a:t>   </a:t>
            </a:r>
            <a:r>
              <a:rPr lang="en-US" altLang="zh-CN" sz="1600" err="1">
                <a:latin typeface="Consolas"/>
                <a:cs typeface="Consolas"/>
              </a:rPr>
              <a:t>set_status</a:t>
            </a:r>
            <a:r>
              <a:rPr lang="en-US" altLang="zh-CN" sz="1600">
                <a:latin typeface="Consolas"/>
                <a:cs typeface="Consolas"/>
              </a:rPr>
              <a:t>(h, true);</a:t>
            </a:r>
          </a:p>
          <a:p>
            <a:r>
              <a:rPr lang="en-US" altLang="zh-CN" sz="1600">
                <a:latin typeface="Consolas"/>
                <a:cs typeface="Consolas"/>
              </a:rPr>
              <a:t>   return header2payload(h);</a:t>
            </a:r>
          </a:p>
          <a:p>
            <a:r>
              <a:rPr lang="en-US" altLang="zh-CN" sz="1600">
                <a:latin typeface="Consolas"/>
                <a:cs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99" y="3473488"/>
            <a:ext cx="664793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Consolas"/>
                <a:cs typeface="Consolas"/>
              </a:rPr>
              <a:t>free_hdr</a:t>
            </a:r>
            <a:r>
              <a:rPr lang="en-US" altLang="zh-CN" sz="1600" dirty="0">
                <a:latin typeface="Consolas"/>
                <a:cs typeface="Consolas"/>
              </a:rPr>
              <a:t> *split(</a:t>
            </a:r>
            <a:r>
              <a:rPr lang="en-US" altLang="zh-CN" sz="1600" dirty="0" err="1">
                <a:latin typeface="Consolas"/>
                <a:cs typeface="Consolas"/>
              </a:rPr>
              <a:t>free_hdr</a:t>
            </a:r>
            <a:r>
              <a:rPr lang="en-US" altLang="zh-CN" sz="1600" dirty="0">
                <a:latin typeface="Consolas"/>
                <a:cs typeface="Consolas"/>
              </a:rPr>
              <a:t> *h, </a:t>
            </a:r>
            <a:r>
              <a:rPr lang="en-US" altLang="zh-CN" sz="1600" dirty="0" err="1">
                <a:latin typeface="Consolas"/>
                <a:cs typeface="Consolas"/>
              </a:rPr>
              <a:t>size_t</a:t>
            </a:r>
            <a:r>
              <a:rPr lang="en-US" altLang="zh-CN" sz="1600" dirty="0">
                <a:latin typeface="Consolas"/>
                <a:cs typeface="Consolas"/>
              </a:rPr>
              <a:t> </a:t>
            </a:r>
            <a:r>
              <a:rPr lang="en-US" altLang="zh-CN" sz="1600" dirty="0" err="1">
                <a:latin typeface="Consolas"/>
                <a:cs typeface="Consolas"/>
              </a:rPr>
              <a:t>csz</a:t>
            </a:r>
            <a:r>
              <a:rPr lang="en-US" altLang="zh-CN" sz="1600" dirty="0">
                <a:latin typeface="Consolas"/>
                <a:cs typeface="Consolas"/>
              </a:rPr>
              <a:t>) 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{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</a:t>
            </a:r>
            <a:r>
              <a:rPr lang="en-US" altLang="zh-CN" sz="1600" dirty="0" err="1">
                <a:latin typeface="Consolas"/>
                <a:cs typeface="Consolas"/>
              </a:rPr>
              <a:t>size_t</a:t>
            </a:r>
            <a:r>
              <a:rPr lang="en-US" altLang="zh-CN" sz="1600" dirty="0">
                <a:latin typeface="Consolas"/>
                <a:cs typeface="Consolas"/>
              </a:rPr>
              <a:t> </a:t>
            </a:r>
            <a:r>
              <a:rPr lang="en-US" altLang="zh-CN" sz="1600" dirty="0" err="1">
                <a:latin typeface="Consolas"/>
                <a:cs typeface="Consolas"/>
              </a:rPr>
              <a:t>remain_sz</a:t>
            </a:r>
            <a:r>
              <a:rPr lang="en-US" altLang="zh-CN" sz="1600" dirty="0">
                <a:latin typeface="Consolas"/>
                <a:cs typeface="Consolas"/>
              </a:rPr>
              <a:t> = </a:t>
            </a:r>
            <a:r>
              <a:rPr lang="en-US" altLang="zh-CN" sz="1600" dirty="0" err="1">
                <a:latin typeface="Consolas"/>
                <a:cs typeface="Consolas"/>
              </a:rPr>
              <a:t>get_size</a:t>
            </a:r>
            <a:r>
              <a:rPr lang="en-US" altLang="zh-CN" sz="1600" dirty="0">
                <a:latin typeface="Consolas"/>
                <a:cs typeface="Consolas"/>
              </a:rPr>
              <a:t>(&amp;h-&gt;</a:t>
            </a:r>
            <a:r>
              <a:rPr lang="en-US" altLang="zh-CN" sz="1600" dirty="0" err="1">
                <a:latin typeface="Consolas"/>
                <a:cs typeface="Consolas"/>
              </a:rPr>
              <a:t>size_n_status</a:t>
            </a:r>
            <a:r>
              <a:rPr lang="en-US" altLang="zh-CN" sz="1600" dirty="0">
                <a:latin typeface="Consolas"/>
                <a:cs typeface="Consolas"/>
              </a:rPr>
              <a:t>) – </a:t>
            </a:r>
            <a:r>
              <a:rPr lang="en-US" altLang="zh-CN" sz="1600" dirty="0" err="1">
                <a:latin typeface="Consolas"/>
                <a:cs typeface="Consolas"/>
              </a:rPr>
              <a:t>csz</a:t>
            </a:r>
            <a:r>
              <a:rPr lang="en-US" altLang="zh-CN" sz="1600" dirty="0">
                <a:latin typeface="Consolas"/>
                <a:cs typeface="Consolas"/>
              </a:rPr>
              <a:t>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if (</a:t>
            </a:r>
            <a:r>
              <a:rPr lang="en-US" altLang="zh-CN" sz="1600" dirty="0" err="1">
                <a:latin typeface="Consolas"/>
                <a:cs typeface="Consolas"/>
              </a:rPr>
              <a:t>remain_sz</a:t>
            </a:r>
            <a:r>
              <a:rPr lang="en-US" altLang="zh-CN" sz="1600" dirty="0">
                <a:latin typeface="Consolas"/>
                <a:cs typeface="Consolas"/>
              </a:rPr>
              <a:t> &lt; MIN_CHUNK_SZ) 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    return NULL;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</a:t>
            </a:r>
            <a:r>
              <a:rPr lang="en-US" altLang="zh-CN" sz="1600" dirty="0" err="1">
                <a:latin typeface="Consolas"/>
                <a:cs typeface="Consolas"/>
              </a:rPr>
              <a:t>init_free_chunk</a:t>
            </a:r>
            <a:r>
              <a:rPr lang="en-US" altLang="zh-CN" sz="1600" dirty="0">
                <a:latin typeface="Consolas"/>
                <a:cs typeface="Consolas"/>
              </a:rPr>
              <a:t>(h, </a:t>
            </a:r>
            <a:r>
              <a:rPr lang="en-US" altLang="zh-CN" sz="1600" dirty="0" err="1">
                <a:latin typeface="Consolas"/>
                <a:cs typeface="Consolas"/>
              </a:rPr>
              <a:t>csz</a:t>
            </a:r>
            <a:r>
              <a:rPr lang="en-US" altLang="zh-CN" sz="1600" dirty="0">
                <a:latin typeface="Consolas"/>
                <a:cs typeface="Consolas"/>
              </a:rPr>
              <a:t>);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</a:t>
            </a:r>
            <a:r>
              <a:rPr lang="en-US" altLang="zh-CN" sz="1600" dirty="0" err="1">
                <a:latin typeface="Consolas"/>
                <a:cs typeface="Consolas"/>
              </a:rPr>
              <a:t>free_hdr</a:t>
            </a:r>
            <a:r>
              <a:rPr lang="en-US" altLang="zh-CN" sz="1600" dirty="0">
                <a:latin typeface="Consolas"/>
                <a:cs typeface="Consolas"/>
              </a:rPr>
              <a:t> *</a:t>
            </a:r>
            <a:r>
              <a:rPr lang="en-US" altLang="zh-CN" sz="1600" dirty="0" err="1">
                <a:latin typeface="Consolas"/>
                <a:cs typeface="Consolas"/>
              </a:rPr>
              <a:t>newchunk</a:t>
            </a:r>
            <a:r>
              <a:rPr lang="en-US" altLang="zh-CN" sz="1600" dirty="0">
                <a:latin typeface="Consolas"/>
                <a:cs typeface="Consolas"/>
              </a:rPr>
              <a:t> = </a:t>
            </a:r>
            <a:r>
              <a:rPr lang="en-US" altLang="zh-CN" sz="1600" dirty="0" err="1">
                <a:latin typeface="Consolas"/>
                <a:cs typeface="Consolas"/>
              </a:rPr>
              <a:t>next_chunk</a:t>
            </a:r>
            <a:r>
              <a:rPr lang="en-US" altLang="zh-CN" sz="1600" dirty="0">
                <a:latin typeface="Consolas"/>
                <a:cs typeface="Consolas"/>
              </a:rPr>
              <a:t>(h);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</a:t>
            </a:r>
            <a:r>
              <a:rPr lang="en-US" altLang="zh-CN" sz="1600" dirty="0" err="1">
                <a:latin typeface="Consolas"/>
                <a:cs typeface="Consolas"/>
              </a:rPr>
              <a:t>init_free_chunk</a:t>
            </a:r>
            <a:r>
              <a:rPr lang="en-US" altLang="zh-CN" sz="1600" dirty="0">
                <a:latin typeface="Consolas"/>
                <a:cs typeface="Consolas"/>
              </a:rPr>
              <a:t>(</a:t>
            </a:r>
            <a:r>
              <a:rPr lang="en-US" altLang="zh-CN" sz="1600" dirty="0" err="1">
                <a:latin typeface="Consolas"/>
                <a:cs typeface="Consolas"/>
              </a:rPr>
              <a:t>newchunk</a:t>
            </a:r>
            <a:r>
              <a:rPr lang="en-US" altLang="zh-CN" sz="1600" dirty="0">
                <a:latin typeface="Consolas"/>
                <a:cs typeface="Consolas"/>
              </a:rPr>
              <a:t>, </a:t>
            </a:r>
            <a:r>
              <a:rPr lang="en-US" altLang="zh-CN" sz="1600" dirty="0" err="1">
                <a:latin typeface="Consolas"/>
                <a:cs typeface="Consolas"/>
              </a:rPr>
              <a:t>remain_sz</a:t>
            </a:r>
            <a:r>
              <a:rPr lang="en-US" altLang="zh-CN" sz="1600" dirty="0">
                <a:latin typeface="Consolas"/>
                <a:cs typeface="Consolas"/>
              </a:rPr>
              <a:t>);   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return </a:t>
            </a:r>
            <a:r>
              <a:rPr lang="en-US" altLang="zh-CN" sz="1600" dirty="0" err="1">
                <a:latin typeface="Consolas"/>
                <a:cs typeface="Consolas"/>
              </a:rPr>
              <a:t>newchunk</a:t>
            </a:r>
            <a:r>
              <a:rPr lang="en-US" altLang="zh-CN" sz="1600" dirty="0">
                <a:latin typeface="Consolas"/>
                <a:cs typeface="Consolas"/>
              </a:rPr>
              <a:t>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33112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1598"/>
            <a:ext cx="8229600" cy="1143000"/>
          </a:xfrm>
        </p:spPr>
        <p:txBody>
          <a:bodyPr/>
          <a:lstStyle/>
          <a:p>
            <a:r>
              <a:rPr lang="en-US"/>
              <a:t>Explicit list: free</a:t>
            </a:r>
          </a:p>
        </p:txBody>
      </p:sp>
      <p:sp>
        <p:nvSpPr>
          <p:cNvPr id="5" name="矩形 20"/>
          <p:cNvSpPr/>
          <p:nvPr/>
        </p:nvSpPr>
        <p:spPr>
          <a:xfrm>
            <a:off x="335280" y="1074202"/>
            <a:ext cx="778256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nsolas"/>
                <a:cs typeface="Consolas"/>
              </a:rPr>
              <a:t>void free(void *p) {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	header *h = payload2header(p);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 </a:t>
            </a:r>
            <a:r>
              <a:rPr lang="en-US" altLang="zh-CN" sz="1600" dirty="0" err="1">
                <a:latin typeface="Consolas"/>
                <a:cs typeface="Consolas"/>
              </a:rPr>
              <a:t>init_free_chunk</a:t>
            </a:r>
            <a:r>
              <a:rPr lang="en-US" altLang="zh-CN" sz="1600" dirty="0">
                <a:latin typeface="Consolas"/>
                <a:cs typeface="Consolas"/>
              </a:rPr>
              <a:t>((</a:t>
            </a:r>
            <a:r>
              <a:rPr lang="en-US" altLang="zh-CN" sz="1600" dirty="0" err="1">
                <a:latin typeface="Consolas"/>
                <a:cs typeface="Consolas"/>
              </a:rPr>
              <a:t>free_hdr</a:t>
            </a:r>
            <a:r>
              <a:rPr lang="en-US" altLang="zh-CN" sz="1600" dirty="0">
                <a:latin typeface="Consolas"/>
                <a:cs typeface="Consolas"/>
              </a:rPr>
              <a:t> *)h, </a:t>
            </a:r>
            <a:r>
              <a:rPr lang="en-US" altLang="zh-CN" sz="1600" dirty="0" err="1">
                <a:latin typeface="Consolas"/>
                <a:cs typeface="Consolas"/>
              </a:rPr>
              <a:t>get_size</a:t>
            </a:r>
            <a:r>
              <a:rPr lang="en-US" altLang="zh-CN" sz="1600" dirty="0">
                <a:latin typeface="Consolas"/>
                <a:cs typeface="Consolas"/>
              </a:rPr>
              <a:t>(h));</a:t>
            </a:r>
          </a:p>
          <a:p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1600" dirty="0">
                <a:latin typeface="Consolas"/>
                <a:cs typeface="Consolas"/>
              </a:rPr>
              <a:t>    header *next = </a:t>
            </a:r>
            <a:r>
              <a:rPr lang="en-US" altLang="zh-CN" sz="1600" dirty="0" err="1">
                <a:latin typeface="Consolas"/>
                <a:cs typeface="Consolas"/>
              </a:rPr>
              <a:t>next_chunk</a:t>
            </a:r>
            <a:r>
              <a:rPr lang="en-US" altLang="zh-CN" sz="1600" dirty="0">
                <a:latin typeface="Consolas"/>
                <a:cs typeface="Consolas"/>
              </a:rPr>
              <a:t>(h);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 if (!</a:t>
            </a:r>
            <a:r>
              <a:rPr lang="en-US" altLang="zh-CN" sz="1600" dirty="0" err="1">
                <a:latin typeface="Consolas"/>
                <a:cs typeface="Consolas"/>
              </a:rPr>
              <a:t>get_status</a:t>
            </a:r>
            <a:r>
              <a:rPr lang="en-US" altLang="zh-CN" sz="1600" dirty="0">
                <a:latin typeface="Consolas"/>
                <a:cs typeface="Consolas"/>
              </a:rPr>
              <a:t>(next)) {  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    delete(&amp;</a:t>
            </a:r>
            <a:r>
              <a:rPr lang="en-US" altLang="zh-CN" sz="1600" dirty="0" err="1">
                <a:latin typeface="Consolas"/>
                <a:cs typeface="Consolas"/>
              </a:rPr>
              <a:t>freelist</a:t>
            </a:r>
            <a:r>
              <a:rPr lang="en-US" altLang="zh-CN" sz="1600" dirty="0">
                <a:latin typeface="Consolas"/>
                <a:cs typeface="Consolas"/>
              </a:rPr>
              <a:t>, next);  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    h = </a:t>
            </a:r>
            <a:r>
              <a:rPr lang="en-US" altLang="zh-CN" sz="1600" dirty="0" err="1">
                <a:solidFill>
                  <a:srgbClr val="FF0000"/>
                </a:solidFill>
                <a:latin typeface="Consolas"/>
                <a:cs typeface="Consolas"/>
              </a:rPr>
              <a:t>coalesce_next</a:t>
            </a:r>
            <a:r>
              <a:rPr lang="en-US" altLang="zh-CN" sz="1600" dirty="0">
                <a:latin typeface="Consolas"/>
                <a:cs typeface="Consolas"/>
              </a:rPr>
              <a:t>((</a:t>
            </a:r>
            <a:r>
              <a:rPr lang="en-US" altLang="zh-CN" sz="1600" dirty="0" err="1">
                <a:latin typeface="Consolas"/>
                <a:cs typeface="Consolas"/>
              </a:rPr>
              <a:t>free_hdr</a:t>
            </a:r>
            <a:r>
              <a:rPr lang="en-US" altLang="zh-CN" sz="1600" dirty="0">
                <a:latin typeface="Consolas"/>
                <a:cs typeface="Consolas"/>
              </a:rPr>
              <a:t> *)h, (</a:t>
            </a:r>
            <a:r>
              <a:rPr lang="en-US" altLang="zh-CN" sz="1600" dirty="0" err="1">
                <a:latin typeface="Consolas"/>
                <a:cs typeface="Consolas"/>
              </a:rPr>
              <a:t>free_hdr</a:t>
            </a:r>
            <a:r>
              <a:rPr lang="en-US" altLang="zh-CN" sz="1600" dirty="0">
                <a:latin typeface="Consolas"/>
                <a:cs typeface="Consolas"/>
              </a:rPr>
              <a:t> *)next);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 }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 header *</a:t>
            </a:r>
            <a:r>
              <a:rPr lang="en-US" altLang="zh-CN" sz="1600" dirty="0" err="1">
                <a:latin typeface="Consolas"/>
                <a:cs typeface="Consolas"/>
              </a:rPr>
              <a:t>prev</a:t>
            </a:r>
            <a:r>
              <a:rPr lang="en-US" altLang="zh-CN" sz="1600" dirty="0">
                <a:latin typeface="Consolas"/>
                <a:cs typeface="Consolas"/>
              </a:rPr>
              <a:t> = </a:t>
            </a:r>
            <a:r>
              <a:rPr lang="en-US" altLang="zh-CN" sz="1600" dirty="0" err="1">
                <a:latin typeface="Consolas"/>
                <a:cs typeface="Consolas"/>
              </a:rPr>
              <a:t>prev_chunk</a:t>
            </a:r>
            <a:r>
              <a:rPr lang="en-US" altLang="zh-CN" sz="1600" dirty="0">
                <a:latin typeface="Consolas"/>
                <a:cs typeface="Consolas"/>
              </a:rPr>
              <a:t>(h);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 if (!</a:t>
            </a:r>
            <a:r>
              <a:rPr lang="en-US" altLang="zh-CN" sz="1600" dirty="0" err="1">
                <a:latin typeface="Consolas"/>
                <a:cs typeface="Consolas"/>
              </a:rPr>
              <a:t>get_status</a:t>
            </a:r>
            <a:r>
              <a:rPr lang="en-US" altLang="zh-CN" sz="1600" dirty="0">
                <a:latin typeface="Consolas"/>
                <a:cs typeface="Consolas"/>
              </a:rPr>
              <a:t>(</a:t>
            </a:r>
            <a:r>
              <a:rPr lang="en-US" altLang="zh-CN" sz="1600" dirty="0" err="1">
                <a:latin typeface="Consolas"/>
                <a:cs typeface="Consolas"/>
              </a:rPr>
              <a:t>prev</a:t>
            </a:r>
            <a:r>
              <a:rPr lang="en-US" altLang="zh-CN" sz="1600" dirty="0">
                <a:latin typeface="Consolas"/>
                <a:cs typeface="Consolas"/>
              </a:rPr>
              <a:t>)) {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    delete(&amp;</a:t>
            </a:r>
            <a:r>
              <a:rPr lang="en-US" altLang="zh-CN" sz="1600" dirty="0" err="1">
                <a:latin typeface="Consolas"/>
                <a:cs typeface="Consolas"/>
              </a:rPr>
              <a:t>freelist</a:t>
            </a:r>
            <a:r>
              <a:rPr lang="en-US" altLang="zh-CN" sz="1600" dirty="0">
                <a:latin typeface="Consolas"/>
                <a:cs typeface="Consolas"/>
              </a:rPr>
              <a:t>, </a:t>
            </a:r>
            <a:r>
              <a:rPr lang="en-US" altLang="zh-CN" sz="1600" dirty="0" err="1">
                <a:latin typeface="Consolas"/>
                <a:cs typeface="Consolas"/>
              </a:rPr>
              <a:t>prev</a:t>
            </a:r>
            <a:r>
              <a:rPr lang="en-US" altLang="zh-CN" sz="1600" dirty="0">
                <a:latin typeface="Consolas"/>
                <a:cs typeface="Consolas"/>
              </a:rPr>
              <a:t>);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    h = </a:t>
            </a:r>
            <a:r>
              <a:rPr lang="en-US" altLang="zh-CN" sz="1600" dirty="0" err="1">
                <a:solidFill>
                  <a:srgbClr val="FF0000"/>
                </a:solidFill>
                <a:latin typeface="Consolas"/>
                <a:cs typeface="Consolas"/>
              </a:rPr>
              <a:t>coalesce_prev</a:t>
            </a:r>
            <a:r>
              <a:rPr lang="en-US" altLang="zh-CN" sz="1600" dirty="0">
                <a:latin typeface="Consolas"/>
                <a:cs typeface="Consolas"/>
              </a:rPr>
              <a:t>((</a:t>
            </a:r>
            <a:r>
              <a:rPr lang="en-US" altLang="zh-CN" sz="1600" dirty="0" err="1">
                <a:latin typeface="Consolas"/>
                <a:cs typeface="Consolas"/>
              </a:rPr>
              <a:t>free_hdr</a:t>
            </a:r>
            <a:r>
              <a:rPr lang="en-US" altLang="zh-CN" sz="1600" dirty="0">
                <a:latin typeface="Consolas"/>
                <a:cs typeface="Consolas"/>
              </a:rPr>
              <a:t> *)</a:t>
            </a:r>
            <a:r>
              <a:rPr lang="en-US" altLang="zh-CN" sz="1600" dirty="0" err="1">
                <a:latin typeface="Consolas"/>
                <a:cs typeface="Consolas"/>
              </a:rPr>
              <a:t>prev</a:t>
            </a:r>
            <a:r>
              <a:rPr lang="en-US" altLang="zh-CN" sz="1600" dirty="0">
                <a:latin typeface="Consolas"/>
                <a:cs typeface="Consolas"/>
              </a:rPr>
              <a:t>, (</a:t>
            </a:r>
            <a:r>
              <a:rPr lang="en-US" altLang="zh-CN" sz="1600" dirty="0" err="1">
                <a:latin typeface="Consolas"/>
                <a:cs typeface="Consolas"/>
              </a:rPr>
              <a:t>free_hdr</a:t>
            </a:r>
            <a:r>
              <a:rPr lang="en-US" altLang="zh-CN" sz="1600" dirty="0">
                <a:latin typeface="Consolas"/>
                <a:cs typeface="Consolas"/>
              </a:rPr>
              <a:t> *)h);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 }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 insert(&amp;</a:t>
            </a:r>
            <a:r>
              <a:rPr lang="en-US" altLang="zh-CN" sz="1600" dirty="0" err="1">
                <a:latin typeface="Consolas"/>
                <a:cs typeface="Consolas"/>
              </a:rPr>
              <a:t>freelist</a:t>
            </a:r>
            <a:r>
              <a:rPr lang="en-US" altLang="zh-CN" sz="1600" dirty="0">
                <a:latin typeface="Consolas"/>
                <a:cs typeface="Consolas"/>
              </a:rPr>
              <a:t>, (</a:t>
            </a:r>
            <a:r>
              <a:rPr lang="en-US" altLang="zh-CN" sz="1600" dirty="0" err="1">
                <a:latin typeface="Consolas"/>
                <a:cs typeface="Consolas"/>
              </a:rPr>
              <a:t>free_hdr</a:t>
            </a:r>
            <a:r>
              <a:rPr lang="en-US" altLang="zh-CN" sz="1600" dirty="0">
                <a:latin typeface="Consolas"/>
                <a:cs typeface="Consolas"/>
              </a:rPr>
              <a:t> *)h);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659155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79EF3-B626-6A4E-E80A-DD3C9A479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C1827D-0C30-8FF4-757E-FD588D456C4D}"/>
              </a:ext>
            </a:extLst>
          </p:cNvPr>
          <p:cNvSpPr txBox="1"/>
          <p:nvPr/>
        </p:nvSpPr>
        <p:spPr>
          <a:xfrm>
            <a:off x="410135" y="1659606"/>
            <a:ext cx="607807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Consolas"/>
                <a:cs typeface="Consolas"/>
              </a:rPr>
              <a:t>free_hdr</a:t>
            </a:r>
            <a:r>
              <a:rPr lang="en-US" altLang="zh-CN" sz="1600" dirty="0">
                <a:latin typeface="Consolas"/>
                <a:cs typeface="Consolas"/>
              </a:rPr>
              <a:t> *</a:t>
            </a:r>
            <a:r>
              <a:rPr lang="en-US" altLang="zh-CN" sz="1600" dirty="0" err="1">
                <a:latin typeface="Consolas"/>
                <a:cs typeface="Consolas"/>
              </a:rPr>
              <a:t>coalesce_next</a:t>
            </a:r>
            <a:r>
              <a:rPr lang="en-US" altLang="zh-CN" sz="1600" dirty="0">
                <a:latin typeface="Consolas"/>
                <a:cs typeface="Consolas"/>
              </a:rPr>
              <a:t>(</a:t>
            </a:r>
            <a:r>
              <a:rPr lang="en-US" altLang="zh-CN" sz="1600" dirty="0" err="1">
                <a:latin typeface="Consolas"/>
                <a:cs typeface="Consolas"/>
              </a:rPr>
              <a:t>free_hdr</a:t>
            </a:r>
            <a:r>
              <a:rPr lang="en-US" altLang="zh-CN" sz="1600" dirty="0">
                <a:latin typeface="Consolas"/>
                <a:cs typeface="Consolas"/>
              </a:rPr>
              <a:t> *h, </a:t>
            </a:r>
            <a:r>
              <a:rPr lang="en-US" altLang="zh-CN" sz="1600" dirty="0" err="1">
                <a:latin typeface="Consolas"/>
                <a:cs typeface="Consolas"/>
              </a:rPr>
              <a:t>free_hdr</a:t>
            </a:r>
            <a:r>
              <a:rPr lang="en-US" altLang="zh-CN" sz="1600" dirty="0">
                <a:latin typeface="Consolas"/>
                <a:cs typeface="Consolas"/>
              </a:rPr>
              <a:t> *other) 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{</a:t>
            </a:r>
          </a:p>
          <a:p>
            <a:r>
              <a:rPr lang="en-US" altLang="zh-CN" sz="1600" dirty="0">
                <a:latin typeface="Consolas"/>
                <a:cs typeface="Consolas"/>
              </a:rPr>
              <a:t>   //merge h and other into a single free chunk</a:t>
            </a: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endParaRPr lang="en-US" altLang="zh-CN" sz="1600" dirty="0">
              <a:latin typeface="Consolas"/>
              <a:cs typeface="Consolas"/>
            </a:endParaRPr>
          </a:p>
          <a:p>
            <a:r>
              <a:rPr lang="en-US" altLang="zh-CN" sz="1600" dirty="0">
                <a:latin typeface="Consolas"/>
                <a:cs typeface="Consolas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35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/>
              <a:t>Segregated list</a:t>
            </a:r>
            <a:endParaRPr kumimoji="1"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Idea: keep multiple </a:t>
            </a:r>
            <a:r>
              <a:rPr lang="en-US" err="1"/>
              <a:t>freelists</a:t>
            </a:r>
            <a:endParaRPr lang="en-US"/>
          </a:p>
          <a:p>
            <a:pPr lvl="1"/>
            <a:r>
              <a:rPr lang="en-US"/>
              <a:t>each </a:t>
            </a:r>
            <a:r>
              <a:rPr lang="en-US" err="1"/>
              <a:t>freelist</a:t>
            </a:r>
            <a:r>
              <a:rPr lang="en-US"/>
              <a:t> contains chunks of similar sizes</a:t>
            </a:r>
          </a:p>
        </p:txBody>
      </p:sp>
    </p:spTree>
    <p:extLst>
      <p:ext uri="{BB962C8B-B14F-4D97-AF65-F5344CB8AC3E}">
        <p14:creationId xmlns:p14="http://schemas.microsoft.com/office/powerpoint/2010/main" val="396969208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/>
              <a:t>Segregated list: initialize</a:t>
            </a:r>
            <a:endParaRPr kumimoji="1"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17283" y="1157490"/>
            <a:ext cx="6019597" cy="2554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600">
                <a:latin typeface="Consolas"/>
                <a:cs typeface="Consolas"/>
              </a:rPr>
              <a:t>#define NLISTS 3</a:t>
            </a:r>
          </a:p>
          <a:p>
            <a:r>
              <a:rPr kumimoji="1" lang="en-US" altLang="zh-CN" sz="1600" err="1">
                <a:latin typeface="Consolas"/>
                <a:cs typeface="Consolas"/>
              </a:rPr>
              <a:t>free_hdr</a:t>
            </a:r>
            <a:r>
              <a:rPr kumimoji="1" lang="en-US" altLang="zh-CN" sz="1600">
                <a:latin typeface="Consolas"/>
                <a:cs typeface="Consolas"/>
              </a:rPr>
              <a:t>* </a:t>
            </a:r>
            <a:r>
              <a:rPr kumimoji="1" lang="en-US" altLang="zh-CN" sz="1600" err="1">
                <a:latin typeface="Consolas"/>
                <a:cs typeface="Consolas"/>
              </a:rPr>
              <a:t>freelists</a:t>
            </a:r>
            <a:r>
              <a:rPr kumimoji="1" lang="en-US" altLang="zh-CN" sz="1600">
                <a:latin typeface="Consolas"/>
                <a:cs typeface="Consolas"/>
              </a:rPr>
              <a:t>[NLISTS];</a:t>
            </a:r>
          </a:p>
          <a:p>
            <a:r>
              <a:rPr kumimoji="1" lang="en-US" altLang="zh-CN" sz="1600" err="1">
                <a:latin typeface="Consolas"/>
                <a:cs typeface="Consolas"/>
              </a:rPr>
              <a:t>size_t</a:t>
            </a:r>
            <a:r>
              <a:rPr kumimoji="1" lang="en-US" altLang="zh-CN" sz="1600">
                <a:latin typeface="Consolas"/>
                <a:cs typeface="Consolas"/>
              </a:rPr>
              <a:t> </a:t>
            </a:r>
            <a:r>
              <a:rPr kumimoji="1" lang="en-US" altLang="zh-CN" sz="1600" err="1">
                <a:latin typeface="Consolas"/>
                <a:cs typeface="Consolas"/>
              </a:rPr>
              <a:t>size_classes</a:t>
            </a:r>
            <a:r>
              <a:rPr kumimoji="1" lang="en-US" altLang="zh-CN" sz="1600">
                <a:latin typeface="Consolas"/>
                <a:cs typeface="Consolas"/>
              </a:rPr>
              <a:t>[NLISTS] = {32, 128, (</a:t>
            </a:r>
            <a:r>
              <a:rPr kumimoji="1" lang="en-US" altLang="zh-CN" sz="1600" err="1">
                <a:latin typeface="Consolas"/>
                <a:cs typeface="Consolas"/>
              </a:rPr>
              <a:t>size_t</a:t>
            </a:r>
            <a:r>
              <a:rPr kumimoji="1" lang="en-US" altLang="zh-CN" sz="1600">
                <a:latin typeface="Consolas"/>
                <a:cs typeface="Consolas"/>
              </a:rPr>
              <a:t>)-1};</a:t>
            </a:r>
          </a:p>
          <a:p>
            <a:endParaRPr kumimoji="1" lang="en-US" altLang="zh-CN" sz="1600">
              <a:latin typeface="Consolas"/>
              <a:cs typeface="Consolas"/>
            </a:endParaRPr>
          </a:p>
          <a:p>
            <a:r>
              <a:rPr kumimoji="1" lang="en-US" altLang="zh-CN" sz="1600" err="1">
                <a:latin typeface="Consolas"/>
                <a:cs typeface="Consolas"/>
              </a:rPr>
              <a:t>int</a:t>
            </a:r>
            <a:r>
              <a:rPr kumimoji="1" lang="en-US" altLang="zh-CN" sz="1600">
                <a:latin typeface="Consolas"/>
                <a:cs typeface="Consolas"/>
              </a:rPr>
              <a:t> </a:t>
            </a:r>
            <a:r>
              <a:rPr kumimoji="1" lang="en-US" altLang="zh-CN" sz="1600" err="1">
                <a:latin typeface="Consolas"/>
                <a:cs typeface="Consolas"/>
              </a:rPr>
              <a:t>which_freelist</a:t>
            </a:r>
            <a:r>
              <a:rPr kumimoji="1" lang="en-US" altLang="zh-CN" sz="1600">
                <a:latin typeface="Consolas"/>
                <a:cs typeface="Consolas"/>
              </a:rPr>
              <a:t>(</a:t>
            </a:r>
            <a:r>
              <a:rPr kumimoji="1" lang="en-US" altLang="zh-CN" sz="1600" err="1">
                <a:latin typeface="Consolas"/>
                <a:cs typeface="Consolas"/>
              </a:rPr>
              <a:t>size_t</a:t>
            </a:r>
            <a:r>
              <a:rPr kumimoji="1" lang="en-US" altLang="zh-CN" sz="1600">
                <a:latin typeface="Consolas"/>
                <a:cs typeface="Consolas"/>
              </a:rPr>
              <a:t> s) {</a:t>
            </a:r>
          </a:p>
          <a:p>
            <a:r>
              <a:rPr kumimoji="1" lang="en-US" altLang="zh-CN" sz="1600">
                <a:latin typeface="Consolas"/>
                <a:cs typeface="Consolas"/>
              </a:rPr>
              <a:t>   </a:t>
            </a:r>
            <a:r>
              <a:rPr kumimoji="1" lang="en-US" altLang="zh-CN" sz="1600" err="1">
                <a:latin typeface="Consolas"/>
                <a:cs typeface="Consolas"/>
              </a:rPr>
              <a:t>int</a:t>
            </a:r>
            <a:r>
              <a:rPr kumimoji="1" lang="en-US" altLang="zh-CN" sz="1600">
                <a:latin typeface="Consolas"/>
                <a:cs typeface="Consolas"/>
              </a:rPr>
              <a:t> </a:t>
            </a:r>
            <a:r>
              <a:rPr kumimoji="1" lang="en-US" altLang="zh-CN" sz="1600" err="1">
                <a:latin typeface="Consolas"/>
                <a:cs typeface="Consolas"/>
              </a:rPr>
              <a:t>ind</a:t>
            </a:r>
            <a:r>
              <a:rPr kumimoji="1" lang="en-US" altLang="zh-CN" sz="1600">
                <a:latin typeface="Consolas"/>
                <a:cs typeface="Consolas"/>
              </a:rPr>
              <a:t> = 0;</a:t>
            </a:r>
          </a:p>
          <a:p>
            <a:r>
              <a:rPr kumimoji="1" lang="en-US" altLang="zh-CN" sz="1600">
                <a:latin typeface="Consolas"/>
                <a:cs typeface="Consolas"/>
              </a:rPr>
              <a:t>   while (s &gt; </a:t>
            </a:r>
            <a:r>
              <a:rPr kumimoji="1" lang="en-US" altLang="zh-CN" sz="1600" err="1">
                <a:latin typeface="Consolas"/>
                <a:cs typeface="Consolas"/>
              </a:rPr>
              <a:t>size_classes</a:t>
            </a:r>
            <a:r>
              <a:rPr kumimoji="1" lang="en-US" altLang="zh-CN" sz="1600">
                <a:latin typeface="Consolas"/>
                <a:cs typeface="Consolas"/>
              </a:rPr>
              <a:t>[</a:t>
            </a:r>
            <a:r>
              <a:rPr kumimoji="1" lang="en-US" altLang="zh-CN" sz="1600" err="1">
                <a:latin typeface="Consolas"/>
                <a:cs typeface="Consolas"/>
              </a:rPr>
              <a:t>ind</a:t>
            </a:r>
            <a:r>
              <a:rPr kumimoji="1" lang="en-US" altLang="zh-CN" sz="1600">
                <a:latin typeface="Consolas"/>
                <a:cs typeface="Consolas"/>
              </a:rPr>
              <a:t>]) </a:t>
            </a:r>
          </a:p>
          <a:p>
            <a:r>
              <a:rPr kumimoji="1" lang="en-US" altLang="zh-CN" sz="1600">
                <a:latin typeface="Consolas"/>
                <a:cs typeface="Consolas"/>
              </a:rPr>
              <a:t>      </a:t>
            </a:r>
            <a:r>
              <a:rPr kumimoji="1" lang="en-US" altLang="zh-CN" sz="1600" err="1">
                <a:latin typeface="Consolas"/>
                <a:cs typeface="Consolas"/>
              </a:rPr>
              <a:t>ind</a:t>
            </a:r>
            <a:r>
              <a:rPr kumimoji="1" lang="en-US" altLang="zh-CN" sz="1600">
                <a:latin typeface="Consolas"/>
                <a:cs typeface="Consolas"/>
              </a:rPr>
              <a:t>++;</a:t>
            </a:r>
          </a:p>
          <a:p>
            <a:r>
              <a:rPr kumimoji="1" lang="en-US" altLang="zh-CN" sz="1600">
                <a:latin typeface="Consolas"/>
                <a:cs typeface="Consolas"/>
              </a:rPr>
              <a:t>   return </a:t>
            </a:r>
            <a:r>
              <a:rPr kumimoji="1" lang="en-US" altLang="zh-CN" sz="1600" err="1">
                <a:latin typeface="Consolas"/>
                <a:cs typeface="Consolas"/>
              </a:rPr>
              <a:t>ind</a:t>
            </a:r>
            <a:r>
              <a:rPr kumimoji="1" lang="en-US" altLang="zh-CN" sz="1600">
                <a:latin typeface="Consolas"/>
                <a:cs typeface="Consolas"/>
              </a:rPr>
              <a:t>;</a:t>
            </a:r>
          </a:p>
          <a:p>
            <a:r>
              <a:rPr kumimoji="1" lang="en-US" altLang="zh-CN" sz="1600">
                <a:latin typeface="Consolas"/>
                <a:cs typeface="Consolas"/>
              </a:rPr>
              <a:t>}</a:t>
            </a:r>
          </a:p>
        </p:txBody>
      </p:sp>
      <p:sp>
        <p:nvSpPr>
          <p:cNvPr id="43" name="矩形 12"/>
          <p:cNvSpPr/>
          <p:nvPr/>
        </p:nvSpPr>
        <p:spPr>
          <a:xfrm>
            <a:off x="788403" y="3968868"/>
            <a:ext cx="5346335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600" dirty="0">
                <a:latin typeface="Consolas"/>
                <a:cs typeface="Consolas"/>
              </a:rPr>
              <a:t>void </a:t>
            </a:r>
            <a:r>
              <a:rPr kumimoji="1" lang="en-US" altLang="zh-CN" sz="1600" dirty="0" err="1">
                <a:latin typeface="Consolas"/>
                <a:cs typeface="Consolas"/>
              </a:rPr>
              <a:t>init</a:t>
            </a:r>
            <a:r>
              <a:rPr kumimoji="1" lang="en-US" altLang="zh-CN" sz="1600" dirty="0">
                <a:latin typeface="Consolas"/>
                <a:cs typeface="Consolas"/>
              </a:rPr>
              <a:t>() {</a:t>
            </a:r>
          </a:p>
          <a:p>
            <a:r>
              <a:rPr kumimoji="1" lang="en-US" altLang="zh-CN" sz="1600" dirty="0">
                <a:latin typeface="Consolas"/>
                <a:cs typeface="Consolas"/>
              </a:rPr>
              <a:t>   </a:t>
            </a:r>
            <a:r>
              <a:rPr kumimoji="1" lang="en-US" altLang="zh-CN" sz="1600" dirty="0" err="1">
                <a:latin typeface="Consolas"/>
                <a:cs typeface="Consolas"/>
              </a:rPr>
              <a:t>free_hdr</a:t>
            </a:r>
            <a:r>
              <a:rPr kumimoji="1" lang="en-US" altLang="zh-CN" sz="1600" dirty="0">
                <a:latin typeface="Consolas"/>
                <a:cs typeface="Consolas"/>
              </a:rPr>
              <a:t> *h = </a:t>
            </a:r>
            <a:r>
              <a:rPr kumimoji="1" lang="en-US" altLang="zh-CN" sz="1600" dirty="0" err="1">
                <a:latin typeface="Consolas"/>
                <a:cs typeface="Consolas"/>
              </a:rPr>
              <a:t>sbrk</a:t>
            </a:r>
            <a:r>
              <a:rPr kumimoji="1" lang="en-US" altLang="zh-CN" sz="1600" dirty="0">
                <a:latin typeface="Consolas"/>
                <a:cs typeface="Consolas"/>
              </a:rPr>
              <a:t>(INIT_HEAP_SZ);</a:t>
            </a:r>
          </a:p>
          <a:p>
            <a:r>
              <a:rPr kumimoji="1" lang="en-US" altLang="zh-CN" sz="1600" dirty="0">
                <a:latin typeface="Consolas"/>
                <a:cs typeface="Consolas"/>
              </a:rPr>
              <a:t>   </a:t>
            </a:r>
            <a:r>
              <a:rPr kumimoji="1" lang="en-US" altLang="zh-CN" sz="1600" dirty="0" err="1">
                <a:latin typeface="Consolas"/>
                <a:cs typeface="Consolas"/>
              </a:rPr>
              <a:t>freelist</a:t>
            </a:r>
            <a:r>
              <a:rPr kumimoji="1" lang="en-US" altLang="zh-CN" sz="1600" dirty="0">
                <a:latin typeface="Consolas"/>
                <a:cs typeface="Consolas"/>
              </a:rPr>
              <a:t>[</a:t>
            </a:r>
            <a:r>
              <a:rPr kumimoji="1" lang="en-US" altLang="zh-CN" sz="1600" dirty="0" err="1">
                <a:latin typeface="Consolas"/>
                <a:cs typeface="Consolas"/>
              </a:rPr>
              <a:t>which_freelist</a:t>
            </a:r>
            <a:r>
              <a:rPr kumimoji="1" lang="en-US" altLang="zh-CN" sz="1600" dirty="0">
                <a:latin typeface="Consolas"/>
                <a:cs typeface="Consolas"/>
              </a:rPr>
              <a:t>(INIT_HEAP_SZ)] = h;</a:t>
            </a:r>
          </a:p>
          <a:p>
            <a:r>
              <a:rPr kumimoji="1" lang="en-US" altLang="zh-CN" sz="1600" dirty="0">
                <a:latin typeface="Consolas"/>
                <a:cs typeface="Consolas"/>
              </a:rPr>
              <a:t>}</a:t>
            </a:r>
            <a:endParaRPr lang="zh-CN" altLang="en-US" sz="1600" dirty="0">
              <a:latin typeface="Consolas"/>
              <a:cs typeface="Consola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5285153" y="2407920"/>
            <a:ext cx="3423619" cy="3721784"/>
            <a:chOff x="5101587" y="1788592"/>
            <a:chExt cx="3423619" cy="3721784"/>
          </a:xfrm>
        </p:grpSpPr>
        <p:sp>
          <p:nvSpPr>
            <p:cNvPr id="14" name="矩形 13"/>
            <p:cNvSpPr/>
            <p:nvPr/>
          </p:nvSpPr>
          <p:spPr>
            <a:xfrm>
              <a:off x="6033782" y="1788592"/>
              <a:ext cx="78620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/>
                <a:t>(0, 32]</a:t>
              </a:r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6693271" y="1788592"/>
              <a:ext cx="10201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/>
                <a:t>(32, 128]</a:t>
              </a:r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7542883" y="1793649"/>
              <a:ext cx="98232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/>
                <a:t>(128, ∞)</a:t>
              </a:r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7743691" y="2905760"/>
              <a:ext cx="459630" cy="2604616"/>
            </a:xfrm>
            <a:prstGeom prst="rect">
              <a:avLst/>
            </a:prstGeom>
            <a:noFill/>
            <a:ln w="3810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44" name="矩形 37"/>
            <p:cNvSpPr/>
            <p:nvPr/>
          </p:nvSpPr>
          <p:spPr>
            <a:xfrm rot="16200000">
              <a:off x="6357491" y="2123149"/>
              <a:ext cx="459630" cy="645523"/>
            </a:xfrm>
            <a:prstGeom prst="rect">
              <a:avLst/>
            </a:prstGeom>
            <a:noFill/>
            <a:ln w="1270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45" name="矩形 37"/>
            <p:cNvSpPr/>
            <p:nvPr/>
          </p:nvSpPr>
          <p:spPr>
            <a:xfrm rot="16200000">
              <a:off x="6993957" y="2123148"/>
              <a:ext cx="459630" cy="645523"/>
            </a:xfrm>
            <a:prstGeom prst="rect">
              <a:avLst/>
            </a:prstGeom>
            <a:noFill/>
            <a:ln w="1270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46" name="矩形 37"/>
            <p:cNvSpPr/>
            <p:nvPr/>
          </p:nvSpPr>
          <p:spPr>
            <a:xfrm rot="16200000">
              <a:off x="7650744" y="2123149"/>
              <a:ext cx="459630" cy="645523"/>
            </a:xfrm>
            <a:prstGeom prst="rect">
              <a:avLst/>
            </a:prstGeom>
            <a:noFill/>
            <a:ln w="1270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101587" y="2279529"/>
              <a:ext cx="9908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/>
                <a:t>freelists</a:t>
              </a:r>
              <a:r>
                <a:rPr lang="en-US"/>
                <a:t>: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7872536" y="2407920"/>
              <a:ext cx="113224" cy="497840"/>
            </a:xfrm>
            <a:prstGeom prst="straightConnector1">
              <a:avLst/>
            </a:prstGeom>
            <a:ln>
              <a:solidFill>
                <a:schemeClr val="accent4"/>
              </a:solidFill>
              <a:headEnd type="oval" w="lg" len="lg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7222296" y="2426806"/>
              <a:ext cx="0" cy="103034"/>
            </a:xfrm>
            <a:prstGeom prst="straightConnector1">
              <a:avLst/>
            </a:prstGeom>
            <a:ln>
              <a:solidFill>
                <a:schemeClr val="accent4"/>
              </a:solidFill>
              <a:headEnd type="oval" w="lg" len="lg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>
              <a:off x="6561896" y="2435532"/>
              <a:ext cx="0" cy="103034"/>
            </a:xfrm>
            <a:prstGeom prst="straightConnector1">
              <a:avLst/>
            </a:prstGeom>
            <a:ln>
              <a:solidFill>
                <a:schemeClr val="accent4"/>
              </a:solidFill>
              <a:headEnd type="oval" w="lg" len="lg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7380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/>
              <a:t>Segregated list: allocation</a:t>
            </a:r>
            <a:endParaRPr kumimoji="1"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793425" y="3132399"/>
            <a:ext cx="459630" cy="229265"/>
          </a:xfrm>
          <a:prstGeom prst="rect">
            <a:avLst/>
          </a:prstGeom>
          <a:noFill/>
          <a:ln w="381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862542" y="3765191"/>
            <a:ext cx="459630" cy="229265"/>
          </a:xfrm>
          <a:prstGeom prst="rect">
            <a:avLst/>
          </a:prstGeom>
          <a:noFill/>
          <a:ln w="381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796603" y="4417311"/>
            <a:ext cx="459630" cy="134293"/>
          </a:xfrm>
          <a:prstGeom prst="rect">
            <a:avLst/>
          </a:prstGeom>
          <a:noFill/>
          <a:ln w="381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22" name="直线箭头连接符 21"/>
          <p:cNvCxnSpPr>
            <a:stCxn id="18" idx="2"/>
            <a:endCxn id="19" idx="0"/>
          </p:cNvCxnSpPr>
          <p:nvPr/>
        </p:nvCxnSpPr>
        <p:spPr>
          <a:xfrm rot="16200000" flipH="1">
            <a:off x="1856035" y="3528868"/>
            <a:ext cx="403527" cy="69117"/>
          </a:xfrm>
          <a:prstGeom prst="curvedConnector3">
            <a:avLst/>
          </a:prstGeom>
          <a:ln w="38100" cmpd="sng">
            <a:solidFill>
              <a:srgbClr val="660066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直线箭头连接符 21"/>
          <p:cNvCxnSpPr>
            <a:cxnSpLocks/>
            <a:stCxn id="19" idx="2"/>
            <a:endCxn id="20" idx="0"/>
          </p:cNvCxnSpPr>
          <p:nvPr/>
        </p:nvCxnSpPr>
        <p:spPr>
          <a:xfrm rot="5400000">
            <a:off x="1847961" y="4172914"/>
            <a:ext cx="422855" cy="65939"/>
          </a:xfrm>
          <a:prstGeom prst="curvedConnector3">
            <a:avLst>
              <a:gd name="adj1" fmla="val 50000"/>
            </a:avLst>
          </a:prstGeom>
          <a:ln w="38100" cmpd="sng">
            <a:solidFill>
              <a:srgbClr val="660066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2778487" y="3170165"/>
            <a:ext cx="459630" cy="367091"/>
          </a:xfrm>
          <a:prstGeom prst="rect">
            <a:avLst/>
          </a:prstGeom>
          <a:noFill/>
          <a:ln w="381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847604" y="3955357"/>
            <a:ext cx="459630" cy="374929"/>
          </a:xfrm>
          <a:prstGeom prst="rect">
            <a:avLst/>
          </a:prstGeom>
          <a:noFill/>
          <a:ln w="381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995025" y="4800517"/>
            <a:ext cx="459630" cy="374929"/>
          </a:xfrm>
          <a:prstGeom prst="rect">
            <a:avLst/>
          </a:prstGeom>
          <a:noFill/>
          <a:ln w="381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32" name="直线箭头连接符 21"/>
          <p:cNvCxnSpPr>
            <a:stCxn id="29" idx="2"/>
            <a:endCxn id="30" idx="0"/>
          </p:cNvCxnSpPr>
          <p:nvPr/>
        </p:nvCxnSpPr>
        <p:spPr>
          <a:xfrm rot="16200000" flipH="1">
            <a:off x="2833810" y="3711747"/>
            <a:ext cx="418101" cy="69117"/>
          </a:xfrm>
          <a:prstGeom prst="curvedConnector3">
            <a:avLst/>
          </a:prstGeom>
          <a:ln w="38100" cmpd="sng">
            <a:solidFill>
              <a:srgbClr val="660066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直线箭头连接符 21"/>
          <p:cNvCxnSpPr>
            <a:cxnSpLocks/>
            <a:stCxn id="30" idx="2"/>
            <a:endCxn id="31" idx="0"/>
          </p:cNvCxnSpPr>
          <p:nvPr/>
        </p:nvCxnSpPr>
        <p:spPr>
          <a:xfrm rot="16200000" flipH="1">
            <a:off x="2916014" y="4491690"/>
            <a:ext cx="470231" cy="147421"/>
          </a:xfrm>
          <a:prstGeom prst="curvedConnector3">
            <a:avLst>
              <a:gd name="adj1" fmla="val 50000"/>
            </a:avLst>
          </a:prstGeom>
          <a:ln w="38100" cmpd="sng">
            <a:solidFill>
              <a:srgbClr val="660066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3959219" y="3125624"/>
            <a:ext cx="459630" cy="510840"/>
          </a:xfrm>
          <a:prstGeom prst="rect">
            <a:avLst/>
          </a:prstGeom>
          <a:noFill/>
          <a:ln w="381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729404" y="4121335"/>
            <a:ext cx="459630" cy="524422"/>
          </a:xfrm>
          <a:prstGeom prst="rect">
            <a:avLst/>
          </a:prstGeom>
          <a:noFill/>
          <a:ln w="381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798521" y="5260062"/>
            <a:ext cx="459630" cy="1323300"/>
          </a:xfrm>
          <a:prstGeom prst="rect">
            <a:avLst/>
          </a:prstGeom>
          <a:noFill/>
          <a:ln w="381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41" name="直线箭头连接符 21"/>
          <p:cNvCxnSpPr>
            <a:stCxn id="38" idx="2"/>
            <a:endCxn id="39" idx="0"/>
          </p:cNvCxnSpPr>
          <p:nvPr/>
        </p:nvCxnSpPr>
        <p:spPr>
          <a:xfrm rot="5400000">
            <a:off x="3831692" y="3763992"/>
            <a:ext cx="484871" cy="229815"/>
          </a:xfrm>
          <a:prstGeom prst="curvedConnector3">
            <a:avLst/>
          </a:prstGeom>
          <a:ln w="38100" cmpd="sng">
            <a:solidFill>
              <a:srgbClr val="660066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" name="直线箭头连接符 21"/>
          <p:cNvCxnSpPr>
            <a:cxnSpLocks/>
            <a:stCxn id="39" idx="2"/>
            <a:endCxn id="40" idx="0"/>
          </p:cNvCxnSpPr>
          <p:nvPr/>
        </p:nvCxnSpPr>
        <p:spPr>
          <a:xfrm rot="16200000" flipH="1">
            <a:off x="3686625" y="4918350"/>
            <a:ext cx="614305" cy="69117"/>
          </a:xfrm>
          <a:prstGeom prst="curvedConnector3">
            <a:avLst>
              <a:gd name="adj1" fmla="val 50000"/>
            </a:avLst>
          </a:prstGeom>
          <a:ln w="38100" cmpd="sng">
            <a:solidFill>
              <a:srgbClr val="660066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6094175" y="1382173"/>
            <a:ext cx="1253224" cy="478466"/>
          </a:xfrm>
          <a:prstGeom prst="rect">
            <a:avLst/>
          </a:prstGeom>
          <a:noFill/>
          <a:ln w="952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>
                <a:solidFill>
                  <a:schemeClr val="tx1"/>
                </a:solidFill>
                <a:latin typeface="Arial"/>
                <a:cs typeface="Arial"/>
              </a:rPr>
              <a:t>Determine size class</a:t>
            </a:r>
            <a:endParaRPr kumimoji="1" lang="zh-CN" altLang="en-US" sz="160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54" name="直线箭头连接符 53"/>
          <p:cNvCxnSpPr>
            <a:stCxn id="52" idx="2"/>
            <a:endCxn id="57" idx="0"/>
          </p:cNvCxnSpPr>
          <p:nvPr/>
        </p:nvCxnSpPr>
        <p:spPr>
          <a:xfrm>
            <a:off x="6720787" y="1860639"/>
            <a:ext cx="10160" cy="334438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6104335" y="2195077"/>
            <a:ext cx="1253224" cy="478466"/>
          </a:xfrm>
          <a:prstGeom prst="rect">
            <a:avLst/>
          </a:prstGeom>
          <a:noFill/>
          <a:ln w="952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>
                <a:solidFill>
                  <a:schemeClr val="tx1"/>
                </a:solidFill>
                <a:latin typeface="Arial"/>
                <a:cs typeface="Arial"/>
              </a:rPr>
              <a:t>First fit</a:t>
            </a:r>
            <a:endParaRPr kumimoji="1" lang="zh-CN" altLang="en-US" sz="16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9" name="菱形 58"/>
          <p:cNvSpPr/>
          <p:nvPr/>
        </p:nvSpPr>
        <p:spPr>
          <a:xfrm>
            <a:off x="6104335" y="2958585"/>
            <a:ext cx="1253224" cy="631800"/>
          </a:xfrm>
          <a:prstGeom prst="diamond">
            <a:avLst/>
          </a:prstGeom>
          <a:solidFill>
            <a:srgbClr val="FFFFFF"/>
          </a:solidFill>
          <a:ln w="9525" cmpd="sng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rgbClr val="000000"/>
                </a:solidFill>
                <a:latin typeface="Arial"/>
                <a:cs typeface="Arial"/>
              </a:rPr>
              <a:t>found?</a:t>
            </a:r>
            <a:endParaRPr kumimoji="1" lang="zh-CN" altLang="en-US"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cxnSp>
        <p:nvCxnSpPr>
          <p:cNvPr id="60" name="直线箭头连接符 59"/>
          <p:cNvCxnSpPr>
            <a:stCxn id="57" idx="2"/>
            <a:endCxn id="59" idx="0"/>
          </p:cNvCxnSpPr>
          <p:nvPr/>
        </p:nvCxnSpPr>
        <p:spPr>
          <a:xfrm>
            <a:off x="6730947" y="2673543"/>
            <a:ext cx="0" cy="285042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直线箭头连接符 69"/>
          <p:cNvCxnSpPr>
            <a:stCxn id="59" idx="2"/>
            <a:endCxn id="74" idx="0"/>
          </p:cNvCxnSpPr>
          <p:nvPr/>
        </p:nvCxnSpPr>
        <p:spPr>
          <a:xfrm>
            <a:off x="6730947" y="3590385"/>
            <a:ext cx="5133" cy="269393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6880007" y="3531502"/>
            <a:ext cx="4775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>
                <a:solidFill>
                  <a:srgbClr val="000000"/>
                </a:solidFill>
                <a:latin typeface="Arial"/>
                <a:cs typeface="Arial"/>
              </a:rPr>
              <a:t>Yes</a:t>
            </a:r>
            <a:endParaRPr lang="zh-CN" altLang="en-US" sz="1400"/>
          </a:p>
        </p:txBody>
      </p:sp>
      <p:sp>
        <p:nvSpPr>
          <p:cNvPr id="74" name="矩形 73"/>
          <p:cNvSpPr/>
          <p:nvPr/>
        </p:nvSpPr>
        <p:spPr>
          <a:xfrm>
            <a:off x="5974080" y="3859778"/>
            <a:ext cx="1523999" cy="691826"/>
          </a:xfrm>
          <a:prstGeom prst="rect">
            <a:avLst/>
          </a:prstGeom>
          <a:noFill/>
          <a:ln w="952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>
                <a:solidFill>
                  <a:schemeClr val="tx1"/>
                </a:solidFill>
                <a:latin typeface="Arial"/>
                <a:cs typeface="Arial"/>
              </a:rPr>
              <a:t>Remove and split free block</a:t>
            </a:r>
            <a:endParaRPr kumimoji="1" lang="zh-CN" altLang="en-US" sz="16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5880106" y="6126479"/>
            <a:ext cx="2237734" cy="538479"/>
          </a:xfrm>
          <a:prstGeom prst="rect">
            <a:avLst/>
          </a:prstGeom>
          <a:noFill/>
          <a:ln w="952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>
                <a:solidFill>
                  <a:schemeClr val="tx1"/>
                </a:solidFill>
                <a:latin typeface="Arial"/>
                <a:cs typeface="Arial"/>
              </a:rPr>
              <a:t>Insert split block into the appropriate list</a:t>
            </a:r>
            <a:endParaRPr kumimoji="1" lang="zh-CN" altLang="en-US" sz="160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77" name="直线箭头连接符 76"/>
          <p:cNvCxnSpPr>
            <a:stCxn id="74" idx="2"/>
          </p:cNvCxnSpPr>
          <p:nvPr/>
        </p:nvCxnSpPr>
        <p:spPr>
          <a:xfrm>
            <a:off x="6736080" y="4551604"/>
            <a:ext cx="0" cy="497917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直线箭头连接符 79"/>
          <p:cNvCxnSpPr>
            <a:stCxn id="59" idx="3"/>
          </p:cNvCxnSpPr>
          <p:nvPr/>
        </p:nvCxnSpPr>
        <p:spPr>
          <a:xfrm>
            <a:off x="7357559" y="3274485"/>
            <a:ext cx="325120" cy="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矩形 82"/>
          <p:cNvSpPr/>
          <p:nvPr/>
        </p:nvSpPr>
        <p:spPr>
          <a:xfrm>
            <a:off x="7229661" y="2938263"/>
            <a:ext cx="4141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>
                <a:solidFill>
                  <a:srgbClr val="000000"/>
                </a:solidFill>
                <a:latin typeface="Arial"/>
                <a:cs typeface="Arial"/>
              </a:rPr>
              <a:t>No</a:t>
            </a:r>
            <a:endParaRPr lang="zh-CN" altLang="en-US" sz="1400"/>
          </a:p>
        </p:txBody>
      </p:sp>
      <p:sp>
        <p:nvSpPr>
          <p:cNvPr id="84" name="矩形 83"/>
          <p:cNvSpPr/>
          <p:nvPr/>
        </p:nvSpPr>
        <p:spPr>
          <a:xfrm>
            <a:off x="7682678" y="3014657"/>
            <a:ext cx="1369881" cy="478466"/>
          </a:xfrm>
          <a:prstGeom prst="rect">
            <a:avLst/>
          </a:prstGeom>
          <a:noFill/>
          <a:ln w="952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>
                <a:solidFill>
                  <a:schemeClr val="tx1"/>
                </a:solidFill>
                <a:latin typeface="Arial"/>
                <a:cs typeface="Arial"/>
              </a:rPr>
              <a:t>Search in next free list</a:t>
            </a:r>
            <a:endParaRPr kumimoji="1" lang="zh-CN" altLang="en-US" sz="160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85" name="直线箭头连接符 84"/>
          <p:cNvCxnSpPr>
            <a:stCxn id="84" idx="0"/>
            <a:endCxn id="57" idx="3"/>
          </p:cNvCxnSpPr>
          <p:nvPr/>
        </p:nvCxnSpPr>
        <p:spPr>
          <a:xfrm rot="16200000" flipV="1">
            <a:off x="7572416" y="2219454"/>
            <a:ext cx="580347" cy="1010060"/>
          </a:xfrm>
          <a:prstGeom prst="bentConnector2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矩形 75"/>
          <p:cNvSpPr/>
          <p:nvPr/>
        </p:nvSpPr>
        <p:spPr>
          <a:xfrm>
            <a:off x="5880106" y="5049521"/>
            <a:ext cx="2237734" cy="538479"/>
          </a:xfrm>
          <a:prstGeom prst="rect">
            <a:avLst/>
          </a:prstGeom>
          <a:noFill/>
          <a:ln w="952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>
                <a:solidFill>
                  <a:schemeClr val="tx1"/>
                </a:solidFill>
                <a:latin typeface="Arial"/>
                <a:cs typeface="Arial"/>
              </a:rPr>
              <a:t>determine size class of split block</a:t>
            </a:r>
            <a:endParaRPr kumimoji="1" lang="zh-CN" altLang="en-US" sz="160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50" name="直线箭头连接符 76"/>
          <p:cNvCxnSpPr/>
          <p:nvPr/>
        </p:nvCxnSpPr>
        <p:spPr>
          <a:xfrm>
            <a:off x="6736080" y="5588000"/>
            <a:ext cx="0" cy="538479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矩形 13"/>
          <p:cNvSpPr/>
          <p:nvPr/>
        </p:nvSpPr>
        <p:spPr>
          <a:xfrm>
            <a:off x="1675384" y="1774742"/>
            <a:ext cx="786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/>
              <a:t>(0, 32]</a:t>
            </a:r>
            <a:endParaRPr lang="zh-CN" altLang="en-US"/>
          </a:p>
        </p:txBody>
      </p:sp>
      <p:sp>
        <p:nvSpPr>
          <p:cNvPr id="56" name="矩形 14"/>
          <p:cNvSpPr/>
          <p:nvPr/>
        </p:nvSpPr>
        <p:spPr>
          <a:xfrm>
            <a:off x="2334873" y="1774742"/>
            <a:ext cx="10201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/>
              <a:t>(32, 128]</a:t>
            </a:r>
            <a:endParaRPr lang="zh-CN" altLang="en-US"/>
          </a:p>
        </p:txBody>
      </p:sp>
      <p:sp>
        <p:nvSpPr>
          <p:cNvPr id="58" name="矩形 15"/>
          <p:cNvSpPr/>
          <p:nvPr/>
        </p:nvSpPr>
        <p:spPr>
          <a:xfrm>
            <a:off x="3184485" y="1779799"/>
            <a:ext cx="982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/>
              <a:t>(128, ∞)</a:t>
            </a:r>
            <a:endParaRPr lang="zh-CN" altLang="en-US"/>
          </a:p>
        </p:txBody>
      </p:sp>
      <p:sp>
        <p:nvSpPr>
          <p:cNvPr id="62" name="矩形 37"/>
          <p:cNvSpPr/>
          <p:nvPr/>
        </p:nvSpPr>
        <p:spPr>
          <a:xfrm rot="16200000">
            <a:off x="1999093" y="2109299"/>
            <a:ext cx="459630" cy="645523"/>
          </a:xfrm>
          <a:prstGeom prst="rect">
            <a:avLst/>
          </a:prstGeom>
          <a:noFill/>
          <a:ln w="127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3" name="矩形 37"/>
          <p:cNvSpPr/>
          <p:nvPr/>
        </p:nvSpPr>
        <p:spPr>
          <a:xfrm rot="16200000">
            <a:off x="2635559" y="2109298"/>
            <a:ext cx="459630" cy="645523"/>
          </a:xfrm>
          <a:prstGeom prst="rect">
            <a:avLst/>
          </a:prstGeom>
          <a:noFill/>
          <a:ln w="127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4" name="矩形 37"/>
          <p:cNvSpPr/>
          <p:nvPr/>
        </p:nvSpPr>
        <p:spPr>
          <a:xfrm rot="16200000">
            <a:off x="3292346" y="2109299"/>
            <a:ext cx="459630" cy="645523"/>
          </a:xfrm>
          <a:prstGeom prst="rect">
            <a:avLst/>
          </a:prstGeom>
          <a:noFill/>
          <a:ln w="127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66" name="Straight Arrow Connector 65"/>
          <p:cNvCxnSpPr>
            <a:endCxn id="38" idx="0"/>
          </p:cNvCxnSpPr>
          <p:nvPr/>
        </p:nvCxnSpPr>
        <p:spPr>
          <a:xfrm>
            <a:off x="3514138" y="2394070"/>
            <a:ext cx="674896" cy="731554"/>
          </a:xfrm>
          <a:prstGeom prst="straightConnector1">
            <a:avLst/>
          </a:prstGeom>
          <a:ln>
            <a:solidFill>
              <a:schemeClr val="accent4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04815" y="2265797"/>
            <a:ext cx="990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freelists</a:t>
            </a:r>
            <a:r>
              <a:rPr lang="en-US"/>
              <a:t>:</a:t>
            </a:r>
          </a:p>
        </p:txBody>
      </p:sp>
      <p:cxnSp>
        <p:nvCxnSpPr>
          <p:cNvPr id="72" name="Straight Arrow Connector 71"/>
          <p:cNvCxnSpPr>
            <a:endCxn id="29" idx="0"/>
          </p:cNvCxnSpPr>
          <p:nvPr/>
        </p:nvCxnSpPr>
        <p:spPr>
          <a:xfrm>
            <a:off x="2842678" y="2434310"/>
            <a:ext cx="165624" cy="735855"/>
          </a:xfrm>
          <a:prstGeom prst="straightConnector1">
            <a:avLst/>
          </a:prstGeom>
          <a:ln>
            <a:solidFill>
              <a:schemeClr val="accent4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endCxn id="18" idx="0"/>
          </p:cNvCxnSpPr>
          <p:nvPr/>
        </p:nvCxnSpPr>
        <p:spPr>
          <a:xfrm flipH="1">
            <a:off x="2023240" y="2434310"/>
            <a:ext cx="150181" cy="698089"/>
          </a:xfrm>
          <a:prstGeom prst="straightConnector1">
            <a:avLst/>
          </a:prstGeom>
          <a:ln>
            <a:solidFill>
              <a:schemeClr val="accent4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8580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/>
              <a:t>Segregated list: free</a:t>
            </a:r>
            <a:endParaRPr kumimoji="1"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5646750" y="2292883"/>
            <a:ext cx="2397761" cy="561261"/>
          </a:xfrm>
          <a:prstGeom prst="rect">
            <a:avLst/>
          </a:prstGeom>
          <a:noFill/>
          <a:ln w="952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>
                <a:solidFill>
                  <a:schemeClr val="tx1"/>
                </a:solidFill>
                <a:latin typeface="Arial"/>
                <a:cs typeface="Arial"/>
              </a:rPr>
              <a:t>remove next block from its </a:t>
            </a:r>
            <a:r>
              <a:rPr kumimoji="1" lang="en-US" altLang="zh-CN" sz="1600" err="1">
                <a:solidFill>
                  <a:schemeClr val="tx1"/>
                </a:solidFill>
                <a:latin typeface="Arial"/>
                <a:cs typeface="Arial"/>
              </a:rPr>
              <a:t>freelist</a:t>
            </a:r>
            <a:r>
              <a:rPr kumimoji="1" lang="en-US" altLang="zh-CN" sz="1600">
                <a:solidFill>
                  <a:schemeClr val="tx1"/>
                </a:solidFill>
                <a:latin typeface="Arial"/>
                <a:cs typeface="Arial"/>
              </a:rPr>
              <a:t> and merge</a:t>
            </a:r>
            <a:endParaRPr kumimoji="1" lang="zh-CN" altLang="en-US" sz="160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70" name="直线箭头连接符 69"/>
          <p:cNvCxnSpPr/>
          <p:nvPr/>
        </p:nvCxnSpPr>
        <p:spPr>
          <a:xfrm>
            <a:off x="6847804" y="2075783"/>
            <a:ext cx="8437" cy="209051"/>
          </a:xfrm>
          <a:prstGeom prst="straightConnector1">
            <a:avLst/>
          </a:prstGeom>
          <a:ln>
            <a:solidFill>
              <a:srgbClr val="4F81BD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5766972" y="4971126"/>
            <a:ext cx="2087095" cy="533407"/>
          </a:xfrm>
          <a:prstGeom prst="rect">
            <a:avLst/>
          </a:prstGeom>
          <a:noFill/>
          <a:ln w="952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>
                <a:solidFill>
                  <a:schemeClr val="tx1"/>
                </a:solidFill>
                <a:latin typeface="Arial"/>
                <a:cs typeface="Arial"/>
              </a:rPr>
              <a:t>determine size class</a:t>
            </a:r>
            <a:endParaRPr kumimoji="1" lang="zh-CN" altLang="en-US" sz="16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5827529" y="5882640"/>
            <a:ext cx="1999801" cy="746500"/>
          </a:xfrm>
          <a:prstGeom prst="rect">
            <a:avLst/>
          </a:prstGeom>
          <a:noFill/>
          <a:ln w="952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>
                <a:solidFill>
                  <a:schemeClr val="tx1"/>
                </a:solidFill>
                <a:latin typeface="Arial"/>
                <a:cs typeface="Arial"/>
              </a:rPr>
              <a:t>Insert block into the appropriate list</a:t>
            </a:r>
            <a:endParaRPr kumimoji="1" lang="zh-CN" altLang="en-US" sz="160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77" name="直线箭头连接符 76"/>
          <p:cNvCxnSpPr>
            <a:stCxn id="74" idx="2"/>
            <a:endCxn id="76" idx="0"/>
          </p:cNvCxnSpPr>
          <p:nvPr/>
        </p:nvCxnSpPr>
        <p:spPr>
          <a:xfrm>
            <a:off x="6810520" y="5504533"/>
            <a:ext cx="16910" cy="378107"/>
          </a:xfrm>
          <a:prstGeom prst="straightConnector1">
            <a:avLst/>
          </a:prstGeom>
          <a:ln>
            <a:solidFill>
              <a:srgbClr val="4F81BD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菱形 58"/>
          <p:cNvSpPr/>
          <p:nvPr/>
        </p:nvSpPr>
        <p:spPr>
          <a:xfrm>
            <a:off x="5877848" y="1366142"/>
            <a:ext cx="1973659" cy="682991"/>
          </a:xfrm>
          <a:prstGeom prst="diamond">
            <a:avLst/>
          </a:prstGeom>
          <a:solidFill>
            <a:srgbClr val="FFFFFF"/>
          </a:solidFill>
          <a:ln w="9525" cmpd="sng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>
                <a:solidFill>
                  <a:srgbClr val="000000"/>
                </a:solidFill>
                <a:latin typeface="Arial"/>
                <a:cs typeface="Arial"/>
              </a:rPr>
              <a:t>next block is free?</a:t>
            </a:r>
            <a:endParaRPr kumimoji="1" lang="zh-CN" altLang="en-US"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cxnSp>
        <p:nvCxnSpPr>
          <p:cNvPr id="51" name="直线箭头连接符 76"/>
          <p:cNvCxnSpPr>
            <a:endCxn id="50" idx="0"/>
          </p:cNvCxnSpPr>
          <p:nvPr/>
        </p:nvCxnSpPr>
        <p:spPr>
          <a:xfrm flipH="1">
            <a:off x="6864678" y="1095992"/>
            <a:ext cx="1723" cy="270150"/>
          </a:xfrm>
          <a:prstGeom prst="straightConnector1">
            <a:avLst/>
          </a:prstGeom>
          <a:ln>
            <a:solidFill>
              <a:srgbClr val="4F81BD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线箭头连接符 69"/>
          <p:cNvCxnSpPr/>
          <p:nvPr/>
        </p:nvCxnSpPr>
        <p:spPr>
          <a:xfrm>
            <a:off x="6818975" y="3747649"/>
            <a:ext cx="16910" cy="270547"/>
          </a:xfrm>
          <a:prstGeom prst="straightConnector1">
            <a:avLst/>
          </a:prstGeom>
          <a:ln>
            <a:solidFill>
              <a:srgbClr val="4F81BD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菱形 58"/>
          <p:cNvSpPr/>
          <p:nvPr/>
        </p:nvSpPr>
        <p:spPr>
          <a:xfrm>
            <a:off x="5766973" y="3064658"/>
            <a:ext cx="2025262" cy="682991"/>
          </a:xfrm>
          <a:prstGeom prst="diamond">
            <a:avLst/>
          </a:prstGeom>
          <a:solidFill>
            <a:srgbClr val="FFFFFF"/>
          </a:solidFill>
          <a:ln w="9525" cmpd="sng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err="1">
                <a:solidFill>
                  <a:srgbClr val="000000"/>
                </a:solidFill>
                <a:latin typeface="Arial"/>
                <a:cs typeface="Arial"/>
              </a:rPr>
              <a:t>prev</a:t>
            </a:r>
            <a:r>
              <a:rPr kumimoji="1" lang="en-US" altLang="zh-CN" sz="1400">
                <a:solidFill>
                  <a:srgbClr val="000000"/>
                </a:solidFill>
                <a:latin typeface="Arial"/>
                <a:cs typeface="Arial"/>
              </a:rPr>
              <a:t> block is free?</a:t>
            </a:r>
            <a:endParaRPr kumimoji="1" lang="zh-CN" altLang="en-US" sz="1400">
              <a:solidFill>
                <a:srgbClr val="000000"/>
              </a:solidFill>
              <a:latin typeface="Arial"/>
              <a:cs typeface="Arial"/>
            </a:endParaRPr>
          </a:p>
        </p:txBody>
      </p:sp>
      <p:cxnSp>
        <p:nvCxnSpPr>
          <p:cNvPr id="62" name="直线箭头连接符 76"/>
          <p:cNvCxnSpPr>
            <a:stCxn id="57" idx="2"/>
          </p:cNvCxnSpPr>
          <p:nvPr/>
        </p:nvCxnSpPr>
        <p:spPr>
          <a:xfrm flipH="1">
            <a:off x="6835885" y="2854144"/>
            <a:ext cx="9746" cy="210514"/>
          </a:xfrm>
          <a:prstGeom prst="straightConnector1">
            <a:avLst/>
          </a:prstGeom>
          <a:ln>
            <a:solidFill>
              <a:srgbClr val="4F81BD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矩形 56"/>
          <p:cNvSpPr/>
          <p:nvPr/>
        </p:nvSpPr>
        <p:spPr>
          <a:xfrm>
            <a:off x="5620094" y="4004397"/>
            <a:ext cx="2397761" cy="473345"/>
          </a:xfrm>
          <a:prstGeom prst="rect">
            <a:avLst/>
          </a:prstGeom>
          <a:noFill/>
          <a:ln w="952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>
                <a:solidFill>
                  <a:schemeClr val="tx1"/>
                </a:solidFill>
                <a:latin typeface="Arial"/>
                <a:cs typeface="Arial"/>
              </a:rPr>
              <a:t>remove </a:t>
            </a:r>
            <a:r>
              <a:rPr kumimoji="1" lang="en-US" altLang="zh-CN" sz="1600" err="1">
                <a:solidFill>
                  <a:schemeClr val="tx1"/>
                </a:solidFill>
                <a:latin typeface="Arial"/>
                <a:cs typeface="Arial"/>
              </a:rPr>
              <a:t>prev</a:t>
            </a:r>
            <a:r>
              <a:rPr kumimoji="1" lang="en-US" altLang="zh-CN" sz="1600">
                <a:solidFill>
                  <a:schemeClr val="tx1"/>
                </a:solidFill>
                <a:latin typeface="Arial"/>
                <a:cs typeface="Arial"/>
              </a:rPr>
              <a:t> block from its </a:t>
            </a:r>
            <a:r>
              <a:rPr kumimoji="1" lang="en-US" altLang="zh-CN" sz="1600" err="1">
                <a:solidFill>
                  <a:schemeClr val="tx1"/>
                </a:solidFill>
                <a:latin typeface="Arial"/>
                <a:cs typeface="Arial"/>
              </a:rPr>
              <a:t>freelist</a:t>
            </a:r>
            <a:r>
              <a:rPr kumimoji="1" lang="en-US" altLang="zh-CN" sz="1600">
                <a:solidFill>
                  <a:schemeClr val="tx1"/>
                </a:solidFill>
                <a:latin typeface="Arial"/>
                <a:cs typeface="Arial"/>
              </a:rPr>
              <a:t> and merge</a:t>
            </a:r>
            <a:endParaRPr kumimoji="1" lang="zh-CN" altLang="en-US" sz="160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73" name="直线箭头连接符 69"/>
          <p:cNvCxnSpPr>
            <a:endCxn id="74" idx="0"/>
          </p:cNvCxnSpPr>
          <p:nvPr/>
        </p:nvCxnSpPr>
        <p:spPr>
          <a:xfrm>
            <a:off x="6810520" y="4473333"/>
            <a:ext cx="0" cy="497793"/>
          </a:xfrm>
          <a:prstGeom prst="straightConnector1">
            <a:avLst/>
          </a:prstGeom>
          <a:ln>
            <a:solidFill>
              <a:srgbClr val="4F81BD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stCxn id="50" idx="3"/>
          </p:cNvCxnSpPr>
          <p:nvPr/>
        </p:nvCxnSpPr>
        <p:spPr>
          <a:xfrm flipH="1">
            <a:off x="6866401" y="1707638"/>
            <a:ext cx="985106" cy="1275233"/>
          </a:xfrm>
          <a:prstGeom prst="bentConnector4">
            <a:avLst>
              <a:gd name="adj1" fmla="val -64460"/>
              <a:gd name="adj2" fmla="val 98446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/>
          <p:cNvCxnSpPr/>
          <p:nvPr/>
        </p:nvCxnSpPr>
        <p:spPr>
          <a:xfrm flipH="1">
            <a:off x="6807128" y="3380580"/>
            <a:ext cx="985106" cy="1275233"/>
          </a:xfrm>
          <a:prstGeom prst="bentConnector4">
            <a:avLst>
              <a:gd name="adj1" fmla="val -64460"/>
              <a:gd name="adj2" fmla="val 98446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矩形 70"/>
          <p:cNvSpPr/>
          <p:nvPr/>
        </p:nvSpPr>
        <p:spPr>
          <a:xfrm>
            <a:off x="6880007" y="3612782"/>
            <a:ext cx="4775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>
                <a:solidFill>
                  <a:srgbClr val="000000"/>
                </a:solidFill>
                <a:latin typeface="Arial"/>
                <a:cs typeface="Arial"/>
              </a:rPr>
              <a:t>Yes</a:t>
            </a:r>
            <a:endParaRPr lang="zh-CN" altLang="en-US" sz="1400"/>
          </a:p>
        </p:txBody>
      </p:sp>
      <p:sp>
        <p:nvSpPr>
          <p:cNvPr id="93" name="矩形 82"/>
          <p:cNvSpPr/>
          <p:nvPr/>
        </p:nvSpPr>
        <p:spPr>
          <a:xfrm>
            <a:off x="7792234" y="3058247"/>
            <a:ext cx="4141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>
                <a:solidFill>
                  <a:srgbClr val="000000"/>
                </a:solidFill>
                <a:latin typeface="Arial"/>
                <a:cs typeface="Arial"/>
              </a:rPr>
              <a:t>No</a:t>
            </a:r>
            <a:endParaRPr lang="zh-CN" altLang="en-US" sz="1400"/>
          </a:p>
        </p:txBody>
      </p:sp>
      <p:sp>
        <p:nvSpPr>
          <p:cNvPr id="94" name="矩形 70"/>
          <p:cNvSpPr/>
          <p:nvPr/>
        </p:nvSpPr>
        <p:spPr>
          <a:xfrm>
            <a:off x="7087092" y="1965130"/>
            <a:ext cx="4775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>
                <a:solidFill>
                  <a:srgbClr val="000000"/>
                </a:solidFill>
                <a:latin typeface="Arial"/>
                <a:cs typeface="Arial"/>
              </a:rPr>
              <a:t>Yes</a:t>
            </a:r>
            <a:endParaRPr lang="zh-CN" altLang="en-US" sz="1400"/>
          </a:p>
        </p:txBody>
      </p:sp>
      <p:sp>
        <p:nvSpPr>
          <p:cNvPr id="95" name="矩形 82"/>
          <p:cNvSpPr/>
          <p:nvPr/>
        </p:nvSpPr>
        <p:spPr>
          <a:xfrm>
            <a:off x="7999319" y="1410595"/>
            <a:ext cx="4141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>
                <a:solidFill>
                  <a:srgbClr val="000000"/>
                </a:solidFill>
                <a:latin typeface="Arial"/>
                <a:cs typeface="Arial"/>
              </a:rPr>
              <a:t>No</a:t>
            </a:r>
            <a:endParaRPr lang="zh-CN" altLang="en-US" sz="1400"/>
          </a:p>
        </p:txBody>
      </p:sp>
      <p:sp>
        <p:nvSpPr>
          <p:cNvPr id="96" name="矩形 17"/>
          <p:cNvSpPr/>
          <p:nvPr/>
        </p:nvSpPr>
        <p:spPr>
          <a:xfrm>
            <a:off x="1793425" y="3132399"/>
            <a:ext cx="459630" cy="229265"/>
          </a:xfrm>
          <a:prstGeom prst="rect">
            <a:avLst/>
          </a:prstGeom>
          <a:noFill/>
          <a:ln w="381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97" name="矩形 18"/>
          <p:cNvSpPr/>
          <p:nvPr/>
        </p:nvSpPr>
        <p:spPr>
          <a:xfrm>
            <a:off x="1862542" y="3765191"/>
            <a:ext cx="459630" cy="229265"/>
          </a:xfrm>
          <a:prstGeom prst="rect">
            <a:avLst/>
          </a:prstGeom>
          <a:noFill/>
          <a:ln w="381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98" name="矩形 19"/>
          <p:cNvSpPr/>
          <p:nvPr/>
        </p:nvSpPr>
        <p:spPr>
          <a:xfrm>
            <a:off x="1796603" y="4417311"/>
            <a:ext cx="459630" cy="229265"/>
          </a:xfrm>
          <a:prstGeom prst="rect">
            <a:avLst/>
          </a:prstGeom>
          <a:noFill/>
          <a:ln w="381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99" name="直线箭头连接符 21"/>
          <p:cNvCxnSpPr>
            <a:stCxn id="96" idx="2"/>
            <a:endCxn id="97" idx="0"/>
          </p:cNvCxnSpPr>
          <p:nvPr/>
        </p:nvCxnSpPr>
        <p:spPr>
          <a:xfrm rot="16200000" flipH="1">
            <a:off x="1856035" y="3528868"/>
            <a:ext cx="403527" cy="69117"/>
          </a:xfrm>
          <a:prstGeom prst="curvedConnector3">
            <a:avLst/>
          </a:prstGeom>
          <a:ln w="38100" cmpd="sng">
            <a:solidFill>
              <a:srgbClr val="660066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0" name="直线箭头连接符 21"/>
          <p:cNvCxnSpPr>
            <a:stCxn id="97" idx="2"/>
            <a:endCxn id="98" idx="0"/>
          </p:cNvCxnSpPr>
          <p:nvPr/>
        </p:nvCxnSpPr>
        <p:spPr>
          <a:xfrm rot="5400000">
            <a:off x="1847961" y="4172914"/>
            <a:ext cx="422855" cy="65939"/>
          </a:xfrm>
          <a:prstGeom prst="curvedConnector3">
            <a:avLst>
              <a:gd name="adj1" fmla="val 50000"/>
            </a:avLst>
          </a:prstGeom>
          <a:ln w="38100" cmpd="sng">
            <a:solidFill>
              <a:srgbClr val="660066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1" name="矩形 28"/>
          <p:cNvSpPr/>
          <p:nvPr/>
        </p:nvSpPr>
        <p:spPr>
          <a:xfrm>
            <a:off x="2778487" y="3170165"/>
            <a:ext cx="459630" cy="367091"/>
          </a:xfrm>
          <a:prstGeom prst="rect">
            <a:avLst/>
          </a:prstGeom>
          <a:noFill/>
          <a:ln w="381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2" name="矩形 29"/>
          <p:cNvSpPr/>
          <p:nvPr/>
        </p:nvSpPr>
        <p:spPr>
          <a:xfrm>
            <a:off x="2847604" y="3955357"/>
            <a:ext cx="459630" cy="374929"/>
          </a:xfrm>
          <a:prstGeom prst="rect">
            <a:avLst/>
          </a:prstGeom>
          <a:noFill/>
          <a:ln w="381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3" name="矩形 30"/>
          <p:cNvSpPr/>
          <p:nvPr/>
        </p:nvSpPr>
        <p:spPr>
          <a:xfrm>
            <a:off x="2995025" y="4800517"/>
            <a:ext cx="459630" cy="423299"/>
          </a:xfrm>
          <a:prstGeom prst="rect">
            <a:avLst/>
          </a:prstGeom>
          <a:noFill/>
          <a:ln w="381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104" name="直线箭头连接符 21"/>
          <p:cNvCxnSpPr>
            <a:stCxn id="101" idx="2"/>
            <a:endCxn id="102" idx="0"/>
          </p:cNvCxnSpPr>
          <p:nvPr/>
        </p:nvCxnSpPr>
        <p:spPr>
          <a:xfrm rot="16200000" flipH="1">
            <a:off x="2833810" y="3711747"/>
            <a:ext cx="418101" cy="69117"/>
          </a:xfrm>
          <a:prstGeom prst="curvedConnector3">
            <a:avLst/>
          </a:prstGeom>
          <a:ln w="38100" cmpd="sng">
            <a:solidFill>
              <a:srgbClr val="660066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5" name="直线箭头连接符 21"/>
          <p:cNvCxnSpPr>
            <a:stCxn id="102" idx="2"/>
            <a:endCxn id="103" idx="0"/>
          </p:cNvCxnSpPr>
          <p:nvPr/>
        </p:nvCxnSpPr>
        <p:spPr>
          <a:xfrm rot="16200000" flipH="1">
            <a:off x="2916014" y="4491690"/>
            <a:ext cx="470231" cy="147421"/>
          </a:xfrm>
          <a:prstGeom prst="curvedConnector3">
            <a:avLst>
              <a:gd name="adj1" fmla="val 50000"/>
            </a:avLst>
          </a:prstGeom>
          <a:ln w="38100" cmpd="sng">
            <a:solidFill>
              <a:srgbClr val="660066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6" name="矩形 37"/>
          <p:cNvSpPr/>
          <p:nvPr/>
        </p:nvSpPr>
        <p:spPr>
          <a:xfrm>
            <a:off x="3959219" y="3125624"/>
            <a:ext cx="459630" cy="510840"/>
          </a:xfrm>
          <a:prstGeom prst="rect">
            <a:avLst/>
          </a:prstGeom>
          <a:noFill/>
          <a:ln w="381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7" name="矩形 38"/>
          <p:cNvSpPr/>
          <p:nvPr/>
        </p:nvSpPr>
        <p:spPr>
          <a:xfrm>
            <a:off x="3729404" y="4121335"/>
            <a:ext cx="459630" cy="524422"/>
          </a:xfrm>
          <a:prstGeom prst="rect">
            <a:avLst/>
          </a:prstGeom>
          <a:noFill/>
          <a:ln w="381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8" name="矩形 39"/>
          <p:cNvSpPr/>
          <p:nvPr/>
        </p:nvSpPr>
        <p:spPr>
          <a:xfrm>
            <a:off x="3798521" y="5260062"/>
            <a:ext cx="459630" cy="760088"/>
          </a:xfrm>
          <a:prstGeom prst="rect">
            <a:avLst/>
          </a:prstGeom>
          <a:noFill/>
          <a:ln w="381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109" name="直线箭头连接符 21"/>
          <p:cNvCxnSpPr>
            <a:stCxn id="106" idx="2"/>
            <a:endCxn id="107" idx="0"/>
          </p:cNvCxnSpPr>
          <p:nvPr/>
        </p:nvCxnSpPr>
        <p:spPr>
          <a:xfrm rot="5400000">
            <a:off x="3831692" y="3763992"/>
            <a:ext cx="484871" cy="229815"/>
          </a:xfrm>
          <a:prstGeom prst="curvedConnector3">
            <a:avLst/>
          </a:prstGeom>
          <a:ln w="38100" cmpd="sng">
            <a:solidFill>
              <a:srgbClr val="660066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0" name="直线箭头连接符 21"/>
          <p:cNvCxnSpPr>
            <a:stCxn id="107" idx="2"/>
            <a:endCxn id="108" idx="0"/>
          </p:cNvCxnSpPr>
          <p:nvPr/>
        </p:nvCxnSpPr>
        <p:spPr>
          <a:xfrm rot="16200000" flipH="1">
            <a:off x="3686625" y="4918350"/>
            <a:ext cx="614305" cy="69117"/>
          </a:xfrm>
          <a:prstGeom prst="curvedConnector3">
            <a:avLst>
              <a:gd name="adj1" fmla="val 50000"/>
            </a:avLst>
          </a:prstGeom>
          <a:ln w="38100" cmpd="sng">
            <a:solidFill>
              <a:srgbClr val="660066"/>
            </a:solidFill>
            <a:headEnd type="arrow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1" name="矩形 13"/>
          <p:cNvSpPr/>
          <p:nvPr/>
        </p:nvSpPr>
        <p:spPr>
          <a:xfrm>
            <a:off x="1675384" y="1774742"/>
            <a:ext cx="786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/>
              <a:t>(0, 32]</a:t>
            </a:r>
            <a:endParaRPr lang="zh-CN" altLang="en-US"/>
          </a:p>
        </p:txBody>
      </p:sp>
      <p:sp>
        <p:nvSpPr>
          <p:cNvPr id="112" name="矩形 14"/>
          <p:cNvSpPr/>
          <p:nvPr/>
        </p:nvSpPr>
        <p:spPr>
          <a:xfrm>
            <a:off x="2334873" y="1774742"/>
            <a:ext cx="10201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/>
              <a:t>(32, 128]</a:t>
            </a:r>
            <a:endParaRPr lang="zh-CN" altLang="en-US"/>
          </a:p>
        </p:txBody>
      </p:sp>
      <p:sp>
        <p:nvSpPr>
          <p:cNvPr id="113" name="矩形 15"/>
          <p:cNvSpPr/>
          <p:nvPr/>
        </p:nvSpPr>
        <p:spPr>
          <a:xfrm>
            <a:off x="3184485" y="1779799"/>
            <a:ext cx="982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/>
              <a:t>(128, ∞)</a:t>
            </a:r>
            <a:endParaRPr lang="zh-CN" altLang="en-US"/>
          </a:p>
        </p:txBody>
      </p:sp>
      <p:sp>
        <p:nvSpPr>
          <p:cNvPr id="114" name="矩形 37"/>
          <p:cNvSpPr/>
          <p:nvPr/>
        </p:nvSpPr>
        <p:spPr>
          <a:xfrm rot="16200000">
            <a:off x="1999093" y="2109299"/>
            <a:ext cx="459630" cy="645523"/>
          </a:xfrm>
          <a:prstGeom prst="rect">
            <a:avLst/>
          </a:prstGeom>
          <a:noFill/>
          <a:ln w="127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5" name="矩形 37"/>
          <p:cNvSpPr/>
          <p:nvPr/>
        </p:nvSpPr>
        <p:spPr>
          <a:xfrm rot="16200000">
            <a:off x="2635559" y="2109298"/>
            <a:ext cx="459630" cy="645523"/>
          </a:xfrm>
          <a:prstGeom prst="rect">
            <a:avLst/>
          </a:prstGeom>
          <a:noFill/>
          <a:ln w="127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6" name="矩形 37"/>
          <p:cNvSpPr/>
          <p:nvPr/>
        </p:nvSpPr>
        <p:spPr>
          <a:xfrm rot="16200000">
            <a:off x="3292346" y="2109299"/>
            <a:ext cx="459630" cy="645523"/>
          </a:xfrm>
          <a:prstGeom prst="rect">
            <a:avLst/>
          </a:prstGeom>
          <a:noFill/>
          <a:ln w="12700" cmpd="sng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117" name="Straight Arrow Connector 116"/>
          <p:cNvCxnSpPr>
            <a:endCxn id="106" idx="0"/>
          </p:cNvCxnSpPr>
          <p:nvPr/>
        </p:nvCxnSpPr>
        <p:spPr>
          <a:xfrm>
            <a:off x="3514138" y="2394070"/>
            <a:ext cx="674896" cy="731554"/>
          </a:xfrm>
          <a:prstGeom prst="straightConnector1">
            <a:avLst/>
          </a:prstGeom>
          <a:ln>
            <a:solidFill>
              <a:schemeClr val="accent4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704815" y="2265797"/>
            <a:ext cx="990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freelists</a:t>
            </a:r>
            <a:r>
              <a:rPr lang="en-US"/>
              <a:t>:</a:t>
            </a:r>
          </a:p>
        </p:txBody>
      </p:sp>
      <p:cxnSp>
        <p:nvCxnSpPr>
          <p:cNvPr id="119" name="Straight Arrow Connector 118"/>
          <p:cNvCxnSpPr>
            <a:endCxn id="101" idx="0"/>
          </p:cNvCxnSpPr>
          <p:nvPr/>
        </p:nvCxnSpPr>
        <p:spPr>
          <a:xfrm>
            <a:off x="2842678" y="2434310"/>
            <a:ext cx="165624" cy="735855"/>
          </a:xfrm>
          <a:prstGeom prst="straightConnector1">
            <a:avLst/>
          </a:prstGeom>
          <a:ln>
            <a:solidFill>
              <a:schemeClr val="accent4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>
            <a:endCxn id="96" idx="0"/>
          </p:cNvCxnSpPr>
          <p:nvPr/>
        </p:nvCxnSpPr>
        <p:spPr>
          <a:xfrm flipH="1">
            <a:off x="2023240" y="2434310"/>
            <a:ext cx="150181" cy="698089"/>
          </a:xfrm>
          <a:prstGeom prst="straightConnector1">
            <a:avLst/>
          </a:prstGeom>
          <a:ln>
            <a:solidFill>
              <a:schemeClr val="accent4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45365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Buddy System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/>
              <a:t>A special case of segregated list</a:t>
            </a:r>
          </a:p>
          <a:p>
            <a:pPr lvl="1"/>
            <a:r>
              <a:rPr kumimoji="1" lang="en-US" altLang="zh-CN"/>
              <a:t>each </a:t>
            </a:r>
            <a:r>
              <a:rPr kumimoji="1" lang="en-US" altLang="zh-CN" err="1"/>
              <a:t>freelist</a:t>
            </a:r>
            <a:r>
              <a:rPr kumimoji="1" lang="en-US" altLang="zh-CN"/>
              <a:t> has </a:t>
            </a:r>
            <a:r>
              <a:rPr kumimoji="1" lang="en-US" altLang="zh-CN" i="1"/>
              <a:t>identically-sized </a:t>
            </a:r>
            <a:r>
              <a:rPr kumimoji="1" lang="en-US" altLang="zh-CN"/>
              <a:t>blocks </a:t>
            </a:r>
          </a:p>
          <a:p>
            <a:pPr lvl="1"/>
            <a:r>
              <a:rPr kumimoji="1" lang="en-US" altLang="zh-CN"/>
              <a:t>block sizes are powers of 2</a:t>
            </a:r>
          </a:p>
          <a:p>
            <a:r>
              <a:rPr kumimoji="1" lang="en-US" altLang="zh-CN"/>
              <a:t>Advantage over a normal segregated list?</a:t>
            </a:r>
          </a:p>
          <a:p>
            <a:pPr lvl="1"/>
            <a:r>
              <a:rPr kumimoji="1" lang="en-US" altLang="zh-CN"/>
              <a:t>Less search time (no need to search within a </a:t>
            </a:r>
            <a:r>
              <a:rPr kumimoji="1" lang="en-US" altLang="zh-CN" err="1"/>
              <a:t>freelist</a:t>
            </a:r>
            <a:r>
              <a:rPr kumimoji="1" lang="en-US" altLang="zh-CN"/>
              <a:t>)</a:t>
            </a:r>
          </a:p>
          <a:p>
            <a:pPr lvl="1"/>
            <a:r>
              <a:rPr kumimoji="1" lang="en-US" altLang="zh-CN"/>
              <a:t>Less coalescing time</a:t>
            </a:r>
          </a:p>
          <a:p>
            <a:r>
              <a:rPr kumimoji="1" lang="en-US" altLang="zh-CN"/>
              <a:t>Adopted by Linux kernel and </a:t>
            </a:r>
            <a:r>
              <a:rPr kumimoji="1" lang="en-US" altLang="zh-CN" err="1"/>
              <a:t>jemalloc</a:t>
            </a:r>
            <a:endParaRPr kumimoji="1" lang="en-US" altLang="zh-CN"/>
          </a:p>
        </p:txBody>
      </p:sp>
    </p:spTree>
    <p:extLst>
      <p:ext uri="{BB962C8B-B14F-4D97-AF65-F5344CB8AC3E}">
        <p14:creationId xmlns:p14="http://schemas.microsoft.com/office/powerpoint/2010/main" val="233865096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99" y="180340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Simple binary buddy system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940056" y="1940560"/>
            <a:ext cx="1767840" cy="4175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" name="右大括号 4"/>
          <p:cNvSpPr/>
          <p:nvPr/>
        </p:nvSpPr>
        <p:spPr>
          <a:xfrm>
            <a:off x="7909560" y="1930400"/>
            <a:ext cx="335280" cy="4175760"/>
          </a:xfrm>
          <a:prstGeom prst="rightBrace">
            <a:avLst>
              <a:gd name="adj1" fmla="val 8333"/>
              <a:gd name="adj2" fmla="val 49526"/>
            </a:avLst>
          </a:prstGeom>
          <a:ln w="3175" cmpd="sng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244840" y="3833614"/>
            <a:ext cx="538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/>
              <a:t>64K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422831" y="1724156"/>
            <a:ext cx="16081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00" b="1" dirty="0">
                <a:latin typeface="Arial"/>
                <a:cs typeface="Arial"/>
              </a:rPr>
              <a:t>( 0000 0000 0000 0000)</a:t>
            </a:r>
            <a:r>
              <a:rPr kumimoji="1" lang="en-US" altLang="zh-CN" sz="1000" b="1" baseline="-25000" dirty="0">
                <a:latin typeface="Arial"/>
                <a:cs typeface="Arial"/>
              </a:rPr>
              <a:t>2</a:t>
            </a:r>
            <a:endParaRPr lang="zh-CN" altLang="en-US" sz="1000" b="1" baseline="-25000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8290560" y="5222240"/>
            <a:ext cx="20320" cy="8839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 rot="5400000">
            <a:off x="7735332" y="5445760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increases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0056" y="1940559"/>
            <a:ext cx="1767840" cy="5696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0x10000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next/</a:t>
            </a:r>
            <a:r>
              <a:rPr lang="en-US" dirty="0" err="1">
                <a:solidFill>
                  <a:srgbClr val="000000"/>
                </a:solidFill>
              </a:rPr>
              <a:t>prev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D2F092-CB1A-6852-6C80-F45F374B867B}"/>
              </a:ext>
            </a:extLst>
          </p:cNvPr>
          <p:cNvSpPr txBox="1"/>
          <p:nvPr/>
        </p:nvSpPr>
        <p:spPr>
          <a:xfrm>
            <a:off x="4348716" y="1202141"/>
            <a:ext cx="38270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/>
                <a:cs typeface="Arial"/>
              </a:rPr>
              <a:t>Assume heap address starts at all zeros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Arial"/>
                <a:cs typeface="Arial"/>
              </a:rPr>
              <a:t>impl</a:t>
            </a:r>
            <a:r>
              <a:rPr lang="en-US" sz="1400" dirty="0">
                <a:latin typeface="Arial"/>
                <a:cs typeface="Arial"/>
              </a:rPr>
              <a:t>. can add an offset)</a:t>
            </a:r>
            <a:r>
              <a:rPr lang="en-US" sz="1400" dirty="0"/>
              <a:t> 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51DDB1A-B3A8-3427-8762-6BE2430B1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741015"/>
              </p:ext>
            </p:extLst>
          </p:nvPr>
        </p:nvGraphicFramePr>
        <p:xfrm>
          <a:off x="1022268" y="2788839"/>
          <a:ext cx="264205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411">
                  <a:extLst>
                    <a:ext uri="{9D8B030D-6E8A-4147-A177-3AD203B41FA5}">
                      <a16:colId xmlns:a16="http://schemas.microsoft.com/office/drawing/2014/main" val="1390986660"/>
                    </a:ext>
                  </a:extLst>
                </a:gridCol>
                <a:gridCol w="528411">
                  <a:extLst>
                    <a:ext uri="{9D8B030D-6E8A-4147-A177-3AD203B41FA5}">
                      <a16:colId xmlns:a16="http://schemas.microsoft.com/office/drawing/2014/main" val="197843540"/>
                    </a:ext>
                  </a:extLst>
                </a:gridCol>
                <a:gridCol w="528411">
                  <a:extLst>
                    <a:ext uri="{9D8B030D-6E8A-4147-A177-3AD203B41FA5}">
                      <a16:colId xmlns:a16="http://schemas.microsoft.com/office/drawing/2014/main" val="3523238214"/>
                    </a:ext>
                  </a:extLst>
                </a:gridCol>
                <a:gridCol w="528411">
                  <a:extLst>
                    <a:ext uri="{9D8B030D-6E8A-4147-A177-3AD203B41FA5}">
                      <a16:colId xmlns:a16="http://schemas.microsoft.com/office/drawing/2014/main" val="2035357019"/>
                    </a:ext>
                  </a:extLst>
                </a:gridCol>
                <a:gridCol w="528411">
                  <a:extLst>
                    <a:ext uri="{9D8B030D-6E8A-4147-A177-3AD203B41FA5}">
                      <a16:colId xmlns:a16="http://schemas.microsoft.com/office/drawing/2014/main" val="1257951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0080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A674D7E-499D-B1C1-5B55-3568F140367D}"/>
              </a:ext>
            </a:extLst>
          </p:cNvPr>
          <p:cNvSpPr txBox="1"/>
          <p:nvPr/>
        </p:nvSpPr>
        <p:spPr>
          <a:xfrm>
            <a:off x="958918" y="2376882"/>
            <a:ext cx="2284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free_hdr</a:t>
            </a:r>
            <a:r>
              <a:rPr lang="en-US" dirty="0"/>
              <a:t> *</a:t>
            </a:r>
            <a:r>
              <a:rPr lang="en-US" dirty="0" err="1"/>
              <a:t>freelists</a:t>
            </a:r>
            <a:r>
              <a:rPr lang="en-US" dirty="0"/>
              <a:t>[12]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F27CD3E-66EB-A8DD-0B85-A8B5100AAD3F}"/>
              </a:ext>
            </a:extLst>
          </p:cNvPr>
          <p:cNvCxnSpPr>
            <a:cxnSpLocks/>
          </p:cNvCxnSpPr>
          <p:nvPr/>
        </p:nvCxnSpPr>
        <p:spPr>
          <a:xfrm flipV="1">
            <a:off x="1022268" y="3314700"/>
            <a:ext cx="181244" cy="62002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6B18E24-D2B6-7FFB-1F7C-9596A744F5A1}"/>
              </a:ext>
            </a:extLst>
          </p:cNvPr>
          <p:cNvSpPr txBox="1"/>
          <p:nvPr/>
        </p:nvSpPr>
        <p:spPr>
          <a:xfrm>
            <a:off x="360581" y="3843774"/>
            <a:ext cx="4377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Points to a list of chunks with size MIN_CHUNCK_SZ (32B)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05D8E1-8FAB-5380-D057-74D4B56B713F}"/>
              </a:ext>
            </a:extLst>
          </p:cNvPr>
          <p:cNvCxnSpPr>
            <a:cxnSpLocks/>
          </p:cNvCxnSpPr>
          <p:nvPr/>
        </p:nvCxnSpPr>
        <p:spPr>
          <a:xfrm flipV="1">
            <a:off x="1391402" y="3324860"/>
            <a:ext cx="347225" cy="1024254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D6B5CAD-FD04-2294-BA44-75E56DAA09AC}"/>
              </a:ext>
            </a:extLst>
          </p:cNvPr>
          <p:cNvSpPr txBox="1"/>
          <p:nvPr/>
        </p:nvSpPr>
        <p:spPr>
          <a:xfrm>
            <a:off x="360581" y="4272741"/>
            <a:ext cx="2941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Points to a list of chunks with size 64B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2FD5A0C-896C-81C5-DE5B-79DA6B651F40}"/>
              </a:ext>
            </a:extLst>
          </p:cNvPr>
          <p:cNvCxnSpPr>
            <a:cxnSpLocks/>
          </p:cNvCxnSpPr>
          <p:nvPr/>
        </p:nvCxnSpPr>
        <p:spPr>
          <a:xfrm flipV="1">
            <a:off x="1725767" y="3321429"/>
            <a:ext cx="502988" cy="145900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1B7EA27-4792-4D11-34BA-C3C53DC580AA}"/>
              </a:ext>
            </a:extLst>
          </p:cNvPr>
          <p:cNvSpPr txBox="1"/>
          <p:nvPr/>
        </p:nvSpPr>
        <p:spPr>
          <a:xfrm>
            <a:off x="366130" y="4720870"/>
            <a:ext cx="30329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Points to a list of chunks with size 128B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A63164-D670-BEF4-522E-1F6DA22B7061}"/>
              </a:ext>
            </a:extLst>
          </p:cNvPr>
          <p:cNvSpPr txBox="1"/>
          <p:nvPr/>
        </p:nvSpPr>
        <p:spPr>
          <a:xfrm>
            <a:off x="366130" y="5113898"/>
            <a:ext cx="319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26FA85-CE3C-FF99-4EC9-79AE4F566801}"/>
              </a:ext>
            </a:extLst>
          </p:cNvPr>
          <p:cNvSpPr txBox="1"/>
          <p:nvPr/>
        </p:nvSpPr>
        <p:spPr>
          <a:xfrm>
            <a:off x="366130" y="5506926"/>
            <a:ext cx="30345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Points to a list of chunks with size 64KB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94B2C82-8976-4BD8-D469-CF8BD142D78F}"/>
              </a:ext>
            </a:extLst>
          </p:cNvPr>
          <p:cNvCxnSpPr>
            <a:cxnSpLocks/>
          </p:cNvCxnSpPr>
          <p:nvPr/>
        </p:nvCxnSpPr>
        <p:spPr>
          <a:xfrm flipV="1">
            <a:off x="2575139" y="3374670"/>
            <a:ext cx="689603" cy="2132256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 36">
            <a:extLst>
              <a:ext uri="{FF2B5EF4-FFF2-40B4-BE49-F238E27FC236}">
                <a16:creationId xmlns:a16="http://schemas.microsoft.com/office/drawing/2014/main" id="{4B51F411-0977-C3FF-EB31-86D3D47B2124}"/>
              </a:ext>
            </a:extLst>
          </p:cNvPr>
          <p:cNvSpPr/>
          <p:nvPr/>
        </p:nvSpPr>
        <p:spPr>
          <a:xfrm>
            <a:off x="3381935" y="1956547"/>
            <a:ext cx="2447365" cy="1110529"/>
          </a:xfrm>
          <a:custGeom>
            <a:avLst/>
            <a:gdLst>
              <a:gd name="csX0" fmla="*/ 0 w 2447365"/>
              <a:gd name="csY0" fmla="*/ 1055594 h 1110529"/>
              <a:gd name="csX1" fmla="*/ 1055594 w 2447365"/>
              <a:gd name="csY1" fmla="*/ 1028700 h 1110529"/>
              <a:gd name="csX2" fmla="*/ 1559859 w 2447365"/>
              <a:gd name="csY2" fmla="*/ 275665 h 1110529"/>
              <a:gd name="csX3" fmla="*/ 2447365 w 2447365"/>
              <a:gd name="csY3" fmla="*/ 0 h 11105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47365" h="1110529">
                <a:moveTo>
                  <a:pt x="0" y="1055594"/>
                </a:moveTo>
                <a:cubicBezTo>
                  <a:pt x="397809" y="1107141"/>
                  <a:pt x="795618" y="1158688"/>
                  <a:pt x="1055594" y="1028700"/>
                </a:cubicBezTo>
                <a:cubicBezTo>
                  <a:pt x="1315570" y="898712"/>
                  <a:pt x="1327897" y="447115"/>
                  <a:pt x="1559859" y="275665"/>
                </a:cubicBezTo>
                <a:cubicBezTo>
                  <a:pt x="1791821" y="104215"/>
                  <a:pt x="2119593" y="52107"/>
                  <a:pt x="2447365" y="0"/>
                </a:cubicBezTo>
              </a:path>
            </a:pathLst>
          </a:custGeom>
          <a:ln w="127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2255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Binary buddy system: allocate</a:t>
            </a:r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940056" y="1940560"/>
            <a:ext cx="1767840" cy="4175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" name="右大括号 4"/>
          <p:cNvSpPr/>
          <p:nvPr/>
        </p:nvSpPr>
        <p:spPr>
          <a:xfrm>
            <a:off x="7909560" y="1972826"/>
            <a:ext cx="116840" cy="2001520"/>
          </a:xfrm>
          <a:prstGeom prst="rightBrace">
            <a:avLst>
              <a:gd name="adj1" fmla="val 8333"/>
              <a:gd name="adj2" fmla="val 49526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148220" y="2776974"/>
            <a:ext cx="538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/>
              <a:t>32K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0056" y="4050546"/>
            <a:ext cx="1767840" cy="2065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466790" y="2675374"/>
            <a:ext cx="77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0000"/>
                </a:solidFill>
              </a:rPr>
              <a:t>Buddy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6478201" y="4778494"/>
            <a:ext cx="77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chemeClr val="tx2"/>
                </a:solidFill>
              </a:rPr>
              <a:t>Buddy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10" name="右大括号 9"/>
          <p:cNvSpPr/>
          <p:nvPr/>
        </p:nvSpPr>
        <p:spPr>
          <a:xfrm>
            <a:off x="7909560" y="4114800"/>
            <a:ext cx="116840" cy="2001520"/>
          </a:xfrm>
          <a:prstGeom prst="rightBrace">
            <a:avLst>
              <a:gd name="adj1" fmla="val 8333"/>
              <a:gd name="adj2" fmla="val 49526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168540" y="4910574"/>
            <a:ext cx="538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/>
              <a:t>32K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940056" y="1933972"/>
            <a:ext cx="1767840" cy="21165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286634" y="1817449"/>
            <a:ext cx="16081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00" b="1">
                <a:latin typeface="Arial"/>
                <a:cs typeface="Arial"/>
              </a:rPr>
              <a:t>( 0000 0000 0000 0000)</a:t>
            </a:r>
            <a:r>
              <a:rPr kumimoji="1" lang="en-US" altLang="zh-CN" sz="1000" b="1" baseline="-25000">
                <a:latin typeface="Arial"/>
                <a:cs typeface="Arial"/>
              </a:rPr>
              <a:t>2</a:t>
            </a:r>
            <a:endParaRPr lang="zh-CN" altLang="en-US" sz="1000" b="1" baseline="-25000"/>
          </a:p>
        </p:txBody>
      </p:sp>
      <p:sp>
        <p:nvSpPr>
          <p:cNvPr id="18" name="矩形 17"/>
          <p:cNvSpPr/>
          <p:nvPr/>
        </p:nvSpPr>
        <p:spPr>
          <a:xfrm>
            <a:off x="4286634" y="3974346"/>
            <a:ext cx="16081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00" b="1">
                <a:latin typeface="Arial"/>
                <a:cs typeface="Arial"/>
              </a:rPr>
              <a:t>( 1000 0000 0000 0000)</a:t>
            </a:r>
            <a:r>
              <a:rPr kumimoji="1" lang="en-US" altLang="zh-CN" sz="1000" b="1" baseline="-25000">
                <a:latin typeface="Arial"/>
                <a:cs typeface="Arial"/>
              </a:rPr>
              <a:t>2</a:t>
            </a:r>
            <a:endParaRPr lang="zh-CN" altLang="en-US" sz="1000" b="1" baseline="-25000"/>
          </a:p>
        </p:txBody>
      </p:sp>
      <p:sp>
        <p:nvSpPr>
          <p:cNvPr id="25" name="矩形 24"/>
          <p:cNvSpPr/>
          <p:nvPr/>
        </p:nvSpPr>
        <p:spPr>
          <a:xfrm>
            <a:off x="142240" y="2706152"/>
            <a:ext cx="5051942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Arial"/>
                <a:cs typeface="Arial"/>
              </a:rPr>
              <a:t>Recursive split in half until having </a:t>
            </a:r>
          </a:p>
          <a:p>
            <a:r>
              <a:rPr lang="en-US" altLang="zh-CN" sz="2000">
                <a:latin typeface="Arial"/>
                <a:cs typeface="Arial"/>
              </a:rPr>
              <a:t>the right size</a:t>
            </a:r>
            <a:endParaRPr lang="en-US" altLang="zh-CN">
              <a:latin typeface="Arial"/>
              <a:cs typeface="Arial"/>
            </a:endParaRPr>
          </a:p>
          <a:p>
            <a:pPr marL="285750" indent="-285750">
              <a:buFont typeface="Symbol" charset="2"/>
              <a:buChar char="-"/>
            </a:pPr>
            <a:r>
              <a:rPr lang="en-US" altLang="zh-CN">
                <a:latin typeface="Arial"/>
                <a:cs typeface="Arial"/>
              </a:rPr>
              <a:t>insert free buddy into appropriate </a:t>
            </a:r>
            <a:r>
              <a:rPr lang="en-US" altLang="zh-CN" err="1">
                <a:latin typeface="Arial"/>
                <a:cs typeface="Arial"/>
              </a:rPr>
              <a:t>freelist</a:t>
            </a:r>
            <a:endParaRPr lang="zh-CN" altLang="en-US">
              <a:latin typeface="Arial"/>
              <a:cs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940056" y="1940559"/>
            <a:ext cx="1767840" cy="5696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0x8000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next/</a:t>
            </a:r>
            <a:r>
              <a:rPr lang="en-US" dirty="0" err="1">
                <a:solidFill>
                  <a:srgbClr val="000000"/>
                </a:solidFill>
              </a:rPr>
              <a:t>prev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40056" y="4072503"/>
            <a:ext cx="1767840" cy="5696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0x8000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next/</a:t>
            </a:r>
            <a:r>
              <a:rPr lang="en-US" dirty="0" err="1">
                <a:solidFill>
                  <a:srgbClr val="000000"/>
                </a:solidFill>
              </a:rPr>
              <a:t>prev</a:t>
            </a: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2143760" y="2063670"/>
            <a:ext cx="3281680" cy="3909180"/>
            <a:chOff x="2143760" y="2063670"/>
            <a:chExt cx="3281680" cy="3909180"/>
          </a:xfrm>
        </p:grpSpPr>
        <p:cxnSp>
          <p:nvCxnSpPr>
            <p:cNvPr id="14" name="Straight Arrow Connector 13"/>
            <p:cNvCxnSpPr/>
            <p:nvPr/>
          </p:nvCxnSpPr>
          <p:spPr>
            <a:xfrm flipV="1">
              <a:off x="3840480" y="2063670"/>
              <a:ext cx="1584960" cy="284690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3840480" y="4220568"/>
              <a:ext cx="1209040" cy="84240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2143760" y="5049520"/>
              <a:ext cx="305042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chemeClr val="accent1"/>
                  </a:solidFill>
                </a:rPr>
                <a:t>Addresses of buddies at </a:t>
              </a:r>
            </a:p>
            <a:p>
              <a:r>
                <a:rPr lang="en-US">
                  <a:solidFill>
                    <a:schemeClr val="accent1"/>
                  </a:solidFill>
                </a:rPr>
                <a:t>size 2</a:t>
              </a:r>
              <a:r>
                <a:rPr lang="en-US" baseline="30000">
                  <a:solidFill>
                    <a:schemeClr val="accent1"/>
                  </a:solidFill>
                </a:rPr>
                <a:t>m</a:t>
              </a:r>
              <a:r>
                <a:rPr lang="en-US">
                  <a:solidFill>
                    <a:schemeClr val="accent1"/>
                  </a:solidFill>
                </a:rPr>
                <a:t> differ in exactly 1-bit at </a:t>
              </a:r>
            </a:p>
            <a:p>
              <a:r>
                <a:rPr lang="en-US">
                  <a:solidFill>
                    <a:schemeClr val="accent1"/>
                  </a:solidFill>
                </a:rPr>
                <a:t>position m (from right)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327426" y="1981200"/>
            <a:ext cx="2464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/>
                <a:cs typeface="Consolas"/>
              </a:rPr>
              <a:t>p = malloc(15000);</a:t>
            </a:r>
          </a:p>
        </p:txBody>
      </p:sp>
    </p:spTree>
    <p:extLst>
      <p:ext uri="{BB962C8B-B14F-4D97-AF65-F5344CB8AC3E}">
        <p14:creationId xmlns:p14="http://schemas.microsoft.com/office/powerpoint/2010/main" val="398871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Binary buddy system: allocate</a:t>
            </a:r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940056" y="1940560"/>
            <a:ext cx="1767840" cy="4175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848450" y="2303869"/>
            <a:ext cx="4599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/>
              <a:t>16K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0056" y="4050546"/>
            <a:ext cx="1767840" cy="2065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466790" y="2592308"/>
            <a:ext cx="77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0000"/>
                </a:solidFill>
              </a:rPr>
              <a:t>Buddy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右大括号 9"/>
          <p:cNvSpPr/>
          <p:nvPr/>
        </p:nvSpPr>
        <p:spPr>
          <a:xfrm>
            <a:off x="8232082" y="4114800"/>
            <a:ext cx="116840" cy="2001520"/>
          </a:xfrm>
          <a:prstGeom prst="rightBrace">
            <a:avLst>
              <a:gd name="adj1" fmla="val 8333"/>
              <a:gd name="adj2" fmla="val 49526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305884" y="4924028"/>
            <a:ext cx="538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/>
              <a:t>32K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940056" y="1933972"/>
            <a:ext cx="1767840" cy="21165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286634" y="1817449"/>
            <a:ext cx="16081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00" b="1">
                <a:latin typeface="Arial"/>
                <a:cs typeface="Arial"/>
              </a:rPr>
              <a:t>( 0000 0000 0000 0000)</a:t>
            </a:r>
            <a:r>
              <a:rPr kumimoji="1" lang="en-US" altLang="zh-CN" sz="1000" b="1" baseline="-25000">
                <a:latin typeface="Arial"/>
                <a:cs typeface="Arial"/>
              </a:rPr>
              <a:t>2</a:t>
            </a:r>
            <a:endParaRPr lang="zh-CN" altLang="en-US" sz="1000" b="1" baseline="-25000"/>
          </a:p>
        </p:txBody>
      </p:sp>
      <p:sp>
        <p:nvSpPr>
          <p:cNvPr id="18" name="矩形 17"/>
          <p:cNvSpPr/>
          <p:nvPr/>
        </p:nvSpPr>
        <p:spPr>
          <a:xfrm>
            <a:off x="4286634" y="3974346"/>
            <a:ext cx="16081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00" b="1">
                <a:latin typeface="Arial"/>
                <a:cs typeface="Arial"/>
              </a:rPr>
              <a:t>( 1000 0000 0000 0000)</a:t>
            </a:r>
            <a:r>
              <a:rPr kumimoji="1" lang="en-US" altLang="zh-CN" sz="1000" b="1" baseline="-25000">
                <a:latin typeface="Arial"/>
                <a:cs typeface="Arial"/>
              </a:rPr>
              <a:t>2</a:t>
            </a:r>
            <a:endParaRPr lang="zh-CN" altLang="en-US" sz="1000" b="1" baseline="-25000"/>
          </a:p>
        </p:txBody>
      </p:sp>
      <p:sp>
        <p:nvSpPr>
          <p:cNvPr id="16" name="Rectangle 15"/>
          <p:cNvSpPr/>
          <p:nvPr/>
        </p:nvSpPr>
        <p:spPr>
          <a:xfrm>
            <a:off x="5940056" y="1940559"/>
            <a:ext cx="1767840" cy="48768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0x4000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next/</a:t>
            </a:r>
            <a:r>
              <a:rPr lang="en-US" dirty="0" err="1">
                <a:solidFill>
                  <a:srgbClr val="000000"/>
                </a:solidFill>
              </a:rPr>
              <a:t>prev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40056" y="4062343"/>
            <a:ext cx="1767840" cy="5696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0x8000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Next/</a:t>
            </a:r>
            <a:r>
              <a:rPr lang="en-US" dirty="0" err="1">
                <a:solidFill>
                  <a:srgbClr val="000000"/>
                </a:solidFill>
              </a:rPr>
              <a:t>prev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3" name="矩形 12"/>
          <p:cNvSpPr/>
          <p:nvPr/>
        </p:nvSpPr>
        <p:spPr>
          <a:xfrm>
            <a:off x="5940056" y="3044706"/>
            <a:ext cx="1767840" cy="10058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940056" y="3063379"/>
            <a:ext cx="1767840" cy="4316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0x4000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next/</a:t>
            </a:r>
            <a:r>
              <a:rPr lang="en-US" dirty="0" err="1">
                <a:solidFill>
                  <a:srgbClr val="000000"/>
                </a:solidFill>
              </a:rPr>
              <a:t>prev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8" name="矩形 8"/>
          <p:cNvSpPr/>
          <p:nvPr/>
        </p:nvSpPr>
        <p:spPr>
          <a:xfrm>
            <a:off x="6434705" y="3505815"/>
            <a:ext cx="77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chemeClr val="tx2"/>
                </a:solidFill>
              </a:rPr>
              <a:t>Buddy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29" name="右大括号 4"/>
          <p:cNvSpPr/>
          <p:nvPr/>
        </p:nvSpPr>
        <p:spPr>
          <a:xfrm>
            <a:off x="7792720" y="1955929"/>
            <a:ext cx="116840" cy="1022141"/>
          </a:xfrm>
          <a:prstGeom prst="rightBrace">
            <a:avLst>
              <a:gd name="adj1" fmla="val 8333"/>
              <a:gd name="adj2" fmla="val 49526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右大括号 9"/>
          <p:cNvSpPr/>
          <p:nvPr/>
        </p:nvSpPr>
        <p:spPr>
          <a:xfrm>
            <a:off x="7792720" y="3044706"/>
            <a:ext cx="116840" cy="965200"/>
          </a:xfrm>
          <a:prstGeom prst="rightBrace">
            <a:avLst>
              <a:gd name="adj1" fmla="val 8333"/>
              <a:gd name="adj2" fmla="val 49526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5"/>
          <p:cNvSpPr/>
          <p:nvPr/>
        </p:nvSpPr>
        <p:spPr>
          <a:xfrm>
            <a:off x="7845952" y="3341152"/>
            <a:ext cx="4599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/>
              <a:t>16K</a:t>
            </a:r>
            <a:endParaRPr lang="zh-CN" altLang="en-US"/>
          </a:p>
        </p:txBody>
      </p:sp>
      <p:sp>
        <p:nvSpPr>
          <p:cNvPr id="33" name="右大括号 9"/>
          <p:cNvSpPr/>
          <p:nvPr/>
        </p:nvSpPr>
        <p:spPr>
          <a:xfrm>
            <a:off x="8232082" y="1982986"/>
            <a:ext cx="116840" cy="2001520"/>
          </a:xfrm>
          <a:prstGeom prst="rightBrace">
            <a:avLst>
              <a:gd name="adj1" fmla="val 8333"/>
              <a:gd name="adj2" fmla="val 49526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10"/>
          <p:cNvSpPr/>
          <p:nvPr/>
        </p:nvSpPr>
        <p:spPr>
          <a:xfrm>
            <a:off x="8417510" y="2776974"/>
            <a:ext cx="538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/>
              <a:t>32K</a:t>
            </a:r>
            <a:endParaRPr lang="zh-CN" altLang="en-US"/>
          </a:p>
        </p:txBody>
      </p:sp>
      <p:sp>
        <p:nvSpPr>
          <p:cNvPr id="35" name="矩形 18"/>
          <p:cNvSpPr/>
          <p:nvPr/>
        </p:nvSpPr>
        <p:spPr>
          <a:xfrm>
            <a:off x="4286634" y="2961640"/>
            <a:ext cx="16081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00" b="1">
                <a:latin typeface="Arial"/>
                <a:cs typeface="Arial"/>
              </a:rPr>
              <a:t>( 0100 0000 0000 0000)</a:t>
            </a:r>
            <a:r>
              <a:rPr kumimoji="1" lang="en-US" altLang="zh-CN" sz="1000" b="1" baseline="-25000">
                <a:latin typeface="Arial"/>
                <a:cs typeface="Arial"/>
              </a:rPr>
              <a:t>2</a:t>
            </a:r>
            <a:endParaRPr lang="zh-CN" altLang="en-US" sz="1000" b="1" baseline="-25000"/>
          </a:p>
        </p:txBody>
      </p:sp>
      <p:sp>
        <p:nvSpPr>
          <p:cNvPr id="39" name="矩形 24"/>
          <p:cNvSpPr/>
          <p:nvPr/>
        </p:nvSpPr>
        <p:spPr>
          <a:xfrm>
            <a:off x="142240" y="2706152"/>
            <a:ext cx="5051942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Arial"/>
                <a:cs typeface="Arial"/>
              </a:rPr>
              <a:t>Recursive split in half until having </a:t>
            </a:r>
          </a:p>
          <a:p>
            <a:r>
              <a:rPr lang="en-US" altLang="zh-CN" sz="2000">
                <a:latin typeface="Arial"/>
                <a:cs typeface="Arial"/>
              </a:rPr>
              <a:t>the right size</a:t>
            </a:r>
            <a:endParaRPr lang="en-US" altLang="zh-CN">
              <a:latin typeface="Arial"/>
              <a:cs typeface="Arial"/>
            </a:endParaRPr>
          </a:p>
          <a:p>
            <a:pPr marL="285750" indent="-285750">
              <a:buFont typeface="Symbol" charset="2"/>
              <a:buChar char="-"/>
            </a:pPr>
            <a:r>
              <a:rPr lang="en-US" altLang="zh-CN">
                <a:latin typeface="Arial"/>
                <a:cs typeface="Arial"/>
              </a:rPr>
              <a:t>insert free buddy into appropriate </a:t>
            </a:r>
            <a:r>
              <a:rPr lang="en-US" altLang="zh-CN" err="1">
                <a:latin typeface="Arial"/>
                <a:cs typeface="Arial"/>
              </a:rPr>
              <a:t>freelist</a:t>
            </a:r>
            <a:endParaRPr lang="zh-CN" altLang="en-US">
              <a:latin typeface="Arial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27426" y="1981200"/>
            <a:ext cx="2464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/>
                <a:cs typeface="Consolas"/>
              </a:rPr>
              <a:t>p = malloc(15000);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0376078-B703-3012-4298-153F298FA2FC}"/>
              </a:ext>
            </a:extLst>
          </p:cNvPr>
          <p:cNvGrpSpPr/>
          <p:nvPr/>
        </p:nvGrpSpPr>
        <p:grpSpPr>
          <a:xfrm>
            <a:off x="5194182" y="3013147"/>
            <a:ext cx="1984105" cy="450334"/>
            <a:chOff x="5194182" y="3013147"/>
            <a:chExt cx="1984105" cy="450334"/>
          </a:xfrm>
        </p:grpSpPr>
        <p:cxnSp>
          <p:nvCxnSpPr>
            <p:cNvPr id="44" name="Straight Arrow Connector 43"/>
            <p:cNvCxnSpPr>
              <a:stCxn id="45" idx="3"/>
            </p:cNvCxnSpPr>
            <p:nvPr/>
          </p:nvCxnSpPr>
          <p:spPr>
            <a:xfrm>
              <a:off x="5500125" y="3278815"/>
              <a:ext cx="37477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5194182" y="3094149"/>
              <a:ext cx="305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4F81BD"/>
                  </a:solidFill>
                </a:rPr>
                <a:t>p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061447" y="3013147"/>
              <a:ext cx="116840" cy="27699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8823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Binary buddy system: free</a:t>
            </a:r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940056" y="1940560"/>
            <a:ext cx="1767840" cy="4175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848450" y="2303869"/>
            <a:ext cx="4599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/>
              <a:t>16K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940056" y="4050546"/>
            <a:ext cx="1767840" cy="2065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466790" y="2592308"/>
            <a:ext cx="77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0000"/>
                </a:solidFill>
              </a:rPr>
              <a:t>Buddy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右大括号 9"/>
          <p:cNvSpPr/>
          <p:nvPr/>
        </p:nvSpPr>
        <p:spPr>
          <a:xfrm>
            <a:off x="8232082" y="4114800"/>
            <a:ext cx="116840" cy="2001520"/>
          </a:xfrm>
          <a:prstGeom prst="rightBrace">
            <a:avLst>
              <a:gd name="adj1" fmla="val 8333"/>
              <a:gd name="adj2" fmla="val 49526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305884" y="4924028"/>
            <a:ext cx="538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/>
              <a:t>32K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940056" y="1933972"/>
            <a:ext cx="1767840" cy="21165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286634" y="1817449"/>
            <a:ext cx="16081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00" b="1">
                <a:latin typeface="Arial"/>
                <a:cs typeface="Arial"/>
              </a:rPr>
              <a:t>( 0000 0000 0000 0000)</a:t>
            </a:r>
            <a:r>
              <a:rPr kumimoji="1" lang="en-US" altLang="zh-CN" sz="1000" b="1" baseline="-25000">
                <a:latin typeface="Arial"/>
                <a:cs typeface="Arial"/>
              </a:rPr>
              <a:t>2</a:t>
            </a:r>
            <a:endParaRPr lang="zh-CN" altLang="en-US" sz="1000" b="1" baseline="-25000"/>
          </a:p>
        </p:txBody>
      </p:sp>
      <p:sp>
        <p:nvSpPr>
          <p:cNvPr id="18" name="矩形 17"/>
          <p:cNvSpPr/>
          <p:nvPr/>
        </p:nvSpPr>
        <p:spPr>
          <a:xfrm>
            <a:off x="4286634" y="3974346"/>
            <a:ext cx="16081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00" b="1">
                <a:latin typeface="Arial"/>
                <a:cs typeface="Arial"/>
              </a:rPr>
              <a:t>( 1000 0000 0000 0000)</a:t>
            </a:r>
            <a:r>
              <a:rPr kumimoji="1" lang="en-US" altLang="zh-CN" sz="1000" b="1" baseline="-25000">
                <a:latin typeface="Arial"/>
                <a:cs typeface="Arial"/>
              </a:rPr>
              <a:t>2</a:t>
            </a:r>
            <a:endParaRPr lang="zh-CN" altLang="en-US" sz="1000" b="1" baseline="-25000"/>
          </a:p>
        </p:txBody>
      </p:sp>
      <p:sp>
        <p:nvSpPr>
          <p:cNvPr id="25" name="矩形 24"/>
          <p:cNvSpPr/>
          <p:nvPr/>
        </p:nvSpPr>
        <p:spPr>
          <a:xfrm>
            <a:off x="142240" y="2791827"/>
            <a:ext cx="4572000" cy="123110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>
                <a:latin typeface="Arial"/>
                <a:cs typeface="Arial"/>
              </a:rPr>
              <a:t>Recursively merge block with buddy </a:t>
            </a:r>
          </a:p>
          <a:p>
            <a:endParaRPr lang="en-US" altLang="zh-CN">
              <a:latin typeface="Arial"/>
              <a:cs typeface="Arial"/>
            </a:endParaRPr>
          </a:p>
          <a:p>
            <a:r>
              <a:rPr lang="en-US" altLang="zh-CN">
                <a:latin typeface="Arial"/>
                <a:cs typeface="Arial"/>
              </a:rPr>
              <a:t>1. Calculate </a:t>
            </a:r>
            <a:r>
              <a:rPr lang="en-US" altLang="zh-CN" err="1">
                <a:latin typeface="Arial"/>
                <a:cs typeface="Arial"/>
              </a:rPr>
              <a:t>addr</a:t>
            </a:r>
            <a:r>
              <a:rPr lang="en-US" altLang="zh-CN">
                <a:latin typeface="Arial"/>
                <a:cs typeface="Arial"/>
              </a:rPr>
              <a:t> of buddy block, determine buddy status</a:t>
            </a:r>
            <a:endParaRPr lang="zh-CN" altLang="en-US">
              <a:latin typeface="Arial"/>
              <a:cs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940056" y="1940559"/>
            <a:ext cx="1767840" cy="48768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0x4000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next/</a:t>
            </a:r>
            <a:r>
              <a:rPr lang="en-US" dirty="0" err="1">
                <a:solidFill>
                  <a:srgbClr val="000000"/>
                </a:solidFill>
              </a:rPr>
              <a:t>prev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40056" y="4062343"/>
            <a:ext cx="1767840" cy="5696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0x8000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next/</a:t>
            </a:r>
            <a:r>
              <a:rPr lang="en-US" dirty="0" err="1">
                <a:solidFill>
                  <a:srgbClr val="000000"/>
                </a:solidFill>
              </a:rPr>
              <a:t>prev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3" name="矩形 12"/>
          <p:cNvSpPr/>
          <p:nvPr/>
        </p:nvSpPr>
        <p:spPr>
          <a:xfrm>
            <a:off x="5940056" y="3044706"/>
            <a:ext cx="1767840" cy="10058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940056" y="3063379"/>
            <a:ext cx="1767840" cy="2876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0x4001</a:t>
            </a:r>
          </a:p>
        </p:txBody>
      </p:sp>
      <p:sp>
        <p:nvSpPr>
          <p:cNvPr id="29" name="右大括号 4"/>
          <p:cNvSpPr/>
          <p:nvPr/>
        </p:nvSpPr>
        <p:spPr>
          <a:xfrm>
            <a:off x="7792720" y="1955929"/>
            <a:ext cx="116840" cy="1022141"/>
          </a:xfrm>
          <a:prstGeom prst="rightBrace">
            <a:avLst>
              <a:gd name="adj1" fmla="val 8333"/>
              <a:gd name="adj2" fmla="val 49526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右大括号 9"/>
          <p:cNvSpPr/>
          <p:nvPr/>
        </p:nvSpPr>
        <p:spPr>
          <a:xfrm>
            <a:off x="7792720" y="3044706"/>
            <a:ext cx="116840" cy="965200"/>
          </a:xfrm>
          <a:prstGeom prst="rightBrace">
            <a:avLst>
              <a:gd name="adj1" fmla="val 8333"/>
              <a:gd name="adj2" fmla="val 49526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5"/>
          <p:cNvSpPr/>
          <p:nvPr/>
        </p:nvSpPr>
        <p:spPr>
          <a:xfrm>
            <a:off x="7845952" y="3341152"/>
            <a:ext cx="4599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/>
              <a:t>16K</a:t>
            </a:r>
            <a:endParaRPr lang="zh-CN" altLang="en-US"/>
          </a:p>
        </p:txBody>
      </p:sp>
      <p:sp>
        <p:nvSpPr>
          <p:cNvPr id="33" name="右大括号 9"/>
          <p:cNvSpPr/>
          <p:nvPr/>
        </p:nvSpPr>
        <p:spPr>
          <a:xfrm>
            <a:off x="8232082" y="1982986"/>
            <a:ext cx="116840" cy="2001520"/>
          </a:xfrm>
          <a:prstGeom prst="rightBrace">
            <a:avLst>
              <a:gd name="adj1" fmla="val 8333"/>
              <a:gd name="adj2" fmla="val 49526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10"/>
          <p:cNvSpPr/>
          <p:nvPr/>
        </p:nvSpPr>
        <p:spPr>
          <a:xfrm>
            <a:off x="8417510" y="2776974"/>
            <a:ext cx="538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/>
              <a:t>32K</a:t>
            </a:r>
            <a:endParaRPr lang="zh-CN" altLang="en-US"/>
          </a:p>
        </p:txBody>
      </p:sp>
      <p:sp>
        <p:nvSpPr>
          <p:cNvPr id="35" name="矩形 18"/>
          <p:cNvSpPr/>
          <p:nvPr/>
        </p:nvSpPr>
        <p:spPr>
          <a:xfrm>
            <a:off x="4304964" y="2844205"/>
            <a:ext cx="16081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00" b="1" dirty="0">
                <a:latin typeface="Arial"/>
                <a:cs typeface="Arial"/>
              </a:rPr>
              <a:t>( 0100 0000 0000 0000)</a:t>
            </a:r>
            <a:r>
              <a:rPr kumimoji="1" lang="en-US" altLang="zh-CN" sz="1000" b="1" baseline="-25000" dirty="0">
                <a:latin typeface="Arial"/>
                <a:cs typeface="Arial"/>
              </a:rPr>
              <a:t>2</a:t>
            </a:r>
            <a:endParaRPr lang="zh-CN" altLang="en-US" sz="1000" b="1" baseline="-25000" dirty="0"/>
          </a:p>
        </p:txBody>
      </p:sp>
      <p:sp>
        <p:nvSpPr>
          <p:cNvPr id="3" name="TextBox 2"/>
          <p:cNvSpPr txBox="1"/>
          <p:nvPr/>
        </p:nvSpPr>
        <p:spPr>
          <a:xfrm>
            <a:off x="284480" y="4403189"/>
            <a:ext cx="4317521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Question: given </a:t>
            </a:r>
            <a:r>
              <a:rPr lang="en-US" err="1"/>
              <a:t>addr</a:t>
            </a:r>
            <a:r>
              <a:rPr lang="en-US"/>
              <a:t> </a:t>
            </a:r>
            <a:r>
              <a:rPr lang="en-US">
                <a:solidFill>
                  <a:srgbClr val="0000FF"/>
                </a:solidFill>
              </a:rPr>
              <a:t>a</a:t>
            </a:r>
            <a:r>
              <a:rPr lang="en-US"/>
              <a:t> of block with size 2</a:t>
            </a:r>
            <a:r>
              <a:rPr lang="en-US" baseline="30000">
                <a:solidFill>
                  <a:srgbClr val="0000FF"/>
                </a:solidFill>
              </a:rPr>
              <a:t>m</a:t>
            </a:r>
            <a:r>
              <a:rPr lang="en-US"/>
              <a:t>,</a:t>
            </a:r>
          </a:p>
          <a:p>
            <a:r>
              <a:rPr lang="en-US"/>
              <a:t>how to calculate its buddy’s address?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16085" y="5286494"/>
            <a:ext cx="12936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  <a:latin typeface="Arial"/>
                <a:cs typeface="Arial"/>
              </a:rPr>
              <a:t>a ^ (1&lt;&lt;m)</a:t>
            </a:r>
            <a:endParaRPr lang="en-US" altLang="zh-CN">
              <a:solidFill>
                <a:srgbClr val="FF0066"/>
              </a:solidFill>
              <a:latin typeface="Arial"/>
              <a:cs typeface="Arial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1778575" y="5655826"/>
            <a:ext cx="2701506" cy="923945"/>
            <a:chOff x="1778575" y="5655826"/>
            <a:chExt cx="2701506" cy="923945"/>
          </a:xfrm>
        </p:grpSpPr>
        <p:sp>
          <p:nvSpPr>
            <p:cNvPr id="20" name="TextBox 19"/>
            <p:cNvSpPr txBox="1"/>
            <p:nvPr/>
          </p:nvSpPr>
          <p:spPr>
            <a:xfrm>
              <a:off x="1778575" y="5933440"/>
              <a:ext cx="270150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any bit XOR 0 = unchanged</a:t>
              </a:r>
            </a:p>
            <a:p>
              <a:r>
                <a:rPr lang="en-US"/>
                <a:t>any bit XOR 1 = flipped</a:t>
              </a:r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H="1" flipV="1">
              <a:off x="1971040" y="5655826"/>
              <a:ext cx="121920" cy="27761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Straight Arrow Connector 8"/>
          <p:cNvCxnSpPr>
            <a:stCxn id="12" idx="3"/>
          </p:cNvCxnSpPr>
          <p:nvPr/>
        </p:nvCxnSpPr>
        <p:spPr>
          <a:xfrm>
            <a:off x="5430145" y="3377674"/>
            <a:ext cx="37477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24202" y="3193008"/>
            <a:ext cx="30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7683" y="3076323"/>
            <a:ext cx="96520" cy="2769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7426" y="1981200"/>
            <a:ext cx="119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nsolas"/>
                <a:cs typeface="Consolas"/>
              </a:rPr>
              <a:t>free(p);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EE56A69-2F51-552A-780D-E83E04ABA16E}"/>
              </a:ext>
            </a:extLst>
          </p:cNvPr>
          <p:cNvCxnSpPr/>
          <p:nvPr/>
        </p:nvCxnSpPr>
        <p:spPr>
          <a:xfrm>
            <a:off x="5411119" y="3090426"/>
            <a:ext cx="37477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906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" grpId="0" animBg="1"/>
      <p:bldP spid="15" grpId="0"/>
      <p:bldP spid="2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Binary buddy system: free</a:t>
            </a:r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940056" y="1940560"/>
            <a:ext cx="1767840" cy="4175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40056" y="4050546"/>
            <a:ext cx="1767840" cy="2065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466790" y="2592308"/>
            <a:ext cx="77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0000"/>
                </a:solidFill>
              </a:rPr>
              <a:t>Buddy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右大括号 9"/>
          <p:cNvSpPr/>
          <p:nvPr/>
        </p:nvSpPr>
        <p:spPr>
          <a:xfrm>
            <a:off x="8232082" y="4114800"/>
            <a:ext cx="116840" cy="2001520"/>
          </a:xfrm>
          <a:prstGeom prst="rightBrace">
            <a:avLst>
              <a:gd name="adj1" fmla="val 8333"/>
              <a:gd name="adj2" fmla="val 49526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305884" y="4924028"/>
            <a:ext cx="538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/>
              <a:t>32K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940056" y="1933972"/>
            <a:ext cx="1767840" cy="21165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304813" y="1720869"/>
            <a:ext cx="16081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00" b="1" dirty="0">
                <a:latin typeface="Arial"/>
                <a:cs typeface="Arial"/>
              </a:rPr>
              <a:t>( 0000 0000 0000 0000)</a:t>
            </a:r>
            <a:r>
              <a:rPr kumimoji="1" lang="en-US" altLang="zh-CN" sz="1000" b="1" baseline="-25000" dirty="0">
                <a:latin typeface="Arial"/>
                <a:cs typeface="Arial"/>
              </a:rPr>
              <a:t>2</a:t>
            </a:r>
            <a:endParaRPr lang="zh-CN" altLang="en-US" sz="1000" b="1" baseline="-25000" dirty="0"/>
          </a:p>
        </p:txBody>
      </p:sp>
      <p:sp>
        <p:nvSpPr>
          <p:cNvPr id="18" name="矩形 17"/>
          <p:cNvSpPr/>
          <p:nvPr/>
        </p:nvSpPr>
        <p:spPr>
          <a:xfrm>
            <a:off x="4286634" y="3974346"/>
            <a:ext cx="16081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00" b="1">
                <a:latin typeface="Arial"/>
                <a:cs typeface="Arial"/>
              </a:rPr>
              <a:t>( 1000 0000 0000 0000)</a:t>
            </a:r>
            <a:r>
              <a:rPr kumimoji="1" lang="en-US" altLang="zh-CN" sz="1000" b="1" baseline="-25000">
                <a:latin typeface="Arial"/>
                <a:cs typeface="Arial"/>
              </a:rPr>
              <a:t>2</a:t>
            </a:r>
            <a:endParaRPr lang="zh-CN" altLang="en-US" sz="1000" b="1" baseline="-25000"/>
          </a:p>
        </p:txBody>
      </p:sp>
      <p:sp>
        <p:nvSpPr>
          <p:cNvPr id="25" name="矩形 24"/>
          <p:cNvSpPr/>
          <p:nvPr/>
        </p:nvSpPr>
        <p:spPr>
          <a:xfrm>
            <a:off x="142240" y="2791827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>
                <a:latin typeface="Arial"/>
                <a:cs typeface="Arial"/>
              </a:rPr>
              <a:t>If buddy is free:</a:t>
            </a:r>
          </a:p>
          <a:p>
            <a:r>
              <a:rPr lang="en-US" altLang="zh-CN">
                <a:latin typeface="Arial"/>
                <a:cs typeface="Arial"/>
              </a:rPr>
              <a:t>2. Detach free buddy from its list</a:t>
            </a:r>
          </a:p>
          <a:p>
            <a:r>
              <a:rPr lang="en-US" altLang="zh-CN">
                <a:latin typeface="Arial"/>
                <a:cs typeface="Arial"/>
              </a:rPr>
              <a:t>3. Combine with current block</a:t>
            </a:r>
            <a:endParaRPr lang="zh-CN" altLang="en-US">
              <a:latin typeface="Arial"/>
              <a:cs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940056" y="1940559"/>
            <a:ext cx="1767840" cy="48768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0x4000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Next/</a:t>
            </a:r>
            <a:r>
              <a:rPr lang="en-US" dirty="0" err="1">
                <a:solidFill>
                  <a:srgbClr val="000000"/>
                </a:solidFill>
              </a:rPr>
              <a:t>prev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40056" y="4062343"/>
            <a:ext cx="1767840" cy="5696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0x8000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Next/</a:t>
            </a:r>
            <a:r>
              <a:rPr lang="en-US" dirty="0" err="1">
                <a:solidFill>
                  <a:srgbClr val="000000"/>
                </a:solidFill>
              </a:rPr>
              <a:t>prev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3" name="矩形 12"/>
          <p:cNvSpPr/>
          <p:nvPr/>
        </p:nvSpPr>
        <p:spPr>
          <a:xfrm>
            <a:off x="5940056" y="3044706"/>
            <a:ext cx="1767840" cy="10058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940056" y="3063379"/>
            <a:ext cx="1767840" cy="27777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0x4000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7792720" y="1955929"/>
            <a:ext cx="515662" cy="2053977"/>
            <a:chOff x="7792720" y="1955929"/>
            <a:chExt cx="515662" cy="2053977"/>
          </a:xfrm>
        </p:grpSpPr>
        <p:sp>
          <p:nvSpPr>
            <p:cNvPr id="6" name="矩形 5"/>
            <p:cNvSpPr/>
            <p:nvPr/>
          </p:nvSpPr>
          <p:spPr>
            <a:xfrm>
              <a:off x="7848450" y="2303869"/>
              <a:ext cx="45993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1400"/>
                <a:t>16K</a:t>
              </a:r>
              <a:endParaRPr lang="zh-CN" altLang="en-US"/>
            </a:p>
          </p:txBody>
        </p:sp>
        <p:sp>
          <p:nvSpPr>
            <p:cNvPr id="29" name="右大括号 4"/>
            <p:cNvSpPr/>
            <p:nvPr/>
          </p:nvSpPr>
          <p:spPr>
            <a:xfrm>
              <a:off x="7792720" y="1955929"/>
              <a:ext cx="116840" cy="1022141"/>
            </a:xfrm>
            <a:prstGeom prst="rightBrace">
              <a:avLst>
                <a:gd name="adj1" fmla="val 8333"/>
                <a:gd name="adj2" fmla="val 49526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右大括号 9"/>
            <p:cNvSpPr/>
            <p:nvPr/>
          </p:nvSpPr>
          <p:spPr>
            <a:xfrm>
              <a:off x="7792720" y="3044706"/>
              <a:ext cx="116840" cy="965200"/>
            </a:xfrm>
            <a:prstGeom prst="rightBrace">
              <a:avLst>
                <a:gd name="adj1" fmla="val 8333"/>
                <a:gd name="adj2" fmla="val 49526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矩形 5"/>
            <p:cNvSpPr/>
            <p:nvPr/>
          </p:nvSpPr>
          <p:spPr>
            <a:xfrm>
              <a:off x="7845952" y="3341152"/>
              <a:ext cx="45993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1400"/>
                <a:t>16K</a:t>
              </a:r>
              <a:endParaRPr lang="zh-CN" altLang="en-US"/>
            </a:p>
          </p:txBody>
        </p:sp>
      </p:grpSp>
      <p:sp>
        <p:nvSpPr>
          <p:cNvPr id="33" name="右大括号 9"/>
          <p:cNvSpPr/>
          <p:nvPr/>
        </p:nvSpPr>
        <p:spPr>
          <a:xfrm>
            <a:off x="8232082" y="1982986"/>
            <a:ext cx="116840" cy="2001520"/>
          </a:xfrm>
          <a:prstGeom prst="rightBrace">
            <a:avLst>
              <a:gd name="adj1" fmla="val 8333"/>
              <a:gd name="adj2" fmla="val 49526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10"/>
          <p:cNvSpPr/>
          <p:nvPr/>
        </p:nvSpPr>
        <p:spPr>
          <a:xfrm>
            <a:off x="8417510" y="2776974"/>
            <a:ext cx="538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/>
              <a:t>32K</a:t>
            </a:r>
            <a:endParaRPr lang="zh-CN" altLang="en-US"/>
          </a:p>
        </p:txBody>
      </p:sp>
      <p:sp>
        <p:nvSpPr>
          <p:cNvPr id="35" name="矩形 18"/>
          <p:cNvSpPr/>
          <p:nvPr/>
        </p:nvSpPr>
        <p:spPr>
          <a:xfrm>
            <a:off x="4286634" y="2833884"/>
            <a:ext cx="16081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00" b="1">
                <a:latin typeface="Arial"/>
                <a:cs typeface="Arial"/>
              </a:rPr>
              <a:t>( 0100 0000 0000 0000)</a:t>
            </a:r>
            <a:r>
              <a:rPr kumimoji="1" lang="en-US" altLang="zh-CN" sz="1000" b="1" baseline="-25000">
                <a:latin typeface="Arial"/>
                <a:cs typeface="Arial"/>
              </a:rPr>
              <a:t>2</a:t>
            </a:r>
            <a:endParaRPr lang="zh-CN" altLang="en-US" sz="1000" b="1" baseline="-25000"/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>
            <a:off x="5358907" y="3082567"/>
            <a:ext cx="49598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74176" y="31930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rgbClr val="4F81BD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5940056" y="1949509"/>
            <a:ext cx="1767840" cy="2085499"/>
            <a:chOff x="3402714" y="3207861"/>
            <a:chExt cx="1767840" cy="2085499"/>
          </a:xfrm>
        </p:grpSpPr>
        <p:sp>
          <p:nvSpPr>
            <p:cNvPr id="31" name="矩形 3"/>
            <p:cNvSpPr/>
            <p:nvPr/>
          </p:nvSpPr>
          <p:spPr>
            <a:xfrm>
              <a:off x="3402714" y="3207861"/>
              <a:ext cx="1767840" cy="20854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402714" y="3207862"/>
              <a:ext cx="1767840" cy="57835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0x8000</a:t>
              </a:r>
            </a:p>
            <a:p>
              <a:pPr algn="ctr"/>
              <a:r>
                <a:rPr lang="en-US" dirty="0">
                  <a:solidFill>
                    <a:srgbClr val="000000"/>
                  </a:solidFill>
                </a:rPr>
                <a:t>Next/</a:t>
              </a:r>
              <a:r>
                <a:rPr lang="en-US" dirty="0" err="1">
                  <a:solidFill>
                    <a:srgbClr val="000000"/>
                  </a:solidFill>
                </a:rPr>
                <a:t>prev</a:t>
              </a: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327426" y="1981200"/>
            <a:ext cx="119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nsolas"/>
                <a:cs typeface="Consolas"/>
              </a:rPr>
              <a:t>free(p);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FD1CCB1-67BB-4B04-16F4-17E2A13FA209}"/>
              </a:ext>
            </a:extLst>
          </p:cNvPr>
          <p:cNvCxnSpPr>
            <a:cxnSpLocks/>
          </p:cNvCxnSpPr>
          <p:nvPr/>
        </p:nvCxnSpPr>
        <p:spPr>
          <a:xfrm>
            <a:off x="5444067" y="1981200"/>
            <a:ext cx="49598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52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Binary buddy system: free</a:t>
            </a:r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940056" y="1940560"/>
            <a:ext cx="1767840" cy="4175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40056" y="4050546"/>
            <a:ext cx="1767840" cy="2065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466790" y="2592308"/>
            <a:ext cx="77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rgbClr val="FF0000"/>
                </a:solidFill>
              </a:rPr>
              <a:t>Buddy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40056" y="1933972"/>
            <a:ext cx="1767840" cy="21165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286634" y="1694338"/>
            <a:ext cx="16081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00" b="1" dirty="0">
                <a:latin typeface="Arial"/>
                <a:cs typeface="Arial"/>
              </a:rPr>
              <a:t>( 0000 0000 0000 0000)</a:t>
            </a:r>
            <a:r>
              <a:rPr kumimoji="1" lang="en-US" altLang="zh-CN" sz="1000" b="1" baseline="-25000" dirty="0">
                <a:latin typeface="Arial"/>
                <a:cs typeface="Arial"/>
              </a:rPr>
              <a:t>2</a:t>
            </a:r>
            <a:endParaRPr lang="zh-CN" altLang="en-US" sz="1000" b="1" baseline="-25000" dirty="0"/>
          </a:p>
        </p:txBody>
      </p:sp>
      <p:sp>
        <p:nvSpPr>
          <p:cNvPr id="18" name="矩形 17"/>
          <p:cNvSpPr/>
          <p:nvPr/>
        </p:nvSpPr>
        <p:spPr>
          <a:xfrm>
            <a:off x="4286634" y="3974346"/>
            <a:ext cx="16081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00" b="1">
                <a:latin typeface="Arial"/>
                <a:cs typeface="Arial"/>
              </a:rPr>
              <a:t>( 1000 0000 0000 0000)</a:t>
            </a:r>
            <a:r>
              <a:rPr kumimoji="1" lang="en-US" altLang="zh-CN" sz="1000" b="1" baseline="-25000">
                <a:latin typeface="Arial"/>
                <a:cs typeface="Arial"/>
              </a:rPr>
              <a:t>2</a:t>
            </a:r>
            <a:endParaRPr lang="zh-CN" altLang="en-US" sz="1000" b="1" baseline="-25000"/>
          </a:p>
        </p:txBody>
      </p:sp>
      <p:sp>
        <p:nvSpPr>
          <p:cNvPr id="25" name="矩形 24"/>
          <p:cNvSpPr/>
          <p:nvPr/>
        </p:nvSpPr>
        <p:spPr>
          <a:xfrm>
            <a:off x="142240" y="2791827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>
                <a:latin typeface="Arial"/>
                <a:cs typeface="Arial"/>
              </a:rPr>
              <a:t>Repeat to merge with larger buddy</a:t>
            </a:r>
          </a:p>
          <a:p>
            <a:r>
              <a:rPr lang="en-US" altLang="zh-CN" sz="2000">
                <a:latin typeface="Arial"/>
                <a:cs typeface="Arial"/>
              </a:rPr>
              <a:t>Insert final block into appropriate </a:t>
            </a:r>
            <a:r>
              <a:rPr lang="en-US" altLang="zh-CN" sz="2000" err="1">
                <a:latin typeface="Arial"/>
                <a:cs typeface="Arial"/>
              </a:rPr>
              <a:t>freelist</a:t>
            </a:r>
            <a:endParaRPr lang="zh-CN" altLang="en-US">
              <a:latin typeface="Arial"/>
              <a:cs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940056" y="1940559"/>
            <a:ext cx="1767840" cy="48768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</a:rPr>
              <a:t>0x4000</a:t>
            </a:r>
          </a:p>
          <a:p>
            <a:pPr algn="ctr"/>
            <a:r>
              <a:rPr lang="en-US">
                <a:solidFill>
                  <a:srgbClr val="000000"/>
                </a:solidFill>
              </a:rPr>
              <a:t>rest of header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0056" y="4062343"/>
            <a:ext cx="1767840" cy="5696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0x8000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Next/</a:t>
            </a:r>
            <a:r>
              <a:rPr lang="en-US" dirty="0" err="1">
                <a:solidFill>
                  <a:srgbClr val="000000"/>
                </a:solidFill>
              </a:rPr>
              <a:t>prev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3" name="矩形 12"/>
          <p:cNvSpPr/>
          <p:nvPr/>
        </p:nvSpPr>
        <p:spPr>
          <a:xfrm>
            <a:off x="5940056" y="3044706"/>
            <a:ext cx="1767840" cy="10058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940056" y="3063379"/>
            <a:ext cx="1767840" cy="4723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</a:rPr>
              <a:t>0x4000</a:t>
            </a:r>
          </a:p>
          <a:p>
            <a:pPr algn="ctr"/>
            <a:r>
              <a:rPr lang="en-US">
                <a:solidFill>
                  <a:srgbClr val="000000"/>
                </a:solidFill>
              </a:rPr>
              <a:t>rest of header</a:t>
            </a:r>
          </a:p>
        </p:txBody>
      </p:sp>
      <p:sp>
        <p:nvSpPr>
          <p:cNvPr id="28" name="矩形 8"/>
          <p:cNvSpPr/>
          <p:nvPr/>
        </p:nvSpPr>
        <p:spPr>
          <a:xfrm>
            <a:off x="6478201" y="3598148"/>
            <a:ext cx="778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solidFill>
                  <a:schemeClr val="tx2"/>
                </a:solidFill>
              </a:rPr>
              <a:t>Buddy</a:t>
            </a:r>
            <a:endParaRPr lang="zh-CN" altLang="en-US">
              <a:solidFill>
                <a:schemeClr val="tx2"/>
              </a:solidFill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7917122" y="1982986"/>
            <a:ext cx="612381" cy="4133334"/>
            <a:chOff x="8232082" y="1982986"/>
            <a:chExt cx="612381" cy="4133334"/>
          </a:xfrm>
        </p:grpSpPr>
        <p:sp>
          <p:nvSpPr>
            <p:cNvPr id="10" name="右大括号 9"/>
            <p:cNvSpPr/>
            <p:nvPr/>
          </p:nvSpPr>
          <p:spPr>
            <a:xfrm>
              <a:off x="8232082" y="4114800"/>
              <a:ext cx="116840" cy="2001520"/>
            </a:xfrm>
            <a:prstGeom prst="rightBrace">
              <a:avLst>
                <a:gd name="adj1" fmla="val 8333"/>
                <a:gd name="adj2" fmla="val 49526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8305884" y="4924028"/>
              <a:ext cx="5385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/>
                <a:t>32K</a:t>
              </a:r>
              <a:endParaRPr lang="zh-CN" altLang="en-US"/>
            </a:p>
          </p:txBody>
        </p:sp>
        <p:sp>
          <p:nvSpPr>
            <p:cNvPr id="33" name="右大括号 9"/>
            <p:cNvSpPr/>
            <p:nvPr/>
          </p:nvSpPr>
          <p:spPr>
            <a:xfrm>
              <a:off x="8232082" y="1982986"/>
              <a:ext cx="116840" cy="2001520"/>
            </a:xfrm>
            <a:prstGeom prst="rightBrace">
              <a:avLst>
                <a:gd name="adj1" fmla="val 8333"/>
                <a:gd name="adj2" fmla="val 49526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矩形 10"/>
            <p:cNvSpPr/>
            <p:nvPr/>
          </p:nvSpPr>
          <p:spPr>
            <a:xfrm>
              <a:off x="8305884" y="2791827"/>
              <a:ext cx="5385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/>
                <a:t>32K</a:t>
              </a:r>
              <a:endParaRPr lang="zh-CN" altLang="en-US"/>
            </a:p>
          </p:txBody>
        </p:sp>
      </p:grpSp>
      <p:sp>
        <p:nvSpPr>
          <p:cNvPr id="35" name="矩形 18"/>
          <p:cNvSpPr/>
          <p:nvPr/>
        </p:nvSpPr>
        <p:spPr>
          <a:xfrm>
            <a:off x="4286634" y="2961640"/>
            <a:ext cx="16081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00" b="1">
                <a:latin typeface="Arial"/>
                <a:cs typeface="Arial"/>
              </a:rPr>
              <a:t>( 0100 0000 0000 0000)</a:t>
            </a:r>
            <a:r>
              <a:rPr kumimoji="1" lang="en-US" altLang="zh-CN" sz="1000" b="1" baseline="-25000">
                <a:latin typeface="Arial"/>
                <a:cs typeface="Arial"/>
              </a:rPr>
              <a:t>2</a:t>
            </a:r>
            <a:endParaRPr lang="zh-CN" altLang="en-US" sz="1000" b="1" baseline="-25000"/>
          </a:p>
        </p:txBody>
      </p:sp>
      <p:grpSp>
        <p:nvGrpSpPr>
          <p:cNvPr id="14" name="Group 13"/>
          <p:cNvGrpSpPr/>
          <p:nvPr/>
        </p:nvGrpSpPr>
        <p:grpSpPr>
          <a:xfrm>
            <a:off x="5940056" y="1937861"/>
            <a:ext cx="1767840" cy="2085499"/>
            <a:chOff x="3402714" y="3207861"/>
            <a:chExt cx="1767840" cy="2085499"/>
          </a:xfrm>
        </p:grpSpPr>
        <p:sp>
          <p:nvSpPr>
            <p:cNvPr id="31" name="矩形 3"/>
            <p:cNvSpPr/>
            <p:nvPr/>
          </p:nvSpPr>
          <p:spPr>
            <a:xfrm>
              <a:off x="3402714" y="3207861"/>
              <a:ext cx="1767840" cy="20854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402714" y="3207862"/>
              <a:ext cx="1767840" cy="57835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0x8000</a:t>
              </a:r>
            </a:p>
            <a:p>
              <a:pPr algn="ctr"/>
              <a:r>
                <a:rPr lang="en-US" dirty="0">
                  <a:solidFill>
                    <a:srgbClr val="000000"/>
                  </a:solidFill>
                </a:rPr>
                <a:t>Next/</a:t>
              </a:r>
              <a:r>
                <a:rPr lang="en-US" dirty="0" err="1">
                  <a:solidFill>
                    <a:srgbClr val="000000"/>
                  </a:solidFill>
                </a:rPr>
                <a:t>prev</a:t>
              </a:r>
              <a:endParaRPr lang="en-US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940056" y="1933972"/>
            <a:ext cx="1767840" cy="4178458"/>
            <a:chOff x="2518794" y="3056791"/>
            <a:chExt cx="1767840" cy="4178458"/>
          </a:xfrm>
        </p:grpSpPr>
        <p:sp>
          <p:nvSpPr>
            <p:cNvPr id="38" name="矩形 3"/>
            <p:cNvSpPr/>
            <p:nvPr/>
          </p:nvSpPr>
          <p:spPr>
            <a:xfrm>
              <a:off x="2518794" y="3059489"/>
              <a:ext cx="1767840" cy="41757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518794" y="3056791"/>
              <a:ext cx="1767840" cy="57835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0x10000</a:t>
              </a:r>
            </a:p>
            <a:p>
              <a:pPr algn="ctr"/>
              <a:r>
                <a:rPr lang="en-US" dirty="0">
                  <a:solidFill>
                    <a:srgbClr val="000000"/>
                  </a:solidFill>
                </a:rPr>
                <a:t>Next/</a:t>
              </a:r>
              <a:r>
                <a:rPr lang="en-US" dirty="0" err="1">
                  <a:solidFill>
                    <a:srgbClr val="000000"/>
                  </a:solidFill>
                </a:rPr>
                <a:t>prev</a:t>
              </a:r>
              <a:endParaRPr lang="en-US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267807" y="1982986"/>
            <a:ext cx="911901" cy="4133334"/>
            <a:chOff x="8267807" y="1982986"/>
            <a:chExt cx="911901" cy="4133334"/>
          </a:xfrm>
        </p:grpSpPr>
        <p:sp>
          <p:nvSpPr>
            <p:cNvPr id="42" name="右大括号 9"/>
            <p:cNvSpPr/>
            <p:nvPr/>
          </p:nvSpPr>
          <p:spPr>
            <a:xfrm>
              <a:off x="8267807" y="1982986"/>
              <a:ext cx="373322" cy="4133334"/>
            </a:xfrm>
            <a:prstGeom prst="rightBrace">
              <a:avLst>
                <a:gd name="adj1" fmla="val 8333"/>
                <a:gd name="adj2" fmla="val 49526"/>
              </a:avLst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641129" y="3877677"/>
              <a:ext cx="538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64K</a:t>
              </a: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327426" y="1981200"/>
            <a:ext cx="119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nsolas"/>
                <a:cs typeface="Consolas"/>
              </a:rPr>
              <a:t>free(p);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86494A1-E2B2-834F-96F4-0D69D68FAE36}"/>
              </a:ext>
            </a:extLst>
          </p:cNvPr>
          <p:cNvCxnSpPr>
            <a:cxnSpLocks/>
          </p:cNvCxnSpPr>
          <p:nvPr/>
        </p:nvCxnSpPr>
        <p:spPr>
          <a:xfrm>
            <a:off x="5398778" y="1981200"/>
            <a:ext cx="49598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4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0938-06EC-4D52-B590-EC219EBA5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97625-0AC3-4A00-BD3A-C8289615F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memory allocation</a:t>
            </a:r>
          </a:p>
          <a:p>
            <a:r>
              <a:rPr lang="en-US" dirty="0"/>
              <a:t>Design constraints:</a:t>
            </a:r>
          </a:p>
          <a:p>
            <a:pPr lvl="1"/>
            <a:r>
              <a:rPr lang="en-US" dirty="0"/>
              <a:t>Free API does not include size</a:t>
            </a:r>
          </a:p>
          <a:p>
            <a:pPr lvl="1"/>
            <a:r>
              <a:rPr lang="en-US" dirty="0"/>
              <a:t>Space cannot be moved around</a:t>
            </a:r>
          </a:p>
          <a:p>
            <a:r>
              <a:rPr lang="en-US" dirty="0"/>
              <a:t>Evolution of designs</a:t>
            </a:r>
          </a:p>
          <a:p>
            <a:pPr lvl="1"/>
            <a:r>
              <a:rPr lang="en-US" dirty="0"/>
              <a:t>Implicit list</a:t>
            </a:r>
          </a:p>
          <a:p>
            <a:pPr lvl="1"/>
            <a:r>
              <a:rPr lang="en-US" dirty="0"/>
              <a:t>Explicit list</a:t>
            </a:r>
          </a:p>
          <a:p>
            <a:pPr lvl="1"/>
            <a:r>
              <a:rPr lang="en-US" dirty="0"/>
              <a:t>Segregated list</a:t>
            </a:r>
          </a:p>
          <a:p>
            <a:pPr lvl="1"/>
            <a:r>
              <a:rPr lang="en-US" dirty="0"/>
              <a:t>Buddy system</a:t>
            </a:r>
          </a:p>
        </p:txBody>
      </p:sp>
    </p:spTree>
    <p:extLst>
      <p:ext uri="{BB962C8B-B14F-4D97-AF65-F5344CB8AC3E}">
        <p14:creationId xmlns:p14="http://schemas.microsoft.com/office/powerpoint/2010/main" val="174430181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245ADC-71B6-46D0-8001-4980A3749484}"/>
              </a:ext>
            </a:extLst>
          </p:cNvPr>
          <p:cNvSpPr/>
          <p:nvPr/>
        </p:nvSpPr>
        <p:spPr>
          <a:xfrm>
            <a:off x="3216876" y="1491049"/>
            <a:ext cx="2092410" cy="224892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ACB72-2936-4054-BA2B-5EC2F94BEE49}"/>
              </a:ext>
            </a:extLst>
          </p:cNvPr>
          <p:cNvSpPr/>
          <p:nvPr/>
        </p:nvSpPr>
        <p:spPr>
          <a:xfrm>
            <a:off x="3216875" y="1491049"/>
            <a:ext cx="2092409" cy="275967"/>
          </a:xfrm>
          <a:prstGeom prst="rect">
            <a:avLst/>
          </a:prstGeom>
          <a:solidFill>
            <a:srgbClr val="00B0F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size = 32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4ACEC1-D77B-4F29-84A5-CB19B502B322}"/>
              </a:ext>
            </a:extLst>
          </p:cNvPr>
          <p:cNvSpPr/>
          <p:nvPr/>
        </p:nvSpPr>
        <p:spPr>
          <a:xfrm>
            <a:off x="3216877" y="1781432"/>
            <a:ext cx="2092409" cy="275967"/>
          </a:xfrm>
          <a:prstGeom prst="rect">
            <a:avLst/>
          </a:prstGeom>
          <a:solidFill>
            <a:srgbClr val="00B0F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allocated = 1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C1FEDD-D82E-4B5C-BCFF-CD188E359EFE}"/>
              </a:ext>
            </a:extLst>
          </p:cNvPr>
          <p:cNvSpPr/>
          <p:nvPr/>
        </p:nvSpPr>
        <p:spPr>
          <a:xfrm>
            <a:off x="3216879" y="2600067"/>
            <a:ext cx="2092409" cy="275967"/>
          </a:xfrm>
          <a:prstGeom prst="rect">
            <a:avLst/>
          </a:prstGeom>
          <a:solidFill>
            <a:srgbClr val="00B0F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size = 32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574CE6-9BAA-4941-AA32-9E78D0F9C77C}"/>
              </a:ext>
            </a:extLst>
          </p:cNvPr>
          <p:cNvSpPr/>
          <p:nvPr/>
        </p:nvSpPr>
        <p:spPr>
          <a:xfrm>
            <a:off x="3216874" y="2876034"/>
            <a:ext cx="2092409" cy="275967"/>
          </a:xfrm>
          <a:prstGeom prst="rect">
            <a:avLst/>
          </a:prstGeom>
          <a:solidFill>
            <a:srgbClr val="00B0F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allocated = 1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FF481D4-0DC8-4642-95A2-41E08FA6D090}"/>
              </a:ext>
            </a:extLst>
          </p:cNvPr>
          <p:cNvCxnSpPr/>
          <p:nvPr/>
        </p:nvCxnSpPr>
        <p:spPr>
          <a:xfrm>
            <a:off x="2804984" y="2102707"/>
            <a:ext cx="3789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1D47246-0A6F-444B-962D-4B32B3754C49}"/>
              </a:ext>
            </a:extLst>
          </p:cNvPr>
          <p:cNvSpPr txBox="1"/>
          <p:nvPr/>
        </p:nvSpPr>
        <p:spPr>
          <a:xfrm>
            <a:off x="2509710" y="191323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0DF5C75-5D8F-4C75-9D01-B50986E40852}"/>
              </a:ext>
            </a:extLst>
          </p:cNvPr>
          <p:cNvCxnSpPr/>
          <p:nvPr/>
        </p:nvCxnSpPr>
        <p:spPr>
          <a:xfrm>
            <a:off x="2805629" y="3206577"/>
            <a:ext cx="3789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86E9CCC-BC4D-4E65-B85C-263C8EDA0619}"/>
              </a:ext>
            </a:extLst>
          </p:cNvPr>
          <p:cNvSpPr txBox="1"/>
          <p:nvPr/>
        </p:nvSpPr>
        <p:spPr>
          <a:xfrm>
            <a:off x="2510355" y="301710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AA09A450-0C1D-44C3-822B-A790AA327D7D}"/>
              </a:ext>
            </a:extLst>
          </p:cNvPr>
          <p:cNvSpPr/>
          <p:nvPr/>
        </p:nvSpPr>
        <p:spPr>
          <a:xfrm>
            <a:off x="5379308" y="2057399"/>
            <a:ext cx="197708" cy="49221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18117EAA-FCA3-4DEC-BA16-DF5B5B0BFA5B}"/>
              </a:ext>
            </a:extLst>
          </p:cNvPr>
          <p:cNvSpPr/>
          <p:nvPr/>
        </p:nvSpPr>
        <p:spPr>
          <a:xfrm>
            <a:off x="5379308" y="3201772"/>
            <a:ext cx="197708" cy="49221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0A6EDC28-E9A9-4985-890B-5CD750E0DC26}"/>
              </a:ext>
            </a:extLst>
          </p:cNvPr>
          <p:cNvSpPr/>
          <p:nvPr/>
        </p:nvSpPr>
        <p:spPr>
          <a:xfrm>
            <a:off x="5861221" y="1491049"/>
            <a:ext cx="119449" cy="105856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D438B9B2-D27F-44B1-A56C-31D2E9ECC225}"/>
              </a:ext>
            </a:extLst>
          </p:cNvPr>
          <p:cNvSpPr/>
          <p:nvPr/>
        </p:nvSpPr>
        <p:spPr>
          <a:xfrm>
            <a:off x="5861221" y="2600066"/>
            <a:ext cx="119449" cy="113991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08A087-B7AA-4437-BC1E-249E4FEA4095}"/>
              </a:ext>
            </a:extLst>
          </p:cNvPr>
          <p:cNvSpPr txBox="1"/>
          <p:nvPr/>
        </p:nvSpPr>
        <p:spPr>
          <a:xfrm>
            <a:off x="5920945" y="1866441"/>
            <a:ext cx="465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32B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2D2CB2-D38A-4FF8-A096-919C274CDE4E}"/>
              </a:ext>
            </a:extLst>
          </p:cNvPr>
          <p:cNvSpPr txBox="1"/>
          <p:nvPr/>
        </p:nvSpPr>
        <p:spPr>
          <a:xfrm>
            <a:off x="6046614" y="3008524"/>
            <a:ext cx="465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32B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A39B36-18B2-4C62-B47F-C51108956551}"/>
              </a:ext>
            </a:extLst>
          </p:cNvPr>
          <p:cNvSpPr txBox="1"/>
          <p:nvPr/>
        </p:nvSpPr>
        <p:spPr>
          <a:xfrm>
            <a:off x="5488582" y="2149616"/>
            <a:ext cx="465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16B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899293-5AD0-40DA-B0B7-E0EC9DB4EFBF}"/>
              </a:ext>
            </a:extLst>
          </p:cNvPr>
          <p:cNvSpPr txBox="1"/>
          <p:nvPr/>
        </p:nvSpPr>
        <p:spPr>
          <a:xfrm>
            <a:off x="5498593" y="3275111"/>
            <a:ext cx="465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16B</a:t>
            </a:r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EF575B2D-26EE-460A-8A50-48B4F1F73FE2}"/>
              </a:ext>
            </a:extLst>
          </p:cNvPr>
          <p:cNvSpPr/>
          <p:nvPr/>
        </p:nvSpPr>
        <p:spPr>
          <a:xfrm>
            <a:off x="5373168" y="1528117"/>
            <a:ext cx="197708" cy="49221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DAC51D-0282-46F7-9C09-CEE8F94090FA}"/>
              </a:ext>
            </a:extLst>
          </p:cNvPr>
          <p:cNvSpPr txBox="1"/>
          <p:nvPr/>
        </p:nvSpPr>
        <p:spPr>
          <a:xfrm>
            <a:off x="5482442" y="1620334"/>
            <a:ext cx="465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16B</a:t>
            </a:r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8E102DBD-26DF-4CAC-A116-2C725FA9A990}"/>
              </a:ext>
            </a:extLst>
          </p:cNvPr>
          <p:cNvSpPr/>
          <p:nvPr/>
        </p:nvSpPr>
        <p:spPr>
          <a:xfrm>
            <a:off x="5373168" y="2629928"/>
            <a:ext cx="197708" cy="49221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A62210-01A6-49E1-BE78-631C3F5107B0}"/>
              </a:ext>
            </a:extLst>
          </p:cNvPr>
          <p:cNvSpPr txBox="1"/>
          <p:nvPr/>
        </p:nvSpPr>
        <p:spPr>
          <a:xfrm>
            <a:off x="5482442" y="2722145"/>
            <a:ext cx="465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16B</a:t>
            </a:r>
          </a:p>
        </p:txBody>
      </p:sp>
    </p:spTree>
    <p:extLst>
      <p:ext uri="{BB962C8B-B14F-4D97-AF65-F5344CB8AC3E}">
        <p14:creationId xmlns:p14="http://schemas.microsoft.com/office/powerpoint/2010/main" val="3978740010"/>
      </p:ext>
    </p:extLst>
  </p:cSld>
  <p:clrMapOvr>
    <a:masterClrMapping/>
  </p:clrMapOvr>
</p:sld>
</file>

<file path=ppt/theme/theme1.xml><?xml version="1.0" encoding="utf-8"?>
<a:theme xmlns:a="http://schemas.openxmlformats.org/drawingml/2006/main" name="CloudVisor-Aust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0F0"/>
        </a:solidFill>
        <a:ln w="28575">
          <a:solidFill>
            <a:schemeClr val="bg2">
              <a:lumMod val="2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CloudVisor-Austin.thmx</Template>
  <TotalTime>8799</TotalTime>
  <Words>6442</Words>
  <Application>Microsoft Macintosh PowerPoint</Application>
  <PresentationFormat>On-screen Show (4:3)</PresentationFormat>
  <Paragraphs>1440</Paragraphs>
  <Slides>81</Slides>
  <Notes>1</Notes>
  <HiddenSlides>9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8" baseType="lpstr">
      <vt:lpstr>Arial</vt:lpstr>
      <vt:lpstr>Calibri</vt:lpstr>
      <vt:lpstr>Consolas</vt:lpstr>
      <vt:lpstr>Symbol</vt:lpstr>
      <vt:lpstr>Tahoma</vt:lpstr>
      <vt:lpstr>Wingdings</vt:lpstr>
      <vt:lpstr>CloudVisor-Austin</vt:lpstr>
      <vt:lpstr>Dynamic Memory Allocation</vt:lpstr>
      <vt:lpstr>What we’ve learnt: how C program is executed by hardware</vt:lpstr>
      <vt:lpstr>Today’s lesson plan</vt:lpstr>
      <vt:lpstr>Why dynamic memory allocation?</vt:lpstr>
      <vt:lpstr>Dynamic allocation on heap</vt:lpstr>
      <vt:lpstr>Dynamic allocation on heap</vt:lpstr>
      <vt:lpstr>Dynamic allocation on heap</vt:lpstr>
      <vt:lpstr>Dynamic allocation on heap</vt:lpstr>
      <vt:lpstr>Dynamic allocation on heap</vt:lpstr>
      <vt:lpstr>Dynamic allocation on heap</vt:lpstr>
      <vt:lpstr>Dynamic allocation on heap</vt:lpstr>
      <vt:lpstr>Dynamic allocation on heap</vt:lpstr>
      <vt:lpstr>Dynamic allocation on heap</vt:lpstr>
      <vt:lpstr>How to implement a memory allocator?</vt:lpstr>
      <vt:lpstr>How to implement a memory allocator?</vt:lpstr>
      <vt:lpstr>Questions</vt:lpstr>
      <vt:lpstr>How to bookkeep? Strawman #1</vt:lpstr>
      <vt:lpstr>How to bookkeep? Strawman #1</vt:lpstr>
      <vt:lpstr>How to bookkeep? Strawman #1</vt:lpstr>
      <vt:lpstr>How to bookkeep? Other strawmans</vt:lpstr>
      <vt:lpstr>Today’s lesson plan</vt:lpstr>
      <vt:lpstr>How to implement a  “linked list” without use of malloc</vt:lpstr>
      <vt:lpstr>Implicit list</vt:lpstr>
      <vt:lpstr>Implicit list</vt:lpstr>
      <vt:lpstr>Implicit list</vt:lpstr>
      <vt:lpstr>Implicit list</vt:lpstr>
      <vt:lpstr>How to initialize an implicit list</vt:lpstr>
      <vt:lpstr>How to traverse an implicit list</vt:lpstr>
      <vt:lpstr>How to traverse an implicit list</vt:lpstr>
      <vt:lpstr>Implicit list</vt:lpstr>
      <vt:lpstr>Allocation in an implicit list</vt:lpstr>
      <vt:lpstr>Allocation: splitting a free block</vt:lpstr>
      <vt:lpstr>Allocation: splitting a free block </vt:lpstr>
      <vt:lpstr>Which chunk to allocate? First fit</vt:lpstr>
      <vt:lpstr>First fit</vt:lpstr>
      <vt:lpstr>Best fit</vt:lpstr>
      <vt:lpstr>Best fit</vt:lpstr>
      <vt:lpstr>Next fit</vt:lpstr>
      <vt:lpstr>Next fit</vt:lpstr>
      <vt:lpstr>Next fit</vt:lpstr>
      <vt:lpstr>Next fit</vt:lpstr>
      <vt:lpstr>Free a block: coalesce with its free neighbor</vt:lpstr>
      <vt:lpstr>free() in an implicit list</vt:lpstr>
      <vt:lpstr>Coalescing a free block with next free neighbor</vt:lpstr>
      <vt:lpstr>Coalescing a free block with next free neighbor</vt:lpstr>
      <vt:lpstr>Use footer to coalesce with previous block</vt:lpstr>
      <vt:lpstr>Coalescing prev and next blocks</vt:lpstr>
      <vt:lpstr>Coalescing prev and next blocks</vt:lpstr>
      <vt:lpstr>Summary: malloc using implicit list</vt:lpstr>
      <vt:lpstr>More advanced malloc designs</vt:lpstr>
      <vt:lpstr>Explicit free lists</vt:lpstr>
      <vt:lpstr>Evolution from implicit  explict</vt:lpstr>
      <vt:lpstr>Explicit free list</vt:lpstr>
      <vt:lpstr>Explicit list: types, basic helpers</vt:lpstr>
      <vt:lpstr>Explicit list: types, basic helpers</vt:lpstr>
      <vt:lpstr>Explicit list: globals, initialization</vt:lpstr>
      <vt:lpstr>Explicit list: globals, initialization</vt:lpstr>
      <vt:lpstr>Explicit list: helpers to insert and detach from freelist</vt:lpstr>
      <vt:lpstr>Explicit list: allocate</vt:lpstr>
      <vt:lpstr>Explicit list: implementation</vt:lpstr>
      <vt:lpstr>Explicit list: initialize a free chunk</vt:lpstr>
      <vt:lpstr>Explicit list: initialization</vt:lpstr>
      <vt:lpstr>Explicit list: allocate</vt:lpstr>
      <vt:lpstr>Explicit list: allocate</vt:lpstr>
      <vt:lpstr>Explicit list: allocate</vt:lpstr>
      <vt:lpstr>Explicit list: allocate</vt:lpstr>
      <vt:lpstr>Explicit list: free</vt:lpstr>
      <vt:lpstr>PowerPoint Presentation</vt:lpstr>
      <vt:lpstr>Segregated list</vt:lpstr>
      <vt:lpstr>Segregated list: initialize</vt:lpstr>
      <vt:lpstr>Segregated list: allocation</vt:lpstr>
      <vt:lpstr>Segregated list: free</vt:lpstr>
      <vt:lpstr>Buddy System</vt:lpstr>
      <vt:lpstr>Simple binary buddy system</vt:lpstr>
      <vt:lpstr>Binary buddy system: allocate</vt:lpstr>
      <vt:lpstr>Binary buddy system: allocate</vt:lpstr>
      <vt:lpstr>Binary buddy system: free</vt:lpstr>
      <vt:lpstr>Binary buddy system: free</vt:lpstr>
      <vt:lpstr>Binary buddy system: free</vt:lpstr>
      <vt:lpstr>Summary</vt:lpstr>
      <vt:lpstr>PowerPoint Presentation</vt:lpstr>
    </vt:vector>
  </TitlesOfParts>
  <Company>fudan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VFlash</dc:title>
  <dc:creator>xiang song</dc:creator>
  <cp:lastModifiedBy>Jinyang Li</cp:lastModifiedBy>
  <cp:revision>2</cp:revision>
  <cp:lastPrinted>2021-11-09T04:23:45Z</cp:lastPrinted>
  <dcterms:created xsi:type="dcterms:W3CDTF">2012-08-17T04:52:30Z</dcterms:created>
  <dcterms:modified xsi:type="dcterms:W3CDTF">2026-04-06T17:48:32Z</dcterms:modified>
</cp:coreProperties>
</file>