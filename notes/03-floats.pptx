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55"/>
  </p:notesMasterIdLst>
  <p:handoutMasterIdLst>
    <p:handoutMasterId r:id="rId56"/>
  </p:handoutMasterIdLst>
  <p:sldIdLst>
    <p:sldId id="256" r:id="rId5"/>
    <p:sldId id="1069" r:id="rId6"/>
    <p:sldId id="905" r:id="rId7"/>
    <p:sldId id="872" r:id="rId8"/>
    <p:sldId id="977" r:id="rId9"/>
    <p:sldId id="1073" r:id="rId10"/>
    <p:sldId id="913" r:id="rId11"/>
    <p:sldId id="1033" r:id="rId12"/>
    <p:sldId id="1035" r:id="rId13"/>
    <p:sldId id="917" r:id="rId14"/>
    <p:sldId id="920" r:id="rId15"/>
    <p:sldId id="1034" r:id="rId16"/>
    <p:sldId id="921" r:id="rId17"/>
    <p:sldId id="925" r:id="rId18"/>
    <p:sldId id="964" r:id="rId19"/>
    <p:sldId id="965" r:id="rId20"/>
    <p:sldId id="1070" r:id="rId21"/>
    <p:sldId id="929" r:id="rId22"/>
    <p:sldId id="1065" r:id="rId23"/>
    <p:sldId id="1074" r:id="rId24"/>
    <p:sldId id="1071" r:id="rId25"/>
    <p:sldId id="1066" r:id="rId26"/>
    <p:sldId id="1067" r:id="rId27"/>
    <p:sldId id="942" r:id="rId28"/>
    <p:sldId id="943" r:id="rId29"/>
    <p:sldId id="944" r:id="rId30"/>
    <p:sldId id="1059" r:id="rId31"/>
    <p:sldId id="957" r:id="rId32"/>
    <p:sldId id="958" r:id="rId33"/>
    <p:sldId id="959" r:id="rId34"/>
    <p:sldId id="1057" r:id="rId35"/>
    <p:sldId id="1060" r:id="rId36"/>
    <p:sldId id="889" r:id="rId37"/>
    <p:sldId id="1007" r:id="rId38"/>
    <p:sldId id="1050" r:id="rId39"/>
    <p:sldId id="1051" r:id="rId40"/>
    <p:sldId id="962" r:id="rId41"/>
    <p:sldId id="1068" r:id="rId42"/>
    <p:sldId id="269" r:id="rId43"/>
    <p:sldId id="1063" r:id="rId44"/>
    <p:sldId id="273" r:id="rId45"/>
    <p:sldId id="272" r:id="rId46"/>
    <p:sldId id="274" r:id="rId47"/>
    <p:sldId id="275" r:id="rId48"/>
    <p:sldId id="277" r:id="rId49"/>
    <p:sldId id="276" r:id="rId50"/>
    <p:sldId id="1072" r:id="rId51"/>
    <p:sldId id="283" r:id="rId52"/>
    <p:sldId id="1062" r:id="rId53"/>
    <p:sldId id="282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767513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30CF9-8A96-6C4B-B49D-CC509B832BB1}" v="2" dt="2026-09-14T19:23:50.4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481" autoAdjust="0"/>
    <p:restoredTop sz="88269" autoAdjust="0"/>
  </p:normalViewPr>
  <p:slideViewPr>
    <p:cSldViewPr snapToGrid="0" snapToObjects="1">
      <p:cViewPr varScale="1">
        <p:scale>
          <a:sx n="93" d="100"/>
          <a:sy n="93" d="100"/>
        </p:scale>
        <p:origin x="10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33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3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97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5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95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49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01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not represent</a:t>
            </a:r>
            <a:r>
              <a:rPr lang="en-US" baseline="0" dirty="0"/>
              <a:t> 0.1 exactly in floating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8C08A-33DE-B14E-B2DE-046DC596C90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1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9B2B-175D-AA02-83D9-B86E1EB6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A988E-7C2F-71FD-CBDC-88F80E379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333F5-6248-5A09-F37E-731EE5AA9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not represent</a:t>
            </a:r>
            <a:r>
              <a:rPr lang="en-US" baseline="0" dirty="0"/>
              <a:t> 0.1 exactly in floating point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07ECB-13B3-6D53-9B98-3BDB2AD690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8C08A-33DE-B14E-B2DE-046DC596C90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24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not represent</a:t>
            </a:r>
            <a:r>
              <a:rPr lang="en-US" baseline="0" dirty="0"/>
              <a:t> 0.1 exactly in floating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8C08A-33DE-B14E-B2DE-046DC596C90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06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6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Floating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Jinyang Li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ABA5-F095-9B01-6810-91803970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2449-D445-B7E2-F7A6-06AD4D68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DB9A-A0C6-5D7C-E843-9C7D94695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Scientific notation</a:t>
            </a:r>
          </a:p>
          <a:p>
            <a:r>
              <a:rPr lang="en-US" dirty="0"/>
              <a:t>FP8 example </a:t>
            </a:r>
          </a:p>
          <a:p>
            <a:r>
              <a:rPr lang="en-US" dirty="0"/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19932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"/>
          <p:cNvCxnSpPr/>
          <p:nvPr/>
        </p:nvCxnSpPr>
        <p:spPr>
          <a:xfrm flipV="1">
            <a:off x="1820863" y="3182821"/>
            <a:ext cx="5457227" cy="34326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398169" y="596580"/>
            <a:ext cx="8302613" cy="85725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Previously…</a:t>
            </a:r>
            <a:endParaRPr kumimoji="1" lang="zh-CN" altLang="en-US" dirty="0"/>
          </a:p>
        </p:txBody>
      </p:sp>
      <p:cxnSp>
        <p:nvCxnSpPr>
          <p:cNvPr id="23" name="直线连接符 22"/>
          <p:cNvCxnSpPr/>
          <p:nvPr/>
        </p:nvCxnSpPr>
        <p:spPr>
          <a:xfrm flipV="1">
            <a:off x="4532315" y="3105587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 flipV="1">
            <a:off x="4725301" y="3108328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flipV="1">
            <a:off x="4344830" y="3116909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 flipV="1">
            <a:off x="4165573" y="3108328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6"/>
          <p:cNvCxnSpPr/>
          <p:nvPr/>
        </p:nvCxnSpPr>
        <p:spPr>
          <a:xfrm flipV="1">
            <a:off x="3999985" y="3119650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 flipV="1">
            <a:off x="5084541" y="3115503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flipV="1">
            <a:off x="4899940" y="3111068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2430082" y="3646218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350" dirty="0"/>
          </a:p>
        </p:txBody>
      </p:sp>
      <p:grpSp>
        <p:nvGrpSpPr>
          <p:cNvPr id="42" name="组 41"/>
          <p:cNvGrpSpPr/>
          <p:nvPr/>
        </p:nvGrpSpPr>
        <p:grpSpPr>
          <a:xfrm>
            <a:off x="1592637" y="3232788"/>
            <a:ext cx="430711" cy="369332"/>
            <a:chOff x="599515" y="3167381"/>
            <a:chExt cx="574281" cy="492442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/>
          </p:nvGraphicFramePr>
          <p:xfrm>
            <a:off x="773746" y="3270359"/>
            <a:ext cx="4000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400" imgH="127000" progId="Equation.3">
                    <p:embed/>
                  </p:oleObj>
                </mc:Choice>
                <mc:Fallback>
                  <p:oleObj name="公式" r:id="rId3" imgW="152400" imgH="127000" progId="Equation.3">
                    <p:embed/>
                    <p:pic>
                      <p:nvPicPr>
                        <p:cNvPr id="43" name="对象 4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3746" y="3270359"/>
                          <a:ext cx="400050" cy="333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矩形 43"/>
            <p:cNvSpPr/>
            <p:nvPr/>
          </p:nvSpPr>
          <p:spPr>
            <a:xfrm>
              <a:off x="599515" y="3167381"/>
              <a:ext cx="340264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-</a:t>
              </a:r>
              <a:endParaRPr lang="zh-CN" altLang="en-US" dirty="0"/>
            </a:p>
          </p:txBody>
        </p:sp>
      </p:grpSp>
      <p:grpSp>
        <p:nvGrpSpPr>
          <p:cNvPr id="45" name="组 44"/>
          <p:cNvGrpSpPr/>
          <p:nvPr/>
        </p:nvGrpSpPr>
        <p:grpSpPr>
          <a:xfrm>
            <a:off x="7375175" y="3186525"/>
            <a:ext cx="456453" cy="369332"/>
            <a:chOff x="7971013" y="3100761"/>
            <a:chExt cx="608604" cy="492442"/>
          </a:xfrm>
        </p:grpSpPr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8179567" y="3203739"/>
            <a:ext cx="4000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400" imgH="127000" progId="Equation.3">
                    <p:embed/>
                  </p:oleObj>
                </mc:Choice>
                <mc:Fallback>
                  <p:oleObj name="公式" r:id="rId3" imgW="152400" imgH="127000" progId="Equation.3">
                    <p:embed/>
                    <p:pic>
                      <p:nvPicPr>
                        <p:cNvPr id="46" name="对象 4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79567" y="3203739"/>
                          <a:ext cx="400050" cy="333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矩形 46"/>
            <p:cNvSpPr/>
            <p:nvPr/>
          </p:nvSpPr>
          <p:spPr>
            <a:xfrm>
              <a:off x="7971013" y="3100761"/>
              <a:ext cx="400109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+</a:t>
              </a:r>
              <a:endParaRPr lang="zh-CN" altLang="en-US" dirty="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6293" y="3260055"/>
            <a:ext cx="29206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1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799875" y="3264530"/>
            <a:ext cx="24087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2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3" name="矩形 52"/>
          <p:cNvSpPr/>
          <p:nvPr/>
        </p:nvSpPr>
        <p:spPr>
          <a:xfrm flipH="1">
            <a:off x="3708537" y="3278952"/>
            <a:ext cx="49798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-3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950162" y="3264530"/>
            <a:ext cx="43561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-2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4179861" y="3263524"/>
            <a:ext cx="35638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-1</a:t>
            </a:r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28" name="矩形 50"/>
          <p:cNvSpPr/>
          <p:nvPr/>
        </p:nvSpPr>
        <p:spPr>
          <a:xfrm flipH="1">
            <a:off x="5040747" y="3278952"/>
            <a:ext cx="20802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500" dirty="0">
                <a:latin typeface="Arial"/>
                <a:cs typeface="Arial"/>
              </a:rPr>
              <a:t>3</a:t>
            </a:r>
            <a:endParaRPr lang="zh-CN" altLang="en-US" sz="1500" dirty="0">
              <a:latin typeface="Arial"/>
              <a:cs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860813" y="3162263"/>
            <a:ext cx="3526620" cy="530019"/>
            <a:chOff x="2290417" y="3073351"/>
            <a:chExt cx="4702160" cy="706692"/>
          </a:xfrm>
        </p:grpSpPr>
        <p:sp>
          <p:nvSpPr>
            <p:cNvPr id="51" name="矩形 50"/>
            <p:cNvSpPr/>
            <p:nvPr/>
          </p:nvSpPr>
          <p:spPr>
            <a:xfrm flipH="1">
              <a:off x="5928038" y="3073351"/>
              <a:ext cx="1064539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n-1</a:t>
              </a:r>
              <a:r>
                <a:rPr kumimoji="1" lang="en-US" altLang="zh-CN" sz="1500" dirty="0">
                  <a:latin typeface="Arial"/>
                  <a:cs typeface="Arial"/>
                </a:rPr>
                <a:t>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  <p:sp>
          <p:nvSpPr>
            <p:cNvPr id="32" name="Right Bracket 31"/>
            <p:cNvSpPr/>
            <p:nvPr/>
          </p:nvSpPr>
          <p:spPr>
            <a:xfrm rot="16200000" flipH="1">
              <a:off x="4294756" y="1789101"/>
              <a:ext cx="425362" cy="3556522"/>
            </a:xfrm>
            <a:prstGeom prst="righ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矩形 50"/>
            <p:cNvSpPr/>
            <p:nvPr/>
          </p:nvSpPr>
          <p:spPr>
            <a:xfrm flipH="1">
              <a:off x="2290417" y="3094844"/>
              <a:ext cx="715317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-2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409134" y="2693618"/>
            <a:ext cx="2761136" cy="898133"/>
            <a:chOff x="4354844" y="2448488"/>
            <a:chExt cx="3681515" cy="1197510"/>
          </a:xfrm>
        </p:grpSpPr>
        <p:sp>
          <p:nvSpPr>
            <p:cNvPr id="48" name="矩形 47"/>
            <p:cNvSpPr/>
            <p:nvPr/>
          </p:nvSpPr>
          <p:spPr>
            <a:xfrm>
              <a:off x="4354844" y="3215111"/>
              <a:ext cx="38942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0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  <p:sp>
          <p:nvSpPr>
            <p:cNvPr id="31" name="Right Bracket 30"/>
            <p:cNvSpPr/>
            <p:nvPr/>
          </p:nvSpPr>
          <p:spPr>
            <a:xfrm rot="16200000">
              <a:off x="5888688" y="1067237"/>
              <a:ext cx="408762" cy="3171263"/>
            </a:xfrm>
            <a:prstGeom prst="righ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矩形 50"/>
            <p:cNvSpPr/>
            <p:nvPr/>
          </p:nvSpPr>
          <p:spPr>
            <a:xfrm flipH="1">
              <a:off x="7321042" y="3101782"/>
              <a:ext cx="715317" cy="430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1500" dirty="0">
                  <a:latin typeface="Arial"/>
                  <a:cs typeface="Arial"/>
                </a:rPr>
                <a:t>2</a:t>
              </a:r>
              <a:r>
                <a:rPr kumimoji="1" lang="en-US" altLang="zh-CN" sz="1500" baseline="30000" dirty="0">
                  <a:latin typeface="Arial"/>
                  <a:cs typeface="Arial"/>
                </a:rPr>
                <a:t>n</a:t>
              </a:r>
              <a:r>
                <a:rPr kumimoji="1" lang="en-US" altLang="zh-CN" sz="1500" dirty="0">
                  <a:latin typeface="Arial"/>
                  <a:cs typeface="Arial"/>
                </a:rPr>
                <a:t>-1</a:t>
              </a:r>
              <a:endParaRPr lang="zh-CN" altLang="en-US" sz="1500" dirty="0">
                <a:latin typeface="Arial"/>
                <a:cs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1C20EC4-6086-4A02-8F51-A64BC4F20D3B}"/>
              </a:ext>
            </a:extLst>
          </p:cNvPr>
          <p:cNvSpPr txBox="1"/>
          <p:nvPr/>
        </p:nvSpPr>
        <p:spPr>
          <a:xfrm>
            <a:off x="4920311" y="2335579"/>
            <a:ext cx="18199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Unsigned n-bit integers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1BFE8-86C4-4CD2-B59A-956EA7E2721D}"/>
              </a:ext>
            </a:extLst>
          </p:cNvPr>
          <p:cNvSpPr txBox="1"/>
          <p:nvPr/>
        </p:nvSpPr>
        <p:spPr>
          <a:xfrm>
            <a:off x="3767569" y="3742360"/>
            <a:ext cx="163076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Signed n-bit integers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BE365-FDE0-4AD4-B896-D06816C21246}"/>
              </a:ext>
            </a:extLst>
          </p:cNvPr>
          <p:cNvSpPr txBox="1"/>
          <p:nvPr/>
        </p:nvSpPr>
        <p:spPr>
          <a:xfrm>
            <a:off x="2430082" y="4544690"/>
            <a:ext cx="353558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What about real numbers?</a:t>
            </a:r>
          </a:p>
        </p:txBody>
      </p:sp>
      <p:cxnSp>
        <p:nvCxnSpPr>
          <p:cNvPr id="9" name="直线连接符 37">
            <a:extLst>
              <a:ext uri="{FF2B5EF4-FFF2-40B4-BE49-F238E27FC236}">
                <a16:creationId xmlns:a16="http://schemas.microsoft.com/office/drawing/2014/main" id="{3EDEB450-145F-77D7-7DCF-D12C1021E3DC}"/>
              </a:ext>
            </a:extLst>
          </p:cNvPr>
          <p:cNvCxnSpPr/>
          <p:nvPr/>
        </p:nvCxnSpPr>
        <p:spPr>
          <a:xfrm flipV="1">
            <a:off x="5823795" y="3117776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37">
            <a:extLst>
              <a:ext uri="{FF2B5EF4-FFF2-40B4-BE49-F238E27FC236}">
                <a16:creationId xmlns:a16="http://schemas.microsoft.com/office/drawing/2014/main" id="{5CF0FA9F-9EB8-B568-707F-D809878F50FA}"/>
              </a:ext>
            </a:extLst>
          </p:cNvPr>
          <p:cNvCxnSpPr/>
          <p:nvPr/>
        </p:nvCxnSpPr>
        <p:spPr>
          <a:xfrm flipV="1">
            <a:off x="6917893" y="3106402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37">
            <a:extLst>
              <a:ext uri="{FF2B5EF4-FFF2-40B4-BE49-F238E27FC236}">
                <a16:creationId xmlns:a16="http://schemas.microsoft.com/office/drawing/2014/main" id="{0D41F0D6-B41D-5ABE-1A31-0C8ACBC4D379}"/>
              </a:ext>
            </a:extLst>
          </p:cNvPr>
          <p:cNvCxnSpPr/>
          <p:nvPr/>
        </p:nvCxnSpPr>
        <p:spPr>
          <a:xfrm flipV="1">
            <a:off x="3194323" y="3122322"/>
            <a:ext cx="0" cy="120141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7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Represent real numbers: the decimal way</a:t>
            </a:r>
            <a:endParaRPr kumimoji="1"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672660"/>
              </p:ext>
            </p:extLst>
          </p:nvPr>
        </p:nvGraphicFramePr>
        <p:xfrm>
          <a:off x="1181675" y="1622354"/>
          <a:ext cx="6515662" cy="20173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34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35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Real Number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Decimal Representation</a:t>
                      </a:r>
                      <a:endParaRPr lang="zh-CN" altLang="en-US" sz="2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11</a:t>
                      </a:r>
                      <a:r>
                        <a:rPr lang="en-US" altLang="zh-CN" sz="2400" b="0" baseline="0" dirty="0"/>
                        <a:t> / 2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(5.5)</a:t>
                      </a:r>
                      <a:r>
                        <a:rPr lang="en-US" altLang="zh-CN" sz="2400" baseline="-25000" dirty="0"/>
                        <a:t>10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1 / 3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400" baseline="0" dirty="0"/>
                        <a:t>(0.333...)</a:t>
                      </a:r>
                      <a:r>
                        <a:rPr lang="en-US" altLang="zh-CN" sz="2400" baseline="-25000" dirty="0"/>
                        <a:t>10</a:t>
                      </a:r>
                      <a:endParaRPr lang="en-US" altLang="zh-CN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√2</a:t>
                      </a:r>
                      <a:endParaRPr lang="en-US" altLang="zh-CN" sz="2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2400" baseline="0" dirty="0"/>
                        <a:t> </a:t>
                      </a:r>
                      <a:r>
                        <a:rPr lang="en-US" altLang="zh-CN" sz="2400" baseline="0" dirty="0"/>
                        <a:t>(1.414</a:t>
                      </a:r>
                      <a:r>
                        <a:rPr lang="mr-IN" altLang="zh-CN" sz="2400" baseline="0" dirty="0"/>
                        <a:t>…</a:t>
                      </a:r>
                      <a:r>
                        <a:rPr lang="en-US" altLang="zh-CN" sz="2400" baseline="0" dirty="0"/>
                        <a:t>)</a:t>
                      </a:r>
                      <a:r>
                        <a:rPr lang="en-US" altLang="zh-CN" sz="2400" baseline="-25000" dirty="0"/>
                        <a:t>10</a:t>
                      </a:r>
                      <a:endParaRPr lang="en-US" altLang="zh-CN" sz="2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259C584-21EA-EF48-9E21-71CD31DCD67B}"/>
              </a:ext>
            </a:extLst>
          </p:cNvPr>
          <p:cNvGrpSpPr/>
          <p:nvPr/>
        </p:nvGrpSpPr>
        <p:grpSpPr>
          <a:xfrm>
            <a:off x="1900557" y="3639753"/>
            <a:ext cx="5668539" cy="1279733"/>
            <a:chOff x="2050929" y="3522993"/>
            <a:chExt cx="7558052" cy="170631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81E1613-1482-7A48-8E7D-F89D01BB7DD5}"/>
                </a:ext>
              </a:extLst>
            </p:cNvPr>
            <p:cNvSpPr/>
            <p:nvPr/>
          </p:nvSpPr>
          <p:spPr>
            <a:xfrm>
              <a:off x="2050929" y="4736861"/>
              <a:ext cx="7558052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/>
                  <a:cs typeface="Arial"/>
                </a:rPr>
                <a:t>(1.414...)</a:t>
              </a:r>
              <a:r>
                <a:rPr lang="en-US" altLang="zh-CN" baseline="-25000" dirty="0">
                  <a:latin typeface="Arial"/>
                  <a:cs typeface="Arial"/>
                </a:rPr>
                <a:t>10</a:t>
              </a:r>
              <a:r>
                <a:rPr lang="en-US" altLang="zh-CN" dirty="0">
                  <a:latin typeface="Arial"/>
                  <a:cs typeface="Arial"/>
                </a:rPr>
                <a:t> = 1 * 10</a:t>
              </a:r>
              <a:r>
                <a:rPr lang="en-US" altLang="zh-CN" baseline="30000" dirty="0">
                  <a:latin typeface="Arial"/>
                  <a:cs typeface="Arial"/>
                </a:rPr>
                <a:t>0</a:t>
              </a:r>
              <a:r>
                <a:rPr lang="en-US" altLang="zh-CN" dirty="0">
                  <a:latin typeface="Arial"/>
                  <a:cs typeface="Arial"/>
                </a:rPr>
                <a:t> + 4 * 10</a:t>
              </a:r>
              <a:r>
                <a:rPr lang="en-US" altLang="zh-CN" baseline="30000" dirty="0">
                  <a:latin typeface="Arial"/>
                  <a:cs typeface="Arial"/>
                </a:rPr>
                <a:t>-1</a:t>
              </a:r>
              <a:r>
                <a:rPr lang="en-US" altLang="zh-CN" dirty="0">
                  <a:latin typeface="Arial"/>
                  <a:cs typeface="Arial"/>
                </a:rPr>
                <a:t> + 1 * 10</a:t>
              </a:r>
              <a:r>
                <a:rPr lang="en-US" altLang="zh-CN" baseline="30000" dirty="0">
                  <a:latin typeface="Arial"/>
                  <a:cs typeface="Arial"/>
                </a:rPr>
                <a:t>-2</a:t>
              </a:r>
              <a:r>
                <a:rPr lang="en-US" altLang="zh-CN" dirty="0">
                  <a:latin typeface="Arial"/>
                  <a:cs typeface="Arial"/>
                </a:rPr>
                <a:t> + 4 * 10</a:t>
              </a:r>
              <a:r>
                <a:rPr lang="en-US" altLang="zh-CN" baseline="30000" dirty="0">
                  <a:latin typeface="Arial"/>
                  <a:cs typeface="Arial"/>
                </a:rPr>
                <a:t>-3 </a:t>
              </a:r>
              <a:r>
                <a:rPr lang="en-US" altLang="zh-CN" dirty="0">
                  <a:latin typeface="Arial"/>
                  <a:cs typeface="Arial"/>
                </a:rPr>
                <a:t>+ ...</a:t>
              </a:r>
              <a:endParaRPr lang="zh-CN" altLang="en-US" baseline="30000" dirty="0">
                <a:latin typeface="Arial"/>
                <a:cs typeface="Arial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53202A-0AB8-214C-9BA6-C407AD6DE732}"/>
                </a:ext>
              </a:extLst>
            </p:cNvPr>
            <p:cNvCxnSpPr/>
            <p:nvPr/>
          </p:nvCxnSpPr>
          <p:spPr>
            <a:xfrm flipV="1">
              <a:off x="4859781" y="3522993"/>
              <a:ext cx="417746" cy="10768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22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4B50E88-7B3F-1F38-F226-8809EE139B8C}"/>
              </a:ext>
            </a:extLst>
          </p:cNvPr>
          <p:cNvSpPr/>
          <p:nvPr/>
        </p:nvSpPr>
        <p:spPr>
          <a:xfrm>
            <a:off x="612716" y="2838653"/>
            <a:ext cx="8229600" cy="39237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Binary Representation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538197" y="1676563"/>
            <a:ext cx="10454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(5.5)</a:t>
            </a:r>
            <a:r>
              <a:rPr lang="en-US" altLang="zh-CN" sz="2400" baseline="-25000" dirty="0">
                <a:latin typeface="Arial"/>
                <a:cs typeface="Arial"/>
              </a:rPr>
              <a:t>10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F8DE2-EBE6-43C3-9DAB-F0A6B346443C}"/>
              </a:ext>
            </a:extLst>
          </p:cNvPr>
          <p:cNvSpPr txBox="1"/>
          <p:nvPr/>
        </p:nvSpPr>
        <p:spPr>
          <a:xfrm>
            <a:off x="4727516" y="2278002"/>
            <a:ext cx="2053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(101.1)</a:t>
            </a:r>
            <a:r>
              <a:rPr lang="en-US" altLang="zh-CN" sz="2400" baseline="-25000" dirty="0">
                <a:latin typeface="Arial"/>
                <a:cs typeface="Arial"/>
              </a:rPr>
              <a:t>2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CDFDA-C507-4E44-AF92-250DE8B1607F}"/>
              </a:ext>
            </a:extLst>
          </p:cNvPr>
          <p:cNvSpPr txBox="1"/>
          <p:nvPr/>
        </p:nvSpPr>
        <p:spPr>
          <a:xfrm>
            <a:off x="2640922" y="1676563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4</a:t>
            </a:r>
            <a:r>
              <a:rPr lang="en-US" altLang="zh-CN" sz="2400" baseline="300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+ 1 + 1/2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8E9E1-BCDF-574A-8C15-9B8D07C9F62E}"/>
              </a:ext>
            </a:extLst>
          </p:cNvPr>
          <p:cNvSpPr txBox="1"/>
          <p:nvPr/>
        </p:nvSpPr>
        <p:spPr>
          <a:xfrm>
            <a:off x="4727516" y="167656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= 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+ 2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  <a:r>
              <a:rPr lang="en-US" altLang="zh-CN" sz="2400" dirty="0">
                <a:latin typeface="Arial"/>
                <a:cs typeface="Arial"/>
              </a:rPr>
              <a:t> + 2</a:t>
            </a:r>
            <a:r>
              <a:rPr lang="en-US" altLang="zh-CN" sz="2400" baseline="30000" dirty="0">
                <a:latin typeface="Arial"/>
                <a:cs typeface="Arial"/>
              </a:rPr>
              <a:t>-1</a:t>
            </a:r>
            <a:endParaRPr lang="en-US" sz="2400" dirty="0"/>
          </a:p>
        </p:txBody>
      </p:sp>
      <p:grpSp>
        <p:nvGrpSpPr>
          <p:cNvPr id="7" name="组 42">
            <a:extLst>
              <a:ext uri="{FF2B5EF4-FFF2-40B4-BE49-F238E27FC236}">
                <a16:creationId xmlns:a16="http://schemas.microsoft.com/office/drawing/2014/main" id="{1FFDBE8E-019B-7001-B9E6-7CA2971EC8DA}"/>
              </a:ext>
            </a:extLst>
          </p:cNvPr>
          <p:cNvGrpSpPr/>
          <p:nvPr/>
        </p:nvGrpSpPr>
        <p:grpSpPr>
          <a:xfrm>
            <a:off x="1361494" y="3065657"/>
            <a:ext cx="4043019" cy="3661790"/>
            <a:chOff x="2138706" y="1410251"/>
            <a:chExt cx="3625608" cy="3270618"/>
          </a:xfrm>
        </p:grpSpPr>
        <p:grpSp>
          <p:nvGrpSpPr>
            <p:cNvPr id="8" name="组 24">
              <a:extLst>
                <a:ext uri="{FF2B5EF4-FFF2-40B4-BE49-F238E27FC236}">
                  <a16:creationId xmlns:a16="http://schemas.microsoft.com/office/drawing/2014/main" id="{9997F59C-DFCB-057D-3F3B-603BD5228175}"/>
                </a:ext>
              </a:extLst>
            </p:cNvPr>
            <p:cNvGrpSpPr/>
            <p:nvPr/>
          </p:nvGrpSpPr>
          <p:grpSpPr>
            <a:xfrm>
              <a:off x="2138706" y="3032934"/>
              <a:ext cx="3625608" cy="577411"/>
              <a:chOff x="2068793" y="3495323"/>
              <a:chExt cx="3625608" cy="577411"/>
            </a:xfrm>
          </p:grpSpPr>
          <p:graphicFrame>
            <p:nvGraphicFramePr>
              <p:cNvPr id="23" name="对象 25">
                <a:extLst>
                  <a:ext uri="{FF2B5EF4-FFF2-40B4-BE49-F238E27FC236}">
                    <a16:creationId xmlns:a16="http://schemas.microsoft.com/office/drawing/2014/main" id="{01A1BAEA-BDCD-6DC2-5153-FE33EAEF9C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8793" y="3495323"/>
              <a:ext cx="1955942" cy="577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774700" imgH="228600" progId="Equation.3">
                      <p:embed/>
                    </p:oleObj>
                  </mc:Choice>
                  <mc:Fallback>
                    <p:oleObj name="公式" r:id="rId3" imgW="774700" imgH="228600" progId="Equation.3">
                      <p:embed/>
                      <p:pic>
                        <p:nvPicPr>
                          <p:cNvPr id="26" name="对象 2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068793" y="3495323"/>
                            <a:ext cx="1955942" cy="57741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6">
                <a:extLst>
                  <a:ext uri="{FF2B5EF4-FFF2-40B4-BE49-F238E27FC236}">
                    <a16:creationId xmlns:a16="http://schemas.microsoft.com/office/drawing/2014/main" id="{0EF3C58C-F3B2-24E3-91AC-E845D99B97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2530" y="3499624"/>
              <a:ext cx="1641871" cy="5285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711200" imgH="228600" progId="Equation.3">
                      <p:embed/>
                    </p:oleObj>
                  </mc:Choice>
                  <mc:Fallback>
                    <p:oleObj name="公式" r:id="rId5" imgW="711200" imgH="228600" progId="Equation.3">
                      <p:embed/>
                      <p:pic>
                        <p:nvPicPr>
                          <p:cNvPr id="27" name="对象 2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052530" y="3499624"/>
                            <a:ext cx="1641871" cy="52857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59CC7017-EC66-6A4E-62D9-F40A8B74A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216" y="1613362"/>
              <a:ext cx="1720697" cy="139795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0" name="矩形 28">
              <a:extLst>
                <a:ext uri="{FF2B5EF4-FFF2-40B4-BE49-F238E27FC236}">
                  <a16:creationId xmlns:a16="http://schemas.microsoft.com/office/drawing/2014/main" id="{982AF0D4-1364-9008-7A24-1A2337981F79}"/>
                </a:ext>
              </a:extLst>
            </p:cNvPr>
            <p:cNvSpPr/>
            <p:nvPr/>
          </p:nvSpPr>
          <p:spPr>
            <a:xfrm>
              <a:off x="4029262" y="1410251"/>
              <a:ext cx="378351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</a:t>
              </a:r>
              <a:endParaRPr lang="zh-CN" altLang="en-US" sz="1350" dirty="0">
                <a:latin typeface="Arial"/>
                <a:cs typeface="Arial"/>
              </a:endParaRPr>
            </a:p>
          </p:txBody>
        </p:sp>
        <p:sp>
          <p:nvSpPr>
            <p:cNvPr id="11" name="Freeform 104">
              <a:extLst>
                <a:ext uri="{FF2B5EF4-FFF2-40B4-BE49-F238E27FC236}">
                  <a16:creationId xmlns:a16="http://schemas.microsoft.com/office/drawing/2014/main" id="{312224D8-1A49-9A95-0FFF-D03A81C6D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557" y="2037156"/>
              <a:ext cx="1400357" cy="974164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2" name="矩形 30">
              <a:extLst>
                <a:ext uri="{FF2B5EF4-FFF2-40B4-BE49-F238E27FC236}">
                  <a16:creationId xmlns:a16="http://schemas.microsoft.com/office/drawing/2014/main" id="{170B9661-A0AB-232E-454D-F56B075324FB}"/>
                </a:ext>
              </a:extLst>
            </p:cNvPr>
            <p:cNvSpPr/>
            <p:nvPr/>
          </p:nvSpPr>
          <p:spPr>
            <a:xfrm>
              <a:off x="4029061" y="1829606"/>
              <a:ext cx="514915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p-1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3" name="Freeform 104">
              <a:extLst>
                <a:ext uri="{FF2B5EF4-FFF2-40B4-BE49-F238E27FC236}">
                  <a16:creationId xmlns:a16="http://schemas.microsoft.com/office/drawing/2014/main" id="{695372C3-E05C-3F54-EA31-95A848D45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791" y="2577530"/>
              <a:ext cx="483125" cy="43378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4" name="矩形 33">
              <a:extLst>
                <a:ext uri="{FF2B5EF4-FFF2-40B4-BE49-F238E27FC236}">
                  <a16:creationId xmlns:a16="http://schemas.microsoft.com/office/drawing/2014/main" id="{4BF761FC-6602-A503-894A-959FC7D98C97}"/>
                </a:ext>
              </a:extLst>
            </p:cNvPr>
            <p:cNvSpPr/>
            <p:nvPr/>
          </p:nvSpPr>
          <p:spPr>
            <a:xfrm>
              <a:off x="4029262" y="2353552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5" name="Freeform 104">
              <a:extLst>
                <a:ext uri="{FF2B5EF4-FFF2-40B4-BE49-F238E27FC236}">
                  <a16:creationId xmlns:a16="http://schemas.microsoft.com/office/drawing/2014/main" id="{ADE26C52-A703-2534-C40C-3D5A3179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868" y="2784561"/>
              <a:ext cx="194046" cy="213356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6" name="矩形 35">
              <a:extLst>
                <a:ext uri="{FF2B5EF4-FFF2-40B4-BE49-F238E27FC236}">
                  <a16:creationId xmlns:a16="http://schemas.microsoft.com/office/drawing/2014/main" id="{DF79CFA0-857A-E438-E19D-49E74B5875B8}"/>
                </a:ext>
              </a:extLst>
            </p:cNvPr>
            <p:cNvSpPr/>
            <p:nvPr/>
          </p:nvSpPr>
          <p:spPr>
            <a:xfrm>
              <a:off x="4018745" y="2611856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7" name="Freeform 104">
              <a:extLst>
                <a:ext uri="{FF2B5EF4-FFF2-40B4-BE49-F238E27FC236}">
                  <a16:creationId xmlns:a16="http://schemas.microsoft.com/office/drawing/2014/main" id="{D30B11D7-6951-E6B2-B28A-B8CBE108A8B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94648" y="3503664"/>
              <a:ext cx="231426" cy="21335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8" name="矩形 37">
              <a:extLst>
                <a:ext uri="{FF2B5EF4-FFF2-40B4-BE49-F238E27FC236}">
                  <a16:creationId xmlns:a16="http://schemas.microsoft.com/office/drawing/2014/main" id="{835A8C72-F383-2D59-3B26-63CFD785BC0F}"/>
                </a:ext>
              </a:extLst>
            </p:cNvPr>
            <p:cNvSpPr/>
            <p:nvPr/>
          </p:nvSpPr>
          <p:spPr>
            <a:xfrm>
              <a:off x="3600331" y="3505204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9" name="矩形 38">
              <a:extLst>
                <a:ext uri="{FF2B5EF4-FFF2-40B4-BE49-F238E27FC236}">
                  <a16:creationId xmlns:a16="http://schemas.microsoft.com/office/drawing/2014/main" id="{A9E475B6-B486-03D1-91D5-1AAF7F46EC75}"/>
                </a:ext>
              </a:extLst>
            </p:cNvPr>
            <p:cNvSpPr/>
            <p:nvPr/>
          </p:nvSpPr>
          <p:spPr>
            <a:xfrm>
              <a:off x="3603673" y="3794441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1/4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20" name="Freeform 104">
              <a:extLst>
                <a:ext uri="{FF2B5EF4-FFF2-40B4-BE49-F238E27FC236}">
                  <a16:creationId xmlns:a16="http://schemas.microsoft.com/office/drawing/2014/main" id="{D4E409DB-0E75-2596-3CDB-3F01A6BA6EA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66461" y="3523069"/>
              <a:ext cx="600033" cy="44732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1" name="Freeform 104">
              <a:extLst>
                <a:ext uri="{FF2B5EF4-FFF2-40B4-BE49-F238E27FC236}">
                  <a16:creationId xmlns:a16="http://schemas.microsoft.com/office/drawing/2014/main" id="{0C66BAED-3496-9D08-E2E5-0A675A5843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17326" y="3666072"/>
              <a:ext cx="1338089" cy="842095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2" name="矩形 41">
              <a:extLst>
                <a:ext uri="{FF2B5EF4-FFF2-40B4-BE49-F238E27FC236}">
                  <a16:creationId xmlns:a16="http://schemas.microsoft.com/office/drawing/2014/main" id="{17262295-B535-602E-B6E9-7FC4A71A8164}"/>
                </a:ext>
              </a:extLst>
            </p:cNvPr>
            <p:cNvSpPr/>
            <p:nvPr/>
          </p:nvSpPr>
          <p:spPr>
            <a:xfrm>
              <a:off x="3603035" y="4323501"/>
              <a:ext cx="569540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r>
                <a:rPr lang="en-US" altLang="zh-CN" sz="2000" baseline="30000" dirty="0">
                  <a:latin typeface="Arial"/>
                  <a:cs typeface="Arial"/>
                </a:rPr>
                <a:t>q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</p:grpSp>
      <p:sp>
        <p:nvSpPr>
          <p:cNvPr id="25" name="矩形 44">
            <a:extLst>
              <a:ext uri="{FF2B5EF4-FFF2-40B4-BE49-F238E27FC236}">
                <a16:creationId xmlns:a16="http://schemas.microsoft.com/office/drawing/2014/main" id="{728BA929-AE39-C13C-A44F-2B97E1A20513}"/>
              </a:ext>
            </a:extLst>
          </p:cNvPr>
          <p:cNvSpPr/>
          <p:nvPr/>
        </p:nvSpPr>
        <p:spPr>
          <a:xfrm>
            <a:off x="3303119" y="4815914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endParaRPr lang="zh-CN" altLang="en-US" sz="4000" b="1" dirty="0"/>
          </a:p>
        </p:txBody>
      </p:sp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9D8B13BD-76D7-C4D2-A669-C3DE804DA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16233"/>
              </p:ext>
            </p:extLst>
          </p:nvPr>
        </p:nvGraphicFramePr>
        <p:xfrm>
          <a:off x="5412058" y="4345759"/>
          <a:ext cx="2308688" cy="1566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11200" imgH="482600" progId="Equation.3">
                  <p:embed/>
                </p:oleObj>
              </mc:Choice>
              <mc:Fallback>
                <p:oleObj name="公式" r:id="rId7" imgW="711200" imgH="482600" progId="Equation.3">
                  <p:embed/>
                  <p:pic>
                    <p:nvPicPr>
                      <p:cNvPr id="23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2058" y="4345759"/>
                        <a:ext cx="2308688" cy="1566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578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559328C-6479-BD89-7216-B79F84E69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06343948"/>
                  </p:ext>
                </p:extLst>
              </p:nvPr>
            </p:nvGraphicFramePr>
            <p:xfrm>
              <a:off x="124691" y="138545"/>
              <a:ext cx="8853054" cy="65531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E559328C-6479-BD89-7216-B79F84E69F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691" y="138545"/>
                <a:ext cx="8853054" cy="65531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974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Binary Representation</a:t>
            </a:r>
            <a:endParaRPr kumimoji="1"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E8293B-C8BD-3E7A-3180-183E933978C4}"/>
              </a:ext>
            </a:extLst>
          </p:cNvPr>
          <p:cNvSpPr/>
          <p:nvPr/>
        </p:nvSpPr>
        <p:spPr>
          <a:xfrm>
            <a:off x="612716" y="2258293"/>
            <a:ext cx="8229600" cy="42547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组 42">
            <a:extLst>
              <a:ext uri="{FF2B5EF4-FFF2-40B4-BE49-F238E27FC236}">
                <a16:creationId xmlns:a16="http://schemas.microsoft.com/office/drawing/2014/main" id="{8EA68BA3-E57C-BAA6-9457-F98EC87F2EA6}"/>
              </a:ext>
            </a:extLst>
          </p:cNvPr>
          <p:cNvGrpSpPr/>
          <p:nvPr/>
        </p:nvGrpSpPr>
        <p:grpSpPr>
          <a:xfrm>
            <a:off x="1361494" y="2816277"/>
            <a:ext cx="4043019" cy="3661790"/>
            <a:chOff x="2138706" y="1410251"/>
            <a:chExt cx="3625608" cy="3270618"/>
          </a:xfrm>
        </p:grpSpPr>
        <p:grpSp>
          <p:nvGrpSpPr>
            <p:cNvPr id="6" name="组 24">
              <a:extLst>
                <a:ext uri="{FF2B5EF4-FFF2-40B4-BE49-F238E27FC236}">
                  <a16:creationId xmlns:a16="http://schemas.microsoft.com/office/drawing/2014/main" id="{AB7250FE-A916-151C-01EA-C18599FCD19F}"/>
                </a:ext>
              </a:extLst>
            </p:cNvPr>
            <p:cNvGrpSpPr/>
            <p:nvPr/>
          </p:nvGrpSpPr>
          <p:grpSpPr>
            <a:xfrm>
              <a:off x="2138706" y="3032934"/>
              <a:ext cx="3625608" cy="577411"/>
              <a:chOff x="2068793" y="3495323"/>
              <a:chExt cx="3625608" cy="577411"/>
            </a:xfrm>
          </p:grpSpPr>
          <p:graphicFrame>
            <p:nvGraphicFramePr>
              <p:cNvPr id="21" name="对象 25">
                <a:extLst>
                  <a:ext uri="{FF2B5EF4-FFF2-40B4-BE49-F238E27FC236}">
                    <a16:creationId xmlns:a16="http://schemas.microsoft.com/office/drawing/2014/main" id="{F8B940E6-B993-EA68-569D-EA4199BE89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8793" y="3495323"/>
              <a:ext cx="1955942" cy="577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774700" imgH="228600" progId="Equation.3">
                      <p:embed/>
                    </p:oleObj>
                  </mc:Choice>
                  <mc:Fallback>
                    <p:oleObj name="公式" r:id="rId2" imgW="774700" imgH="228600" progId="Equation.3">
                      <p:embed/>
                      <p:pic>
                        <p:nvPicPr>
                          <p:cNvPr id="23" name="对象 25">
                            <a:extLst>
                              <a:ext uri="{FF2B5EF4-FFF2-40B4-BE49-F238E27FC236}">
                                <a16:creationId xmlns:a16="http://schemas.microsoft.com/office/drawing/2014/main" id="{01A1BAEA-BDCD-6DC2-5153-FE33EAEF9CE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068793" y="3495323"/>
                            <a:ext cx="1955942" cy="57741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6">
                <a:extLst>
                  <a:ext uri="{FF2B5EF4-FFF2-40B4-BE49-F238E27FC236}">
                    <a16:creationId xmlns:a16="http://schemas.microsoft.com/office/drawing/2014/main" id="{B297A58F-E251-3480-8C4A-AC73296CED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2530" y="3499624"/>
              <a:ext cx="1641871" cy="5285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711200" imgH="228600" progId="Equation.3">
                      <p:embed/>
                    </p:oleObj>
                  </mc:Choice>
                  <mc:Fallback>
                    <p:oleObj name="公式" r:id="rId4" imgW="711200" imgH="228600" progId="Equation.3">
                      <p:embed/>
                      <p:pic>
                        <p:nvPicPr>
                          <p:cNvPr id="24" name="对象 26">
                            <a:extLst>
                              <a:ext uri="{FF2B5EF4-FFF2-40B4-BE49-F238E27FC236}">
                                <a16:creationId xmlns:a16="http://schemas.microsoft.com/office/drawing/2014/main" id="{0EF3C58C-F3B2-24E3-91AC-E845D99B97B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052530" y="3499624"/>
                            <a:ext cx="1641871" cy="52857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C3070415-91CD-D203-9328-6BCAB31C8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216" y="1613362"/>
              <a:ext cx="1720697" cy="139795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8" name="矩形 28">
              <a:extLst>
                <a:ext uri="{FF2B5EF4-FFF2-40B4-BE49-F238E27FC236}">
                  <a16:creationId xmlns:a16="http://schemas.microsoft.com/office/drawing/2014/main" id="{AFC50870-A24C-9E99-4921-3DC0A783D97E}"/>
                </a:ext>
              </a:extLst>
            </p:cNvPr>
            <p:cNvSpPr/>
            <p:nvPr/>
          </p:nvSpPr>
          <p:spPr>
            <a:xfrm>
              <a:off x="4029262" y="1410251"/>
              <a:ext cx="378351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</a:t>
              </a:r>
              <a:endParaRPr lang="zh-CN" altLang="en-US" sz="1350" dirty="0">
                <a:latin typeface="Arial"/>
                <a:cs typeface="Arial"/>
              </a:endParaRPr>
            </a:p>
          </p:txBody>
        </p: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085C134F-EA2B-9754-7968-FBE635D41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557" y="2037156"/>
              <a:ext cx="1400357" cy="974164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0" name="矩形 30">
              <a:extLst>
                <a:ext uri="{FF2B5EF4-FFF2-40B4-BE49-F238E27FC236}">
                  <a16:creationId xmlns:a16="http://schemas.microsoft.com/office/drawing/2014/main" id="{C8D24BDD-E8B9-72F0-8635-8187CFB8E161}"/>
                </a:ext>
              </a:extLst>
            </p:cNvPr>
            <p:cNvSpPr/>
            <p:nvPr/>
          </p:nvSpPr>
          <p:spPr>
            <a:xfrm>
              <a:off x="4029061" y="1829606"/>
              <a:ext cx="514915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r>
                <a:rPr lang="en-US" altLang="zh-CN" sz="2000" baseline="30000" dirty="0">
                  <a:latin typeface="Arial"/>
                  <a:cs typeface="Arial"/>
                </a:rPr>
                <a:t>p-1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1" name="Freeform 104">
              <a:extLst>
                <a:ext uri="{FF2B5EF4-FFF2-40B4-BE49-F238E27FC236}">
                  <a16:creationId xmlns:a16="http://schemas.microsoft.com/office/drawing/2014/main" id="{FB33AAAB-05B3-8031-20C4-D69696109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791" y="2577530"/>
              <a:ext cx="483125" cy="43378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2" name="矩形 33">
              <a:extLst>
                <a:ext uri="{FF2B5EF4-FFF2-40B4-BE49-F238E27FC236}">
                  <a16:creationId xmlns:a16="http://schemas.microsoft.com/office/drawing/2014/main" id="{BE195A72-934B-FA3A-B801-40F48DAFFFE1}"/>
                </a:ext>
              </a:extLst>
            </p:cNvPr>
            <p:cNvSpPr/>
            <p:nvPr/>
          </p:nvSpPr>
          <p:spPr>
            <a:xfrm>
              <a:off x="4029262" y="2353552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3" name="Freeform 104">
              <a:extLst>
                <a:ext uri="{FF2B5EF4-FFF2-40B4-BE49-F238E27FC236}">
                  <a16:creationId xmlns:a16="http://schemas.microsoft.com/office/drawing/2014/main" id="{AF31702A-7933-43C3-F7D5-8E44FFC18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868" y="2784561"/>
              <a:ext cx="194046" cy="213356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4" name="矩形 35">
              <a:extLst>
                <a:ext uri="{FF2B5EF4-FFF2-40B4-BE49-F238E27FC236}">
                  <a16:creationId xmlns:a16="http://schemas.microsoft.com/office/drawing/2014/main" id="{2CBB6FB4-8D2E-8842-A416-C54247BF30BF}"/>
                </a:ext>
              </a:extLst>
            </p:cNvPr>
            <p:cNvSpPr/>
            <p:nvPr/>
          </p:nvSpPr>
          <p:spPr>
            <a:xfrm>
              <a:off x="4018745" y="2611856"/>
              <a:ext cx="293539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5" name="Freeform 104">
              <a:extLst>
                <a:ext uri="{FF2B5EF4-FFF2-40B4-BE49-F238E27FC236}">
                  <a16:creationId xmlns:a16="http://schemas.microsoft.com/office/drawing/2014/main" id="{26447B85-1353-768E-46A4-ADBA730B4CB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94648" y="3503664"/>
              <a:ext cx="231426" cy="213359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6" name="矩形 37">
              <a:extLst>
                <a:ext uri="{FF2B5EF4-FFF2-40B4-BE49-F238E27FC236}">
                  <a16:creationId xmlns:a16="http://schemas.microsoft.com/office/drawing/2014/main" id="{22B2075D-9CE0-BC6C-A208-595FD529934A}"/>
                </a:ext>
              </a:extLst>
            </p:cNvPr>
            <p:cNvSpPr/>
            <p:nvPr/>
          </p:nvSpPr>
          <p:spPr>
            <a:xfrm>
              <a:off x="3600331" y="3505204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7" name="矩形 38">
              <a:extLst>
                <a:ext uri="{FF2B5EF4-FFF2-40B4-BE49-F238E27FC236}">
                  <a16:creationId xmlns:a16="http://schemas.microsoft.com/office/drawing/2014/main" id="{0899AA18-9196-0716-2212-7FB06BCDD5FB}"/>
                </a:ext>
              </a:extLst>
            </p:cNvPr>
            <p:cNvSpPr/>
            <p:nvPr/>
          </p:nvSpPr>
          <p:spPr>
            <a:xfrm>
              <a:off x="3603673" y="3794441"/>
              <a:ext cx="484727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1/4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  <p:sp>
          <p:nvSpPr>
            <p:cNvPr id="18" name="Freeform 104">
              <a:extLst>
                <a:ext uri="{FF2B5EF4-FFF2-40B4-BE49-F238E27FC236}">
                  <a16:creationId xmlns:a16="http://schemas.microsoft.com/office/drawing/2014/main" id="{95960C11-E8AE-A8D0-34C6-3A659BA49F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66461" y="3523069"/>
              <a:ext cx="600033" cy="447327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19" name="Freeform 104">
              <a:extLst>
                <a:ext uri="{FF2B5EF4-FFF2-40B4-BE49-F238E27FC236}">
                  <a16:creationId xmlns:a16="http://schemas.microsoft.com/office/drawing/2014/main" id="{74C0C6BD-1C81-DCDD-A4A9-8BA1C559EEE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17326" y="3666072"/>
              <a:ext cx="1338089" cy="842095"/>
            </a:xfrm>
            <a:custGeom>
              <a:avLst/>
              <a:gdLst/>
              <a:ahLst/>
              <a:cxnLst>
                <a:cxn ang="0">
                  <a:pos x="21600" y="0"/>
                </a:cxn>
                <a:cxn ang="0">
                  <a:pos x="0" y="0"/>
                </a:cxn>
                <a:cxn ang="0">
                  <a:pos x="0" y="21600"/>
                </a:cxn>
              </a:cxnLst>
              <a:rect l="0" t="0" r="r" b="b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350"/>
            </a:p>
          </p:txBody>
        </p:sp>
        <p:sp>
          <p:nvSpPr>
            <p:cNvPr id="20" name="矩形 41">
              <a:extLst>
                <a:ext uri="{FF2B5EF4-FFF2-40B4-BE49-F238E27FC236}">
                  <a16:creationId xmlns:a16="http://schemas.microsoft.com/office/drawing/2014/main" id="{4F2CCBF3-1371-96BE-23F9-8A7BABD2344C}"/>
                </a:ext>
              </a:extLst>
            </p:cNvPr>
            <p:cNvSpPr/>
            <p:nvPr/>
          </p:nvSpPr>
          <p:spPr>
            <a:xfrm>
              <a:off x="3603035" y="4323501"/>
              <a:ext cx="569540" cy="357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Arial"/>
                  <a:cs typeface="Arial"/>
                </a:rPr>
                <a:t>1/2</a:t>
              </a:r>
              <a:r>
                <a:rPr lang="en-US" altLang="zh-CN" sz="2000" baseline="30000" dirty="0">
                  <a:latin typeface="Arial"/>
                  <a:cs typeface="Arial"/>
                </a:rPr>
                <a:t>q</a:t>
              </a:r>
              <a:endParaRPr lang="zh-CN" altLang="en-US" sz="2000" dirty="0">
                <a:latin typeface="Arial"/>
                <a:cs typeface="Arial"/>
              </a:endParaRPr>
            </a:p>
          </p:txBody>
        </p:sp>
      </p:grpSp>
      <p:sp>
        <p:nvSpPr>
          <p:cNvPr id="23" name="矩形 44">
            <a:extLst>
              <a:ext uri="{FF2B5EF4-FFF2-40B4-BE49-F238E27FC236}">
                <a16:creationId xmlns:a16="http://schemas.microsoft.com/office/drawing/2014/main" id="{D479E1E1-9AC2-5B0E-118E-09D550048298}"/>
              </a:ext>
            </a:extLst>
          </p:cNvPr>
          <p:cNvSpPr/>
          <p:nvPr/>
        </p:nvSpPr>
        <p:spPr>
          <a:xfrm>
            <a:off x="3303119" y="4566534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  <a:endParaRPr lang="zh-CN" altLang="en-US" sz="4000" b="1" dirty="0"/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20843FD1-39CE-D3C2-E82E-6D50DD4EA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035833"/>
              </p:ext>
            </p:extLst>
          </p:nvPr>
        </p:nvGraphicFramePr>
        <p:xfrm>
          <a:off x="5412058" y="4096379"/>
          <a:ext cx="2308688" cy="1566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200" imgH="482600" progId="Equation.3">
                  <p:embed/>
                </p:oleObj>
              </mc:Choice>
              <mc:Fallback>
                <p:oleObj name="公式" r:id="rId6" imgW="711200" imgH="482600" progId="Equation.3">
                  <p:embed/>
                  <p:pic>
                    <p:nvPicPr>
                      <p:cNvPr id="26" name="Object 3">
                        <a:extLst>
                          <a:ext uri="{FF2B5EF4-FFF2-40B4-BE49-F238E27FC236}">
                            <a16:creationId xmlns:a16="http://schemas.microsoft.com/office/drawing/2014/main" id="{9D8B13BD-76D7-C4D2-A669-C3DE804DA9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12058" y="4096379"/>
                        <a:ext cx="2308688" cy="1566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277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5363-D944-4EB1-AE1B-119CEBE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5A25A-E0F7-4A14-BE1C-DEB1644CC471}"/>
              </a:ext>
            </a:extLst>
          </p:cNvPr>
          <p:cNvSpPr txBox="1"/>
          <p:nvPr/>
        </p:nvSpPr>
        <p:spPr>
          <a:xfrm>
            <a:off x="1842654" y="3013502"/>
            <a:ext cx="63869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What’s the decimal value of (10.01)</a:t>
            </a:r>
            <a:r>
              <a:rPr lang="en-US" sz="2100" baseline="-25000" dirty="0"/>
              <a:t>2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F32E07ED-1002-45DC-AB08-153A6F81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6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5363-D944-4EB1-AE1B-119CEBE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5A25A-E0F7-4A14-BE1C-DEB1644CC471}"/>
              </a:ext>
            </a:extLst>
          </p:cNvPr>
          <p:cNvSpPr txBox="1"/>
          <p:nvPr/>
        </p:nvSpPr>
        <p:spPr>
          <a:xfrm>
            <a:off x="1643506" y="3243436"/>
            <a:ext cx="41497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What’s the decimal value of (10.01)</a:t>
            </a:r>
            <a:r>
              <a:rPr lang="en-US" sz="2100" baseline="-25000" dirty="0"/>
              <a:t>2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F32E07ED-1002-45DC-AB08-153A6F81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7C315-52A7-475C-A3D5-9E2AF28C8969}"/>
              </a:ext>
            </a:extLst>
          </p:cNvPr>
          <p:cNvSpPr txBox="1"/>
          <p:nvPr/>
        </p:nvSpPr>
        <p:spPr>
          <a:xfrm>
            <a:off x="1643505" y="3659376"/>
            <a:ext cx="161403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Answer: 2.25</a:t>
            </a:r>
            <a:endParaRPr lang="en-US" sz="2100" baseline="-25000" dirty="0"/>
          </a:p>
        </p:txBody>
      </p:sp>
    </p:spTree>
    <p:extLst>
      <p:ext uri="{BB962C8B-B14F-4D97-AF65-F5344CB8AC3E}">
        <p14:creationId xmlns:p14="http://schemas.microsoft.com/office/powerpoint/2010/main" val="68285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1" y="278562"/>
            <a:ext cx="9091062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How to make the representation fixed width?</a:t>
            </a:r>
            <a:br>
              <a:rPr kumimoji="1" lang="en-US" altLang="zh-CN" dirty="0"/>
            </a:br>
            <a:r>
              <a:rPr kumimoji="1" lang="en-US" altLang="zh-CN" dirty="0"/>
              <a:t>Strawman: fixed point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31262"/>
              </p:ext>
            </p:extLst>
          </p:nvPr>
        </p:nvGraphicFramePr>
        <p:xfrm>
          <a:off x="2203613" y="26902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74377" y="3477377"/>
            <a:ext cx="7104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cs typeface="Verdana"/>
              </a:rPr>
              <a:t>sign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" name="左大括号 5"/>
          <p:cNvSpPr/>
          <p:nvPr/>
        </p:nvSpPr>
        <p:spPr>
          <a:xfrm rot="5400000" flipV="1">
            <a:off x="3300560" y="1874256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矩形 6"/>
          <p:cNvSpPr/>
          <p:nvPr/>
        </p:nvSpPr>
        <p:spPr>
          <a:xfrm>
            <a:off x="2911991" y="2051183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916909" y="2993016"/>
            <a:ext cx="272340" cy="23604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54F28E-42CC-47D3-A22A-89AAB02554AA}"/>
              </a:ext>
            </a:extLst>
          </p:cNvPr>
          <p:cNvGrpSpPr/>
          <p:nvPr/>
        </p:nvGrpSpPr>
        <p:grpSpPr>
          <a:xfrm>
            <a:off x="2433632" y="3297845"/>
            <a:ext cx="3374751" cy="788625"/>
            <a:chOff x="3838289" y="3394129"/>
            <a:chExt cx="3230459" cy="563922"/>
          </a:xfrm>
        </p:grpSpPr>
        <p:cxnSp>
          <p:nvCxnSpPr>
            <p:cNvPr id="9" name="Straight Arrow Connector 6"/>
            <p:cNvCxnSpPr>
              <a:cxnSpLocks/>
              <a:stCxn id="10" idx="0"/>
            </p:cNvCxnSpPr>
            <p:nvPr/>
          </p:nvCxnSpPr>
          <p:spPr>
            <a:xfrm flipH="1" flipV="1">
              <a:off x="5453518" y="3394129"/>
              <a:ext cx="1" cy="2998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3838289" y="3693953"/>
              <a:ext cx="3230459" cy="2640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Verdana"/>
                  <a:cs typeface="Verdana"/>
                </a:rPr>
                <a:t>Fixed position </a:t>
              </a:r>
              <a:r>
                <a:rPr lang="en-US" altLang="zh-CN" i="1" dirty="0">
                  <a:latin typeface="Verdana"/>
                  <a:cs typeface="Verdana"/>
                </a:rPr>
                <a:t>e.g. middle</a:t>
              </a:r>
              <a:endParaRPr lang="zh-CN" altLang="en-US" i="1" dirty="0">
                <a:latin typeface="Verdana"/>
                <a:cs typeface="Verdana"/>
              </a:endParaRPr>
            </a:p>
          </p:txBody>
        </p:sp>
      </p:grpSp>
      <p:sp>
        <p:nvSpPr>
          <p:cNvPr id="12" name="左大括号 11"/>
          <p:cNvSpPr/>
          <p:nvPr/>
        </p:nvSpPr>
        <p:spPr>
          <a:xfrm rot="5400000" flipV="1">
            <a:off x="4889202" y="1695715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3" name="矩形 12"/>
          <p:cNvSpPr/>
          <p:nvPr/>
        </p:nvSpPr>
        <p:spPr>
          <a:xfrm>
            <a:off x="4552430" y="2082250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AF4CD232-8E68-7D4E-BB2B-0D48274F7750}"/>
              </a:ext>
            </a:extLst>
          </p:cNvPr>
          <p:cNvCxnSpPr>
            <a:cxnSpLocks/>
          </p:cNvCxnSpPr>
          <p:nvPr/>
        </p:nvCxnSpPr>
        <p:spPr>
          <a:xfrm flipV="1">
            <a:off x="2433632" y="3156392"/>
            <a:ext cx="0" cy="299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3">
            <a:extLst>
              <a:ext uri="{FF2B5EF4-FFF2-40B4-BE49-F238E27FC236}">
                <a16:creationId xmlns:a16="http://schemas.microsoft.com/office/drawing/2014/main" id="{1AAF2F82-55DE-A507-386E-6F32B14B9E03}"/>
              </a:ext>
            </a:extLst>
          </p:cNvPr>
          <p:cNvSpPr/>
          <p:nvPr/>
        </p:nvSpPr>
        <p:spPr>
          <a:xfrm>
            <a:off x="1515893" y="4422126"/>
            <a:ext cx="33203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cs typeface="Verdana"/>
              </a:rPr>
              <a:t>Example: ( 10.011 )</a:t>
            </a:r>
            <a:r>
              <a:rPr lang="en-US" altLang="zh-CN" sz="2800" baseline="-25000" dirty="0">
                <a:cs typeface="Verdana"/>
              </a:rPr>
              <a:t>2</a:t>
            </a:r>
            <a:endParaRPr lang="zh-CN" altLang="en-US" sz="2800" baseline="-25000" dirty="0"/>
          </a:p>
        </p:txBody>
      </p: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C6FAA33A-5705-F34B-7BE6-92B5A122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41471"/>
              </p:ext>
            </p:extLst>
          </p:nvPr>
        </p:nvGraphicFramePr>
        <p:xfrm>
          <a:off x="2203613" y="5141182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26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of Fixed Point</a:t>
            </a:r>
            <a:endParaRPr kumimoji="1"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DB5DAC-CB77-4CFA-A149-3A5AEF5B6A6E}"/>
              </a:ext>
            </a:extLst>
          </p:cNvPr>
          <p:cNvSpPr txBox="1"/>
          <p:nvPr/>
        </p:nvSpPr>
        <p:spPr>
          <a:xfrm>
            <a:off x="1234834" y="2495628"/>
            <a:ext cx="1458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Range?</a:t>
            </a:r>
          </a:p>
          <a:p>
            <a:r>
              <a:rPr lang="en-US" sz="2400" dirty="0"/>
              <a:t>Precision?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CA387B-867B-4232-A54B-E9069143E88D}"/>
              </a:ext>
            </a:extLst>
          </p:cNvPr>
          <p:cNvGrpSpPr/>
          <p:nvPr/>
        </p:nvGrpSpPr>
        <p:grpSpPr>
          <a:xfrm>
            <a:off x="909720" y="4831058"/>
            <a:ext cx="7647426" cy="567903"/>
            <a:chOff x="706698" y="4860173"/>
            <a:chExt cx="7980102" cy="757204"/>
          </a:xfrm>
        </p:grpSpPr>
        <p:cxnSp>
          <p:nvCxnSpPr>
            <p:cNvPr id="22" name="直线连接符 4">
              <a:extLst>
                <a:ext uri="{FF2B5EF4-FFF2-40B4-BE49-F238E27FC236}">
                  <a16:creationId xmlns:a16="http://schemas.microsoft.com/office/drawing/2014/main" id="{EEF478B0-4228-4313-B228-A5386DF351FD}"/>
                </a:ext>
              </a:extLst>
            </p:cNvPr>
            <p:cNvCxnSpPr/>
            <p:nvPr/>
          </p:nvCxnSpPr>
          <p:spPr>
            <a:xfrm flipV="1">
              <a:off x="1011000" y="4940267"/>
              <a:ext cx="7276302" cy="45768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12">
              <a:extLst>
                <a:ext uri="{FF2B5EF4-FFF2-40B4-BE49-F238E27FC236}">
                  <a16:creationId xmlns:a16="http://schemas.microsoft.com/office/drawing/2014/main" id="{2E4CD893-C331-4E9F-A805-2B837DF4EDF0}"/>
                </a:ext>
              </a:extLst>
            </p:cNvPr>
            <p:cNvGrpSpPr/>
            <p:nvPr/>
          </p:nvGrpSpPr>
          <p:grpSpPr>
            <a:xfrm>
              <a:off x="706698" y="5006887"/>
              <a:ext cx="574281" cy="492442"/>
              <a:chOff x="599515" y="3167381"/>
              <a:chExt cx="574281" cy="492442"/>
            </a:xfrm>
          </p:grpSpPr>
          <p:graphicFrame>
            <p:nvGraphicFramePr>
              <p:cNvPr id="29" name="对象 10">
                <a:extLst>
                  <a:ext uri="{FF2B5EF4-FFF2-40B4-BE49-F238E27FC236}">
                    <a16:creationId xmlns:a16="http://schemas.microsoft.com/office/drawing/2014/main" id="{934C78C7-72D5-486F-8388-8EE79414D1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3746" y="3270359"/>
              <a:ext cx="40005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400" imgH="127000" progId="Equation.3">
                      <p:embed/>
                    </p:oleObj>
                  </mc:Choice>
                  <mc:Fallback>
                    <p:oleObj name="公式" r:id="rId2" imgW="152400" imgH="127000" progId="Equation.3">
                      <p:embed/>
                      <p:pic>
                        <p:nvPicPr>
                          <p:cNvPr id="29" name="对象 10">
                            <a:extLst>
                              <a:ext uri="{FF2B5EF4-FFF2-40B4-BE49-F238E27FC236}">
                                <a16:creationId xmlns:a16="http://schemas.microsoft.com/office/drawing/2014/main" id="{934C78C7-72D5-486F-8388-8EE79414D13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773746" y="3270359"/>
                            <a:ext cx="400050" cy="333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矩形 11">
                <a:extLst>
                  <a:ext uri="{FF2B5EF4-FFF2-40B4-BE49-F238E27FC236}">
                    <a16:creationId xmlns:a16="http://schemas.microsoft.com/office/drawing/2014/main" id="{45132900-A3DE-49B5-8A3A-091333C3A68F}"/>
                  </a:ext>
                </a:extLst>
              </p:cNvPr>
              <p:cNvSpPr/>
              <p:nvPr/>
            </p:nvSpPr>
            <p:spPr>
              <a:xfrm>
                <a:off x="599515" y="3167381"/>
                <a:ext cx="340264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/>
                  <a:t>-</a:t>
                </a:r>
                <a:endParaRPr lang="zh-CN" altLang="en-US" dirty="0"/>
              </a:p>
            </p:txBody>
          </p:sp>
        </p:grpSp>
        <p:grpSp>
          <p:nvGrpSpPr>
            <p:cNvPr id="24" name="组 16">
              <a:extLst>
                <a:ext uri="{FF2B5EF4-FFF2-40B4-BE49-F238E27FC236}">
                  <a16:creationId xmlns:a16="http://schemas.microsoft.com/office/drawing/2014/main" id="{C7367194-86D1-46BF-99B0-A4D19ECF7D63}"/>
                </a:ext>
              </a:extLst>
            </p:cNvPr>
            <p:cNvGrpSpPr/>
            <p:nvPr/>
          </p:nvGrpSpPr>
          <p:grpSpPr>
            <a:xfrm>
              <a:off x="8078196" y="4940267"/>
              <a:ext cx="608604" cy="492442"/>
              <a:chOff x="7971013" y="3100761"/>
              <a:chExt cx="608604" cy="492442"/>
            </a:xfrm>
          </p:grpSpPr>
          <p:graphicFrame>
            <p:nvGraphicFramePr>
              <p:cNvPr id="27" name="对象 14">
                <a:extLst>
                  <a:ext uri="{FF2B5EF4-FFF2-40B4-BE49-F238E27FC236}">
                    <a16:creationId xmlns:a16="http://schemas.microsoft.com/office/drawing/2014/main" id="{68A1E156-3B35-4793-98A5-BD82DCAEE1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79567" y="3203739"/>
              <a:ext cx="40005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400" imgH="127000" progId="Equation.3">
                      <p:embed/>
                    </p:oleObj>
                  </mc:Choice>
                  <mc:Fallback>
                    <p:oleObj name="公式" r:id="rId2" imgW="152400" imgH="127000" progId="Equation.3">
                      <p:embed/>
                      <p:pic>
                        <p:nvPicPr>
                          <p:cNvPr id="27" name="对象 14">
                            <a:extLst>
                              <a:ext uri="{FF2B5EF4-FFF2-40B4-BE49-F238E27FC236}">
                                <a16:creationId xmlns:a16="http://schemas.microsoft.com/office/drawing/2014/main" id="{68A1E156-3B35-4793-98A5-BD82DCAEE1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8179567" y="3203739"/>
                            <a:ext cx="400050" cy="333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矩形 15">
                <a:extLst>
                  <a:ext uri="{FF2B5EF4-FFF2-40B4-BE49-F238E27FC236}">
                    <a16:creationId xmlns:a16="http://schemas.microsoft.com/office/drawing/2014/main" id="{658683F7-721B-4D47-A73B-38A4A185D388}"/>
                  </a:ext>
                </a:extLst>
              </p:cNvPr>
              <p:cNvSpPr/>
              <p:nvPr/>
            </p:nvSpPr>
            <p:spPr>
              <a:xfrm>
                <a:off x="7971013" y="3100761"/>
                <a:ext cx="400109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/>
                  <a:t>+</a:t>
                </a:r>
                <a:endParaRPr lang="zh-CN" altLang="en-US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B587F9-05E5-4AD7-AFA9-425D81BBF5E0}"/>
                </a:ext>
              </a:extLst>
            </p:cNvPr>
            <p:cNvSpPr txBox="1"/>
            <p:nvPr/>
          </p:nvSpPr>
          <p:spPr>
            <a:xfrm>
              <a:off x="4368256" y="5217267"/>
              <a:ext cx="363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  <p:cxnSp>
          <p:nvCxnSpPr>
            <p:cNvPr id="26" name="直线连接符 22">
              <a:extLst>
                <a:ext uri="{FF2B5EF4-FFF2-40B4-BE49-F238E27FC236}">
                  <a16:creationId xmlns:a16="http://schemas.microsoft.com/office/drawing/2014/main" id="{0790FDC4-2345-48FA-A803-B8F2484F6149}"/>
                </a:ext>
              </a:extLst>
            </p:cNvPr>
            <p:cNvCxnSpPr/>
            <p:nvPr/>
          </p:nvCxnSpPr>
          <p:spPr>
            <a:xfrm flipV="1">
              <a:off x="4519087" y="4860173"/>
              <a:ext cx="0" cy="16018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F2EDB3C-B7AB-6537-2626-C7F64BFDF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282464"/>
              </p:ext>
            </p:extLst>
          </p:nvPr>
        </p:nvGraphicFramePr>
        <p:xfrm>
          <a:off x="2541177" y="2098073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左大括号 5">
            <a:extLst>
              <a:ext uri="{FF2B5EF4-FFF2-40B4-BE49-F238E27FC236}">
                <a16:creationId xmlns:a16="http://schemas.microsoft.com/office/drawing/2014/main" id="{80A16186-EBF8-6B03-5BAD-08A4B9F091A6}"/>
              </a:ext>
            </a:extLst>
          </p:cNvPr>
          <p:cNvSpPr/>
          <p:nvPr/>
        </p:nvSpPr>
        <p:spPr>
          <a:xfrm rot="5400000" flipV="1">
            <a:off x="3638124" y="1282112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C8BE49BB-E038-8F04-0A57-CF6958700721}"/>
              </a:ext>
            </a:extLst>
          </p:cNvPr>
          <p:cNvSpPr/>
          <p:nvPr/>
        </p:nvSpPr>
        <p:spPr>
          <a:xfrm>
            <a:off x="3249555" y="1459039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6" name="椭圆 7">
            <a:extLst>
              <a:ext uri="{FF2B5EF4-FFF2-40B4-BE49-F238E27FC236}">
                <a16:creationId xmlns:a16="http://schemas.microsoft.com/office/drawing/2014/main" id="{9AD24CFC-1E6E-8714-ED01-B241AC9DF678}"/>
              </a:ext>
            </a:extLst>
          </p:cNvPr>
          <p:cNvSpPr/>
          <p:nvPr/>
        </p:nvSpPr>
        <p:spPr>
          <a:xfrm>
            <a:off x="4295833" y="2405932"/>
            <a:ext cx="231592" cy="19849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8" name="左大括号 11">
            <a:extLst>
              <a:ext uri="{FF2B5EF4-FFF2-40B4-BE49-F238E27FC236}">
                <a16:creationId xmlns:a16="http://schemas.microsoft.com/office/drawing/2014/main" id="{51C93BF9-2670-2EBE-791D-F6DECDEA9E52}"/>
              </a:ext>
            </a:extLst>
          </p:cNvPr>
          <p:cNvSpPr/>
          <p:nvPr/>
        </p:nvSpPr>
        <p:spPr>
          <a:xfrm rot="5400000" flipV="1">
            <a:off x="5226766" y="1103571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矩形 12">
            <a:extLst>
              <a:ext uri="{FF2B5EF4-FFF2-40B4-BE49-F238E27FC236}">
                <a16:creationId xmlns:a16="http://schemas.microsoft.com/office/drawing/2014/main" id="{0A09D70B-9021-633E-BBA9-7975A32FD566}"/>
              </a:ext>
            </a:extLst>
          </p:cNvPr>
          <p:cNvSpPr/>
          <p:nvPr/>
        </p:nvSpPr>
        <p:spPr>
          <a:xfrm>
            <a:off x="4889994" y="1490106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9393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of Fixed Point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3298" y="3522993"/>
            <a:ext cx="7382653" cy="2222714"/>
          </a:xfrm>
        </p:spPr>
        <p:txBody>
          <a:bodyPr>
            <a:normAutofit/>
          </a:bodyPr>
          <a:lstStyle/>
          <a:p>
            <a:pPr marL="342900" lvl="1" indent="-342900"/>
            <a:r>
              <a:rPr kumimoji="1" lang="en-US" altLang="zh-CN" sz="2800" dirty="0">
                <a:cs typeface="Verdana"/>
              </a:rPr>
              <a:t>Limited range </a:t>
            </a:r>
            <a:r>
              <a:rPr lang="en-US" altLang="zh-CN" sz="2800" dirty="0"/>
              <a:t>[-2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,2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 ]</a:t>
            </a:r>
            <a:endParaRPr kumimoji="1" lang="en-US" altLang="zh-CN" sz="2800" dirty="0">
              <a:cs typeface="Verdana"/>
            </a:endParaRPr>
          </a:p>
          <a:p>
            <a:pPr marL="342900" lvl="1" indent="-342900"/>
            <a:r>
              <a:rPr kumimoji="1" lang="en-US" altLang="zh-CN" sz="2800" dirty="0">
                <a:cs typeface="Verdana"/>
              </a:rPr>
              <a:t>Limited precision </a:t>
            </a:r>
            <a:r>
              <a:rPr kumimoji="1" lang="en-US" altLang="zh-CN" sz="2800" dirty="0"/>
              <a:t>2</a:t>
            </a:r>
            <a:r>
              <a:rPr lang="en-US" altLang="zh-CN" sz="2800" baseline="30000" dirty="0"/>
              <a:t>-4</a:t>
            </a:r>
            <a:endParaRPr kumimoji="1" lang="en-US" altLang="zh-CN" sz="2800" dirty="0">
              <a:cs typeface="Verdana"/>
            </a:endParaRPr>
          </a:p>
          <a:p>
            <a:pPr marL="342900" lvl="1" indent="-342900"/>
            <a:r>
              <a:rPr kumimoji="1" lang="en-US" altLang="zh-CN" sz="2800" dirty="0">
                <a:cs typeface="Verdana"/>
              </a:rPr>
              <a:t>Equivalent to integer with a scaling factor</a:t>
            </a:r>
            <a:endParaRPr lang="en-US" altLang="zh-CN" dirty="0"/>
          </a:p>
          <a:p>
            <a:pPr>
              <a:buFont typeface="Wingdings" charset="0"/>
              <a:buChar char="à"/>
            </a:pPr>
            <a:endParaRPr kumimoji="1" lang="en-US" altLang="zh-CN" dirty="0">
              <a:sym typeface="Wingdings"/>
            </a:endParaRP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12" name="表格 3">
            <a:extLst>
              <a:ext uri="{FF2B5EF4-FFF2-40B4-BE49-F238E27FC236}">
                <a16:creationId xmlns:a16="http://schemas.microsoft.com/office/drawing/2014/main" id="{7F46A9E2-150E-FF4A-566D-44F163ACC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63489"/>
              </p:ext>
            </p:extLst>
          </p:nvPr>
        </p:nvGraphicFramePr>
        <p:xfrm>
          <a:off x="2162670" y="2157955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左大括号 5">
            <a:extLst>
              <a:ext uri="{FF2B5EF4-FFF2-40B4-BE49-F238E27FC236}">
                <a16:creationId xmlns:a16="http://schemas.microsoft.com/office/drawing/2014/main" id="{BB2C2F0B-BA57-2321-5C8C-1F9C8A60BC52}"/>
              </a:ext>
            </a:extLst>
          </p:cNvPr>
          <p:cNvSpPr/>
          <p:nvPr/>
        </p:nvSpPr>
        <p:spPr>
          <a:xfrm rot="5400000" flipV="1">
            <a:off x="3259617" y="1341994"/>
            <a:ext cx="112296" cy="125431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id="{E13E8796-17D3-9989-9AF9-6E6D2DADECDD}"/>
              </a:ext>
            </a:extLst>
          </p:cNvPr>
          <p:cNvSpPr/>
          <p:nvPr/>
        </p:nvSpPr>
        <p:spPr>
          <a:xfrm>
            <a:off x="2871048" y="1518921"/>
            <a:ext cx="7296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3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  <p:sp>
        <p:nvSpPr>
          <p:cNvPr id="18" name="椭圆 7">
            <a:extLst>
              <a:ext uri="{FF2B5EF4-FFF2-40B4-BE49-F238E27FC236}">
                <a16:creationId xmlns:a16="http://schemas.microsoft.com/office/drawing/2014/main" id="{F3679E56-6D15-6B5F-3F6A-58A680889976}"/>
              </a:ext>
            </a:extLst>
          </p:cNvPr>
          <p:cNvSpPr/>
          <p:nvPr/>
        </p:nvSpPr>
        <p:spPr>
          <a:xfrm>
            <a:off x="3917326" y="2465814"/>
            <a:ext cx="231592" cy="19849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kumimoji="1" lang="zh-CN" altLang="en-US" sz="135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20" name="左大括号 11">
            <a:extLst>
              <a:ext uri="{FF2B5EF4-FFF2-40B4-BE49-F238E27FC236}">
                <a16:creationId xmlns:a16="http://schemas.microsoft.com/office/drawing/2014/main" id="{787DBDBF-0240-4475-B8A7-881CC1F6A745}"/>
              </a:ext>
            </a:extLst>
          </p:cNvPr>
          <p:cNvSpPr/>
          <p:nvPr/>
        </p:nvSpPr>
        <p:spPr>
          <a:xfrm rot="5400000" flipV="1">
            <a:off x="4848259" y="1163453"/>
            <a:ext cx="178287" cy="1660080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1" name="矩形 12">
            <a:extLst>
              <a:ext uri="{FF2B5EF4-FFF2-40B4-BE49-F238E27FC236}">
                <a16:creationId xmlns:a16="http://schemas.microsoft.com/office/drawing/2014/main" id="{57CFC9AE-E95C-29B6-A6BF-5FEB7DE39D8C}"/>
              </a:ext>
            </a:extLst>
          </p:cNvPr>
          <p:cNvSpPr/>
          <p:nvPr/>
        </p:nvSpPr>
        <p:spPr>
          <a:xfrm>
            <a:off x="4511487" y="1549988"/>
            <a:ext cx="9498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b="1" dirty="0">
                <a:latin typeface="Verdana"/>
                <a:cs typeface="Verdana"/>
              </a:rPr>
              <a:t>4 bits</a:t>
            </a:r>
            <a:endParaRPr lang="zh-CN" altLang="en-US" sz="135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5989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60" y="270522"/>
            <a:ext cx="86868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Floating Point is based on scientific notation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1808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Scientific notation in decimal: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78989" y="3595761"/>
            <a:ext cx="600748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10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10</a:t>
            </a: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0EEB1F4E-D02F-2B2E-25C2-94734C10761C}"/>
              </a:ext>
            </a:extLst>
          </p:cNvPr>
          <p:cNvSpPr/>
          <p:nvPr/>
        </p:nvSpPr>
        <p:spPr>
          <a:xfrm>
            <a:off x="778989" y="2232496"/>
            <a:ext cx="6007488" cy="73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365.25 = 3.6525 * 10</a:t>
            </a:r>
            <a:r>
              <a:rPr lang="en-US" altLang="zh-CN" baseline="30000" dirty="0">
                <a:latin typeface="Consolas"/>
                <a:cs typeface="Consolas"/>
              </a:rPr>
              <a:t>2</a:t>
            </a:r>
          </a:p>
          <a:p>
            <a:endParaRPr lang="en-US" altLang="zh-CN" sz="825" baseline="-25000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0.0123 = 1.23 * 10</a:t>
            </a:r>
            <a:r>
              <a:rPr lang="en-US" altLang="zh-CN" baseline="30000" dirty="0">
                <a:latin typeface="Consolas"/>
                <a:cs typeface="Consolas"/>
              </a:rPr>
              <a:t>-2</a:t>
            </a:r>
            <a:endParaRPr lang="zh-CN" altLang="en-US" baseline="30000" dirty="0"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A6B28-4C86-5E86-8923-E4008CE3592D}"/>
              </a:ext>
            </a:extLst>
          </p:cNvPr>
          <p:cNvSpPr txBox="1"/>
          <p:nvPr/>
        </p:nvSpPr>
        <p:spPr>
          <a:xfrm>
            <a:off x="778989" y="4918918"/>
            <a:ext cx="13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M: mantissa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EF7C9-628B-56A6-0BCB-46A73AA34A41}"/>
              </a:ext>
            </a:extLst>
          </p:cNvPr>
          <p:cNvSpPr txBox="1"/>
          <p:nvPr/>
        </p:nvSpPr>
        <p:spPr>
          <a:xfrm>
            <a:off x="2093180" y="4493279"/>
            <a:ext cx="13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E: exponent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AEF4108-D489-52FE-82E4-99D667C4DC70}"/>
              </a:ext>
            </a:extLst>
          </p:cNvPr>
          <p:cNvSpPr/>
          <p:nvPr/>
        </p:nvSpPr>
        <p:spPr>
          <a:xfrm>
            <a:off x="1058588" y="4039737"/>
            <a:ext cx="265245" cy="846162"/>
          </a:xfrm>
          <a:custGeom>
            <a:avLst/>
            <a:gdLst>
              <a:gd name="csX0" fmla="*/ 265245 w 265245"/>
              <a:gd name="csY0" fmla="*/ 846162 h 846162"/>
              <a:gd name="csX1" fmla="*/ 19585 w 265245"/>
              <a:gd name="csY1" fmla="*/ 464024 h 846162"/>
              <a:gd name="csX2" fmla="*/ 33233 w 265245"/>
              <a:gd name="csY2" fmla="*/ 0 h 84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5245" h="846162">
                <a:moveTo>
                  <a:pt x="265245" y="846162"/>
                </a:moveTo>
                <a:cubicBezTo>
                  <a:pt x="161749" y="725606"/>
                  <a:pt x="58254" y="605051"/>
                  <a:pt x="19585" y="464024"/>
                </a:cubicBezTo>
                <a:cubicBezTo>
                  <a:pt x="-19084" y="322997"/>
                  <a:pt x="7074" y="161498"/>
                  <a:pt x="33233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F021506-692E-09E0-99EA-83D4EA56A9B6}"/>
              </a:ext>
            </a:extLst>
          </p:cNvPr>
          <p:cNvSpPr/>
          <p:nvPr/>
        </p:nvSpPr>
        <p:spPr>
          <a:xfrm>
            <a:off x="1965278" y="3875964"/>
            <a:ext cx="286603" cy="614149"/>
          </a:xfrm>
          <a:custGeom>
            <a:avLst/>
            <a:gdLst>
              <a:gd name="csX0" fmla="*/ 286603 w 286603"/>
              <a:gd name="csY0" fmla="*/ 614149 h 614149"/>
              <a:gd name="csX1" fmla="*/ 54591 w 286603"/>
              <a:gd name="csY1" fmla="*/ 313899 h 614149"/>
              <a:gd name="csX2" fmla="*/ 0 w 286603"/>
              <a:gd name="csY2" fmla="*/ 0 h 614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6603" h="614149">
                <a:moveTo>
                  <a:pt x="286603" y="614149"/>
                </a:moveTo>
                <a:cubicBezTo>
                  <a:pt x="194480" y="515203"/>
                  <a:pt x="102358" y="416257"/>
                  <a:pt x="54591" y="313899"/>
                </a:cubicBezTo>
                <a:cubicBezTo>
                  <a:pt x="6824" y="211541"/>
                  <a:pt x="3412" y="105770"/>
                  <a:pt x="0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E14CABC-F873-E7B4-AAF3-D7E4CAB3E1F1}"/>
              </a:ext>
            </a:extLst>
          </p:cNvPr>
          <p:cNvSpPr/>
          <p:nvPr/>
        </p:nvSpPr>
        <p:spPr>
          <a:xfrm>
            <a:off x="3998794" y="3084394"/>
            <a:ext cx="1105469" cy="464024"/>
          </a:xfrm>
          <a:custGeom>
            <a:avLst/>
            <a:gdLst>
              <a:gd name="csX0" fmla="*/ 1105469 w 1105469"/>
              <a:gd name="csY0" fmla="*/ 0 h 464024"/>
              <a:gd name="csX1" fmla="*/ 259307 w 1105469"/>
              <a:gd name="csY1" fmla="*/ 191069 h 464024"/>
              <a:gd name="csX2" fmla="*/ 0 w 1105469"/>
              <a:gd name="csY2" fmla="*/ 464024 h 464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05469" h="464024">
                <a:moveTo>
                  <a:pt x="1105469" y="0"/>
                </a:moveTo>
                <a:cubicBezTo>
                  <a:pt x="774510" y="56866"/>
                  <a:pt x="443552" y="113732"/>
                  <a:pt x="259307" y="191069"/>
                </a:cubicBezTo>
                <a:cubicBezTo>
                  <a:pt x="75062" y="268406"/>
                  <a:pt x="37531" y="366215"/>
                  <a:pt x="0" y="464024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B61EFB-F2E7-89C0-BAAF-4FEF54F227C9}"/>
              </a:ext>
            </a:extLst>
          </p:cNvPr>
          <p:cNvSpPr txBox="1"/>
          <p:nvPr/>
        </p:nvSpPr>
        <p:spPr>
          <a:xfrm>
            <a:off x="5104263" y="2892907"/>
            <a:ext cx="20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 mantissa</a:t>
            </a:r>
          </a:p>
        </p:txBody>
      </p:sp>
    </p:spTree>
    <p:extLst>
      <p:ext uri="{BB962C8B-B14F-4D97-AF65-F5344CB8AC3E}">
        <p14:creationId xmlns:p14="http://schemas.microsoft.com/office/powerpoint/2010/main" val="2063857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Floating Point: binary scientific notation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Binary scientific notation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16921" y="3429000"/>
            <a:ext cx="6007488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(5.5)</a:t>
            </a:r>
            <a:r>
              <a:rPr lang="en-US" altLang="zh-CN" sz="2000" baseline="-25000" dirty="0">
                <a:latin typeface="Consolas"/>
                <a:cs typeface="Consolas"/>
              </a:rPr>
              <a:t>10</a:t>
            </a:r>
            <a:r>
              <a:rPr lang="en-US" altLang="zh-CN" sz="2000" dirty="0">
                <a:latin typeface="Consolas"/>
                <a:cs typeface="Consolas"/>
              </a:rPr>
              <a:t> = </a:t>
            </a:r>
            <a:r>
              <a:rPr lang="en-US" altLang="zh-CN" sz="2000" dirty="0">
                <a:latin typeface="Arial"/>
                <a:cs typeface="Arial"/>
              </a:rPr>
              <a:t>(101.1)</a:t>
            </a:r>
            <a:r>
              <a:rPr lang="en-US" altLang="zh-CN" sz="2000" baseline="-25000" dirty="0">
                <a:latin typeface="Arial"/>
                <a:cs typeface="Arial"/>
              </a:rPr>
              <a:t>2 </a:t>
            </a:r>
            <a:r>
              <a:rPr lang="en-US" altLang="zh-CN" sz="2000" dirty="0">
                <a:latin typeface="Arial"/>
                <a:cs typeface="Arial"/>
              </a:rPr>
              <a:t> = (1.011)</a:t>
            </a:r>
            <a:r>
              <a:rPr lang="en-US" altLang="zh-CN" sz="2000" baseline="-25000" dirty="0">
                <a:latin typeface="Arial"/>
                <a:cs typeface="Arial"/>
              </a:rPr>
              <a:t>2 </a:t>
            </a:r>
            <a:r>
              <a:rPr lang="en-US" altLang="zh-CN" sz="2000" dirty="0">
                <a:latin typeface="Arial"/>
                <a:cs typeface="Arial"/>
              </a:rPr>
              <a:t>* 2</a:t>
            </a:r>
            <a:r>
              <a:rPr lang="en-US" altLang="zh-CN" sz="2000" baseline="30000" dirty="0">
                <a:latin typeface="Arial"/>
                <a:cs typeface="Arial"/>
              </a:rPr>
              <a:t>2</a:t>
            </a:r>
            <a:endParaRPr lang="en-US" altLang="zh-CN" sz="2000" baseline="30000" dirty="0">
              <a:latin typeface="Consolas"/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0814" y="2338211"/>
            <a:ext cx="738237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endParaRPr lang="en-US" altLang="zh-CN" sz="2100" baseline="-25000" dirty="0">
              <a:latin typeface="Consolas"/>
              <a:cs typeface="Consolas"/>
            </a:endParaRPr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1771D3CF-B2A8-E22A-3BC8-DB90D46B4EBA}"/>
              </a:ext>
            </a:extLst>
          </p:cNvPr>
          <p:cNvSpPr/>
          <p:nvPr/>
        </p:nvSpPr>
        <p:spPr>
          <a:xfrm>
            <a:off x="2183141" y="2338211"/>
            <a:ext cx="63235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where 1 &lt;= M &lt; 2, aka </a:t>
            </a:r>
            <a:r>
              <a:rPr lang="en-US" altLang="zh-CN" dirty="0">
                <a:solidFill>
                  <a:schemeClr val="tx2"/>
                </a:solidFill>
                <a:latin typeface="Arial"/>
                <a:cs typeface="Arial"/>
              </a:rPr>
              <a:t>M</a:t>
            </a:r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solidFill>
                  <a:schemeClr val="tx2"/>
                </a:solidFill>
                <a:latin typeface="Consolas"/>
                <a:cs typeface="Consolas"/>
              </a:rPr>
              <a:t>1</a:t>
            </a:r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solidFill>
                  <a:schemeClr val="tx2"/>
                </a:solidFill>
                <a:latin typeface="Consolas"/>
                <a:cs typeface="Consolas"/>
              </a:rPr>
              <a:t>2</a:t>
            </a:r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solidFill>
                  <a:schemeClr val="tx2"/>
                </a:solidFill>
                <a:latin typeface="Consolas"/>
                <a:cs typeface="Consolas"/>
              </a:rPr>
              <a:t>3</a:t>
            </a:r>
            <a:r>
              <a:rPr lang="mr-IN" altLang="zh-CN" sz="2100" dirty="0">
                <a:solidFill>
                  <a:schemeClr val="tx2"/>
                </a:solidFill>
                <a:latin typeface="Consolas"/>
                <a:cs typeface="Consolas"/>
              </a:rPr>
              <a:t>…</a:t>
            </a:r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solidFill>
                  <a:schemeClr val="tx2"/>
                </a:solidFill>
                <a:latin typeface="Consolas"/>
                <a:cs typeface="Consolas"/>
              </a:rPr>
              <a:t>n </a:t>
            </a:r>
            <a:r>
              <a:rPr lang="en-US" altLang="zh-CN" sz="2100" dirty="0">
                <a:solidFill>
                  <a:schemeClr val="tx2"/>
                </a:solidFill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solidFill>
                  <a:schemeClr val="tx2"/>
                </a:solidFill>
                <a:latin typeface="Consolas"/>
                <a:cs typeface="Consola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342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45393" y="3200982"/>
            <a:ext cx="542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(Binary) normalized representation of  (10.25)</a:t>
            </a:r>
            <a:r>
              <a:rPr kumimoji="1" lang="en-US" altLang="zh-CN" sz="2100" baseline="-25000" dirty="0">
                <a:latin typeface="Arial"/>
                <a:cs typeface="Arial"/>
              </a:rPr>
              <a:t>10</a:t>
            </a:r>
            <a:r>
              <a:rPr kumimoji="1" lang="en-US" altLang="zh-CN" dirty="0">
                <a:latin typeface="Arial"/>
                <a:cs typeface="Arial"/>
              </a:rPr>
              <a:t>?    </a:t>
            </a:r>
            <a:endParaRPr kumimoji="1" lang="zh-CN" altLang="en-US" dirty="0">
              <a:latin typeface="Arial"/>
              <a:cs typeface="Arial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8B6C7CF-8B7B-4225-824B-722D87F9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0" y="2748064"/>
            <a:ext cx="1216456" cy="12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2992407-00C1-4D47-B565-42EEB3CD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14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4596" y="2329380"/>
            <a:ext cx="5487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(Binary) normalized representation of  (10.25)</a:t>
            </a:r>
            <a:r>
              <a:rPr kumimoji="1" lang="en-US" altLang="zh-CN" sz="2100" baseline="-25000" dirty="0">
                <a:latin typeface="Arial"/>
                <a:cs typeface="Arial"/>
              </a:rPr>
              <a:t>10</a:t>
            </a:r>
            <a:r>
              <a:rPr kumimoji="1" lang="en-US" altLang="zh-CN" dirty="0">
                <a:latin typeface="Arial"/>
                <a:cs typeface="Arial"/>
              </a:rPr>
              <a:t> ?    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5901" y="2930080"/>
            <a:ext cx="539231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dirty="0">
                <a:cs typeface="Consolas"/>
              </a:rPr>
              <a:t>Answer: (10.25)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(1010.01)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(1.01001)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3</a:t>
            </a:r>
            <a:endParaRPr lang="en-US" altLang="zh-CN" sz="2100" baseline="30000" dirty="0">
              <a:cs typeface="Consolas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D5FC462-ED6E-4759-9AFA-31C943A2A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31" y="2012066"/>
            <a:ext cx="952965" cy="98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4E02-3879-6B0A-BA14-3FD90C72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CF2F-B8AE-1266-70DD-5A755935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CA94-6654-62AC-32E6-728CC2A0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/>
              <a:t>FP8 example </a:t>
            </a:r>
          </a:p>
          <a:p>
            <a:r>
              <a:rPr lang="en-US" dirty="0"/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114767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410" y="435558"/>
            <a:ext cx="8993874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 example FP8 representation: E4M3</a:t>
            </a:r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503262" y="2401156"/>
            <a:ext cx="7640738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2, aka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2100" dirty="0"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latin typeface="Consolas"/>
                <a:cs typeface="Consolas"/>
              </a:rPr>
              <a:t>1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3</a:t>
            </a:r>
            <a:r>
              <a:rPr lang="en-US" altLang="zh-CN" sz="2100" dirty="0"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</a:p>
          <a:p>
            <a:endParaRPr lang="en-US" altLang="zh-CN" sz="1200" baseline="-25000" dirty="0">
              <a:latin typeface="Consolas"/>
              <a:cs typeface="Consola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3C0B50-5C94-441B-BD47-E83F2E3874C0}"/>
              </a:ext>
            </a:extLst>
          </p:cNvPr>
          <p:cNvSpPr/>
          <p:nvPr/>
        </p:nvSpPr>
        <p:spPr>
          <a:xfrm>
            <a:off x="7052788" y="2361444"/>
            <a:ext cx="862913" cy="480901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309EF46D-B611-11E0-849F-E764733EE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65308"/>
              </p:ext>
            </p:extLst>
          </p:nvPr>
        </p:nvGraphicFramePr>
        <p:xfrm>
          <a:off x="2429648" y="5150300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60F4523-9F91-FD44-BB2C-981BD03A5AEC}"/>
              </a:ext>
            </a:extLst>
          </p:cNvPr>
          <p:cNvSpPr txBox="1"/>
          <p:nvPr/>
        </p:nvSpPr>
        <p:spPr>
          <a:xfrm>
            <a:off x="3208030" y="4728751"/>
            <a:ext cx="112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88B59-8400-C5EC-1705-44AF531C006D}"/>
              </a:ext>
            </a:extLst>
          </p:cNvPr>
          <p:cNvSpPr txBox="1"/>
          <p:nvPr/>
        </p:nvSpPr>
        <p:spPr>
          <a:xfrm>
            <a:off x="4770584" y="4728751"/>
            <a:ext cx="125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fraction(M)</a:t>
            </a: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15DDB0C-0F6C-4F36-980B-CE93B001232E}"/>
              </a:ext>
            </a:extLst>
          </p:cNvPr>
          <p:cNvSpPr/>
          <p:nvPr/>
        </p:nvSpPr>
        <p:spPr>
          <a:xfrm>
            <a:off x="5854890" y="2825086"/>
            <a:ext cx="1787855" cy="1851447"/>
          </a:xfrm>
          <a:custGeom>
            <a:avLst/>
            <a:gdLst>
              <a:gd name="csX0" fmla="*/ 0 w 1787856"/>
              <a:gd name="csY0" fmla="*/ 491319 h 491319"/>
              <a:gd name="csX1" fmla="*/ 1323832 w 1787856"/>
              <a:gd name="csY1" fmla="*/ 272955 h 491319"/>
              <a:gd name="csX2" fmla="*/ 1787856 w 1787856"/>
              <a:gd name="csY2" fmla="*/ 0 h 491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7856" h="491319">
                <a:moveTo>
                  <a:pt x="0" y="491319"/>
                </a:moveTo>
                <a:cubicBezTo>
                  <a:pt x="512928" y="423080"/>
                  <a:pt x="1025856" y="354841"/>
                  <a:pt x="1323832" y="272955"/>
                </a:cubicBezTo>
                <a:cubicBezTo>
                  <a:pt x="1621808" y="191069"/>
                  <a:pt x="1704832" y="95534"/>
                  <a:pt x="1787856" y="0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14">
            <a:extLst>
              <a:ext uri="{FF2B5EF4-FFF2-40B4-BE49-F238E27FC236}">
                <a16:creationId xmlns:a16="http://schemas.microsoft.com/office/drawing/2014/main" id="{06554B5D-3A6B-4E3D-DF5E-E04928B19EBC}"/>
              </a:ext>
            </a:extLst>
          </p:cNvPr>
          <p:cNvSpPr/>
          <p:nvPr/>
        </p:nvSpPr>
        <p:spPr>
          <a:xfrm>
            <a:off x="2049620" y="2928863"/>
            <a:ext cx="6007488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cs typeface="Consolas"/>
              </a:rPr>
              <a:t>Example: (0.1875)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(0.0011)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-3</a:t>
            </a:r>
            <a:endParaRPr lang="en-US" altLang="zh-CN" sz="2100" baseline="30000" dirty="0"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52856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282F-5EAE-BF10-BAEB-DE8C913C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26B70-52A4-08C3-F5BF-2306376F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10" y="435558"/>
            <a:ext cx="8993874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 example FP8 representation: E4M3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F37FC5-2495-B745-E1A6-BE376280794F}"/>
              </a:ext>
            </a:extLst>
          </p:cNvPr>
          <p:cNvSpPr/>
          <p:nvPr/>
        </p:nvSpPr>
        <p:spPr>
          <a:xfrm>
            <a:off x="1503262" y="2401156"/>
            <a:ext cx="7640738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u="sng" dirty="0">
                <a:latin typeface="Consolas"/>
                <a:cs typeface="Consolas"/>
              </a:rPr>
              <a:t>+</a:t>
            </a:r>
            <a:r>
              <a:rPr lang="en-US" altLang="zh-CN" sz="2100" dirty="0">
                <a:latin typeface="Consolas"/>
                <a:cs typeface="Consolas"/>
              </a:rPr>
              <a:t>M * 2</a:t>
            </a:r>
            <a:r>
              <a:rPr lang="en-US" altLang="zh-CN" sz="2100" baseline="30000" dirty="0">
                <a:latin typeface="Consolas"/>
                <a:cs typeface="Consolas"/>
              </a:rPr>
              <a:t>E</a:t>
            </a:r>
            <a:r>
              <a:rPr lang="en-US" altLang="zh-CN" sz="2100" dirty="0">
                <a:latin typeface="Consolas"/>
                <a:cs typeface="Consolas"/>
              </a:rPr>
              <a:t>, where 1 &lt;= M &lt; 2, aka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2100" dirty="0">
                <a:latin typeface="Consolas"/>
                <a:cs typeface="Consolas"/>
              </a:rPr>
              <a:t> = (1.b</a:t>
            </a:r>
            <a:r>
              <a:rPr lang="en-US" altLang="zh-CN" sz="2100" baseline="-25000" dirty="0">
                <a:latin typeface="Consolas"/>
                <a:cs typeface="Consolas"/>
              </a:rPr>
              <a:t>1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  <a:r>
              <a:rPr lang="en-US" altLang="zh-CN" sz="2100" dirty="0">
                <a:latin typeface="Consolas"/>
                <a:cs typeface="Consolas"/>
              </a:rPr>
              <a:t>b</a:t>
            </a:r>
            <a:r>
              <a:rPr lang="en-US" altLang="zh-CN" sz="2100" baseline="-25000" dirty="0">
                <a:latin typeface="Consolas"/>
                <a:cs typeface="Consolas"/>
              </a:rPr>
              <a:t>3</a:t>
            </a:r>
            <a:r>
              <a:rPr lang="en-US" altLang="zh-CN" sz="2100" dirty="0">
                <a:latin typeface="Consolas"/>
                <a:cs typeface="Consolas"/>
              </a:rPr>
              <a:t>)</a:t>
            </a:r>
            <a:r>
              <a:rPr lang="en-US" altLang="zh-CN" sz="2100" baseline="-25000" dirty="0">
                <a:latin typeface="Consolas"/>
                <a:cs typeface="Consolas"/>
              </a:rPr>
              <a:t>2</a:t>
            </a:r>
          </a:p>
          <a:p>
            <a:endParaRPr lang="en-US" altLang="zh-CN" sz="1200" baseline="-25000" dirty="0">
              <a:latin typeface="Consolas"/>
              <a:cs typeface="Consolas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66EB21B-923F-45FE-8A45-40965D79B906}"/>
              </a:ext>
            </a:extLst>
          </p:cNvPr>
          <p:cNvGraphicFramePr>
            <a:graphicFrameLocks noGrp="1"/>
          </p:cNvGraphicFramePr>
          <p:nvPr/>
        </p:nvGraphicFramePr>
        <p:xfrm>
          <a:off x="2429648" y="5150300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7675F38-BC4A-B2E3-6FB4-A027DFB91592}"/>
              </a:ext>
            </a:extLst>
          </p:cNvPr>
          <p:cNvSpPr txBox="1"/>
          <p:nvPr/>
        </p:nvSpPr>
        <p:spPr>
          <a:xfrm>
            <a:off x="3185512" y="4762104"/>
            <a:ext cx="107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BF4240-961E-0FCF-DF6B-62802E8E8F5B}"/>
              </a:ext>
            </a:extLst>
          </p:cNvPr>
          <p:cNvSpPr txBox="1"/>
          <p:nvPr/>
        </p:nvSpPr>
        <p:spPr>
          <a:xfrm>
            <a:off x="4826405" y="4743239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9" name="矩形 14">
            <a:extLst>
              <a:ext uri="{FF2B5EF4-FFF2-40B4-BE49-F238E27FC236}">
                <a16:creationId xmlns:a16="http://schemas.microsoft.com/office/drawing/2014/main" id="{DA8C2335-0341-8D39-BE7E-3298610B2A1F}"/>
              </a:ext>
            </a:extLst>
          </p:cNvPr>
          <p:cNvSpPr/>
          <p:nvPr/>
        </p:nvSpPr>
        <p:spPr>
          <a:xfrm>
            <a:off x="2049620" y="2928863"/>
            <a:ext cx="6007488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cs typeface="Consolas"/>
              </a:rPr>
              <a:t>Example: (0.1875)</a:t>
            </a:r>
            <a:r>
              <a:rPr lang="en-US" altLang="zh-CN" sz="2100" baseline="-25000" dirty="0">
                <a:cs typeface="Consolas"/>
              </a:rPr>
              <a:t>10</a:t>
            </a:r>
            <a:r>
              <a:rPr lang="en-US" altLang="zh-CN" sz="2100" dirty="0">
                <a:cs typeface="Consolas"/>
              </a:rPr>
              <a:t> = </a:t>
            </a:r>
            <a:r>
              <a:rPr lang="en-US" altLang="zh-CN" sz="2100" dirty="0">
                <a:cs typeface="Arial"/>
              </a:rPr>
              <a:t>(0.0011)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 = (1.1)</a:t>
            </a:r>
            <a:r>
              <a:rPr lang="en-US" altLang="zh-CN" sz="2100" baseline="-25000" dirty="0">
                <a:cs typeface="Arial"/>
              </a:rPr>
              <a:t>2 </a:t>
            </a:r>
            <a:r>
              <a:rPr lang="en-US" altLang="zh-CN" sz="2100" dirty="0">
                <a:cs typeface="Arial"/>
              </a:rPr>
              <a:t>* 2</a:t>
            </a:r>
            <a:r>
              <a:rPr lang="en-US" altLang="zh-CN" sz="2100" baseline="30000" dirty="0">
                <a:cs typeface="Arial"/>
              </a:rPr>
              <a:t>-3</a:t>
            </a:r>
            <a:endParaRPr lang="en-US" altLang="zh-CN" sz="2100" baseline="30000" dirty="0">
              <a:cs typeface="Consolas"/>
            </a:endParaRPr>
          </a:p>
          <a:p>
            <a:endParaRPr lang="en-US" altLang="zh-CN" sz="825" baseline="-25000" dirty="0">
              <a:latin typeface="Consolas"/>
              <a:cs typeface="Consola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54474A-E6C8-41B5-7DB6-1D8F355EBFB5}"/>
              </a:ext>
            </a:extLst>
          </p:cNvPr>
          <p:cNvSpPr/>
          <p:nvPr/>
        </p:nvSpPr>
        <p:spPr>
          <a:xfrm>
            <a:off x="6755642" y="2887919"/>
            <a:ext cx="204716" cy="292009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047ABB-E8ED-0050-4723-601F4125EC37}"/>
              </a:ext>
            </a:extLst>
          </p:cNvPr>
          <p:cNvSpPr/>
          <p:nvPr/>
        </p:nvSpPr>
        <p:spPr>
          <a:xfrm>
            <a:off x="3862316" y="3217657"/>
            <a:ext cx="3016156" cy="1487853"/>
          </a:xfrm>
          <a:custGeom>
            <a:avLst/>
            <a:gdLst>
              <a:gd name="csX0" fmla="*/ 2975212 w 2975212"/>
              <a:gd name="csY0" fmla="*/ 0 h 1050877"/>
              <a:gd name="csX1" fmla="*/ 859809 w 2975212"/>
              <a:gd name="csY1" fmla="*/ 464024 h 1050877"/>
              <a:gd name="csX2" fmla="*/ 0 w 2975212"/>
              <a:gd name="csY2" fmla="*/ 1050877 h 1050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5212" h="1050877">
                <a:moveTo>
                  <a:pt x="2975212" y="0"/>
                </a:moveTo>
                <a:cubicBezTo>
                  <a:pt x="2165445" y="144439"/>
                  <a:pt x="1355678" y="288878"/>
                  <a:pt x="859809" y="464024"/>
                </a:cubicBezTo>
                <a:cubicBezTo>
                  <a:pt x="363940" y="639170"/>
                  <a:pt x="181970" y="845023"/>
                  <a:pt x="0" y="1050877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B3C0B6-0807-9711-058C-B0C3C5DB51F4}"/>
                  </a:ext>
                </a:extLst>
              </p:cNvPr>
              <p:cNvSpPr txBox="1"/>
              <p:nvPr/>
            </p:nvSpPr>
            <p:spPr>
              <a:xfrm>
                <a:off x="4572000" y="3850173"/>
                <a:ext cx="3888629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 = exponent - bias, bias=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= 7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B3C0B6-0807-9711-058C-B0C3C5DB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50173"/>
                <a:ext cx="3888629" cy="380810"/>
              </a:xfrm>
              <a:prstGeom prst="rect">
                <a:avLst/>
              </a:prstGeom>
              <a:blipFill>
                <a:blip r:embed="rId2"/>
                <a:stretch>
                  <a:fillRect l="-130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375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26B48E2-674A-0F91-9DD5-EAB7D350DC6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46193320"/>
                  </p:ext>
                </p:extLst>
              </p:nvPr>
            </p:nvGraphicFramePr>
            <p:xfrm>
              <a:off x="263236" y="180110"/>
              <a:ext cx="8700654" cy="656705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026B48E2-674A-0F91-9DD5-EAB7D350DC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236" y="180110"/>
                <a:ext cx="8700654" cy="65670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6335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2E8A-F527-B0C3-60BE-0D02C4A6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D29C-098C-52BC-5A44-016228E40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FP8 (E4M3) on the number line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43F8862-4020-E82E-4397-6C0EEF48E9F2}"/>
              </a:ext>
            </a:extLst>
          </p:cNvPr>
          <p:cNvCxnSpPr>
            <a:cxnSpLocks/>
          </p:cNvCxnSpPr>
          <p:nvPr/>
        </p:nvCxnSpPr>
        <p:spPr>
          <a:xfrm flipV="1">
            <a:off x="0" y="4396920"/>
            <a:ext cx="9144000" cy="24902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26834865-86C3-3A9D-CD22-FF523F22C013}"/>
              </a:ext>
            </a:extLst>
          </p:cNvPr>
          <p:cNvGraphicFramePr>
            <a:graphicFrameLocks noGrp="1"/>
          </p:cNvGraphicFramePr>
          <p:nvPr/>
        </p:nvGraphicFramePr>
        <p:xfrm>
          <a:off x="2349685" y="20719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2663F87-2508-1B95-CA55-7D79883B923F}"/>
              </a:ext>
            </a:extLst>
          </p:cNvPr>
          <p:cNvSpPr txBox="1"/>
          <p:nvPr/>
        </p:nvSpPr>
        <p:spPr>
          <a:xfrm>
            <a:off x="3035302" y="1664856"/>
            <a:ext cx="112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82CA06-6D9C-AEA0-6CF2-0BEB83789BDA}"/>
              </a:ext>
            </a:extLst>
          </p:cNvPr>
          <p:cNvSpPr txBox="1"/>
          <p:nvPr/>
        </p:nvSpPr>
        <p:spPr>
          <a:xfrm>
            <a:off x="4728963" y="1688218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4" name="左大括号 11">
            <a:extLst>
              <a:ext uri="{FF2B5EF4-FFF2-40B4-BE49-F238E27FC236}">
                <a16:creationId xmlns:a16="http://schemas.microsoft.com/office/drawing/2014/main" id="{0513901A-80A0-2C9F-0D11-B10DE10EEBC2}"/>
              </a:ext>
            </a:extLst>
          </p:cNvPr>
          <p:cNvSpPr/>
          <p:nvPr/>
        </p:nvSpPr>
        <p:spPr>
          <a:xfrm rot="16200000" flipV="1">
            <a:off x="4245987" y="1178898"/>
            <a:ext cx="338104" cy="3078832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rgbClr val="FF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669EDF-90F5-D846-3F33-FB2728F27F31}"/>
              </a:ext>
            </a:extLst>
          </p:cNvPr>
          <p:cNvSpPr txBox="1"/>
          <p:nvPr/>
        </p:nvSpPr>
        <p:spPr>
          <a:xfrm>
            <a:off x="2737329" y="2930285"/>
            <a:ext cx="419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Larger the bit pattern, larger FP magnitude</a:t>
            </a:r>
          </a:p>
        </p:txBody>
      </p:sp>
    </p:spTree>
    <p:extLst>
      <p:ext uri="{BB962C8B-B14F-4D97-AF65-F5344CB8AC3E}">
        <p14:creationId xmlns:p14="http://schemas.microsoft.com/office/powerpoint/2010/main" val="518793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E041-557A-1D3D-B714-934CCDE4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FP8 (E4M3) on the number line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590198-B1BE-998D-F6E7-C4951AB4146E}"/>
              </a:ext>
            </a:extLst>
          </p:cNvPr>
          <p:cNvGrpSpPr/>
          <p:nvPr/>
        </p:nvGrpSpPr>
        <p:grpSpPr>
          <a:xfrm>
            <a:off x="0" y="4396920"/>
            <a:ext cx="9144000" cy="324981"/>
            <a:chOff x="-74141" y="4987158"/>
            <a:chExt cx="9541780" cy="433314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45F9C1AD-1D83-17F2-D625-C2F9CB492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41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50D1D-8710-E9C2-BE7B-862A34E64E23}"/>
                </a:ext>
              </a:extLst>
            </p:cNvPr>
            <p:cNvSpPr txBox="1"/>
            <p:nvPr/>
          </p:nvSpPr>
          <p:spPr>
            <a:xfrm>
              <a:off x="4332973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F9532D0C-1AB3-997E-44B3-A9D63F070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72494"/>
              </p:ext>
            </p:extLst>
          </p:nvPr>
        </p:nvGraphicFramePr>
        <p:xfrm>
          <a:off x="2349685" y="2071917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942E28E-36C0-5977-8812-60440C0AA8BA}"/>
              </a:ext>
            </a:extLst>
          </p:cNvPr>
          <p:cNvSpPr txBox="1"/>
          <p:nvPr/>
        </p:nvSpPr>
        <p:spPr>
          <a:xfrm>
            <a:off x="3035302" y="1664856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FD45C-EBAC-F1EA-946A-8D3934CE90B5}"/>
              </a:ext>
            </a:extLst>
          </p:cNvPr>
          <p:cNvSpPr txBox="1"/>
          <p:nvPr/>
        </p:nvSpPr>
        <p:spPr>
          <a:xfrm>
            <a:off x="4728963" y="1688218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4" name="左大括号 11">
            <a:extLst>
              <a:ext uri="{FF2B5EF4-FFF2-40B4-BE49-F238E27FC236}">
                <a16:creationId xmlns:a16="http://schemas.microsoft.com/office/drawing/2014/main" id="{CADEC30C-6F93-5767-0D80-228592487E41}"/>
              </a:ext>
            </a:extLst>
          </p:cNvPr>
          <p:cNvSpPr/>
          <p:nvPr/>
        </p:nvSpPr>
        <p:spPr>
          <a:xfrm rot="16200000" flipV="1">
            <a:off x="4245987" y="1178898"/>
            <a:ext cx="338104" cy="3078832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rgbClr val="FF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EDF27C-A3C4-A6AA-C259-3D2D4D0103C2}"/>
              </a:ext>
            </a:extLst>
          </p:cNvPr>
          <p:cNvSpPr txBox="1"/>
          <p:nvPr/>
        </p:nvSpPr>
        <p:spPr>
          <a:xfrm>
            <a:off x="2737329" y="2930285"/>
            <a:ext cx="419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Larger the bit pattern, larger FP magnitude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A99DF-F1CE-E955-9C54-03B5309B2F77}"/>
              </a:ext>
            </a:extLst>
          </p:cNvPr>
          <p:cNvSpPr txBox="1"/>
          <p:nvPr/>
        </p:nvSpPr>
        <p:spPr>
          <a:xfrm>
            <a:off x="8159592" y="444293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0x7f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A47E9-3860-7EFF-47AC-10162004506A}"/>
              </a:ext>
            </a:extLst>
          </p:cNvPr>
          <p:cNvSpPr txBox="1"/>
          <p:nvPr/>
        </p:nvSpPr>
        <p:spPr>
          <a:xfrm>
            <a:off x="6535343" y="3875964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8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A4D453-76EE-4EB2-A34B-04178C95F593}"/>
              </a:ext>
            </a:extLst>
          </p:cNvPr>
          <p:cNvSpPr txBox="1"/>
          <p:nvPr/>
        </p:nvSpPr>
        <p:spPr>
          <a:xfrm>
            <a:off x="5404853" y="393282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7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59B336-87AB-381C-CDC5-ABCE34DA50CC}"/>
              </a:ext>
            </a:extLst>
          </p:cNvPr>
          <p:cNvSpPr txBox="1"/>
          <p:nvPr/>
        </p:nvSpPr>
        <p:spPr>
          <a:xfrm>
            <a:off x="4752033" y="396239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6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DBB200-D239-4DC0-1614-FBA5F4A7AF6F}"/>
              </a:ext>
            </a:extLst>
          </p:cNvPr>
          <p:cNvSpPr txBox="1"/>
          <p:nvPr/>
        </p:nvSpPr>
        <p:spPr>
          <a:xfrm>
            <a:off x="4522295" y="3964671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5</a:t>
            </a:r>
            <a:endParaRPr lang="en-US" dirty="0"/>
          </a:p>
        </p:txBody>
      </p:sp>
      <p:cxnSp>
        <p:nvCxnSpPr>
          <p:cNvPr id="17" name="直线连接符 22">
            <a:extLst>
              <a:ext uri="{FF2B5EF4-FFF2-40B4-BE49-F238E27FC236}">
                <a16:creationId xmlns:a16="http://schemas.microsoft.com/office/drawing/2014/main" id="{0D0A8874-1142-B31F-A0E7-E02697A44177}"/>
              </a:ext>
            </a:extLst>
          </p:cNvPr>
          <p:cNvCxnSpPr/>
          <p:nvPr/>
        </p:nvCxnSpPr>
        <p:spPr>
          <a:xfrm flipV="1">
            <a:off x="6671823" y="430168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2">
            <a:extLst>
              <a:ext uri="{FF2B5EF4-FFF2-40B4-BE49-F238E27FC236}">
                <a16:creationId xmlns:a16="http://schemas.microsoft.com/office/drawing/2014/main" id="{38B75569-B5B6-FAA8-D0CD-EAD015661F96}"/>
              </a:ext>
            </a:extLst>
          </p:cNvPr>
          <p:cNvCxnSpPr/>
          <p:nvPr/>
        </p:nvCxnSpPr>
        <p:spPr>
          <a:xfrm flipV="1">
            <a:off x="5554981" y="431761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2">
            <a:extLst>
              <a:ext uri="{FF2B5EF4-FFF2-40B4-BE49-F238E27FC236}">
                <a16:creationId xmlns:a16="http://schemas.microsoft.com/office/drawing/2014/main" id="{1384A26F-38ED-EA1B-F2C6-4A7CEF2DD619}"/>
              </a:ext>
            </a:extLst>
          </p:cNvPr>
          <p:cNvCxnSpPr/>
          <p:nvPr/>
        </p:nvCxnSpPr>
        <p:spPr>
          <a:xfrm flipV="1">
            <a:off x="4943102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2">
            <a:extLst>
              <a:ext uri="{FF2B5EF4-FFF2-40B4-BE49-F238E27FC236}">
                <a16:creationId xmlns:a16="http://schemas.microsoft.com/office/drawing/2014/main" id="{14D35108-54F8-90ED-CBCB-F92B2AD80CCE}"/>
              </a:ext>
            </a:extLst>
          </p:cNvPr>
          <p:cNvCxnSpPr/>
          <p:nvPr/>
        </p:nvCxnSpPr>
        <p:spPr>
          <a:xfrm flipV="1">
            <a:off x="4670151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2">
            <a:extLst>
              <a:ext uri="{FF2B5EF4-FFF2-40B4-BE49-F238E27FC236}">
                <a16:creationId xmlns:a16="http://schemas.microsoft.com/office/drawing/2014/main" id="{08339DC0-E52A-636E-AEE2-2FC90028C2CD}"/>
              </a:ext>
            </a:extLst>
          </p:cNvPr>
          <p:cNvCxnSpPr/>
          <p:nvPr/>
        </p:nvCxnSpPr>
        <p:spPr>
          <a:xfrm flipV="1">
            <a:off x="4520025" y="4306234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584FFFC-5818-7D2D-EA0A-F6E8F93FB1CE}"/>
              </a:ext>
            </a:extLst>
          </p:cNvPr>
          <p:cNvGrpSpPr/>
          <p:nvPr/>
        </p:nvGrpSpPr>
        <p:grpSpPr>
          <a:xfrm>
            <a:off x="1707898" y="4317610"/>
            <a:ext cx="5388937" cy="1526497"/>
            <a:chOff x="1707898" y="4317610"/>
            <a:chExt cx="5388937" cy="1526497"/>
          </a:xfrm>
        </p:grpSpPr>
        <p:sp>
          <p:nvSpPr>
            <p:cNvPr id="51" name="Triangle 50">
              <a:extLst>
                <a:ext uri="{FF2B5EF4-FFF2-40B4-BE49-F238E27FC236}">
                  <a16:creationId xmlns:a16="http://schemas.microsoft.com/office/drawing/2014/main" id="{6C63909C-CC86-BED8-054E-D0D6C8246625}"/>
                </a:ext>
              </a:extLst>
            </p:cNvPr>
            <p:cNvSpPr/>
            <p:nvPr/>
          </p:nvSpPr>
          <p:spPr>
            <a:xfrm>
              <a:off x="2148469" y="4380747"/>
              <a:ext cx="4478548" cy="1079535"/>
            </a:xfrm>
            <a:prstGeom prst="triangle">
              <a:avLst>
                <a:gd name="adj" fmla="val 4914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20DCE41-C854-616F-BE23-E67CD481BA84}"/>
                </a:ext>
              </a:extLst>
            </p:cNvPr>
            <p:cNvSpPr/>
            <p:nvPr/>
          </p:nvSpPr>
          <p:spPr>
            <a:xfrm>
              <a:off x="4303929" y="4317610"/>
              <a:ext cx="83814" cy="120139"/>
            </a:xfrm>
            <a:prstGeom prst="ellipse">
              <a:avLst/>
            </a:prstGeom>
            <a:solidFill>
              <a:srgbClr val="00B0F0"/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C6B27ED-6FE6-C17F-ED3A-A433F46CC59A}"/>
                </a:ext>
              </a:extLst>
            </p:cNvPr>
            <p:cNvGrpSpPr/>
            <p:nvPr/>
          </p:nvGrpSpPr>
          <p:grpSpPr>
            <a:xfrm>
              <a:off x="1707898" y="5488310"/>
              <a:ext cx="5388937" cy="355797"/>
              <a:chOff x="54037" y="4987158"/>
              <a:chExt cx="9541780" cy="433314"/>
            </a:xfrm>
          </p:grpSpPr>
          <p:cxnSp>
            <p:nvCxnSpPr>
              <p:cNvPr id="38" name="直线连接符 4">
                <a:extLst>
                  <a:ext uri="{FF2B5EF4-FFF2-40B4-BE49-F238E27FC236}">
                    <a16:creationId xmlns:a16="http://schemas.microsoft.com/office/drawing/2014/main" id="{EF0BBD6E-5FBB-0354-24D6-8E4C07DC35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37" y="4987158"/>
                <a:ext cx="9541780" cy="33203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08CFA6-EF5A-56C1-8B8C-2B106DCFD0F0}"/>
                  </a:ext>
                </a:extLst>
              </p:cNvPr>
              <p:cNvSpPr txBox="1"/>
              <p:nvPr/>
            </p:nvSpPr>
            <p:spPr>
              <a:xfrm>
                <a:off x="4475390" y="5020361"/>
                <a:ext cx="363776" cy="400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0</a:t>
                </a:r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EFFE6BB-8BC1-8EDF-91F6-D20EF95D980A}"/>
                </a:ext>
              </a:extLst>
            </p:cNvPr>
            <p:cNvSpPr/>
            <p:nvPr/>
          </p:nvSpPr>
          <p:spPr>
            <a:xfrm>
              <a:off x="4278905" y="5425359"/>
              <a:ext cx="83814" cy="120139"/>
            </a:xfrm>
            <a:prstGeom prst="ellipse">
              <a:avLst/>
            </a:prstGeom>
            <a:solidFill>
              <a:srgbClr val="00B0F0"/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直线连接符 22">
              <a:extLst>
                <a:ext uri="{FF2B5EF4-FFF2-40B4-BE49-F238E27FC236}">
                  <a16:creationId xmlns:a16="http://schemas.microsoft.com/office/drawing/2014/main" id="{D901A990-4EB9-DF99-C183-78CE84C69A7B}"/>
                </a:ext>
              </a:extLst>
            </p:cNvPr>
            <p:cNvCxnSpPr/>
            <p:nvPr/>
          </p:nvCxnSpPr>
          <p:spPr>
            <a:xfrm flipV="1">
              <a:off x="6619503" y="5450376"/>
              <a:ext cx="0" cy="1201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线连接符 22">
              <a:extLst>
                <a:ext uri="{FF2B5EF4-FFF2-40B4-BE49-F238E27FC236}">
                  <a16:creationId xmlns:a16="http://schemas.microsoft.com/office/drawing/2014/main" id="{39D0FDF1-9203-6216-E96A-CC8EA3911055}"/>
                </a:ext>
              </a:extLst>
            </p:cNvPr>
            <p:cNvCxnSpPr/>
            <p:nvPr/>
          </p:nvCxnSpPr>
          <p:spPr>
            <a:xfrm flipV="1">
              <a:off x="5502661" y="5466298"/>
              <a:ext cx="0" cy="1201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线连接符 22">
              <a:extLst>
                <a:ext uri="{FF2B5EF4-FFF2-40B4-BE49-F238E27FC236}">
                  <a16:creationId xmlns:a16="http://schemas.microsoft.com/office/drawing/2014/main" id="{BF574F2B-62A4-C775-40D3-3EEC6954E834}"/>
                </a:ext>
              </a:extLst>
            </p:cNvPr>
            <p:cNvCxnSpPr/>
            <p:nvPr/>
          </p:nvCxnSpPr>
          <p:spPr>
            <a:xfrm flipV="1">
              <a:off x="4890782" y="5468570"/>
              <a:ext cx="0" cy="1201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线连接符 22">
              <a:extLst>
                <a:ext uri="{FF2B5EF4-FFF2-40B4-BE49-F238E27FC236}">
                  <a16:creationId xmlns:a16="http://schemas.microsoft.com/office/drawing/2014/main" id="{FECBA6C9-A82C-64C6-9B34-66141B54BD8D}"/>
                </a:ext>
              </a:extLst>
            </p:cNvPr>
            <p:cNvCxnSpPr/>
            <p:nvPr/>
          </p:nvCxnSpPr>
          <p:spPr>
            <a:xfrm flipV="1">
              <a:off x="4617831" y="5468570"/>
              <a:ext cx="0" cy="1201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DF8440E-375A-3830-ED44-3AF81EB7AE26}"/>
                </a:ext>
              </a:extLst>
            </p:cNvPr>
            <p:cNvSpPr txBox="1"/>
            <p:nvPr/>
          </p:nvSpPr>
          <p:spPr>
            <a:xfrm>
              <a:off x="6483023" y="5120188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  <a:r>
                <a:rPr lang="en-US" sz="1600" baseline="30000" dirty="0"/>
                <a:t>-4</a:t>
              </a:r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394D66E-DE9F-4779-707F-5F95F12A0819}"/>
                </a:ext>
              </a:extLst>
            </p:cNvPr>
            <p:cNvSpPr txBox="1"/>
            <p:nvPr/>
          </p:nvSpPr>
          <p:spPr>
            <a:xfrm>
              <a:off x="5352533" y="5122460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  <a:r>
                <a:rPr lang="en-US" sz="1600" baseline="30000" dirty="0"/>
                <a:t>-5</a:t>
              </a:r>
              <a:endParaRPr lang="en-US" sz="16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DDCBC5-7311-7ADE-4ED4-EF2A6104F5C3}"/>
                </a:ext>
              </a:extLst>
            </p:cNvPr>
            <p:cNvSpPr txBox="1"/>
            <p:nvPr/>
          </p:nvSpPr>
          <p:spPr>
            <a:xfrm>
              <a:off x="4699713" y="5152030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  <a:r>
                <a:rPr lang="en-US" sz="1600" baseline="30000" dirty="0"/>
                <a:t>-6</a:t>
              </a:r>
              <a:endParaRPr lang="en-US" sz="1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A22BA5-1B8A-2FF5-0893-CE685BF79852}"/>
                </a:ext>
              </a:extLst>
            </p:cNvPr>
            <p:cNvSpPr txBox="1"/>
            <p:nvPr/>
          </p:nvSpPr>
          <p:spPr>
            <a:xfrm>
              <a:off x="4469975" y="5154303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</a:t>
              </a:r>
              <a:r>
                <a:rPr lang="en-US" sz="1600" baseline="30000" dirty="0"/>
                <a:t>-7</a:t>
              </a:r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4BB557D-E4C0-2FA3-8AF4-15DA46B8F649}"/>
              </a:ext>
            </a:extLst>
          </p:cNvPr>
          <p:cNvSpPr txBox="1"/>
          <p:nvPr/>
        </p:nvSpPr>
        <p:spPr>
          <a:xfrm>
            <a:off x="394522" y="6242654"/>
            <a:ext cx="8416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Having normalized representation only leaves a disproportionally large gap around zero.</a:t>
            </a:r>
          </a:p>
        </p:txBody>
      </p:sp>
    </p:spTree>
    <p:extLst>
      <p:ext uri="{BB962C8B-B14F-4D97-AF65-F5344CB8AC3E}">
        <p14:creationId xmlns:p14="http://schemas.microsoft.com/office/powerpoint/2010/main" val="174882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CDE2-ECB2-FC82-0D30-803689EF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riangle 50">
            <a:extLst>
              <a:ext uri="{FF2B5EF4-FFF2-40B4-BE49-F238E27FC236}">
                <a16:creationId xmlns:a16="http://schemas.microsoft.com/office/drawing/2014/main" id="{C574BB58-5323-8DBA-406B-CFFE9A994D23}"/>
              </a:ext>
            </a:extLst>
          </p:cNvPr>
          <p:cNvSpPr/>
          <p:nvPr/>
        </p:nvSpPr>
        <p:spPr>
          <a:xfrm>
            <a:off x="2148469" y="4380747"/>
            <a:ext cx="4478548" cy="1079535"/>
          </a:xfrm>
          <a:prstGeom prst="triangle">
            <a:avLst>
              <a:gd name="adj" fmla="val 49146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E5A82-61E9-542F-C047-671E285B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FP8 (E4M3): denormalized (subnormal) number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BFAA5D-2D1A-9572-0CF1-15477D2A5445}"/>
              </a:ext>
            </a:extLst>
          </p:cNvPr>
          <p:cNvGrpSpPr/>
          <p:nvPr/>
        </p:nvGrpSpPr>
        <p:grpSpPr>
          <a:xfrm>
            <a:off x="0" y="4396920"/>
            <a:ext cx="9144000" cy="324981"/>
            <a:chOff x="-74141" y="4987158"/>
            <a:chExt cx="9541780" cy="433314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57A23EF7-EF40-2805-CC8B-1ACD1794E3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41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A1B959-0A5D-EF70-5A9E-81BA2AF8531C}"/>
                </a:ext>
              </a:extLst>
            </p:cNvPr>
            <p:cNvSpPr txBox="1"/>
            <p:nvPr/>
          </p:nvSpPr>
          <p:spPr>
            <a:xfrm>
              <a:off x="4332973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cxnSp>
        <p:nvCxnSpPr>
          <p:cNvPr id="17" name="直线连接符 22">
            <a:extLst>
              <a:ext uri="{FF2B5EF4-FFF2-40B4-BE49-F238E27FC236}">
                <a16:creationId xmlns:a16="http://schemas.microsoft.com/office/drawing/2014/main" id="{7CCD2BFB-246A-D424-AF19-1720DB5C1B0F}"/>
              </a:ext>
            </a:extLst>
          </p:cNvPr>
          <p:cNvCxnSpPr/>
          <p:nvPr/>
        </p:nvCxnSpPr>
        <p:spPr>
          <a:xfrm flipV="1">
            <a:off x="6671823" y="430168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D6C1F152-9351-B634-0C93-3C392E37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45244"/>
              </p:ext>
            </p:extLst>
          </p:nvPr>
        </p:nvGraphicFramePr>
        <p:xfrm>
          <a:off x="1540908" y="2018511"/>
          <a:ext cx="3700384" cy="4208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5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86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 s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2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lang="en-US" altLang="zh-CN" sz="1400" baseline="-25000" dirty="0">
                          <a:latin typeface="Verdana"/>
                          <a:cs typeface="Verdana"/>
                        </a:rPr>
                        <a:t>3</a:t>
                      </a:r>
                      <a:endParaRPr lang="zh-CN" altLang="en-US" sz="1400" baseline="-250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199C1FA-4B4C-5EE3-C112-81B59F58CE35}"/>
              </a:ext>
            </a:extLst>
          </p:cNvPr>
          <p:cNvSpPr txBox="1"/>
          <p:nvPr/>
        </p:nvSpPr>
        <p:spPr>
          <a:xfrm>
            <a:off x="2226525" y="1611450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 (E)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F04666-F240-620F-69B5-60413F16C2AB}"/>
              </a:ext>
            </a:extLst>
          </p:cNvPr>
          <p:cNvSpPr txBox="1"/>
          <p:nvPr/>
        </p:nvSpPr>
        <p:spPr>
          <a:xfrm>
            <a:off x="3920186" y="1634812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(M)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596EE-D153-EE4B-1DCD-D33A9439DCBE}"/>
              </a:ext>
            </a:extLst>
          </p:cNvPr>
          <p:cNvSpPr txBox="1"/>
          <p:nvPr/>
        </p:nvSpPr>
        <p:spPr>
          <a:xfrm>
            <a:off x="8159592" y="444293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0x7f</a:t>
            </a:r>
          </a:p>
        </p:txBody>
      </p:sp>
      <p:cxnSp>
        <p:nvCxnSpPr>
          <p:cNvPr id="27" name="直线连接符 22">
            <a:extLst>
              <a:ext uri="{FF2B5EF4-FFF2-40B4-BE49-F238E27FC236}">
                <a16:creationId xmlns:a16="http://schemas.microsoft.com/office/drawing/2014/main" id="{E238D81B-3D29-95CE-8F01-EA8FE0D3CFF5}"/>
              </a:ext>
            </a:extLst>
          </p:cNvPr>
          <p:cNvCxnSpPr/>
          <p:nvPr/>
        </p:nvCxnSpPr>
        <p:spPr>
          <a:xfrm flipV="1">
            <a:off x="5554981" y="431761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2">
            <a:extLst>
              <a:ext uri="{FF2B5EF4-FFF2-40B4-BE49-F238E27FC236}">
                <a16:creationId xmlns:a16="http://schemas.microsoft.com/office/drawing/2014/main" id="{184D0E78-D399-91AA-53BF-9A50055DF774}"/>
              </a:ext>
            </a:extLst>
          </p:cNvPr>
          <p:cNvCxnSpPr/>
          <p:nvPr/>
        </p:nvCxnSpPr>
        <p:spPr>
          <a:xfrm flipV="1">
            <a:off x="4943102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2">
            <a:extLst>
              <a:ext uri="{FF2B5EF4-FFF2-40B4-BE49-F238E27FC236}">
                <a16:creationId xmlns:a16="http://schemas.microsoft.com/office/drawing/2014/main" id="{809BBEEC-5277-A2E9-4EDD-D0B754717FD2}"/>
              </a:ext>
            </a:extLst>
          </p:cNvPr>
          <p:cNvCxnSpPr/>
          <p:nvPr/>
        </p:nvCxnSpPr>
        <p:spPr>
          <a:xfrm flipV="1">
            <a:off x="4670151" y="4319882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2">
            <a:extLst>
              <a:ext uri="{FF2B5EF4-FFF2-40B4-BE49-F238E27FC236}">
                <a16:creationId xmlns:a16="http://schemas.microsoft.com/office/drawing/2014/main" id="{36A081DB-F7F9-4837-4504-A390ECEF28E2}"/>
              </a:ext>
            </a:extLst>
          </p:cNvPr>
          <p:cNvCxnSpPr/>
          <p:nvPr/>
        </p:nvCxnSpPr>
        <p:spPr>
          <a:xfrm flipV="1">
            <a:off x="4520025" y="4306234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80386E8-A68C-CE6E-BD7D-D62F4A9D2AD1}"/>
              </a:ext>
            </a:extLst>
          </p:cNvPr>
          <p:cNvSpPr txBox="1"/>
          <p:nvPr/>
        </p:nvSpPr>
        <p:spPr>
          <a:xfrm>
            <a:off x="6535343" y="3875964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8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2B0A3-7591-A1D5-DF77-89B47DFC814A}"/>
              </a:ext>
            </a:extLst>
          </p:cNvPr>
          <p:cNvSpPr txBox="1"/>
          <p:nvPr/>
        </p:nvSpPr>
        <p:spPr>
          <a:xfrm>
            <a:off x="5404853" y="393282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7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EFC733-766D-400F-F04B-3220E121AA3B}"/>
              </a:ext>
            </a:extLst>
          </p:cNvPr>
          <p:cNvSpPr txBox="1"/>
          <p:nvPr/>
        </p:nvSpPr>
        <p:spPr>
          <a:xfrm>
            <a:off x="4752033" y="396239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6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658639-4BD4-C473-9618-9B40BD890926}"/>
              </a:ext>
            </a:extLst>
          </p:cNvPr>
          <p:cNvSpPr txBox="1"/>
          <p:nvPr/>
        </p:nvSpPr>
        <p:spPr>
          <a:xfrm>
            <a:off x="4522295" y="3964671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5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2B2F6E5-418B-9E7A-AA56-9B43E6AEF95A}"/>
              </a:ext>
            </a:extLst>
          </p:cNvPr>
          <p:cNvSpPr/>
          <p:nvPr/>
        </p:nvSpPr>
        <p:spPr>
          <a:xfrm>
            <a:off x="4303929" y="4317610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386443-D379-CD98-58CB-CB70E2569A16}"/>
              </a:ext>
            </a:extLst>
          </p:cNvPr>
          <p:cNvGrpSpPr/>
          <p:nvPr/>
        </p:nvGrpSpPr>
        <p:grpSpPr>
          <a:xfrm>
            <a:off x="1707898" y="5488310"/>
            <a:ext cx="5388937" cy="355797"/>
            <a:chOff x="54037" y="4987158"/>
            <a:chExt cx="9541780" cy="433314"/>
          </a:xfrm>
        </p:grpSpPr>
        <p:cxnSp>
          <p:nvCxnSpPr>
            <p:cNvPr id="38" name="直线连接符 4">
              <a:extLst>
                <a:ext uri="{FF2B5EF4-FFF2-40B4-BE49-F238E27FC236}">
                  <a16:creationId xmlns:a16="http://schemas.microsoft.com/office/drawing/2014/main" id="{9768A862-516B-319B-B577-88E98E637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37" y="4987158"/>
              <a:ext cx="9541780" cy="33203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8F63C3-213F-2CCC-F4E9-2558043E14AE}"/>
                </a:ext>
              </a:extLst>
            </p:cNvPr>
            <p:cNvSpPr txBox="1"/>
            <p:nvPr/>
          </p:nvSpPr>
          <p:spPr>
            <a:xfrm>
              <a:off x="4475390" y="5020361"/>
              <a:ext cx="363776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D134622C-E2BF-59A8-42F3-9631F3802C5D}"/>
              </a:ext>
            </a:extLst>
          </p:cNvPr>
          <p:cNvSpPr/>
          <p:nvPr/>
        </p:nvSpPr>
        <p:spPr>
          <a:xfrm>
            <a:off x="4278905" y="5425359"/>
            <a:ext cx="83814" cy="120139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线连接符 22">
            <a:extLst>
              <a:ext uri="{FF2B5EF4-FFF2-40B4-BE49-F238E27FC236}">
                <a16:creationId xmlns:a16="http://schemas.microsoft.com/office/drawing/2014/main" id="{1B64CE71-1533-4B6A-CEBA-721AFFEE987A}"/>
              </a:ext>
            </a:extLst>
          </p:cNvPr>
          <p:cNvCxnSpPr/>
          <p:nvPr/>
        </p:nvCxnSpPr>
        <p:spPr>
          <a:xfrm flipV="1">
            <a:off x="6619503" y="5450376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22">
            <a:extLst>
              <a:ext uri="{FF2B5EF4-FFF2-40B4-BE49-F238E27FC236}">
                <a16:creationId xmlns:a16="http://schemas.microsoft.com/office/drawing/2014/main" id="{E1A0E9B3-7FA4-58FB-F072-333BD7817F7B}"/>
              </a:ext>
            </a:extLst>
          </p:cNvPr>
          <p:cNvCxnSpPr/>
          <p:nvPr/>
        </p:nvCxnSpPr>
        <p:spPr>
          <a:xfrm flipV="1">
            <a:off x="5502661" y="5466298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22">
            <a:extLst>
              <a:ext uri="{FF2B5EF4-FFF2-40B4-BE49-F238E27FC236}">
                <a16:creationId xmlns:a16="http://schemas.microsoft.com/office/drawing/2014/main" id="{92E4B4E6-86FE-7F30-800A-0B8F2AD81925}"/>
              </a:ext>
            </a:extLst>
          </p:cNvPr>
          <p:cNvCxnSpPr/>
          <p:nvPr/>
        </p:nvCxnSpPr>
        <p:spPr>
          <a:xfrm flipV="1">
            <a:off x="4904430" y="5468570"/>
            <a:ext cx="0" cy="12013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2510BC-44EF-BDB2-60C6-1E35AC956419}"/>
              </a:ext>
            </a:extLst>
          </p:cNvPr>
          <p:cNvSpPr txBox="1"/>
          <p:nvPr/>
        </p:nvSpPr>
        <p:spPr>
          <a:xfrm>
            <a:off x="6483023" y="512018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-4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32FE3-5500-62DE-B098-39A8FA342084}"/>
              </a:ext>
            </a:extLst>
          </p:cNvPr>
          <p:cNvSpPr txBox="1"/>
          <p:nvPr/>
        </p:nvSpPr>
        <p:spPr>
          <a:xfrm>
            <a:off x="5352533" y="51224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-5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AEAC98-76EE-3EB4-49D2-2BA794156C0E}"/>
              </a:ext>
            </a:extLst>
          </p:cNvPr>
          <p:cNvSpPr txBox="1"/>
          <p:nvPr/>
        </p:nvSpPr>
        <p:spPr>
          <a:xfrm>
            <a:off x="4713361" y="515203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-6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40A3F-E7DE-A8B1-B58A-A3BBF1F54ECC}"/>
              </a:ext>
            </a:extLst>
          </p:cNvPr>
          <p:cNvSpPr txBox="1"/>
          <p:nvPr/>
        </p:nvSpPr>
        <p:spPr>
          <a:xfrm>
            <a:off x="1441168" y="2580223"/>
            <a:ext cx="4735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u="sng" dirty="0">
                <a:latin typeface="Consolas"/>
                <a:cs typeface="Consolas"/>
              </a:rPr>
              <a:t>+</a:t>
            </a:r>
            <a:r>
              <a:rPr lang="en-US" altLang="zh-CN" sz="1800" dirty="0">
                <a:latin typeface="Consolas"/>
                <a:cs typeface="Consolas"/>
              </a:rPr>
              <a:t>M * 2</a:t>
            </a:r>
            <a:r>
              <a:rPr lang="en-US" altLang="zh-CN" baseline="30000" dirty="0">
                <a:latin typeface="Consolas"/>
                <a:cs typeface="Consolas"/>
              </a:rPr>
              <a:t>1-bias</a:t>
            </a:r>
            <a:r>
              <a:rPr lang="en-US" altLang="zh-CN" sz="1800" dirty="0">
                <a:latin typeface="Consolas"/>
                <a:cs typeface="Consolas"/>
              </a:rPr>
              <a:t>, where </a:t>
            </a:r>
            <a:r>
              <a:rPr lang="en-US" altLang="zh-CN" dirty="0">
                <a:latin typeface="Arial"/>
                <a:cs typeface="Arial"/>
              </a:rPr>
              <a:t>M</a:t>
            </a:r>
            <a:r>
              <a:rPr lang="en-US" altLang="zh-CN" sz="1800" dirty="0">
                <a:latin typeface="Consolas"/>
                <a:cs typeface="Consolas"/>
              </a:rPr>
              <a:t> = (0.b</a:t>
            </a:r>
            <a:r>
              <a:rPr lang="en-US" altLang="zh-CN" sz="1800" baseline="-25000" dirty="0">
                <a:latin typeface="Consolas"/>
                <a:cs typeface="Consolas"/>
              </a:rPr>
              <a:t>1</a:t>
            </a:r>
            <a:r>
              <a:rPr lang="en-US" altLang="zh-CN" sz="1800" dirty="0">
                <a:latin typeface="Consolas"/>
                <a:cs typeface="Consolas"/>
              </a:rPr>
              <a:t>b</a:t>
            </a:r>
            <a:r>
              <a:rPr lang="en-US" altLang="zh-CN" sz="1800" baseline="-25000" dirty="0">
                <a:latin typeface="Consolas"/>
                <a:cs typeface="Consolas"/>
              </a:rPr>
              <a:t>2</a:t>
            </a:r>
            <a:r>
              <a:rPr lang="en-US" altLang="zh-CN" sz="1800" dirty="0">
                <a:latin typeface="Consolas"/>
                <a:cs typeface="Consolas"/>
              </a:rPr>
              <a:t>b</a:t>
            </a:r>
            <a:r>
              <a:rPr lang="en-US" altLang="zh-CN" sz="1800" baseline="-25000" dirty="0">
                <a:latin typeface="Consolas"/>
                <a:cs typeface="Consolas"/>
              </a:rPr>
              <a:t>3</a:t>
            </a:r>
            <a:r>
              <a:rPr lang="en-US" altLang="zh-CN" sz="1800" dirty="0">
                <a:latin typeface="Consolas"/>
                <a:cs typeface="Consolas"/>
              </a:rPr>
              <a:t>)</a:t>
            </a:r>
            <a:r>
              <a:rPr lang="en-US" altLang="zh-CN" sz="1800" baseline="-25000" dirty="0">
                <a:latin typeface="Consolas"/>
                <a:cs typeface="Consolas"/>
              </a:rPr>
              <a:t>2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E314DE-F187-95F7-EE08-9AFC7A46B56C}"/>
              </a:ext>
            </a:extLst>
          </p:cNvPr>
          <p:cNvGrpSpPr/>
          <p:nvPr/>
        </p:nvGrpSpPr>
        <p:grpSpPr>
          <a:xfrm>
            <a:off x="5752002" y="2228944"/>
            <a:ext cx="3194938" cy="1200056"/>
            <a:chOff x="5752002" y="2228944"/>
            <a:chExt cx="3194938" cy="12000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9E4FFDB-66BA-A39D-A866-212E99FACBAD}"/>
                </a:ext>
              </a:extLst>
            </p:cNvPr>
            <p:cNvSpPr txBox="1"/>
            <p:nvPr/>
          </p:nvSpPr>
          <p:spPr>
            <a:xfrm>
              <a:off x="5752002" y="2228944"/>
              <a:ext cx="3194938" cy="12000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F9309E-21ED-8B4D-8127-12DEF4823A5F}"/>
                </a:ext>
              </a:extLst>
            </p:cNvPr>
            <p:cNvSpPr txBox="1"/>
            <p:nvPr/>
          </p:nvSpPr>
          <p:spPr>
            <a:xfrm>
              <a:off x="5762643" y="2394017"/>
              <a:ext cx="3184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What’s the value of (00000101)</a:t>
              </a:r>
              <a:r>
                <a:rPr lang="en-US" baseline="-25000" dirty="0"/>
                <a:t>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C0BB53-5DAE-044E-B53C-3DBA93A2B03A}"/>
              </a:ext>
            </a:extLst>
          </p:cNvPr>
          <p:cNvSpPr txBox="1"/>
          <p:nvPr/>
        </p:nvSpPr>
        <p:spPr>
          <a:xfrm>
            <a:off x="6176940" y="2865003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 (0.101)</a:t>
            </a:r>
            <a:r>
              <a:rPr lang="en-US" baseline="-25000" dirty="0"/>
              <a:t>2 </a:t>
            </a:r>
            <a:r>
              <a:rPr lang="en-US" dirty="0"/>
              <a:t>x 2</a:t>
            </a:r>
            <a:r>
              <a:rPr lang="en-US" baseline="30000" dirty="0"/>
              <a:t>-6 </a:t>
            </a:r>
            <a:r>
              <a:rPr lang="en-US" dirty="0"/>
              <a:t>?</a:t>
            </a:r>
            <a:r>
              <a:rPr lang="en-US" baseline="30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513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Floating Point Standard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2E67-D911-4AA9-B730-29B5562C3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of FP implementations in 60s/70s</a:t>
            </a:r>
          </a:p>
          <a:p>
            <a:pPr lvl="1"/>
            <a:r>
              <a:rPr lang="en-US" dirty="0"/>
              <a:t>Code was not portable across processors</a:t>
            </a:r>
          </a:p>
          <a:p>
            <a:r>
              <a:rPr lang="en-US" dirty="0"/>
              <a:t>IEEE formed a committee (IEEE.754) to standardize FP format and specification.</a:t>
            </a:r>
          </a:p>
          <a:p>
            <a:pPr lvl="1"/>
            <a:r>
              <a:rPr lang="en-US" dirty="0"/>
              <a:t>IEEE FP standard published in 1985</a:t>
            </a:r>
          </a:p>
          <a:p>
            <a:pPr lvl="1"/>
            <a:r>
              <a:rPr lang="en-US" dirty="0"/>
              <a:t>Led by William Kahan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42" y="4606120"/>
            <a:ext cx="1580843" cy="14364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86558" y="4664997"/>
            <a:ext cx="37126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dirty="0">
                <a:latin typeface="Arial"/>
                <a:cs typeface="Arial"/>
              </a:rPr>
              <a:t>Prof</a:t>
            </a:r>
            <a:r>
              <a:rPr lang="en-US" altLang="zh-CN" dirty="0">
                <a:latin typeface="Arial"/>
                <a:cs typeface="Arial"/>
              </a:rPr>
              <a:t>.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fr-FR" altLang="zh-CN" dirty="0">
                <a:latin typeface="Arial"/>
                <a:cs typeface="Arial"/>
              </a:rPr>
              <a:t>William </a:t>
            </a:r>
            <a:r>
              <a:rPr lang="fr-FR" altLang="zh-CN" dirty="0" err="1">
                <a:latin typeface="Arial"/>
                <a:cs typeface="Arial"/>
              </a:rPr>
              <a:t>Kahan</a:t>
            </a:r>
            <a:r>
              <a:rPr lang="zh-CN" altLang="en-US" dirty="0">
                <a:latin typeface="Arial"/>
                <a:cs typeface="Arial"/>
              </a:rPr>
              <a:t> </a:t>
            </a:r>
            <a:endParaRPr lang="en-US" altLang="zh-CN" dirty="0">
              <a:latin typeface="Arial"/>
              <a:cs typeface="Arial"/>
            </a:endParaRPr>
          </a:p>
          <a:p>
            <a:r>
              <a:rPr lang="en-US" altLang="zh-CN" dirty="0">
                <a:latin typeface="Arial"/>
                <a:cs typeface="Arial"/>
              </a:rPr>
              <a:t>University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of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California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at</a:t>
            </a:r>
            <a:r>
              <a:rPr lang="zh-CN" altLang="en-US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Berkeley</a:t>
            </a:r>
          </a:p>
          <a:p>
            <a:r>
              <a:rPr lang="en-US" altLang="zh-CN" dirty="0">
                <a:latin typeface="Arial"/>
                <a:cs typeface="Arial"/>
              </a:rPr>
              <a:t>Turing Award (1989)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4697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IEEE Floating Point Standard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78B2-E322-4A0B-B0D0-5DC2254A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681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class only covers basic FP materials</a:t>
            </a:r>
          </a:p>
          <a:p>
            <a:r>
              <a:rPr lang="en-US" dirty="0"/>
              <a:t>A deep understanding of FP is crucial for numerical/scientific computing </a:t>
            </a:r>
          </a:p>
          <a:p>
            <a:pPr lvl="1"/>
            <a:r>
              <a:rPr lang="en-US" dirty="0"/>
              <a:t>More FP is covered in undergrad/grad classes on numerical methods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14" y="3245172"/>
            <a:ext cx="3098800" cy="3073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258" y="3054312"/>
            <a:ext cx="4133372" cy="36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13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Goals of IEEE Standard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Consistent representation of floating point numbers at various widths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Correctly rounded floating point operations, using several rounding modes.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Consistent treatment of exceptional situations such as division by zero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21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678" y="150512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IEEE FP32 normalized + denormalized</a:t>
            </a:r>
            <a:endParaRPr kumimoji="1" lang="zh-CN" altLang="en-US" dirty="0"/>
          </a:p>
        </p:txBody>
      </p:sp>
      <p:graphicFrame>
        <p:nvGraphicFramePr>
          <p:cNvPr id="55" name="表格 4">
            <a:extLst>
              <a:ext uri="{FF2B5EF4-FFF2-40B4-BE49-F238E27FC236}">
                <a16:creationId xmlns:a16="http://schemas.microsoft.com/office/drawing/2014/main" id="{A53E30E5-4E60-49E1-9D41-7FA61CDE6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16776"/>
              </p:ext>
            </p:extLst>
          </p:nvPr>
        </p:nvGraphicFramePr>
        <p:xfrm>
          <a:off x="457200" y="1648313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 = exp -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 127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矩形 13">
            <a:extLst>
              <a:ext uri="{FF2B5EF4-FFF2-40B4-BE49-F238E27FC236}">
                <a16:creationId xmlns:a16="http://schemas.microsoft.com/office/drawing/2014/main" id="{0AF35CD7-8F8E-4EC9-A6DE-94628687ED6A}"/>
              </a:ext>
            </a:extLst>
          </p:cNvPr>
          <p:cNvSpPr/>
          <p:nvPr/>
        </p:nvSpPr>
        <p:spPr>
          <a:xfrm>
            <a:off x="2513583" y="2215639"/>
            <a:ext cx="5873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/>
                <a:cs typeface="Arial"/>
              </a:rPr>
              <a:t>If (exp!=0 &amp;&amp; exp!=255) n = (1.F)</a:t>
            </a:r>
            <a:r>
              <a:rPr lang="en-US" altLang="zh-CN" baseline="-25000" dirty="0">
                <a:latin typeface="Arial"/>
                <a:cs typeface="Arial"/>
              </a:rPr>
              <a:t>2 </a:t>
            </a:r>
            <a:r>
              <a:rPr lang="en-US" altLang="zh-CN" dirty="0">
                <a:latin typeface="Arial"/>
                <a:cs typeface="Arial"/>
              </a:rPr>
              <a:t>* 2</a:t>
            </a:r>
            <a:r>
              <a:rPr lang="en-US" altLang="zh-CN" baseline="30000" dirty="0">
                <a:latin typeface="Arial"/>
                <a:cs typeface="Arial"/>
              </a:rPr>
              <a:t>exp-127</a:t>
            </a:r>
            <a:r>
              <a:rPr lang="en-US" altLang="zh-CN" dirty="0">
                <a:latin typeface="Arial"/>
                <a:cs typeface="Arial"/>
              </a:rPr>
              <a:t> (normalized)</a:t>
            </a:r>
            <a:endParaRPr lang="en-US" altLang="zh-CN" baseline="-25000" dirty="0">
              <a:latin typeface="Arial"/>
              <a:cs typeface="Arial"/>
            </a:endParaRPr>
          </a:p>
        </p:txBody>
      </p:sp>
      <p:graphicFrame>
        <p:nvGraphicFramePr>
          <p:cNvPr id="97" name="表格 11">
            <a:extLst>
              <a:ext uri="{FF2B5EF4-FFF2-40B4-BE49-F238E27FC236}">
                <a16:creationId xmlns:a16="http://schemas.microsoft.com/office/drawing/2014/main" id="{A2F5CDD2-6BD3-4AE6-A242-D906FE597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946308"/>
              </p:ext>
            </p:extLst>
          </p:nvPr>
        </p:nvGraphicFramePr>
        <p:xfrm>
          <a:off x="457200" y="4007365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000 0000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矩形 20">
            <a:extLst>
              <a:ext uri="{FF2B5EF4-FFF2-40B4-BE49-F238E27FC236}">
                <a16:creationId xmlns:a16="http://schemas.microsoft.com/office/drawing/2014/main" id="{1A4C1B76-5E28-4829-9B98-1B88B7F2D6DA}"/>
              </a:ext>
            </a:extLst>
          </p:cNvPr>
          <p:cNvSpPr/>
          <p:nvPr/>
        </p:nvSpPr>
        <p:spPr>
          <a:xfrm>
            <a:off x="3054668" y="4540894"/>
            <a:ext cx="41665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(exp == 0) n = (0.F)</a:t>
            </a:r>
            <a:r>
              <a:rPr lang="en-US" altLang="zh-CN" sz="1600" baseline="-25000" dirty="0">
                <a:latin typeface="Arial"/>
                <a:cs typeface="Arial"/>
              </a:rPr>
              <a:t>2 </a:t>
            </a:r>
            <a:r>
              <a:rPr lang="en-US" altLang="zh-CN" sz="1600" dirty="0">
                <a:latin typeface="Arial"/>
                <a:cs typeface="Arial"/>
              </a:rPr>
              <a:t>* 2</a:t>
            </a:r>
            <a:r>
              <a:rPr lang="en-US" altLang="zh-CN" sz="1600" baseline="30000" dirty="0">
                <a:latin typeface="Arial"/>
                <a:cs typeface="Arial"/>
              </a:rPr>
              <a:t>-126</a:t>
            </a:r>
            <a:r>
              <a:rPr lang="en-US" altLang="zh-CN" sz="1600" dirty="0">
                <a:latin typeface="Arial"/>
                <a:cs typeface="Arial"/>
              </a:rPr>
              <a:t> (denormalized)</a:t>
            </a:r>
            <a:endParaRPr lang="en-US" altLang="zh-CN" sz="1600" baseline="-25000" dirty="0">
              <a:latin typeface="Arial"/>
              <a:cs typeface="Arial"/>
            </a:endParaRPr>
          </a:p>
        </p:txBody>
      </p:sp>
      <p:graphicFrame>
        <p:nvGraphicFramePr>
          <p:cNvPr id="53" name="表格 12">
            <a:extLst>
              <a:ext uri="{FF2B5EF4-FFF2-40B4-BE49-F238E27FC236}">
                <a16:creationId xmlns:a16="http://schemas.microsoft.com/office/drawing/2014/main" id="{E7EFCDD8-FFC9-2443-AF84-7733A0BC4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84902"/>
              </p:ext>
            </p:extLst>
          </p:nvPr>
        </p:nvGraphicFramePr>
        <p:xfrm>
          <a:off x="457200" y="2876614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1000 0010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0100 1000 0000 0000 0000 000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TextBox 4">
            <a:extLst>
              <a:ext uri="{FF2B5EF4-FFF2-40B4-BE49-F238E27FC236}">
                <a16:creationId xmlns:a16="http://schemas.microsoft.com/office/drawing/2014/main" id="{43118873-53F9-C44F-9829-E35ECCB8693B}"/>
              </a:ext>
            </a:extLst>
          </p:cNvPr>
          <p:cNvSpPr txBox="1"/>
          <p:nvPr/>
        </p:nvSpPr>
        <p:spPr>
          <a:xfrm>
            <a:off x="404620" y="1348442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10C1F2CE-ADC8-2643-9AC0-0B8300CBBA17}"/>
              </a:ext>
            </a:extLst>
          </p:cNvPr>
          <p:cNvSpPr txBox="1"/>
          <p:nvPr/>
        </p:nvSpPr>
        <p:spPr>
          <a:xfrm>
            <a:off x="708496" y="1349379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57" name="TextBox 4">
            <a:extLst>
              <a:ext uri="{FF2B5EF4-FFF2-40B4-BE49-F238E27FC236}">
                <a16:creationId xmlns:a16="http://schemas.microsoft.com/office/drawing/2014/main" id="{4A531538-FBC8-0640-ACBC-963A16E1FCD7}"/>
              </a:ext>
            </a:extLst>
          </p:cNvPr>
          <p:cNvSpPr txBox="1"/>
          <p:nvPr/>
        </p:nvSpPr>
        <p:spPr>
          <a:xfrm>
            <a:off x="2936266" y="1356238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62" name="TextBox 4">
            <a:extLst>
              <a:ext uri="{FF2B5EF4-FFF2-40B4-BE49-F238E27FC236}">
                <a16:creationId xmlns:a16="http://schemas.microsoft.com/office/drawing/2014/main" id="{AAF6D637-FD65-B949-B978-E20BA8D62183}"/>
              </a:ext>
            </a:extLst>
          </p:cNvPr>
          <p:cNvSpPr txBox="1"/>
          <p:nvPr/>
        </p:nvSpPr>
        <p:spPr>
          <a:xfrm>
            <a:off x="3205186" y="1357175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66" name="TextBox 4">
            <a:extLst>
              <a:ext uri="{FF2B5EF4-FFF2-40B4-BE49-F238E27FC236}">
                <a16:creationId xmlns:a16="http://schemas.microsoft.com/office/drawing/2014/main" id="{8C1C18D7-9FF6-6142-96F4-93D4BA80BD1A}"/>
              </a:ext>
            </a:extLst>
          </p:cNvPr>
          <p:cNvSpPr txBox="1"/>
          <p:nvPr/>
        </p:nvSpPr>
        <p:spPr>
          <a:xfrm>
            <a:off x="8845195" y="1359286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BBB2D-A15C-F346-A163-BA9B0F1367DF}"/>
              </a:ext>
            </a:extLst>
          </p:cNvPr>
          <p:cNvCxnSpPr/>
          <p:nvPr/>
        </p:nvCxnSpPr>
        <p:spPr>
          <a:xfrm>
            <a:off x="0" y="3862319"/>
            <a:ext cx="91440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28AE0A0-AC62-5044-9515-2AB50DCD949F}"/>
              </a:ext>
            </a:extLst>
          </p:cNvPr>
          <p:cNvSpPr txBox="1"/>
          <p:nvPr/>
        </p:nvSpPr>
        <p:spPr>
          <a:xfrm>
            <a:off x="3205186" y="3429000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(1.01001)</a:t>
            </a:r>
            <a:r>
              <a:rPr lang="en-US" baseline="-25000" dirty="0"/>
              <a:t>2</a:t>
            </a:r>
            <a:r>
              <a:rPr lang="en-US" dirty="0"/>
              <a:t> * 2</a:t>
            </a:r>
            <a:r>
              <a:rPr lang="en-US" baseline="30000" dirty="0"/>
              <a:t>130-127</a:t>
            </a:r>
            <a:endParaRPr lang="en-US" dirty="0"/>
          </a:p>
        </p:txBody>
      </p:sp>
      <p:graphicFrame>
        <p:nvGraphicFramePr>
          <p:cNvPr id="73" name="表格 12">
            <a:extLst>
              <a:ext uri="{FF2B5EF4-FFF2-40B4-BE49-F238E27FC236}">
                <a16:creationId xmlns:a16="http://schemas.microsoft.com/office/drawing/2014/main" id="{7B418CC4-640F-714A-9BF7-90B0FC217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14796"/>
              </p:ext>
            </p:extLst>
          </p:nvPr>
        </p:nvGraphicFramePr>
        <p:xfrm>
          <a:off x="452682" y="5178383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0000 0000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0100 1000 0000 0000 0000 000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C30F553A-A788-9040-AC7F-D072BF327703}"/>
              </a:ext>
            </a:extLst>
          </p:cNvPr>
          <p:cNvSpPr txBox="1"/>
          <p:nvPr/>
        </p:nvSpPr>
        <p:spPr>
          <a:xfrm>
            <a:off x="3267904" y="572484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(0.01001)</a:t>
            </a:r>
            <a:r>
              <a:rPr lang="en-US" baseline="-25000" dirty="0"/>
              <a:t>2</a:t>
            </a:r>
            <a:r>
              <a:rPr lang="en-US" dirty="0"/>
              <a:t> * 2</a:t>
            </a:r>
            <a:r>
              <a:rPr lang="en-US" baseline="30000" dirty="0"/>
              <a:t>-126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FP32: special values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91204"/>
              </p:ext>
            </p:extLst>
          </p:nvPr>
        </p:nvGraphicFramePr>
        <p:xfrm>
          <a:off x="457200" y="2302751"/>
          <a:ext cx="8634220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1111 </a:t>
                      </a: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1111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3896" y="1906683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737772" y="1907620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2948303" y="1914403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3217223" y="1915340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8818300" y="1906683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10" name="矩形 9"/>
          <p:cNvSpPr/>
          <p:nvPr/>
        </p:nvSpPr>
        <p:spPr>
          <a:xfrm>
            <a:off x="306560" y="1461510"/>
            <a:ext cx="851225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/>
                <a:cs typeface="Arial"/>
              </a:rPr>
              <a:t>Special Value’s Encoding: </a:t>
            </a:r>
          </a:p>
          <a:p>
            <a:endParaRPr lang="en-US" altLang="zh-CN" sz="2000" b="1" baseline="-25000" dirty="0">
              <a:latin typeface="Arial"/>
              <a:cs typeface="Arial"/>
            </a:endParaRPr>
          </a:p>
          <a:p>
            <a:endParaRPr lang="en-US" altLang="zh-CN" sz="2000" b="1" u="sng" baseline="-25000" dirty="0">
              <a:latin typeface="Arial"/>
              <a:cs typeface="Arial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17674"/>
              </p:ext>
            </p:extLst>
          </p:nvPr>
        </p:nvGraphicFramePr>
        <p:xfrm>
          <a:off x="1484340" y="3569705"/>
          <a:ext cx="6096000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values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sign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sz="2200" b="1" i="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+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all zeros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- 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all zeros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 dirty="0" err="1">
                          <a:latin typeface="Verdana"/>
                          <a:cs typeface="Verdana"/>
                        </a:rPr>
                        <a:t>NaN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any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dirty="0">
                          <a:latin typeface="Verdana"/>
                          <a:cs typeface="Verdana"/>
                        </a:rPr>
                        <a:t>non-zero</a:t>
                      </a:r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769703"/>
              </p:ext>
            </p:extLst>
          </p:nvPr>
        </p:nvGraphicFramePr>
        <p:xfrm>
          <a:off x="1742318" y="4082733"/>
          <a:ext cx="400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400" imgH="127000" progId="Equation.3">
                  <p:embed/>
                </p:oleObj>
              </mc:Choice>
              <mc:Fallback>
                <p:oleObj name="公式" r:id="rId2" imgW="152400" imgH="127000" progId="Equation.3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2318" y="4082733"/>
                        <a:ext cx="40005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341987"/>
              </p:ext>
            </p:extLst>
          </p:nvPr>
        </p:nvGraphicFramePr>
        <p:xfrm>
          <a:off x="1741343" y="4491664"/>
          <a:ext cx="400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00" imgH="127000" progId="Equation.3">
                  <p:embed/>
                </p:oleObj>
              </mc:Choice>
              <mc:Fallback>
                <p:oleObj name="公式" r:id="rId4" imgW="152400" imgH="127000" progId="Equation.3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1343" y="4491664"/>
                        <a:ext cx="40005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89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IEEE FP32: single vs. double precision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90346"/>
              </p:ext>
            </p:extLst>
          </p:nvPr>
        </p:nvGraphicFramePr>
        <p:xfrm>
          <a:off x="364994" y="2098367"/>
          <a:ext cx="4393663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 + 127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1690" y="1702299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31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645566" y="1703236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30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1546989" y="1710957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23</a:t>
            </a:r>
          </a:p>
        </p:txBody>
      </p:sp>
      <p:sp>
        <p:nvSpPr>
          <p:cNvPr id="8" name="TextBox 4"/>
          <p:cNvSpPr txBox="1"/>
          <p:nvPr/>
        </p:nvSpPr>
        <p:spPr>
          <a:xfrm flipH="1">
            <a:off x="2096380" y="1710957"/>
            <a:ext cx="466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22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4459852" y="1702299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10" name="左大括号 9"/>
          <p:cNvSpPr/>
          <p:nvPr/>
        </p:nvSpPr>
        <p:spPr>
          <a:xfrm rot="5400000" flipH="1" flipV="1">
            <a:off x="2391120" y="507268"/>
            <a:ext cx="341411" cy="4393663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13218" y="2874812"/>
            <a:ext cx="29555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Verdana"/>
                <a:cs typeface="Verdana"/>
              </a:rPr>
              <a:t>single precision </a:t>
            </a:r>
            <a:r>
              <a:rPr lang="en-US" altLang="zh-CN" sz="1600" dirty="0">
                <a:latin typeface="Verdana"/>
                <a:cs typeface="Verdana"/>
              </a:rPr>
              <a:t>(32 bits)</a:t>
            </a:r>
            <a:endParaRPr lang="zh-CN" altLang="en-US" sz="1600" dirty="0">
              <a:latin typeface="Verdana"/>
              <a:cs typeface="Verdana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14814"/>
              </p:ext>
            </p:extLst>
          </p:nvPr>
        </p:nvGraphicFramePr>
        <p:xfrm>
          <a:off x="342739" y="4201232"/>
          <a:ext cx="8659905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16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 + 1023 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4"/>
          <p:cNvSpPr txBox="1"/>
          <p:nvPr/>
        </p:nvSpPr>
        <p:spPr>
          <a:xfrm>
            <a:off x="319436" y="3816815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63</a:t>
            </a:r>
          </a:p>
        </p:txBody>
      </p:sp>
      <p:sp>
        <p:nvSpPr>
          <p:cNvPr id="19" name="TextBox 4"/>
          <p:cNvSpPr txBox="1"/>
          <p:nvPr/>
        </p:nvSpPr>
        <p:spPr>
          <a:xfrm>
            <a:off x="623312" y="3817752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62</a:t>
            </a:r>
          </a:p>
        </p:txBody>
      </p:sp>
      <p:sp>
        <p:nvSpPr>
          <p:cNvPr id="20" name="TextBox 4"/>
          <p:cNvSpPr txBox="1"/>
          <p:nvPr/>
        </p:nvSpPr>
        <p:spPr>
          <a:xfrm>
            <a:off x="1959933" y="3827667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52</a:t>
            </a:r>
          </a:p>
        </p:txBody>
      </p:sp>
      <p:sp>
        <p:nvSpPr>
          <p:cNvPr id="21" name="TextBox 4"/>
          <p:cNvSpPr txBox="1"/>
          <p:nvPr/>
        </p:nvSpPr>
        <p:spPr>
          <a:xfrm>
            <a:off x="2268009" y="3827806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51</a:t>
            </a:r>
          </a:p>
        </p:txBody>
      </p:sp>
      <p:sp>
        <p:nvSpPr>
          <p:cNvPr id="22" name="TextBox 4"/>
          <p:cNvSpPr txBox="1"/>
          <p:nvPr/>
        </p:nvSpPr>
        <p:spPr>
          <a:xfrm>
            <a:off x="8703840" y="3805164"/>
            <a:ext cx="298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0</a:t>
            </a:r>
          </a:p>
        </p:txBody>
      </p:sp>
      <p:sp>
        <p:nvSpPr>
          <p:cNvPr id="23" name="左大括号 22"/>
          <p:cNvSpPr/>
          <p:nvPr/>
        </p:nvSpPr>
        <p:spPr>
          <a:xfrm rot="5400000" flipH="1" flipV="1">
            <a:off x="4489145" y="559764"/>
            <a:ext cx="341411" cy="8634222"/>
          </a:xfrm>
          <a:prstGeom prst="leftBrace">
            <a:avLst>
              <a:gd name="adj1" fmla="val 8333"/>
              <a:gd name="adj2" fmla="val 4898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927059" y="5094187"/>
            <a:ext cx="3405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Verdana"/>
                <a:cs typeface="Verdana"/>
              </a:rPr>
              <a:t>double precision </a:t>
            </a:r>
            <a:r>
              <a:rPr lang="en-US" altLang="zh-CN" dirty="0">
                <a:latin typeface="Verdana"/>
                <a:cs typeface="Verdana"/>
              </a:rPr>
              <a:t>(64 bits)</a:t>
            </a:r>
            <a:endParaRPr lang="zh-CN" altLang="en-US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2171" y="2098367"/>
            <a:ext cx="22300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float f = 0.1;</a:t>
            </a:r>
          </a:p>
          <a:p>
            <a:r>
              <a:rPr lang="en-US" altLang="zh-CN" sz="2400" dirty="0">
                <a:latin typeface="Arial"/>
                <a:cs typeface="Arial"/>
              </a:rPr>
              <a:t>double d = 0.1;</a:t>
            </a:r>
            <a:endParaRPr lang="zh-CN" alt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600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single/ double precision</a:t>
            </a:r>
            <a:endParaRPr kumimoji="1"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86132"/>
              </p:ext>
            </p:extLst>
          </p:nvPr>
        </p:nvGraphicFramePr>
        <p:xfrm>
          <a:off x="457199" y="1812623"/>
          <a:ext cx="7909023" cy="31856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6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0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 err="1">
                          <a:latin typeface="Verdana"/>
                          <a:cs typeface="Verdana"/>
                        </a:rPr>
                        <a:t>E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min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 err="1">
                          <a:latin typeface="Verdana"/>
                          <a:cs typeface="Verdana"/>
                        </a:rPr>
                        <a:t>E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max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baseline="0" dirty="0" err="1">
                          <a:latin typeface="Verdana"/>
                          <a:cs typeface="Verdana"/>
                        </a:rPr>
                        <a:t>N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min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baseline="0" dirty="0" err="1">
                          <a:latin typeface="Verdana"/>
                          <a:cs typeface="Verdana"/>
                        </a:rPr>
                        <a:t>N</a:t>
                      </a:r>
                      <a:r>
                        <a:rPr lang="en-US" altLang="zh-CN" sz="2400" baseline="-25000" dirty="0" err="1">
                          <a:latin typeface="Verdana"/>
                          <a:cs typeface="Verdana"/>
                        </a:rPr>
                        <a:t>max</a:t>
                      </a:r>
                      <a:endParaRPr lang="zh-CN" altLang="en-US" sz="2400" baseline="-25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Float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-126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127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-149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Verdana"/>
                          <a:cs typeface="Verdana"/>
                        </a:rPr>
                        <a:t>≈</a:t>
                      </a: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128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86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Double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-1022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1023</a:t>
                      </a:r>
                      <a:endParaRPr lang="zh-CN" altLang="en-US" sz="24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>
                          <a:latin typeface="Verdana"/>
                          <a:cs typeface="Verdana"/>
                        </a:rPr>
                        <a:t>-1074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Verdana"/>
                          <a:cs typeface="Verdana"/>
                        </a:rPr>
                        <a:t>≈</a:t>
                      </a:r>
                      <a:r>
                        <a:rPr lang="en-US" altLang="zh-CN" sz="2400" dirty="0">
                          <a:latin typeface="Verdana"/>
                          <a:cs typeface="Verdana"/>
                        </a:rPr>
                        <a:t> 2</a:t>
                      </a:r>
                      <a:r>
                        <a:rPr lang="en-US" altLang="zh-CN" sz="2400" baseline="30000" dirty="0">
                          <a:latin typeface="Verdana"/>
                          <a:cs typeface="Verdana"/>
                        </a:rPr>
                        <a:t>1024</a:t>
                      </a:r>
                      <a:endParaRPr lang="zh-CN" altLang="en-US" sz="2400" baseline="300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36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E490-D915-EB42-A01F-F5668C1C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8AE59-89AC-874D-A3A2-524807E8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9838"/>
            <a:ext cx="8229600" cy="4525963"/>
          </a:xfrm>
        </p:spPr>
        <p:txBody>
          <a:bodyPr/>
          <a:lstStyle/>
          <a:p>
            <a:r>
              <a:rPr lang="en-US" dirty="0"/>
              <a:t>Normalized binary representation of real numbers</a:t>
            </a:r>
          </a:p>
          <a:p>
            <a:r>
              <a:rPr lang="en-US" dirty="0"/>
              <a:t>IEEE FP</a:t>
            </a:r>
          </a:p>
          <a:p>
            <a:pPr lvl="1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029F1F-7A13-D747-A51A-3B1C1585C5AE}"/>
              </a:ext>
            </a:extLst>
          </p:cNvPr>
          <p:cNvCxnSpPr>
            <a:cxnSpLocks/>
          </p:cNvCxnSpPr>
          <p:nvPr/>
        </p:nvCxnSpPr>
        <p:spPr>
          <a:xfrm>
            <a:off x="716728" y="4933922"/>
            <a:ext cx="7560456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BDBB6C-536B-7A48-880D-17B57C95D67D}"/>
              </a:ext>
            </a:extLst>
          </p:cNvPr>
          <p:cNvCxnSpPr/>
          <p:nvPr/>
        </p:nvCxnSpPr>
        <p:spPr>
          <a:xfrm>
            <a:off x="3480399" y="4817916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10D5B0-5943-0E4B-959D-9619528B3C22}"/>
              </a:ext>
            </a:extLst>
          </p:cNvPr>
          <p:cNvCxnSpPr/>
          <p:nvPr/>
        </p:nvCxnSpPr>
        <p:spPr>
          <a:xfrm>
            <a:off x="4240125" y="4828152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AA6693-83DC-8F40-B43F-37E8511D7C78}"/>
              </a:ext>
            </a:extLst>
          </p:cNvPr>
          <p:cNvCxnSpPr/>
          <p:nvPr/>
        </p:nvCxnSpPr>
        <p:spPr>
          <a:xfrm>
            <a:off x="5379713" y="4817916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1B6B56-5AA6-FB4A-92E4-F060C799C02A}"/>
              </a:ext>
            </a:extLst>
          </p:cNvPr>
          <p:cNvSpPr txBox="1"/>
          <p:nvPr/>
        </p:nvSpPr>
        <p:spPr>
          <a:xfrm>
            <a:off x="3357356" y="4451996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-126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43C03-EECE-504E-BB48-7A3BFBE4B374}"/>
              </a:ext>
            </a:extLst>
          </p:cNvPr>
          <p:cNvSpPr txBox="1"/>
          <p:nvPr/>
        </p:nvSpPr>
        <p:spPr>
          <a:xfrm>
            <a:off x="4089282" y="4448689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-125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2619C-0CB1-F548-9209-F166F0D448CF}"/>
              </a:ext>
            </a:extLst>
          </p:cNvPr>
          <p:cNvSpPr txBox="1"/>
          <p:nvPr/>
        </p:nvSpPr>
        <p:spPr>
          <a:xfrm>
            <a:off x="5228870" y="4458682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-124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347EA-053E-8A41-BCE9-561B396CAA36}"/>
              </a:ext>
            </a:extLst>
          </p:cNvPr>
          <p:cNvSpPr txBox="1"/>
          <p:nvPr/>
        </p:nvSpPr>
        <p:spPr>
          <a:xfrm>
            <a:off x="311940" y="356549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AC526D-F17B-7748-8F45-8660973FC879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>
            <a:off x="1054291" y="3934822"/>
            <a:ext cx="368360" cy="550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7D37C8-D802-2D43-A7F7-8E433A5CEBA2}"/>
              </a:ext>
            </a:extLst>
          </p:cNvPr>
          <p:cNvSpPr txBox="1"/>
          <p:nvPr/>
        </p:nvSpPr>
        <p:spPr>
          <a:xfrm>
            <a:off x="3707127" y="3881212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0….10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FED247-44DC-DF44-AF50-D9D843FBFF5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263244" y="4208383"/>
            <a:ext cx="110732" cy="24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BF76ECC-7D9A-7B43-8927-DFADD25E7118}"/>
              </a:ext>
            </a:extLst>
          </p:cNvPr>
          <p:cNvSpPr txBox="1"/>
          <p:nvPr/>
        </p:nvSpPr>
        <p:spPr>
          <a:xfrm>
            <a:off x="5047060" y="388349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0…11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958EA9-3FAC-2144-91EB-51C3D538B76E}"/>
              </a:ext>
            </a:extLst>
          </p:cNvPr>
          <p:cNvCxnSpPr>
            <a:cxnSpLocks/>
          </p:cNvCxnSpPr>
          <p:nvPr/>
        </p:nvCxnSpPr>
        <p:spPr>
          <a:xfrm flipH="1">
            <a:off x="5469033" y="4161032"/>
            <a:ext cx="284986" cy="283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10F4E2-5BDC-944A-ACDD-A422A5BB9905}"/>
              </a:ext>
            </a:extLst>
          </p:cNvPr>
          <p:cNvCxnSpPr/>
          <p:nvPr/>
        </p:nvCxnSpPr>
        <p:spPr>
          <a:xfrm>
            <a:off x="3631242" y="4837139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BD392-6DBC-004E-9A11-E7AD8807296D}"/>
              </a:ext>
            </a:extLst>
          </p:cNvPr>
          <p:cNvCxnSpPr/>
          <p:nvPr/>
        </p:nvCxnSpPr>
        <p:spPr>
          <a:xfrm>
            <a:off x="3733302" y="4831669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B60D19-8264-A042-BDB8-094CA6AB7ACF}"/>
              </a:ext>
            </a:extLst>
          </p:cNvPr>
          <p:cNvCxnSpPr/>
          <p:nvPr/>
        </p:nvCxnSpPr>
        <p:spPr>
          <a:xfrm>
            <a:off x="3885702" y="4827393"/>
            <a:ext cx="0" cy="1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2DEC39BE-A0DD-EA49-AF63-DCB47364178C}"/>
              </a:ext>
            </a:extLst>
          </p:cNvPr>
          <p:cNvSpPr/>
          <p:nvPr/>
        </p:nvSpPr>
        <p:spPr>
          <a:xfrm rot="5400000" flipH="1">
            <a:off x="3585299" y="4943732"/>
            <a:ext cx="489315" cy="753334"/>
          </a:xfrm>
          <a:prstGeom prst="leftBrace">
            <a:avLst>
              <a:gd name="adj1" fmla="val 2284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1AE338D5-2E41-6240-A1FE-2D294E8522FE}"/>
              </a:ext>
            </a:extLst>
          </p:cNvPr>
          <p:cNvSpPr/>
          <p:nvPr/>
        </p:nvSpPr>
        <p:spPr>
          <a:xfrm rot="5400000" flipH="1">
            <a:off x="4586645" y="4792107"/>
            <a:ext cx="475689" cy="1044805"/>
          </a:xfrm>
          <a:prstGeom prst="leftBrace">
            <a:avLst>
              <a:gd name="adj1" fmla="val 2680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6EF3C-C223-F74D-BD05-0DE6A18F8CF0}"/>
              </a:ext>
            </a:extLst>
          </p:cNvPr>
          <p:cNvSpPr txBox="1"/>
          <p:nvPr/>
        </p:nvSpPr>
        <p:spPr>
          <a:xfrm>
            <a:off x="3211797" y="5779374"/>
            <a:ext cx="420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evenly spaced numbers in each interval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85AE42-A1EB-FB40-9CA7-B5D6CA7ABFD1}"/>
              </a:ext>
            </a:extLst>
          </p:cNvPr>
          <p:cNvCxnSpPr/>
          <p:nvPr/>
        </p:nvCxnSpPr>
        <p:spPr>
          <a:xfrm flipH="1" flipV="1">
            <a:off x="3990931" y="5720781"/>
            <a:ext cx="400037" cy="17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0B3756-7353-7E45-9A5C-E32EBFC35C14}"/>
              </a:ext>
            </a:extLst>
          </p:cNvPr>
          <p:cNvCxnSpPr>
            <a:cxnSpLocks/>
          </p:cNvCxnSpPr>
          <p:nvPr/>
        </p:nvCxnSpPr>
        <p:spPr>
          <a:xfrm flipH="1" flipV="1">
            <a:off x="4824489" y="5592944"/>
            <a:ext cx="22552" cy="25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FADD5B-DD43-EE49-9194-8FF1E9FDC302}"/>
              </a:ext>
            </a:extLst>
          </p:cNvPr>
          <p:cNvCxnSpPr>
            <a:cxnSpLocks/>
          </p:cNvCxnSpPr>
          <p:nvPr/>
        </p:nvCxnSpPr>
        <p:spPr>
          <a:xfrm flipV="1">
            <a:off x="5530556" y="5662779"/>
            <a:ext cx="658445" cy="21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842859-A443-7646-BE4A-5FD7234CF665}"/>
              </a:ext>
            </a:extLst>
          </p:cNvPr>
          <p:cNvSpPr txBox="1"/>
          <p:nvPr/>
        </p:nvSpPr>
        <p:spPr>
          <a:xfrm>
            <a:off x="1796642" y="4508293"/>
            <a:ext cx="639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-126</a:t>
            </a:r>
            <a:endParaRPr lang="en-US" sz="1800" dirty="0"/>
          </a:p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4D690C-2EAD-0B4C-8DA7-923AE233BE16}"/>
              </a:ext>
            </a:extLst>
          </p:cNvPr>
          <p:cNvCxnSpPr/>
          <p:nvPr/>
        </p:nvCxnSpPr>
        <p:spPr>
          <a:xfrm>
            <a:off x="1947485" y="4864201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D25C4E-DDC8-B34B-BDC2-C7BBBD426278}"/>
              </a:ext>
            </a:extLst>
          </p:cNvPr>
          <p:cNvCxnSpPr/>
          <p:nvPr/>
        </p:nvCxnSpPr>
        <p:spPr>
          <a:xfrm>
            <a:off x="1253534" y="4864544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923D50-A7B9-5749-9A94-8DCAA28270BE}"/>
              </a:ext>
            </a:extLst>
          </p:cNvPr>
          <p:cNvSpPr txBox="1"/>
          <p:nvPr/>
        </p:nvSpPr>
        <p:spPr>
          <a:xfrm>
            <a:off x="1102691" y="4485081"/>
            <a:ext cx="639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kumimoji="1" lang="en-US" altLang="zh-CN" sz="1600" dirty="0">
                <a:latin typeface="Arial"/>
                <a:cs typeface="Arial"/>
              </a:rPr>
              <a:t>2</a:t>
            </a:r>
            <a:r>
              <a:rPr kumimoji="1" lang="en-US" altLang="zh-CN" sz="1600" baseline="30000" dirty="0">
                <a:latin typeface="Arial"/>
                <a:cs typeface="Arial"/>
              </a:rPr>
              <a:t>-125</a:t>
            </a:r>
            <a:endParaRPr lang="en-US" dirty="0"/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883D99-2C6E-2346-A007-DF933B9DBC45}"/>
              </a:ext>
            </a:extLst>
          </p:cNvPr>
          <p:cNvSpPr txBox="1"/>
          <p:nvPr/>
        </p:nvSpPr>
        <p:spPr>
          <a:xfrm>
            <a:off x="2504087" y="4035901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0….01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C7D99E-842C-D448-932B-9E3494E1AE2E}"/>
              </a:ext>
            </a:extLst>
          </p:cNvPr>
          <p:cNvCxnSpPr>
            <a:stCxn id="30" idx="2"/>
          </p:cNvCxnSpPr>
          <p:nvPr/>
        </p:nvCxnSpPr>
        <p:spPr>
          <a:xfrm>
            <a:off x="3246438" y="4405233"/>
            <a:ext cx="235518" cy="38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37F709-55D0-A440-8993-CDF216EB9F0B}"/>
              </a:ext>
            </a:extLst>
          </p:cNvPr>
          <p:cNvSpPr txBox="1"/>
          <p:nvPr/>
        </p:nvSpPr>
        <p:spPr>
          <a:xfrm>
            <a:off x="1206691" y="3873544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0….00 </a:t>
            </a:r>
            <a:r>
              <a:rPr lang="en-US" dirty="0">
                <a:solidFill>
                  <a:schemeClr val="accent1"/>
                </a:solidFill>
              </a:rPr>
              <a:t>0…00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AA599D-324A-6241-A0AF-EB4327283F36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796642" y="4169617"/>
            <a:ext cx="319960" cy="33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5A77C2C1-477E-814E-AF60-78C6E62D0685}"/>
              </a:ext>
            </a:extLst>
          </p:cNvPr>
          <p:cNvSpPr/>
          <p:nvPr/>
        </p:nvSpPr>
        <p:spPr>
          <a:xfrm rot="5400000" flipH="1">
            <a:off x="1370796" y="5024617"/>
            <a:ext cx="435133" cy="718243"/>
          </a:xfrm>
          <a:prstGeom prst="leftBrace">
            <a:avLst>
              <a:gd name="adj1" fmla="val 2284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C06D09-C83C-104E-9525-8A7E825B24FD}"/>
              </a:ext>
            </a:extLst>
          </p:cNvPr>
          <p:cNvCxnSpPr>
            <a:cxnSpLocks/>
          </p:cNvCxnSpPr>
          <p:nvPr/>
        </p:nvCxnSpPr>
        <p:spPr>
          <a:xfrm flipH="1" flipV="1">
            <a:off x="8197944" y="5102828"/>
            <a:ext cx="79240" cy="207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1665D48-B410-4445-84C9-8BE60F6C4DDA}"/>
              </a:ext>
            </a:extLst>
          </p:cNvPr>
          <p:cNvSpPr txBox="1"/>
          <p:nvPr/>
        </p:nvSpPr>
        <p:spPr>
          <a:xfrm>
            <a:off x="7118354" y="5310212"/>
            <a:ext cx="1947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0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1…10 </a:t>
            </a:r>
            <a:r>
              <a:rPr lang="en-US" dirty="0">
                <a:solidFill>
                  <a:schemeClr val="accent1"/>
                </a:solidFill>
              </a:rPr>
              <a:t>1…11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6C8F75-2F62-EC4C-988B-7105D1151564}"/>
              </a:ext>
            </a:extLst>
          </p:cNvPr>
          <p:cNvSpPr txBox="1"/>
          <p:nvPr/>
        </p:nvSpPr>
        <p:spPr>
          <a:xfrm>
            <a:off x="7305978" y="5553471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127</a:t>
            </a:r>
            <a:r>
              <a:rPr lang="en-US" dirty="0"/>
              <a:t>+(2</a:t>
            </a:r>
            <a:r>
              <a:rPr lang="en-US" baseline="30000" dirty="0"/>
              <a:t>23</a:t>
            </a:r>
            <a:r>
              <a:rPr lang="en-US" dirty="0"/>
              <a:t>-1)*2</a:t>
            </a:r>
            <a:r>
              <a:rPr lang="en-US" baseline="30000" dirty="0"/>
              <a:t>127-23</a:t>
            </a:r>
          </a:p>
        </p:txBody>
      </p:sp>
      <p:graphicFrame>
        <p:nvGraphicFramePr>
          <p:cNvPr id="38" name="表格 4">
            <a:extLst>
              <a:ext uri="{FF2B5EF4-FFF2-40B4-BE49-F238E27FC236}">
                <a16:creationId xmlns:a16="http://schemas.microsoft.com/office/drawing/2014/main" id="{862887F1-66E1-D741-990C-1373580B0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59766"/>
              </p:ext>
            </p:extLst>
          </p:nvPr>
        </p:nvGraphicFramePr>
        <p:xfrm>
          <a:off x="2124913" y="1866479"/>
          <a:ext cx="6909844" cy="432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8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Verdana"/>
                          <a:cs typeface="Verdana"/>
                        </a:rPr>
                        <a:t>s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Verdana"/>
                          <a:cs typeface="Verdana"/>
                        </a:rPr>
                        <a:t>exp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Verdana"/>
                          <a:cs typeface="Verdana"/>
                        </a:rPr>
                        <a:t>fraction (F)</a:t>
                      </a:r>
                      <a:endParaRPr lang="zh-CN" altLang="en-US" dirty="0">
                        <a:latin typeface="Verdana"/>
                        <a:cs typeface="Verdan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矩形 13">
            <a:extLst>
              <a:ext uri="{FF2B5EF4-FFF2-40B4-BE49-F238E27FC236}">
                <a16:creationId xmlns:a16="http://schemas.microsoft.com/office/drawing/2014/main" id="{B28F5FF4-F88A-BA41-921C-45FBD177EAAE}"/>
              </a:ext>
            </a:extLst>
          </p:cNvPr>
          <p:cNvSpPr/>
          <p:nvPr/>
        </p:nvSpPr>
        <p:spPr>
          <a:xfrm>
            <a:off x="3030597" y="2396711"/>
            <a:ext cx="34900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exp!=0 &amp;&amp; exp!=255, (1.F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)*2</a:t>
            </a:r>
            <a:r>
              <a:rPr lang="en-US" altLang="zh-CN" sz="1600" baseline="30000" dirty="0">
                <a:latin typeface="Arial"/>
                <a:cs typeface="Arial"/>
              </a:rPr>
              <a:t>exp-127</a:t>
            </a:r>
          </a:p>
        </p:txBody>
      </p:sp>
      <p:sp>
        <p:nvSpPr>
          <p:cNvPr id="41" name="矩形 20">
            <a:extLst>
              <a:ext uri="{FF2B5EF4-FFF2-40B4-BE49-F238E27FC236}">
                <a16:creationId xmlns:a16="http://schemas.microsoft.com/office/drawing/2014/main" id="{D6EC807E-D770-2D48-A9F5-908040EC8B71}"/>
              </a:ext>
            </a:extLst>
          </p:cNvPr>
          <p:cNvSpPr/>
          <p:nvPr/>
        </p:nvSpPr>
        <p:spPr>
          <a:xfrm>
            <a:off x="5708700" y="3655127"/>
            <a:ext cx="2303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0 &lt;= M &lt; 1, M = ( 0.F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</a:t>
            </a:r>
            <a:r>
              <a:rPr lang="en-US" altLang="zh-CN" sz="1600" baseline="-25000" dirty="0">
                <a:latin typeface="Arial"/>
                <a:cs typeface="Arial"/>
              </a:rPr>
              <a:t>2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65053A-E463-E34B-923F-BA7B4023B88E}"/>
              </a:ext>
            </a:extLst>
          </p:cNvPr>
          <p:cNvCxnSpPr/>
          <p:nvPr/>
        </p:nvCxnSpPr>
        <p:spPr>
          <a:xfrm>
            <a:off x="2725224" y="4861132"/>
            <a:ext cx="0" cy="2115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6D3C58-1754-A84C-9872-1737CEB34128}"/>
              </a:ext>
            </a:extLst>
          </p:cNvPr>
          <p:cNvGrpSpPr/>
          <p:nvPr/>
        </p:nvGrpSpPr>
        <p:grpSpPr>
          <a:xfrm>
            <a:off x="2403912" y="3145029"/>
            <a:ext cx="1492437" cy="1824929"/>
            <a:chOff x="2403912" y="3145029"/>
            <a:chExt cx="1492437" cy="182492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6B61AF-572C-A448-B6A8-F56EF1DBB5F0}"/>
                </a:ext>
              </a:extLst>
            </p:cNvPr>
            <p:cNvSpPr txBox="1"/>
            <p:nvPr/>
          </p:nvSpPr>
          <p:spPr>
            <a:xfrm>
              <a:off x="2490593" y="4508293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±0</a:t>
              </a:r>
              <a:endParaRPr lang="en-US" sz="16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1C8795F-F507-6947-A109-24ACC0A23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143" y="3823087"/>
              <a:ext cx="121495" cy="833652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BAE502-2481-D848-A05F-BD2F6D19C831}"/>
                </a:ext>
              </a:extLst>
            </p:cNvPr>
            <p:cNvSpPr txBox="1"/>
            <p:nvPr/>
          </p:nvSpPr>
          <p:spPr>
            <a:xfrm>
              <a:off x="2403912" y="3145029"/>
              <a:ext cx="1484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0….00 </a:t>
              </a:r>
              <a:r>
                <a:rPr lang="en-US" dirty="0">
                  <a:solidFill>
                    <a:schemeClr val="accent1"/>
                  </a:solidFill>
                </a:rPr>
                <a:t>0…00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FF2F2D-D633-024B-89AC-BF449C880BEA}"/>
                </a:ext>
              </a:extLst>
            </p:cNvPr>
            <p:cNvSpPr txBox="1"/>
            <p:nvPr/>
          </p:nvSpPr>
          <p:spPr>
            <a:xfrm>
              <a:off x="2411647" y="3407044"/>
              <a:ext cx="1484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0….00 </a:t>
              </a:r>
              <a:r>
                <a:rPr lang="en-US" dirty="0">
                  <a:solidFill>
                    <a:schemeClr val="accent1"/>
                  </a:solidFill>
                </a:rPr>
                <a:t>0…00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DB7BB68-54F1-6A4E-9BFD-0D171111D4B4}"/>
              </a:ext>
            </a:extLst>
          </p:cNvPr>
          <p:cNvGrpSpPr/>
          <p:nvPr/>
        </p:nvGrpSpPr>
        <p:grpSpPr>
          <a:xfrm>
            <a:off x="1824468" y="5114443"/>
            <a:ext cx="6659452" cy="1485915"/>
            <a:chOff x="1824468" y="5114443"/>
            <a:chExt cx="6659452" cy="1485915"/>
          </a:xfrm>
        </p:grpSpPr>
        <p:sp>
          <p:nvSpPr>
            <p:cNvPr id="49" name="Left Brace 48">
              <a:extLst>
                <a:ext uri="{FF2B5EF4-FFF2-40B4-BE49-F238E27FC236}">
                  <a16:creationId xmlns:a16="http://schemas.microsoft.com/office/drawing/2014/main" id="{7CE8F750-9F93-1A49-803F-880155FCF126}"/>
                </a:ext>
              </a:extLst>
            </p:cNvPr>
            <p:cNvSpPr/>
            <p:nvPr/>
          </p:nvSpPr>
          <p:spPr>
            <a:xfrm rot="5400000" flipH="1">
              <a:off x="2822047" y="5022133"/>
              <a:ext cx="489315" cy="682961"/>
            </a:xfrm>
            <a:prstGeom prst="leftBrace">
              <a:avLst>
                <a:gd name="adj1" fmla="val 22843"/>
                <a:gd name="adj2" fmla="val 50000"/>
              </a:avLst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64ACADF6-495B-F841-8196-B71C0A042B1E}"/>
                </a:ext>
              </a:extLst>
            </p:cNvPr>
            <p:cNvSpPr/>
            <p:nvPr/>
          </p:nvSpPr>
          <p:spPr>
            <a:xfrm rot="5400000" flipH="1">
              <a:off x="2065186" y="5017620"/>
              <a:ext cx="489315" cy="682961"/>
            </a:xfrm>
            <a:prstGeom prst="leftBrace">
              <a:avLst>
                <a:gd name="adj1" fmla="val 22843"/>
                <a:gd name="adj2" fmla="val 50000"/>
              </a:avLst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274FE35-49A8-1548-BF18-8B17F73483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9843" y="5835716"/>
              <a:ext cx="218440" cy="312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EDA7CD6-F2DF-C543-A45E-140A879F67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4282" y="5777429"/>
              <a:ext cx="265076" cy="371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4F1FC6D-F549-BB40-8029-B7B19F61FE64}"/>
                </a:ext>
              </a:extLst>
            </p:cNvPr>
            <p:cNvSpPr txBox="1"/>
            <p:nvPr/>
          </p:nvSpPr>
          <p:spPr>
            <a:xfrm>
              <a:off x="1824468" y="6231026"/>
              <a:ext cx="6659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r>
                <a:rPr lang="en-US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23</a:t>
              </a:r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evenly spaced denormalized numbers in each of the two intervals</a:t>
              </a:r>
            </a:p>
          </p:txBody>
        </p:sp>
      </p:grpSp>
      <p:sp>
        <p:nvSpPr>
          <p:cNvPr id="54" name="矩形 13">
            <a:extLst>
              <a:ext uri="{FF2B5EF4-FFF2-40B4-BE49-F238E27FC236}">
                <a16:creationId xmlns:a16="http://schemas.microsoft.com/office/drawing/2014/main" id="{853F050E-7DDF-364B-89EB-8ABDB19915BE}"/>
              </a:ext>
            </a:extLst>
          </p:cNvPr>
          <p:cNvSpPr/>
          <p:nvPr/>
        </p:nvSpPr>
        <p:spPr>
          <a:xfrm>
            <a:off x="3058749" y="2723882"/>
            <a:ext cx="2095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If exp==0, (0.F</a:t>
            </a:r>
            <a:r>
              <a:rPr lang="en-US" altLang="zh-CN" sz="1600" baseline="-25000" dirty="0">
                <a:latin typeface="Arial"/>
                <a:cs typeface="Arial"/>
              </a:rPr>
              <a:t> </a:t>
            </a:r>
            <a:r>
              <a:rPr lang="en-US" altLang="zh-CN" sz="1600" dirty="0">
                <a:latin typeface="Arial"/>
                <a:cs typeface="Arial"/>
              </a:rPr>
              <a:t>)*2</a:t>
            </a:r>
            <a:r>
              <a:rPr lang="en-US" altLang="zh-CN" sz="1600" baseline="30000" dirty="0">
                <a:latin typeface="Arial"/>
                <a:cs typeface="Arial"/>
              </a:rPr>
              <a:t>-126</a:t>
            </a:r>
          </a:p>
        </p:txBody>
      </p:sp>
    </p:spTree>
    <p:extLst>
      <p:ext uri="{BB962C8B-B14F-4D97-AF65-F5344CB8AC3E}">
        <p14:creationId xmlns:p14="http://schemas.microsoft.com/office/powerpoint/2010/main" val="83146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7F5-62F3-4267-8762-62BB6F55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0845-D3BA-42FD-94C1-C6B2C825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FP8 example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IEEE FP standard</a:t>
            </a:r>
          </a:p>
          <a:p>
            <a:r>
              <a:rPr lang="en-US" dirty="0"/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615134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9115161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FP: Rounding</a:t>
            </a:r>
            <a:endParaRPr kumimoji="1" lang="zh-CN" altLang="en-US" dirty="0"/>
          </a:p>
        </p:txBody>
      </p:sp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303578"/>
              </p:ext>
            </p:extLst>
          </p:nvPr>
        </p:nvGraphicFramePr>
        <p:xfrm>
          <a:off x="272902" y="1641346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334632" imgH="1095839" progId="Excel.Sheet.8">
                  <p:embed/>
                </p:oleObj>
              </mc:Choice>
              <mc:Fallback>
                <p:oleObj name="Worksheet" r:id="rId3" imgW="8334632" imgH="1095839" progId="Excel.Sheet.8">
                  <p:embed/>
                  <p:pic>
                    <p:nvPicPr>
                      <p:cNvPr id="3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02" y="1641346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内容占位符 2"/>
          <p:cNvSpPr>
            <a:spLocks noGrp="1"/>
          </p:cNvSpPr>
          <p:nvPr>
            <p:ph idx="1"/>
          </p:nvPr>
        </p:nvSpPr>
        <p:spPr>
          <a:xfrm>
            <a:off x="230722" y="3392914"/>
            <a:ext cx="8653716" cy="48853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kumimoji="1" lang="en-US" altLang="zh-CN" dirty="0">
                <a:cs typeface="Verdana"/>
              </a:rPr>
              <a:t>What if the result of computation is at    ? </a:t>
            </a:r>
            <a:endParaRPr kumimoji="1" lang="zh-CN" altLang="en-US" dirty="0">
              <a:cs typeface="Verdana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554700" y="3574182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63A2E-4195-4006-9F2F-B349EF2CEF4E}"/>
              </a:ext>
            </a:extLst>
          </p:cNvPr>
          <p:cNvSpPr/>
          <p:nvPr/>
        </p:nvSpPr>
        <p:spPr>
          <a:xfrm>
            <a:off x="0" y="1862290"/>
            <a:ext cx="9300249" cy="96216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4AAF7A-F37D-4155-8545-39B245002508}"/>
              </a:ext>
            </a:extLst>
          </p:cNvPr>
          <p:cNvCxnSpPr/>
          <p:nvPr/>
        </p:nvCxnSpPr>
        <p:spPr>
          <a:xfrm>
            <a:off x="429904" y="1767385"/>
            <a:ext cx="7820168" cy="0"/>
          </a:xfrm>
          <a:prstGeom prst="straightConnector1">
            <a:avLst/>
          </a:prstGeom>
          <a:ln w="34925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2099594" y="1711554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48683B-F916-427D-8305-7D6FBABF91C1}"/>
              </a:ext>
            </a:extLst>
          </p:cNvPr>
          <p:cNvCxnSpPr/>
          <p:nvPr/>
        </p:nvCxnSpPr>
        <p:spPr>
          <a:xfrm flipH="1" flipV="1">
            <a:off x="1446663" y="1931158"/>
            <a:ext cx="279779" cy="900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DCE196-B7D5-4070-BFC0-9FB0353770E6}"/>
              </a:ext>
            </a:extLst>
          </p:cNvPr>
          <p:cNvSpPr txBox="1"/>
          <p:nvPr/>
        </p:nvSpPr>
        <p:spPr>
          <a:xfrm>
            <a:off x="933630" y="2849193"/>
            <a:ext cx="366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 that are represented precisely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ADA021-611C-4EC0-824A-49BCB58E5427}"/>
              </a:ext>
            </a:extLst>
          </p:cNvPr>
          <p:cNvCxnSpPr>
            <a:cxnSpLocks/>
          </p:cNvCxnSpPr>
          <p:nvPr/>
        </p:nvCxnSpPr>
        <p:spPr>
          <a:xfrm flipH="1" flipV="1">
            <a:off x="1030434" y="1962294"/>
            <a:ext cx="556118" cy="86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80F1BD7-3209-460C-9530-0CDC5ABF6B13}"/>
              </a:ext>
            </a:extLst>
          </p:cNvPr>
          <p:cNvCxnSpPr>
            <a:cxnSpLocks/>
          </p:cNvCxnSpPr>
          <p:nvPr/>
        </p:nvCxnSpPr>
        <p:spPr>
          <a:xfrm flipV="1">
            <a:off x="1797117" y="1956538"/>
            <a:ext cx="106171" cy="780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881FF3-615D-4922-96BC-58A747444EF2}"/>
              </a:ext>
            </a:extLst>
          </p:cNvPr>
          <p:cNvCxnSpPr>
            <a:cxnSpLocks/>
          </p:cNvCxnSpPr>
          <p:nvPr/>
        </p:nvCxnSpPr>
        <p:spPr>
          <a:xfrm flipV="1">
            <a:off x="1850202" y="1966938"/>
            <a:ext cx="547256" cy="82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E56F2AD-5AF2-4826-B144-953609C4BB7F}"/>
              </a:ext>
            </a:extLst>
          </p:cNvPr>
          <p:cNvSpPr txBox="1"/>
          <p:nvPr/>
        </p:nvSpPr>
        <p:spPr>
          <a:xfrm>
            <a:off x="714451" y="3881450"/>
            <a:ext cx="7951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Rounding: </a:t>
            </a:r>
            <a:r>
              <a:rPr kumimoji="1" lang="en-US" altLang="zh-CN" sz="2400" dirty="0">
                <a:latin typeface="+mj-lt"/>
                <a:cs typeface="Verdana"/>
              </a:rPr>
              <a:t>Use the “closest” representable value </a:t>
            </a:r>
            <a:r>
              <a:rPr kumimoji="1" lang="en-US" altLang="zh-CN" sz="2400" i="1" dirty="0">
                <a:latin typeface="+mj-lt"/>
                <a:cs typeface="Verdana"/>
              </a:rPr>
              <a:t>x’</a:t>
            </a:r>
            <a:r>
              <a:rPr kumimoji="1" lang="en-US" altLang="zh-CN" sz="2400" dirty="0">
                <a:latin typeface="+mj-lt"/>
                <a:cs typeface="Verdana"/>
              </a:rPr>
              <a:t> for x.</a:t>
            </a:r>
          </a:p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B15371-45B7-41C1-AD1B-E216C1362024}"/>
              </a:ext>
            </a:extLst>
          </p:cNvPr>
          <p:cNvSpPr txBox="1"/>
          <p:nvPr/>
        </p:nvSpPr>
        <p:spPr>
          <a:xfrm>
            <a:off x="230722" y="4561562"/>
            <a:ext cx="6801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kumimoji="1" lang="en-US" altLang="zh-CN" sz="2400" dirty="0">
                <a:latin typeface="+mj-lt"/>
                <a:cs typeface="Verdana"/>
              </a:rPr>
              <a:t>4 modes: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Round-down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Round-toward-zero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+mj-lt"/>
                <a:cs typeface="Verdana"/>
              </a:rPr>
              <a:t>Round-to-nearest (Round-to-even in text book)</a:t>
            </a:r>
            <a:endParaRPr kumimoji="1" lang="zh-CN" altLang="en-US" sz="2400" dirty="0">
              <a:latin typeface="+mj-lt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3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40" grpId="0" animBg="1"/>
      <p:bldP spid="37" grpId="0" animBg="1"/>
      <p:bldP spid="48" grpId="0"/>
      <p:bldP spid="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up vs. round down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831558"/>
                </p:ext>
              </p:extLst>
            </p:nvPr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2" imgW="8334632" imgH="1105208" progId="Excel.Sheet.8">
                    <p:embed/>
                  </p:oleObj>
                </mc:Choice>
                <mc:Fallback>
                  <p:oleObj name="工作表" r:id="rId2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74023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184031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CF1A15-D484-45C2-8D3C-497CE536337B}"/>
              </a:ext>
            </a:extLst>
          </p:cNvPr>
          <p:cNvGrpSpPr/>
          <p:nvPr/>
        </p:nvGrpSpPr>
        <p:grpSpPr>
          <a:xfrm>
            <a:off x="959590" y="2756850"/>
            <a:ext cx="8941498" cy="3310689"/>
            <a:chOff x="959590" y="2756850"/>
            <a:chExt cx="8941498" cy="3310689"/>
          </a:xfrm>
        </p:grpSpPr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959590" y="4956173"/>
              <a:ext cx="8941498" cy="11113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kumimoji="1" lang="en-US" altLang="zh-CN" sz="2400" dirty="0">
                  <a:latin typeface="+mj-lt"/>
                  <a:cs typeface="Verdana"/>
                </a:rPr>
                <a:t>Round(x) = x</a:t>
              </a:r>
              <a:r>
                <a:rPr kumimoji="1" lang="en-US" altLang="zh-CN" sz="2400" baseline="-25000" dirty="0">
                  <a:latin typeface="+mj-lt"/>
                  <a:cs typeface="Verdana"/>
                </a:rPr>
                <a:t>-</a:t>
              </a:r>
              <a:r>
                <a:rPr kumimoji="1" lang="en-US" altLang="zh-CN" sz="4400" baseline="-25000" dirty="0">
                  <a:latin typeface="+mj-lt"/>
                  <a:cs typeface="Verdana"/>
                </a:rPr>
                <a:t> </a:t>
              </a:r>
              <a:r>
                <a:rPr kumimoji="1" lang="en-US" altLang="zh-CN" dirty="0">
                  <a:latin typeface="+mj-lt"/>
                  <a:cs typeface="Verdana"/>
                </a:rPr>
                <a:t>(</a:t>
              </a:r>
              <a:r>
                <a:rPr kumimoji="1" lang="en-US" altLang="zh-CN" sz="2400" dirty="0">
                  <a:latin typeface="+mj-lt"/>
                  <a:cs typeface="Verdana"/>
                </a:rPr>
                <a:t>x</a:t>
              </a:r>
              <a:r>
                <a:rPr kumimoji="1" lang="en-US" altLang="zh-CN" baseline="-25000" dirty="0">
                  <a:latin typeface="+mj-lt"/>
                  <a:cs typeface="Verdana"/>
                </a:rPr>
                <a:t>-</a:t>
              </a:r>
              <a:r>
                <a:rPr kumimoji="1" lang="en-US" altLang="zh-CN" sz="2400" dirty="0">
                  <a:latin typeface="+mj-lt"/>
                  <a:cs typeface="Verdana"/>
                </a:rPr>
                <a:t>&lt;= x)</a:t>
              </a:r>
              <a:endParaRPr kumimoji="1" lang="en-US" altLang="zh-CN" sz="2400" baseline="-25000" dirty="0">
                <a:latin typeface="+mj-lt"/>
                <a:cs typeface="Verdana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97D0D97-8DC7-497F-ABEC-05BC9EBA2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553" y="2756850"/>
              <a:ext cx="250766" cy="1823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602FB3-8743-4206-824F-AA1D2D1AEE41}"/>
                </a:ext>
              </a:extLst>
            </p:cNvPr>
            <p:cNvSpPr txBox="1"/>
            <p:nvPr/>
          </p:nvSpPr>
          <p:spPr>
            <a:xfrm>
              <a:off x="959590" y="4661499"/>
              <a:ext cx="4010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Round down rounds to the left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2178513" y="3243586"/>
            <a:ext cx="3888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Round up rounds to the right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H="1" flipV="1">
            <a:off x="2159669" y="2677603"/>
            <a:ext cx="243804" cy="63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8BAFC8C5-676D-4016-A16C-F826C7E4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8513" y="3632807"/>
            <a:ext cx="8690034" cy="78256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>
                <a:cs typeface="Verdana"/>
              </a:rPr>
              <a:t>Round(x) = x</a:t>
            </a:r>
            <a:r>
              <a:rPr kumimoji="1" lang="en-US" altLang="zh-CN" baseline="-25000" dirty="0">
                <a:cs typeface="Verdana"/>
              </a:rPr>
              <a:t>+     </a:t>
            </a:r>
            <a:r>
              <a:rPr kumimoji="1" lang="en-US" altLang="zh-CN" sz="2400" dirty="0">
                <a:cs typeface="Verdana"/>
              </a:rPr>
              <a:t>(x</a:t>
            </a:r>
            <a:r>
              <a:rPr kumimoji="1" lang="en-US" altLang="zh-CN" sz="2400" baseline="-25000" dirty="0">
                <a:cs typeface="Verdana"/>
              </a:rPr>
              <a:t>+</a:t>
            </a:r>
            <a:r>
              <a:rPr kumimoji="1" lang="en-US" altLang="zh-CN" sz="2400" dirty="0">
                <a:cs typeface="Verdana"/>
              </a:rPr>
              <a:t>&gt;= x)</a:t>
            </a:r>
            <a:endParaRPr kumimoji="1" lang="en-US" altLang="zh-CN" sz="2400" baseline="-25000" dirty="0">
              <a:cs typeface="Verdana"/>
            </a:endParaRPr>
          </a:p>
          <a:p>
            <a:pPr marL="0" indent="0">
              <a:buNone/>
            </a:pPr>
            <a:endParaRPr kumimoji="1" lang="en-US" altLang="zh-CN" sz="4800" baseline="-25000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baseline="-25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1349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towards zero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/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3" imgW="8334632" imgH="1105208" progId="Excel.Sheet.8">
                    <p:embed/>
                  </p:oleObj>
                </mc:Choice>
                <mc:Fallback>
                  <p:oleObj name="工作表" r:id="rId3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18364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676279" y="4903633"/>
            <a:ext cx="4010521" cy="1111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+mj-lt"/>
                <a:cs typeface="Verdana"/>
              </a:rPr>
              <a:t>Round(x) = x</a:t>
            </a:r>
            <a:r>
              <a:rPr kumimoji="1" lang="en-US" altLang="zh-CN" sz="2400" baseline="-25000" dirty="0">
                <a:latin typeface="+mj-lt"/>
                <a:cs typeface="Verdana"/>
              </a:rPr>
              <a:t>- </a:t>
            </a:r>
            <a:r>
              <a:rPr kumimoji="1" lang="en-US" altLang="zh-CN" sz="2400" dirty="0">
                <a:latin typeface="+mj-lt"/>
                <a:cs typeface="Verdana"/>
              </a:rPr>
              <a:t>if x &lt; 0</a:t>
            </a:r>
            <a:endParaRPr kumimoji="1" lang="en-US" altLang="zh-CN" sz="2400" baseline="-25000" dirty="0">
              <a:latin typeface="+mj-lt"/>
              <a:cs typeface="Verdana"/>
            </a:endParaRPr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184031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7D0D97-8DC7-497F-ABEC-05BC9EBA274B}"/>
              </a:ext>
            </a:extLst>
          </p:cNvPr>
          <p:cNvCxnSpPr>
            <a:cxnSpLocks/>
          </p:cNvCxnSpPr>
          <p:nvPr/>
        </p:nvCxnSpPr>
        <p:spPr>
          <a:xfrm flipH="1" flipV="1">
            <a:off x="6401201" y="2689029"/>
            <a:ext cx="250766" cy="1612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602FB3-8743-4206-824F-AA1D2D1AEE41}"/>
              </a:ext>
            </a:extLst>
          </p:cNvPr>
          <p:cNvSpPr txBox="1"/>
          <p:nvPr/>
        </p:nvSpPr>
        <p:spPr>
          <a:xfrm>
            <a:off x="4676279" y="4493168"/>
            <a:ext cx="3232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Rounds to the left if x &gt;0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772520" y="3656675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Rounds to the right if x &lt; 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V="1">
            <a:off x="1774209" y="2710731"/>
            <a:ext cx="407168" cy="83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8BAFC8C5-676D-4016-A16C-F826C7E4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76" y="4045897"/>
            <a:ext cx="4010521" cy="64954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>
                <a:cs typeface="Verdana"/>
              </a:rPr>
              <a:t>Round(x) = x</a:t>
            </a:r>
            <a:r>
              <a:rPr kumimoji="1" lang="en-US" altLang="zh-CN" baseline="-25000" dirty="0">
                <a:cs typeface="Verdana"/>
              </a:rPr>
              <a:t>+     </a:t>
            </a:r>
            <a:r>
              <a:rPr kumimoji="1" lang="en-US" altLang="zh-CN" sz="2400" dirty="0">
                <a:cs typeface="Verdana"/>
              </a:rPr>
              <a:t>if x &lt; 0</a:t>
            </a:r>
            <a:endParaRPr kumimoji="1" lang="en-US" altLang="zh-CN" sz="4800" baseline="-25000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baseline="-25000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椭圆 36">
            <a:extLst>
              <a:ext uri="{FF2B5EF4-FFF2-40B4-BE49-F238E27FC236}">
                <a16:creationId xmlns:a16="http://schemas.microsoft.com/office/drawing/2014/main" id="{0F713426-D8DF-48FB-B377-60F59182055A}"/>
              </a:ext>
            </a:extLst>
          </p:cNvPr>
          <p:cNvSpPr/>
          <p:nvPr/>
        </p:nvSpPr>
        <p:spPr>
          <a:xfrm>
            <a:off x="6590307" y="2442936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3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12" grpId="0"/>
      <p:bldP spid="16" grpId="0"/>
      <p:bldP spid="27" grpId="0" build="p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Round to nearest; ties to even </a:t>
            </a:r>
            <a:endParaRPr kumimoji="1" lang="zh-CN" alt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363634" y="1763209"/>
            <a:ext cx="8335963" cy="1744644"/>
            <a:chOff x="196271" y="3298836"/>
            <a:chExt cx="8335963" cy="1744644"/>
          </a:xfrm>
          <a:solidFill>
            <a:schemeClr val="bg1"/>
          </a:solidFill>
        </p:grpSpPr>
        <p:graphicFrame>
          <p:nvGraphicFramePr>
            <p:cNvPr id="4" name="Object 6"/>
            <p:cNvGraphicFramePr>
              <a:graphicFrameLocks noChangeAspect="1"/>
            </p:cNvGraphicFramePr>
            <p:nvPr/>
          </p:nvGraphicFramePr>
          <p:xfrm>
            <a:off x="196271" y="3938580"/>
            <a:ext cx="8335963" cy="110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工作表" r:id="rId3" imgW="8334632" imgH="1105208" progId="Excel.Sheet.8">
                    <p:embed/>
                  </p:oleObj>
                </mc:Choice>
                <mc:Fallback>
                  <p:oleObj name="工作表" r:id="rId3" imgW="8334632" imgH="1105208" progId="Excel.Sheet.8">
                    <p:embed/>
                    <p:pic>
                      <p:nvPicPr>
                        <p:cNvPr id="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271" y="3938580"/>
                          <a:ext cx="8335963" cy="1104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457200" y="3323026"/>
              <a:ext cx="788059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-0.875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461996" y="3338862"/>
              <a:ext cx="673920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-0.75</a:t>
              </a:r>
              <a:endParaRPr lang="zh-CN" altLang="en-US" sz="1400" dirty="0"/>
            </a:p>
          </p:txBody>
        </p:sp>
        <p:cxnSp>
          <p:nvCxnSpPr>
            <p:cNvPr id="8" name="直线连接符 7"/>
            <p:cNvCxnSpPr>
              <a:cxnSpLocks/>
              <a:stCxn id="5" idx="2"/>
            </p:cNvCxnSpPr>
            <p:nvPr/>
          </p:nvCxnSpPr>
          <p:spPr>
            <a:xfrm>
              <a:off x="851230" y="3630803"/>
              <a:ext cx="164770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>
              <a:cxnSpLocks/>
              <a:stCxn id="6" idx="2"/>
            </p:cNvCxnSpPr>
            <p:nvPr/>
          </p:nvCxnSpPr>
          <p:spPr>
            <a:xfrm flipH="1">
              <a:off x="1548190" y="3646639"/>
              <a:ext cx="250766" cy="291941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5689600" y="3338862"/>
              <a:ext cx="478253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0.5</a:t>
              </a:r>
              <a:endParaRPr lang="zh-CN" altLang="en-US" sz="1400" dirty="0"/>
            </a:p>
          </p:txBody>
        </p:sp>
        <p:cxnSp>
          <p:nvCxnSpPr>
            <p:cNvPr id="14" name="直线连接符 13"/>
            <p:cNvCxnSpPr>
              <a:cxnSpLocks/>
              <a:stCxn id="13" idx="2"/>
            </p:cNvCxnSpPr>
            <p:nvPr/>
          </p:nvCxnSpPr>
          <p:spPr>
            <a:xfrm>
              <a:off x="5928727" y="3646639"/>
              <a:ext cx="319673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6756759" y="3630803"/>
              <a:ext cx="125432" cy="307777"/>
            </a:xfrm>
            <a:prstGeom prst="line">
              <a:avLst/>
            </a:prstGeom>
            <a:grpFill/>
            <a:ln w="19050" cmpd="sng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623714" y="3298836"/>
              <a:ext cx="706531" cy="30777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sz="1400" dirty="0">
                  <a:latin typeface="Verdana"/>
                  <a:cs typeface="Verdana"/>
                </a:rPr>
                <a:t>0.625</a:t>
              </a:r>
              <a:endParaRPr lang="zh-CN" altLang="en-US" sz="14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F1A24-10E3-43FB-BC3D-19EFEE6B71E0}"/>
              </a:ext>
            </a:extLst>
          </p:cNvPr>
          <p:cNvSpPr/>
          <p:nvPr/>
        </p:nvSpPr>
        <p:spPr>
          <a:xfrm>
            <a:off x="-218364" y="2627194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BDCC-D8C0-45BB-A7E9-A99A79B1E015}"/>
              </a:ext>
            </a:extLst>
          </p:cNvPr>
          <p:cNvSpPr/>
          <p:nvPr/>
        </p:nvSpPr>
        <p:spPr>
          <a:xfrm>
            <a:off x="-173546" y="1230353"/>
            <a:ext cx="10078871" cy="11726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椭圆 36">
            <a:extLst>
              <a:ext uri="{FF2B5EF4-FFF2-40B4-BE49-F238E27FC236}">
                <a16:creationId xmlns:a16="http://schemas.microsoft.com/office/drawing/2014/main" id="{FB874DE8-6C74-40BC-9825-FABAEEE1B6E1}"/>
              </a:ext>
            </a:extLst>
          </p:cNvPr>
          <p:cNvSpPr/>
          <p:nvPr/>
        </p:nvSpPr>
        <p:spPr>
          <a:xfrm>
            <a:off x="989667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7D0D97-8DC7-497F-ABEC-05BC9EBA274B}"/>
              </a:ext>
            </a:extLst>
          </p:cNvPr>
          <p:cNvCxnSpPr>
            <a:cxnSpLocks/>
          </p:cNvCxnSpPr>
          <p:nvPr/>
        </p:nvCxnSpPr>
        <p:spPr>
          <a:xfrm flipH="1">
            <a:off x="2339057" y="1763209"/>
            <a:ext cx="482295" cy="61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42F9C0-37AB-4C70-AD5E-AAE89B3260C9}"/>
              </a:ext>
            </a:extLst>
          </p:cNvPr>
          <p:cNvSpPr txBox="1"/>
          <p:nvPr/>
        </p:nvSpPr>
        <p:spPr>
          <a:xfrm>
            <a:off x="772520" y="3656675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Round to the right if x</a:t>
            </a:r>
            <a:r>
              <a:rPr lang="en-US" sz="2400" baseline="-25000" dirty="0"/>
              <a:t>+</a:t>
            </a:r>
            <a:r>
              <a:rPr lang="en-US" sz="2400" dirty="0"/>
              <a:t> is nearer to x than x</a:t>
            </a:r>
            <a:r>
              <a:rPr lang="en-US" sz="2400" baseline="-25000" dirty="0"/>
              <a:t>-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28FF3B-D90A-49FC-8A5E-95DCC90DE3D2}"/>
              </a:ext>
            </a:extLst>
          </p:cNvPr>
          <p:cNvCxnSpPr>
            <a:cxnSpLocks/>
          </p:cNvCxnSpPr>
          <p:nvPr/>
        </p:nvCxnSpPr>
        <p:spPr>
          <a:xfrm flipH="1" flipV="1">
            <a:off x="1085684" y="2670749"/>
            <a:ext cx="433206" cy="98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32433CA-6846-4172-B28C-7B5A785F7750}"/>
              </a:ext>
            </a:extLst>
          </p:cNvPr>
          <p:cNvSpPr txBox="1"/>
          <p:nvPr/>
        </p:nvSpPr>
        <p:spPr>
          <a:xfrm>
            <a:off x="4358950" y="2080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椭圆 36">
            <a:extLst>
              <a:ext uri="{FF2B5EF4-FFF2-40B4-BE49-F238E27FC236}">
                <a16:creationId xmlns:a16="http://schemas.microsoft.com/office/drawing/2014/main" id="{0F713426-D8DF-48FB-B377-60F59182055A}"/>
              </a:ext>
            </a:extLst>
          </p:cNvPr>
          <p:cNvSpPr/>
          <p:nvPr/>
        </p:nvSpPr>
        <p:spPr>
          <a:xfrm>
            <a:off x="2240279" y="2461211"/>
            <a:ext cx="126000" cy="1260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19A25D-14E5-42E4-9026-904FECE0FFDF}"/>
              </a:ext>
            </a:extLst>
          </p:cNvPr>
          <p:cNvSpPr txBox="1"/>
          <p:nvPr/>
        </p:nvSpPr>
        <p:spPr>
          <a:xfrm>
            <a:off x="2352924" y="1372868"/>
            <a:ext cx="5433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Round to the left if x</a:t>
            </a:r>
            <a:r>
              <a:rPr lang="en-US" sz="2400" baseline="-25000" dirty="0"/>
              <a:t>-</a:t>
            </a:r>
            <a:r>
              <a:rPr lang="en-US" sz="2400" dirty="0"/>
              <a:t> is nearer to x than x</a:t>
            </a:r>
            <a:r>
              <a:rPr lang="en-US" sz="2400" baseline="-25000" dirty="0"/>
              <a:t>+</a:t>
            </a:r>
          </a:p>
        </p:txBody>
      </p:sp>
      <p:sp>
        <p:nvSpPr>
          <p:cNvPr id="31" name="矩形 2">
            <a:extLst>
              <a:ext uri="{FF2B5EF4-FFF2-40B4-BE49-F238E27FC236}">
                <a16:creationId xmlns:a16="http://schemas.microsoft.com/office/drawing/2014/main" id="{48BAB7E9-AF38-4417-B3F1-00C7FC5A5EF1}"/>
              </a:ext>
            </a:extLst>
          </p:cNvPr>
          <p:cNvSpPr/>
          <p:nvPr/>
        </p:nvSpPr>
        <p:spPr>
          <a:xfrm>
            <a:off x="772519" y="4607441"/>
            <a:ext cx="72796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aseline="30000" dirty="0">
                <a:solidFill>
                  <a:srgbClr val="FF0000"/>
                </a:solidFill>
                <a:latin typeface="Arial"/>
                <a:cs typeface="Arial"/>
              </a:rPr>
              <a:t>In case of a tie, the one with its least significant bit equal to zero is chosen. </a:t>
            </a:r>
          </a:p>
        </p:txBody>
      </p:sp>
    </p:spTree>
    <p:extLst>
      <p:ext uri="{BB962C8B-B14F-4D97-AF65-F5344CB8AC3E}">
        <p14:creationId xmlns:p14="http://schemas.microsoft.com/office/powerpoint/2010/main" val="358089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/>
      <p:bldP spid="23" grpId="0" animBg="1"/>
      <p:bldP spid="25" grpId="0"/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68042"/>
            <a:ext cx="8591266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solidFill>
                  <a:srgbClr val="0000FF"/>
                </a:solidFill>
              </a:rPr>
              <a:t>How does CPU know if some 4-byte value should be interpreted as IEEE FP or integers?  </a:t>
            </a:r>
            <a:endParaRPr kumimoji="1"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95739"/>
            <a:ext cx="8229600" cy="1961305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CPU uses separate registers for floating point and </a:t>
            </a:r>
            <a:r>
              <a:rPr kumimoji="1" lang="en-US" altLang="zh-CN" dirty="0" err="1"/>
              <a:t>ints</a:t>
            </a:r>
            <a:r>
              <a:rPr kumimoji="1" lang="en-US" altLang="zh-CN" dirty="0"/>
              <a:t>.</a:t>
            </a:r>
          </a:p>
          <a:p>
            <a:pPr marL="0" indent="0">
              <a:buNone/>
            </a:pPr>
            <a:r>
              <a:rPr kumimoji="1" lang="en-US" altLang="zh-CN" dirty="0"/>
              <a:t>CPU uses different instructions for floating points and int operations.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524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673-909F-4896-BF9C-A56C0D1D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42D6-E232-A168-6F55-2F16BC72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67D6-08EA-119C-2C93-6D18626CB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Scientific notation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FP8 example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IEEE FP standard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Rounding</a:t>
            </a:r>
          </a:p>
          <a:p>
            <a:r>
              <a:rPr lang="en-US" dirty="0"/>
              <a:t>FP operations caveats</a:t>
            </a:r>
          </a:p>
        </p:txBody>
      </p:sp>
    </p:spTree>
    <p:extLst>
      <p:ext uri="{BB962C8B-B14F-4D97-AF65-F5344CB8AC3E}">
        <p14:creationId xmlns:p14="http://schemas.microsoft.com/office/powerpoint/2010/main" val="9669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386"/>
            <a:ext cx="8686800" cy="4783784"/>
          </a:xfrm>
        </p:spPr>
        <p:txBody>
          <a:bodyPr>
            <a:normAutofit/>
          </a:bodyPr>
          <a:lstStyle/>
          <a:p>
            <a:r>
              <a:rPr lang="en-US" dirty="0"/>
              <a:t>FP Caveats:</a:t>
            </a:r>
          </a:p>
          <a:p>
            <a:pPr lvl="1"/>
            <a:r>
              <a:rPr lang="en-US" dirty="0"/>
              <a:t>Invalid operation: 0/0, </a:t>
            </a:r>
            <a:r>
              <a:rPr lang="en-US" dirty="0" err="1"/>
              <a:t>sqrt</a:t>
            </a:r>
            <a:r>
              <a:rPr lang="en-US" dirty="0"/>
              <a:t>(-1), </a:t>
            </a:r>
            <a:r>
              <a:rPr lang="en-US" dirty="0">
                <a:sym typeface="Symbol"/>
              </a:rPr>
              <a:t>+</a:t>
            </a:r>
            <a:endParaRPr lang="en-US" dirty="0"/>
          </a:p>
          <a:p>
            <a:pPr lvl="1"/>
            <a:r>
              <a:rPr lang="en-US" dirty="0"/>
              <a:t>Divide by zero: x/0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pPr lvl="1"/>
            <a:r>
              <a:rPr lang="en-US" dirty="0"/>
              <a:t>Overflows: result too big to fit</a:t>
            </a:r>
          </a:p>
          <a:p>
            <a:pPr lvl="1"/>
            <a:r>
              <a:rPr lang="en-US" dirty="0"/>
              <a:t>Underflows: 0 &lt; result &lt; smallest </a:t>
            </a:r>
            <a:r>
              <a:rPr lang="en-US" dirty="0" err="1"/>
              <a:t>denormalized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Inexact: round it!</a:t>
            </a:r>
          </a:p>
          <a:p>
            <a:r>
              <a:rPr lang="en-US" dirty="0"/>
              <a:t>FP addition: commutative but not always associative</a:t>
            </a:r>
          </a:p>
          <a:p>
            <a:r>
              <a:rPr lang="en-US" dirty="0"/>
              <a:t>FP multiplication: commutative but not always associative and distributive</a:t>
            </a:r>
          </a:p>
        </p:txBody>
      </p:sp>
    </p:spTree>
    <p:extLst>
      <p:ext uri="{BB962C8B-B14F-4D97-AF65-F5344CB8AC3E}">
        <p14:creationId xmlns:p14="http://schemas.microsoft.com/office/powerpoint/2010/main" val="214862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386"/>
            <a:ext cx="8686800" cy="4783784"/>
          </a:xfrm>
        </p:spPr>
        <p:txBody>
          <a:bodyPr>
            <a:normAutofit/>
          </a:bodyPr>
          <a:lstStyle/>
          <a:p>
            <a:r>
              <a:rPr lang="en-US" dirty="0"/>
              <a:t>Addition, subtraction, multiplication, division etc.</a:t>
            </a:r>
          </a:p>
          <a:p>
            <a:r>
              <a:rPr lang="en-US" dirty="0"/>
              <a:t>FP Caveats:</a:t>
            </a:r>
          </a:p>
          <a:p>
            <a:pPr lvl="1"/>
            <a:r>
              <a:rPr lang="en-US" dirty="0"/>
              <a:t>Invalid operation: 0/0, </a:t>
            </a:r>
            <a:r>
              <a:rPr lang="en-US" dirty="0" err="1"/>
              <a:t>sqrt</a:t>
            </a:r>
            <a:r>
              <a:rPr lang="en-US" dirty="0"/>
              <a:t>(-1), </a:t>
            </a:r>
            <a:r>
              <a:rPr lang="en-US" dirty="0">
                <a:sym typeface="Symbol"/>
              </a:rPr>
              <a:t>+</a:t>
            </a:r>
            <a:endParaRPr lang="en-US" dirty="0"/>
          </a:p>
          <a:p>
            <a:pPr lvl="1"/>
            <a:r>
              <a:rPr lang="en-US" dirty="0"/>
              <a:t>Divide by zero: x/0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pPr lvl="1"/>
            <a:r>
              <a:rPr lang="en-US" dirty="0"/>
              <a:t>Overflows: result too big to fit</a:t>
            </a:r>
          </a:p>
          <a:p>
            <a:pPr lvl="1"/>
            <a:r>
              <a:rPr lang="en-US" dirty="0"/>
              <a:t>Underflows: 0 &lt; result &lt; smallest </a:t>
            </a:r>
            <a:r>
              <a:rPr lang="en-US" dirty="0" err="1"/>
              <a:t>denormalized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Inexact: round it!</a:t>
            </a:r>
          </a:p>
        </p:txBody>
      </p:sp>
    </p:spTree>
    <p:extLst>
      <p:ext uri="{BB962C8B-B14F-4D97-AF65-F5344CB8AC3E}">
        <p14:creationId xmlns:p14="http://schemas.microsoft.com/office/powerpoint/2010/main" val="168174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divide by zero = </a:t>
            </a:r>
            <a:r>
              <a:rPr lang="en-US" dirty="0">
                <a:sym typeface="Symbol"/>
              </a:rPr>
              <a:t>?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137" y="1417638"/>
            <a:ext cx="8663422" cy="4844581"/>
          </a:xfrm>
        </p:spPr>
        <p:txBody>
          <a:bodyPr>
            <a:normAutofit/>
          </a:bodyPr>
          <a:lstStyle/>
          <a:p>
            <a:r>
              <a:rPr lang="en-US" dirty="0"/>
              <a:t>Allow a calculation to continue and produce a valid result </a:t>
            </a:r>
          </a:p>
          <a:p>
            <a:r>
              <a:rPr lang="en-US" dirty="0"/>
              <a:t>Example: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R1 or R2 is 0,  overall resistance should be 0</a:t>
            </a:r>
          </a:p>
        </p:txBody>
      </p:sp>
      <p:pic>
        <p:nvPicPr>
          <p:cNvPr id="5" name="Picture 4" descr="image_thumb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524" y="3360506"/>
            <a:ext cx="4445510" cy="1513130"/>
          </a:xfrm>
          <a:prstGeom prst="rect">
            <a:avLst/>
          </a:prstGeom>
        </p:spPr>
      </p:pic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24" y="3051288"/>
            <a:ext cx="28194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0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5130"/>
          </a:xfrm>
        </p:spPr>
        <p:txBody>
          <a:bodyPr>
            <a:normAutofit/>
          </a:bodyPr>
          <a:lstStyle/>
          <a:p>
            <a:r>
              <a:rPr lang="en-US" dirty="0"/>
              <a:t>Commutative? </a:t>
            </a:r>
            <a:r>
              <a:rPr lang="en-US" dirty="0" err="1"/>
              <a:t>x+y</a:t>
            </a:r>
            <a:r>
              <a:rPr lang="en-US" dirty="0"/>
              <a:t> == </a:t>
            </a:r>
            <a:r>
              <a:rPr lang="en-US" dirty="0" err="1"/>
              <a:t>y+x</a:t>
            </a:r>
            <a:r>
              <a:rPr lang="en-US" dirty="0"/>
              <a:t>?</a:t>
            </a:r>
          </a:p>
          <a:p>
            <a:r>
              <a:rPr lang="en-US" dirty="0"/>
              <a:t>Associative? (</a:t>
            </a:r>
            <a:r>
              <a:rPr lang="en-US" dirty="0" err="1"/>
              <a:t>x+y</a:t>
            </a:r>
            <a:r>
              <a:rPr lang="en-US" dirty="0"/>
              <a:t>)+z = x + (</a:t>
            </a:r>
            <a:r>
              <a:rPr lang="en-US" dirty="0" err="1"/>
              <a:t>y+z</a:t>
            </a:r>
            <a:r>
              <a:rPr lang="en-US" dirty="0"/>
              <a:t>)?</a:t>
            </a:r>
          </a:p>
          <a:p>
            <a:pPr lvl="1"/>
            <a:r>
              <a:rPr lang="en-US" dirty="0"/>
              <a:t>Rounding: </a:t>
            </a:r>
          </a:p>
          <a:p>
            <a:pPr marL="514350" lvl="1" indent="0">
              <a:buNone/>
            </a:pPr>
            <a:r>
              <a:rPr lang="en-US" dirty="0">
                <a:latin typeface="Courier New"/>
                <a:cs typeface="Courier New"/>
              </a:rPr>
              <a:t>(3.14+1e10)-1e10 = 0</a:t>
            </a:r>
          </a:p>
          <a:p>
            <a:pPr marL="514350" lvl="1" indent="0">
              <a:buNone/>
            </a:pPr>
            <a:r>
              <a:rPr lang="en-US" dirty="0">
                <a:latin typeface="Courier New"/>
                <a:cs typeface="Courier New"/>
              </a:rPr>
              <a:t> 3.14+(1e10-1e10) = 3.14</a:t>
            </a:r>
            <a:endParaRPr lang="en-US" dirty="0"/>
          </a:p>
          <a:p>
            <a:pPr lvl="1"/>
            <a:r>
              <a:rPr lang="en-US" dirty="0"/>
              <a:t>Overflow</a:t>
            </a:r>
          </a:p>
          <a:p>
            <a:r>
              <a:rPr lang="en-US" dirty="0"/>
              <a:t>Every number has an additive inverse? </a:t>
            </a:r>
          </a:p>
          <a:p>
            <a:pPr lvl="1"/>
            <a:r>
              <a:rPr lang="en-US" dirty="0"/>
              <a:t>Yes except for </a:t>
            </a:r>
            <a:r>
              <a:rPr lang="en-US" dirty="0">
                <a:sym typeface="Symbol"/>
              </a:rPr>
              <a:t> and </a:t>
            </a:r>
            <a:r>
              <a:rPr lang="en-US" dirty="0" err="1">
                <a:sym typeface="Symbol"/>
              </a:rPr>
              <a:t>NaN</a:t>
            </a:r>
            <a:endParaRPr lang="en-US" dirty="0">
              <a:sym typeface="Symbol"/>
            </a:endParaRP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3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Commutative? x* y == y*x?</a:t>
            </a:r>
          </a:p>
          <a:p>
            <a:r>
              <a:rPr lang="en-US" dirty="0"/>
              <a:t>Associative? (x*y)*z = x * (y*z)?</a:t>
            </a:r>
          </a:p>
          <a:p>
            <a:pPr lvl="1"/>
            <a:r>
              <a:rPr lang="en-US" dirty="0"/>
              <a:t>Overflow: 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</a:rPr>
              <a:t>(1e20*1e20)*1e-20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inf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1e20*(1e20*1e-20)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1e20</a:t>
            </a:r>
            <a:endParaRPr lang="en-US" dirty="0"/>
          </a:p>
          <a:p>
            <a:pPr lvl="1"/>
            <a:r>
              <a:rPr lang="en-US" dirty="0"/>
              <a:t>Rounding</a:t>
            </a:r>
          </a:p>
          <a:p>
            <a:r>
              <a:rPr lang="en-US" dirty="0">
                <a:sym typeface="Symbol"/>
              </a:rPr>
              <a:t>(</a:t>
            </a:r>
            <a:r>
              <a:rPr lang="en-US" dirty="0" err="1">
                <a:sym typeface="Symbol"/>
              </a:rPr>
              <a:t>x+y</a:t>
            </a:r>
            <a:r>
              <a:rPr lang="en-US" dirty="0">
                <a:sym typeface="Symbol"/>
              </a:rPr>
              <a:t>)*z = x*z + y*z?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1e20*(1e20-1e20)</a:t>
            </a:r>
            <a:r>
              <a:rPr lang="en-US" dirty="0"/>
              <a:t>= </a:t>
            </a:r>
            <a:r>
              <a:rPr lang="en-US" dirty="0">
                <a:latin typeface="Courier New"/>
                <a:cs typeface="Courier New"/>
              </a:rPr>
              <a:t>0.0</a:t>
            </a:r>
            <a:r>
              <a:rPr lang="en-US" dirty="0"/>
              <a:t>,  </a:t>
            </a:r>
            <a:r>
              <a:rPr lang="en-US" dirty="0">
                <a:latin typeface="Courier New"/>
                <a:cs typeface="Courier New"/>
              </a:rPr>
              <a:t>1e20*1e20 – 1e20*1e20 </a:t>
            </a:r>
            <a:r>
              <a:rPr lang="en-US" dirty="0"/>
              <a:t>= </a:t>
            </a:r>
            <a:r>
              <a:rPr lang="en-US" dirty="0" err="1">
                <a:latin typeface="Courier New"/>
                <a:cs typeface="Courier New"/>
              </a:rPr>
              <a:t>NaN</a:t>
            </a:r>
            <a:endParaRPr lang="en-US" dirty="0">
              <a:sym typeface="Symbo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4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in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09143"/>
          </a:xfrm>
        </p:spPr>
        <p:txBody>
          <a:bodyPr>
            <a:normAutofit/>
          </a:bodyPr>
          <a:lstStyle/>
          <a:p>
            <a:r>
              <a:rPr lang="en-US" dirty="0"/>
              <a:t>Storing time in computer games as a FP?</a:t>
            </a:r>
          </a:p>
          <a:p>
            <a:r>
              <a:rPr lang="en-US" dirty="0"/>
              <a:t>Precision diminishes as time gets bigger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729343"/>
              </p:ext>
            </p:extLst>
          </p:nvPr>
        </p:nvGraphicFramePr>
        <p:xfrm>
          <a:off x="765442" y="3009342"/>
          <a:ext cx="7921360" cy="2710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  <a:r>
                        <a:rPr lang="en-US" baseline="0" dirty="0"/>
                        <a:t> value (decimal)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1.19E-07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119 nanoseconds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~1.5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7.63E-06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7.63 microseconds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.976 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62.5 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671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6115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floating point for </a:t>
            </a:r>
            <a:r>
              <a:rPr lang="en-US"/>
              <a:t>distance measures in computer games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5442" y="3009342"/>
          <a:ext cx="7921360" cy="2710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  <a:r>
                        <a:rPr lang="en-US" baseline="0" dirty="0"/>
                        <a:t>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r>
                        <a:rPr lang="en-US" baseline="0" dirty="0"/>
                        <a:t> size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1.19E-07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Virus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7.63E-06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red blood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toenail thickness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46">
                <a:tc>
                  <a:txBody>
                    <a:bodyPr/>
                    <a:lstStyle/>
                    <a:p>
                      <a:r>
                        <a:rPr lang="en-US" dirty="0"/>
                        <a:t>1000 000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.16x earth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credit card 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58337" y="6262219"/>
            <a:ext cx="280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source: Random ASCII </a:t>
            </a:r>
          </a:p>
        </p:txBody>
      </p:sp>
    </p:spTree>
    <p:extLst>
      <p:ext uri="{BB962C8B-B14F-4D97-AF65-F5344CB8AC3E}">
        <p14:creationId xmlns:p14="http://schemas.microsoft.com/office/powerpoint/2010/main" val="2337440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trouble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748132"/>
          </a:xfrm>
        </p:spPr>
        <p:txBody>
          <a:bodyPr/>
          <a:lstStyle/>
          <a:p>
            <a:r>
              <a:rPr lang="en-US" dirty="0"/>
              <a:t>Comparing floats for equality is a bad idea!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855" y="2766839"/>
            <a:ext cx="3514299" cy="23391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o-RO" sz="3200" dirty="0"/>
              <a:t>float f = 0.1;</a:t>
            </a:r>
          </a:p>
          <a:p>
            <a:r>
              <a:rPr lang="en-US" sz="3200" dirty="0"/>
              <a:t>while (f != 1.0) {</a:t>
            </a:r>
          </a:p>
          <a:p>
            <a:r>
              <a:rPr lang="en-US" sz="3200" dirty="0"/>
              <a:t>          f += 0.1;</a:t>
            </a:r>
          </a:p>
          <a:p>
            <a:r>
              <a:rPr lang="en-US" sz="3200" dirty="0"/>
              <a:t>}</a:t>
            </a:r>
          </a:p>
          <a:p>
            <a:r>
              <a:rPr lang="is-IS" dirty="0"/>
              <a:t>     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9B1EE-8C8E-744E-B094-0D1915AE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487" y="2064009"/>
            <a:ext cx="2945449" cy="451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3E132-62AD-77E4-5120-9CFC399CD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AAA0-F046-1845-8FAE-AC12E4C1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trouble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1432-33CF-86CB-08FE-BB7B23AF3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148"/>
                <a:ext cx="8686800" cy="74813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FP is not associative: the order of operations affects results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1432-33CF-86CB-08FE-BB7B23AF3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148"/>
                <a:ext cx="8686800" cy="748132"/>
              </a:xfrm>
              <a:blipFill>
                <a:blip r:embed="rId3"/>
                <a:stretch>
                  <a:fillRect l="-877" t="-13333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86D2981-8D3C-F789-9198-DE8A2456316A}"/>
              </a:ext>
            </a:extLst>
          </p:cNvPr>
          <p:cNvSpPr txBox="1"/>
          <p:nvPr/>
        </p:nvSpPr>
        <p:spPr>
          <a:xfrm>
            <a:off x="709685" y="2007390"/>
            <a:ext cx="3630302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0.1+1e20 - 1e20</a:t>
            </a:r>
          </a:p>
          <a:p>
            <a:r>
              <a:rPr lang="en-US" sz="1400" dirty="0">
                <a:solidFill>
                  <a:schemeClr val="tx2"/>
                </a:solidFill>
              </a:rPr>
              <a:t>&gt;&gt;&gt; 0</a:t>
            </a:r>
          </a:p>
          <a:p>
            <a:r>
              <a:rPr lang="en-US" sz="1400" dirty="0">
                <a:solidFill>
                  <a:schemeClr val="tx2"/>
                </a:solidFill>
              </a:rPr>
              <a:t>0.1 + (1e20-1e20)</a:t>
            </a:r>
          </a:p>
          <a:p>
            <a:r>
              <a:rPr lang="en-US" sz="1400" dirty="0">
                <a:solidFill>
                  <a:schemeClr val="tx2"/>
                </a:solidFill>
              </a:rPr>
              <a:t>&gt;&gt;&gt; 0.1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58465-6F86-3321-25E5-6D4AF6FB76EB}"/>
              </a:ext>
            </a:extLst>
          </p:cNvPr>
          <p:cNvSpPr txBox="1"/>
          <p:nvPr/>
        </p:nvSpPr>
        <p:spPr>
          <a:xfrm>
            <a:off x="5340266" y="6627167"/>
            <a:ext cx="3803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Horace He, “Defeating Nondeterminism in LLM Inference</a:t>
            </a:r>
          </a:p>
          <a:p>
            <a:r>
              <a:rPr lang="en-US" sz="1200" dirty="0"/>
              <a:t>“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7B683A-A54E-913F-EFF4-3F5490E18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37" y="3039082"/>
            <a:ext cx="7990763" cy="3588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5408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trouble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132"/>
          </a:xfrm>
        </p:spPr>
        <p:txBody>
          <a:bodyPr/>
          <a:lstStyle/>
          <a:p>
            <a:r>
              <a:rPr lang="en-US" dirty="0"/>
              <a:t>Never count using floating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778" y="2530896"/>
            <a:ext cx="5810409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o-RO" sz="3200" dirty="0"/>
              <a:t>count = 0;</a:t>
            </a:r>
          </a:p>
          <a:p>
            <a:r>
              <a:rPr lang="ro-RO" sz="3200" dirty="0"/>
              <a:t>for (float f = 0.0; f &lt; 1.0; f += 0.1) {</a:t>
            </a:r>
          </a:p>
          <a:p>
            <a:r>
              <a:rPr lang="ro-RO" sz="3200" dirty="0"/>
              <a:t>     count++;</a:t>
            </a:r>
          </a:p>
          <a:p>
            <a:r>
              <a:rPr lang="ro-RO" sz="3200" dirty="0"/>
              <a:t>}</a:t>
            </a:r>
            <a:r>
              <a:rPr lang="is-IS" dirty="0"/>
              <a:t>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58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03C5-DD11-6543-A6C8-1FD70DDB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8523027" cy="1143000"/>
          </a:xfrm>
        </p:spPr>
        <p:txBody>
          <a:bodyPr/>
          <a:lstStyle/>
          <a:p>
            <a:r>
              <a:rPr lang="en-US" dirty="0"/>
              <a:t>FP point trouble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2E42-0712-9042-8775-F471734E8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/>
              <a:t>Many real world disasters are due to FP trickiness</a:t>
            </a:r>
          </a:p>
          <a:p>
            <a:pPr lvl="1"/>
            <a:r>
              <a:rPr lang="en-US" dirty="0"/>
              <a:t>Patriot Missile failed to intercept due to rounding error (1991)</a:t>
            </a:r>
          </a:p>
          <a:p>
            <a:pPr lvl="1"/>
            <a:r>
              <a:rPr lang="en-US" dirty="0"/>
              <a:t>Ariane 5 explosion due to overflow in converting from double to int (1996)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38DDB-F6E6-EE4D-8C4A-7F4B4DFE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21" y="3841829"/>
            <a:ext cx="3733495" cy="283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72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722" y="1417638"/>
            <a:ext cx="9154818" cy="4708525"/>
          </a:xfrm>
        </p:spPr>
        <p:txBody>
          <a:bodyPr/>
          <a:lstStyle/>
          <a:p>
            <a:r>
              <a:rPr lang="en-US" dirty="0"/>
              <a:t>FP format is based on binary scientific notation</a:t>
            </a:r>
          </a:p>
          <a:p>
            <a:r>
              <a:rPr lang="en-US" dirty="0"/>
              <a:t>IEEE FP format</a:t>
            </a:r>
          </a:p>
          <a:p>
            <a:pPr lvl="1"/>
            <a:r>
              <a:rPr lang="en-US" dirty="0"/>
              <a:t>Normalized, denormalized, special values</a:t>
            </a:r>
          </a:p>
          <a:p>
            <a:r>
              <a:rPr lang="en-US" dirty="0"/>
              <a:t>Floating points are tricky</a:t>
            </a:r>
          </a:p>
          <a:p>
            <a:pPr lvl="1"/>
            <a:r>
              <a:rPr lang="en-US" dirty="0"/>
              <a:t>Precision diminishes as magnitude grows</a:t>
            </a:r>
          </a:p>
          <a:p>
            <a:pPr lvl="1"/>
            <a:r>
              <a:rPr lang="en-US" dirty="0"/>
              <a:t>overflow, rounding error</a:t>
            </a:r>
          </a:p>
        </p:txBody>
      </p:sp>
    </p:spTree>
    <p:extLst>
      <p:ext uri="{BB962C8B-B14F-4D97-AF65-F5344CB8AC3E}">
        <p14:creationId xmlns:p14="http://schemas.microsoft.com/office/powerpoint/2010/main" val="20328462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webextension1.xml><?xml version="1.0" encoding="utf-8"?>
<we:webextension xmlns:we="http://schemas.microsoft.com/office/webextensions/webextension/2010/11" id="{F23E8469-C38B-664F-8C83-25347F2A7DB9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73,&quot;confidenceLevel&quot;:2}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BAD895E4-F39E-2E4B-A5B6-93F4CE7F0422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74,&quot;confidenceLevel&quot;:2}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E15339-EED0-434D-A40A-9991FB4373CD}">
  <ds:schemaRefs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4d6482f-e53c-4fa7-ac87-951f9f66bd4c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24F85E5-0CE7-4734-A422-69AA9C2B3E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00832E-ADAA-4B11-A338-CC149C7D25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6482f-e53c-4fa7-ac87-951f9f66bd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78039</TotalTime>
  <Words>1952</Words>
  <Application>Microsoft Macintosh PowerPoint</Application>
  <PresentationFormat>On-screen Show (4:3)</PresentationFormat>
  <Paragraphs>488</Paragraphs>
  <Slides>50</Slides>
  <Notes>12</Notes>
  <HiddenSlides>14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Arial</vt:lpstr>
      <vt:lpstr>Calibri</vt:lpstr>
      <vt:lpstr>Cambria Math</vt:lpstr>
      <vt:lpstr>Consolas</vt:lpstr>
      <vt:lpstr>Courier New</vt:lpstr>
      <vt:lpstr>Symbol</vt:lpstr>
      <vt:lpstr>Tahoma</vt:lpstr>
      <vt:lpstr>Verdana</vt:lpstr>
      <vt:lpstr>Wingdings</vt:lpstr>
      <vt:lpstr>CloudVisor-Austin</vt:lpstr>
      <vt:lpstr>公式</vt:lpstr>
      <vt:lpstr>Worksheet</vt:lpstr>
      <vt:lpstr>工作表</vt:lpstr>
      <vt:lpstr>Floating point</vt:lpstr>
      <vt:lpstr>Floating Point lesson plan</vt:lpstr>
      <vt:lpstr>Previously…</vt:lpstr>
      <vt:lpstr>Represent real numbers: the decimal way</vt:lpstr>
      <vt:lpstr>Binary Representation</vt:lpstr>
      <vt:lpstr>PowerPoint Presentation</vt:lpstr>
      <vt:lpstr>Binary Representation</vt:lpstr>
      <vt:lpstr>Binary representation</vt:lpstr>
      <vt:lpstr>Binary representation</vt:lpstr>
      <vt:lpstr>How to make the representation fixed width? Strawman: fixed point</vt:lpstr>
      <vt:lpstr>Problems of Fixed Point</vt:lpstr>
      <vt:lpstr>Problems of Fixed Point</vt:lpstr>
      <vt:lpstr>Floating Point is based on scientific notation</vt:lpstr>
      <vt:lpstr>Floating Point: binary scientific notation</vt:lpstr>
      <vt:lpstr>PowerPoint Presentation</vt:lpstr>
      <vt:lpstr>PowerPoint Presentation</vt:lpstr>
      <vt:lpstr>Floating Point lesson plan</vt:lpstr>
      <vt:lpstr>An example FP8 representation: E4M3</vt:lpstr>
      <vt:lpstr>An example FP8 representation: E4M3</vt:lpstr>
      <vt:lpstr>PowerPoint Presentation</vt:lpstr>
      <vt:lpstr>FP8 (E4M3) on the number line</vt:lpstr>
      <vt:lpstr>FP8 (E4M3) on the number line</vt:lpstr>
      <vt:lpstr>FP8 (E4M3): denormalized (subnormal) number</vt:lpstr>
      <vt:lpstr>IEEE Floating Point Standard</vt:lpstr>
      <vt:lpstr>IEEE Floating Point Standard</vt:lpstr>
      <vt:lpstr>Goals of IEEE Standard</vt:lpstr>
      <vt:lpstr>IEEE FP32 normalized + denormalized</vt:lpstr>
      <vt:lpstr>IEEE FP32: special values</vt:lpstr>
      <vt:lpstr>IEEE FP32: single vs. double precision</vt:lpstr>
      <vt:lpstr>single/ double precision</vt:lpstr>
      <vt:lpstr>FP summary</vt:lpstr>
      <vt:lpstr>Floating Point lesson plan</vt:lpstr>
      <vt:lpstr>FP: Rounding</vt:lpstr>
      <vt:lpstr>Round up vs. round down</vt:lpstr>
      <vt:lpstr>Round towards zero</vt:lpstr>
      <vt:lpstr>Round to nearest; ties to even </vt:lpstr>
      <vt:lpstr>How does CPU know if some 4-byte value should be interpreted as IEEE FP or integers?  </vt:lpstr>
      <vt:lpstr>Floating Point lesson plan</vt:lpstr>
      <vt:lpstr>Floating point operations</vt:lpstr>
      <vt:lpstr>Floating point operations</vt:lpstr>
      <vt:lpstr>Why divide by zero = ? </vt:lpstr>
      <vt:lpstr>Floating point addition</vt:lpstr>
      <vt:lpstr>Floating point multiplication</vt:lpstr>
      <vt:lpstr>Floating point in real world</vt:lpstr>
      <vt:lpstr>Floating point in the real world</vt:lpstr>
      <vt:lpstr>Floating point trouble</vt:lpstr>
      <vt:lpstr>Floating point trouble</vt:lpstr>
      <vt:lpstr>Floating point trouble</vt:lpstr>
      <vt:lpstr>FP point trouble</vt:lpstr>
      <vt:lpstr>Floating point 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6749</cp:revision>
  <cp:lastPrinted>2026-01-28T05:51:32Z</cp:lastPrinted>
  <dcterms:created xsi:type="dcterms:W3CDTF">2012-08-17T04:52:30Z</dcterms:created>
  <dcterms:modified xsi:type="dcterms:W3CDTF">2026-09-14T19:23:50Z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