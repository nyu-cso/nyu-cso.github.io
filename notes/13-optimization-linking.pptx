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2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5"/>
  </p:notesMasterIdLst>
  <p:sldIdLst>
    <p:sldId id="304" r:id="rId2"/>
    <p:sldId id="305" r:id="rId3"/>
    <p:sldId id="312" r:id="rId4"/>
    <p:sldId id="306" r:id="rId5"/>
    <p:sldId id="259" r:id="rId6"/>
    <p:sldId id="261" r:id="rId7"/>
    <p:sldId id="263" r:id="rId8"/>
    <p:sldId id="264" r:id="rId9"/>
    <p:sldId id="313" r:id="rId10"/>
    <p:sldId id="307" r:id="rId11"/>
    <p:sldId id="265" r:id="rId12"/>
    <p:sldId id="266" r:id="rId13"/>
    <p:sldId id="267" r:id="rId14"/>
    <p:sldId id="309" r:id="rId15"/>
    <p:sldId id="269" r:id="rId16"/>
    <p:sldId id="270" r:id="rId17"/>
    <p:sldId id="271" r:id="rId18"/>
    <p:sldId id="272" r:id="rId19"/>
    <p:sldId id="310" r:id="rId20"/>
    <p:sldId id="275" r:id="rId21"/>
    <p:sldId id="314" r:id="rId22"/>
    <p:sldId id="318" r:id="rId23"/>
    <p:sldId id="311" r:id="rId24"/>
    <p:sldId id="277" r:id="rId25"/>
    <p:sldId id="278" r:id="rId26"/>
    <p:sldId id="279" r:id="rId27"/>
    <p:sldId id="280" r:id="rId28"/>
    <p:sldId id="281" r:id="rId29"/>
    <p:sldId id="283" r:id="rId30"/>
    <p:sldId id="284" r:id="rId31"/>
    <p:sldId id="285" r:id="rId32"/>
    <p:sldId id="286" r:id="rId33"/>
    <p:sldId id="287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9" r:id="rId43"/>
    <p:sldId id="300" r:id="rId4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F989C6-A892-4612-9EC1-34EAF8A6EEB7}" v="32" dt="2020-11-04T17:07:26.0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45"/>
    <p:restoredTop sz="94681"/>
  </p:normalViewPr>
  <p:slideViewPr>
    <p:cSldViewPr snapToGrid="0" snapToObjects="1">
      <p:cViewPr varScale="1">
        <p:scale>
          <a:sx n="116" d="100"/>
          <a:sy n="116" d="100"/>
        </p:scale>
        <p:origin x="1520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OS%20X%20Lion:Users:bryant:ics3:opt:lower-haswell.xlsx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OS%20X%20Lion:Users:bryant:ics3:opt:lower-haswell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13842173350582"/>
          <c:y val="7.3107049608355096E-2"/>
          <c:w val="0.82923673997412695"/>
          <c:h val="0.71801566579634502"/>
        </c:manualLayout>
      </c:layout>
      <c:scatterChart>
        <c:scatterStyle val="lineMarker"/>
        <c:varyColors val="0"/>
        <c:ser>
          <c:idx val="0"/>
          <c:order val="0"/>
          <c:tx>
            <c:strRef>
              <c:f>lower!$H$24</c:f>
              <c:strCache>
                <c:ptCount val="1"/>
                <c:pt idx="0">
                  <c:v>lower1</c:v>
                </c:pt>
              </c:strCache>
            </c:strRef>
          </c:tx>
          <c:spPr>
            <a:ln w="25400">
              <a:solidFill>
                <a:srgbClr val="808080"/>
              </a:solidFill>
              <a:prstDash val="solid"/>
            </a:ln>
          </c:spPr>
          <c:marker>
            <c:symbol val="diamond"/>
            <c:size val="7"/>
            <c:spPr>
              <a:solidFill>
                <a:srgbClr val="333333"/>
              </a:solidFill>
              <a:ln>
                <a:solidFill>
                  <a:srgbClr val="333333"/>
                </a:solidFill>
                <a:prstDash val="solid"/>
              </a:ln>
            </c:spPr>
          </c:marker>
          <c:xVal>
            <c:numRef>
              <c:f>lower!$G$25:$G$50</c:f>
              <c:numCache>
                <c:formatCode>General</c:formatCode>
                <c:ptCount val="26"/>
                <c:pt idx="0">
                  <c:v>0</c:v>
                </c:pt>
                <c:pt idx="1">
                  <c:v>20000</c:v>
                </c:pt>
                <c:pt idx="2">
                  <c:v>40000</c:v>
                </c:pt>
                <c:pt idx="3">
                  <c:v>60000</c:v>
                </c:pt>
                <c:pt idx="4">
                  <c:v>80000</c:v>
                </c:pt>
                <c:pt idx="5">
                  <c:v>100000</c:v>
                </c:pt>
                <c:pt idx="6">
                  <c:v>120000</c:v>
                </c:pt>
                <c:pt idx="7">
                  <c:v>140000</c:v>
                </c:pt>
                <c:pt idx="8">
                  <c:v>160000</c:v>
                </c:pt>
                <c:pt idx="9">
                  <c:v>180000</c:v>
                </c:pt>
                <c:pt idx="10">
                  <c:v>200000</c:v>
                </c:pt>
                <c:pt idx="11">
                  <c:v>220000</c:v>
                </c:pt>
                <c:pt idx="12">
                  <c:v>240000</c:v>
                </c:pt>
                <c:pt idx="13">
                  <c:v>260000</c:v>
                </c:pt>
                <c:pt idx="14">
                  <c:v>280000</c:v>
                </c:pt>
                <c:pt idx="15">
                  <c:v>300000</c:v>
                </c:pt>
                <c:pt idx="16">
                  <c:v>320000</c:v>
                </c:pt>
                <c:pt idx="17">
                  <c:v>340000</c:v>
                </c:pt>
                <c:pt idx="18">
                  <c:v>360000</c:v>
                </c:pt>
                <c:pt idx="19">
                  <c:v>380000</c:v>
                </c:pt>
                <c:pt idx="20">
                  <c:v>400000</c:v>
                </c:pt>
                <c:pt idx="21">
                  <c:v>420000</c:v>
                </c:pt>
                <c:pt idx="22">
                  <c:v>440000</c:v>
                </c:pt>
                <c:pt idx="23">
                  <c:v>460000</c:v>
                </c:pt>
                <c:pt idx="24">
                  <c:v>480000</c:v>
                </c:pt>
                <c:pt idx="25">
                  <c:v>500000</c:v>
                </c:pt>
              </c:numCache>
            </c:numRef>
          </c:xVal>
          <c:yVal>
            <c:numRef>
              <c:f>lower!$H$25:$H$50</c:f>
              <c:numCache>
                <c:formatCode>General</c:formatCode>
                <c:ptCount val="26"/>
                <c:pt idx="0">
                  <c:v>0</c:v>
                </c:pt>
                <c:pt idx="1">
                  <c:v>0.38247999999999999</c:v>
                </c:pt>
                <c:pt idx="2">
                  <c:v>1.529026</c:v>
                </c:pt>
                <c:pt idx="3">
                  <c:v>3.439454</c:v>
                </c:pt>
                <c:pt idx="4">
                  <c:v>6.1138879999999842</c:v>
                </c:pt>
                <c:pt idx="5">
                  <c:v>9.5525529999999996</c:v>
                </c:pt>
                <c:pt idx="6">
                  <c:v>13.75432</c:v>
                </c:pt>
                <c:pt idx="7">
                  <c:v>18.721091999999999</c:v>
                </c:pt>
                <c:pt idx="8">
                  <c:v>24.451184000000001</c:v>
                </c:pt>
                <c:pt idx="9">
                  <c:v>30.945739999999851</c:v>
                </c:pt>
                <c:pt idx="10">
                  <c:v>38.204385000000002</c:v>
                </c:pt>
                <c:pt idx="11">
                  <c:v>46.226627999999998</c:v>
                </c:pt>
                <c:pt idx="12">
                  <c:v>55.013938000000003</c:v>
                </c:pt>
                <c:pt idx="13">
                  <c:v>64.564981000000003</c:v>
                </c:pt>
                <c:pt idx="14">
                  <c:v>74.879954999999995</c:v>
                </c:pt>
                <c:pt idx="15">
                  <c:v>85.968007999999998</c:v>
                </c:pt>
                <c:pt idx="16">
                  <c:v>97.809497999999977</c:v>
                </c:pt>
                <c:pt idx="17">
                  <c:v>110.416061</c:v>
                </c:pt>
                <c:pt idx="18">
                  <c:v>123.79652900000001</c:v>
                </c:pt>
                <c:pt idx="19">
                  <c:v>137.93689800000001</c:v>
                </c:pt>
                <c:pt idx="20">
                  <c:v>152.830521</c:v>
                </c:pt>
                <c:pt idx="21">
                  <c:v>168.48597100000001</c:v>
                </c:pt>
                <c:pt idx="22">
                  <c:v>184.916539</c:v>
                </c:pt>
                <c:pt idx="23">
                  <c:v>202.114667</c:v>
                </c:pt>
                <c:pt idx="24">
                  <c:v>220.06251</c:v>
                </c:pt>
                <c:pt idx="25">
                  <c:v>238.807323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9D35-B54D-8021-6ED8BCDB625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87825128"/>
        <c:axId val="1891156328"/>
      </c:scatterChart>
      <c:valAx>
        <c:axId val="1887825128"/>
        <c:scaling>
          <c:orientation val="minMax"/>
          <c:max val="500000"/>
        </c:scaling>
        <c:delete val="0"/>
        <c:axPos val="b"/>
        <c:title>
          <c:tx>
            <c:rich>
              <a:bodyPr/>
              <a:lstStyle/>
              <a:p>
                <a:pPr>
                  <a:defRPr sz="1200" b="1" i="0" u="none" strike="noStrike" baseline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/>
                  <a:t>String length</a:t>
                </a:r>
              </a:p>
            </c:rich>
          </c:tx>
          <c:layout>
            <c:manualLayout>
              <c:xMode val="edge"/>
              <c:yMode val="edge"/>
              <c:x val="0.46054333764553701"/>
              <c:y val="0.88511749347258495"/>
            </c:manualLayout>
          </c:layout>
          <c:overlay val="0"/>
          <c:spPr>
            <a:noFill/>
            <a:ln w="25400">
              <a:noFill/>
            </a:ln>
          </c:spPr>
        </c:title>
        <c:numFmt formatCode="General" sourceLinked="1"/>
        <c:majorTickMark val="out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12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891156328"/>
        <c:crosses val="autoZero"/>
        <c:crossBetween val="midCat"/>
      </c:valAx>
      <c:valAx>
        <c:axId val="1891156328"/>
        <c:scaling>
          <c:orientation val="minMax"/>
          <c:max val="250"/>
        </c:scaling>
        <c:delete val="0"/>
        <c:axPos val="l"/>
        <c:majorGridlines>
          <c:spPr>
            <a:ln w="3175">
              <a:solidFill>
                <a:srgbClr val="000000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pPr>
                  <a:defRPr sz="1200" b="1" i="0" u="none" strike="noStrike" baseline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/>
                  <a:t>CPU seconds</a:t>
                </a:r>
              </a:p>
            </c:rich>
          </c:tx>
          <c:layout>
            <c:manualLayout>
              <c:xMode val="edge"/>
              <c:yMode val="edge"/>
              <c:x val="2.0698576972833099E-2"/>
              <c:y val="0.28720626631853802"/>
            </c:manualLayout>
          </c:layout>
          <c:overlay val="0"/>
          <c:spPr>
            <a:noFill/>
            <a:ln w="25400">
              <a:noFill/>
            </a:ln>
          </c:spPr>
        </c:title>
        <c:numFmt formatCode="General" sourceLinked="1"/>
        <c:majorTickMark val="out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12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887825128"/>
        <c:crosses val="autoZero"/>
        <c:crossBetween val="midCat"/>
      </c:valAx>
      <c:spPr>
        <a:noFill/>
        <a:ln w="12700">
          <a:solidFill>
            <a:srgbClr val="808080"/>
          </a:solidFill>
          <a:prstDash val="solid"/>
        </a:ln>
      </c:spPr>
    </c:plotArea>
    <c:plotVisOnly val="1"/>
    <c:dispBlanksAs val="gap"/>
    <c:showDLblsOverMax val="0"/>
  </c:chart>
  <c:spPr>
    <a:solidFill>
      <a:srgbClr val="FFFFFF"/>
    </a:solidFill>
    <a:ln w="3175">
      <a:solidFill>
        <a:srgbClr val="000000"/>
      </a:solidFill>
      <a:prstDash val="solid"/>
    </a:ln>
  </c:spPr>
  <c:txPr>
    <a:bodyPr/>
    <a:lstStyle/>
    <a:p>
      <a:pPr>
        <a:defRPr sz="1200" b="0" i="0" u="none" strike="noStrike" baseline="0">
          <a:solidFill>
            <a:srgbClr val="000000"/>
          </a:solidFill>
          <a:latin typeface="Arial"/>
          <a:ea typeface="Arial"/>
          <a:cs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13842173350582"/>
          <c:y val="7.3107049608355096E-2"/>
          <c:w val="0.82923673997412695"/>
          <c:h val="0.71801566579634502"/>
        </c:manualLayout>
      </c:layout>
      <c:scatterChart>
        <c:scatterStyle val="lineMarker"/>
        <c:varyColors val="0"/>
        <c:ser>
          <c:idx val="0"/>
          <c:order val="0"/>
          <c:tx>
            <c:strRef>
              <c:f>lower!$H$24</c:f>
              <c:strCache>
                <c:ptCount val="1"/>
                <c:pt idx="0">
                  <c:v>lower1</c:v>
                </c:pt>
              </c:strCache>
            </c:strRef>
          </c:tx>
          <c:spPr>
            <a:ln w="25400">
              <a:solidFill>
                <a:srgbClr val="808080"/>
              </a:solidFill>
              <a:prstDash val="solid"/>
            </a:ln>
          </c:spPr>
          <c:marker>
            <c:symbol val="diamond"/>
            <c:size val="7"/>
            <c:spPr>
              <a:solidFill>
                <a:srgbClr val="333333"/>
              </a:solidFill>
              <a:ln>
                <a:solidFill>
                  <a:srgbClr val="333333"/>
                </a:solidFill>
                <a:prstDash val="solid"/>
              </a:ln>
            </c:spPr>
          </c:marker>
          <c:xVal>
            <c:numRef>
              <c:f>lower!$G$25:$G$50</c:f>
              <c:numCache>
                <c:formatCode>General</c:formatCode>
                <c:ptCount val="26"/>
                <c:pt idx="0">
                  <c:v>0</c:v>
                </c:pt>
                <c:pt idx="1">
                  <c:v>20000</c:v>
                </c:pt>
                <c:pt idx="2">
                  <c:v>40000</c:v>
                </c:pt>
                <c:pt idx="3">
                  <c:v>60000</c:v>
                </c:pt>
                <c:pt idx="4">
                  <c:v>80000</c:v>
                </c:pt>
                <c:pt idx="5">
                  <c:v>100000</c:v>
                </c:pt>
                <c:pt idx="6">
                  <c:v>120000</c:v>
                </c:pt>
                <c:pt idx="7">
                  <c:v>140000</c:v>
                </c:pt>
                <c:pt idx="8">
                  <c:v>160000</c:v>
                </c:pt>
                <c:pt idx="9">
                  <c:v>180000</c:v>
                </c:pt>
                <c:pt idx="10">
                  <c:v>200000</c:v>
                </c:pt>
                <c:pt idx="11">
                  <c:v>220000</c:v>
                </c:pt>
                <c:pt idx="12">
                  <c:v>240000</c:v>
                </c:pt>
                <c:pt idx="13">
                  <c:v>260000</c:v>
                </c:pt>
                <c:pt idx="14">
                  <c:v>280000</c:v>
                </c:pt>
                <c:pt idx="15">
                  <c:v>300000</c:v>
                </c:pt>
                <c:pt idx="16">
                  <c:v>320000</c:v>
                </c:pt>
                <c:pt idx="17">
                  <c:v>340000</c:v>
                </c:pt>
                <c:pt idx="18">
                  <c:v>360000</c:v>
                </c:pt>
                <c:pt idx="19">
                  <c:v>380000</c:v>
                </c:pt>
                <c:pt idx="20">
                  <c:v>400000</c:v>
                </c:pt>
                <c:pt idx="21">
                  <c:v>420000</c:v>
                </c:pt>
                <c:pt idx="22">
                  <c:v>440000</c:v>
                </c:pt>
                <c:pt idx="23">
                  <c:v>460000</c:v>
                </c:pt>
                <c:pt idx="24">
                  <c:v>480000</c:v>
                </c:pt>
                <c:pt idx="25">
                  <c:v>500000</c:v>
                </c:pt>
              </c:numCache>
            </c:numRef>
          </c:xVal>
          <c:yVal>
            <c:numRef>
              <c:f>lower!$H$25:$H$50</c:f>
              <c:numCache>
                <c:formatCode>General</c:formatCode>
                <c:ptCount val="26"/>
                <c:pt idx="0">
                  <c:v>0</c:v>
                </c:pt>
                <c:pt idx="1">
                  <c:v>0.38247999999999999</c:v>
                </c:pt>
                <c:pt idx="2">
                  <c:v>1.529026</c:v>
                </c:pt>
                <c:pt idx="3">
                  <c:v>3.439454</c:v>
                </c:pt>
                <c:pt idx="4">
                  <c:v>6.1138879999999816</c:v>
                </c:pt>
                <c:pt idx="5">
                  <c:v>9.5525529999999996</c:v>
                </c:pt>
                <c:pt idx="6">
                  <c:v>13.75432</c:v>
                </c:pt>
                <c:pt idx="7">
                  <c:v>18.721091999999999</c:v>
                </c:pt>
                <c:pt idx="8">
                  <c:v>24.451184000000001</c:v>
                </c:pt>
                <c:pt idx="9">
                  <c:v>30.94573999999983</c:v>
                </c:pt>
                <c:pt idx="10">
                  <c:v>38.204385000000002</c:v>
                </c:pt>
                <c:pt idx="11">
                  <c:v>46.226627999999998</c:v>
                </c:pt>
                <c:pt idx="12">
                  <c:v>55.013938000000003</c:v>
                </c:pt>
                <c:pt idx="13">
                  <c:v>64.564981000000003</c:v>
                </c:pt>
                <c:pt idx="14">
                  <c:v>74.879954999999995</c:v>
                </c:pt>
                <c:pt idx="15">
                  <c:v>85.968007999999998</c:v>
                </c:pt>
                <c:pt idx="16">
                  <c:v>97.809497999999977</c:v>
                </c:pt>
                <c:pt idx="17">
                  <c:v>110.416061</c:v>
                </c:pt>
                <c:pt idx="18">
                  <c:v>123.79652900000001</c:v>
                </c:pt>
                <c:pt idx="19">
                  <c:v>137.93689800000001</c:v>
                </c:pt>
                <c:pt idx="20">
                  <c:v>152.830521</c:v>
                </c:pt>
                <c:pt idx="21">
                  <c:v>168.48597100000001</c:v>
                </c:pt>
                <c:pt idx="22">
                  <c:v>184.916539</c:v>
                </c:pt>
                <c:pt idx="23">
                  <c:v>202.114667</c:v>
                </c:pt>
                <c:pt idx="24">
                  <c:v>220.06251</c:v>
                </c:pt>
                <c:pt idx="25">
                  <c:v>238.807323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40D8-AE4A-B0E5-E04FDF2DADF3}"/>
            </c:ext>
          </c:extLst>
        </c:ser>
        <c:ser>
          <c:idx val="1"/>
          <c:order val="1"/>
          <c:tx>
            <c:strRef>
              <c:f>lower!$I$24</c:f>
              <c:strCache>
                <c:ptCount val="1"/>
                <c:pt idx="0">
                  <c:v>lower2</c:v>
                </c:pt>
              </c:strCache>
            </c:strRef>
          </c:tx>
          <c:spPr>
            <a:ln w="25400">
              <a:solidFill>
                <a:srgbClr val="333333"/>
              </a:solidFill>
              <a:prstDash val="solid"/>
            </a:ln>
          </c:spPr>
          <c:marker>
            <c:symbol val="square"/>
            <c:size val="7"/>
            <c:spPr>
              <a:solidFill>
                <a:srgbClr val="000000"/>
              </a:solidFill>
              <a:ln>
                <a:solidFill>
                  <a:srgbClr val="000000"/>
                </a:solidFill>
                <a:prstDash val="solid"/>
              </a:ln>
            </c:spPr>
          </c:marker>
          <c:xVal>
            <c:numRef>
              <c:f>lower!$G$25:$G$50</c:f>
              <c:numCache>
                <c:formatCode>General</c:formatCode>
                <c:ptCount val="26"/>
                <c:pt idx="0">
                  <c:v>0</c:v>
                </c:pt>
                <c:pt idx="1">
                  <c:v>20000</c:v>
                </c:pt>
                <c:pt idx="2">
                  <c:v>40000</c:v>
                </c:pt>
                <c:pt idx="3">
                  <c:v>60000</c:v>
                </c:pt>
                <c:pt idx="4">
                  <c:v>80000</c:v>
                </c:pt>
                <c:pt idx="5">
                  <c:v>100000</c:v>
                </c:pt>
                <c:pt idx="6">
                  <c:v>120000</c:v>
                </c:pt>
                <c:pt idx="7">
                  <c:v>140000</c:v>
                </c:pt>
                <c:pt idx="8">
                  <c:v>160000</c:v>
                </c:pt>
                <c:pt idx="9">
                  <c:v>180000</c:v>
                </c:pt>
                <c:pt idx="10">
                  <c:v>200000</c:v>
                </c:pt>
                <c:pt idx="11">
                  <c:v>220000</c:v>
                </c:pt>
                <c:pt idx="12">
                  <c:v>240000</c:v>
                </c:pt>
                <c:pt idx="13">
                  <c:v>260000</c:v>
                </c:pt>
                <c:pt idx="14">
                  <c:v>280000</c:v>
                </c:pt>
                <c:pt idx="15">
                  <c:v>300000</c:v>
                </c:pt>
                <c:pt idx="16">
                  <c:v>320000</c:v>
                </c:pt>
                <c:pt idx="17">
                  <c:v>340000</c:v>
                </c:pt>
                <c:pt idx="18">
                  <c:v>360000</c:v>
                </c:pt>
                <c:pt idx="19">
                  <c:v>380000</c:v>
                </c:pt>
                <c:pt idx="20">
                  <c:v>400000</c:v>
                </c:pt>
                <c:pt idx="21">
                  <c:v>420000</c:v>
                </c:pt>
                <c:pt idx="22">
                  <c:v>440000</c:v>
                </c:pt>
                <c:pt idx="23">
                  <c:v>460000</c:v>
                </c:pt>
                <c:pt idx="24">
                  <c:v>480000</c:v>
                </c:pt>
                <c:pt idx="25">
                  <c:v>500000</c:v>
                </c:pt>
              </c:numCache>
            </c:numRef>
          </c:xVal>
          <c:yVal>
            <c:numRef>
              <c:f>lower!$I$25:$I$50</c:f>
              <c:numCache>
                <c:formatCode>General</c:formatCode>
                <c:ptCount val="26"/>
                <c:pt idx="0">
                  <c:v>0</c:v>
                </c:pt>
                <c:pt idx="1">
                  <c:v>3.8000000000000002E-5</c:v>
                </c:pt>
                <c:pt idx="2">
                  <c:v>7.7000000000000001E-5</c:v>
                </c:pt>
                <c:pt idx="3">
                  <c:v>1.15E-4</c:v>
                </c:pt>
                <c:pt idx="4">
                  <c:v>1.5300000000000001E-4</c:v>
                </c:pt>
                <c:pt idx="5">
                  <c:v>1.9100000000000001E-4</c:v>
                </c:pt>
                <c:pt idx="6">
                  <c:v>2.2900000000000001E-4</c:v>
                </c:pt>
                <c:pt idx="7">
                  <c:v>2.6699999999999998E-4</c:v>
                </c:pt>
                <c:pt idx="8">
                  <c:v>3.0600000000000001E-4</c:v>
                </c:pt>
                <c:pt idx="9">
                  <c:v>3.4400000000000001E-4</c:v>
                </c:pt>
                <c:pt idx="10">
                  <c:v>3.8200000000000002E-4</c:v>
                </c:pt>
                <c:pt idx="11">
                  <c:v>4.2000000000000002E-4</c:v>
                </c:pt>
                <c:pt idx="12">
                  <c:v>4.5800000000000002E-4</c:v>
                </c:pt>
                <c:pt idx="13">
                  <c:v>4.9700000000000005E-4</c:v>
                </c:pt>
                <c:pt idx="14">
                  <c:v>5.3499999999999999E-4</c:v>
                </c:pt>
                <c:pt idx="15">
                  <c:v>5.7300000000000005E-4</c:v>
                </c:pt>
                <c:pt idx="16">
                  <c:v>6.11E-4</c:v>
                </c:pt>
                <c:pt idx="17">
                  <c:v>6.4899999999999995E-4</c:v>
                </c:pt>
                <c:pt idx="18">
                  <c:v>6.87E-4</c:v>
                </c:pt>
                <c:pt idx="19">
                  <c:v>7.2599999999999997E-4</c:v>
                </c:pt>
                <c:pt idx="20">
                  <c:v>7.6400000000000003E-4</c:v>
                </c:pt>
                <c:pt idx="21">
                  <c:v>8.0199999999999998E-4</c:v>
                </c:pt>
                <c:pt idx="22">
                  <c:v>8.4000000000000003E-4</c:v>
                </c:pt>
                <c:pt idx="23">
                  <c:v>8.7799999999999998E-4</c:v>
                </c:pt>
                <c:pt idx="24">
                  <c:v>9.1699999999999995E-4</c:v>
                </c:pt>
                <c:pt idx="25">
                  <c:v>9.5500000000000001E-4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40D8-AE4A-B0E5-E04FDF2DAD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872392936"/>
        <c:axId val="1872208328"/>
      </c:scatterChart>
      <c:valAx>
        <c:axId val="1872392936"/>
        <c:scaling>
          <c:orientation val="minMax"/>
          <c:max val="500000"/>
        </c:scaling>
        <c:delete val="0"/>
        <c:axPos val="b"/>
        <c:title>
          <c:tx>
            <c:rich>
              <a:bodyPr/>
              <a:lstStyle/>
              <a:p>
                <a:pPr>
                  <a:defRPr sz="1200" b="1" i="0" u="none" strike="noStrike" baseline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/>
                  <a:t>String length</a:t>
                </a:r>
              </a:p>
            </c:rich>
          </c:tx>
          <c:layout>
            <c:manualLayout>
              <c:xMode val="edge"/>
              <c:yMode val="edge"/>
              <c:x val="0.46054333764553701"/>
              <c:y val="0.88511749347258495"/>
            </c:manualLayout>
          </c:layout>
          <c:overlay val="0"/>
          <c:spPr>
            <a:noFill/>
            <a:ln w="25400">
              <a:noFill/>
            </a:ln>
          </c:spPr>
        </c:title>
        <c:numFmt formatCode="General" sourceLinked="1"/>
        <c:majorTickMark val="out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12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872208328"/>
        <c:crosses val="autoZero"/>
        <c:crossBetween val="midCat"/>
      </c:valAx>
      <c:valAx>
        <c:axId val="1872208328"/>
        <c:scaling>
          <c:orientation val="minMax"/>
          <c:max val="250"/>
        </c:scaling>
        <c:delete val="0"/>
        <c:axPos val="l"/>
        <c:majorGridlines>
          <c:spPr>
            <a:ln w="3175">
              <a:solidFill>
                <a:srgbClr val="000000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pPr>
                  <a:defRPr sz="1200" b="1" i="0" u="none" strike="noStrike" baseline="0">
                    <a:solidFill>
                      <a:srgbClr val="000000"/>
                    </a:solidFill>
                    <a:latin typeface="Arial"/>
                    <a:ea typeface="Arial"/>
                    <a:cs typeface="Arial"/>
                  </a:defRPr>
                </a:pPr>
                <a:r>
                  <a:rPr lang="en-US"/>
                  <a:t>CPU seconds</a:t>
                </a:r>
              </a:p>
            </c:rich>
          </c:tx>
          <c:layout>
            <c:manualLayout>
              <c:xMode val="edge"/>
              <c:yMode val="edge"/>
              <c:x val="2.0698576972833099E-2"/>
              <c:y val="0.28720626631853802"/>
            </c:manualLayout>
          </c:layout>
          <c:overlay val="0"/>
          <c:spPr>
            <a:noFill/>
            <a:ln w="25400">
              <a:noFill/>
            </a:ln>
          </c:spPr>
        </c:title>
        <c:numFmt formatCode="General" sourceLinked="1"/>
        <c:majorTickMark val="out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 sz="1200" b="0" i="0" u="none" strike="noStrike" baseline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1872392936"/>
        <c:crosses val="autoZero"/>
        <c:crossBetween val="midCat"/>
      </c:valAx>
      <c:spPr>
        <a:noFill/>
        <a:ln w="12700">
          <a:solidFill>
            <a:srgbClr val="808080"/>
          </a:solidFill>
          <a:prstDash val="solid"/>
        </a:ln>
      </c:spPr>
    </c:plotArea>
    <c:plotVisOnly val="1"/>
    <c:dispBlanksAs val="gap"/>
    <c:showDLblsOverMax val="0"/>
  </c:chart>
  <c:spPr>
    <a:solidFill>
      <a:srgbClr val="FFFFFF"/>
    </a:solidFill>
    <a:ln w="3175">
      <a:solidFill>
        <a:srgbClr val="000000"/>
      </a:solidFill>
      <a:prstDash val="solid"/>
    </a:ln>
  </c:spPr>
  <c:txPr>
    <a:bodyPr/>
    <a:lstStyle/>
    <a:p>
      <a:pPr>
        <a:defRPr sz="1200" b="0" i="0" u="none" strike="noStrike" baseline="0">
          <a:solidFill>
            <a:srgbClr val="000000"/>
          </a:solidFill>
          <a:latin typeface="Arial"/>
          <a:ea typeface="Arial"/>
          <a:cs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9240DA-6263-5241-A2C0-237D914F724B}" type="datetimeFigureOut">
              <a:rPr lang="en-US" smtClean="0"/>
              <a:t>10/28/26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636ADB-806E-2541-B5E2-7684736971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078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/>
          </a:p>
        </p:txBody>
      </p:sp>
      <p:sp>
        <p:nvSpPr>
          <p:cNvPr id="512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F803353-72E2-470C-8E67-87750F01FAF1}" type="slidenum">
              <a:rPr lang="en-US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7891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ED729-4E44-7FD4-F931-908308BE8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85C6FF-8EB4-B4D0-92AB-AD3C5E230C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2A46CF-BFA0-9285-0C13-D01FF50125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D6A0ED-2C5C-DE90-9851-B54B332132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0F64717-A5A5-4C4E-9291-2F18B7410B06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80798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4F432-8F6E-B51A-F609-02E09B3FC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786" name="Rectangle 2">
            <a:extLst>
              <a:ext uri="{FF2B5EF4-FFF2-40B4-BE49-F238E27FC236}">
                <a16:creationId xmlns:a16="http://schemas.microsoft.com/office/drawing/2014/main" id="{5531D6E6-BE65-405A-69D0-7D620EA8635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2950" cy="3416300"/>
          </a:xfrm>
          <a:ln/>
        </p:spPr>
      </p:sp>
      <p:sp>
        <p:nvSpPr>
          <p:cNvPr id="246787" name="Rectangle 3">
            <a:extLst>
              <a:ext uri="{FF2B5EF4-FFF2-40B4-BE49-F238E27FC236}">
                <a16:creationId xmlns:a16="http://schemas.microsoft.com/office/drawing/2014/main" id="{50283E87-CAAD-2CEC-7E3E-DA6656A4DB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6325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95567-FD5A-F22A-F19A-1B686AE8D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10" name="Rectangle 2">
            <a:extLst>
              <a:ext uri="{FF2B5EF4-FFF2-40B4-BE49-F238E27FC236}">
                <a16:creationId xmlns:a16="http://schemas.microsoft.com/office/drawing/2014/main" id="{C941EA39-E32B-1099-BCFC-C1DC020DA04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2950" cy="3416300"/>
          </a:xfrm>
          <a:ln/>
        </p:spPr>
      </p:sp>
      <p:sp>
        <p:nvSpPr>
          <p:cNvPr id="247811" name="Rectangle 3">
            <a:extLst>
              <a:ext uri="{FF2B5EF4-FFF2-40B4-BE49-F238E27FC236}">
                <a16:creationId xmlns:a16="http://schemas.microsoft.com/office/drawing/2014/main" id="{42D0B111-A10C-AA05-C6E4-380BAFFE95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973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5462D-5E0B-D2D1-E470-A63FB0C06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34" name="Rectangle 2">
            <a:extLst>
              <a:ext uri="{FF2B5EF4-FFF2-40B4-BE49-F238E27FC236}">
                <a16:creationId xmlns:a16="http://schemas.microsoft.com/office/drawing/2014/main" id="{0C78DFA9-D25A-1073-617D-9F2041D576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2950" cy="3416300"/>
          </a:xfrm>
          <a:ln/>
        </p:spPr>
      </p:sp>
      <p:sp>
        <p:nvSpPr>
          <p:cNvPr id="248835" name="Rectangle 3">
            <a:extLst>
              <a:ext uri="{FF2B5EF4-FFF2-40B4-BE49-F238E27FC236}">
                <a16:creationId xmlns:a16="http://schemas.microsoft.com/office/drawing/2014/main" id="{F6ABC2A0-215D-CCB3-B40B-B5648AC5EC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01436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591A74-D692-5CAE-6E05-8FAB3A78C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858" name="Rectangle 2">
            <a:extLst>
              <a:ext uri="{FF2B5EF4-FFF2-40B4-BE49-F238E27FC236}">
                <a16:creationId xmlns:a16="http://schemas.microsoft.com/office/drawing/2014/main" id="{E8D751FF-8882-0448-7FAB-0AE529653BF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2950" cy="3416300"/>
          </a:xfrm>
          <a:ln/>
        </p:spPr>
      </p:sp>
      <p:sp>
        <p:nvSpPr>
          <p:cNvPr id="249859" name="Rectangle 3">
            <a:extLst>
              <a:ext uri="{FF2B5EF4-FFF2-40B4-BE49-F238E27FC236}">
                <a16:creationId xmlns:a16="http://schemas.microsoft.com/office/drawing/2014/main" id="{CAD37CD1-F3B7-8050-DCE2-13A640B8E0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3162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51373-A516-1952-811C-DB92D8D6A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650" name="Rectangle 2">
            <a:extLst>
              <a:ext uri="{FF2B5EF4-FFF2-40B4-BE49-F238E27FC236}">
                <a16:creationId xmlns:a16="http://schemas.microsoft.com/office/drawing/2014/main" id="{79A279EF-4A7A-5376-9437-5782D9ABB1A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2950" cy="3416300"/>
          </a:xfrm>
          <a:ln/>
        </p:spPr>
      </p:sp>
      <p:sp>
        <p:nvSpPr>
          <p:cNvPr id="283651" name="Rectangle 3">
            <a:extLst>
              <a:ext uri="{FF2B5EF4-FFF2-40B4-BE49-F238E27FC236}">
                <a16:creationId xmlns:a16="http://schemas.microsoft.com/office/drawing/2014/main" id="{03AE972A-C278-F124-2445-51FFA0F29D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82972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C98C7-CDB2-82F1-4A7B-FD07EB149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06" name="Rectangle 2">
            <a:extLst>
              <a:ext uri="{FF2B5EF4-FFF2-40B4-BE49-F238E27FC236}">
                <a16:creationId xmlns:a16="http://schemas.microsoft.com/office/drawing/2014/main" id="{F0DE2C13-1588-3693-5747-F91964B4588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2525" y="692150"/>
            <a:ext cx="4552950" cy="3416300"/>
          </a:xfrm>
          <a:ln/>
        </p:spPr>
      </p:sp>
      <p:sp>
        <p:nvSpPr>
          <p:cNvPr id="251907" name="Rectangle 3">
            <a:extLst>
              <a:ext uri="{FF2B5EF4-FFF2-40B4-BE49-F238E27FC236}">
                <a16:creationId xmlns:a16="http://schemas.microsoft.com/office/drawing/2014/main" id="{201D00D8-A927-06EC-48B1-27911E9498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87706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15A3C5-0FF8-5C95-638F-69089F2D8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Text Box 1">
            <a:extLst>
              <a:ext uri="{FF2B5EF4-FFF2-40B4-BE49-F238E27FC236}">
                <a16:creationId xmlns:a16="http://schemas.microsoft.com/office/drawing/2014/main" id="{8D855EE1-2F52-B7D5-3E18-2D06D374EF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7251" y="692549"/>
            <a:ext cx="2603500" cy="341510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86630" tIns="43315" rIns="86630" bIns="43315" anchor="ctr"/>
          <a:lstStyle/>
          <a:p>
            <a:endParaRPr lang="en-US"/>
          </a:p>
        </p:txBody>
      </p:sp>
      <p:sp>
        <p:nvSpPr>
          <p:cNvPr id="53250" name="Rectangle 2">
            <a:extLst>
              <a:ext uri="{FF2B5EF4-FFF2-40B4-BE49-F238E27FC236}">
                <a16:creationId xmlns:a16="http://schemas.microsoft.com/office/drawing/2014/main" id="{6E2B6619-D464-D65E-9951-7F39A07E5C51}"/>
              </a:ext>
            </a:extLst>
          </p:cNvPr>
          <p:cNvSpPr txBox="1">
            <a:spLocks noGrp="1" noChangeArrowheads="1"/>
          </p:cNvSpPr>
          <p:nvPr>
            <p:ph type="body"/>
          </p:nvPr>
        </p:nvSpPr>
        <p:spPr bwMode="auto">
          <a:xfrm>
            <a:off x="913947" y="4343798"/>
            <a:ext cx="5030108" cy="4115594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36581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F163AC-1BA8-E56B-E0EF-12FD086AA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Text Box 1">
            <a:extLst>
              <a:ext uri="{FF2B5EF4-FFF2-40B4-BE49-F238E27FC236}">
                <a16:creationId xmlns:a16="http://schemas.microsoft.com/office/drawing/2014/main" id="{60A0C9FB-222C-50CF-49DD-3741B04340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7251" y="692549"/>
            <a:ext cx="2603500" cy="341510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86630" tIns="43315" rIns="86630" bIns="43315" anchor="ctr"/>
          <a:lstStyle/>
          <a:p>
            <a:endParaRPr lang="en-US"/>
          </a:p>
        </p:txBody>
      </p:sp>
      <p:sp>
        <p:nvSpPr>
          <p:cNvPr id="54274" name="Rectangle 2">
            <a:extLst>
              <a:ext uri="{FF2B5EF4-FFF2-40B4-BE49-F238E27FC236}">
                <a16:creationId xmlns:a16="http://schemas.microsoft.com/office/drawing/2014/main" id="{F24F960B-D23C-A79F-FB4F-1366B9B67F3E}"/>
              </a:ext>
            </a:extLst>
          </p:cNvPr>
          <p:cNvSpPr txBox="1">
            <a:spLocks noGrp="1" noChangeArrowheads="1"/>
          </p:cNvSpPr>
          <p:nvPr>
            <p:ph type="body"/>
          </p:nvPr>
        </p:nvSpPr>
        <p:spPr bwMode="auto">
          <a:xfrm>
            <a:off x="913947" y="4343798"/>
            <a:ext cx="5030108" cy="4115594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58518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05DE63-0DDC-8E37-C138-BAB14C2DD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Text Box 1">
            <a:extLst>
              <a:ext uri="{FF2B5EF4-FFF2-40B4-BE49-F238E27FC236}">
                <a16:creationId xmlns:a16="http://schemas.microsoft.com/office/drawing/2014/main" id="{B7F73F4F-6A12-5722-63BF-23C30718C0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7251" y="692549"/>
            <a:ext cx="2603500" cy="341510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86630" tIns="43315" rIns="86630" bIns="43315" anchor="ctr"/>
          <a:lstStyle/>
          <a:p>
            <a:endParaRPr lang="en-US"/>
          </a:p>
        </p:txBody>
      </p:sp>
      <p:sp>
        <p:nvSpPr>
          <p:cNvPr id="55298" name="Rectangle 2">
            <a:extLst>
              <a:ext uri="{FF2B5EF4-FFF2-40B4-BE49-F238E27FC236}">
                <a16:creationId xmlns:a16="http://schemas.microsoft.com/office/drawing/2014/main" id="{CCAB13C5-EE58-C3EB-4872-DDE2CEBF425F}"/>
              </a:ext>
            </a:extLst>
          </p:cNvPr>
          <p:cNvSpPr txBox="1">
            <a:spLocks noGrp="1" noChangeArrowheads="1"/>
          </p:cNvSpPr>
          <p:nvPr>
            <p:ph type="body"/>
          </p:nvPr>
        </p:nvSpPr>
        <p:spPr bwMode="auto">
          <a:xfrm>
            <a:off x="913947" y="4343798"/>
            <a:ext cx="5030108" cy="4115594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17785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4D6452-92BB-0E12-8F1C-742E5B107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Text Box 1">
            <a:extLst>
              <a:ext uri="{FF2B5EF4-FFF2-40B4-BE49-F238E27FC236}">
                <a16:creationId xmlns:a16="http://schemas.microsoft.com/office/drawing/2014/main" id="{290D11E4-BD4B-B8E3-9763-F756438F48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7251" y="692549"/>
            <a:ext cx="2603500" cy="341510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86630" tIns="43315" rIns="86630" bIns="43315" anchor="ctr"/>
          <a:lstStyle/>
          <a:p>
            <a:endParaRPr lang="en-US"/>
          </a:p>
        </p:txBody>
      </p:sp>
      <p:sp>
        <p:nvSpPr>
          <p:cNvPr id="45058" name="Rectangle 2">
            <a:extLst>
              <a:ext uri="{FF2B5EF4-FFF2-40B4-BE49-F238E27FC236}">
                <a16:creationId xmlns:a16="http://schemas.microsoft.com/office/drawing/2014/main" id="{B256919B-5101-97D1-D8E5-A516E6EB06B7}"/>
              </a:ext>
            </a:extLst>
          </p:cNvPr>
          <p:cNvSpPr txBox="1">
            <a:spLocks noGrp="1" noChangeArrowheads="1"/>
          </p:cNvSpPr>
          <p:nvPr>
            <p:ph type="body"/>
          </p:nvPr>
        </p:nvSpPr>
        <p:spPr bwMode="auto">
          <a:xfrm>
            <a:off x="913947" y="4343798"/>
            <a:ext cx="5030108" cy="4115594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20272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6F2DB4-FCA9-85DE-13A4-0CB7CD5FE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Text Box 1">
            <a:extLst>
              <a:ext uri="{FF2B5EF4-FFF2-40B4-BE49-F238E27FC236}">
                <a16:creationId xmlns:a16="http://schemas.microsoft.com/office/drawing/2014/main" id="{2A34C639-4B86-50C1-8566-EE305EF9CD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7251" y="692549"/>
            <a:ext cx="2603500" cy="341510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86630" tIns="43315" rIns="86630" bIns="43315" anchor="ctr"/>
          <a:lstStyle/>
          <a:p>
            <a:endParaRPr lang="en-US"/>
          </a:p>
        </p:txBody>
      </p:sp>
      <p:sp>
        <p:nvSpPr>
          <p:cNvPr id="63490" name="Rectangle 2">
            <a:extLst>
              <a:ext uri="{FF2B5EF4-FFF2-40B4-BE49-F238E27FC236}">
                <a16:creationId xmlns:a16="http://schemas.microsoft.com/office/drawing/2014/main" id="{5E1F5E78-11FF-9D3D-982F-3FFAB9285A73}"/>
              </a:ext>
            </a:extLst>
          </p:cNvPr>
          <p:cNvSpPr txBox="1">
            <a:spLocks noGrp="1" noChangeArrowheads="1"/>
          </p:cNvSpPr>
          <p:nvPr>
            <p:ph type="body"/>
          </p:nvPr>
        </p:nvSpPr>
        <p:spPr bwMode="auto">
          <a:xfrm>
            <a:off x="913947" y="4343798"/>
            <a:ext cx="5030108" cy="4115594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87796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132D41-206B-997A-938C-8DC55686A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Text Box 1">
            <a:extLst>
              <a:ext uri="{FF2B5EF4-FFF2-40B4-BE49-F238E27FC236}">
                <a16:creationId xmlns:a16="http://schemas.microsoft.com/office/drawing/2014/main" id="{D797ADE8-2AD5-F9EA-66DB-5C17FB0D70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7251" y="692549"/>
            <a:ext cx="2603500" cy="341510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86630" tIns="43315" rIns="86630" bIns="43315" anchor="ctr"/>
          <a:lstStyle/>
          <a:p>
            <a:endParaRPr lang="en-US"/>
          </a:p>
        </p:txBody>
      </p:sp>
      <p:sp>
        <p:nvSpPr>
          <p:cNvPr id="64514" name="Rectangle 2">
            <a:extLst>
              <a:ext uri="{FF2B5EF4-FFF2-40B4-BE49-F238E27FC236}">
                <a16:creationId xmlns:a16="http://schemas.microsoft.com/office/drawing/2014/main" id="{CDF13249-8BEB-6C62-A4C3-EE6F1CB8ED7B}"/>
              </a:ext>
            </a:extLst>
          </p:cNvPr>
          <p:cNvSpPr txBox="1">
            <a:spLocks noGrp="1" noChangeArrowheads="1"/>
          </p:cNvSpPr>
          <p:nvPr>
            <p:ph type="body"/>
          </p:nvPr>
        </p:nvSpPr>
        <p:spPr bwMode="auto">
          <a:xfrm>
            <a:off x="913947" y="4343798"/>
            <a:ext cx="5030108" cy="4115594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41890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1DAC53-0708-9BB3-F8AB-9DEC147DA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Text Box 1">
            <a:extLst>
              <a:ext uri="{FF2B5EF4-FFF2-40B4-BE49-F238E27FC236}">
                <a16:creationId xmlns:a16="http://schemas.microsoft.com/office/drawing/2014/main" id="{49CC71E9-01E1-7536-A66A-DC25293037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7251" y="692549"/>
            <a:ext cx="2603500" cy="341510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86630" tIns="43315" rIns="86630" bIns="43315" anchor="ctr"/>
          <a:lstStyle/>
          <a:p>
            <a:endParaRPr lang="en-US"/>
          </a:p>
        </p:txBody>
      </p:sp>
      <p:sp>
        <p:nvSpPr>
          <p:cNvPr id="65538" name="Rectangle 2">
            <a:extLst>
              <a:ext uri="{FF2B5EF4-FFF2-40B4-BE49-F238E27FC236}">
                <a16:creationId xmlns:a16="http://schemas.microsoft.com/office/drawing/2014/main" id="{137C5F6E-96D3-0D21-EBF3-E8AB663001F5}"/>
              </a:ext>
            </a:extLst>
          </p:cNvPr>
          <p:cNvSpPr txBox="1">
            <a:spLocks noGrp="1" noChangeArrowheads="1"/>
          </p:cNvSpPr>
          <p:nvPr>
            <p:ph type="body"/>
          </p:nvPr>
        </p:nvSpPr>
        <p:spPr bwMode="auto">
          <a:xfrm>
            <a:off x="913947" y="4343798"/>
            <a:ext cx="5030108" cy="4115594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01008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D7E6E1-14AA-2501-D761-DA2348785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Text Box 1">
            <a:extLst>
              <a:ext uri="{FF2B5EF4-FFF2-40B4-BE49-F238E27FC236}">
                <a16:creationId xmlns:a16="http://schemas.microsoft.com/office/drawing/2014/main" id="{4F0B1B2E-8C08-110C-DABC-2442A6BEB2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7251" y="692549"/>
            <a:ext cx="2603500" cy="341510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86630" tIns="43315" rIns="86630" bIns="43315" anchor="ctr"/>
          <a:lstStyle/>
          <a:p>
            <a:endParaRPr lang="en-US"/>
          </a:p>
        </p:txBody>
      </p:sp>
      <p:sp>
        <p:nvSpPr>
          <p:cNvPr id="57346" name="Rectangle 2">
            <a:extLst>
              <a:ext uri="{FF2B5EF4-FFF2-40B4-BE49-F238E27FC236}">
                <a16:creationId xmlns:a16="http://schemas.microsoft.com/office/drawing/2014/main" id="{8CB46ADE-030C-C47E-36C6-E0CBE0C57EF5}"/>
              </a:ext>
            </a:extLst>
          </p:cNvPr>
          <p:cNvSpPr txBox="1">
            <a:spLocks noGrp="1" noChangeArrowheads="1"/>
          </p:cNvSpPr>
          <p:nvPr>
            <p:ph type="body"/>
          </p:nvPr>
        </p:nvSpPr>
        <p:spPr bwMode="auto">
          <a:xfrm>
            <a:off x="913947" y="4343798"/>
            <a:ext cx="5030108" cy="4115594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13358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B0E73A-7BE1-FB5C-77DF-19CA3A959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Text Box 1">
            <a:extLst>
              <a:ext uri="{FF2B5EF4-FFF2-40B4-BE49-F238E27FC236}">
                <a16:creationId xmlns:a16="http://schemas.microsoft.com/office/drawing/2014/main" id="{4FB5D898-18FD-E355-6F90-0091C27D68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7251" y="692549"/>
            <a:ext cx="2603500" cy="341510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86630" tIns="43315" rIns="86630" bIns="43315" anchor="ctr"/>
          <a:lstStyle/>
          <a:p>
            <a:endParaRPr lang="en-US"/>
          </a:p>
        </p:txBody>
      </p:sp>
      <p:sp>
        <p:nvSpPr>
          <p:cNvPr id="58370" name="Rectangle 2">
            <a:extLst>
              <a:ext uri="{FF2B5EF4-FFF2-40B4-BE49-F238E27FC236}">
                <a16:creationId xmlns:a16="http://schemas.microsoft.com/office/drawing/2014/main" id="{13A93E57-20EC-E431-66DA-FC2B782AE384}"/>
              </a:ext>
            </a:extLst>
          </p:cNvPr>
          <p:cNvSpPr txBox="1">
            <a:spLocks noGrp="1" noChangeArrowheads="1"/>
          </p:cNvSpPr>
          <p:nvPr>
            <p:ph type="body"/>
          </p:nvPr>
        </p:nvSpPr>
        <p:spPr bwMode="auto">
          <a:xfrm>
            <a:off x="913947" y="4343798"/>
            <a:ext cx="5030108" cy="4115594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38891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563872-466C-B4DD-B808-9D4B36A66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Text Box 1">
            <a:extLst>
              <a:ext uri="{FF2B5EF4-FFF2-40B4-BE49-F238E27FC236}">
                <a16:creationId xmlns:a16="http://schemas.microsoft.com/office/drawing/2014/main" id="{E89CDB30-C75A-2A05-617A-391586C664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7251" y="692549"/>
            <a:ext cx="2603500" cy="341510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86630" tIns="43315" rIns="86630" bIns="43315" anchor="ctr"/>
          <a:lstStyle/>
          <a:p>
            <a:endParaRPr lang="en-US"/>
          </a:p>
        </p:txBody>
      </p:sp>
      <p:sp>
        <p:nvSpPr>
          <p:cNvPr id="61442" name="Rectangle 2">
            <a:extLst>
              <a:ext uri="{FF2B5EF4-FFF2-40B4-BE49-F238E27FC236}">
                <a16:creationId xmlns:a16="http://schemas.microsoft.com/office/drawing/2014/main" id="{DA34DF4F-AC09-5A3D-E8DF-73239AD53AA2}"/>
              </a:ext>
            </a:extLst>
          </p:cNvPr>
          <p:cNvSpPr txBox="1">
            <a:spLocks noGrp="1" noChangeArrowheads="1"/>
          </p:cNvSpPr>
          <p:nvPr>
            <p:ph type="body"/>
          </p:nvPr>
        </p:nvSpPr>
        <p:spPr bwMode="auto">
          <a:xfrm>
            <a:off x="913947" y="4343798"/>
            <a:ext cx="5030108" cy="4115594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16431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F8E558-693C-62EB-B2C6-B958651C6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Text Box 1">
            <a:extLst>
              <a:ext uri="{FF2B5EF4-FFF2-40B4-BE49-F238E27FC236}">
                <a16:creationId xmlns:a16="http://schemas.microsoft.com/office/drawing/2014/main" id="{0ECE5D5C-A873-859D-64D7-257D8FE9B2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7251" y="692549"/>
            <a:ext cx="2603500" cy="341510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86630" tIns="43315" rIns="86630" bIns="43315" anchor="ctr"/>
          <a:lstStyle/>
          <a:p>
            <a:endParaRPr lang="en-US"/>
          </a:p>
        </p:txBody>
      </p:sp>
      <p:sp>
        <p:nvSpPr>
          <p:cNvPr id="72706" name="Rectangle 2">
            <a:extLst>
              <a:ext uri="{FF2B5EF4-FFF2-40B4-BE49-F238E27FC236}">
                <a16:creationId xmlns:a16="http://schemas.microsoft.com/office/drawing/2014/main" id="{76E3D222-9582-EC1B-AD82-B92B432CD7F3}"/>
              </a:ext>
            </a:extLst>
          </p:cNvPr>
          <p:cNvSpPr txBox="1">
            <a:spLocks noGrp="1" noChangeArrowheads="1"/>
          </p:cNvSpPr>
          <p:nvPr>
            <p:ph type="body"/>
          </p:nvPr>
        </p:nvSpPr>
        <p:spPr bwMode="auto">
          <a:xfrm>
            <a:off x="913947" y="4343798"/>
            <a:ext cx="5030108" cy="4115594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81122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Text Box 1"/>
          <p:cNvSpPr txBox="1">
            <a:spLocks noChangeArrowheads="1"/>
          </p:cNvSpPr>
          <p:nvPr/>
        </p:nvSpPr>
        <p:spPr bwMode="auto">
          <a:xfrm>
            <a:off x="2127251" y="692549"/>
            <a:ext cx="2603500" cy="341510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86630" tIns="43315" rIns="86630" bIns="43315" anchor="ctr"/>
          <a:lstStyle/>
          <a:p>
            <a:endParaRPr lang="en-US"/>
          </a:p>
        </p:txBody>
      </p:sp>
      <p:sp>
        <p:nvSpPr>
          <p:cNvPr id="74754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13947" y="4343798"/>
            <a:ext cx="5030108" cy="4115594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Text Box 1"/>
          <p:cNvSpPr txBox="1">
            <a:spLocks noChangeArrowheads="1"/>
          </p:cNvSpPr>
          <p:nvPr/>
        </p:nvSpPr>
        <p:spPr bwMode="auto">
          <a:xfrm>
            <a:off x="2127251" y="692549"/>
            <a:ext cx="2603500" cy="341510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86630" tIns="43315" rIns="86630" bIns="43315" anchor="ctr"/>
          <a:lstStyle/>
          <a:p>
            <a:endParaRPr lang="en-US"/>
          </a:p>
        </p:txBody>
      </p:sp>
      <p:sp>
        <p:nvSpPr>
          <p:cNvPr id="75778" name="Rectangle 2"/>
          <p:cNvSpPr txBox="1">
            <a:spLocks noGrp="1" noChangeArrowheads="1"/>
          </p:cNvSpPr>
          <p:nvPr>
            <p:ph type="body"/>
          </p:nvPr>
        </p:nvSpPr>
        <p:spPr bwMode="auto">
          <a:xfrm>
            <a:off x="913947" y="4343798"/>
            <a:ext cx="5030108" cy="4115594"/>
          </a:xfrm>
          <a:prstGeom prst="rect">
            <a:avLst/>
          </a:prstGeom>
          <a:noFill/>
          <a:ln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4931D-C79E-4FCF-A524-5D38D838E344}" type="datetime1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92C60-C071-3249-9DBB-404B1D195F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3219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>
                <a:latin typeface="Arial"/>
                <a:cs typeface="Arial"/>
              </a:defRPr>
            </a:lvl1pPr>
            <a:lvl2pPr>
              <a:defRPr sz="2400">
                <a:latin typeface="Arial"/>
                <a:cs typeface="Arial"/>
              </a:defRPr>
            </a:lvl2pPr>
            <a:lvl3pPr>
              <a:defRPr sz="2000">
                <a:latin typeface="Arial"/>
                <a:cs typeface="Arial"/>
              </a:defRPr>
            </a:lvl3pPr>
            <a:lvl4pPr>
              <a:defRPr sz="1600">
                <a:latin typeface="Arial"/>
                <a:cs typeface="Arial"/>
              </a:defRPr>
            </a:lvl4pPr>
            <a:lvl5pPr>
              <a:defRPr sz="1600">
                <a:latin typeface="Arial"/>
                <a:cs typeface="Arial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29ECBC-1388-449F-9513-1079E2C95AD8}" type="datetime1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92C60-C071-3249-9DBB-404B1D195F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577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68AED-8864-42C5-B255-25C0B0D18985}" type="datetime1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92C60-C071-3249-9DBB-404B1D195F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95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F5E360-D93B-4E6F-9BE4-736CBA5C14B6}" type="datetime1">
              <a:rPr lang="en-US" smtClean="0"/>
              <a:t>10/28/26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92C60-C071-3249-9DBB-404B1D195F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830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93AEC-1628-4AB9-956C-DF362C91B31D}" type="datetime1">
              <a:rPr lang="en-US" smtClean="0"/>
              <a:t>10/28/26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92C60-C071-3249-9DBB-404B1D195F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092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4187ED-CC35-4B51-ACF1-0F760E3C9302}" type="datetime1">
              <a:rPr lang="en-US" smtClean="0"/>
              <a:t>10/28/26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92C60-C071-3249-9DBB-404B1D195F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584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05B32-6187-495A-B91C-A4AF3117D15D}" type="datetime1">
              <a:rPr lang="en-US" smtClean="0"/>
              <a:t>10/28/26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92C60-C071-3249-9DBB-404B1D195F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171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E54F2B-E47A-442D-A92D-BBD68CC77BDE}" type="datetime1">
              <a:rPr lang="en-US" smtClean="0"/>
              <a:t>10/28/26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92C60-C071-3249-9DBB-404B1D195F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852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B5DDA-14EF-4D3B-A8C0-E4EF789705DD}" type="datetime1">
              <a:rPr lang="en-US" smtClean="0"/>
              <a:t>10/28/26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92C60-C071-3249-9DBB-404B1D195F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45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ABE137-2EE8-4C18-AC9C-4AF97881DBEC}" type="datetime1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92C60-C071-3249-9DBB-404B1D195F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622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52C89-CDDF-42D5-9CC2-2A4229D4BD82}" type="datetime1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92C60-C071-3249-9DBB-404B1D195F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427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EF17E9-A8A6-4DCD-9541-BC56AF861A16}" type="datetime1">
              <a:rPr lang="en-US" smtClean="0"/>
              <a:t>10/28/26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592C60-C071-3249-9DBB-404B1D195F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054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000" b="1" kern="1200">
          <a:solidFill>
            <a:srgbClr val="3366FF"/>
          </a:solidFill>
          <a:latin typeface="Tahoma"/>
          <a:ea typeface="+mj-ea"/>
          <a:cs typeface="Tahoma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ctrTitle"/>
          </p:nvPr>
        </p:nvSpPr>
        <p:spPr>
          <a:xfrm>
            <a:off x="228600" y="1600200"/>
            <a:ext cx="8458200" cy="1752600"/>
          </a:xfrm>
        </p:spPr>
        <p:txBody>
          <a:bodyPr/>
          <a:lstStyle/>
          <a:p>
            <a:pPr marL="0" indent="0" algn="ctr"/>
            <a:r>
              <a:rPr lang="en-US" dirty="0"/>
              <a:t>Code optimization</a:t>
            </a:r>
            <a:br>
              <a:rPr lang="en-US" dirty="0"/>
            </a:br>
            <a:endParaRPr lang="en-US" sz="2000" b="0" dirty="0"/>
          </a:p>
        </p:txBody>
      </p:sp>
      <p:sp>
        <p:nvSpPr>
          <p:cNvPr id="9219" name="Subtitle 2"/>
          <p:cNvSpPr>
            <a:spLocks noGrp="1"/>
          </p:cNvSpPr>
          <p:nvPr>
            <p:ph type="subTitle" idx="1"/>
          </p:nvPr>
        </p:nvSpPr>
        <p:spPr>
          <a:xfrm>
            <a:off x="685800" y="3886200"/>
            <a:ext cx="7678738" cy="1752600"/>
          </a:xfrm>
        </p:spPr>
        <p:txBody>
          <a:bodyPr>
            <a:normAutofit fontScale="85000" lnSpcReduction="20000"/>
          </a:bodyPr>
          <a:lstStyle/>
          <a:p>
            <a:endParaRPr lang="en-US" dirty="0"/>
          </a:p>
          <a:p>
            <a:r>
              <a:rPr lang="en-US" sz="4200" dirty="0">
                <a:solidFill>
                  <a:schemeClr val="tx1"/>
                </a:solidFill>
              </a:rPr>
              <a:t>Jinyang Li</a:t>
            </a:r>
          </a:p>
          <a:p>
            <a:endParaRPr lang="en-US" sz="2800" dirty="0"/>
          </a:p>
          <a:p>
            <a:r>
              <a:rPr lang="en-US" sz="2800" dirty="0"/>
              <a:t>Slides adapted from Bryant and  </a:t>
            </a:r>
            <a:r>
              <a:rPr lang="en-US" sz="2800" dirty="0" err="1"/>
              <a:t>O’Hallaron</a:t>
            </a:r>
            <a:endParaRPr lang="en-US" sz="280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B767E8-D579-4D4B-A8B9-F785C2730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92C60-C071-3249-9DBB-404B1D195F8C}" type="slidenum">
              <a:rPr lang="en-US" smtClean="0"/>
              <a:t>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0390A7-F179-4B71-A490-9BB511A36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473394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we’ve learnt so far</a:t>
            </a:r>
          </a:p>
        </p:txBody>
      </p:sp>
      <p:sp>
        <p:nvSpPr>
          <p:cNvPr id="6" name="矩形 8"/>
          <p:cNvSpPr/>
          <p:nvPr/>
        </p:nvSpPr>
        <p:spPr>
          <a:xfrm>
            <a:off x="457200" y="4433126"/>
            <a:ext cx="129649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000" b="0" dirty="0">
                <a:latin typeface="Arial"/>
                <a:cs typeface="Arial"/>
              </a:rPr>
              <a:t>Hardware</a:t>
            </a:r>
            <a:endParaRPr kumimoji="1" lang="zh-CN" altLang="en-US" sz="2000" b="0" dirty="0">
              <a:latin typeface="Arial"/>
              <a:cs typeface="Arial"/>
            </a:endParaRPr>
          </a:p>
        </p:txBody>
      </p:sp>
      <p:sp>
        <p:nvSpPr>
          <p:cNvPr id="7" name="矩形 9"/>
          <p:cNvSpPr/>
          <p:nvPr/>
        </p:nvSpPr>
        <p:spPr>
          <a:xfrm>
            <a:off x="457200" y="4035036"/>
            <a:ext cx="119681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000" b="0" dirty="0">
                <a:latin typeface="Arial"/>
                <a:cs typeface="Arial"/>
              </a:rPr>
              <a:t>Software</a:t>
            </a:r>
            <a:endParaRPr lang="zh-CN" altLang="en-US" sz="2400" b="0" dirty="0"/>
          </a:p>
        </p:txBody>
      </p:sp>
      <p:cxnSp>
        <p:nvCxnSpPr>
          <p:cNvPr id="8" name="直线连接符 11"/>
          <p:cNvCxnSpPr/>
          <p:nvPr/>
        </p:nvCxnSpPr>
        <p:spPr>
          <a:xfrm>
            <a:off x="533400" y="4435146"/>
            <a:ext cx="5334000" cy="0"/>
          </a:xfrm>
          <a:prstGeom prst="line">
            <a:avLst/>
          </a:prstGeom>
          <a:ln w="6350" cmpd="sng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ectangle 3"/>
          <p:cNvSpPr/>
          <p:nvPr/>
        </p:nvSpPr>
        <p:spPr>
          <a:xfrm>
            <a:off x="1828800" y="5501946"/>
            <a:ext cx="4038600" cy="762000"/>
          </a:xfrm>
          <a:prstGeom prst="rect">
            <a:avLst/>
          </a:prstGeom>
          <a:solidFill>
            <a:schemeClr val="bg1">
              <a:lumMod val="65000"/>
            </a:schemeClr>
          </a:solidFill>
          <a:ln w="38100"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sz="2400" dirty="0">
                <a:solidFill>
                  <a:srgbClr val="000000"/>
                </a:solidFill>
              </a:rPr>
              <a:t>Logical Circuits, Flip-Flops, </a:t>
            </a:r>
            <a:r>
              <a:rPr kumimoji="1" lang="mr-IN" altLang="zh-CN" sz="2400" dirty="0">
                <a:solidFill>
                  <a:srgbClr val="000000"/>
                </a:solidFill>
              </a:rPr>
              <a:t>…</a:t>
            </a:r>
            <a:endParaRPr kumimoji="1" lang="zh-CN" altLang="en-US" sz="2400" dirty="0">
              <a:solidFill>
                <a:srgbClr val="000000"/>
              </a:solidFill>
            </a:endParaRPr>
          </a:p>
        </p:txBody>
      </p:sp>
      <p:sp>
        <p:nvSpPr>
          <p:cNvPr id="11" name="Rectangle 3"/>
          <p:cNvSpPr/>
          <p:nvPr/>
        </p:nvSpPr>
        <p:spPr>
          <a:xfrm>
            <a:off x="1828800" y="4587546"/>
            <a:ext cx="1600200" cy="762000"/>
          </a:xfrm>
          <a:prstGeom prst="rect">
            <a:avLst/>
          </a:prstGeom>
          <a:solidFill>
            <a:schemeClr val="tx1"/>
          </a:solidFill>
          <a:ln w="38100"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sz="2400" dirty="0">
                <a:solidFill>
                  <a:schemeClr val="bg1"/>
                </a:solidFill>
              </a:rPr>
              <a:t>CPU</a:t>
            </a:r>
            <a:endParaRPr kumimoji="1"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12" name="Rectangle 3"/>
          <p:cNvSpPr/>
          <p:nvPr/>
        </p:nvSpPr>
        <p:spPr>
          <a:xfrm>
            <a:off x="3581400" y="4587546"/>
            <a:ext cx="1447800" cy="762000"/>
          </a:xfrm>
          <a:prstGeom prst="rect">
            <a:avLst/>
          </a:prstGeom>
          <a:solidFill>
            <a:schemeClr val="tx1"/>
          </a:solidFill>
          <a:ln w="38100"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sz="2400" dirty="0">
                <a:solidFill>
                  <a:schemeClr val="bg1"/>
                </a:solidFill>
              </a:rPr>
              <a:t>Memory</a:t>
            </a:r>
            <a:endParaRPr kumimoji="1"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13" name="Rectangle 3"/>
          <p:cNvSpPr/>
          <p:nvPr/>
        </p:nvSpPr>
        <p:spPr>
          <a:xfrm>
            <a:off x="5181600" y="4587546"/>
            <a:ext cx="685800" cy="762000"/>
          </a:xfrm>
          <a:prstGeom prst="rect">
            <a:avLst/>
          </a:prstGeom>
          <a:solidFill>
            <a:schemeClr val="tx1"/>
          </a:solidFill>
          <a:ln w="38100"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sz="2400" dirty="0">
                <a:solidFill>
                  <a:schemeClr val="bg1"/>
                </a:solidFill>
              </a:rPr>
              <a:t>I/O </a:t>
            </a:r>
            <a:endParaRPr kumimoji="1"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14" name="矩形 12"/>
          <p:cNvSpPr/>
          <p:nvPr/>
        </p:nvSpPr>
        <p:spPr>
          <a:xfrm>
            <a:off x="213510" y="3262390"/>
            <a:ext cx="127973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2000" b="0" dirty="0"/>
              <a:t>System </a:t>
            </a:r>
          </a:p>
          <a:p>
            <a:r>
              <a:rPr kumimoji="1" lang="en-US" altLang="zh-CN" sz="2000" b="0" dirty="0"/>
              <a:t>Software</a:t>
            </a:r>
          </a:p>
        </p:txBody>
      </p:sp>
      <p:sp>
        <p:nvSpPr>
          <p:cNvPr id="15" name="矩形 23"/>
          <p:cNvSpPr/>
          <p:nvPr/>
        </p:nvSpPr>
        <p:spPr>
          <a:xfrm>
            <a:off x="213510" y="2365075"/>
            <a:ext cx="2514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2000" b="0" dirty="0"/>
              <a:t>User </a:t>
            </a:r>
          </a:p>
          <a:p>
            <a:r>
              <a:rPr kumimoji="1" lang="en-US" altLang="zh-CN" sz="2000" b="0" dirty="0"/>
              <a:t>Applications</a:t>
            </a:r>
            <a:endParaRPr lang="zh-CN" altLang="en-US" sz="2000" b="0" dirty="0"/>
          </a:p>
        </p:txBody>
      </p:sp>
      <p:sp>
        <p:nvSpPr>
          <p:cNvPr id="16" name="Rectangle 3"/>
          <p:cNvSpPr/>
          <p:nvPr/>
        </p:nvSpPr>
        <p:spPr>
          <a:xfrm>
            <a:off x="1828800" y="2453946"/>
            <a:ext cx="4038600" cy="762000"/>
          </a:xfrm>
          <a:prstGeom prst="rect">
            <a:avLst/>
          </a:prstGeom>
          <a:solidFill>
            <a:srgbClr val="8585E0"/>
          </a:solidFill>
          <a:ln w="38100">
            <a:noFill/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>
                <a:solidFill>
                  <a:schemeClr val="bg1"/>
                </a:solidFill>
              </a:rPr>
              <a:t>User App</a:t>
            </a:r>
            <a:endParaRPr lang="zh-CN" altLang="en-US" sz="3200" dirty="0">
              <a:solidFill>
                <a:schemeClr val="bg1"/>
              </a:solidFill>
            </a:endParaRPr>
          </a:p>
        </p:txBody>
      </p:sp>
      <p:sp>
        <p:nvSpPr>
          <p:cNvPr id="17" name="Rectangle 13"/>
          <p:cNvSpPr/>
          <p:nvPr/>
        </p:nvSpPr>
        <p:spPr>
          <a:xfrm>
            <a:off x="1828800" y="3368346"/>
            <a:ext cx="1676400" cy="838200"/>
          </a:xfrm>
          <a:prstGeom prst="rect">
            <a:avLst/>
          </a:prstGeom>
          <a:solidFill>
            <a:srgbClr val="0070C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latin typeface="Corbel" pitchFamily="34" charset="0"/>
                <a:cs typeface="Arial" pitchFamily="34" charset="0"/>
              </a:rPr>
              <a:t>Operating System</a:t>
            </a:r>
          </a:p>
        </p:txBody>
      </p:sp>
      <p:sp>
        <p:nvSpPr>
          <p:cNvPr id="18" name="Rectangle 13"/>
          <p:cNvSpPr/>
          <p:nvPr/>
        </p:nvSpPr>
        <p:spPr>
          <a:xfrm>
            <a:off x="3581400" y="3368346"/>
            <a:ext cx="2192414" cy="838200"/>
          </a:xfrm>
          <a:prstGeom prst="rect">
            <a:avLst/>
          </a:prstGeom>
          <a:solidFill>
            <a:srgbClr val="0070C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latin typeface="Corbel" pitchFamily="34" charset="0"/>
                <a:cs typeface="Arial" pitchFamily="34" charset="0"/>
              </a:rPr>
              <a:t>Compilers</a:t>
            </a:r>
          </a:p>
        </p:txBody>
      </p:sp>
      <p:cxnSp>
        <p:nvCxnSpPr>
          <p:cNvPr id="24" name="Straight Connector 23"/>
          <p:cNvCxnSpPr/>
          <p:nvPr/>
        </p:nvCxnSpPr>
        <p:spPr bwMode="auto">
          <a:xfrm>
            <a:off x="357018" y="4435146"/>
            <a:ext cx="5510382" cy="0"/>
          </a:xfrm>
          <a:prstGeom prst="line">
            <a:avLst/>
          </a:pr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35" name="Group 34"/>
          <p:cNvGrpSpPr/>
          <p:nvPr/>
        </p:nvGrpSpPr>
        <p:grpSpPr>
          <a:xfrm>
            <a:off x="6019800" y="4049681"/>
            <a:ext cx="2839951" cy="923330"/>
            <a:chOff x="6019800" y="4049681"/>
            <a:chExt cx="2839951" cy="923330"/>
          </a:xfrm>
        </p:grpSpPr>
        <p:sp>
          <p:nvSpPr>
            <p:cNvPr id="25" name="TextBox 24"/>
            <p:cNvSpPr txBox="1"/>
            <p:nvPr/>
          </p:nvSpPr>
          <p:spPr>
            <a:xfrm>
              <a:off x="6400800" y="4049681"/>
              <a:ext cx="2458951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rgbClr val="FF0000"/>
                  </a:solidFill>
                  <a:latin typeface="Calibri" pitchFamily="34" charset="0"/>
                </a:rPr>
                <a:t>the x86 ISA</a:t>
              </a:r>
            </a:p>
            <a:p>
              <a:r>
                <a:rPr lang="en-US" sz="1800" dirty="0">
                  <a:solidFill>
                    <a:srgbClr val="FF0000"/>
                  </a:solidFill>
                  <a:latin typeface="Calibri" pitchFamily="34" charset="0"/>
                </a:rPr>
                <a:t>(e.g. %</a:t>
              </a:r>
              <a:r>
                <a:rPr lang="en-US" sz="1800" dirty="0" err="1">
                  <a:solidFill>
                    <a:srgbClr val="FF0000"/>
                  </a:solidFill>
                  <a:latin typeface="Calibri" pitchFamily="34" charset="0"/>
                </a:rPr>
                <a:t>rax</a:t>
              </a:r>
              <a:r>
                <a:rPr lang="en-US" sz="1800" dirty="0">
                  <a:solidFill>
                    <a:srgbClr val="FF0000"/>
                  </a:solidFill>
                  <a:latin typeface="Calibri" pitchFamily="34" charset="0"/>
                </a:rPr>
                <a:t>, %</a:t>
              </a:r>
              <a:r>
                <a:rPr lang="en-US" sz="1800" dirty="0" err="1">
                  <a:solidFill>
                    <a:srgbClr val="FF0000"/>
                  </a:solidFill>
                  <a:latin typeface="Calibri" pitchFamily="34" charset="0"/>
                </a:rPr>
                <a:t>rsp</a:t>
              </a:r>
              <a:r>
                <a:rPr lang="en-US" sz="1800" dirty="0">
                  <a:solidFill>
                    <a:srgbClr val="FF0000"/>
                  </a:solidFill>
                  <a:latin typeface="Calibri" pitchFamily="34" charset="0"/>
                </a:rPr>
                <a:t>, ...,</a:t>
              </a:r>
            </a:p>
            <a:p>
              <a:r>
                <a:rPr lang="en-US" sz="1800" dirty="0" err="1">
                  <a:solidFill>
                    <a:srgbClr val="FF0000"/>
                  </a:solidFill>
                  <a:latin typeface="Calibri" pitchFamily="34" charset="0"/>
                </a:rPr>
                <a:t>mov</a:t>
              </a:r>
              <a:r>
                <a:rPr lang="en-US" sz="1800" dirty="0">
                  <a:solidFill>
                    <a:srgbClr val="FF0000"/>
                  </a:solidFill>
                  <a:latin typeface="Calibri" pitchFamily="34" charset="0"/>
                </a:rPr>
                <a:t>, add, </a:t>
              </a:r>
              <a:r>
                <a:rPr lang="en-US" sz="1800" dirty="0" err="1">
                  <a:solidFill>
                    <a:srgbClr val="FF0000"/>
                  </a:solidFill>
                  <a:latin typeface="Calibri" pitchFamily="34" charset="0"/>
                </a:rPr>
                <a:t>jmp</a:t>
              </a:r>
              <a:r>
                <a:rPr lang="en-US" sz="1800" dirty="0">
                  <a:solidFill>
                    <a:srgbClr val="FF0000"/>
                  </a:solidFill>
                  <a:latin typeface="Calibri" pitchFamily="34" charset="0"/>
                </a:rPr>
                <a:t>, ret, call)</a:t>
              </a:r>
            </a:p>
          </p:txBody>
        </p:sp>
        <p:cxnSp>
          <p:nvCxnSpPr>
            <p:cNvPr id="27" name="Straight Arrow Connector 26"/>
            <p:cNvCxnSpPr>
              <a:stCxn id="25" idx="1"/>
            </p:cNvCxnSpPr>
            <p:nvPr/>
          </p:nvCxnSpPr>
          <p:spPr bwMode="auto">
            <a:xfrm flipH="1" flipV="1">
              <a:off x="6019800" y="4435146"/>
              <a:ext cx="381000" cy="76200"/>
            </a:xfrm>
            <a:prstGeom prst="straightConnector1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33" name="Group 32"/>
          <p:cNvGrpSpPr/>
          <p:nvPr/>
        </p:nvGrpSpPr>
        <p:grpSpPr>
          <a:xfrm>
            <a:off x="6172200" y="2821790"/>
            <a:ext cx="2811546" cy="646331"/>
            <a:chOff x="6172200" y="2821790"/>
            <a:chExt cx="2811546" cy="646331"/>
          </a:xfrm>
        </p:grpSpPr>
        <p:cxnSp>
          <p:nvCxnSpPr>
            <p:cNvPr id="29" name="Straight Arrow Connector 28"/>
            <p:cNvCxnSpPr/>
            <p:nvPr/>
          </p:nvCxnSpPr>
          <p:spPr bwMode="auto">
            <a:xfrm flipH="1" flipV="1">
              <a:off x="6172200" y="2895600"/>
              <a:ext cx="609600" cy="110856"/>
            </a:xfrm>
            <a:prstGeom prst="straightConnector1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30" name="TextBox 29"/>
            <p:cNvSpPr txBox="1"/>
            <p:nvPr/>
          </p:nvSpPr>
          <p:spPr>
            <a:xfrm>
              <a:off x="6816717" y="2821790"/>
              <a:ext cx="216702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rgbClr val="FF0000"/>
                  </a:solidFill>
                  <a:latin typeface="Calibri" pitchFamily="34" charset="0"/>
                </a:rPr>
                <a:t>e.g. your C programs</a:t>
              </a:r>
            </a:p>
            <a:p>
              <a:r>
                <a:rPr lang="en-US" sz="1800" dirty="0" err="1">
                  <a:solidFill>
                    <a:srgbClr val="FF0000"/>
                  </a:solidFill>
                  <a:latin typeface="Calibri" pitchFamily="34" charset="0"/>
                </a:rPr>
                <a:t>rkgrep</a:t>
              </a:r>
              <a:endParaRPr lang="en-US" sz="1800" dirty="0">
                <a:solidFill>
                  <a:srgbClr val="FF0000"/>
                </a:solidFill>
                <a:latin typeface="Calibri" pitchFamily="34" charset="0"/>
              </a:endParaRPr>
            </a:p>
          </p:txBody>
        </p:sp>
      </p:grpSp>
      <p:grpSp>
        <p:nvGrpSpPr>
          <p:cNvPr id="3" name="Group 2"/>
          <p:cNvGrpSpPr/>
          <p:nvPr/>
        </p:nvGrpSpPr>
        <p:grpSpPr>
          <a:xfrm>
            <a:off x="3581400" y="3415525"/>
            <a:ext cx="2286000" cy="982525"/>
            <a:chOff x="6400800" y="5604737"/>
            <a:chExt cx="2070846" cy="982525"/>
          </a:xfrm>
        </p:grpSpPr>
        <p:sp>
          <p:nvSpPr>
            <p:cNvPr id="26" name="Rectangle 13"/>
            <p:cNvSpPr/>
            <p:nvPr/>
          </p:nvSpPr>
          <p:spPr>
            <a:xfrm>
              <a:off x="7575175" y="5604737"/>
              <a:ext cx="896471" cy="982525"/>
            </a:xfrm>
            <a:prstGeom prst="rect">
              <a:avLst/>
            </a:prstGeom>
            <a:solidFill>
              <a:srgbClr val="0070C0"/>
            </a:soli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 err="1">
                  <a:latin typeface="Corbel" pitchFamily="34" charset="0"/>
                  <a:cs typeface="Arial" pitchFamily="34" charset="0"/>
                </a:rPr>
                <a:t>gcc</a:t>
              </a:r>
              <a:endParaRPr lang="en-US" altLang="zh-CN" sz="2000" b="1" dirty="0">
                <a:latin typeface="Corbel" pitchFamily="34" charset="0"/>
                <a:cs typeface="Arial" pitchFamily="34" charset="0"/>
              </a:endParaRPr>
            </a:p>
          </p:txBody>
        </p:sp>
        <p:sp>
          <p:nvSpPr>
            <p:cNvPr id="28" name="Rectangle 13"/>
            <p:cNvSpPr/>
            <p:nvPr/>
          </p:nvSpPr>
          <p:spPr>
            <a:xfrm>
              <a:off x="6400800" y="5657334"/>
              <a:ext cx="1153052" cy="438666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tx1"/>
              </a:solidFill>
            </a:ln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 err="1">
                  <a:latin typeface="Corbel" pitchFamily="34" charset="0"/>
                  <a:cs typeface="Arial" pitchFamily="34" charset="0"/>
                </a:rPr>
                <a:t>javac</a:t>
              </a:r>
              <a:endParaRPr lang="en-US" altLang="zh-CN" sz="2000" b="1" dirty="0">
                <a:latin typeface="Corbel" pitchFamily="34" charset="0"/>
                <a:cs typeface="Arial" pitchFamily="34" charset="0"/>
              </a:endParaRPr>
            </a:p>
          </p:txBody>
        </p:sp>
        <p:sp>
          <p:nvSpPr>
            <p:cNvPr id="37" name="Rectangle 13"/>
            <p:cNvSpPr/>
            <p:nvPr/>
          </p:nvSpPr>
          <p:spPr>
            <a:xfrm>
              <a:off x="6400800" y="6148596"/>
              <a:ext cx="1153052" cy="438666"/>
            </a:xfrm>
            <a:prstGeom prst="rect">
              <a:avLst/>
            </a:prstGeom>
            <a:solidFill>
              <a:srgbClr val="0070C0"/>
            </a:solidFill>
            <a:ln>
              <a:solidFill>
                <a:schemeClr val="tx1"/>
              </a:solidFill>
            </a:ln>
            <a:effectLst/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latin typeface="Corbel" pitchFamily="34" charset="0"/>
                  <a:cs typeface="Arial" pitchFamily="34" charset="0"/>
                </a:rPr>
                <a:t>JVM</a:t>
              </a:r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4DE3BF-344A-4B23-9308-9E0059166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92C60-C071-3249-9DBB-404B1D195F8C}" type="slidenum">
              <a:rPr lang="en-US" smtClean="0"/>
              <a:t>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8F7D4D-FBB4-4DD8-9B95-C53101CCE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9591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we’ve learnt so far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 program </a:t>
            </a:r>
            <a:r>
              <a:rPr lang="en-US" dirty="0">
                <a:sym typeface="Wingdings"/>
              </a:rPr>
              <a:t> x86 instructions</a:t>
            </a:r>
          </a:p>
          <a:p>
            <a:pPr lvl="1"/>
            <a:r>
              <a:rPr lang="en-US" dirty="0"/>
              <a:t>Memory layout</a:t>
            </a:r>
          </a:p>
          <a:p>
            <a:pPr lvl="1"/>
            <a:r>
              <a:rPr lang="en-US" dirty="0"/>
              <a:t>control flows: sequential, jumps, call/ret</a:t>
            </a:r>
          </a:p>
          <a:p>
            <a:r>
              <a:rPr lang="en-US" dirty="0"/>
              <a:t>Buffer overflow</a:t>
            </a:r>
          </a:p>
          <a:p>
            <a:pPr lvl="1"/>
            <a:r>
              <a:rPr lang="en-US" dirty="0"/>
              <a:t>Hijack control flow by overwriting a return address</a:t>
            </a:r>
          </a:p>
          <a:p>
            <a:pPr lvl="1"/>
            <a:r>
              <a:rPr lang="en-US" dirty="0"/>
              <a:t>Execute code intended by the attacker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2FA799-9FBE-4334-B3A9-0E7646AF9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92C60-C071-3249-9DBB-404B1D195F8C}" type="slidenum">
              <a:rPr lang="en-US" smtClean="0"/>
              <a:t>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7133FE-B5ED-4E30-AF56-2A7D6F7BA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2544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r>
              <a:rPr lang="en-US" dirty="0"/>
              <a:t>Code optimization (done by the compiler)</a:t>
            </a:r>
          </a:p>
          <a:p>
            <a:pPr lvl="1"/>
            <a:r>
              <a:rPr lang="en-US" dirty="0"/>
              <a:t>common optimization techniques</a:t>
            </a:r>
          </a:p>
          <a:p>
            <a:pPr lvl="1"/>
            <a:r>
              <a:rPr lang="en-US" dirty="0"/>
              <a:t>what prevents optimization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Optional: C linker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76B259-0A42-48E4-B339-FDF06FB82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92C60-C071-3249-9DBB-404B1D195F8C}" type="slidenum">
              <a:rPr lang="en-US" smtClean="0"/>
              <a:t>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C4DE37-F400-414F-ABB6-187A4BC66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199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6561138" cy="573088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/>
              <a:t>Optimizing Compilers</a:t>
            </a:r>
          </a:p>
        </p:txBody>
      </p:sp>
      <p:sp>
        <p:nvSpPr>
          <p:cNvPr id="65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" y="1135529"/>
            <a:ext cx="8991600" cy="5486400"/>
          </a:xfrm>
        </p:spPr>
        <p:txBody>
          <a:bodyPr lIns="90487" tIns="44450" rIns="90487" bIns="44450"/>
          <a:lstStyle/>
          <a:p>
            <a:pPr eaLnBrk="1" hangingPunct="1">
              <a:defRPr/>
            </a:pPr>
            <a:r>
              <a:rPr lang="en-US" dirty="0"/>
              <a:t>Goal: generate efficient, correct machine code</a:t>
            </a:r>
          </a:p>
          <a:p>
            <a:pPr lvl="1" eaLnBrk="1" hangingPunct="1">
              <a:defRPr/>
            </a:pPr>
            <a:r>
              <a:rPr lang="en-US" dirty="0"/>
              <a:t>allocate registers, choose instructions, ...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</p:txBody>
      </p:sp>
      <p:cxnSp>
        <p:nvCxnSpPr>
          <p:cNvPr id="3" name="Straight Connector 2"/>
          <p:cNvCxnSpPr/>
          <p:nvPr/>
        </p:nvCxnSpPr>
        <p:spPr>
          <a:xfrm flipV="1">
            <a:off x="4409773" y="1646897"/>
            <a:ext cx="1255948" cy="139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ular Callout 3"/>
          <p:cNvSpPr/>
          <p:nvPr/>
        </p:nvSpPr>
        <p:spPr>
          <a:xfrm>
            <a:off x="4633054" y="2288909"/>
            <a:ext cx="4186494" cy="2260994"/>
          </a:xfrm>
          <a:prstGeom prst="wedgeRoundRectCallout">
            <a:avLst>
              <a:gd name="adj1" fmla="val -35967"/>
              <a:gd name="adj2" fmla="val -75939"/>
              <a:gd name="adj3" fmla="val 16667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chemeClr val="tx1"/>
                </a:solidFill>
              </a:rPr>
              <a:t>Generated code must have the same behavior as the original C program under </a:t>
            </a:r>
            <a:r>
              <a:rPr lang="en-US" sz="2400" dirty="0">
                <a:solidFill>
                  <a:srgbClr val="FF0000"/>
                </a:solidFill>
              </a:rPr>
              <a:t>all</a:t>
            </a:r>
            <a:r>
              <a:rPr lang="en-US" sz="2400" dirty="0">
                <a:solidFill>
                  <a:schemeClr val="tx1"/>
                </a:solidFill>
              </a:rPr>
              <a:t> scenarios</a:t>
            </a:r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2985261" y="1632940"/>
            <a:ext cx="1255948" cy="139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ular Callout 7"/>
          <p:cNvSpPr/>
          <p:nvPr/>
        </p:nvSpPr>
        <p:spPr>
          <a:xfrm>
            <a:off x="696645" y="3726454"/>
            <a:ext cx="3154929" cy="1423387"/>
          </a:xfrm>
          <a:prstGeom prst="wedgeRoundRectCallout">
            <a:avLst>
              <a:gd name="adj1" fmla="val 34393"/>
              <a:gd name="adj2" fmla="val -196141"/>
              <a:gd name="adj3" fmla="val 16667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 err="1">
                <a:solidFill>
                  <a:schemeClr val="tx1"/>
                </a:solidFill>
              </a:rPr>
              <a:t>gcc’s</a:t>
            </a:r>
            <a:r>
              <a:rPr lang="en-US" sz="2400" dirty="0">
                <a:solidFill>
                  <a:schemeClr val="tx1"/>
                </a:solidFill>
              </a:rPr>
              <a:t> optimization levels: -O1, -O2, -O3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8E1FD26-5932-4F8E-855F-DC2CBF7D0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92C60-C071-3249-9DBB-404B1D195F8C}" type="slidenum">
              <a:rPr lang="en-US" smtClean="0"/>
              <a:t>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561807-5336-4ADE-9F37-12B50447D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24477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303122" y="2866464"/>
            <a:ext cx="4511562" cy="3803103"/>
            <a:chOff x="-65723" y="3226950"/>
            <a:chExt cx="4511562" cy="3803103"/>
          </a:xfrm>
        </p:grpSpPr>
        <p:sp>
          <p:nvSpPr>
            <p:cNvPr id="7" name="Rectangle 5"/>
            <p:cNvSpPr>
              <a:spLocks noChangeArrowheads="1"/>
            </p:cNvSpPr>
            <p:nvPr/>
          </p:nvSpPr>
          <p:spPr bwMode="auto">
            <a:xfrm>
              <a:off x="-65723" y="3616298"/>
              <a:ext cx="4511562" cy="341375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57150" cmpd="thickThin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lIns="90487" tIns="44450" rIns="90487" bIns="44450">
              <a:spAutoFit/>
            </a:bodyPr>
            <a:lstStyle/>
            <a:p>
              <a:r>
                <a:rPr lang="en-US" dirty="0">
                  <a:latin typeface="Calibri"/>
                  <a:cs typeface="Calibri"/>
                </a:rPr>
                <a:t>  </a:t>
              </a:r>
              <a:r>
                <a:rPr lang="en-US" dirty="0" err="1">
                  <a:latin typeface="Calibri"/>
                  <a:cs typeface="Calibri"/>
                </a:rPr>
                <a:t>testq</a:t>
              </a:r>
              <a:r>
                <a:rPr lang="en-US" dirty="0">
                  <a:latin typeface="Calibri"/>
                  <a:cs typeface="Calibri"/>
                </a:rPr>
                <a:t>  %</a:t>
              </a:r>
              <a:r>
                <a:rPr lang="en-US" dirty="0" err="1">
                  <a:latin typeface="Calibri"/>
                  <a:cs typeface="Calibri"/>
                </a:rPr>
                <a:t>rsi</a:t>
              </a:r>
              <a:r>
                <a:rPr lang="en-US" dirty="0">
                  <a:latin typeface="Calibri"/>
                  <a:cs typeface="Calibri"/>
                </a:rPr>
                <a:t>, %</a:t>
              </a:r>
              <a:r>
                <a:rPr lang="en-US" dirty="0" err="1">
                  <a:latin typeface="Calibri"/>
                  <a:cs typeface="Calibri"/>
                </a:rPr>
                <a:t>rsi</a:t>
              </a:r>
              <a:r>
                <a:rPr lang="en-US" dirty="0">
                  <a:latin typeface="Calibri"/>
                  <a:cs typeface="Calibri"/>
                </a:rPr>
                <a:t>	               # Test n</a:t>
              </a:r>
            </a:p>
            <a:p>
              <a:r>
                <a:rPr lang="en-US" dirty="0">
                  <a:latin typeface="Calibri"/>
                  <a:cs typeface="Calibri"/>
                </a:rPr>
                <a:t>  </a:t>
              </a:r>
              <a:r>
                <a:rPr lang="en-US" dirty="0" err="1">
                  <a:latin typeface="Calibri"/>
                  <a:cs typeface="Calibri"/>
                </a:rPr>
                <a:t>jle</a:t>
              </a:r>
              <a:r>
                <a:rPr lang="en-US" dirty="0">
                  <a:latin typeface="Calibri"/>
                  <a:cs typeface="Calibri"/>
                </a:rPr>
                <a:t> 	.L1			               # If 0, </a:t>
              </a:r>
              <a:r>
                <a:rPr lang="en-US" dirty="0" err="1">
                  <a:latin typeface="Calibri"/>
                  <a:cs typeface="Calibri"/>
                </a:rPr>
                <a:t>goto</a:t>
              </a:r>
              <a:r>
                <a:rPr lang="en-US" dirty="0">
                  <a:latin typeface="Calibri"/>
                  <a:cs typeface="Calibri"/>
                </a:rPr>
                <a:t> done</a:t>
              </a:r>
            </a:p>
            <a:p>
              <a:r>
                <a:rPr lang="en-US" dirty="0">
                  <a:latin typeface="Calibri"/>
                  <a:cs typeface="Calibri"/>
                </a:rPr>
                <a:t>  </a:t>
              </a:r>
              <a:r>
                <a:rPr lang="en-US" dirty="0" err="1">
                  <a:latin typeface="Calibri"/>
                  <a:cs typeface="Calibri"/>
                </a:rPr>
                <a:t>movq</a:t>
              </a:r>
              <a:r>
                <a:rPr lang="en-US" dirty="0">
                  <a:latin typeface="Calibri"/>
                  <a:cs typeface="Calibri"/>
                </a:rPr>
                <a:t> %</a:t>
              </a:r>
              <a:r>
                <a:rPr lang="en-US" dirty="0" err="1">
                  <a:latin typeface="Calibri"/>
                  <a:cs typeface="Calibri"/>
                </a:rPr>
                <a:t>rsi</a:t>
              </a:r>
              <a:r>
                <a:rPr lang="en-US" dirty="0">
                  <a:latin typeface="Calibri"/>
                  <a:cs typeface="Calibri"/>
                </a:rPr>
                <a:t>, %</a:t>
              </a:r>
              <a:r>
                <a:rPr lang="en-US" dirty="0" err="1">
                  <a:latin typeface="Calibri"/>
                  <a:cs typeface="Calibri"/>
                </a:rPr>
                <a:t>rdx</a:t>
              </a:r>
              <a:endParaRPr lang="en-US" dirty="0">
                <a:latin typeface="Calibri"/>
                <a:cs typeface="Calibri"/>
              </a:endParaRPr>
            </a:p>
            <a:p>
              <a:r>
                <a:rPr lang="en-US" dirty="0">
                  <a:latin typeface="Calibri"/>
                  <a:cs typeface="Calibri"/>
                </a:rPr>
                <a:t>  </a:t>
              </a:r>
              <a:r>
                <a:rPr lang="en-US" dirty="0" err="1">
                  <a:latin typeface="Calibri"/>
                  <a:cs typeface="Calibri"/>
                </a:rPr>
                <a:t>leaq</a:t>
              </a:r>
              <a:r>
                <a:rPr lang="en-US" dirty="0">
                  <a:latin typeface="Calibri"/>
                  <a:cs typeface="Calibri"/>
                </a:rPr>
                <a:t> (%</a:t>
              </a:r>
              <a:r>
                <a:rPr lang="en-US" dirty="0" err="1">
                  <a:latin typeface="Calibri"/>
                  <a:cs typeface="Calibri"/>
                </a:rPr>
                <a:t>rdi</a:t>
              </a:r>
              <a:r>
                <a:rPr lang="en-US" dirty="0">
                  <a:latin typeface="Calibri"/>
                  <a:cs typeface="Calibri"/>
                </a:rPr>
                <a:t>, %</a:t>
              </a:r>
              <a:r>
                <a:rPr lang="en-US" dirty="0" err="1">
                  <a:latin typeface="Calibri"/>
                  <a:cs typeface="Calibri"/>
                </a:rPr>
                <a:t>rsi</a:t>
              </a:r>
              <a:r>
                <a:rPr lang="en-US" dirty="0">
                  <a:latin typeface="Calibri"/>
                  <a:cs typeface="Calibri"/>
                </a:rPr>
                <a:t>, 8), %</a:t>
              </a:r>
              <a:r>
                <a:rPr lang="en-US" dirty="0" err="1">
                  <a:latin typeface="Calibri"/>
                  <a:cs typeface="Calibri"/>
                </a:rPr>
                <a:t>rax</a:t>
              </a:r>
              <a:r>
                <a:rPr lang="en-US" dirty="0">
                  <a:latin typeface="Calibri"/>
                  <a:cs typeface="Calibri"/>
                </a:rPr>
                <a:t>    # </a:t>
              </a:r>
              <a:r>
                <a:rPr lang="en-US" dirty="0" err="1">
                  <a:latin typeface="Calibri"/>
                  <a:cs typeface="Calibri"/>
                </a:rPr>
                <a:t>rax</a:t>
              </a:r>
              <a:r>
                <a:rPr lang="en-US" dirty="0">
                  <a:latin typeface="Calibri"/>
                  <a:cs typeface="Calibri"/>
                </a:rPr>
                <a:t> = &amp;</a:t>
              </a:r>
              <a:r>
                <a:rPr lang="en-US" dirty="0" err="1">
                  <a:latin typeface="Calibri"/>
                  <a:cs typeface="Calibri"/>
                </a:rPr>
                <a:t>arr</a:t>
              </a:r>
              <a:r>
                <a:rPr lang="en-US" dirty="0">
                  <a:latin typeface="Calibri"/>
                  <a:cs typeface="Calibri"/>
                </a:rPr>
                <a:t>[n] </a:t>
              </a:r>
              <a:r>
                <a:rPr lang="en-US" b="1" dirty="0">
                  <a:solidFill>
                    <a:srgbClr val="FF0000"/>
                  </a:solidFill>
                  <a:latin typeface="Calibri"/>
                  <a:cs typeface="Calibri"/>
                </a:rPr>
                <a:t> </a:t>
              </a:r>
            </a:p>
            <a:p>
              <a:r>
                <a:rPr lang="en-US" b="1" dirty="0">
                  <a:solidFill>
                    <a:srgbClr val="FF0000"/>
                  </a:solidFill>
                  <a:latin typeface="Calibri"/>
                  <a:cs typeface="Calibri"/>
                </a:rPr>
                <a:t>  </a:t>
              </a:r>
              <a:r>
                <a:rPr lang="en-US" b="1" dirty="0" err="1">
                  <a:solidFill>
                    <a:srgbClr val="FF0000"/>
                  </a:solidFill>
                  <a:latin typeface="Calibri"/>
                  <a:cs typeface="Calibri"/>
                </a:rPr>
                <a:t>imulq</a:t>
              </a:r>
              <a:r>
                <a:rPr lang="en-US" b="1" dirty="0">
                  <a:solidFill>
                    <a:srgbClr val="FF0000"/>
                  </a:solidFill>
                  <a:latin typeface="Calibri"/>
                  <a:cs typeface="Calibri"/>
                </a:rPr>
                <a:t> %</a:t>
              </a:r>
              <a:r>
                <a:rPr lang="en-US" b="1" dirty="0" err="1">
                  <a:solidFill>
                    <a:srgbClr val="FF0000"/>
                  </a:solidFill>
                  <a:latin typeface="Calibri"/>
                  <a:cs typeface="Calibri"/>
                </a:rPr>
                <a:t>rsi</a:t>
              </a:r>
              <a:r>
                <a:rPr lang="en-US" b="1" dirty="0">
                  <a:solidFill>
                    <a:srgbClr val="FF0000"/>
                  </a:solidFill>
                  <a:latin typeface="Calibri"/>
                  <a:cs typeface="Calibri"/>
                </a:rPr>
                <a:t>, %</a:t>
              </a:r>
              <a:r>
                <a:rPr lang="en-US" b="1" dirty="0" err="1">
                  <a:solidFill>
                    <a:srgbClr val="FF0000"/>
                  </a:solidFill>
                  <a:latin typeface="Calibri"/>
                  <a:cs typeface="Calibri"/>
                </a:rPr>
                <a:t>rdx</a:t>
              </a:r>
              <a:r>
                <a:rPr lang="en-US" dirty="0">
                  <a:solidFill>
                    <a:srgbClr val="C00000"/>
                  </a:solidFill>
                  <a:latin typeface="Calibri"/>
                  <a:cs typeface="Calibri"/>
                </a:rPr>
                <a:t>	              # </a:t>
              </a:r>
              <a:r>
                <a:rPr lang="en-US" dirty="0" err="1">
                  <a:solidFill>
                    <a:srgbClr val="C00000"/>
                  </a:solidFill>
                  <a:latin typeface="Calibri"/>
                  <a:cs typeface="Calibri"/>
                </a:rPr>
                <a:t>rdx</a:t>
              </a:r>
              <a:r>
                <a:rPr lang="en-US" dirty="0">
                  <a:solidFill>
                    <a:srgbClr val="C00000"/>
                  </a:solidFill>
                  <a:latin typeface="Calibri"/>
                  <a:cs typeface="Calibri"/>
                </a:rPr>
                <a:t> = n*n</a:t>
              </a:r>
            </a:p>
            <a:p>
              <a:r>
                <a:rPr lang="en-US" dirty="0">
                  <a:latin typeface="Calibri"/>
                  <a:cs typeface="Calibri"/>
                </a:rPr>
                <a:t>.L3:				 </a:t>
              </a:r>
            </a:p>
            <a:p>
              <a:r>
                <a:rPr lang="en-US" dirty="0">
                  <a:latin typeface="Calibri"/>
                  <a:cs typeface="Calibri"/>
                </a:rPr>
                <a:t>  </a:t>
              </a:r>
              <a:r>
                <a:rPr lang="en-US" dirty="0" err="1">
                  <a:latin typeface="Calibri"/>
                  <a:cs typeface="Calibri"/>
                </a:rPr>
                <a:t>movq</a:t>
              </a:r>
              <a:r>
                <a:rPr lang="en-US" dirty="0">
                  <a:latin typeface="Calibri"/>
                  <a:cs typeface="Calibri"/>
                </a:rPr>
                <a:t>  %</a:t>
              </a:r>
              <a:r>
                <a:rPr lang="en-US" dirty="0" err="1">
                  <a:latin typeface="Calibri"/>
                  <a:cs typeface="Calibri"/>
                </a:rPr>
                <a:t>rdx</a:t>
              </a:r>
              <a:r>
                <a:rPr lang="en-US" dirty="0">
                  <a:latin typeface="Calibri"/>
                  <a:cs typeface="Calibri"/>
                </a:rPr>
                <a:t>, (%</a:t>
              </a:r>
              <a:r>
                <a:rPr lang="en-US" dirty="0" err="1">
                  <a:latin typeface="Calibri"/>
                  <a:cs typeface="Calibri"/>
                </a:rPr>
                <a:t>rdi</a:t>
              </a:r>
              <a:r>
                <a:rPr lang="en-US" dirty="0">
                  <a:latin typeface="Calibri"/>
                  <a:cs typeface="Calibri"/>
                </a:rPr>
                <a:t>)          # (*p) =</a:t>
              </a:r>
              <a:r>
                <a:rPr lang="en-US" dirty="0" err="1">
                  <a:latin typeface="Calibri"/>
                  <a:cs typeface="Calibri"/>
                </a:rPr>
                <a:t>rdx</a:t>
              </a:r>
              <a:r>
                <a:rPr lang="en-US" dirty="0">
                  <a:latin typeface="Calibri"/>
                  <a:cs typeface="Calibri"/>
                </a:rPr>
                <a:t> </a:t>
              </a:r>
            </a:p>
            <a:p>
              <a:r>
                <a:rPr lang="en-US" dirty="0">
                  <a:latin typeface="Calibri"/>
                  <a:cs typeface="Calibri"/>
                </a:rPr>
                <a:t>  </a:t>
              </a:r>
              <a:r>
                <a:rPr lang="en-US" dirty="0" err="1">
                  <a:latin typeface="Calibri"/>
                  <a:cs typeface="Calibri"/>
                </a:rPr>
                <a:t>addq</a:t>
              </a:r>
              <a:r>
                <a:rPr lang="en-US" dirty="0">
                  <a:latin typeface="Calibri"/>
                  <a:cs typeface="Calibri"/>
                </a:rPr>
                <a:t> $8, %</a:t>
              </a:r>
              <a:r>
                <a:rPr lang="en-US" dirty="0" err="1">
                  <a:latin typeface="Calibri"/>
                  <a:cs typeface="Calibri"/>
                </a:rPr>
                <a:t>rdi</a:t>
              </a:r>
              <a:r>
                <a:rPr lang="en-US" dirty="0">
                  <a:latin typeface="Calibri"/>
                  <a:cs typeface="Calibri"/>
                </a:rPr>
                <a:t>                  # p++; </a:t>
              </a:r>
            </a:p>
            <a:p>
              <a:r>
                <a:rPr lang="en-US" dirty="0">
                  <a:latin typeface="Calibri"/>
                  <a:cs typeface="Calibri"/>
                </a:rPr>
                <a:t>  </a:t>
              </a:r>
              <a:r>
                <a:rPr lang="en-US" dirty="0" err="1">
                  <a:latin typeface="Calibri"/>
                  <a:cs typeface="Calibri"/>
                </a:rPr>
                <a:t>cmpq</a:t>
              </a:r>
              <a:r>
                <a:rPr lang="en-US" dirty="0">
                  <a:latin typeface="Calibri"/>
                  <a:cs typeface="Calibri"/>
                </a:rPr>
                <a:t>  %</a:t>
              </a:r>
              <a:r>
                <a:rPr lang="en-US" dirty="0" err="1">
                  <a:latin typeface="Calibri"/>
                  <a:cs typeface="Calibri"/>
                </a:rPr>
                <a:t>rax</a:t>
              </a:r>
              <a:r>
                <a:rPr lang="en-US" dirty="0">
                  <a:latin typeface="Calibri"/>
                  <a:cs typeface="Calibri"/>
                </a:rPr>
                <a:t>, %</a:t>
              </a:r>
              <a:r>
                <a:rPr lang="en-US" dirty="0" err="1">
                  <a:latin typeface="Calibri"/>
                  <a:cs typeface="Calibri"/>
                </a:rPr>
                <a:t>rdi</a:t>
              </a:r>
              <a:r>
                <a:rPr lang="en-US" dirty="0">
                  <a:latin typeface="Calibri"/>
                  <a:cs typeface="Calibri"/>
                </a:rPr>
                <a:t>	         # </a:t>
              </a:r>
              <a:r>
                <a:rPr lang="en-US" dirty="0" err="1">
                  <a:latin typeface="Calibri"/>
                  <a:cs typeface="Calibri"/>
                </a:rPr>
                <a:t>cmp</a:t>
              </a:r>
              <a:r>
                <a:rPr lang="en-US" dirty="0">
                  <a:latin typeface="Calibri"/>
                  <a:cs typeface="Calibri"/>
                </a:rPr>
                <a:t> &amp;</a:t>
              </a:r>
              <a:r>
                <a:rPr lang="en-US" dirty="0" err="1">
                  <a:latin typeface="Calibri"/>
                  <a:cs typeface="Calibri"/>
                </a:rPr>
                <a:t>arr</a:t>
              </a:r>
              <a:r>
                <a:rPr lang="en-US" dirty="0">
                  <a:latin typeface="Calibri"/>
                  <a:cs typeface="Calibri"/>
                </a:rPr>
                <a:t>[n]) vs. p</a:t>
              </a:r>
            </a:p>
            <a:p>
              <a:r>
                <a:rPr lang="en-US" dirty="0">
                  <a:latin typeface="Calibri"/>
                  <a:cs typeface="Calibri"/>
                </a:rPr>
                <a:t>  </a:t>
              </a:r>
              <a:r>
                <a:rPr lang="en-US" dirty="0" err="1">
                  <a:latin typeface="Calibri"/>
                  <a:cs typeface="Calibri"/>
                </a:rPr>
                <a:t>jne</a:t>
              </a:r>
              <a:r>
                <a:rPr lang="en-US" dirty="0">
                  <a:latin typeface="Calibri"/>
                  <a:cs typeface="Calibri"/>
                </a:rPr>
                <a:t>	 .L3			         # if !=, </a:t>
              </a:r>
              <a:r>
                <a:rPr lang="en-US" dirty="0" err="1">
                  <a:latin typeface="Calibri"/>
                  <a:cs typeface="Calibri"/>
                </a:rPr>
                <a:t>goto</a:t>
              </a:r>
              <a:r>
                <a:rPr lang="en-US" dirty="0">
                  <a:latin typeface="Calibri"/>
                  <a:cs typeface="Calibri"/>
                </a:rPr>
                <a:t> Loop .L3</a:t>
              </a:r>
            </a:p>
            <a:p>
              <a:r>
                <a:rPr lang="en-US" dirty="0">
                  <a:latin typeface="Calibri"/>
                  <a:cs typeface="Calibri"/>
                </a:rPr>
                <a:t>.L1:				      	</a:t>
              </a:r>
            </a:p>
            <a:p>
              <a:r>
                <a:rPr lang="en-US" dirty="0">
                  <a:latin typeface="Calibri"/>
                  <a:cs typeface="Calibri"/>
                </a:rPr>
                <a:t>  ret</a:t>
              </a:r>
            </a:p>
          </p:txBody>
        </p:sp>
        <p:sp>
          <p:nvSpPr>
            <p:cNvPr id="8" name="Right Arrow 7"/>
            <p:cNvSpPr/>
            <p:nvPr/>
          </p:nvSpPr>
          <p:spPr>
            <a:xfrm rot="5400000">
              <a:off x="1971722" y="3142769"/>
              <a:ext cx="399401" cy="567764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85026" name="Rectangle 2"/>
          <p:cNvSpPr>
            <a:spLocks noGrp="1" noChangeArrowheads="1"/>
          </p:cNvSpPr>
          <p:nvPr>
            <p:ph type="title"/>
          </p:nvPr>
        </p:nvSpPr>
        <p:spPr>
          <a:xfrm>
            <a:off x="251427" y="177115"/>
            <a:ext cx="8751047" cy="106045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Common optimization: code motion</a:t>
            </a:r>
          </a:p>
        </p:txBody>
      </p:sp>
      <p:sp>
        <p:nvSpPr>
          <p:cNvPr id="385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599" y="1237565"/>
            <a:ext cx="8964401" cy="794435"/>
          </a:xfrm>
          <a:ln>
            <a:noFill/>
          </a:ln>
        </p:spPr>
        <p:txBody>
          <a:bodyPr lIns="90487" tIns="44450" rIns="90487" bIns="44450">
            <a:normAutofit/>
          </a:bodyPr>
          <a:lstStyle/>
          <a:p>
            <a:pPr>
              <a:defRPr/>
            </a:pPr>
            <a:r>
              <a:rPr lang="en-US" dirty="0"/>
              <a:t>Move computation outside loop if possible.</a:t>
            </a:r>
          </a:p>
        </p:txBody>
      </p:sp>
      <p:sp>
        <p:nvSpPr>
          <p:cNvPr id="9222" name="Rectangle 7"/>
          <p:cNvSpPr>
            <a:spLocks noChangeArrowheads="1"/>
          </p:cNvSpPr>
          <p:nvPr/>
        </p:nvSpPr>
        <p:spPr bwMode="auto">
          <a:xfrm>
            <a:off x="187123" y="1748336"/>
            <a:ext cx="4235133" cy="1474763"/>
          </a:xfrm>
          <a:prstGeom prst="rect">
            <a:avLst/>
          </a:prstGeom>
          <a:noFill/>
          <a:ln w="57150" cmpd="thickThin">
            <a:noFill/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dirty="0">
                <a:latin typeface="Consolas"/>
                <a:cs typeface="Consolas"/>
              </a:rPr>
              <a:t>void </a:t>
            </a:r>
            <a:r>
              <a:rPr lang="en-US" dirty="0" err="1">
                <a:latin typeface="Consolas"/>
                <a:cs typeface="Consolas"/>
              </a:rPr>
              <a:t>set_arr</a:t>
            </a:r>
            <a:r>
              <a:rPr lang="en-US" dirty="0">
                <a:latin typeface="Consolas"/>
                <a:cs typeface="Consolas"/>
              </a:rPr>
              <a:t>(long *</a:t>
            </a:r>
            <a:r>
              <a:rPr lang="en-US" dirty="0" err="1">
                <a:latin typeface="Consolas"/>
                <a:cs typeface="Consolas"/>
              </a:rPr>
              <a:t>arr</a:t>
            </a:r>
            <a:r>
              <a:rPr lang="en-US" dirty="0">
                <a:latin typeface="Consolas"/>
                <a:cs typeface="Consolas"/>
              </a:rPr>
              <a:t>, long n) </a:t>
            </a:r>
          </a:p>
          <a:p>
            <a:pPr algn="l">
              <a:lnSpc>
                <a:spcPct val="100000"/>
              </a:lnSpc>
            </a:pPr>
            <a:r>
              <a:rPr lang="en-US" dirty="0">
                <a:latin typeface="Consolas"/>
                <a:cs typeface="Consolas"/>
              </a:rPr>
              <a:t>{</a:t>
            </a:r>
          </a:p>
          <a:p>
            <a:pPr algn="l">
              <a:lnSpc>
                <a:spcPct val="100000"/>
              </a:lnSpc>
            </a:pPr>
            <a:r>
              <a:rPr lang="en-US" dirty="0">
                <a:latin typeface="Consolas"/>
                <a:cs typeface="Consolas"/>
              </a:rPr>
              <a:t>  for (long </a:t>
            </a:r>
            <a:r>
              <a:rPr lang="en-US" dirty="0" err="1">
                <a:latin typeface="Consolas"/>
                <a:cs typeface="Consolas"/>
              </a:rPr>
              <a:t>i</a:t>
            </a:r>
            <a:r>
              <a:rPr lang="en-US" dirty="0">
                <a:latin typeface="Consolas"/>
                <a:cs typeface="Consolas"/>
              </a:rPr>
              <a:t> = 0; </a:t>
            </a:r>
            <a:r>
              <a:rPr lang="en-US" dirty="0" err="1">
                <a:latin typeface="Consolas"/>
                <a:cs typeface="Consolas"/>
              </a:rPr>
              <a:t>i</a:t>
            </a:r>
            <a:r>
              <a:rPr lang="en-US" dirty="0">
                <a:latin typeface="Consolas"/>
                <a:cs typeface="Consolas"/>
              </a:rPr>
              <a:t> &lt; n; </a:t>
            </a:r>
            <a:r>
              <a:rPr lang="en-US" dirty="0" err="1">
                <a:latin typeface="Consolas"/>
                <a:cs typeface="Consolas"/>
              </a:rPr>
              <a:t>i</a:t>
            </a:r>
            <a:r>
              <a:rPr lang="en-US" dirty="0">
                <a:latin typeface="Consolas"/>
                <a:cs typeface="Consolas"/>
              </a:rPr>
              <a:t>++)</a:t>
            </a:r>
          </a:p>
          <a:p>
            <a:pPr algn="l">
              <a:lnSpc>
                <a:spcPct val="100000"/>
              </a:lnSpc>
            </a:pPr>
            <a:r>
              <a:rPr lang="en-US" dirty="0">
                <a:latin typeface="Consolas"/>
                <a:cs typeface="Consolas"/>
              </a:rPr>
              <a:t>    </a:t>
            </a:r>
            <a:r>
              <a:rPr lang="en-US" dirty="0" err="1">
                <a:latin typeface="Consolas"/>
                <a:cs typeface="Consolas"/>
              </a:rPr>
              <a:t>arr</a:t>
            </a:r>
            <a:r>
              <a:rPr lang="en-US" dirty="0">
                <a:latin typeface="Consolas"/>
                <a:cs typeface="Consolas"/>
              </a:rPr>
              <a:t>[</a:t>
            </a:r>
            <a:r>
              <a:rPr lang="en-US" dirty="0" err="1">
                <a:latin typeface="Consolas"/>
                <a:cs typeface="Consolas"/>
              </a:rPr>
              <a:t>i</a:t>
            </a:r>
            <a:r>
              <a:rPr lang="en-US" dirty="0">
                <a:latin typeface="Consolas"/>
                <a:cs typeface="Consolas"/>
              </a:rPr>
              <a:t>] = n*n;</a:t>
            </a:r>
          </a:p>
          <a:p>
            <a:pPr algn="l">
              <a:lnSpc>
                <a:spcPct val="100000"/>
              </a:lnSpc>
            </a:pPr>
            <a:r>
              <a:rPr lang="en-US" dirty="0">
                <a:latin typeface="Consolas"/>
                <a:cs typeface="Consolas"/>
              </a:rPr>
              <a:t>}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2532440" y="2497132"/>
            <a:ext cx="3409565" cy="369332"/>
            <a:chOff x="-3596756" y="6407659"/>
            <a:chExt cx="2498075" cy="369332"/>
          </a:xfrm>
        </p:grpSpPr>
        <p:cxnSp>
          <p:nvCxnSpPr>
            <p:cNvPr id="4" name="Straight Arrow Connector 3"/>
            <p:cNvCxnSpPr>
              <a:cxnSpLocks/>
            </p:cNvCxnSpPr>
            <p:nvPr/>
          </p:nvCxnSpPr>
          <p:spPr>
            <a:xfrm flipH="1">
              <a:off x="-3596756" y="6592325"/>
              <a:ext cx="1152859" cy="11282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TextBox 4"/>
            <p:cNvSpPr txBox="1"/>
            <p:nvPr/>
          </p:nvSpPr>
          <p:spPr>
            <a:xfrm flipH="1">
              <a:off x="-2382726" y="6407659"/>
              <a:ext cx="12840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accent1"/>
                  </a:solidFill>
                </a:rPr>
                <a:t>done inside loop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CEEFE9C-8281-4827-8C97-5507C7B45687}"/>
              </a:ext>
            </a:extLst>
          </p:cNvPr>
          <p:cNvGrpSpPr/>
          <p:nvPr/>
        </p:nvGrpSpPr>
        <p:grpSpPr>
          <a:xfrm>
            <a:off x="4908867" y="4195480"/>
            <a:ext cx="4235133" cy="2034478"/>
            <a:chOff x="4908867" y="4195480"/>
            <a:chExt cx="4235133" cy="2034478"/>
          </a:xfrm>
        </p:grpSpPr>
        <p:sp>
          <p:nvSpPr>
            <p:cNvPr id="14" name="TextBox 13"/>
            <p:cNvSpPr txBox="1"/>
            <p:nvPr/>
          </p:nvSpPr>
          <p:spPr>
            <a:xfrm flipH="1">
              <a:off x="5065723" y="5860626"/>
              <a:ext cx="211946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Equivalent C code</a:t>
              </a:r>
            </a:p>
          </p:txBody>
        </p:sp>
        <p:sp>
          <p:nvSpPr>
            <p:cNvPr id="6" name="Rectangle 7">
              <a:extLst>
                <a:ext uri="{FF2B5EF4-FFF2-40B4-BE49-F238E27FC236}">
                  <a16:creationId xmlns:a16="http://schemas.microsoft.com/office/drawing/2014/main" id="{DEC429F1-67CA-48D1-A97A-82D53B23C9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8867" y="4195480"/>
              <a:ext cx="4235133" cy="1751762"/>
            </a:xfrm>
            <a:prstGeom prst="rect">
              <a:avLst/>
            </a:prstGeom>
            <a:solidFill>
              <a:srgbClr val="FFC000"/>
            </a:solidFill>
            <a:ln w="57150" cmpd="thickThin">
              <a:noFill/>
              <a:miter lim="800000"/>
              <a:headEnd/>
              <a:tailEnd/>
            </a:ln>
          </p:spPr>
          <p:txBody>
            <a:bodyPr wrap="none" lIns="90487" tIns="44450" rIns="90487" bIns="4445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dirty="0">
                  <a:latin typeface="Consolas"/>
                  <a:cs typeface="Consolas"/>
                </a:rPr>
                <a:t>void </a:t>
              </a:r>
              <a:r>
                <a:rPr lang="en-US" dirty="0" err="1">
                  <a:latin typeface="Consolas"/>
                  <a:cs typeface="Consolas"/>
                </a:rPr>
                <a:t>set_arr</a:t>
              </a:r>
              <a:r>
                <a:rPr lang="en-US" dirty="0">
                  <a:latin typeface="Consolas"/>
                  <a:cs typeface="Consolas"/>
                </a:rPr>
                <a:t>(long *</a:t>
              </a:r>
              <a:r>
                <a:rPr lang="en-US" dirty="0" err="1">
                  <a:latin typeface="Consolas"/>
                  <a:cs typeface="Consolas"/>
                </a:rPr>
                <a:t>arr</a:t>
              </a:r>
              <a:r>
                <a:rPr lang="en-US" dirty="0">
                  <a:latin typeface="Consolas"/>
                  <a:cs typeface="Consolas"/>
                </a:rPr>
                <a:t>, long n) </a:t>
              </a:r>
            </a:p>
            <a:p>
              <a:pPr algn="l">
                <a:lnSpc>
                  <a:spcPct val="100000"/>
                </a:lnSpc>
              </a:pPr>
              <a:r>
                <a:rPr lang="en-US" dirty="0">
                  <a:latin typeface="Consolas"/>
                  <a:cs typeface="Consolas"/>
                </a:rPr>
                <a:t>{</a:t>
              </a:r>
            </a:p>
            <a:p>
              <a:pPr algn="l">
                <a:lnSpc>
                  <a:spcPct val="100000"/>
                </a:lnSpc>
              </a:pPr>
              <a:r>
                <a:rPr lang="en-US" dirty="0">
                  <a:latin typeface="Consolas"/>
                  <a:cs typeface="Consolas"/>
                </a:rPr>
                <a:t>  long t = n*n;</a:t>
              </a:r>
            </a:p>
            <a:p>
              <a:pPr algn="l">
                <a:lnSpc>
                  <a:spcPct val="100000"/>
                </a:lnSpc>
              </a:pPr>
              <a:r>
                <a:rPr lang="en-US" dirty="0">
                  <a:latin typeface="Consolas"/>
                  <a:cs typeface="Consolas"/>
                </a:rPr>
                <a:t>  for (long </a:t>
              </a:r>
              <a:r>
                <a:rPr lang="en-US" dirty="0" err="1">
                  <a:latin typeface="Consolas"/>
                  <a:cs typeface="Consolas"/>
                </a:rPr>
                <a:t>i</a:t>
              </a:r>
              <a:r>
                <a:rPr lang="en-US" dirty="0">
                  <a:latin typeface="Consolas"/>
                  <a:cs typeface="Consolas"/>
                </a:rPr>
                <a:t> = 0; </a:t>
              </a:r>
              <a:r>
                <a:rPr lang="en-US" dirty="0" err="1">
                  <a:latin typeface="Consolas"/>
                  <a:cs typeface="Consolas"/>
                </a:rPr>
                <a:t>i</a:t>
              </a:r>
              <a:r>
                <a:rPr lang="en-US" dirty="0">
                  <a:latin typeface="Consolas"/>
                  <a:cs typeface="Consolas"/>
                </a:rPr>
                <a:t> &lt; n; </a:t>
              </a:r>
              <a:r>
                <a:rPr lang="en-US" dirty="0" err="1">
                  <a:latin typeface="Consolas"/>
                  <a:cs typeface="Consolas"/>
                </a:rPr>
                <a:t>i</a:t>
              </a:r>
              <a:r>
                <a:rPr lang="en-US" dirty="0">
                  <a:latin typeface="Consolas"/>
                  <a:cs typeface="Consolas"/>
                </a:rPr>
                <a:t>++)</a:t>
              </a:r>
            </a:p>
            <a:p>
              <a:pPr algn="l">
                <a:lnSpc>
                  <a:spcPct val="100000"/>
                </a:lnSpc>
              </a:pPr>
              <a:r>
                <a:rPr lang="en-US" dirty="0">
                  <a:latin typeface="Consolas"/>
                  <a:cs typeface="Consolas"/>
                </a:rPr>
                <a:t>    </a:t>
              </a:r>
              <a:r>
                <a:rPr lang="en-US" dirty="0" err="1">
                  <a:latin typeface="Consolas"/>
                  <a:cs typeface="Consolas"/>
                </a:rPr>
                <a:t>arr</a:t>
              </a:r>
              <a:r>
                <a:rPr lang="en-US" dirty="0">
                  <a:latin typeface="Consolas"/>
                  <a:cs typeface="Consolas"/>
                </a:rPr>
                <a:t>[</a:t>
              </a:r>
              <a:r>
                <a:rPr lang="en-US" dirty="0" err="1">
                  <a:latin typeface="Consolas"/>
                  <a:cs typeface="Consolas"/>
                </a:rPr>
                <a:t>i</a:t>
              </a:r>
              <a:r>
                <a:rPr lang="en-US" dirty="0">
                  <a:latin typeface="Consolas"/>
                  <a:cs typeface="Consolas"/>
                </a:rPr>
                <a:t>] = t;</a:t>
              </a:r>
            </a:p>
            <a:p>
              <a:pPr algn="l">
                <a:lnSpc>
                  <a:spcPct val="100000"/>
                </a:lnSpc>
              </a:pPr>
              <a:r>
                <a:rPr lang="en-US" dirty="0">
                  <a:latin typeface="Consolas"/>
                  <a:cs typeface="Consolas"/>
                </a:rPr>
                <a:t>}</a:t>
              </a: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E36ECC-125C-483E-B3B7-C3A6B35A2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92C60-C071-3249-9DBB-404B1D195F8C}" type="slidenum">
              <a:rPr lang="en-US" smtClean="0"/>
              <a:t>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0DF9F9-A71D-4B48-97FF-FFFCC9742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33440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074" name="Rectangle 2"/>
          <p:cNvSpPr>
            <a:spLocks noGrp="1" noChangeArrowheads="1"/>
          </p:cNvSpPr>
          <p:nvPr>
            <p:ph type="title"/>
          </p:nvPr>
        </p:nvSpPr>
        <p:spPr>
          <a:xfrm>
            <a:off x="-179294" y="304800"/>
            <a:ext cx="9323293" cy="915988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Common Optimization: </a:t>
            </a:r>
            <a:br>
              <a:rPr lang="en-US" dirty="0"/>
            </a:br>
            <a:r>
              <a:rPr lang="en-US" dirty="0"/>
              <a:t>use simpler instructions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0513" y="1401669"/>
            <a:ext cx="8307387" cy="1797330"/>
          </a:xfrm>
          <a:noFill/>
        </p:spPr>
        <p:txBody>
          <a:bodyPr lIns="90487" tIns="44450" rIns="90487" bIns="44450"/>
          <a:lstStyle/>
          <a:p>
            <a:r>
              <a:rPr lang="en-US" sz="2800" dirty="0"/>
              <a:t>Replace costly operation with simpler one</a:t>
            </a:r>
          </a:p>
          <a:p>
            <a:pPr lvl="1" eaLnBrk="1" hangingPunct="1"/>
            <a:r>
              <a:rPr lang="en-US" dirty="0"/>
              <a:t>Shift, add instead of multiply or divide</a:t>
            </a:r>
          </a:p>
          <a:p>
            <a:pPr lvl="2" eaLnBrk="1" hangingPunct="1">
              <a:buFont typeface="Wingdings" pitchFamily="2" charset="2"/>
              <a:buNone/>
            </a:pPr>
            <a:r>
              <a:rPr lang="en-US" dirty="0">
                <a:latin typeface="Courier New" pitchFamily="49" charset="0"/>
              </a:rPr>
              <a:t>16*x	--&gt;	x &lt;&lt; 4</a:t>
            </a:r>
            <a:endParaRPr lang="en-US" dirty="0"/>
          </a:p>
          <a:p>
            <a:pPr lvl="1" eaLnBrk="1" hangingPunct="1"/>
            <a:r>
              <a:rPr lang="en-US" dirty="0"/>
              <a:t>Recognize sequence of products</a:t>
            </a:r>
          </a:p>
          <a:p>
            <a:pPr lvl="1" eaLnBrk="1" hangingPunct="1"/>
            <a:endParaRPr lang="en-US" dirty="0"/>
          </a:p>
          <a:p>
            <a:pPr lvl="1" eaLnBrk="1" hangingPunct="1"/>
            <a:endParaRPr lang="en-US" dirty="0"/>
          </a:p>
          <a:p>
            <a:pPr lvl="1" eaLnBrk="1" hangingPunct="1"/>
            <a:endParaRPr lang="en-US" dirty="0"/>
          </a:p>
        </p:txBody>
      </p:sp>
      <p:sp>
        <p:nvSpPr>
          <p:cNvPr id="11268" name="Rectangle 4"/>
          <p:cNvSpPr>
            <a:spLocks noChangeArrowheads="1"/>
          </p:cNvSpPr>
          <p:nvPr/>
        </p:nvSpPr>
        <p:spPr bwMode="auto">
          <a:xfrm>
            <a:off x="290513" y="3489277"/>
            <a:ext cx="4087252" cy="920765"/>
          </a:xfrm>
          <a:prstGeom prst="rect">
            <a:avLst/>
          </a:prstGeom>
          <a:noFill/>
          <a:ln w="57150" cmpd="thickThin">
            <a:noFill/>
            <a:miter lim="800000"/>
            <a:headEnd/>
            <a:tailEnd/>
          </a:ln>
        </p:spPr>
        <p:txBody>
          <a:bodyPr wrap="square" lIns="90487" tIns="44450" rIns="90487" bIns="4445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dirty="0">
                <a:latin typeface="Consolas"/>
                <a:cs typeface="Consolas"/>
              </a:rPr>
              <a:t>for (long </a:t>
            </a:r>
            <a:r>
              <a:rPr lang="en-US" dirty="0" err="1">
                <a:latin typeface="Consolas"/>
                <a:cs typeface="Consolas"/>
              </a:rPr>
              <a:t>i</a:t>
            </a:r>
            <a:r>
              <a:rPr lang="en-US" dirty="0">
                <a:latin typeface="Consolas"/>
                <a:cs typeface="Consolas"/>
              </a:rPr>
              <a:t>=0; </a:t>
            </a:r>
            <a:r>
              <a:rPr lang="en-US" dirty="0" err="1">
                <a:latin typeface="Consolas"/>
                <a:cs typeface="Consolas"/>
              </a:rPr>
              <a:t>i</a:t>
            </a:r>
            <a:r>
              <a:rPr lang="en-US" dirty="0">
                <a:latin typeface="Consolas"/>
                <a:cs typeface="Consolas"/>
              </a:rPr>
              <a:t>&lt;n; </a:t>
            </a:r>
            <a:r>
              <a:rPr lang="en-US" dirty="0" err="1">
                <a:latin typeface="Consolas"/>
                <a:cs typeface="Consolas"/>
              </a:rPr>
              <a:t>i</a:t>
            </a:r>
            <a:r>
              <a:rPr lang="en-US" dirty="0">
                <a:latin typeface="Consolas"/>
                <a:cs typeface="Consolas"/>
              </a:rPr>
              <a:t>++ {</a:t>
            </a:r>
          </a:p>
          <a:p>
            <a:pPr algn="l">
              <a:lnSpc>
                <a:spcPct val="100000"/>
              </a:lnSpc>
            </a:pPr>
            <a:r>
              <a:rPr lang="en-US" dirty="0">
                <a:latin typeface="Consolas"/>
                <a:cs typeface="Consolas"/>
              </a:rPr>
              <a:t>   </a:t>
            </a:r>
            <a:r>
              <a:rPr lang="en-US" dirty="0" err="1">
                <a:latin typeface="Consolas"/>
                <a:cs typeface="Consolas"/>
              </a:rPr>
              <a:t>arr</a:t>
            </a:r>
            <a:r>
              <a:rPr lang="en-US" dirty="0">
                <a:latin typeface="Consolas"/>
                <a:cs typeface="Consolas"/>
              </a:rPr>
              <a:t>[</a:t>
            </a:r>
            <a:r>
              <a:rPr lang="en-US" dirty="0" err="1">
                <a:latin typeface="Consolas"/>
                <a:cs typeface="Consolas"/>
              </a:rPr>
              <a:t>i</a:t>
            </a:r>
            <a:r>
              <a:rPr lang="en-US" dirty="0">
                <a:latin typeface="Consolas"/>
                <a:cs typeface="Consolas"/>
              </a:rPr>
              <a:t>] = n*</a:t>
            </a:r>
            <a:r>
              <a:rPr lang="en-US" dirty="0" err="1">
                <a:latin typeface="Consolas"/>
                <a:cs typeface="Consolas"/>
              </a:rPr>
              <a:t>i</a:t>
            </a:r>
            <a:r>
              <a:rPr lang="en-US" dirty="0">
                <a:latin typeface="Consolas"/>
                <a:cs typeface="Consolas"/>
              </a:rPr>
              <a:t>;</a:t>
            </a:r>
          </a:p>
          <a:p>
            <a:pPr algn="l">
              <a:lnSpc>
                <a:spcPct val="100000"/>
              </a:lnSpc>
            </a:pPr>
            <a:r>
              <a:rPr lang="en-US" dirty="0">
                <a:latin typeface="Consolas"/>
                <a:cs typeface="Consolas"/>
              </a:rPr>
              <a:t>}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3690464" y="3337856"/>
            <a:ext cx="4945530" cy="2441640"/>
            <a:chOff x="3690464" y="3188446"/>
            <a:chExt cx="4945530" cy="2441640"/>
          </a:xfrm>
        </p:grpSpPr>
        <p:sp>
          <p:nvSpPr>
            <p:cNvPr id="11269" name="Rectangle 5"/>
            <p:cNvSpPr>
              <a:spLocks noChangeArrowheads="1"/>
            </p:cNvSpPr>
            <p:nvPr/>
          </p:nvSpPr>
          <p:spPr bwMode="auto">
            <a:xfrm>
              <a:off x="4757264" y="3188446"/>
              <a:ext cx="3878730" cy="1751762"/>
            </a:xfrm>
            <a:prstGeom prst="rect">
              <a:avLst/>
            </a:prstGeom>
            <a:solidFill>
              <a:srgbClr val="FFC000"/>
            </a:solidFill>
            <a:ln w="57150" cmpd="thickThin">
              <a:noFill/>
              <a:miter lim="800000"/>
              <a:headEnd/>
              <a:tailEnd/>
            </a:ln>
          </p:spPr>
          <p:txBody>
            <a:bodyPr wrap="square" lIns="90487" tIns="44450" rIns="90487" bIns="4445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i="1" dirty="0">
                  <a:solidFill>
                    <a:srgbClr val="FF0000"/>
                  </a:solidFill>
                  <a:latin typeface="Consolas" panose="020B0609020204030204" pitchFamily="49" charset="0"/>
                  <a:cs typeface="Calibri"/>
                </a:rPr>
                <a:t>long </a:t>
              </a:r>
              <a:r>
                <a:rPr lang="en-US" i="1" dirty="0" err="1">
                  <a:solidFill>
                    <a:srgbClr val="FF0000"/>
                  </a:solidFill>
                  <a:latin typeface="Consolas" panose="020B0609020204030204" pitchFamily="49" charset="0"/>
                  <a:cs typeface="Calibri"/>
                </a:rPr>
                <a:t>ni</a:t>
              </a:r>
              <a:r>
                <a:rPr lang="en-US" i="1" dirty="0">
                  <a:solidFill>
                    <a:srgbClr val="FF0000"/>
                  </a:solidFill>
                  <a:latin typeface="Consolas" panose="020B0609020204030204" pitchFamily="49" charset="0"/>
                  <a:cs typeface="Calibri"/>
                </a:rPr>
                <a:t> = 0;</a:t>
              </a:r>
              <a:endParaRPr lang="en-US" dirty="0">
                <a:solidFill>
                  <a:srgbClr val="FF0000"/>
                </a:solidFill>
                <a:latin typeface="Consolas" panose="020B0609020204030204" pitchFamily="49" charset="0"/>
                <a:cs typeface="Calibri"/>
              </a:endParaRPr>
            </a:p>
            <a:p>
              <a:pPr algn="l">
                <a:lnSpc>
                  <a:spcPct val="100000"/>
                </a:lnSpc>
              </a:pPr>
              <a:r>
                <a:rPr lang="en-US" dirty="0">
                  <a:latin typeface="Consolas" panose="020B0609020204030204" pitchFamily="49" charset="0"/>
                  <a:cs typeface="Calibri"/>
                </a:rPr>
                <a:t>for (long </a:t>
              </a:r>
              <a:r>
                <a:rPr lang="en-US" dirty="0" err="1">
                  <a:latin typeface="Consolas" panose="020B0609020204030204" pitchFamily="49" charset="0"/>
                  <a:cs typeface="Calibri"/>
                </a:rPr>
                <a:t>i</a:t>
              </a:r>
              <a:r>
                <a:rPr lang="en-US" dirty="0">
                  <a:latin typeface="Consolas" panose="020B0609020204030204" pitchFamily="49" charset="0"/>
                  <a:cs typeface="Calibri"/>
                </a:rPr>
                <a:t> = 0; </a:t>
              </a:r>
              <a:r>
                <a:rPr lang="en-US" dirty="0" err="1">
                  <a:latin typeface="Consolas" panose="020B0609020204030204" pitchFamily="49" charset="0"/>
                  <a:cs typeface="Calibri"/>
                </a:rPr>
                <a:t>i</a:t>
              </a:r>
              <a:r>
                <a:rPr lang="en-US" dirty="0">
                  <a:latin typeface="Consolas" panose="020B0609020204030204" pitchFamily="49" charset="0"/>
                  <a:cs typeface="Calibri"/>
                </a:rPr>
                <a:t> &lt; n; </a:t>
              </a:r>
              <a:r>
                <a:rPr lang="en-US" dirty="0" err="1">
                  <a:latin typeface="Consolas" panose="020B0609020204030204" pitchFamily="49" charset="0"/>
                  <a:cs typeface="Calibri"/>
                </a:rPr>
                <a:t>i</a:t>
              </a:r>
              <a:r>
                <a:rPr lang="en-US" dirty="0">
                  <a:latin typeface="Consolas" panose="020B0609020204030204" pitchFamily="49" charset="0"/>
                  <a:cs typeface="Calibri"/>
                </a:rPr>
                <a:t>++) {</a:t>
              </a:r>
            </a:p>
            <a:p>
              <a:pPr algn="l">
                <a:lnSpc>
                  <a:spcPct val="100000"/>
                </a:lnSpc>
              </a:pPr>
              <a:r>
                <a:rPr lang="en-US" dirty="0">
                  <a:latin typeface="Consolas" panose="020B0609020204030204" pitchFamily="49" charset="0"/>
                  <a:cs typeface="Calibri"/>
                </a:rPr>
                <a:t>  </a:t>
              </a:r>
              <a:r>
                <a:rPr lang="en-US" dirty="0" err="1">
                  <a:latin typeface="Consolas" panose="020B0609020204030204" pitchFamily="49" charset="0"/>
                  <a:cs typeface="Calibri"/>
                </a:rPr>
                <a:t>arr</a:t>
              </a:r>
              <a:r>
                <a:rPr lang="en-US" dirty="0">
                  <a:latin typeface="Consolas" panose="020B0609020204030204" pitchFamily="49" charset="0"/>
                  <a:cs typeface="Calibri"/>
                </a:rPr>
                <a:t>[</a:t>
              </a:r>
              <a:r>
                <a:rPr lang="en-US" dirty="0" err="1">
                  <a:latin typeface="Consolas" panose="020B0609020204030204" pitchFamily="49" charset="0"/>
                  <a:cs typeface="Calibri"/>
                </a:rPr>
                <a:t>i</a:t>
              </a:r>
              <a:r>
                <a:rPr lang="en-US" dirty="0">
                  <a:latin typeface="Consolas" panose="020B0609020204030204" pitchFamily="49" charset="0"/>
                  <a:cs typeface="Calibri"/>
                </a:rPr>
                <a:t>] = </a:t>
              </a:r>
              <a:r>
                <a:rPr lang="en-US" dirty="0" err="1">
                  <a:latin typeface="Consolas" panose="020B0609020204030204" pitchFamily="49" charset="0"/>
                  <a:cs typeface="Calibri"/>
                </a:rPr>
                <a:t>ni</a:t>
              </a:r>
              <a:r>
                <a:rPr lang="en-US" dirty="0">
                  <a:latin typeface="Consolas" panose="020B0609020204030204" pitchFamily="49" charset="0"/>
                  <a:cs typeface="Calibri"/>
                </a:rPr>
                <a:t>;</a:t>
              </a:r>
            </a:p>
            <a:p>
              <a:pPr algn="l">
                <a:lnSpc>
                  <a:spcPct val="100000"/>
                </a:lnSpc>
              </a:pPr>
              <a:r>
                <a:rPr lang="en-US" i="1" dirty="0">
                  <a:solidFill>
                    <a:srgbClr val="FF0000"/>
                  </a:solidFill>
                  <a:latin typeface="Consolas" panose="020B0609020204030204" pitchFamily="49" charset="0"/>
                  <a:cs typeface="Calibri"/>
                </a:rPr>
                <a:t>  </a:t>
              </a:r>
              <a:r>
                <a:rPr lang="en-US" i="1" dirty="0" err="1">
                  <a:solidFill>
                    <a:srgbClr val="FF0000"/>
                  </a:solidFill>
                  <a:latin typeface="Consolas" panose="020B0609020204030204" pitchFamily="49" charset="0"/>
                  <a:cs typeface="Calibri"/>
                </a:rPr>
                <a:t>ni</a:t>
              </a:r>
              <a:r>
                <a:rPr lang="en-US" i="1" dirty="0">
                  <a:solidFill>
                    <a:srgbClr val="FF0000"/>
                  </a:solidFill>
                  <a:latin typeface="Consolas" panose="020B0609020204030204" pitchFamily="49" charset="0"/>
                  <a:cs typeface="Calibri"/>
                </a:rPr>
                <a:t> += n;</a:t>
              </a:r>
            </a:p>
            <a:p>
              <a:pPr algn="l">
                <a:lnSpc>
                  <a:spcPct val="100000"/>
                </a:lnSpc>
              </a:pPr>
              <a:r>
                <a:rPr lang="en-US" dirty="0">
                  <a:latin typeface="Consolas" panose="020B0609020204030204" pitchFamily="49" charset="0"/>
                  <a:cs typeface="Calibri"/>
                </a:rPr>
                <a:t>}</a:t>
              </a:r>
            </a:p>
          </p:txBody>
        </p:sp>
        <p:sp>
          <p:nvSpPr>
            <p:cNvPr id="2" name="Right Arrow 1"/>
            <p:cNvSpPr/>
            <p:nvPr/>
          </p:nvSpPr>
          <p:spPr>
            <a:xfrm>
              <a:off x="3690464" y="4056529"/>
              <a:ext cx="911412" cy="582706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4757264" y="4983755"/>
              <a:ext cx="281416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assembly not shown</a:t>
              </a:r>
            </a:p>
            <a:p>
              <a:r>
                <a:rPr lang="en-US" dirty="0"/>
                <a:t>this is the equivalent C code</a:t>
              </a:r>
            </a:p>
          </p:txBody>
        </p:sp>
      </p:grp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7FC742-F6ED-4C5C-9634-467EF3FDB7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92C60-C071-3249-9DBB-404B1D195F8C}" type="slidenum">
              <a:rPr lang="en-US" smtClean="0"/>
              <a:t>7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A1E177-C93A-43EF-9766-87C1B9674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56274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22" name="Rectangle 2"/>
          <p:cNvSpPr>
            <a:spLocks noGrp="1" noChangeArrowheads="1"/>
          </p:cNvSpPr>
          <p:nvPr>
            <p:ph type="title"/>
          </p:nvPr>
        </p:nvSpPr>
        <p:spPr>
          <a:xfrm>
            <a:off x="134471" y="152400"/>
            <a:ext cx="8815294" cy="106045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Common Optimization: </a:t>
            </a:r>
            <a:br>
              <a:rPr lang="en-US" dirty="0"/>
            </a:br>
            <a:r>
              <a:rPr lang="en-US" dirty="0"/>
              <a:t>reuse common sub-expressions</a:t>
            </a:r>
          </a:p>
        </p:txBody>
      </p:sp>
      <p:sp>
        <p:nvSpPr>
          <p:cNvPr id="12292" name="Rectangle 4"/>
          <p:cNvSpPr>
            <a:spLocks noChangeArrowheads="1"/>
          </p:cNvSpPr>
          <p:nvPr/>
        </p:nvSpPr>
        <p:spPr bwMode="auto">
          <a:xfrm>
            <a:off x="533400" y="1861388"/>
            <a:ext cx="3679893" cy="1567096"/>
          </a:xfrm>
          <a:prstGeom prst="rect">
            <a:avLst/>
          </a:prstGeom>
          <a:noFill/>
          <a:ln w="38100" cmpd="dbl">
            <a:noFill/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1600" dirty="0">
                <a:latin typeface="Consolas"/>
                <a:cs typeface="Consolas"/>
              </a:rPr>
              <a:t>// Sum neighbors of </a:t>
            </a:r>
            <a:r>
              <a:rPr lang="en-US" sz="1600" dirty="0" err="1">
                <a:latin typeface="Consolas"/>
                <a:cs typeface="Consolas"/>
              </a:rPr>
              <a:t>i,j</a:t>
            </a:r>
            <a:r>
              <a:rPr lang="en-US" sz="1600" dirty="0">
                <a:latin typeface="Consolas"/>
                <a:cs typeface="Consolas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nsolas"/>
                <a:cs typeface="Consolas"/>
              </a:rPr>
              <a:t>up =  </a:t>
            </a:r>
            <a:r>
              <a:rPr lang="en-US" sz="1600" dirty="0" err="1">
                <a:latin typeface="Consolas"/>
                <a:cs typeface="Consolas"/>
              </a:rPr>
              <a:t>val</a:t>
            </a:r>
            <a:r>
              <a:rPr lang="en-US" sz="1600" dirty="0">
                <a:latin typeface="Consolas"/>
                <a:cs typeface="Consolas"/>
              </a:rPr>
              <a:t>[(i-1)*n + j];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nsolas"/>
                <a:cs typeface="Consolas"/>
              </a:rPr>
              <a:t>down =  </a:t>
            </a:r>
            <a:r>
              <a:rPr lang="en-US" sz="1600" dirty="0" err="1">
                <a:latin typeface="Consolas"/>
                <a:cs typeface="Consolas"/>
              </a:rPr>
              <a:t>val</a:t>
            </a:r>
            <a:r>
              <a:rPr lang="en-US" sz="1600" dirty="0">
                <a:latin typeface="Consolas"/>
                <a:cs typeface="Consolas"/>
              </a:rPr>
              <a:t>[(i+1)*n + j];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nsolas"/>
                <a:cs typeface="Consolas"/>
              </a:rPr>
              <a:t>left =  </a:t>
            </a:r>
            <a:r>
              <a:rPr lang="en-US" sz="1600" dirty="0" err="1">
                <a:latin typeface="Consolas"/>
                <a:cs typeface="Consolas"/>
              </a:rPr>
              <a:t>val</a:t>
            </a:r>
            <a:r>
              <a:rPr lang="en-US" sz="1600" dirty="0">
                <a:latin typeface="Consolas"/>
                <a:cs typeface="Consolas"/>
              </a:rPr>
              <a:t>[</a:t>
            </a:r>
            <a:r>
              <a:rPr lang="en-US" sz="1600" dirty="0" err="1">
                <a:latin typeface="Consolas"/>
                <a:cs typeface="Consolas"/>
              </a:rPr>
              <a:t>i</a:t>
            </a:r>
            <a:r>
              <a:rPr lang="en-US" sz="1600" dirty="0">
                <a:latin typeface="Consolas"/>
                <a:cs typeface="Consolas"/>
              </a:rPr>
              <a:t>*n + j-1];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nsolas"/>
                <a:cs typeface="Consolas"/>
              </a:rPr>
              <a:t>right = </a:t>
            </a:r>
            <a:r>
              <a:rPr lang="en-US" sz="1600" dirty="0" err="1">
                <a:latin typeface="Consolas"/>
                <a:cs typeface="Consolas"/>
              </a:rPr>
              <a:t>val</a:t>
            </a:r>
            <a:r>
              <a:rPr lang="en-US" sz="1600" dirty="0">
                <a:latin typeface="Consolas"/>
                <a:cs typeface="Consolas"/>
              </a:rPr>
              <a:t>[</a:t>
            </a:r>
            <a:r>
              <a:rPr lang="en-US" sz="1600" dirty="0" err="1">
                <a:latin typeface="Consolas"/>
                <a:cs typeface="Consolas"/>
              </a:rPr>
              <a:t>i</a:t>
            </a:r>
            <a:r>
              <a:rPr lang="en-US" sz="1600" dirty="0">
                <a:latin typeface="Consolas"/>
                <a:cs typeface="Consolas"/>
              </a:rPr>
              <a:t>*n + j+1];</a:t>
            </a:r>
          </a:p>
          <a:p>
            <a:pPr algn="l">
              <a:lnSpc>
                <a:spcPct val="100000"/>
              </a:lnSpc>
            </a:pPr>
            <a:r>
              <a:rPr lang="en-US" sz="1600" dirty="0">
                <a:latin typeface="Consolas"/>
                <a:cs typeface="Consolas"/>
              </a:rPr>
              <a:t>sum = up + down + left + right;</a:t>
            </a:r>
          </a:p>
        </p:txBody>
      </p:sp>
      <p:sp>
        <p:nvSpPr>
          <p:cNvPr id="12294" name="Rectangle 6"/>
          <p:cNvSpPr>
            <a:spLocks noChangeArrowheads="1"/>
          </p:cNvSpPr>
          <p:nvPr/>
        </p:nvSpPr>
        <p:spPr bwMode="auto">
          <a:xfrm>
            <a:off x="642844" y="4285145"/>
            <a:ext cx="2168085" cy="70532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dirty="0">
                <a:solidFill>
                  <a:srgbClr val="3366FF"/>
                </a:solidFill>
                <a:latin typeface="Calibri"/>
                <a:cs typeface="Calibri"/>
              </a:rPr>
              <a:t>3 multiplications:</a:t>
            </a:r>
          </a:p>
          <a:p>
            <a:pPr algn="l">
              <a:lnSpc>
                <a:spcPct val="100000"/>
              </a:lnSpc>
            </a:pPr>
            <a:r>
              <a:rPr lang="en-US" sz="2000" dirty="0">
                <a:solidFill>
                  <a:srgbClr val="3366FF"/>
                </a:solidFill>
                <a:latin typeface="Calibri"/>
                <a:cs typeface="Calibri"/>
              </a:rPr>
              <a:t>(i-1)*n, (i+1)*n, </a:t>
            </a:r>
            <a:r>
              <a:rPr lang="en-US" sz="2000" dirty="0" err="1">
                <a:solidFill>
                  <a:srgbClr val="3366FF"/>
                </a:solidFill>
                <a:latin typeface="Calibri"/>
                <a:cs typeface="Calibri"/>
              </a:rPr>
              <a:t>i</a:t>
            </a:r>
            <a:r>
              <a:rPr lang="en-US" sz="2000" dirty="0">
                <a:solidFill>
                  <a:srgbClr val="3366FF"/>
                </a:solidFill>
                <a:latin typeface="Calibri"/>
                <a:cs typeface="Calibri"/>
              </a:rPr>
              <a:t>*n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3624221" y="1861388"/>
            <a:ext cx="4388143" cy="3801318"/>
            <a:chOff x="3624221" y="1861388"/>
            <a:chExt cx="4388143" cy="3801318"/>
          </a:xfrm>
        </p:grpSpPr>
        <p:sp>
          <p:nvSpPr>
            <p:cNvPr id="12293" name="Rectangle 5"/>
            <p:cNvSpPr>
              <a:spLocks noChangeArrowheads="1"/>
            </p:cNvSpPr>
            <p:nvPr/>
          </p:nvSpPr>
          <p:spPr bwMode="auto">
            <a:xfrm>
              <a:off x="4654550" y="1861388"/>
              <a:ext cx="3357814" cy="1936428"/>
            </a:xfrm>
            <a:prstGeom prst="rect">
              <a:avLst/>
            </a:prstGeom>
            <a:solidFill>
              <a:srgbClr val="FFC000"/>
            </a:solidFill>
            <a:ln w="38100" cmpd="dbl">
              <a:noFill/>
              <a:miter lim="800000"/>
              <a:headEnd/>
              <a:tailEnd/>
            </a:ln>
          </p:spPr>
          <p:txBody>
            <a:bodyPr wrap="none" lIns="90487" tIns="44450" rIns="90487" bIns="4445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2000" dirty="0">
                  <a:latin typeface="Calibri"/>
                  <a:cs typeface="Calibri"/>
                </a:rPr>
                <a:t>long </a:t>
              </a:r>
              <a:r>
                <a:rPr lang="en-US" sz="2000" dirty="0" err="1">
                  <a:latin typeface="Calibri"/>
                  <a:cs typeface="Calibri"/>
                </a:rPr>
                <a:t>inj</a:t>
              </a:r>
              <a:r>
                <a:rPr lang="en-US" sz="2000" dirty="0">
                  <a:latin typeface="Calibri"/>
                  <a:cs typeface="Calibri"/>
                </a:rPr>
                <a:t> = </a:t>
              </a:r>
              <a:r>
                <a:rPr lang="en-US" sz="2000" dirty="0" err="1">
                  <a:latin typeface="Calibri"/>
                  <a:cs typeface="Calibri"/>
                </a:rPr>
                <a:t>i</a:t>
              </a:r>
              <a:r>
                <a:rPr lang="en-US" sz="2000" dirty="0">
                  <a:latin typeface="Calibri"/>
                  <a:cs typeface="Calibri"/>
                </a:rPr>
                <a:t>*n + j;</a:t>
              </a:r>
            </a:p>
            <a:p>
              <a:pPr algn="l">
                <a:lnSpc>
                  <a:spcPct val="100000"/>
                </a:lnSpc>
              </a:pPr>
              <a:r>
                <a:rPr lang="en-US" sz="2000" dirty="0">
                  <a:latin typeface="Calibri"/>
                  <a:cs typeface="Calibri"/>
                </a:rPr>
                <a:t>up =       </a:t>
              </a:r>
              <a:r>
                <a:rPr lang="en-US" sz="2000" dirty="0" err="1">
                  <a:latin typeface="Calibri"/>
                  <a:cs typeface="Calibri"/>
                </a:rPr>
                <a:t>val</a:t>
              </a:r>
              <a:r>
                <a:rPr lang="en-US" sz="2000" dirty="0">
                  <a:latin typeface="Calibri"/>
                  <a:cs typeface="Calibri"/>
                </a:rPr>
                <a:t>[</a:t>
              </a:r>
              <a:r>
                <a:rPr lang="en-US" sz="2000" dirty="0" err="1">
                  <a:latin typeface="Calibri"/>
                  <a:cs typeface="Calibri"/>
                </a:rPr>
                <a:t>inj</a:t>
              </a:r>
              <a:r>
                <a:rPr lang="en-US" sz="2000" dirty="0">
                  <a:latin typeface="Calibri"/>
                  <a:cs typeface="Calibri"/>
                </a:rPr>
                <a:t> - n];</a:t>
              </a:r>
            </a:p>
            <a:p>
              <a:pPr algn="l">
                <a:lnSpc>
                  <a:spcPct val="100000"/>
                </a:lnSpc>
              </a:pPr>
              <a:r>
                <a:rPr lang="en-US" sz="2000" dirty="0">
                  <a:latin typeface="Calibri"/>
                  <a:cs typeface="Calibri"/>
                </a:rPr>
                <a:t>down =  </a:t>
              </a:r>
              <a:r>
                <a:rPr lang="en-US" sz="2000" dirty="0" err="1">
                  <a:latin typeface="Calibri"/>
                  <a:cs typeface="Calibri"/>
                </a:rPr>
                <a:t>val</a:t>
              </a:r>
              <a:r>
                <a:rPr lang="en-US" sz="2000" dirty="0">
                  <a:latin typeface="Calibri"/>
                  <a:cs typeface="Calibri"/>
                </a:rPr>
                <a:t>[</a:t>
              </a:r>
              <a:r>
                <a:rPr lang="en-US" sz="2000" dirty="0" err="1">
                  <a:latin typeface="Calibri"/>
                  <a:cs typeface="Calibri"/>
                </a:rPr>
                <a:t>inj</a:t>
              </a:r>
              <a:r>
                <a:rPr lang="en-US" sz="2000" dirty="0">
                  <a:latin typeface="Calibri"/>
                  <a:cs typeface="Calibri"/>
                </a:rPr>
                <a:t> + n];</a:t>
              </a:r>
            </a:p>
            <a:p>
              <a:pPr algn="l">
                <a:lnSpc>
                  <a:spcPct val="100000"/>
                </a:lnSpc>
              </a:pPr>
              <a:r>
                <a:rPr lang="en-US" sz="2000" dirty="0">
                  <a:latin typeface="Calibri"/>
                  <a:cs typeface="Calibri"/>
                </a:rPr>
                <a:t>left =      </a:t>
              </a:r>
              <a:r>
                <a:rPr lang="en-US" sz="2000" dirty="0" err="1">
                  <a:latin typeface="Calibri"/>
                  <a:cs typeface="Calibri"/>
                </a:rPr>
                <a:t>val</a:t>
              </a:r>
              <a:r>
                <a:rPr lang="en-US" sz="2000" dirty="0">
                  <a:latin typeface="Calibri"/>
                  <a:cs typeface="Calibri"/>
                </a:rPr>
                <a:t>[</a:t>
              </a:r>
              <a:r>
                <a:rPr lang="en-US" sz="2000" dirty="0" err="1">
                  <a:latin typeface="Calibri"/>
                  <a:cs typeface="Calibri"/>
                </a:rPr>
                <a:t>inj</a:t>
              </a:r>
              <a:r>
                <a:rPr lang="en-US" sz="2000" dirty="0">
                  <a:latin typeface="Calibri"/>
                  <a:cs typeface="Calibri"/>
                </a:rPr>
                <a:t> - 1];</a:t>
              </a:r>
            </a:p>
            <a:p>
              <a:pPr algn="l">
                <a:lnSpc>
                  <a:spcPct val="100000"/>
                </a:lnSpc>
              </a:pPr>
              <a:r>
                <a:rPr lang="en-US" sz="2000" dirty="0">
                  <a:latin typeface="Calibri"/>
                  <a:cs typeface="Calibri"/>
                </a:rPr>
                <a:t>right =    </a:t>
              </a:r>
              <a:r>
                <a:rPr lang="en-US" sz="2000" dirty="0" err="1">
                  <a:latin typeface="Calibri"/>
                  <a:cs typeface="Calibri"/>
                </a:rPr>
                <a:t>val</a:t>
              </a:r>
              <a:r>
                <a:rPr lang="en-US" sz="2000" dirty="0">
                  <a:latin typeface="Calibri"/>
                  <a:cs typeface="Calibri"/>
                </a:rPr>
                <a:t>[</a:t>
              </a:r>
              <a:r>
                <a:rPr lang="en-US" sz="2000" dirty="0" err="1">
                  <a:latin typeface="Calibri"/>
                  <a:cs typeface="Calibri"/>
                </a:rPr>
                <a:t>inj</a:t>
              </a:r>
              <a:r>
                <a:rPr lang="en-US" sz="2000" dirty="0">
                  <a:latin typeface="Calibri"/>
                  <a:cs typeface="Calibri"/>
                </a:rPr>
                <a:t> + 1];</a:t>
              </a:r>
            </a:p>
            <a:p>
              <a:pPr algn="l">
                <a:lnSpc>
                  <a:spcPct val="100000"/>
                </a:lnSpc>
              </a:pPr>
              <a:r>
                <a:rPr lang="en-US" sz="2000" dirty="0">
                  <a:latin typeface="Calibri"/>
                  <a:cs typeface="Calibri"/>
                </a:rPr>
                <a:t>sum = up + down + left + right;</a:t>
              </a:r>
            </a:p>
          </p:txBody>
        </p:sp>
        <p:sp>
          <p:nvSpPr>
            <p:cNvPr id="12295" name="Rectangle 7"/>
            <p:cNvSpPr>
              <a:spLocks noChangeArrowheads="1"/>
            </p:cNvSpPr>
            <p:nvPr/>
          </p:nvSpPr>
          <p:spPr bwMode="auto">
            <a:xfrm>
              <a:off x="4789020" y="4281877"/>
              <a:ext cx="1877416" cy="70532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7" tIns="44450" rIns="90487" bIns="4445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2000" dirty="0">
                  <a:solidFill>
                    <a:srgbClr val="3366FF"/>
                  </a:solidFill>
                  <a:latin typeface="Calibri"/>
                  <a:cs typeface="Calibri"/>
                </a:rPr>
                <a:t>1 multiplication: </a:t>
              </a:r>
            </a:p>
            <a:p>
              <a:pPr algn="l">
                <a:lnSpc>
                  <a:spcPct val="100000"/>
                </a:lnSpc>
              </a:pPr>
              <a:r>
                <a:rPr lang="en-US" sz="2000" dirty="0" err="1">
                  <a:solidFill>
                    <a:srgbClr val="3366FF"/>
                  </a:solidFill>
                  <a:latin typeface="Calibri"/>
                  <a:cs typeface="Calibri"/>
                </a:rPr>
                <a:t>i</a:t>
              </a:r>
              <a:r>
                <a:rPr lang="en-US" sz="2000" dirty="0">
                  <a:solidFill>
                    <a:srgbClr val="3366FF"/>
                  </a:solidFill>
                  <a:latin typeface="Calibri"/>
                  <a:cs typeface="Calibri"/>
                </a:rPr>
                <a:t>*n</a:t>
              </a:r>
            </a:p>
          </p:txBody>
        </p:sp>
        <p:sp>
          <p:nvSpPr>
            <p:cNvPr id="3" name="Right Arrow 2"/>
            <p:cNvSpPr/>
            <p:nvPr/>
          </p:nvSpPr>
          <p:spPr>
            <a:xfrm>
              <a:off x="3624221" y="2413956"/>
              <a:ext cx="978408" cy="484632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654550" y="5016375"/>
              <a:ext cx="244869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assembly not shown</a:t>
              </a:r>
            </a:p>
            <a:p>
              <a:r>
                <a:rPr lang="en-US" dirty="0"/>
                <a:t>this is equivalent C code</a:t>
              </a: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B789AA3-A464-4B13-8157-D1E016455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92C60-C071-3249-9DBB-404B1D195F8C}" type="slidenum">
              <a:rPr lang="en-US" smtClean="0"/>
              <a:t>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3A9849-F884-4E24-97A4-4D14C7C42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68489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22" name="Rectangle 2"/>
          <p:cNvSpPr>
            <a:spLocks noGrp="1" noChangeArrowheads="1"/>
          </p:cNvSpPr>
          <p:nvPr>
            <p:ph type="title"/>
          </p:nvPr>
        </p:nvSpPr>
        <p:spPr>
          <a:xfrm>
            <a:off x="134471" y="152400"/>
            <a:ext cx="8815294" cy="106045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Common Optimization: </a:t>
            </a:r>
            <a:br>
              <a:rPr lang="en-US" dirty="0"/>
            </a:br>
            <a:r>
              <a:rPr lang="en-US" dirty="0"/>
              <a:t>reuse common sub-expressions</a:t>
            </a:r>
          </a:p>
        </p:txBody>
      </p:sp>
      <p:sp>
        <p:nvSpPr>
          <p:cNvPr id="12292" name="Rectangle 4"/>
          <p:cNvSpPr>
            <a:spLocks noChangeArrowheads="1"/>
          </p:cNvSpPr>
          <p:nvPr/>
        </p:nvSpPr>
        <p:spPr bwMode="auto">
          <a:xfrm>
            <a:off x="1131444" y="1895268"/>
            <a:ext cx="1702388" cy="643766"/>
          </a:xfrm>
          <a:prstGeom prst="rect">
            <a:avLst/>
          </a:prstGeom>
          <a:noFill/>
          <a:ln w="38100" cmpd="dbl">
            <a:noFill/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dirty="0">
                <a:latin typeface="Consolas"/>
                <a:cs typeface="Consolas"/>
              </a:rPr>
              <a:t>x = a*b + c;</a:t>
            </a:r>
          </a:p>
          <a:p>
            <a:pPr algn="l">
              <a:lnSpc>
                <a:spcPct val="100000"/>
              </a:lnSpc>
            </a:pPr>
            <a:r>
              <a:rPr lang="en-US" dirty="0">
                <a:latin typeface="Consolas"/>
                <a:cs typeface="Consolas"/>
              </a:rPr>
              <a:t>y = a*b*d;</a:t>
            </a:r>
          </a:p>
        </p:txBody>
      </p:sp>
      <p:sp>
        <p:nvSpPr>
          <p:cNvPr id="12294" name="Rectangle 6"/>
          <p:cNvSpPr>
            <a:spLocks noChangeArrowheads="1"/>
          </p:cNvSpPr>
          <p:nvPr/>
        </p:nvSpPr>
        <p:spPr bwMode="auto">
          <a:xfrm>
            <a:off x="991822" y="3548025"/>
            <a:ext cx="1981632" cy="705321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dirty="0">
                <a:solidFill>
                  <a:srgbClr val="3366FF"/>
                </a:solidFill>
                <a:latin typeface="Calibri"/>
                <a:cs typeface="Calibri"/>
              </a:rPr>
              <a:t>3 multiplications:</a:t>
            </a:r>
          </a:p>
          <a:p>
            <a:pPr algn="l">
              <a:lnSpc>
                <a:spcPct val="100000"/>
              </a:lnSpc>
            </a:pPr>
            <a:r>
              <a:rPr lang="en-US" sz="2000" dirty="0">
                <a:solidFill>
                  <a:srgbClr val="3366FF"/>
                </a:solidFill>
                <a:latin typeface="Calibri"/>
                <a:cs typeface="Calibri"/>
              </a:rPr>
              <a:t>a*b, a*b*c 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3550499" y="1579701"/>
            <a:ext cx="4061356" cy="2699732"/>
            <a:chOff x="3325149" y="1861388"/>
            <a:chExt cx="4061356" cy="2699732"/>
          </a:xfrm>
        </p:grpSpPr>
        <p:sp>
          <p:nvSpPr>
            <p:cNvPr id="12293" name="Rectangle 5"/>
            <p:cNvSpPr>
              <a:spLocks noChangeArrowheads="1"/>
            </p:cNvSpPr>
            <p:nvPr/>
          </p:nvSpPr>
          <p:spPr bwMode="auto">
            <a:xfrm>
              <a:off x="4654550" y="1861388"/>
              <a:ext cx="1702388" cy="920765"/>
            </a:xfrm>
            <a:prstGeom prst="rect">
              <a:avLst/>
            </a:prstGeom>
            <a:solidFill>
              <a:srgbClr val="FFC000"/>
            </a:solidFill>
            <a:ln w="38100" cmpd="dbl">
              <a:noFill/>
              <a:miter lim="800000"/>
              <a:headEnd/>
              <a:tailEnd/>
            </a:ln>
          </p:spPr>
          <p:txBody>
            <a:bodyPr wrap="none" lIns="90487" tIns="44450" rIns="90487" bIns="4445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dirty="0" err="1">
                  <a:latin typeface="Consolas" panose="020B0609020204030204" pitchFamily="49" charset="0"/>
                  <a:cs typeface="Calibri"/>
                </a:rPr>
                <a:t>tmp</a:t>
              </a:r>
              <a:r>
                <a:rPr lang="en-US" dirty="0">
                  <a:latin typeface="Consolas" panose="020B0609020204030204" pitchFamily="49" charset="0"/>
                  <a:cs typeface="Calibri"/>
                </a:rPr>
                <a:t> = a*b;</a:t>
              </a:r>
            </a:p>
            <a:p>
              <a:pPr algn="l">
                <a:lnSpc>
                  <a:spcPct val="100000"/>
                </a:lnSpc>
              </a:pPr>
              <a:r>
                <a:rPr lang="en-US" dirty="0">
                  <a:latin typeface="Consolas" panose="020B0609020204030204" pitchFamily="49" charset="0"/>
                  <a:cs typeface="Calibri"/>
                </a:rPr>
                <a:t>x = </a:t>
              </a:r>
              <a:r>
                <a:rPr lang="en-US" dirty="0" err="1">
                  <a:latin typeface="Consolas" panose="020B0609020204030204" pitchFamily="49" charset="0"/>
                  <a:cs typeface="Calibri"/>
                </a:rPr>
                <a:t>tmp</a:t>
              </a:r>
              <a:r>
                <a:rPr lang="en-US" dirty="0">
                  <a:latin typeface="Consolas" panose="020B0609020204030204" pitchFamily="49" charset="0"/>
                  <a:cs typeface="Calibri"/>
                </a:rPr>
                <a:t> + c;</a:t>
              </a:r>
            </a:p>
            <a:p>
              <a:pPr algn="l">
                <a:lnSpc>
                  <a:spcPct val="100000"/>
                </a:lnSpc>
              </a:pPr>
              <a:r>
                <a:rPr lang="en-US" dirty="0">
                  <a:latin typeface="Consolas" panose="020B0609020204030204" pitchFamily="49" charset="0"/>
                  <a:cs typeface="Calibri"/>
                </a:rPr>
                <a:t>y = </a:t>
              </a:r>
              <a:r>
                <a:rPr lang="en-US" dirty="0" err="1">
                  <a:latin typeface="Consolas" panose="020B0609020204030204" pitchFamily="49" charset="0"/>
                  <a:cs typeface="Calibri"/>
                </a:rPr>
                <a:t>tmp</a:t>
              </a:r>
              <a:r>
                <a:rPr lang="en-US" dirty="0">
                  <a:latin typeface="Consolas" panose="020B0609020204030204" pitchFamily="49" charset="0"/>
                  <a:cs typeface="Calibri"/>
                </a:rPr>
                <a:t>*d;</a:t>
              </a:r>
            </a:p>
          </p:txBody>
        </p:sp>
        <p:sp>
          <p:nvSpPr>
            <p:cNvPr id="12295" name="Rectangle 7"/>
            <p:cNvSpPr>
              <a:spLocks noChangeArrowheads="1"/>
            </p:cNvSpPr>
            <p:nvPr/>
          </p:nvSpPr>
          <p:spPr bwMode="auto">
            <a:xfrm>
              <a:off x="4572337" y="3855799"/>
              <a:ext cx="1981632" cy="705321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90487" tIns="44450" rIns="90487" bIns="4445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2000" dirty="0">
                  <a:solidFill>
                    <a:srgbClr val="3366FF"/>
                  </a:solidFill>
                  <a:latin typeface="Calibri"/>
                  <a:cs typeface="Calibri"/>
                </a:rPr>
                <a:t>2 multiplications:</a:t>
              </a:r>
            </a:p>
            <a:p>
              <a:pPr algn="l">
                <a:lnSpc>
                  <a:spcPct val="100000"/>
                </a:lnSpc>
              </a:pPr>
              <a:r>
                <a:rPr lang="en-US" sz="2000" dirty="0">
                  <a:solidFill>
                    <a:srgbClr val="3366FF"/>
                  </a:solidFill>
                  <a:latin typeface="Calibri"/>
                  <a:cs typeface="Calibri"/>
                </a:rPr>
                <a:t>a*b, </a:t>
              </a:r>
              <a:r>
                <a:rPr lang="en-US" sz="2000" dirty="0" err="1">
                  <a:solidFill>
                    <a:srgbClr val="3366FF"/>
                  </a:solidFill>
                  <a:latin typeface="Calibri"/>
                  <a:cs typeface="Calibri"/>
                </a:rPr>
                <a:t>tmp</a:t>
              </a:r>
              <a:r>
                <a:rPr lang="en-US" sz="2000" dirty="0">
                  <a:solidFill>
                    <a:srgbClr val="3366FF"/>
                  </a:solidFill>
                  <a:latin typeface="Calibri"/>
                  <a:cs typeface="Calibri"/>
                </a:rPr>
                <a:t>*d;</a:t>
              </a:r>
            </a:p>
          </p:txBody>
        </p:sp>
        <p:sp>
          <p:nvSpPr>
            <p:cNvPr id="3" name="Right Arrow 2"/>
            <p:cNvSpPr/>
            <p:nvPr/>
          </p:nvSpPr>
          <p:spPr>
            <a:xfrm>
              <a:off x="3325149" y="2185292"/>
              <a:ext cx="978408" cy="484632"/>
            </a:xfrm>
            <a:prstGeom prst="rightArrow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572337" y="2706540"/>
              <a:ext cx="281416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assembly not shown</a:t>
              </a:r>
            </a:p>
            <a:p>
              <a:r>
                <a:rPr lang="en-US" dirty="0"/>
                <a:t>this is the equivalent C code</a:t>
              </a: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7E073A5-3512-40B5-8AD2-0B01D5FE9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92C60-C071-3249-9DBB-404B1D195F8C}" type="slidenum">
              <a:rPr lang="en-US" smtClean="0"/>
              <a:t>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385C0E6-B800-45DB-80FC-ADBB9886A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83953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What prevents optimization?</a:t>
            </a:r>
          </a:p>
        </p:txBody>
      </p:sp>
      <p:sp>
        <p:nvSpPr>
          <p:cNvPr id="7" name="Subtitle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69F67BE-0F14-47E1-943E-43732400D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92C60-C071-3249-9DBB-404B1D195F8C}" type="slidenum">
              <a:rPr lang="en-US" smtClean="0"/>
              <a:t>10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DFA366-B724-479F-B493-85FEF1BA0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9019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642471" y="1780988"/>
            <a:ext cx="7746039" cy="2551981"/>
          </a:xfrm>
          <a:prstGeom prst="rect">
            <a:avLst/>
          </a:prstGeom>
          <a:noFill/>
          <a:ln w="38100" cmpd="dbl">
            <a:solidFill>
              <a:srgbClr val="FFFFFF"/>
            </a:solidFill>
            <a:miter lim="800000"/>
            <a:headEnd/>
            <a:tailEnd/>
          </a:ln>
        </p:spPr>
        <p:txBody>
          <a:bodyPr wrap="square" lIns="90487" tIns="44450" rIns="90487" bIns="44450">
            <a:spAutoFit/>
          </a:bodyPr>
          <a:lstStyle/>
          <a:p>
            <a:pPr algn="l"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2000" dirty="0">
                <a:latin typeface="Consolas"/>
                <a:cs typeface="Consolas"/>
              </a:rPr>
              <a:t>// convert uppercase letters in string to lowercase</a:t>
            </a:r>
          </a:p>
          <a:p>
            <a:pPr algn="l"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2000" dirty="0">
                <a:latin typeface="Consolas"/>
                <a:cs typeface="Consolas"/>
              </a:rPr>
              <a:t>void lower(char *s) {</a:t>
            </a:r>
          </a:p>
          <a:p>
            <a:pPr algn="l"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2000" dirty="0">
                <a:latin typeface="Consolas"/>
                <a:cs typeface="Consolas"/>
              </a:rPr>
              <a:t>   for (</a:t>
            </a:r>
            <a:r>
              <a:rPr lang="en-US" sz="2000" dirty="0" err="1">
                <a:latin typeface="Consolas"/>
                <a:cs typeface="Consolas"/>
              </a:rPr>
              <a:t>size_t</a:t>
            </a:r>
            <a:r>
              <a:rPr lang="en-US" sz="2000" dirty="0">
                <a:latin typeface="Consolas"/>
                <a:cs typeface="Consolas"/>
              </a:rPr>
              <a:t> </a:t>
            </a:r>
            <a:r>
              <a:rPr lang="en-US" sz="2000" dirty="0" err="1">
                <a:latin typeface="Consolas"/>
                <a:cs typeface="Consolas"/>
              </a:rPr>
              <a:t>i</a:t>
            </a:r>
            <a:r>
              <a:rPr lang="en-US" sz="2000" dirty="0">
                <a:latin typeface="Consolas"/>
                <a:cs typeface="Consolas"/>
              </a:rPr>
              <a:t>=0; </a:t>
            </a:r>
            <a:r>
              <a:rPr lang="en-US" sz="2000" dirty="0" err="1">
                <a:latin typeface="Consolas"/>
                <a:cs typeface="Consolas"/>
              </a:rPr>
              <a:t>i</a:t>
            </a:r>
            <a:r>
              <a:rPr lang="en-US" sz="2000" dirty="0">
                <a:latin typeface="Consolas"/>
                <a:cs typeface="Consolas"/>
              </a:rPr>
              <a:t>&lt;</a:t>
            </a:r>
            <a:r>
              <a:rPr lang="en-US" sz="2000" dirty="0" err="1">
                <a:latin typeface="Consolas"/>
                <a:cs typeface="Consolas"/>
              </a:rPr>
              <a:t>strlen</a:t>
            </a:r>
            <a:r>
              <a:rPr lang="en-US" sz="2000" dirty="0">
                <a:latin typeface="Consolas"/>
                <a:cs typeface="Consolas"/>
              </a:rPr>
              <a:t>(s); </a:t>
            </a:r>
            <a:r>
              <a:rPr lang="en-US" sz="2000" dirty="0" err="1">
                <a:latin typeface="Consolas"/>
                <a:cs typeface="Consolas"/>
              </a:rPr>
              <a:t>i</a:t>
            </a:r>
            <a:r>
              <a:rPr lang="en-US" sz="2000" dirty="0">
                <a:latin typeface="Consolas"/>
                <a:cs typeface="Consolas"/>
              </a:rPr>
              <a:t>++) {</a:t>
            </a:r>
          </a:p>
          <a:p>
            <a:pPr algn="l"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2000" dirty="0">
                <a:latin typeface="Consolas"/>
                <a:cs typeface="Consolas"/>
              </a:rPr>
              <a:t>      if (s[</a:t>
            </a:r>
            <a:r>
              <a:rPr lang="en-US" sz="2000" dirty="0" err="1">
                <a:latin typeface="Consolas"/>
                <a:cs typeface="Consolas"/>
              </a:rPr>
              <a:t>i</a:t>
            </a:r>
            <a:r>
              <a:rPr lang="en-US" sz="2000" dirty="0">
                <a:latin typeface="Consolas"/>
                <a:cs typeface="Consolas"/>
              </a:rPr>
              <a:t>] &gt;= 'A' &amp;&amp; s[</a:t>
            </a:r>
            <a:r>
              <a:rPr lang="en-US" sz="2000" dirty="0" err="1">
                <a:latin typeface="Consolas"/>
                <a:cs typeface="Consolas"/>
              </a:rPr>
              <a:t>i</a:t>
            </a:r>
            <a:r>
              <a:rPr lang="en-US" sz="2000" dirty="0">
                <a:latin typeface="Consolas"/>
                <a:cs typeface="Consolas"/>
              </a:rPr>
              <a:t>] &lt;= 'Z') {</a:t>
            </a:r>
          </a:p>
          <a:p>
            <a:pPr algn="l"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2000" dirty="0">
                <a:latin typeface="Consolas"/>
                <a:cs typeface="Consolas"/>
              </a:rPr>
              <a:t>         s[</a:t>
            </a:r>
            <a:r>
              <a:rPr lang="en-US" sz="2000" dirty="0" err="1">
                <a:latin typeface="Consolas"/>
                <a:cs typeface="Consolas"/>
              </a:rPr>
              <a:t>i</a:t>
            </a:r>
            <a:r>
              <a:rPr lang="en-US" sz="2000" dirty="0">
                <a:latin typeface="Consolas"/>
                <a:cs typeface="Consolas"/>
              </a:rPr>
              <a:t>] -= ('A' - 'a');</a:t>
            </a:r>
          </a:p>
          <a:p>
            <a:pPr algn="l"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2000" dirty="0">
                <a:latin typeface="Consolas"/>
                <a:cs typeface="Consolas"/>
              </a:rPr>
              <a:t>      }</a:t>
            </a:r>
          </a:p>
          <a:p>
            <a:pPr algn="l"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2000" dirty="0">
                <a:latin typeface="Consolas"/>
                <a:cs typeface="Consolas"/>
              </a:rPr>
              <a:t>   }</a:t>
            </a:r>
          </a:p>
          <a:p>
            <a:pPr algn="l"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2000" dirty="0">
                <a:latin typeface="Consolas"/>
                <a:cs typeface="Consolas"/>
              </a:rPr>
              <a:t>}</a:t>
            </a:r>
          </a:p>
        </p:txBody>
      </p:sp>
      <p:sp>
        <p:nvSpPr>
          <p:cNvPr id="653315" name="Rectangle 3"/>
          <p:cNvSpPr>
            <a:spLocks noGrp="1" noChangeArrowheads="1"/>
          </p:cNvSpPr>
          <p:nvPr>
            <p:ph type="title"/>
          </p:nvPr>
        </p:nvSpPr>
        <p:spPr>
          <a:xfrm>
            <a:off x="533400" y="627856"/>
            <a:ext cx="8458200" cy="573087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Optimization obstacle #1: </a:t>
            </a:r>
            <a:br>
              <a:rPr lang="en-US" dirty="0"/>
            </a:br>
            <a:r>
              <a:rPr lang="en-US" dirty="0"/>
              <a:t>Procedure Calls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33400" y="5105400"/>
            <a:ext cx="78551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Calibri" pitchFamily="34" charset="0"/>
              </a:rPr>
              <a:t>Question: What’s the big-O runtime of lower, O(n)? 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CE422C4-B849-4A64-B916-39EFC33BB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92C60-C071-3249-9DBB-404B1D195F8C}" type="slidenum">
              <a:rPr lang="en-US" smtClean="0"/>
              <a:t>11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16D78E-C17A-482C-AF98-FFB9716D7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208807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334963"/>
            <a:ext cx="8678863" cy="573087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/>
              <a:t>Lower Case Conversion Performance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0513" y="1522413"/>
            <a:ext cx="8307387" cy="908050"/>
          </a:xfrm>
        </p:spPr>
        <p:txBody>
          <a:bodyPr/>
          <a:lstStyle/>
          <a:p>
            <a:pPr lvl="1"/>
            <a:r>
              <a:rPr lang="en-US" sz="2400" dirty="0"/>
              <a:t>Quadratic performance!</a:t>
            </a:r>
          </a:p>
        </p:txBody>
      </p:sp>
      <p:graphicFrame>
        <p:nvGraphicFramePr>
          <p:cNvPr id="6" name="Chart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38822503"/>
              </p:ext>
            </p:extLst>
          </p:nvPr>
        </p:nvGraphicFramePr>
        <p:xfrm>
          <a:off x="469900" y="2620246"/>
          <a:ext cx="8128000" cy="3441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Box 10"/>
          <p:cNvSpPr txBox="1">
            <a:spLocks noChangeArrowheads="1"/>
          </p:cNvSpPr>
          <p:nvPr/>
        </p:nvSpPr>
        <p:spPr bwMode="auto">
          <a:xfrm>
            <a:off x="5601160" y="3887295"/>
            <a:ext cx="588833" cy="2156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27432" tIns="27432" rIns="0" bIns="0" anchor="t" upright="1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l" rtl="0">
              <a:defRPr sz="1000"/>
            </a:pPr>
            <a:r>
              <a:rPr lang="en-US" sz="1200" b="0" i="0" strike="noStrike" dirty="0">
                <a:solidFill>
                  <a:srgbClr val="000000"/>
                </a:solidFill>
                <a:latin typeface="Courier New"/>
                <a:cs typeface="Courier New"/>
              </a:rPr>
              <a:t>lower1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AF69F75-72A8-44D8-AB86-4169C6872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92C60-C071-3249-9DBB-404B1D195F8C}" type="slidenum">
              <a:rPr lang="en-US" smtClean="0"/>
              <a:t>12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C95B63-06F9-4C9B-A155-F290CF9F3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449478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2"/>
          <p:cNvSpPr>
            <a:spLocks noChangeArrowheads="1"/>
          </p:cNvSpPr>
          <p:nvPr/>
        </p:nvSpPr>
        <p:spPr bwMode="auto">
          <a:xfrm>
            <a:off x="642471" y="1780988"/>
            <a:ext cx="7746039" cy="2859757"/>
          </a:xfrm>
          <a:prstGeom prst="rect">
            <a:avLst/>
          </a:prstGeom>
          <a:noFill/>
          <a:ln w="38100" cmpd="dbl">
            <a:solidFill>
              <a:srgbClr val="FFFFFF"/>
            </a:solidFill>
            <a:miter lim="800000"/>
            <a:headEnd/>
            <a:tailEnd/>
          </a:ln>
        </p:spPr>
        <p:txBody>
          <a:bodyPr wrap="square" lIns="90487" tIns="44450" rIns="90487" bIns="44450">
            <a:spAutoFit/>
          </a:bodyPr>
          <a:lstStyle/>
          <a:p>
            <a:pPr algn="l"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2000" dirty="0">
                <a:latin typeface="Consolas"/>
                <a:cs typeface="Consolas"/>
              </a:rPr>
              <a:t>// convert uppercase letters in string to lowercase</a:t>
            </a:r>
          </a:p>
          <a:p>
            <a:pPr algn="l"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2000" dirty="0">
                <a:latin typeface="Consolas"/>
                <a:cs typeface="Consolas"/>
              </a:rPr>
              <a:t>void lower(char *s) {</a:t>
            </a:r>
          </a:p>
          <a:p>
            <a:pPr algn="l">
              <a:lnSpc>
                <a:spcPct val="100000"/>
              </a:lnSpc>
              <a:tabLst>
                <a:tab pos="914400" algn="l"/>
                <a:tab pos="2286000" algn="l"/>
              </a:tabLst>
            </a:pPr>
            <a:endParaRPr lang="en-US" sz="2000" dirty="0">
              <a:latin typeface="Consolas"/>
              <a:cs typeface="Consolas"/>
            </a:endParaRPr>
          </a:p>
          <a:p>
            <a:pPr algn="l"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2000" dirty="0">
                <a:latin typeface="Consolas"/>
                <a:cs typeface="Consolas"/>
              </a:rPr>
              <a:t>   for (</a:t>
            </a:r>
            <a:r>
              <a:rPr lang="en-US" sz="2000" dirty="0" err="1">
                <a:latin typeface="Consolas"/>
                <a:cs typeface="Consolas"/>
              </a:rPr>
              <a:t>size_t</a:t>
            </a:r>
            <a:r>
              <a:rPr lang="en-US" sz="2000" dirty="0">
                <a:latin typeface="Consolas"/>
                <a:cs typeface="Consolas"/>
              </a:rPr>
              <a:t> </a:t>
            </a:r>
            <a:r>
              <a:rPr lang="en-US" sz="2000" dirty="0" err="1">
                <a:latin typeface="Consolas"/>
                <a:cs typeface="Consolas"/>
              </a:rPr>
              <a:t>i</a:t>
            </a:r>
            <a:r>
              <a:rPr lang="en-US" sz="2000" dirty="0">
                <a:latin typeface="Consolas"/>
                <a:cs typeface="Consolas"/>
              </a:rPr>
              <a:t>=0; </a:t>
            </a:r>
            <a:r>
              <a:rPr lang="en-US" sz="2000" dirty="0" err="1">
                <a:latin typeface="Consolas"/>
                <a:cs typeface="Consolas"/>
              </a:rPr>
              <a:t>i</a:t>
            </a:r>
            <a:r>
              <a:rPr lang="en-US" sz="2000" dirty="0">
                <a:latin typeface="Consolas"/>
                <a:cs typeface="Consolas"/>
              </a:rPr>
              <a:t>&lt;</a:t>
            </a:r>
            <a:r>
              <a:rPr lang="en-US" sz="2000" dirty="0" err="1">
                <a:latin typeface="Consolas"/>
                <a:cs typeface="Consolas"/>
              </a:rPr>
              <a:t>strlen</a:t>
            </a:r>
            <a:r>
              <a:rPr lang="en-US" sz="2000" dirty="0">
                <a:latin typeface="Consolas"/>
                <a:cs typeface="Consolas"/>
              </a:rPr>
              <a:t>(s); </a:t>
            </a:r>
            <a:r>
              <a:rPr lang="en-US" sz="2000" dirty="0" err="1">
                <a:latin typeface="Consolas"/>
                <a:cs typeface="Consolas"/>
              </a:rPr>
              <a:t>i</a:t>
            </a:r>
            <a:r>
              <a:rPr lang="en-US" sz="2000" dirty="0">
                <a:latin typeface="Consolas"/>
                <a:cs typeface="Consolas"/>
              </a:rPr>
              <a:t>++) {</a:t>
            </a:r>
          </a:p>
          <a:p>
            <a:pPr algn="l"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2000" dirty="0">
                <a:latin typeface="Consolas"/>
                <a:cs typeface="Consolas"/>
              </a:rPr>
              <a:t>      if (s[</a:t>
            </a:r>
            <a:r>
              <a:rPr lang="en-US" sz="2000" dirty="0" err="1">
                <a:latin typeface="Consolas"/>
                <a:cs typeface="Consolas"/>
              </a:rPr>
              <a:t>i</a:t>
            </a:r>
            <a:r>
              <a:rPr lang="en-US" sz="2000" dirty="0">
                <a:latin typeface="Consolas"/>
                <a:cs typeface="Consolas"/>
              </a:rPr>
              <a:t>] &gt;= 'A' &amp;&amp; s[</a:t>
            </a:r>
            <a:r>
              <a:rPr lang="en-US" sz="2000" dirty="0" err="1">
                <a:latin typeface="Consolas"/>
                <a:cs typeface="Consolas"/>
              </a:rPr>
              <a:t>i</a:t>
            </a:r>
            <a:r>
              <a:rPr lang="en-US" sz="2000" dirty="0">
                <a:latin typeface="Consolas"/>
                <a:cs typeface="Consolas"/>
              </a:rPr>
              <a:t>] &lt;= 'Z') {</a:t>
            </a:r>
          </a:p>
          <a:p>
            <a:pPr algn="l"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2000" dirty="0">
                <a:latin typeface="Consolas"/>
                <a:cs typeface="Consolas"/>
              </a:rPr>
              <a:t>         s[</a:t>
            </a:r>
            <a:r>
              <a:rPr lang="en-US" sz="2000" dirty="0" err="1">
                <a:latin typeface="Consolas"/>
                <a:cs typeface="Consolas"/>
              </a:rPr>
              <a:t>i</a:t>
            </a:r>
            <a:r>
              <a:rPr lang="en-US" sz="2000" dirty="0">
                <a:latin typeface="Consolas"/>
                <a:cs typeface="Consolas"/>
              </a:rPr>
              <a:t>] -= ('A' - 'a');</a:t>
            </a:r>
          </a:p>
          <a:p>
            <a:pPr algn="l"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2000" dirty="0">
                <a:latin typeface="Consolas"/>
                <a:cs typeface="Consolas"/>
              </a:rPr>
              <a:t>      }</a:t>
            </a:r>
          </a:p>
          <a:p>
            <a:pPr algn="l"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2000" dirty="0">
                <a:latin typeface="Consolas"/>
                <a:cs typeface="Consolas"/>
              </a:rPr>
              <a:t>   }</a:t>
            </a:r>
          </a:p>
          <a:p>
            <a:pPr algn="l"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2000" dirty="0">
                <a:latin typeface="Consolas"/>
                <a:cs typeface="Consolas"/>
              </a:rPr>
              <a:t>}</a:t>
            </a:r>
          </a:p>
        </p:txBody>
      </p:sp>
      <p:sp>
        <p:nvSpPr>
          <p:cNvPr id="772098" name="Rectangle 2"/>
          <p:cNvSpPr>
            <a:spLocks noGrp="1" noChangeArrowheads="1"/>
          </p:cNvSpPr>
          <p:nvPr>
            <p:ph type="title"/>
          </p:nvPr>
        </p:nvSpPr>
        <p:spPr>
          <a:xfrm>
            <a:off x="741362" y="621506"/>
            <a:ext cx="7031038" cy="573087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Calling </a:t>
            </a:r>
            <a:r>
              <a:rPr lang="en-US" dirty="0" err="1"/>
              <a:t>strlen</a:t>
            </a:r>
            <a:r>
              <a:rPr lang="en-US" dirty="0"/>
              <a:t> in loop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3697777" y="3092824"/>
            <a:ext cx="4189269" cy="2140226"/>
            <a:chOff x="3697777" y="3092824"/>
            <a:chExt cx="4189269" cy="2140226"/>
          </a:xfrm>
        </p:grpSpPr>
        <p:cxnSp>
          <p:nvCxnSpPr>
            <p:cNvPr id="4" name="Straight Arrow Connector 3"/>
            <p:cNvCxnSpPr/>
            <p:nvPr/>
          </p:nvCxnSpPr>
          <p:spPr bwMode="auto">
            <a:xfrm flipH="1" flipV="1">
              <a:off x="4833307" y="3092824"/>
              <a:ext cx="821765" cy="1309229"/>
            </a:xfrm>
            <a:prstGeom prst="straightConnector1">
              <a:avLst/>
            </a:prstGeom>
            <a:noFill/>
            <a:ln w="38100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10" name="TextBox 9"/>
            <p:cNvSpPr txBox="1"/>
            <p:nvPr/>
          </p:nvSpPr>
          <p:spPr>
            <a:xfrm>
              <a:off x="4265542" y="4402053"/>
              <a:ext cx="3621504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 typeface="Arial"/>
                <a:buChar char="•"/>
              </a:pPr>
              <a:r>
                <a:rPr lang="en-US" sz="2400" dirty="0" err="1">
                  <a:solidFill>
                    <a:srgbClr val="3366FF"/>
                  </a:solidFill>
                  <a:latin typeface="Calibri" pitchFamily="34" charset="0"/>
                </a:rPr>
                <a:t>Strlen</a:t>
              </a:r>
              <a:r>
                <a:rPr lang="en-US" sz="2400" dirty="0">
                  <a:solidFill>
                    <a:srgbClr val="3366FF"/>
                  </a:solidFill>
                  <a:latin typeface="Calibri" pitchFamily="34" charset="0"/>
                </a:rPr>
                <a:t> takes O(n) to finish</a:t>
              </a:r>
            </a:p>
            <a:p>
              <a:pPr marL="285750" indent="-285750">
                <a:buFont typeface="Arial"/>
                <a:buChar char="•"/>
              </a:pPr>
              <a:r>
                <a:rPr lang="en-US" sz="2400" dirty="0" err="1">
                  <a:solidFill>
                    <a:srgbClr val="3366FF"/>
                  </a:solidFill>
                  <a:latin typeface="Calibri" pitchFamily="34" charset="0"/>
                </a:rPr>
                <a:t>Strlen</a:t>
              </a:r>
              <a:r>
                <a:rPr lang="en-US" sz="2400" dirty="0">
                  <a:solidFill>
                    <a:srgbClr val="3366FF"/>
                  </a:solidFill>
                  <a:latin typeface="Calibri" pitchFamily="34" charset="0"/>
                </a:rPr>
                <a:t> is called n times</a:t>
              </a:r>
            </a:p>
          </p:txBody>
        </p:sp>
        <p:cxnSp>
          <p:nvCxnSpPr>
            <p:cNvPr id="3" name="Straight Connector 2"/>
            <p:cNvCxnSpPr/>
            <p:nvPr/>
          </p:nvCxnSpPr>
          <p:spPr>
            <a:xfrm>
              <a:off x="3697777" y="3092824"/>
              <a:ext cx="1135530" cy="0"/>
            </a:xfrm>
            <a:prstGeom prst="line">
              <a:avLst/>
            </a:prstGeom>
            <a:ln>
              <a:solidFill>
                <a:srgbClr val="0000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B49B1C-A890-43F8-A164-72F359233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92C60-C071-3249-9DBB-404B1D195F8C}" type="slidenum">
              <a:rPr lang="en-US" smtClean="0"/>
              <a:t>13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118187-7433-40D9-BEA3-415373C93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37727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098" name="Rectangle 2"/>
          <p:cNvSpPr>
            <a:spLocks noGrp="1" noChangeArrowheads="1"/>
          </p:cNvSpPr>
          <p:nvPr>
            <p:ph type="title"/>
          </p:nvPr>
        </p:nvSpPr>
        <p:spPr>
          <a:xfrm>
            <a:off x="741362" y="621506"/>
            <a:ext cx="7031038" cy="573087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Calling </a:t>
            </a:r>
            <a:r>
              <a:rPr lang="en-US" dirty="0" err="1"/>
              <a:t>strlen</a:t>
            </a:r>
            <a:r>
              <a:rPr lang="en-US" dirty="0"/>
              <a:t> in loop</a:t>
            </a:r>
          </a:p>
        </p:txBody>
      </p:sp>
      <p:sp>
        <p:nvSpPr>
          <p:cNvPr id="11" name="Rectangle 2"/>
          <p:cNvSpPr>
            <a:spLocks noChangeArrowheads="1"/>
          </p:cNvSpPr>
          <p:nvPr/>
        </p:nvSpPr>
        <p:spPr bwMode="auto">
          <a:xfrm>
            <a:off x="642471" y="1780988"/>
            <a:ext cx="7746039" cy="2859757"/>
          </a:xfrm>
          <a:prstGeom prst="rect">
            <a:avLst/>
          </a:prstGeom>
          <a:noFill/>
          <a:ln w="38100" cmpd="dbl">
            <a:solidFill>
              <a:srgbClr val="FFFFFF"/>
            </a:solidFill>
            <a:miter lim="800000"/>
            <a:headEnd/>
            <a:tailEnd/>
          </a:ln>
        </p:spPr>
        <p:txBody>
          <a:bodyPr wrap="square" lIns="90487" tIns="44450" rIns="90487" bIns="44450">
            <a:spAutoFit/>
          </a:bodyPr>
          <a:lstStyle/>
          <a:p>
            <a:pPr algn="l"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2000" dirty="0">
                <a:latin typeface="Consolas"/>
                <a:cs typeface="Consolas"/>
              </a:rPr>
              <a:t>// convert uppercase letters in string to lowercase</a:t>
            </a:r>
          </a:p>
          <a:p>
            <a:pPr algn="l"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2000" dirty="0">
                <a:latin typeface="Consolas"/>
                <a:cs typeface="Consolas"/>
              </a:rPr>
              <a:t>void lower(char *s) {</a:t>
            </a:r>
          </a:p>
          <a:p>
            <a:pPr algn="l"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2000" dirty="0">
                <a:solidFill>
                  <a:srgbClr val="3366FF"/>
                </a:solidFill>
                <a:latin typeface="Consolas"/>
                <a:cs typeface="Consolas"/>
              </a:rPr>
              <a:t>   </a:t>
            </a:r>
            <a:r>
              <a:rPr lang="en-US" sz="2000" dirty="0" err="1">
                <a:solidFill>
                  <a:srgbClr val="3366FF"/>
                </a:solidFill>
                <a:latin typeface="Consolas"/>
                <a:cs typeface="Consolas"/>
              </a:rPr>
              <a:t>size_t</a:t>
            </a:r>
            <a:r>
              <a:rPr lang="en-US" sz="2000" dirty="0">
                <a:solidFill>
                  <a:srgbClr val="3366FF"/>
                </a:solidFill>
                <a:latin typeface="Consolas"/>
                <a:cs typeface="Consolas"/>
              </a:rPr>
              <a:t> </a:t>
            </a:r>
            <a:r>
              <a:rPr lang="en-US" sz="2000" dirty="0" err="1">
                <a:solidFill>
                  <a:srgbClr val="3366FF"/>
                </a:solidFill>
                <a:latin typeface="Consolas"/>
                <a:cs typeface="Consolas"/>
              </a:rPr>
              <a:t>len</a:t>
            </a:r>
            <a:r>
              <a:rPr lang="en-US" sz="2000" dirty="0">
                <a:solidFill>
                  <a:srgbClr val="3366FF"/>
                </a:solidFill>
                <a:latin typeface="Consolas"/>
                <a:cs typeface="Consolas"/>
              </a:rPr>
              <a:t> = </a:t>
            </a:r>
            <a:r>
              <a:rPr lang="en-US" sz="2000" dirty="0" err="1">
                <a:solidFill>
                  <a:srgbClr val="3366FF"/>
                </a:solidFill>
                <a:latin typeface="Consolas"/>
                <a:cs typeface="Consolas"/>
              </a:rPr>
              <a:t>strlen</a:t>
            </a:r>
            <a:r>
              <a:rPr lang="en-US" sz="2000" dirty="0">
                <a:solidFill>
                  <a:srgbClr val="3366FF"/>
                </a:solidFill>
                <a:latin typeface="Consolas"/>
                <a:cs typeface="Consolas"/>
              </a:rPr>
              <a:t>(s);</a:t>
            </a:r>
          </a:p>
          <a:p>
            <a:pPr algn="l"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2000" dirty="0">
                <a:latin typeface="Consolas"/>
                <a:cs typeface="Consolas"/>
              </a:rPr>
              <a:t>   for (</a:t>
            </a:r>
            <a:r>
              <a:rPr lang="en-US" sz="2000" dirty="0" err="1">
                <a:latin typeface="Consolas"/>
                <a:cs typeface="Consolas"/>
              </a:rPr>
              <a:t>size_t</a:t>
            </a:r>
            <a:r>
              <a:rPr lang="en-US" sz="2000" dirty="0">
                <a:latin typeface="Consolas"/>
                <a:cs typeface="Consolas"/>
              </a:rPr>
              <a:t> </a:t>
            </a:r>
            <a:r>
              <a:rPr lang="en-US" sz="2000" dirty="0" err="1">
                <a:latin typeface="Consolas"/>
                <a:cs typeface="Consolas"/>
              </a:rPr>
              <a:t>i</a:t>
            </a:r>
            <a:r>
              <a:rPr lang="en-US" sz="2000" dirty="0">
                <a:latin typeface="Consolas"/>
                <a:cs typeface="Consolas"/>
              </a:rPr>
              <a:t>=0; </a:t>
            </a:r>
            <a:r>
              <a:rPr lang="en-US" sz="2000" dirty="0" err="1">
                <a:latin typeface="Consolas"/>
                <a:cs typeface="Consolas"/>
              </a:rPr>
              <a:t>i</a:t>
            </a:r>
            <a:r>
              <a:rPr lang="en-US" sz="2000" dirty="0">
                <a:latin typeface="Consolas"/>
                <a:cs typeface="Consolas"/>
              </a:rPr>
              <a:t>&lt;</a:t>
            </a:r>
            <a:r>
              <a:rPr lang="en-US" sz="2000" dirty="0" err="1">
                <a:solidFill>
                  <a:srgbClr val="3366FF"/>
                </a:solidFill>
                <a:latin typeface="Consolas"/>
                <a:cs typeface="Consolas"/>
              </a:rPr>
              <a:t>len</a:t>
            </a:r>
            <a:r>
              <a:rPr lang="en-US" sz="2000" dirty="0">
                <a:latin typeface="Consolas"/>
                <a:cs typeface="Consolas"/>
              </a:rPr>
              <a:t>; </a:t>
            </a:r>
            <a:r>
              <a:rPr lang="en-US" sz="2000" dirty="0" err="1">
                <a:latin typeface="Consolas"/>
                <a:cs typeface="Consolas"/>
              </a:rPr>
              <a:t>i</a:t>
            </a:r>
            <a:r>
              <a:rPr lang="en-US" sz="2000" dirty="0">
                <a:latin typeface="Consolas"/>
                <a:cs typeface="Consolas"/>
              </a:rPr>
              <a:t>++) {</a:t>
            </a:r>
          </a:p>
          <a:p>
            <a:pPr algn="l"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2000" dirty="0">
                <a:latin typeface="Consolas"/>
                <a:cs typeface="Consolas"/>
              </a:rPr>
              <a:t>      if (s[</a:t>
            </a:r>
            <a:r>
              <a:rPr lang="en-US" sz="2000" dirty="0" err="1">
                <a:latin typeface="Consolas"/>
                <a:cs typeface="Consolas"/>
              </a:rPr>
              <a:t>i</a:t>
            </a:r>
            <a:r>
              <a:rPr lang="en-US" sz="2000" dirty="0">
                <a:latin typeface="Consolas"/>
                <a:cs typeface="Consolas"/>
              </a:rPr>
              <a:t>] &gt;= 'A' &amp;&amp; s[</a:t>
            </a:r>
            <a:r>
              <a:rPr lang="en-US" sz="2000" dirty="0" err="1">
                <a:latin typeface="Consolas"/>
                <a:cs typeface="Consolas"/>
              </a:rPr>
              <a:t>i</a:t>
            </a:r>
            <a:r>
              <a:rPr lang="en-US" sz="2000" dirty="0">
                <a:latin typeface="Consolas"/>
                <a:cs typeface="Consolas"/>
              </a:rPr>
              <a:t>] &lt;= 'Z') {</a:t>
            </a:r>
          </a:p>
          <a:p>
            <a:pPr algn="l"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2000" dirty="0">
                <a:latin typeface="Consolas"/>
                <a:cs typeface="Consolas"/>
              </a:rPr>
              <a:t>         s[</a:t>
            </a:r>
            <a:r>
              <a:rPr lang="en-US" sz="2000" dirty="0" err="1">
                <a:latin typeface="Consolas"/>
                <a:cs typeface="Consolas"/>
              </a:rPr>
              <a:t>i</a:t>
            </a:r>
            <a:r>
              <a:rPr lang="en-US" sz="2000" dirty="0">
                <a:latin typeface="Consolas"/>
                <a:cs typeface="Consolas"/>
              </a:rPr>
              <a:t>] -= ('A' - 'a');</a:t>
            </a:r>
          </a:p>
          <a:p>
            <a:pPr algn="l"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2000" dirty="0">
                <a:latin typeface="Consolas"/>
                <a:cs typeface="Consolas"/>
              </a:rPr>
              <a:t>      }</a:t>
            </a:r>
          </a:p>
          <a:p>
            <a:pPr algn="l"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2000" dirty="0">
                <a:latin typeface="Consolas"/>
                <a:cs typeface="Consolas"/>
              </a:rPr>
              <a:t>   }</a:t>
            </a:r>
          </a:p>
          <a:p>
            <a:pPr algn="l">
              <a:lnSpc>
                <a:spcPct val="100000"/>
              </a:lnSpc>
              <a:tabLst>
                <a:tab pos="914400" algn="l"/>
                <a:tab pos="2286000" algn="l"/>
              </a:tabLst>
            </a:pPr>
            <a:r>
              <a:rPr lang="en-US" sz="2000" dirty="0">
                <a:latin typeface="Consolas"/>
                <a:cs typeface="Consolas"/>
              </a:rPr>
              <a:t>}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36FEECE-CC2F-4C45-9F6D-01F5EAE82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92C60-C071-3249-9DBB-404B1D195F8C}" type="slidenum">
              <a:rPr lang="en-US" smtClean="0"/>
              <a:t>14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EB7CAF-4F78-458D-B88F-82C082898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235728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334963"/>
            <a:ext cx="8763000" cy="573087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/>
              <a:t>Lower Case Conversion Performance</a:t>
            </a:r>
          </a:p>
        </p:txBody>
      </p:sp>
      <p:sp>
        <p:nvSpPr>
          <p:cNvPr id="20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90513" y="1220788"/>
            <a:ext cx="8307387" cy="906462"/>
          </a:xfrm>
        </p:spPr>
        <p:txBody>
          <a:bodyPr>
            <a:normAutofit/>
          </a:bodyPr>
          <a:lstStyle/>
          <a:p>
            <a:pPr lvl="1" eaLnBrk="1" hangingPunct="1"/>
            <a:r>
              <a:rPr lang="en-US" dirty="0"/>
              <a:t>Now performance is linear w/ length, as expected</a:t>
            </a:r>
          </a:p>
        </p:txBody>
      </p:sp>
      <p:grpSp>
        <p:nvGrpSpPr>
          <p:cNvPr id="14" name="Group 13"/>
          <p:cNvGrpSpPr>
            <a:grpSpLocks/>
          </p:cNvGrpSpPr>
          <p:nvPr/>
        </p:nvGrpSpPr>
        <p:grpSpPr bwMode="auto">
          <a:xfrm>
            <a:off x="469900" y="2620246"/>
            <a:ext cx="8128000" cy="3441700"/>
            <a:chOff x="0" y="0"/>
            <a:chExt cx="773" cy="383"/>
          </a:xfrm>
        </p:grpSpPr>
        <p:graphicFrame>
          <p:nvGraphicFramePr>
            <p:cNvPr id="15" name="Chart 14"/>
            <p:cNvGraphicFramePr>
              <a:graphicFrameLocks/>
            </p:cNvGraphicFramePr>
            <p:nvPr/>
          </p:nvGraphicFramePr>
          <p:xfrm>
            <a:off x="0" y="0"/>
            <a:ext cx="773" cy="38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16" name="Text Box 10"/>
            <p:cNvSpPr txBox="1">
              <a:spLocks noChangeArrowheads="1"/>
            </p:cNvSpPr>
            <p:nvPr/>
          </p:nvSpPr>
          <p:spPr bwMode="auto">
            <a:xfrm>
              <a:off x="488" y="141"/>
              <a:ext cx="56" cy="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27432" tIns="27432" rIns="0" bIns="0" anchor="t" upright="1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l" rtl="0">
                <a:defRPr sz="1000"/>
              </a:pPr>
              <a:r>
                <a:rPr lang="en-US" sz="1200" b="0" i="0" strike="noStrike" dirty="0">
                  <a:solidFill>
                    <a:srgbClr val="000000"/>
                  </a:solidFill>
                  <a:latin typeface="Courier New"/>
                  <a:cs typeface="Courier New"/>
                </a:rPr>
                <a:t>lower1</a:t>
              </a:r>
            </a:p>
          </p:txBody>
        </p:sp>
        <p:sp>
          <p:nvSpPr>
            <p:cNvPr id="17" name="Text Box 11"/>
            <p:cNvSpPr txBox="1">
              <a:spLocks noChangeArrowheads="1"/>
            </p:cNvSpPr>
            <p:nvPr/>
          </p:nvSpPr>
          <p:spPr bwMode="auto">
            <a:xfrm>
              <a:off x="467" y="269"/>
              <a:ext cx="56" cy="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27432" tIns="27432" rIns="0" bIns="0" anchor="t" upright="1">
              <a:spAutoFit/>
            </a:bodyPr>
            <a:lstStyle>
              <a:lvl1pPr marL="0" indent="0">
                <a:defRPr sz="1100"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latin typeface="+mn-lt"/>
                  <a:ea typeface="+mn-ea"/>
                  <a:cs typeface="+mn-cs"/>
                </a:defRPr>
              </a:lvl9pPr>
            </a:lstStyle>
            <a:p>
              <a:pPr algn="l" rtl="0">
                <a:defRPr sz="1000"/>
              </a:pPr>
              <a:r>
                <a:rPr lang="en-US" sz="1200" b="0" i="0" strike="noStrike" dirty="0">
                  <a:solidFill>
                    <a:srgbClr val="000000"/>
                  </a:solidFill>
                  <a:latin typeface="Courier New"/>
                  <a:cs typeface="Courier New"/>
                </a:rPr>
                <a:t>lower2</a:t>
              </a: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3285FA-49A0-490B-B541-5DF333AC9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92C60-C071-3249-9DBB-404B1D195F8C}" type="slidenum">
              <a:rPr lang="en-US" smtClean="0"/>
              <a:t>15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2AF5D7-0FF0-4CA7-BB0F-318088601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174521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434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591344"/>
            <a:ext cx="8839200" cy="573088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Optimization obstacle: </a:t>
            </a:r>
            <a:br>
              <a:rPr lang="en-US" dirty="0"/>
            </a:br>
            <a:r>
              <a:rPr lang="en-US" dirty="0"/>
              <a:t>Procedure Calls</a:t>
            </a:r>
          </a:p>
        </p:txBody>
      </p:sp>
      <p:sp>
        <p:nvSpPr>
          <p:cNvPr id="402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677894"/>
            <a:ext cx="9532471" cy="5410200"/>
          </a:xfrm>
        </p:spPr>
        <p:txBody>
          <a:bodyPr lIns="90487" tIns="44450" rIns="90487" bIns="44450">
            <a:normAutofit/>
          </a:bodyPr>
          <a:lstStyle/>
          <a:p>
            <a:pPr eaLnBrk="1" hangingPunct="1">
              <a:defRPr/>
            </a:pPr>
            <a:r>
              <a:rPr lang="en-US" dirty="0"/>
              <a:t>Why can’t compiler move </a:t>
            </a:r>
            <a:r>
              <a:rPr lang="en-US" dirty="0" err="1">
                <a:latin typeface="Courier New" pitchFamily="49" charset="0"/>
              </a:rPr>
              <a:t>strlen</a:t>
            </a:r>
            <a:r>
              <a:rPr lang="en-US" dirty="0"/>
              <a:t> out of  inner loop?</a:t>
            </a:r>
          </a:p>
          <a:p>
            <a:pPr lvl="1" eaLnBrk="1" hangingPunct="1">
              <a:defRPr/>
            </a:pPr>
            <a:r>
              <a:rPr lang="en-US" dirty="0"/>
              <a:t>Procedure may have side effects</a:t>
            </a:r>
          </a:p>
          <a:p>
            <a:pPr lvl="2" eaLnBrk="1" hangingPunct="1">
              <a:defRPr/>
            </a:pPr>
            <a:r>
              <a:rPr lang="en-US" dirty="0"/>
              <a:t>May alter global state</a:t>
            </a:r>
          </a:p>
          <a:p>
            <a:pPr lvl="1" eaLnBrk="1" hangingPunct="1">
              <a:defRPr/>
            </a:pPr>
            <a:r>
              <a:rPr lang="en-US" dirty="0"/>
              <a:t>Procedure may not return same value given same arguments</a:t>
            </a:r>
          </a:p>
          <a:p>
            <a:pPr lvl="2" eaLnBrk="1" hangingPunct="1">
              <a:defRPr/>
            </a:pPr>
            <a:r>
              <a:rPr lang="en-US" dirty="0"/>
              <a:t>May depend on global state</a:t>
            </a:r>
          </a:p>
          <a:p>
            <a:pPr eaLnBrk="1" hangingPunct="1">
              <a:defRPr/>
            </a:pPr>
            <a:r>
              <a:rPr lang="en-US" dirty="0">
                <a:solidFill>
                  <a:srgbClr val="FF0000"/>
                </a:solidFill>
              </a:rPr>
              <a:t>Compiler optimization is conservative:</a:t>
            </a:r>
          </a:p>
          <a:p>
            <a:pPr lvl="1" eaLnBrk="1" hangingPunct="1">
              <a:defRPr/>
            </a:pPr>
            <a:r>
              <a:rPr lang="en-US" dirty="0"/>
              <a:t>Typically treat procedure call as a black box</a:t>
            </a:r>
          </a:p>
          <a:p>
            <a:pPr lvl="1" eaLnBrk="1" hangingPunct="1">
              <a:defRPr/>
            </a:pPr>
            <a:r>
              <a:rPr lang="en-US" dirty="0"/>
              <a:t>Weak optimizations near them</a:t>
            </a:r>
          </a:p>
          <a:p>
            <a:pPr eaLnBrk="1" hangingPunct="1">
              <a:defRPr/>
            </a:pPr>
            <a:r>
              <a:rPr lang="en-US" dirty="0"/>
              <a:t>Remedy:</a:t>
            </a:r>
          </a:p>
          <a:p>
            <a:pPr lvl="1" eaLnBrk="1" hangingPunct="1">
              <a:defRPr/>
            </a:pPr>
            <a:r>
              <a:rPr lang="en-US" dirty="0"/>
              <a:t>Do your own code motion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B3B10CD-2D0C-410F-AA2A-9DB5C22B1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92C60-C071-3249-9DBB-404B1D195F8C}" type="slidenum">
              <a:rPr lang="en-US" smtClean="0"/>
              <a:t>16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51E5A81-92BA-4740-8B09-F677CE5F4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003533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146" name="Rectangle 2"/>
          <p:cNvSpPr>
            <a:spLocks noGrp="1" noChangeArrowheads="1"/>
          </p:cNvSpPr>
          <p:nvPr>
            <p:ph type="title"/>
          </p:nvPr>
        </p:nvSpPr>
        <p:spPr>
          <a:xfrm>
            <a:off x="485107" y="304800"/>
            <a:ext cx="7592093" cy="762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Optimization obstacle 2:</a:t>
            </a:r>
            <a:br>
              <a:rPr lang="en-US" dirty="0"/>
            </a:br>
            <a:r>
              <a:rPr lang="en-US" dirty="0"/>
              <a:t>Memory aliasing</a:t>
            </a:r>
          </a:p>
        </p:txBody>
      </p:sp>
      <p:sp>
        <p:nvSpPr>
          <p:cNvPr id="18435" name="Rectangle 9"/>
          <p:cNvSpPr>
            <a:spLocks noGrp="1" noChangeArrowheads="1"/>
          </p:cNvSpPr>
          <p:nvPr>
            <p:ph type="body" idx="1"/>
          </p:nvPr>
        </p:nvSpPr>
        <p:spPr>
          <a:xfrm>
            <a:off x="5081334" y="3742119"/>
            <a:ext cx="4062666" cy="2772592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n-US" dirty="0"/>
              <a:t>Code updates </a:t>
            </a:r>
            <a:r>
              <a:rPr lang="en-US" dirty="0">
                <a:solidFill>
                  <a:srgbClr val="3366FF"/>
                </a:solidFill>
              </a:rPr>
              <a:t>*result </a:t>
            </a:r>
            <a:r>
              <a:rPr lang="en-US" dirty="0"/>
              <a:t>on every iteration</a:t>
            </a:r>
          </a:p>
          <a:p>
            <a:pPr marL="457200" lvl="1" indent="0" eaLnBrk="1" hangingPunct="1">
              <a:buNone/>
            </a:pPr>
            <a:endParaRPr lang="en-US" dirty="0"/>
          </a:p>
          <a:p>
            <a:pPr marL="514350" indent="-457200"/>
            <a:r>
              <a:rPr lang="en-US" dirty="0"/>
              <a:t>Why not keep sum in a register and write once at the end?</a:t>
            </a:r>
          </a:p>
        </p:txBody>
      </p:sp>
      <p:sp>
        <p:nvSpPr>
          <p:cNvPr id="18436" name="Rectangle 3"/>
          <p:cNvSpPr>
            <a:spLocks noChangeArrowheads="1"/>
          </p:cNvSpPr>
          <p:nvPr/>
        </p:nvSpPr>
        <p:spPr bwMode="auto">
          <a:xfrm>
            <a:off x="485107" y="3755725"/>
            <a:ext cx="4132541" cy="27982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57150" cmpd="thickThin">
            <a:solidFill>
              <a:schemeClr val="tx1"/>
            </a:solidFill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r>
              <a:rPr lang="en-US" sz="1600" dirty="0">
                <a:latin typeface="Consolas"/>
                <a:cs typeface="Consolas"/>
              </a:rPr>
              <a:t>        </a:t>
            </a:r>
            <a:r>
              <a:rPr lang="en-US" sz="1600" dirty="0" err="1">
                <a:latin typeface="Consolas"/>
                <a:cs typeface="Consolas"/>
              </a:rPr>
              <a:t>movq</a:t>
            </a:r>
            <a:r>
              <a:rPr lang="en-US" sz="1600" dirty="0">
                <a:latin typeface="Consolas"/>
                <a:cs typeface="Consolas"/>
              </a:rPr>
              <a:t>    $0, (%</a:t>
            </a:r>
            <a:r>
              <a:rPr lang="en-US" sz="1600" dirty="0" err="1">
                <a:latin typeface="Consolas"/>
                <a:cs typeface="Consolas"/>
              </a:rPr>
              <a:t>rdx</a:t>
            </a:r>
            <a:r>
              <a:rPr lang="en-US" sz="1600" dirty="0">
                <a:latin typeface="Consolas"/>
                <a:cs typeface="Consolas"/>
              </a:rPr>
              <a:t>)</a:t>
            </a:r>
          </a:p>
          <a:p>
            <a:r>
              <a:rPr lang="cs-CZ" sz="1600" dirty="0">
                <a:latin typeface="Consolas"/>
                <a:cs typeface="Consolas"/>
              </a:rPr>
              <a:t>        </a:t>
            </a:r>
            <a:r>
              <a:rPr lang="cs-CZ" sz="1600" dirty="0" err="1">
                <a:latin typeface="Consolas"/>
                <a:cs typeface="Consolas"/>
              </a:rPr>
              <a:t>movl</a:t>
            </a:r>
            <a:r>
              <a:rPr lang="cs-CZ" sz="1600" dirty="0">
                <a:latin typeface="Consolas"/>
                <a:cs typeface="Consolas"/>
              </a:rPr>
              <a:t>    $0, %</a:t>
            </a:r>
            <a:r>
              <a:rPr lang="cs-CZ" sz="1600" dirty="0" err="1">
                <a:latin typeface="Consolas"/>
                <a:cs typeface="Consolas"/>
              </a:rPr>
              <a:t>eax</a:t>
            </a:r>
            <a:endParaRPr lang="cs-CZ" sz="1600" dirty="0">
              <a:latin typeface="Consolas"/>
              <a:cs typeface="Consolas"/>
            </a:endParaRPr>
          </a:p>
          <a:p>
            <a:r>
              <a:rPr lang="cs-CZ" sz="1600" dirty="0">
                <a:latin typeface="Consolas"/>
                <a:cs typeface="Consolas"/>
              </a:rPr>
              <a:t>        </a:t>
            </a:r>
            <a:r>
              <a:rPr lang="cs-CZ" sz="1600" dirty="0" err="1">
                <a:latin typeface="Consolas"/>
                <a:cs typeface="Consolas"/>
              </a:rPr>
              <a:t>jmp</a:t>
            </a:r>
            <a:r>
              <a:rPr lang="cs-CZ" sz="1600" dirty="0">
                <a:latin typeface="Consolas"/>
                <a:cs typeface="Consolas"/>
              </a:rPr>
              <a:t>     .L2</a:t>
            </a:r>
          </a:p>
          <a:p>
            <a:r>
              <a:rPr lang="cs-CZ" sz="1600" dirty="0">
                <a:latin typeface="Consolas"/>
                <a:cs typeface="Consolas"/>
              </a:rPr>
              <a:t>.L3:</a:t>
            </a:r>
          </a:p>
          <a:p>
            <a:r>
              <a:rPr lang="en-US" sz="1600" dirty="0">
                <a:latin typeface="Consolas"/>
                <a:cs typeface="Consolas"/>
              </a:rPr>
              <a:t>        </a:t>
            </a:r>
            <a:r>
              <a:rPr lang="en-US" sz="1600" dirty="0" err="1">
                <a:latin typeface="Consolas"/>
                <a:cs typeface="Consolas"/>
              </a:rPr>
              <a:t>movq</a:t>
            </a:r>
            <a:r>
              <a:rPr lang="en-US" sz="1600" dirty="0">
                <a:latin typeface="Consolas"/>
                <a:cs typeface="Consolas"/>
              </a:rPr>
              <a:t>    (%rdi,%rax,8), %</a:t>
            </a:r>
            <a:r>
              <a:rPr lang="en-US" sz="1600" dirty="0" err="1">
                <a:latin typeface="Consolas"/>
                <a:cs typeface="Consolas"/>
              </a:rPr>
              <a:t>rcx</a:t>
            </a:r>
            <a:endParaRPr lang="en-US" sz="1600" dirty="0">
              <a:latin typeface="Consolas"/>
              <a:cs typeface="Consolas"/>
            </a:endParaRPr>
          </a:p>
          <a:p>
            <a:r>
              <a:rPr lang="en-US" sz="1600" dirty="0">
                <a:latin typeface="Consolas"/>
                <a:cs typeface="Consolas"/>
              </a:rPr>
              <a:t>        </a:t>
            </a:r>
            <a:r>
              <a:rPr lang="en-US" sz="1600" dirty="0" err="1">
                <a:latin typeface="Consolas"/>
                <a:cs typeface="Consolas"/>
              </a:rPr>
              <a:t>addq</a:t>
            </a:r>
            <a:r>
              <a:rPr lang="en-US" sz="1600" dirty="0">
                <a:latin typeface="Consolas"/>
                <a:cs typeface="Consolas"/>
              </a:rPr>
              <a:t>    %</a:t>
            </a:r>
            <a:r>
              <a:rPr lang="en-US" sz="1600" dirty="0" err="1">
                <a:latin typeface="Consolas"/>
                <a:cs typeface="Consolas"/>
              </a:rPr>
              <a:t>rcx</a:t>
            </a:r>
            <a:r>
              <a:rPr lang="en-US" sz="1600" dirty="0">
                <a:latin typeface="Consolas"/>
                <a:cs typeface="Consolas"/>
              </a:rPr>
              <a:t>, (%</a:t>
            </a:r>
            <a:r>
              <a:rPr lang="en-US" sz="1600" dirty="0" err="1">
                <a:latin typeface="Consolas"/>
                <a:cs typeface="Consolas"/>
              </a:rPr>
              <a:t>rdx</a:t>
            </a:r>
            <a:r>
              <a:rPr lang="en-US" sz="1600" dirty="0">
                <a:latin typeface="Consolas"/>
                <a:cs typeface="Consolas"/>
              </a:rPr>
              <a:t>)</a:t>
            </a:r>
          </a:p>
          <a:p>
            <a:r>
              <a:rPr lang="en-US" sz="1600" dirty="0">
                <a:latin typeface="Consolas"/>
                <a:cs typeface="Consolas"/>
              </a:rPr>
              <a:t>        </a:t>
            </a:r>
            <a:r>
              <a:rPr lang="en-US" sz="1600" dirty="0" err="1">
                <a:latin typeface="Consolas"/>
                <a:cs typeface="Consolas"/>
              </a:rPr>
              <a:t>addq</a:t>
            </a:r>
            <a:r>
              <a:rPr lang="en-US" sz="1600" dirty="0">
                <a:latin typeface="Consolas"/>
                <a:cs typeface="Consolas"/>
              </a:rPr>
              <a:t>    $1, %</a:t>
            </a:r>
            <a:r>
              <a:rPr lang="en-US" sz="1600" dirty="0" err="1">
                <a:latin typeface="Consolas"/>
                <a:cs typeface="Consolas"/>
              </a:rPr>
              <a:t>rax</a:t>
            </a:r>
            <a:endParaRPr lang="en-US" sz="1600" dirty="0">
              <a:latin typeface="Consolas"/>
              <a:cs typeface="Consolas"/>
            </a:endParaRPr>
          </a:p>
          <a:p>
            <a:r>
              <a:rPr lang="en-US" sz="1600" dirty="0">
                <a:latin typeface="Consolas"/>
                <a:cs typeface="Consolas"/>
              </a:rPr>
              <a:t>.L2:</a:t>
            </a:r>
          </a:p>
          <a:p>
            <a:r>
              <a:rPr lang="en-US" sz="1600" dirty="0">
                <a:latin typeface="Consolas"/>
                <a:cs typeface="Consolas"/>
              </a:rPr>
              <a:t>        </a:t>
            </a:r>
            <a:r>
              <a:rPr lang="en-US" sz="1600" dirty="0" err="1">
                <a:latin typeface="Consolas"/>
                <a:cs typeface="Consolas"/>
              </a:rPr>
              <a:t>cmpq</a:t>
            </a:r>
            <a:r>
              <a:rPr lang="en-US" sz="1600" dirty="0">
                <a:latin typeface="Consolas"/>
                <a:cs typeface="Consolas"/>
              </a:rPr>
              <a:t>    %</a:t>
            </a:r>
            <a:r>
              <a:rPr lang="en-US" sz="1600" dirty="0" err="1">
                <a:latin typeface="Consolas"/>
                <a:cs typeface="Consolas"/>
              </a:rPr>
              <a:t>rsi</a:t>
            </a:r>
            <a:r>
              <a:rPr lang="en-US" sz="1600" dirty="0">
                <a:latin typeface="Consolas"/>
                <a:cs typeface="Consolas"/>
              </a:rPr>
              <a:t>, %</a:t>
            </a:r>
            <a:r>
              <a:rPr lang="en-US" sz="1600" dirty="0" err="1">
                <a:latin typeface="Consolas"/>
                <a:cs typeface="Consolas"/>
              </a:rPr>
              <a:t>rax</a:t>
            </a:r>
            <a:endParaRPr lang="en-US" sz="1600" dirty="0">
              <a:latin typeface="Consolas"/>
              <a:cs typeface="Consolas"/>
            </a:endParaRPr>
          </a:p>
          <a:p>
            <a:r>
              <a:rPr lang="nl-NL" sz="1600" dirty="0">
                <a:latin typeface="Consolas"/>
                <a:cs typeface="Consolas"/>
              </a:rPr>
              <a:t>        </a:t>
            </a:r>
            <a:r>
              <a:rPr lang="nl-NL" sz="1600" dirty="0" err="1">
                <a:latin typeface="Consolas"/>
                <a:cs typeface="Consolas"/>
              </a:rPr>
              <a:t>jl</a:t>
            </a:r>
            <a:r>
              <a:rPr lang="nl-NL" sz="1600" dirty="0">
                <a:latin typeface="Consolas"/>
                <a:cs typeface="Consolas"/>
              </a:rPr>
              <a:t>      .L3</a:t>
            </a:r>
          </a:p>
          <a:p>
            <a:r>
              <a:rPr lang="nl-NL" sz="1600" dirty="0">
                <a:latin typeface="Consolas"/>
                <a:cs typeface="Consolas"/>
              </a:rPr>
              <a:t>        </a:t>
            </a:r>
            <a:r>
              <a:rPr lang="nl-NL" sz="1600" dirty="0" err="1">
                <a:latin typeface="Consolas"/>
                <a:cs typeface="Consolas"/>
              </a:rPr>
              <a:t>ret</a:t>
            </a:r>
            <a:endParaRPr lang="en-US" sz="1600" dirty="0">
              <a:latin typeface="Consolas"/>
              <a:cs typeface="Consolas"/>
            </a:endParaRPr>
          </a:p>
        </p:txBody>
      </p:sp>
      <p:sp>
        <p:nvSpPr>
          <p:cNvPr id="18438" name="Rectangle 7"/>
          <p:cNvSpPr>
            <a:spLocks noChangeArrowheads="1"/>
          </p:cNvSpPr>
          <p:nvPr/>
        </p:nvSpPr>
        <p:spPr bwMode="auto">
          <a:xfrm>
            <a:off x="984765" y="1299868"/>
            <a:ext cx="5964322" cy="2244204"/>
          </a:xfrm>
          <a:prstGeom prst="rect">
            <a:avLst/>
          </a:prstGeom>
          <a:noFill/>
          <a:ln w="57150" cmpd="thickThin">
            <a:noFill/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sz="2000" dirty="0">
                <a:latin typeface="Consolas"/>
                <a:cs typeface="Consolas"/>
              </a:rPr>
              <a:t>//sum all elements of the array “a”</a:t>
            </a:r>
          </a:p>
          <a:p>
            <a:pPr algn="l">
              <a:lnSpc>
                <a:spcPct val="100000"/>
              </a:lnSpc>
            </a:pPr>
            <a:r>
              <a:rPr lang="en-US" sz="2000" dirty="0">
                <a:latin typeface="Consolas"/>
                <a:cs typeface="Consolas"/>
              </a:rPr>
              <a:t>void sum(long *a, long n, long *result) {</a:t>
            </a:r>
          </a:p>
          <a:p>
            <a:pPr algn="l">
              <a:lnSpc>
                <a:spcPct val="100000"/>
              </a:lnSpc>
            </a:pPr>
            <a:r>
              <a:rPr lang="en-US" sz="2000" dirty="0">
                <a:latin typeface="Consolas"/>
                <a:cs typeface="Consolas"/>
              </a:rPr>
              <a:t>    *result = 0;</a:t>
            </a:r>
          </a:p>
          <a:p>
            <a:pPr algn="l">
              <a:lnSpc>
                <a:spcPct val="100000"/>
              </a:lnSpc>
            </a:pPr>
            <a:r>
              <a:rPr lang="en-US" sz="2000" dirty="0">
                <a:latin typeface="Consolas"/>
                <a:cs typeface="Consolas"/>
              </a:rPr>
              <a:t>    for (long </a:t>
            </a:r>
            <a:r>
              <a:rPr lang="en-US" sz="2000" dirty="0" err="1">
                <a:latin typeface="Consolas"/>
                <a:cs typeface="Consolas"/>
              </a:rPr>
              <a:t>i</a:t>
            </a:r>
            <a:r>
              <a:rPr lang="en-US" sz="2000" dirty="0">
                <a:latin typeface="Consolas"/>
                <a:cs typeface="Consolas"/>
              </a:rPr>
              <a:t> = 0; </a:t>
            </a:r>
            <a:r>
              <a:rPr lang="en-US" sz="2000" dirty="0" err="1">
                <a:latin typeface="Consolas"/>
                <a:cs typeface="Consolas"/>
              </a:rPr>
              <a:t>i</a:t>
            </a:r>
            <a:r>
              <a:rPr lang="en-US" sz="2000" dirty="0">
                <a:latin typeface="Consolas"/>
                <a:cs typeface="Consolas"/>
              </a:rPr>
              <a:t> &lt; n; </a:t>
            </a:r>
            <a:r>
              <a:rPr lang="en-US" sz="2000" dirty="0" err="1">
                <a:latin typeface="Consolas"/>
                <a:cs typeface="Consolas"/>
              </a:rPr>
              <a:t>i</a:t>
            </a:r>
            <a:r>
              <a:rPr lang="en-US" sz="2000" dirty="0">
                <a:latin typeface="Consolas"/>
                <a:cs typeface="Consolas"/>
              </a:rPr>
              <a:t>++) {</a:t>
            </a:r>
          </a:p>
          <a:p>
            <a:pPr algn="l">
              <a:lnSpc>
                <a:spcPct val="100000"/>
              </a:lnSpc>
            </a:pPr>
            <a:r>
              <a:rPr lang="en-US" sz="2000" dirty="0">
                <a:latin typeface="Consolas"/>
                <a:cs typeface="Consolas"/>
              </a:rPr>
              <a:t>         (*result) += a[</a:t>
            </a:r>
            <a:r>
              <a:rPr lang="en-US" sz="2000" dirty="0" err="1">
                <a:latin typeface="Consolas"/>
                <a:cs typeface="Consolas"/>
              </a:rPr>
              <a:t>i</a:t>
            </a:r>
            <a:r>
              <a:rPr lang="en-US" sz="2000" dirty="0">
                <a:latin typeface="Consolas"/>
                <a:cs typeface="Consolas"/>
              </a:rPr>
              <a:t>];</a:t>
            </a:r>
          </a:p>
          <a:p>
            <a:pPr algn="l">
              <a:lnSpc>
                <a:spcPct val="100000"/>
              </a:lnSpc>
            </a:pPr>
            <a:r>
              <a:rPr lang="en-US" sz="2000" dirty="0">
                <a:latin typeface="Consolas"/>
                <a:cs typeface="Consolas"/>
              </a:rPr>
              <a:t>    }</a:t>
            </a:r>
          </a:p>
          <a:p>
            <a:pPr algn="l">
              <a:lnSpc>
                <a:spcPct val="100000"/>
              </a:lnSpc>
            </a:pPr>
            <a:r>
              <a:rPr lang="en-US" sz="2000" dirty="0">
                <a:latin typeface="Consolas"/>
                <a:cs typeface="Consolas"/>
              </a:rPr>
              <a:t>}</a:t>
            </a:r>
          </a:p>
        </p:txBody>
      </p:sp>
      <p:cxnSp>
        <p:nvCxnSpPr>
          <p:cNvPr id="3" name="Straight Arrow Connector 2"/>
          <p:cNvCxnSpPr/>
          <p:nvPr/>
        </p:nvCxnSpPr>
        <p:spPr>
          <a:xfrm flipH="1">
            <a:off x="3934069" y="4321586"/>
            <a:ext cx="1347496" cy="83312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7001CEB-9CAF-4FBE-9F7A-44A979B3D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92C60-C071-3249-9DBB-404B1D195F8C}" type="slidenum">
              <a:rPr lang="en-US" smtClean="0"/>
              <a:t>17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613D4D-572F-40D5-A085-A9771E8CF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21268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5" grpId="0" build="p"/>
      <p:bldP spid="1843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218" name="Rectangle 2"/>
          <p:cNvSpPr>
            <a:spLocks noGrp="1" noChangeArrowheads="1"/>
          </p:cNvSpPr>
          <p:nvPr>
            <p:ph type="title"/>
          </p:nvPr>
        </p:nvSpPr>
        <p:spPr>
          <a:xfrm>
            <a:off x="357018" y="228600"/>
            <a:ext cx="8667453" cy="7620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Memory aliasing: different pointers may point to the same location</a:t>
            </a:r>
          </a:p>
        </p:txBody>
      </p:sp>
      <p:sp>
        <p:nvSpPr>
          <p:cNvPr id="19462" name="Rectangle 7"/>
          <p:cNvSpPr>
            <a:spLocks noChangeArrowheads="1"/>
          </p:cNvSpPr>
          <p:nvPr/>
        </p:nvSpPr>
        <p:spPr bwMode="auto">
          <a:xfrm>
            <a:off x="491565" y="3519267"/>
            <a:ext cx="4349376" cy="3136757"/>
          </a:xfrm>
          <a:prstGeom prst="rect">
            <a:avLst/>
          </a:prstGeom>
          <a:noFill/>
          <a:ln w="57150" cmpd="thickThin">
            <a:noFill/>
            <a:miter lim="800000"/>
            <a:headEnd/>
            <a:tailEnd/>
          </a:ln>
        </p:spPr>
        <p:txBody>
          <a:bodyPr wrap="square" lIns="90487" tIns="44450" rIns="90487" bIns="4445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dirty="0" err="1">
                <a:latin typeface="Consolas"/>
                <a:cs typeface="Consolas"/>
              </a:rPr>
              <a:t>int</a:t>
            </a:r>
            <a:r>
              <a:rPr lang="en-US" dirty="0">
                <a:latin typeface="Consolas"/>
                <a:cs typeface="Consolas"/>
              </a:rPr>
              <a:t> main() {</a:t>
            </a:r>
          </a:p>
          <a:p>
            <a:pPr algn="l">
              <a:lnSpc>
                <a:spcPct val="100000"/>
              </a:lnSpc>
            </a:pPr>
            <a:r>
              <a:rPr lang="en-US" dirty="0">
                <a:latin typeface="Consolas"/>
                <a:cs typeface="Consolas"/>
              </a:rPr>
              <a:t>   long a[3] = {1, 1, 1};</a:t>
            </a:r>
          </a:p>
          <a:p>
            <a:pPr algn="l">
              <a:lnSpc>
                <a:spcPct val="100000"/>
              </a:lnSpc>
            </a:pPr>
            <a:r>
              <a:rPr lang="en-US" dirty="0">
                <a:latin typeface="Consolas"/>
                <a:cs typeface="Consolas"/>
              </a:rPr>
              <a:t>   long *result;</a:t>
            </a:r>
          </a:p>
          <a:p>
            <a:pPr algn="l">
              <a:lnSpc>
                <a:spcPct val="100000"/>
              </a:lnSpc>
            </a:pPr>
            <a:r>
              <a:rPr lang="en-US" dirty="0">
                <a:latin typeface="Consolas"/>
                <a:cs typeface="Consolas"/>
              </a:rPr>
              <a:t>   long r;</a:t>
            </a:r>
          </a:p>
          <a:p>
            <a:pPr algn="l">
              <a:lnSpc>
                <a:spcPct val="100000"/>
              </a:lnSpc>
            </a:pPr>
            <a:r>
              <a:rPr lang="en-US" dirty="0">
                <a:latin typeface="Consolas"/>
                <a:cs typeface="Consolas"/>
              </a:rPr>
              <a:t> </a:t>
            </a:r>
          </a:p>
          <a:p>
            <a:pPr algn="l">
              <a:lnSpc>
                <a:spcPct val="100000"/>
              </a:lnSpc>
            </a:pPr>
            <a:r>
              <a:rPr lang="en-US" dirty="0">
                <a:latin typeface="Consolas"/>
                <a:cs typeface="Consolas"/>
              </a:rPr>
              <a:t>   result = &amp;r;</a:t>
            </a:r>
          </a:p>
          <a:p>
            <a:pPr algn="l">
              <a:lnSpc>
                <a:spcPct val="100000"/>
              </a:lnSpc>
            </a:pPr>
            <a:r>
              <a:rPr lang="en-US" dirty="0">
                <a:latin typeface="Consolas"/>
                <a:cs typeface="Consolas"/>
              </a:rPr>
              <a:t>   sum(a, 3, result);</a:t>
            </a:r>
          </a:p>
          <a:p>
            <a:pPr algn="l">
              <a:lnSpc>
                <a:spcPct val="100000"/>
              </a:lnSpc>
            </a:pPr>
            <a:r>
              <a:rPr lang="en-US" dirty="0">
                <a:latin typeface="Consolas"/>
                <a:cs typeface="Consolas"/>
              </a:rPr>
              <a:t>   </a:t>
            </a:r>
          </a:p>
          <a:p>
            <a:pPr algn="l">
              <a:lnSpc>
                <a:spcPct val="100000"/>
              </a:lnSpc>
            </a:pPr>
            <a:r>
              <a:rPr lang="en-US" dirty="0">
                <a:latin typeface="Consolas"/>
                <a:cs typeface="Consolas"/>
              </a:rPr>
              <a:t>   result = &amp;a[2];</a:t>
            </a:r>
          </a:p>
          <a:p>
            <a:pPr algn="l">
              <a:lnSpc>
                <a:spcPct val="100000"/>
              </a:lnSpc>
            </a:pPr>
            <a:r>
              <a:rPr lang="en-US" dirty="0">
                <a:latin typeface="Consolas"/>
                <a:cs typeface="Consolas"/>
              </a:rPr>
              <a:t>   sum(a, 3, result);</a:t>
            </a:r>
          </a:p>
          <a:p>
            <a:pPr algn="l">
              <a:lnSpc>
                <a:spcPct val="100000"/>
              </a:lnSpc>
            </a:pPr>
            <a:r>
              <a:rPr lang="en-US" dirty="0">
                <a:latin typeface="Consolas"/>
                <a:cs typeface="Consolas"/>
              </a:rPr>
              <a:t>}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4840941" y="3877855"/>
            <a:ext cx="4029056" cy="2487086"/>
            <a:chOff x="4840941" y="3877855"/>
            <a:chExt cx="4029056" cy="2487086"/>
          </a:xfrm>
        </p:grpSpPr>
        <p:sp>
          <p:nvSpPr>
            <p:cNvPr id="5" name="Rounded Rectangular Callout 4"/>
            <p:cNvSpPr/>
            <p:nvPr/>
          </p:nvSpPr>
          <p:spPr>
            <a:xfrm>
              <a:off x="4840941" y="3877855"/>
              <a:ext cx="4029056" cy="2487086"/>
            </a:xfrm>
            <a:prstGeom prst="wedgeRoundRectCallout">
              <a:avLst>
                <a:gd name="adj1" fmla="val -89067"/>
                <a:gd name="adj2" fmla="val 40873"/>
                <a:gd name="adj3" fmla="val 16667"/>
              </a:avLst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7224" name="Rectangle 8"/>
            <p:cNvSpPr>
              <a:spLocks noChangeArrowheads="1"/>
            </p:cNvSpPr>
            <p:nvPr/>
          </p:nvSpPr>
          <p:spPr bwMode="auto">
            <a:xfrm>
              <a:off x="5171141" y="4792255"/>
              <a:ext cx="3232524" cy="33598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57150" cmpd="thickThin">
              <a:noFill/>
              <a:miter lim="800000"/>
              <a:headEnd/>
              <a:tailEnd/>
            </a:ln>
          </p:spPr>
          <p:txBody>
            <a:bodyPr wrap="square" lIns="90487" tIns="44450" rIns="90487" bIns="4445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600" dirty="0">
                  <a:latin typeface="Courier New" pitchFamily="49" charset="0"/>
                </a:rPr>
                <a:t>after </a:t>
              </a:r>
              <a:r>
                <a:rPr lang="en-US" sz="1600" dirty="0" err="1">
                  <a:latin typeface="Courier New" pitchFamily="49" charset="0"/>
                </a:rPr>
                <a:t>i</a:t>
              </a:r>
              <a:r>
                <a:rPr lang="en-US" sz="1600" dirty="0">
                  <a:latin typeface="Courier New" pitchFamily="49" charset="0"/>
                </a:rPr>
                <a:t> = 0: </a:t>
              </a:r>
            </a:p>
          </p:txBody>
        </p:sp>
        <p:sp>
          <p:nvSpPr>
            <p:cNvPr id="19464" name="Rectangle 9"/>
            <p:cNvSpPr>
              <a:spLocks noChangeArrowheads="1"/>
            </p:cNvSpPr>
            <p:nvPr/>
          </p:nvSpPr>
          <p:spPr bwMode="auto">
            <a:xfrm>
              <a:off x="5171141" y="4335055"/>
              <a:ext cx="3232524" cy="33598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57150" cmpd="thickThin">
              <a:noFill/>
              <a:miter lim="800000"/>
              <a:headEnd/>
              <a:tailEnd/>
            </a:ln>
          </p:spPr>
          <p:txBody>
            <a:bodyPr wrap="square" lIns="90487" tIns="44450" rIns="90487" bIns="4445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600" dirty="0">
                  <a:latin typeface="Courier New" pitchFamily="49" charset="0"/>
                </a:rPr>
                <a:t>before loop:</a:t>
              </a:r>
            </a:p>
          </p:txBody>
        </p:sp>
        <p:sp>
          <p:nvSpPr>
            <p:cNvPr id="777226" name="Rectangle 10"/>
            <p:cNvSpPr>
              <a:spLocks noChangeArrowheads="1"/>
            </p:cNvSpPr>
            <p:nvPr/>
          </p:nvSpPr>
          <p:spPr bwMode="auto">
            <a:xfrm>
              <a:off x="5171141" y="5249455"/>
              <a:ext cx="3232524" cy="33598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57150" cmpd="thickThin">
              <a:noFill/>
              <a:miter lim="800000"/>
              <a:headEnd/>
              <a:tailEnd/>
            </a:ln>
          </p:spPr>
          <p:txBody>
            <a:bodyPr wrap="square" lIns="90487" tIns="44450" rIns="90487" bIns="4445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600" dirty="0">
                  <a:latin typeface="Courier New" pitchFamily="49" charset="0"/>
                </a:rPr>
                <a:t>after </a:t>
              </a:r>
              <a:r>
                <a:rPr lang="en-US" sz="1600" dirty="0" err="1">
                  <a:latin typeface="Courier New" pitchFamily="49" charset="0"/>
                </a:rPr>
                <a:t>i</a:t>
              </a:r>
              <a:r>
                <a:rPr lang="en-US" sz="1600" dirty="0">
                  <a:latin typeface="Courier New" pitchFamily="49" charset="0"/>
                </a:rPr>
                <a:t> = 1: </a:t>
              </a:r>
            </a:p>
          </p:txBody>
        </p:sp>
        <p:sp>
          <p:nvSpPr>
            <p:cNvPr id="777227" name="Rectangle 11"/>
            <p:cNvSpPr>
              <a:spLocks noChangeArrowheads="1"/>
            </p:cNvSpPr>
            <p:nvPr/>
          </p:nvSpPr>
          <p:spPr bwMode="auto">
            <a:xfrm>
              <a:off x="5171141" y="5728880"/>
              <a:ext cx="3232524" cy="335989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57150" cmpd="thickThin">
              <a:noFill/>
              <a:miter lim="800000"/>
              <a:headEnd/>
              <a:tailEnd/>
            </a:ln>
          </p:spPr>
          <p:txBody>
            <a:bodyPr wrap="square" lIns="90487" tIns="44450" rIns="90487" bIns="4445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sz="1600" dirty="0">
                  <a:latin typeface="Courier New" pitchFamily="49" charset="0"/>
                </a:rPr>
                <a:t>after </a:t>
              </a:r>
              <a:r>
                <a:rPr lang="en-US" sz="1600" dirty="0" err="1">
                  <a:latin typeface="Courier New" pitchFamily="49" charset="0"/>
                </a:rPr>
                <a:t>i</a:t>
              </a:r>
              <a:r>
                <a:rPr lang="en-US" sz="1600" dirty="0">
                  <a:latin typeface="Courier New" pitchFamily="49" charset="0"/>
                </a:rPr>
                <a:t> = 2: </a:t>
              </a:r>
            </a:p>
          </p:txBody>
        </p:sp>
        <p:sp>
          <p:nvSpPr>
            <p:cNvPr id="19467" name="Text Box 12"/>
            <p:cNvSpPr txBox="1">
              <a:spLocks noChangeArrowheads="1"/>
            </p:cNvSpPr>
            <p:nvPr/>
          </p:nvSpPr>
          <p:spPr bwMode="auto">
            <a:xfrm>
              <a:off x="5044141" y="3877855"/>
              <a:ext cx="1119808" cy="36933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 type="none" w="sm" len="sm"/>
            </a:ln>
          </p:spPr>
          <p:txBody>
            <a:bodyPr wrap="none" lIns="45720" rIns="45720">
              <a:spAutoFit/>
            </a:bodyPr>
            <a:lstStyle/>
            <a:p>
              <a:pPr algn="l"/>
              <a:r>
                <a:rPr lang="en-US" dirty="0"/>
                <a:t>Value of </a:t>
              </a:r>
              <a:r>
                <a:rPr lang="en-US" dirty="0">
                  <a:latin typeface="Courier New" pitchFamily="49" charset="0"/>
                </a:rPr>
                <a:t>a</a:t>
              </a:r>
              <a:r>
                <a:rPr lang="en-US" dirty="0"/>
                <a:t>:</a:t>
              </a:r>
            </a:p>
          </p:txBody>
        </p:sp>
      </p:grpSp>
      <p:sp>
        <p:nvSpPr>
          <p:cNvPr id="13" name="Rectangle 7"/>
          <p:cNvSpPr>
            <a:spLocks noChangeArrowheads="1"/>
          </p:cNvSpPr>
          <p:nvPr/>
        </p:nvSpPr>
        <p:spPr bwMode="auto">
          <a:xfrm>
            <a:off x="491565" y="1318556"/>
            <a:ext cx="5386164" cy="1751762"/>
          </a:xfrm>
          <a:prstGeom prst="rect">
            <a:avLst/>
          </a:prstGeom>
          <a:noFill/>
          <a:ln w="57150" cmpd="thickThin">
            <a:noFill/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r>
              <a:rPr lang="en-US" dirty="0">
                <a:latin typeface="Consolas"/>
                <a:cs typeface="Consolas"/>
              </a:rPr>
              <a:t>void sum(long *a, long n, long *result) {</a:t>
            </a:r>
          </a:p>
          <a:p>
            <a:r>
              <a:rPr lang="en-US" dirty="0">
                <a:latin typeface="Consolas"/>
                <a:cs typeface="Consolas"/>
              </a:rPr>
              <a:t>    *result = 0;</a:t>
            </a:r>
          </a:p>
          <a:p>
            <a:r>
              <a:rPr lang="en-US" dirty="0">
                <a:latin typeface="Consolas"/>
                <a:cs typeface="Consolas"/>
              </a:rPr>
              <a:t>    for (long </a:t>
            </a:r>
            <a:r>
              <a:rPr lang="en-US" dirty="0" err="1">
                <a:latin typeface="Consolas"/>
                <a:cs typeface="Consolas"/>
              </a:rPr>
              <a:t>i</a:t>
            </a:r>
            <a:r>
              <a:rPr lang="en-US" dirty="0">
                <a:latin typeface="Consolas"/>
                <a:cs typeface="Consolas"/>
              </a:rPr>
              <a:t> = 0; </a:t>
            </a:r>
            <a:r>
              <a:rPr lang="en-US" dirty="0" err="1">
                <a:latin typeface="Consolas"/>
                <a:cs typeface="Consolas"/>
              </a:rPr>
              <a:t>i</a:t>
            </a:r>
            <a:r>
              <a:rPr lang="en-US" dirty="0">
                <a:latin typeface="Consolas"/>
                <a:cs typeface="Consolas"/>
              </a:rPr>
              <a:t> &lt; n; </a:t>
            </a:r>
            <a:r>
              <a:rPr lang="en-US" dirty="0" err="1">
                <a:latin typeface="Consolas"/>
                <a:cs typeface="Consolas"/>
              </a:rPr>
              <a:t>i</a:t>
            </a:r>
            <a:r>
              <a:rPr lang="en-US" dirty="0">
                <a:latin typeface="Consolas"/>
                <a:cs typeface="Consolas"/>
              </a:rPr>
              <a:t>++) {</a:t>
            </a:r>
          </a:p>
          <a:p>
            <a:r>
              <a:rPr lang="en-US" dirty="0">
                <a:latin typeface="Consolas"/>
                <a:cs typeface="Consolas"/>
              </a:rPr>
              <a:t>         (*result) += a[</a:t>
            </a:r>
            <a:r>
              <a:rPr lang="en-US" dirty="0" err="1">
                <a:latin typeface="Consolas"/>
                <a:cs typeface="Consolas"/>
              </a:rPr>
              <a:t>i</a:t>
            </a:r>
            <a:r>
              <a:rPr lang="en-US" dirty="0">
                <a:latin typeface="Consolas"/>
                <a:cs typeface="Consolas"/>
              </a:rPr>
              <a:t>];</a:t>
            </a:r>
          </a:p>
          <a:p>
            <a:r>
              <a:rPr lang="en-US" dirty="0">
                <a:latin typeface="Consolas"/>
                <a:cs typeface="Consolas"/>
              </a:rPr>
              <a:t>    }</a:t>
            </a:r>
          </a:p>
          <a:p>
            <a:r>
              <a:rPr lang="en-US" dirty="0">
                <a:latin typeface="Consolas"/>
                <a:cs typeface="Consolas"/>
              </a:rPr>
              <a:t>}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911412" y="1686398"/>
            <a:ext cx="7958585" cy="1653411"/>
            <a:chOff x="911412" y="1686398"/>
            <a:chExt cx="7958585" cy="1653411"/>
          </a:xfrm>
        </p:grpSpPr>
        <p:sp>
          <p:nvSpPr>
            <p:cNvPr id="4" name="Oval 3"/>
            <p:cNvSpPr/>
            <p:nvPr/>
          </p:nvSpPr>
          <p:spPr>
            <a:xfrm>
              <a:off x="911412" y="1686398"/>
              <a:ext cx="1524000" cy="343647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Oval 16"/>
            <p:cNvSpPr/>
            <p:nvPr/>
          </p:nvSpPr>
          <p:spPr>
            <a:xfrm>
              <a:off x="1899024" y="2191883"/>
              <a:ext cx="1072776" cy="343647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6" name="Straight Arrow Connector 5"/>
            <p:cNvCxnSpPr>
              <a:endCxn id="17" idx="5"/>
            </p:cNvCxnSpPr>
            <p:nvPr/>
          </p:nvCxnSpPr>
          <p:spPr>
            <a:xfrm flipH="1" flipV="1">
              <a:off x="2814696" y="2485204"/>
              <a:ext cx="1189539" cy="306842"/>
            </a:xfrm>
            <a:prstGeom prst="straightConnector1">
              <a:avLst/>
            </a:prstGeom>
            <a:ln w="9525" cmpd="sng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 flipH="1" flipV="1">
              <a:off x="2435413" y="1881105"/>
              <a:ext cx="1568822" cy="910941"/>
            </a:xfrm>
            <a:prstGeom prst="straightConnector1">
              <a:avLst/>
            </a:prstGeom>
            <a:ln w="9525" cmpd="sng">
              <a:solidFill>
                <a:srgbClr val="FF0000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/>
            <p:cNvSpPr txBox="1"/>
            <p:nvPr/>
          </p:nvSpPr>
          <p:spPr>
            <a:xfrm>
              <a:off x="4104625" y="2631923"/>
              <a:ext cx="4765372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FF0000"/>
                  </a:solidFill>
                </a:rPr>
                <a:t>*result may alias to some location in array a</a:t>
              </a:r>
            </a:p>
            <a:p>
              <a:r>
                <a:rPr lang="en-US" sz="2000" dirty="0">
                  <a:solidFill>
                    <a:srgbClr val="FF0000"/>
                  </a:solidFill>
                  <a:sym typeface="Wingdings"/>
                </a:rPr>
                <a:t> </a:t>
              </a:r>
              <a:r>
                <a:rPr lang="en-US" sz="2000" dirty="0">
                  <a:solidFill>
                    <a:srgbClr val="FF0000"/>
                  </a:solidFill>
                </a:rPr>
                <a:t>updates to  *result may change a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6843059" y="4335055"/>
            <a:ext cx="902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{1, 1, 0}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43059" y="4782416"/>
            <a:ext cx="902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{1, 1, 1}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43059" y="5228497"/>
            <a:ext cx="902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{1, 1, 2}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43059" y="5695537"/>
            <a:ext cx="902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{1, 1, 4}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4D31644-C4FD-4FE6-AEAC-DCD1B05DE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92C60-C071-3249-9DBB-404B1D195F8C}" type="slidenum">
              <a:rPr lang="en-US" smtClean="0"/>
              <a:t>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C798B4-3085-4898-A00F-2C84227FE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49131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2" grpId="0"/>
      <p:bldP spid="7" grpId="0"/>
      <p:bldP spid="12" grpId="0"/>
      <p:bldP spid="15" grpId="0"/>
      <p:bldP spid="2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2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Optimization obstacle: </a:t>
            </a:r>
            <a:br>
              <a:rPr lang="en-US" dirty="0"/>
            </a:br>
            <a:r>
              <a:rPr lang="en-US" dirty="0"/>
              <a:t>memory aliasing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24118" y="1631576"/>
            <a:ext cx="8686800" cy="4525963"/>
          </a:xfrm>
        </p:spPr>
        <p:txBody>
          <a:bodyPr/>
          <a:lstStyle/>
          <a:p>
            <a:r>
              <a:rPr lang="en-US" dirty="0"/>
              <a:t>Compiler cannot optimize due to potential aliasing</a:t>
            </a:r>
          </a:p>
          <a:p>
            <a:r>
              <a:rPr lang="en-US" dirty="0"/>
              <a:t>Manual “optimization”</a:t>
            </a:r>
          </a:p>
        </p:txBody>
      </p:sp>
      <p:sp>
        <p:nvSpPr>
          <p:cNvPr id="13" name="Rectangle 7"/>
          <p:cNvSpPr>
            <a:spLocks noChangeArrowheads="1"/>
          </p:cNvSpPr>
          <p:nvPr/>
        </p:nvSpPr>
        <p:spPr bwMode="auto">
          <a:xfrm>
            <a:off x="611094" y="3081615"/>
            <a:ext cx="5386164" cy="2028761"/>
          </a:xfrm>
          <a:prstGeom prst="rect">
            <a:avLst/>
          </a:prstGeom>
          <a:noFill/>
          <a:ln w="57150" cmpd="thickThin">
            <a:noFill/>
            <a:miter lim="800000"/>
            <a:headEnd/>
            <a:tailEnd/>
          </a:ln>
        </p:spPr>
        <p:txBody>
          <a:bodyPr wrap="none" lIns="90487" tIns="44450" rIns="90487" bIns="4445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dirty="0">
                <a:latin typeface="Consolas"/>
                <a:cs typeface="Consolas"/>
              </a:rPr>
              <a:t>void sum(long *a, long n, long *result) {</a:t>
            </a:r>
          </a:p>
          <a:p>
            <a:pPr algn="l">
              <a:lnSpc>
                <a:spcPct val="100000"/>
              </a:lnSpc>
            </a:pPr>
            <a:r>
              <a:rPr lang="en-US" dirty="0">
                <a:latin typeface="Consolas"/>
                <a:cs typeface="Consolas"/>
              </a:rPr>
              <a:t>   long sum = 0;</a:t>
            </a:r>
          </a:p>
          <a:p>
            <a:pPr algn="l">
              <a:lnSpc>
                <a:spcPct val="100000"/>
              </a:lnSpc>
            </a:pPr>
            <a:r>
              <a:rPr lang="en-US" dirty="0">
                <a:latin typeface="Consolas"/>
                <a:cs typeface="Consolas"/>
              </a:rPr>
              <a:t>   for (long </a:t>
            </a:r>
            <a:r>
              <a:rPr lang="en-US" dirty="0" err="1">
                <a:latin typeface="Consolas"/>
                <a:cs typeface="Consolas"/>
              </a:rPr>
              <a:t>i</a:t>
            </a:r>
            <a:r>
              <a:rPr lang="en-US" dirty="0">
                <a:latin typeface="Consolas"/>
                <a:cs typeface="Consolas"/>
              </a:rPr>
              <a:t> = 0; </a:t>
            </a:r>
            <a:r>
              <a:rPr lang="en-US" dirty="0" err="1">
                <a:latin typeface="Consolas"/>
                <a:cs typeface="Consolas"/>
              </a:rPr>
              <a:t>i</a:t>
            </a:r>
            <a:r>
              <a:rPr lang="en-US" dirty="0">
                <a:latin typeface="Consolas"/>
                <a:cs typeface="Consolas"/>
              </a:rPr>
              <a:t> &lt; n; </a:t>
            </a:r>
            <a:r>
              <a:rPr lang="en-US" dirty="0" err="1">
                <a:latin typeface="Consolas"/>
                <a:cs typeface="Consolas"/>
              </a:rPr>
              <a:t>i</a:t>
            </a:r>
            <a:r>
              <a:rPr lang="en-US" dirty="0">
                <a:latin typeface="Consolas"/>
                <a:cs typeface="Consolas"/>
              </a:rPr>
              <a:t>++) {</a:t>
            </a:r>
          </a:p>
          <a:p>
            <a:pPr algn="l">
              <a:lnSpc>
                <a:spcPct val="100000"/>
              </a:lnSpc>
            </a:pPr>
            <a:r>
              <a:rPr lang="en-US" dirty="0">
                <a:latin typeface="Consolas"/>
                <a:cs typeface="Consolas"/>
              </a:rPr>
              <a:t>      sum += a[</a:t>
            </a:r>
            <a:r>
              <a:rPr lang="en-US" dirty="0" err="1">
                <a:latin typeface="Consolas"/>
                <a:cs typeface="Consolas"/>
              </a:rPr>
              <a:t>i</a:t>
            </a:r>
            <a:r>
              <a:rPr lang="en-US" dirty="0">
                <a:latin typeface="Consolas"/>
                <a:cs typeface="Consolas"/>
              </a:rPr>
              <a:t>]; </a:t>
            </a:r>
          </a:p>
          <a:p>
            <a:pPr algn="l">
              <a:lnSpc>
                <a:spcPct val="100000"/>
              </a:lnSpc>
            </a:pPr>
            <a:r>
              <a:rPr lang="en-US" dirty="0">
                <a:latin typeface="Consolas"/>
                <a:cs typeface="Consolas"/>
              </a:rPr>
              <a:t>   }</a:t>
            </a:r>
          </a:p>
          <a:p>
            <a:pPr algn="l">
              <a:lnSpc>
                <a:spcPct val="100000"/>
              </a:lnSpc>
            </a:pPr>
            <a:r>
              <a:rPr lang="en-US" dirty="0">
                <a:solidFill>
                  <a:srgbClr val="FF0000"/>
                </a:solidFill>
                <a:latin typeface="Consolas"/>
                <a:cs typeface="Consolas"/>
              </a:rPr>
              <a:t>   *result = sum;</a:t>
            </a:r>
          </a:p>
          <a:p>
            <a:pPr algn="l">
              <a:lnSpc>
                <a:spcPct val="100000"/>
              </a:lnSpc>
            </a:pPr>
            <a:r>
              <a:rPr lang="en-US" dirty="0">
                <a:latin typeface="Consolas"/>
                <a:cs typeface="Consolas"/>
              </a:rPr>
              <a:t>}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C0BB7A-3E5C-4432-9F0F-E986D9DE0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92C60-C071-3249-9DBB-404B1D195F8C}" type="slidenum">
              <a:rPr lang="en-US" smtClean="0"/>
              <a:t>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217A3D-8B90-4745-9EBC-8F0C4B430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17111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95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493712"/>
            <a:ext cx="7543800" cy="573088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dirty="0"/>
              <a:t>Getting High Performance</a:t>
            </a:r>
          </a:p>
        </p:txBody>
      </p:sp>
      <p:sp>
        <p:nvSpPr>
          <p:cNvPr id="381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252538"/>
            <a:ext cx="8320087" cy="5224462"/>
          </a:xfrm>
        </p:spPr>
        <p:txBody>
          <a:bodyPr/>
          <a:lstStyle/>
          <a:p>
            <a:pPr eaLnBrk="1" hangingPunct="1">
              <a:defRPr/>
            </a:pPr>
            <a:r>
              <a:rPr lang="en-US" dirty="0"/>
              <a:t>Use compiler optimization flags</a:t>
            </a:r>
          </a:p>
          <a:p>
            <a:pPr eaLnBrk="1" hangingPunct="1">
              <a:defRPr/>
            </a:pPr>
            <a:r>
              <a:rPr lang="en-US" dirty="0"/>
              <a:t>Watch out for:</a:t>
            </a:r>
          </a:p>
          <a:p>
            <a:pPr lvl="1" eaLnBrk="1" hangingPunct="1">
              <a:defRPr/>
            </a:pPr>
            <a:r>
              <a:rPr lang="en-US" dirty="0"/>
              <a:t>hidden algorithmic inefficiencies</a:t>
            </a:r>
          </a:p>
          <a:p>
            <a:pPr lvl="1">
              <a:defRPr/>
            </a:pPr>
            <a:r>
              <a:rPr lang="en-US" dirty="0"/>
              <a:t>Optimization obstacles: </a:t>
            </a:r>
            <a:br>
              <a:rPr lang="en-US" dirty="0"/>
            </a:br>
            <a:r>
              <a:rPr lang="en-US" dirty="0"/>
              <a:t>procedure calls &amp; memory aliasing</a:t>
            </a:r>
          </a:p>
          <a:p>
            <a:pPr>
              <a:defRPr/>
            </a:pPr>
            <a:r>
              <a:rPr lang="en-US" dirty="0"/>
              <a:t>Profile the program’s performance</a:t>
            </a:r>
          </a:p>
          <a:p>
            <a:pPr lvl="1" eaLnBrk="1" hangingPunct="1">
              <a:defRPr/>
            </a:pP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36ED858-4157-400F-87A8-FB39C5F0E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92C60-C071-3249-9DBB-404B1D195F8C}" type="slidenum">
              <a:rPr lang="en-US" smtClean="0"/>
              <a:t>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BB3096-0267-46EF-808B-E703A6E9F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659572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88092-2F00-48A9-BC8F-C25755B71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9467D1-8C81-4BC5-B32B-F1B9E0564E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Common compiler optimization</a:t>
            </a:r>
          </a:p>
          <a:p>
            <a:pPr lvl="1"/>
            <a:r>
              <a:rPr lang="en-US" dirty="0"/>
              <a:t>What it can do:</a:t>
            </a:r>
          </a:p>
          <a:p>
            <a:pPr lvl="2"/>
            <a:r>
              <a:rPr lang="en-US" dirty="0"/>
              <a:t>Code motion</a:t>
            </a:r>
          </a:p>
          <a:p>
            <a:pPr lvl="2"/>
            <a:r>
              <a:rPr lang="en-US" dirty="0"/>
              <a:t>Common sub-expression elimination</a:t>
            </a:r>
          </a:p>
          <a:p>
            <a:pPr lvl="1"/>
            <a:r>
              <a:rPr lang="en-US" dirty="0"/>
              <a:t>What it cannot do due to:</a:t>
            </a:r>
          </a:p>
          <a:p>
            <a:pPr lvl="2"/>
            <a:r>
              <a:rPr lang="en-US" dirty="0"/>
              <a:t>Function calls</a:t>
            </a:r>
          </a:p>
          <a:p>
            <a:pPr lvl="2"/>
            <a:r>
              <a:rPr lang="en-US" dirty="0"/>
              <a:t>Memory aliasing</a:t>
            </a:r>
          </a:p>
          <a:p>
            <a:r>
              <a:rPr lang="en-US" dirty="0"/>
              <a:t>Linking</a:t>
            </a:r>
          </a:p>
          <a:p>
            <a:pPr lvl="1"/>
            <a:r>
              <a:rPr lang="en-US" dirty="0"/>
              <a:t>Symbol relocation</a:t>
            </a:r>
          </a:p>
          <a:p>
            <a:pPr lvl="1"/>
            <a:r>
              <a:rPr lang="en-US" dirty="0"/>
              <a:t>Be aware of silent symbol collision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1D7988-459D-40A4-8FE0-E979C6ECD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92C60-C071-3249-9DBB-404B1D195F8C}" type="slidenum">
              <a:rPr lang="en-US" smtClean="0"/>
              <a:t>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3D84F5-83D4-4C85-B1A1-3DBCCB70A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6212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9DB09-A799-25FC-859C-2A62B3A8B36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rest of the slides are optional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ED4071-5A27-4281-B273-3A49CA44C1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8DE535-5ED4-2C73-43C8-BAAB34D64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C13831-8DBB-DBB4-97D5-4FE9EE48B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92C60-C071-3249-9DBB-404B1D195F8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7347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DFADBD-EBF6-26BB-5674-6F2C750FF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FEF94A-CA34-E378-7191-2ED4B3242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66EC93-6F47-F145-D020-CBCFDCAE8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/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Common code optimization (done by the compiler)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common optimization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what prevents optimization</a:t>
            </a:r>
          </a:p>
          <a:p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Optional: C linker</a:t>
            </a:r>
          </a:p>
          <a:p>
            <a:pPr lvl="1"/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</a:rPr>
              <a:t>Understanding what C link does helps you debug C programs more effectively, but you will not be tested on 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1B6671-8222-5F80-1B3D-25C411581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92C60-C071-3249-9DBB-404B1D195F8C}" type="slidenum">
              <a:rPr lang="en-US" smtClean="0"/>
              <a:t>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63DFF6-27EC-54E2-0716-C40D8474D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4708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D21D6-0CCA-5735-305D-940EE9171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35" name="Rectangle 7">
            <a:extLst>
              <a:ext uri="{FF2B5EF4-FFF2-40B4-BE49-F238E27FC236}">
                <a16:creationId xmlns:a16="http://schemas.microsoft.com/office/drawing/2014/main" id="{86CBB408-6AAE-0B32-4F4F-6FD0EA3F2C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C Program</a:t>
            </a:r>
          </a:p>
        </p:txBody>
      </p:sp>
      <p:sp>
        <p:nvSpPr>
          <p:cNvPr id="201731" name="Rectangle 3">
            <a:extLst>
              <a:ext uri="{FF2B5EF4-FFF2-40B4-BE49-F238E27FC236}">
                <a16:creationId xmlns:a16="http://schemas.microsoft.com/office/drawing/2014/main" id="{C2E7F3FC-8C2A-2384-EA48-DDB4918AE4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700" y="1928813"/>
            <a:ext cx="3738223" cy="2308324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dirty="0">
                <a:solidFill>
                  <a:srgbClr val="0D0D0D"/>
                </a:solidFill>
                <a:latin typeface="Consolas"/>
                <a:cs typeface="Consolas"/>
              </a:rPr>
              <a:t>#include “</a:t>
            </a:r>
            <a:r>
              <a:rPr lang="en-US" dirty="0" err="1">
                <a:solidFill>
                  <a:srgbClr val="0D0D0D"/>
                </a:solidFill>
                <a:latin typeface="Consolas"/>
                <a:cs typeface="Consolas"/>
              </a:rPr>
              <a:t>sum.h</a:t>
            </a:r>
            <a:r>
              <a:rPr lang="en-US" dirty="0">
                <a:solidFill>
                  <a:srgbClr val="0D0D0D"/>
                </a:solidFill>
                <a:latin typeface="Consolas"/>
                <a:cs typeface="Consolas"/>
              </a:rPr>
              <a:t>”</a:t>
            </a:r>
          </a:p>
          <a:p>
            <a:r>
              <a:rPr lang="hu-HU" sz="1800" dirty="0">
                <a:solidFill>
                  <a:srgbClr val="0D0D0D"/>
                </a:solidFill>
                <a:latin typeface="Consolas"/>
                <a:cs typeface="Consolas"/>
              </a:rPr>
              <a:t>int array[2] = {1, 2};</a:t>
            </a:r>
          </a:p>
          <a:p>
            <a:endParaRPr lang="hu-HU" sz="1800" dirty="0">
              <a:solidFill>
                <a:srgbClr val="0D0D0D"/>
              </a:solidFill>
              <a:latin typeface="Consolas"/>
              <a:cs typeface="Consolas"/>
            </a:endParaRPr>
          </a:p>
          <a:p>
            <a:r>
              <a:rPr lang="en-US" sz="1800" dirty="0" err="1">
                <a:solidFill>
                  <a:srgbClr val="0D0D0D"/>
                </a:solidFill>
                <a:latin typeface="Consolas"/>
                <a:cs typeface="Consolas"/>
              </a:rPr>
              <a:t>int</a:t>
            </a:r>
            <a:r>
              <a:rPr lang="en-US" sz="1800" dirty="0">
                <a:solidFill>
                  <a:srgbClr val="0D0D0D"/>
                </a:solidFill>
                <a:latin typeface="Consolas"/>
                <a:cs typeface="Consolas"/>
              </a:rPr>
              <a:t> main()</a:t>
            </a:r>
          </a:p>
          <a:p>
            <a:r>
              <a:rPr lang="en-US" sz="1800" dirty="0">
                <a:solidFill>
                  <a:srgbClr val="0D0D0D"/>
                </a:solidFill>
                <a:latin typeface="Consolas"/>
                <a:cs typeface="Consolas"/>
              </a:rPr>
              <a:t>{</a:t>
            </a:r>
          </a:p>
          <a:p>
            <a:r>
              <a:rPr lang="fr-FR" sz="1800" dirty="0">
                <a:solidFill>
                  <a:srgbClr val="0D0D0D"/>
                </a:solidFill>
                <a:latin typeface="Consolas"/>
                <a:cs typeface="Consolas"/>
              </a:rPr>
              <a:t>    </a:t>
            </a:r>
            <a:r>
              <a:rPr lang="fr-FR" sz="1800" dirty="0" err="1">
                <a:solidFill>
                  <a:srgbClr val="0D0D0D"/>
                </a:solidFill>
                <a:latin typeface="Consolas"/>
                <a:cs typeface="Consolas"/>
              </a:rPr>
              <a:t>int</a:t>
            </a:r>
            <a:r>
              <a:rPr lang="fr-FR" sz="1800" dirty="0">
                <a:solidFill>
                  <a:srgbClr val="0D0D0D"/>
                </a:solidFill>
                <a:latin typeface="Consolas"/>
                <a:cs typeface="Consolas"/>
              </a:rPr>
              <a:t> val = </a:t>
            </a:r>
            <a:r>
              <a:rPr lang="fr-FR" sz="1800" dirty="0" err="1">
                <a:solidFill>
                  <a:srgbClr val="0D0D0D"/>
                </a:solidFill>
                <a:latin typeface="Consolas"/>
                <a:cs typeface="Consolas"/>
              </a:rPr>
              <a:t>sum</a:t>
            </a:r>
            <a:r>
              <a:rPr lang="fr-FR" sz="1800" dirty="0">
                <a:solidFill>
                  <a:srgbClr val="0D0D0D"/>
                </a:solidFill>
                <a:latin typeface="Consolas"/>
                <a:cs typeface="Consolas"/>
              </a:rPr>
              <a:t>(</a:t>
            </a:r>
            <a:r>
              <a:rPr lang="fr-FR" sz="1800" dirty="0" err="1">
                <a:solidFill>
                  <a:srgbClr val="0D0D0D"/>
                </a:solidFill>
                <a:latin typeface="Consolas"/>
                <a:cs typeface="Consolas"/>
              </a:rPr>
              <a:t>array</a:t>
            </a:r>
            <a:r>
              <a:rPr lang="fr-FR" sz="1800" dirty="0">
                <a:solidFill>
                  <a:srgbClr val="0D0D0D"/>
                </a:solidFill>
                <a:latin typeface="Consolas"/>
                <a:cs typeface="Consolas"/>
              </a:rPr>
              <a:t>, 2);</a:t>
            </a:r>
          </a:p>
          <a:p>
            <a:r>
              <a:rPr lang="fr-FR" sz="1800" dirty="0">
                <a:solidFill>
                  <a:srgbClr val="0D0D0D"/>
                </a:solidFill>
                <a:latin typeface="Consolas"/>
                <a:cs typeface="Consolas"/>
              </a:rPr>
              <a:t>    return val;</a:t>
            </a:r>
          </a:p>
          <a:p>
            <a:r>
              <a:rPr lang="fr-FR" sz="1800" dirty="0">
                <a:solidFill>
                  <a:srgbClr val="0D0D0D"/>
                </a:solidFill>
                <a:latin typeface="Consolas"/>
                <a:cs typeface="Consolas"/>
              </a:rPr>
              <a:t>}</a:t>
            </a:r>
          </a:p>
        </p:txBody>
      </p:sp>
      <p:sp>
        <p:nvSpPr>
          <p:cNvPr id="201734" name="Rectangle 6">
            <a:extLst>
              <a:ext uri="{FF2B5EF4-FFF2-40B4-BE49-F238E27FC236}">
                <a16:creationId xmlns:a16="http://schemas.microsoft.com/office/drawing/2014/main" id="{E6BA2474-2334-C93A-68F6-785638CA21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9084" y="3413879"/>
            <a:ext cx="4450564" cy="2862323"/>
          </a:xfrm>
          <a:prstGeom prst="rect">
            <a:avLst/>
          </a:prstGeom>
          <a:solidFill>
            <a:srgbClr val="FF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Consolas"/>
                <a:cs typeface="Consolas"/>
              </a:rPr>
              <a:t>#include “</a:t>
            </a:r>
            <a:r>
              <a:rPr lang="en-US" dirty="0" err="1">
                <a:latin typeface="Consolas"/>
                <a:cs typeface="Consolas"/>
              </a:rPr>
              <a:t>sum.h</a:t>
            </a:r>
            <a:r>
              <a:rPr lang="en-US" dirty="0">
                <a:latin typeface="Consolas"/>
                <a:cs typeface="Consolas"/>
              </a:rPr>
              <a:t>”</a:t>
            </a:r>
          </a:p>
          <a:p>
            <a:endParaRPr lang="en-US" dirty="0">
              <a:latin typeface="Consolas"/>
              <a:cs typeface="Consolas"/>
            </a:endParaRPr>
          </a:p>
          <a:p>
            <a:r>
              <a:rPr lang="en-US" dirty="0" err="1">
                <a:latin typeface="Consolas"/>
                <a:cs typeface="Consolas"/>
              </a:rPr>
              <a:t>int</a:t>
            </a:r>
            <a:r>
              <a:rPr lang="en-US" dirty="0">
                <a:latin typeface="Consolas"/>
                <a:cs typeface="Consolas"/>
              </a:rPr>
              <a:t> sum(</a:t>
            </a:r>
            <a:r>
              <a:rPr lang="en-US" dirty="0" err="1">
                <a:latin typeface="Consolas"/>
                <a:cs typeface="Consolas"/>
              </a:rPr>
              <a:t>int</a:t>
            </a:r>
            <a:r>
              <a:rPr lang="en-US" dirty="0">
                <a:latin typeface="Consolas"/>
                <a:cs typeface="Consolas"/>
              </a:rPr>
              <a:t> *a, </a:t>
            </a:r>
            <a:r>
              <a:rPr lang="en-US" dirty="0" err="1">
                <a:latin typeface="Consolas"/>
                <a:cs typeface="Consolas"/>
              </a:rPr>
              <a:t>int</a:t>
            </a:r>
            <a:r>
              <a:rPr lang="en-US" dirty="0">
                <a:latin typeface="Consolas"/>
                <a:cs typeface="Consolas"/>
              </a:rPr>
              <a:t> n)</a:t>
            </a:r>
          </a:p>
          <a:p>
            <a:r>
              <a:rPr lang="en-US" dirty="0">
                <a:latin typeface="Consolas"/>
                <a:cs typeface="Consolas"/>
              </a:rPr>
              <a:t>{</a:t>
            </a:r>
          </a:p>
          <a:p>
            <a:r>
              <a:rPr lang="fr-FR" dirty="0">
                <a:latin typeface="Consolas"/>
                <a:cs typeface="Consolas"/>
              </a:rPr>
              <a:t>  </a:t>
            </a:r>
            <a:r>
              <a:rPr lang="fr-FR" dirty="0" err="1">
                <a:latin typeface="Consolas"/>
                <a:cs typeface="Consolas"/>
              </a:rPr>
              <a:t>int</a:t>
            </a:r>
            <a:r>
              <a:rPr lang="fr-FR" dirty="0">
                <a:latin typeface="Consolas"/>
                <a:cs typeface="Consolas"/>
              </a:rPr>
              <a:t> s = 0;</a:t>
            </a:r>
          </a:p>
          <a:p>
            <a:r>
              <a:rPr lang="fr-FR" dirty="0">
                <a:latin typeface="Consolas"/>
                <a:cs typeface="Consolas"/>
              </a:rPr>
              <a:t>  </a:t>
            </a:r>
            <a:r>
              <a:rPr lang="da-DK" dirty="0">
                <a:latin typeface="Consolas"/>
                <a:cs typeface="Consolas"/>
              </a:rPr>
              <a:t>for (</a:t>
            </a:r>
            <a:r>
              <a:rPr lang="da-DK" dirty="0" err="1">
                <a:latin typeface="Consolas"/>
                <a:cs typeface="Consolas"/>
              </a:rPr>
              <a:t>int</a:t>
            </a:r>
            <a:r>
              <a:rPr lang="da-DK" dirty="0">
                <a:latin typeface="Consolas"/>
                <a:cs typeface="Consolas"/>
              </a:rPr>
              <a:t> i = 0; i &lt; n; i++) {</a:t>
            </a:r>
          </a:p>
          <a:p>
            <a:r>
              <a:rPr lang="da-DK" dirty="0">
                <a:latin typeface="Consolas"/>
                <a:cs typeface="Consolas"/>
              </a:rPr>
              <a:t>        s += a[i];</a:t>
            </a:r>
          </a:p>
          <a:p>
            <a:r>
              <a:rPr lang="da-DK" dirty="0">
                <a:latin typeface="Consolas"/>
                <a:cs typeface="Consolas"/>
              </a:rPr>
              <a:t>    }</a:t>
            </a:r>
            <a:r>
              <a:rPr lang="en-US" dirty="0">
                <a:latin typeface="Consolas"/>
                <a:cs typeface="Consolas"/>
              </a:rPr>
              <a:t> </a:t>
            </a:r>
          </a:p>
          <a:p>
            <a:r>
              <a:rPr lang="en-US" dirty="0">
                <a:latin typeface="Consolas"/>
                <a:cs typeface="Consolas"/>
              </a:rPr>
              <a:t>    </a:t>
            </a:r>
            <a:r>
              <a:rPr lang="is-IS" dirty="0">
                <a:latin typeface="Consolas"/>
                <a:cs typeface="Consolas"/>
              </a:rPr>
              <a:t>return s;</a:t>
            </a:r>
          </a:p>
          <a:p>
            <a:r>
              <a:rPr lang="is-IS" dirty="0">
                <a:latin typeface="Consolas"/>
                <a:cs typeface="Consolas"/>
              </a:rPr>
              <a:t>}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9CC45E51-5547-F403-0338-57AD2C5419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700" y="4284287"/>
            <a:ext cx="1067294" cy="357663"/>
          </a:xfrm>
          <a:prstGeom prst="rect">
            <a:avLst/>
          </a:prstGeom>
          <a:noFill/>
          <a:ln w="3240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i="1" dirty="0" err="1">
                <a:solidFill>
                  <a:srgbClr val="3366FF"/>
                </a:solidFill>
                <a:latin typeface="Courier New" pitchFamily="49" charset="0"/>
                <a:ea typeface="msgothic" charset="0"/>
                <a:cs typeface="msgothic" charset="0"/>
              </a:rPr>
              <a:t>main.c</a:t>
            </a:r>
            <a:endParaRPr lang="en-GB" sz="1800" b="1" i="1" dirty="0">
              <a:solidFill>
                <a:srgbClr val="3366FF"/>
              </a:solidFill>
              <a:latin typeface="Courier New" pitchFamily="49" charset="0"/>
              <a:ea typeface="msgothic" charset="0"/>
              <a:cs typeface="msgothic" charset="0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C97394F3-2A73-3495-9B26-A36AE81DDB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0943" y="1928813"/>
            <a:ext cx="3103659" cy="646331"/>
          </a:xfrm>
          <a:prstGeom prst="rect">
            <a:avLst/>
          </a:prstGeom>
          <a:solidFill>
            <a:srgbClr val="FFFFFF"/>
          </a:solidFill>
          <a:ln w="31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800" dirty="0" err="1">
                <a:latin typeface="Consolas"/>
                <a:cs typeface="Consolas"/>
              </a:rPr>
              <a:t>int</a:t>
            </a:r>
            <a:r>
              <a:rPr lang="en-US" sz="1800" dirty="0">
                <a:latin typeface="Consolas"/>
                <a:cs typeface="Consolas"/>
              </a:rPr>
              <a:t> sum(</a:t>
            </a:r>
            <a:r>
              <a:rPr lang="en-US" sz="1800" dirty="0" err="1">
                <a:latin typeface="Consolas"/>
                <a:cs typeface="Consolas"/>
              </a:rPr>
              <a:t>int</a:t>
            </a:r>
            <a:r>
              <a:rPr lang="en-US" sz="1800" dirty="0">
                <a:latin typeface="Consolas"/>
                <a:cs typeface="Consolas"/>
              </a:rPr>
              <a:t> *a, </a:t>
            </a:r>
            <a:r>
              <a:rPr lang="en-US" sz="1800" dirty="0" err="1">
                <a:latin typeface="Consolas"/>
                <a:cs typeface="Consolas"/>
              </a:rPr>
              <a:t>int</a:t>
            </a:r>
            <a:r>
              <a:rPr lang="en-US" sz="1800" dirty="0">
                <a:latin typeface="Consolas"/>
                <a:cs typeface="Consolas"/>
              </a:rPr>
              <a:t> n);</a:t>
            </a:r>
          </a:p>
          <a:p>
            <a:endParaRPr lang="en-US" sz="1800" dirty="0">
              <a:solidFill>
                <a:srgbClr val="000000"/>
              </a:solidFill>
              <a:latin typeface="Menlo-Regular"/>
            </a:endParaRP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42C62F1D-9764-E8C2-FCEF-325A62FA0C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5830" y="6276202"/>
            <a:ext cx="928772" cy="357663"/>
          </a:xfrm>
          <a:prstGeom prst="rect">
            <a:avLst/>
          </a:prstGeom>
          <a:noFill/>
          <a:ln w="3240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i="1" dirty="0" err="1">
                <a:solidFill>
                  <a:srgbClr val="3366FF"/>
                </a:solidFill>
                <a:latin typeface="Courier New" pitchFamily="49" charset="0"/>
                <a:ea typeface="msgothic" charset="0"/>
                <a:cs typeface="msgothic" charset="0"/>
              </a:rPr>
              <a:t>sum.c</a:t>
            </a:r>
            <a:endParaRPr lang="en-GB" sz="1800" b="1" i="1" dirty="0">
              <a:solidFill>
                <a:srgbClr val="3366FF"/>
              </a:solidFill>
              <a:latin typeface="Courier New" pitchFamily="49" charset="0"/>
              <a:ea typeface="msgothic" charset="0"/>
              <a:cs typeface="msgothic" charset="0"/>
            </a:endParaRP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33ED5463-BC11-2D1F-7A7D-4768A10CC4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5830" y="2575144"/>
            <a:ext cx="928772" cy="357663"/>
          </a:xfrm>
          <a:prstGeom prst="rect">
            <a:avLst/>
          </a:prstGeom>
          <a:noFill/>
          <a:ln w="3240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i="1" dirty="0" err="1">
                <a:solidFill>
                  <a:srgbClr val="3366FF"/>
                </a:solidFill>
                <a:latin typeface="Courier New" pitchFamily="49" charset="0"/>
                <a:ea typeface="msgothic" charset="0"/>
                <a:cs typeface="msgothic" charset="0"/>
              </a:rPr>
              <a:t>sum.h</a:t>
            </a:r>
            <a:endParaRPr lang="en-GB" sz="1800" b="1" i="1" dirty="0">
              <a:solidFill>
                <a:srgbClr val="3366FF"/>
              </a:solidFill>
              <a:latin typeface="Courier New" pitchFamily="49" charset="0"/>
              <a:ea typeface="msgothic" charset="0"/>
              <a:cs typeface="msgothic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FAF364E-C1B5-ABA8-7AC3-22320CD6C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92C60-C071-3249-9DBB-404B1D195F8C}" type="slidenum">
              <a:rPr lang="en-US" smtClean="0"/>
              <a:t>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7F4C6A-7265-631F-8469-4352722FE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30542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5BB04B-D237-F392-D6DF-E8E00B01B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354" name="Rectangle 2">
            <a:extLst>
              <a:ext uri="{FF2B5EF4-FFF2-40B4-BE49-F238E27FC236}">
                <a16:creationId xmlns:a16="http://schemas.microsoft.com/office/drawing/2014/main" id="{136709F9-37EB-CD73-4E32-B5EC4B0321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5694" y="111779"/>
            <a:ext cx="8229600" cy="1143000"/>
          </a:xfrm>
        </p:spPr>
        <p:txBody>
          <a:bodyPr/>
          <a:lstStyle/>
          <a:p>
            <a:r>
              <a:rPr lang="en-US" dirty="0"/>
              <a:t>Linking</a:t>
            </a:r>
          </a:p>
        </p:txBody>
      </p:sp>
      <p:sp>
        <p:nvSpPr>
          <p:cNvPr id="228356" name="Line 4">
            <a:extLst>
              <a:ext uri="{FF2B5EF4-FFF2-40B4-BE49-F238E27FC236}">
                <a16:creationId xmlns:a16="http://schemas.microsoft.com/office/drawing/2014/main" id="{888882A7-9428-1FC2-F9AE-0535F1C198ED}"/>
              </a:ext>
            </a:extLst>
          </p:cNvPr>
          <p:cNvSpPr>
            <a:spLocks noChangeShapeType="1"/>
          </p:cNvSpPr>
          <p:nvPr/>
        </p:nvSpPr>
        <p:spPr bwMode="auto">
          <a:xfrm>
            <a:off x="2672804" y="2009028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lIns="90487" tIns="44450" rIns="90487" bIns="44450">
            <a:prstTxWarp prst="textNoShape">
              <a:avLst/>
            </a:prstTxWarp>
            <a:spAutoFit/>
          </a:bodyPr>
          <a:lstStyle/>
          <a:p>
            <a:endParaRPr lang="en-US" sz="1800"/>
          </a:p>
        </p:txBody>
      </p:sp>
      <p:sp>
        <p:nvSpPr>
          <p:cNvPr id="228357" name="Rectangle 5">
            <a:extLst>
              <a:ext uri="{FF2B5EF4-FFF2-40B4-BE49-F238E27FC236}">
                <a16:creationId xmlns:a16="http://schemas.microsoft.com/office/drawing/2014/main" id="{6E7A1AD0-627F-1769-0EFD-00E5D01657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2513" y="4066428"/>
            <a:ext cx="2971800" cy="366767"/>
          </a:xfrm>
          <a:prstGeom prst="rect">
            <a:avLst/>
          </a:prstGeom>
          <a:solidFill>
            <a:srgbClr val="DEDFF5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7" tIns="44450" rIns="90487" bIns="44450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800" dirty="0" err="1">
                <a:latin typeface="Calibri"/>
                <a:cs typeface="Calibri"/>
              </a:rPr>
              <a:t>gcc</a:t>
            </a:r>
            <a:r>
              <a:rPr lang="en-US" sz="1800" dirty="0">
                <a:latin typeface="Calibri"/>
                <a:cs typeface="Calibri"/>
              </a:rPr>
              <a:t> </a:t>
            </a:r>
            <a:r>
              <a:rPr lang="en-US" sz="1800" dirty="0" err="1">
                <a:latin typeface="Calibri"/>
                <a:cs typeface="Calibri"/>
              </a:rPr>
              <a:t>main.o</a:t>
            </a:r>
            <a:r>
              <a:rPr lang="en-US" sz="1800" dirty="0">
                <a:latin typeface="Calibri"/>
                <a:cs typeface="Calibri"/>
              </a:rPr>
              <a:t> </a:t>
            </a:r>
            <a:r>
              <a:rPr lang="en-US" sz="1800" dirty="0" err="1">
                <a:latin typeface="Calibri"/>
                <a:cs typeface="Calibri"/>
              </a:rPr>
              <a:t>sum.o</a:t>
            </a:r>
            <a:endParaRPr lang="en-US" sz="1800" dirty="0">
              <a:latin typeface="Calibri"/>
              <a:cs typeface="Calibri"/>
            </a:endParaRPr>
          </a:p>
        </p:txBody>
      </p:sp>
      <p:sp>
        <p:nvSpPr>
          <p:cNvPr id="228358" name="Rectangle 6">
            <a:extLst>
              <a:ext uri="{FF2B5EF4-FFF2-40B4-BE49-F238E27FC236}">
                <a16:creationId xmlns:a16="http://schemas.microsoft.com/office/drawing/2014/main" id="{D7FB95B4-BE94-0799-96A8-5A58D5E3C4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3913" y="2378915"/>
            <a:ext cx="1752600" cy="366767"/>
          </a:xfrm>
          <a:prstGeom prst="rect">
            <a:avLst/>
          </a:prstGeom>
          <a:solidFill>
            <a:srgbClr val="DEDFF5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7" tIns="44450" rIns="90487" bIns="44450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800" dirty="0" err="1">
                <a:latin typeface="Calibri"/>
                <a:cs typeface="Calibri"/>
              </a:rPr>
              <a:t>gcc</a:t>
            </a:r>
            <a:r>
              <a:rPr lang="en-US" sz="1800" dirty="0">
                <a:latin typeface="Calibri"/>
                <a:cs typeface="Calibri"/>
              </a:rPr>
              <a:t> –c </a:t>
            </a:r>
            <a:r>
              <a:rPr lang="en-US" sz="1800" dirty="0" err="1">
                <a:latin typeface="Calibri"/>
                <a:cs typeface="Calibri"/>
              </a:rPr>
              <a:t>main.c</a:t>
            </a:r>
            <a:endParaRPr lang="en-US" sz="1800" dirty="0">
              <a:latin typeface="Calibri"/>
              <a:cs typeface="Calibri"/>
            </a:endParaRPr>
          </a:p>
        </p:txBody>
      </p:sp>
      <p:sp>
        <p:nvSpPr>
          <p:cNvPr id="228359" name="Text Box 7">
            <a:extLst>
              <a:ext uri="{FF2B5EF4-FFF2-40B4-BE49-F238E27FC236}">
                <a16:creationId xmlns:a16="http://schemas.microsoft.com/office/drawing/2014/main" id="{23B5E1DA-1D33-AAEF-72AF-512AAE825C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9404" y="1635965"/>
            <a:ext cx="1015798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800" dirty="0" err="1">
                <a:latin typeface="Courier New"/>
                <a:cs typeface="Courier New"/>
              </a:rPr>
              <a:t>main.c</a:t>
            </a:r>
            <a:endParaRPr lang="en-US" sz="1800" dirty="0">
              <a:latin typeface="Courier New"/>
              <a:cs typeface="Courier New"/>
            </a:endParaRPr>
          </a:p>
        </p:txBody>
      </p:sp>
      <p:sp>
        <p:nvSpPr>
          <p:cNvPr id="228360" name="Text Box 8">
            <a:extLst>
              <a:ext uri="{FF2B5EF4-FFF2-40B4-BE49-F238E27FC236}">
                <a16:creationId xmlns:a16="http://schemas.microsoft.com/office/drawing/2014/main" id="{26465F7F-CCA3-13DF-A1E2-7FDC32225C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33651" y="3312365"/>
            <a:ext cx="1015798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800">
                <a:latin typeface="Courier New"/>
                <a:cs typeface="Courier New"/>
              </a:rPr>
              <a:t>main.o</a:t>
            </a:r>
          </a:p>
        </p:txBody>
      </p:sp>
      <p:sp>
        <p:nvSpPr>
          <p:cNvPr id="228361" name="Rectangle 9">
            <a:extLst>
              <a:ext uri="{FF2B5EF4-FFF2-40B4-BE49-F238E27FC236}">
                <a16:creationId xmlns:a16="http://schemas.microsoft.com/office/drawing/2014/main" id="{BAA855C9-4B19-68E6-9BC9-AA547C1F37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8913" y="2378915"/>
            <a:ext cx="1797050" cy="366767"/>
          </a:xfrm>
          <a:prstGeom prst="rect">
            <a:avLst/>
          </a:prstGeom>
          <a:solidFill>
            <a:srgbClr val="DEDFF5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487" tIns="44450" rIns="90487" bIns="44450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800" dirty="0" err="1">
                <a:latin typeface="Calibri"/>
                <a:cs typeface="Calibri"/>
              </a:rPr>
              <a:t>gcc</a:t>
            </a:r>
            <a:r>
              <a:rPr lang="en-US" sz="1800" dirty="0">
                <a:latin typeface="Calibri"/>
                <a:cs typeface="Calibri"/>
              </a:rPr>
              <a:t> –c </a:t>
            </a:r>
            <a:r>
              <a:rPr lang="en-US" sz="1800" dirty="0" err="1">
                <a:latin typeface="Calibri"/>
                <a:cs typeface="Calibri"/>
              </a:rPr>
              <a:t>sum.c</a:t>
            </a:r>
            <a:endParaRPr lang="en-US" sz="1800" dirty="0">
              <a:latin typeface="Calibri"/>
              <a:cs typeface="Calibri"/>
            </a:endParaRPr>
          </a:p>
        </p:txBody>
      </p:sp>
      <p:sp>
        <p:nvSpPr>
          <p:cNvPr id="228362" name="Text Box 10">
            <a:extLst>
              <a:ext uri="{FF2B5EF4-FFF2-40B4-BE49-F238E27FC236}">
                <a16:creationId xmlns:a16="http://schemas.microsoft.com/office/drawing/2014/main" id="{5F5221F4-E534-D0C2-134F-B1A17CD562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5113" y="1635965"/>
            <a:ext cx="877276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800" dirty="0" err="1">
                <a:latin typeface="Courier New"/>
                <a:cs typeface="Courier New"/>
              </a:rPr>
              <a:t>sum.c</a:t>
            </a:r>
            <a:endParaRPr lang="en-US" sz="1800" dirty="0">
              <a:latin typeface="Courier New"/>
              <a:cs typeface="Courier New"/>
            </a:endParaRPr>
          </a:p>
        </p:txBody>
      </p:sp>
      <p:sp>
        <p:nvSpPr>
          <p:cNvPr id="228363" name="Text Box 11">
            <a:extLst>
              <a:ext uri="{FF2B5EF4-FFF2-40B4-BE49-F238E27FC236}">
                <a16:creationId xmlns:a16="http://schemas.microsoft.com/office/drawing/2014/main" id="{C7AAC7D7-B25F-821E-F91C-D779B12785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33413" y="3312365"/>
            <a:ext cx="877276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800" dirty="0" err="1">
                <a:latin typeface="Courier New"/>
                <a:cs typeface="Courier New"/>
              </a:rPr>
              <a:t>sum.o</a:t>
            </a:r>
            <a:endParaRPr lang="en-US" sz="1800" dirty="0">
              <a:latin typeface="Courier New"/>
              <a:cs typeface="Courier New"/>
            </a:endParaRPr>
          </a:p>
        </p:txBody>
      </p:sp>
      <p:sp>
        <p:nvSpPr>
          <p:cNvPr id="228364" name="Text Box 12">
            <a:extLst>
              <a:ext uri="{FF2B5EF4-FFF2-40B4-BE49-F238E27FC236}">
                <a16:creationId xmlns:a16="http://schemas.microsoft.com/office/drawing/2014/main" id="{1716B361-2BB2-6800-14DE-E054166A46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5513" y="5152833"/>
            <a:ext cx="877276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800" dirty="0" err="1">
                <a:latin typeface="Courier New"/>
                <a:cs typeface="Courier New"/>
              </a:rPr>
              <a:t>a.out</a:t>
            </a:r>
            <a:endParaRPr lang="en-US" sz="1800" dirty="0">
              <a:latin typeface="Courier New"/>
              <a:cs typeface="Courier New"/>
            </a:endParaRPr>
          </a:p>
        </p:txBody>
      </p:sp>
      <p:sp>
        <p:nvSpPr>
          <p:cNvPr id="228365" name="Line 13">
            <a:extLst>
              <a:ext uri="{FF2B5EF4-FFF2-40B4-BE49-F238E27FC236}">
                <a16:creationId xmlns:a16="http://schemas.microsoft.com/office/drawing/2014/main" id="{3912C592-647E-348B-35F1-21F67043CB30}"/>
              </a:ext>
            </a:extLst>
          </p:cNvPr>
          <p:cNvSpPr>
            <a:spLocks noChangeShapeType="1"/>
          </p:cNvSpPr>
          <p:nvPr/>
        </p:nvSpPr>
        <p:spPr bwMode="auto">
          <a:xfrm>
            <a:off x="4543426" y="2009028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lIns="90487" tIns="44450" rIns="90487" bIns="44450">
            <a:prstTxWarp prst="textNoShape">
              <a:avLst/>
            </a:prstTxWarp>
            <a:spAutoFit/>
          </a:bodyPr>
          <a:lstStyle/>
          <a:p>
            <a:endParaRPr lang="en-US" sz="1800"/>
          </a:p>
        </p:txBody>
      </p:sp>
      <p:sp>
        <p:nvSpPr>
          <p:cNvPr id="228366" name="Line 14">
            <a:extLst>
              <a:ext uri="{FF2B5EF4-FFF2-40B4-BE49-F238E27FC236}">
                <a16:creationId xmlns:a16="http://schemas.microsoft.com/office/drawing/2014/main" id="{7BC5073A-5040-752C-5EC5-2F4621979F42}"/>
              </a:ext>
            </a:extLst>
          </p:cNvPr>
          <p:cNvSpPr>
            <a:spLocks noChangeShapeType="1"/>
          </p:cNvSpPr>
          <p:nvPr/>
        </p:nvSpPr>
        <p:spPr bwMode="auto">
          <a:xfrm>
            <a:off x="2932113" y="2851990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lIns="90487" tIns="44450" rIns="90487" bIns="44450">
            <a:prstTxWarp prst="textNoShape">
              <a:avLst/>
            </a:prstTxWarp>
            <a:spAutoFit/>
          </a:bodyPr>
          <a:lstStyle/>
          <a:p>
            <a:endParaRPr lang="en-US" sz="1800" dirty="0"/>
          </a:p>
        </p:txBody>
      </p:sp>
      <p:sp>
        <p:nvSpPr>
          <p:cNvPr id="228367" name="Line 15">
            <a:extLst>
              <a:ext uri="{FF2B5EF4-FFF2-40B4-BE49-F238E27FC236}">
                <a16:creationId xmlns:a16="http://schemas.microsoft.com/office/drawing/2014/main" id="{3C9A1781-39AE-AC9F-7205-5233AA3562CB}"/>
              </a:ext>
            </a:extLst>
          </p:cNvPr>
          <p:cNvSpPr>
            <a:spLocks noChangeShapeType="1"/>
          </p:cNvSpPr>
          <p:nvPr/>
        </p:nvSpPr>
        <p:spPr bwMode="auto">
          <a:xfrm>
            <a:off x="4924426" y="2851990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lIns="90487" tIns="44450" rIns="90487" bIns="44450">
            <a:prstTxWarp prst="textNoShape">
              <a:avLst/>
            </a:prstTxWarp>
            <a:spAutoFit/>
          </a:bodyPr>
          <a:lstStyle/>
          <a:p>
            <a:endParaRPr lang="en-US" sz="1800" dirty="0"/>
          </a:p>
        </p:txBody>
      </p:sp>
      <p:sp>
        <p:nvSpPr>
          <p:cNvPr id="228368" name="Line 16">
            <a:extLst>
              <a:ext uri="{FF2B5EF4-FFF2-40B4-BE49-F238E27FC236}">
                <a16:creationId xmlns:a16="http://schemas.microsoft.com/office/drawing/2014/main" id="{2387F7C8-8A58-F353-F109-8E427B1AA93C}"/>
              </a:ext>
            </a:extLst>
          </p:cNvPr>
          <p:cNvSpPr>
            <a:spLocks noChangeShapeType="1"/>
          </p:cNvSpPr>
          <p:nvPr/>
        </p:nvSpPr>
        <p:spPr bwMode="auto">
          <a:xfrm>
            <a:off x="4924426" y="3685428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lIns="90487" tIns="44450" rIns="90487" bIns="44450">
            <a:prstTxWarp prst="textNoShape">
              <a:avLst/>
            </a:prstTxWarp>
            <a:spAutoFit/>
          </a:bodyPr>
          <a:lstStyle/>
          <a:p>
            <a:endParaRPr lang="en-US" sz="1800"/>
          </a:p>
        </p:txBody>
      </p:sp>
      <p:sp>
        <p:nvSpPr>
          <p:cNvPr id="228369" name="Line 17">
            <a:extLst>
              <a:ext uri="{FF2B5EF4-FFF2-40B4-BE49-F238E27FC236}">
                <a16:creationId xmlns:a16="http://schemas.microsoft.com/office/drawing/2014/main" id="{31C199DD-A511-BAF7-3FCC-B76811E48961}"/>
              </a:ext>
            </a:extLst>
          </p:cNvPr>
          <p:cNvSpPr>
            <a:spLocks noChangeShapeType="1"/>
          </p:cNvSpPr>
          <p:nvPr/>
        </p:nvSpPr>
        <p:spPr bwMode="auto">
          <a:xfrm>
            <a:off x="3824288" y="4760165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lIns="90487" tIns="44450" rIns="90487" bIns="44450">
            <a:prstTxWarp prst="textNoShape">
              <a:avLst/>
            </a:prstTxWarp>
            <a:spAutoFit/>
          </a:bodyPr>
          <a:lstStyle/>
          <a:p>
            <a:endParaRPr lang="en-US" sz="1800" dirty="0"/>
          </a:p>
        </p:txBody>
      </p:sp>
      <p:sp>
        <p:nvSpPr>
          <p:cNvPr id="228370" name="Line 18">
            <a:extLst>
              <a:ext uri="{FF2B5EF4-FFF2-40B4-BE49-F238E27FC236}">
                <a16:creationId xmlns:a16="http://schemas.microsoft.com/office/drawing/2014/main" id="{7176C17D-2D69-71F9-F2AB-81DC64AE1ECC}"/>
              </a:ext>
            </a:extLst>
          </p:cNvPr>
          <p:cNvSpPr>
            <a:spLocks noChangeShapeType="1"/>
          </p:cNvSpPr>
          <p:nvPr/>
        </p:nvSpPr>
        <p:spPr bwMode="auto">
          <a:xfrm>
            <a:off x="2932113" y="3685428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lIns="90487" tIns="44450" rIns="90487" bIns="44450">
            <a:prstTxWarp prst="textNoShape">
              <a:avLst/>
            </a:prstTxWarp>
            <a:spAutoFit/>
          </a:bodyPr>
          <a:lstStyle/>
          <a:p>
            <a:endParaRPr lang="en-US" sz="1800"/>
          </a:p>
        </p:txBody>
      </p:sp>
      <p:sp>
        <p:nvSpPr>
          <p:cNvPr id="228371" name="Text Box 19">
            <a:extLst>
              <a:ext uri="{FF2B5EF4-FFF2-40B4-BE49-F238E27FC236}">
                <a16:creationId xmlns:a16="http://schemas.microsoft.com/office/drawing/2014/main" id="{32351937-6466-342D-E1F6-4322171A24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8713" y="1688353"/>
            <a:ext cx="1321145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800" i="1" dirty="0">
                <a:solidFill>
                  <a:srgbClr val="C00000"/>
                </a:solidFill>
                <a:latin typeface="Calibri"/>
                <a:cs typeface="Calibri"/>
              </a:rPr>
              <a:t>Source files</a:t>
            </a:r>
          </a:p>
        </p:txBody>
      </p:sp>
      <p:sp>
        <p:nvSpPr>
          <p:cNvPr id="228372" name="Text Box 20">
            <a:extLst>
              <a:ext uri="{FF2B5EF4-FFF2-40B4-BE49-F238E27FC236}">
                <a16:creationId xmlns:a16="http://schemas.microsoft.com/office/drawing/2014/main" id="{15008C3B-8C7E-56B2-E4F2-11E2083379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56313" y="3232990"/>
            <a:ext cx="2466966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800" i="1" u="sng" dirty="0">
                <a:solidFill>
                  <a:srgbClr val="C00000"/>
                </a:solidFill>
                <a:latin typeface="Calibri"/>
                <a:cs typeface="Calibri"/>
              </a:rPr>
              <a:t>Re-locatable</a:t>
            </a:r>
            <a:r>
              <a:rPr lang="en-US" sz="1800" i="1" dirty="0">
                <a:solidFill>
                  <a:srgbClr val="C00000"/>
                </a:solidFill>
                <a:latin typeface="Calibri"/>
                <a:cs typeface="Calibri"/>
              </a:rPr>
              <a:t> object files</a:t>
            </a:r>
          </a:p>
        </p:txBody>
      </p:sp>
      <p:sp>
        <p:nvSpPr>
          <p:cNvPr id="228373" name="Text Box 21">
            <a:extLst>
              <a:ext uri="{FF2B5EF4-FFF2-40B4-BE49-F238E27FC236}">
                <a16:creationId xmlns:a16="http://schemas.microsoft.com/office/drawing/2014/main" id="{0AAB905A-DA7B-C862-2131-D382E731A0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0696" y="5090021"/>
            <a:ext cx="1591764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800" i="1" u="sng" dirty="0">
                <a:solidFill>
                  <a:srgbClr val="C00000"/>
                </a:solidFill>
                <a:latin typeface="Calibri"/>
                <a:cs typeface="Calibri"/>
              </a:rPr>
              <a:t>executable</a:t>
            </a:r>
            <a:r>
              <a:rPr lang="en-US" sz="1800" i="1" dirty="0">
                <a:solidFill>
                  <a:srgbClr val="C00000"/>
                </a:solidFill>
                <a:latin typeface="Calibri"/>
                <a:cs typeface="Calibri"/>
              </a:rPr>
              <a:t> file</a:t>
            </a:r>
          </a:p>
        </p:txBody>
      </p:sp>
      <p:sp>
        <p:nvSpPr>
          <p:cNvPr id="22" name="Text Box 10">
            <a:extLst>
              <a:ext uri="{FF2B5EF4-FFF2-40B4-BE49-F238E27FC236}">
                <a16:creationId xmlns:a16="http://schemas.microsoft.com/office/drawing/2014/main" id="{D4092B5F-09E1-F947-A26B-0E7F6903CC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79037" y="1643902"/>
            <a:ext cx="877276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800" dirty="0" err="1">
                <a:latin typeface="Courier New"/>
                <a:cs typeface="Courier New"/>
              </a:rPr>
              <a:t>sum.h</a:t>
            </a:r>
            <a:endParaRPr lang="en-US" sz="1800" dirty="0">
              <a:latin typeface="Courier New"/>
              <a:cs typeface="Courier New"/>
            </a:endParaRPr>
          </a:p>
        </p:txBody>
      </p:sp>
      <p:sp>
        <p:nvSpPr>
          <p:cNvPr id="23" name="Line 13">
            <a:extLst>
              <a:ext uri="{FF2B5EF4-FFF2-40B4-BE49-F238E27FC236}">
                <a16:creationId xmlns:a16="http://schemas.microsoft.com/office/drawing/2014/main" id="{084ABB69-455C-509E-C5E6-6AD101C77B51}"/>
              </a:ext>
            </a:extLst>
          </p:cNvPr>
          <p:cNvSpPr>
            <a:spLocks noChangeShapeType="1"/>
          </p:cNvSpPr>
          <p:nvPr/>
        </p:nvSpPr>
        <p:spPr bwMode="auto">
          <a:xfrm>
            <a:off x="5647350" y="2016965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lIns="90487" tIns="44450" rIns="90487" bIns="44450">
            <a:prstTxWarp prst="textNoShape">
              <a:avLst/>
            </a:prstTxWarp>
            <a:spAutoFit/>
          </a:bodyPr>
          <a:lstStyle/>
          <a:p>
            <a:endParaRPr lang="en-US" sz="18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E17EBC-6C1D-1090-C771-12D542BFBDC2}"/>
              </a:ext>
            </a:extLst>
          </p:cNvPr>
          <p:cNvSpPr txBox="1"/>
          <p:nvPr/>
        </p:nvSpPr>
        <p:spPr>
          <a:xfrm>
            <a:off x="477430" y="2328770"/>
            <a:ext cx="15087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3366FF"/>
                </a:solidFill>
              </a:rPr>
              <a:t>Compile: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C063FDF-B2DE-813D-319C-F0AE4AB89817}"/>
              </a:ext>
            </a:extLst>
          </p:cNvPr>
          <p:cNvSpPr txBox="1"/>
          <p:nvPr/>
        </p:nvSpPr>
        <p:spPr>
          <a:xfrm>
            <a:off x="927539" y="4002479"/>
            <a:ext cx="8887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3366FF"/>
                </a:solidFill>
              </a:rPr>
              <a:t>Link: </a:t>
            </a:r>
          </a:p>
        </p:txBody>
      </p:sp>
      <p:sp>
        <p:nvSpPr>
          <p:cNvPr id="2" name="Rounded Rectangular Callout 1">
            <a:extLst>
              <a:ext uri="{FF2B5EF4-FFF2-40B4-BE49-F238E27FC236}">
                <a16:creationId xmlns:a16="http://schemas.microsoft.com/office/drawing/2014/main" id="{85B6317E-5FD1-1F22-0055-15045B25A82A}"/>
              </a:ext>
            </a:extLst>
          </p:cNvPr>
          <p:cNvSpPr/>
          <p:nvPr/>
        </p:nvSpPr>
        <p:spPr>
          <a:xfrm>
            <a:off x="6056313" y="3670487"/>
            <a:ext cx="1578628" cy="608254"/>
          </a:xfrm>
          <a:prstGeom prst="wedgeRoundRectCallout">
            <a:avLst>
              <a:gd name="adj1" fmla="val -88979"/>
              <a:gd name="adj2" fmla="val -60320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contains </a:t>
            </a:r>
            <a:r>
              <a:rPr lang="en-US" dirty="0">
                <a:solidFill>
                  <a:srgbClr val="C00000"/>
                </a:solidFill>
              </a:rPr>
              <a:t>sum</a:t>
            </a:r>
            <a:r>
              <a:rPr lang="en-US" dirty="0">
                <a:solidFill>
                  <a:schemeClr val="tx1"/>
                </a:solidFill>
              </a:rPr>
              <a:t> function</a:t>
            </a:r>
          </a:p>
        </p:txBody>
      </p:sp>
      <p:sp>
        <p:nvSpPr>
          <p:cNvPr id="27" name="Rounded Rectangular Callout 26">
            <a:extLst>
              <a:ext uri="{FF2B5EF4-FFF2-40B4-BE49-F238E27FC236}">
                <a16:creationId xmlns:a16="http://schemas.microsoft.com/office/drawing/2014/main" id="{D10CCD77-35DC-DD3C-4F85-F64E191BA51A}"/>
              </a:ext>
            </a:extLst>
          </p:cNvPr>
          <p:cNvSpPr/>
          <p:nvPr/>
        </p:nvSpPr>
        <p:spPr>
          <a:xfrm>
            <a:off x="6056313" y="4357013"/>
            <a:ext cx="1578628" cy="608254"/>
          </a:xfrm>
          <a:prstGeom prst="wedgeRoundRectCallout">
            <a:avLst>
              <a:gd name="adj1" fmla="val -220538"/>
              <a:gd name="adj2" fmla="val -161033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contains </a:t>
            </a:r>
            <a:r>
              <a:rPr lang="en-US" dirty="0">
                <a:solidFill>
                  <a:srgbClr val="C00000"/>
                </a:solidFill>
              </a:rPr>
              <a:t>main</a:t>
            </a:r>
            <a:r>
              <a:rPr lang="en-US" dirty="0">
                <a:solidFill>
                  <a:srgbClr val="3366FF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function</a:t>
            </a:r>
          </a:p>
        </p:txBody>
      </p:sp>
      <p:sp>
        <p:nvSpPr>
          <p:cNvPr id="28" name="Rounded Rectangular Callout 27">
            <a:extLst>
              <a:ext uri="{FF2B5EF4-FFF2-40B4-BE49-F238E27FC236}">
                <a16:creationId xmlns:a16="http://schemas.microsoft.com/office/drawing/2014/main" id="{3BAEF5A4-1029-7D7F-441B-8278F48CB92D}"/>
              </a:ext>
            </a:extLst>
          </p:cNvPr>
          <p:cNvSpPr/>
          <p:nvPr/>
        </p:nvSpPr>
        <p:spPr>
          <a:xfrm>
            <a:off x="6223832" y="5779412"/>
            <a:ext cx="2486874" cy="869411"/>
          </a:xfrm>
          <a:prstGeom prst="wedgeRoundRectCallout">
            <a:avLst>
              <a:gd name="adj1" fmla="val -126681"/>
              <a:gd name="adj2" fmla="val -77282"/>
              <a:gd name="adj3" fmla="val 16667"/>
            </a:avLst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contains both </a:t>
            </a:r>
            <a:r>
              <a:rPr lang="en-US" dirty="0">
                <a:solidFill>
                  <a:srgbClr val="C00000"/>
                </a:solidFill>
              </a:rPr>
              <a:t>main</a:t>
            </a:r>
            <a:r>
              <a:rPr lang="en-US" dirty="0">
                <a:solidFill>
                  <a:srgbClr val="3366FF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and</a:t>
            </a:r>
            <a:r>
              <a:rPr lang="en-US" dirty="0">
                <a:solidFill>
                  <a:srgbClr val="3366FF"/>
                </a:solidFill>
              </a:rPr>
              <a:t> </a:t>
            </a:r>
            <a:r>
              <a:rPr lang="en-US" dirty="0">
                <a:solidFill>
                  <a:srgbClr val="C00000"/>
                </a:solidFill>
              </a:rPr>
              <a:t>sum</a:t>
            </a:r>
            <a:r>
              <a:rPr lang="en-US" dirty="0">
                <a:solidFill>
                  <a:srgbClr val="3366FF"/>
                </a:solidFill>
              </a:rPr>
              <a:t> </a:t>
            </a:r>
            <a:r>
              <a:rPr lang="en-US" dirty="0">
                <a:solidFill>
                  <a:srgbClr val="000000"/>
                </a:solidFill>
              </a:rPr>
              <a:t>and other library functions</a:t>
            </a:r>
          </a:p>
        </p:txBody>
      </p:sp>
      <p:sp>
        <p:nvSpPr>
          <p:cNvPr id="29" name="Text Box 10">
            <a:extLst>
              <a:ext uri="{FF2B5EF4-FFF2-40B4-BE49-F238E27FC236}">
                <a16:creationId xmlns:a16="http://schemas.microsoft.com/office/drawing/2014/main" id="{43C0BEF6-1D42-9957-EE8C-F9F5DCF1BA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487" y="1647633"/>
            <a:ext cx="877276" cy="369332"/>
          </a:xfrm>
          <a:prstGeom prst="rect">
            <a:avLst/>
          </a:prstGeom>
          <a:noFill/>
          <a:ln w="25400">
            <a:noFill/>
            <a:miter lim="800000"/>
            <a:headEnd/>
            <a:tailEnd/>
          </a:ln>
          <a:effectLst/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 sz="1800" dirty="0" err="1">
                <a:latin typeface="Courier New"/>
                <a:cs typeface="Courier New"/>
              </a:rPr>
              <a:t>sum.h</a:t>
            </a:r>
            <a:endParaRPr lang="en-US" sz="1800" dirty="0">
              <a:latin typeface="Courier New"/>
              <a:cs typeface="Courier New"/>
            </a:endParaRPr>
          </a:p>
        </p:txBody>
      </p:sp>
      <p:sp>
        <p:nvSpPr>
          <p:cNvPr id="30" name="Line 13">
            <a:extLst>
              <a:ext uri="{FF2B5EF4-FFF2-40B4-BE49-F238E27FC236}">
                <a16:creationId xmlns:a16="http://schemas.microsoft.com/office/drawing/2014/main" id="{34505D81-5DB2-F568-0426-027DF526D82E}"/>
              </a:ext>
            </a:extLst>
          </p:cNvPr>
          <p:cNvSpPr>
            <a:spLocks noChangeShapeType="1"/>
          </p:cNvSpPr>
          <p:nvPr/>
        </p:nvSpPr>
        <p:spPr bwMode="auto">
          <a:xfrm>
            <a:off x="3703800" y="2020696"/>
            <a:ext cx="0" cy="3810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 lIns="90487" tIns="44450" rIns="90487" bIns="44450">
            <a:prstTxWarp prst="textNoShape">
              <a:avLst/>
            </a:prstTxWarp>
            <a:spAutoFit/>
          </a:bodyPr>
          <a:lstStyle/>
          <a:p>
            <a:endParaRPr lang="en-US" sz="18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669E65-E59E-B70C-D741-98F95B614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92C60-C071-3249-9DBB-404B1D195F8C}" type="slidenum">
              <a:rPr lang="en-US" smtClean="0"/>
              <a:t>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BD3F7F-7CAE-61B3-8FD4-0B63B7F6A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76809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7" grpId="0" animBg="1"/>
      <p:bldP spid="2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F59CC-46CE-8E49-5EC9-A48AADCB6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636" name="Rectangle 4">
            <a:extLst>
              <a:ext uri="{FF2B5EF4-FFF2-40B4-BE49-F238E27FC236}">
                <a16:creationId xmlns:a16="http://schemas.microsoft.com/office/drawing/2014/main" id="{7B1D73F8-5CD1-02CC-05EB-988964F1D5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a separate link phase?</a:t>
            </a:r>
          </a:p>
        </p:txBody>
      </p:sp>
      <p:sp>
        <p:nvSpPr>
          <p:cNvPr id="197637" name="Rectangle 5">
            <a:extLst>
              <a:ext uri="{FF2B5EF4-FFF2-40B4-BE49-F238E27FC236}">
                <a16:creationId xmlns:a16="http://schemas.microsoft.com/office/drawing/2014/main" id="{A24FC28D-D951-9F08-74E7-CA2CA38EC3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4000" y="1600200"/>
            <a:ext cx="8576235" cy="4525963"/>
          </a:xfrm>
        </p:spPr>
        <p:txBody>
          <a:bodyPr>
            <a:normAutofit/>
          </a:bodyPr>
          <a:lstStyle/>
          <a:p>
            <a:r>
              <a:rPr lang="en-US" dirty="0"/>
              <a:t>Modular code &amp; efficient compilation</a:t>
            </a:r>
          </a:p>
          <a:p>
            <a:pPr lvl="1"/>
            <a:r>
              <a:rPr lang="en-US" dirty="0"/>
              <a:t>Better to structure a program as smaller source files</a:t>
            </a:r>
          </a:p>
          <a:p>
            <a:pPr lvl="1"/>
            <a:r>
              <a:rPr lang="en-US" dirty="0"/>
              <a:t>Change of a source file requires only re-compile that file, and then relink.</a:t>
            </a:r>
          </a:p>
          <a:p>
            <a:pPr lvl="1"/>
            <a:endParaRPr lang="en-US" dirty="0"/>
          </a:p>
          <a:p>
            <a:r>
              <a:rPr lang="en-US" dirty="0"/>
              <a:t>Support libraries (no source needed)</a:t>
            </a:r>
          </a:p>
          <a:p>
            <a:pPr lvl="1"/>
            <a:r>
              <a:rPr lang="en-US" dirty="0"/>
              <a:t>Build libraries of common functions, other files link against libraries</a:t>
            </a:r>
          </a:p>
          <a:p>
            <a:pPr lvl="2"/>
            <a:r>
              <a:rPr lang="en-US" dirty="0"/>
              <a:t>e.g., Math library, standard C library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D608BA-E640-5683-C25E-70229197B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92C60-C071-3249-9DBB-404B1D195F8C}" type="slidenum">
              <a:rPr lang="en-US" smtClean="0"/>
              <a:t>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AB6458-0AED-70E7-04A6-9E81A15B3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2494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6482B3-0089-2EAF-1143-A2390F81E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12" name="Rectangle 4">
            <a:extLst>
              <a:ext uri="{FF2B5EF4-FFF2-40B4-BE49-F238E27FC236}">
                <a16:creationId xmlns:a16="http://schemas.microsoft.com/office/drawing/2014/main" id="{06B7D384-5F84-6974-E8E7-D16C4AB25D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9765" y="457200"/>
            <a:ext cx="9084235" cy="781050"/>
          </a:xfrm>
        </p:spPr>
        <p:txBody>
          <a:bodyPr>
            <a:normAutofit fontScale="90000"/>
          </a:bodyPr>
          <a:lstStyle/>
          <a:p>
            <a:r>
              <a:rPr lang="en-US" dirty="0"/>
              <a:t>How does linker merge object files?</a:t>
            </a:r>
          </a:p>
        </p:txBody>
      </p:sp>
      <p:sp>
        <p:nvSpPr>
          <p:cNvPr id="196613" name="Rectangle 5">
            <a:extLst>
              <a:ext uri="{FF2B5EF4-FFF2-40B4-BE49-F238E27FC236}">
                <a16:creationId xmlns:a16="http://schemas.microsoft.com/office/drawing/2014/main" id="{FDD91EC9-8985-2888-2D46-6B31046CC4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-22123" y="1373188"/>
            <a:ext cx="9271840" cy="5484812"/>
          </a:xfrm>
        </p:spPr>
        <p:txBody>
          <a:bodyPr>
            <a:normAutofit/>
          </a:bodyPr>
          <a:lstStyle/>
          <a:p>
            <a:r>
              <a:rPr lang="en-US" dirty="0"/>
              <a:t>Step 1: Symbol resolution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Programs define and reference </a:t>
            </a:r>
            <a:r>
              <a:rPr lang="en-US" i="1" dirty="0"/>
              <a:t>symbols</a:t>
            </a:r>
            <a:r>
              <a:rPr lang="en-US" dirty="0"/>
              <a:t> (global variables and functions):</a:t>
            </a:r>
          </a:p>
          <a:p>
            <a:pPr lvl="2"/>
            <a:r>
              <a:rPr lang="en-US" sz="1800" b="1" dirty="0">
                <a:latin typeface="Courier New" charset="0"/>
              </a:rPr>
              <a:t>void swap() {…}   // define symbol swap</a:t>
            </a:r>
          </a:p>
          <a:p>
            <a:pPr lvl="2"/>
            <a:r>
              <a:rPr lang="en-US" sz="1800" b="1" dirty="0">
                <a:latin typeface="Courier New" charset="0"/>
              </a:rPr>
              <a:t>swap();           // reference symbol swap</a:t>
            </a:r>
          </a:p>
          <a:p>
            <a:pPr lvl="2"/>
            <a:r>
              <a:rPr lang="en-US" sz="1800" b="1" dirty="0" err="1">
                <a:latin typeface="Courier New" charset="0"/>
              </a:rPr>
              <a:t>int</a:t>
            </a:r>
            <a:r>
              <a:rPr lang="en-US" sz="1800" b="1" dirty="0">
                <a:latin typeface="Courier New" charset="0"/>
              </a:rPr>
              <a:t> count;     // define global variable (symbol) count</a:t>
            </a:r>
            <a:endParaRPr lang="en-US" sz="1800" b="1" dirty="0"/>
          </a:p>
          <a:p>
            <a:pPr lvl="1"/>
            <a:endParaRPr lang="en-US" dirty="0"/>
          </a:p>
          <a:p>
            <a:pPr lvl="1"/>
            <a:r>
              <a:rPr lang="en-US" dirty="0"/>
              <a:t>Symbol definitions are stored in object file in </a:t>
            </a:r>
            <a:r>
              <a:rPr lang="en-US" i="1" dirty="0"/>
              <a:t>symbol table</a:t>
            </a:r>
            <a:r>
              <a:rPr lang="en-US" dirty="0"/>
              <a:t>.</a:t>
            </a:r>
          </a:p>
          <a:p>
            <a:pPr lvl="2"/>
            <a:r>
              <a:rPr lang="en-US" dirty="0"/>
              <a:t>Each symbol table entry contains size, and location of symbol.</a:t>
            </a:r>
          </a:p>
          <a:p>
            <a:pPr lvl="1"/>
            <a:endParaRPr lang="en-US" dirty="0"/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Linker associates each symbol reference with its symbol definition (i.e. the address of that symbol)</a:t>
            </a:r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3EE9739-65AB-6F8E-C53F-716F61BC0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92C60-C071-3249-9DBB-404B1D195F8C}" type="slidenum">
              <a:rPr lang="en-US" smtClean="0"/>
              <a:t>27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331573-B0B9-1588-9E50-C9A3F58E0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789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6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6613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ABE19-56CF-6D65-16B0-6E7AA499B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578" name="Rectangle 2">
            <a:extLst>
              <a:ext uri="{FF2B5EF4-FFF2-40B4-BE49-F238E27FC236}">
                <a16:creationId xmlns:a16="http://schemas.microsoft.com/office/drawing/2014/main" id="{B9E55331-7892-3FF1-5EA4-0434B27AC9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6875" y="280335"/>
            <a:ext cx="8492565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How does linker merge object files?</a:t>
            </a:r>
          </a:p>
        </p:txBody>
      </p:sp>
      <p:sp>
        <p:nvSpPr>
          <p:cNvPr id="280579" name="Rectangle 3">
            <a:extLst>
              <a:ext uri="{FF2B5EF4-FFF2-40B4-BE49-F238E27FC236}">
                <a16:creationId xmlns:a16="http://schemas.microsoft.com/office/drawing/2014/main" id="{B024E17A-79E0-C55B-0E24-25E22F43BE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94235" y="1600200"/>
            <a:ext cx="8949765" cy="4525963"/>
          </a:xfrm>
        </p:spPr>
        <p:txBody>
          <a:bodyPr/>
          <a:lstStyle/>
          <a:p>
            <a:r>
              <a:rPr lang="en-US" dirty="0"/>
              <a:t>Step 2: Relocation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With “</a:t>
            </a:r>
            <a:r>
              <a:rPr lang="en-US" dirty="0" err="1"/>
              <a:t>gcc</a:t>
            </a:r>
            <a:r>
              <a:rPr lang="en-US" dirty="0"/>
              <a:t> –c ...”, whenever compiler sees references to an unknown symbol, it uses a temporary placeholder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Linker re-locates symbols in the </a:t>
            </a:r>
            <a:r>
              <a:rPr lang="en-US" dirty="0">
                <a:latin typeface="Courier New"/>
                <a:cs typeface="Courier New"/>
              </a:rPr>
              <a:t>.o</a:t>
            </a:r>
            <a:r>
              <a:rPr lang="en-US" dirty="0"/>
              <a:t> files to their final memory locations in the executable. Replace placeholders with actual addresses.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0D5702-F229-9D85-87D1-9D79A9C6D09C}"/>
              </a:ext>
            </a:extLst>
          </p:cNvPr>
          <p:cNvSpPr txBox="1"/>
          <p:nvPr/>
        </p:nvSpPr>
        <p:spPr>
          <a:xfrm>
            <a:off x="396875" y="5664498"/>
            <a:ext cx="59784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libri" pitchFamily="34" charset="0"/>
              </a:rPr>
              <a:t>Let’s look at these two steps in more detail….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2319EEF-E4A1-BA85-D8EF-2B4A0EF7A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92C60-C071-3249-9DBB-404B1D195F8C}" type="slidenum">
              <a:rPr lang="en-US" smtClean="0"/>
              <a:t>28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44B357-12AA-CB8D-AFDA-8557D42EA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145836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760FA-EE9C-46FB-3CD1-509133663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58" name="Rectangle 2">
            <a:extLst>
              <a:ext uri="{FF2B5EF4-FFF2-40B4-BE49-F238E27FC236}">
                <a16:creationId xmlns:a16="http://schemas.microsoft.com/office/drawing/2014/main" id="{9F77008E-8D8A-71B9-E492-80D3128C31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Format of the object files</a:t>
            </a:r>
          </a:p>
        </p:txBody>
      </p:sp>
      <p:sp>
        <p:nvSpPr>
          <p:cNvPr id="198659" name="Rectangle 3">
            <a:extLst>
              <a:ext uri="{FF2B5EF4-FFF2-40B4-BE49-F238E27FC236}">
                <a16:creationId xmlns:a16="http://schemas.microsoft.com/office/drawing/2014/main" id="{20B00D97-87F8-3D81-2659-2C0C0DA97E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199" y="1807882"/>
            <a:ext cx="8373035" cy="4318281"/>
          </a:xfrm>
        </p:spPr>
        <p:txBody>
          <a:bodyPr/>
          <a:lstStyle/>
          <a:p>
            <a:r>
              <a:rPr lang="en-US" dirty="0"/>
              <a:t>ELF is Linux’s binary format for object files, including </a:t>
            </a:r>
          </a:p>
          <a:p>
            <a:pPr lvl="1"/>
            <a:r>
              <a:rPr lang="en-US" dirty="0"/>
              <a:t>Object files (</a:t>
            </a:r>
            <a:r>
              <a:rPr lang="en-US" dirty="0">
                <a:latin typeface="Courier New"/>
                <a:cs typeface="Courier New"/>
              </a:rPr>
              <a:t>.o</a:t>
            </a:r>
            <a:r>
              <a:rPr lang="en-US" dirty="0"/>
              <a:t>), </a:t>
            </a:r>
          </a:p>
          <a:p>
            <a:pPr lvl="1"/>
            <a:r>
              <a:rPr lang="en-US" dirty="0"/>
              <a:t>Executable object files </a:t>
            </a:r>
            <a:r>
              <a:rPr lang="en-US" dirty="0">
                <a:latin typeface="Courier New"/>
                <a:cs typeface="Courier New"/>
              </a:rPr>
              <a:t>(</a:t>
            </a:r>
            <a:r>
              <a:rPr lang="en-US" dirty="0" err="1">
                <a:latin typeface="Courier New"/>
                <a:cs typeface="Courier New"/>
              </a:rPr>
              <a:t>a.out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Shared object files, i.e. libraries (</a:t>
            </a:r>
            <a:r>
              <a:rPr lang="en-US" dirty="0">
                <a:latin typeface="Courier New"/>
                <a:cs typeface="Courier New"/>
              </a:rPr>
              <a:t>.so</a:t>
            </a:r>
            <a:r>
              <a:rPr lang="en-US" dirty="0"/>
              <a:t>)</a:t>
            </a:r>
          </a:p>
          <a:p>
            <a:pPr lvl="1"/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B6A0C65-0A94-7102-1FBE-9EE49B59B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92C60-C071-3249-9DBB-404B1D195F8C}" type="slidenum">
              <a:rPr lang="en-US" smtClean="0"/>
              <a:t>29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6C234C-CFD6-BF53-2DAC-84DC2AD45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3536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F3B38E-2847-8715-71A9-8FB476108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1">
            <a:extLst>
              <a:ext uri="{FF2B5EF4-FFF2-40B4-BE49-F238E27FC236}">
                <a16:creationId xmlns:a16="http://schemas.microsoft.com/office/drawing/2014/main" id="{F8BBE287-460B-341B-D805-F2B0A35579D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72533" y="385763"/>
            <a:ext cx="8716962" cy="782638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ELF Object File Format</a:t>
            </a:r>
          </a:p>
        </p:txBody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97F3A38D-DCD2-9F2B-375B-BFB57ECFEF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168401"/>
            <a:ext cx="5348287" cy="5232399"/>
          </a:xfrm>
          <a:ln/>
        </p:spPr>
        <p:txBody>
          <a:bodyPr/>
          <a:lstStyle/>
          <a:p>
            <a:pPr>
              <a:lnSpc>
                <a:spcPct val="83000"/>
              </a:lnSpc>
              <a:spcBef>
                <a:spcPts val="1250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2000" dirty="0"/>
              <a:t>Elf header</a:t>
            </a:r>
          </a:p>
          <a:p>
            <a:pPr lvl="1">
              <a:lnSpc>
                <a:spcPct val="88000"/>
              </a:lnSpc>
              <a:spcBef>
                <a:spcPts val="563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1800" dirty="0"/>
              <a:t>file type (.o, exec, .so) ...</a:t>
            </a:r>
          </a:p>
          <a:p>
            <a:pPr>
              <a:lnSpc>
                <a:spcPct val="80000"/>
              </a:lnSpc>
              <a:spcBef>
                <a:spcPts val="1250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2000" dirty="0">
                <a:latin typeface="Courier New" pitchFamily="49" charset="0"/>
              </a:rPr>
              <a:t>.text</a:t>
            </a:r>
            <a:r>
              <a:rPr lang="en-GB" sz="2000" dirty="0"/>
              <a:t> section</a:t>
            </a:r>
          </a:p>
          <a:p>
            <a:pPr lvl="1">
              <a:lnSpc>
                <a:spcPct val="88000"/>
              </a:lnSpc>
              <a:spcBef>
                <a:spcPts val="563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1800" dirty="0"/>
              <a:t>Code</a:t>
            </a:r>
          </a:p>
          <a:p>
            <a:pPr>
              <a:lnSpc>
                <a:spcPct val="80000"/>
              </a:lnSpc>
              <a:spcBef>
                <a:spcPts val="1250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2000" dirty="0">
                <a:latin typeface="Courier New" pitchFamily="49" charset="0"/>
              </a:rPr>
              <a:t>.</a:t>
            </a:r>
            <a:r>
              <a:rPr lang="en-GB" sz="2000" dirty="0" err="1">
                <a:latin typeface="Courier New" pitchFamily="49" charset="0"/>
              </a:rPr>
              <a:t>rodata</a:t>
            </a:r>
            <a:r>
              <a:rPr lang="en-GB" sz="2000" dirty="0">
                <a:latin typeface="Courier New" pitchFamily="49" charset="0"/>
              </a:rPr>
              <a:t> </a:t>
            </a:r>
            <a:r>
              <a:rPr lang="en-GB" sz="2000" dirty="0"/>
              <a:t>section</a:t>
            </a:r>
          </a:p>
          <a:p>
            <a:pPr lvl="1">
              <a:lnSpc>
                <a:spcPct val="80000"/>
              </a:lnSpc>
              <a:spcBef>
                <a:spcPts val="1250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1800" dirty="0"/>
              <a:t>Read only data </a:t>
            </a:r>
          </a:p>
          <a:p>
            <a:pPr>
              <a:lnSpc>
                <a:spcPct val="80000"/>
              </a:lnSpc>
              <a:spcBef>
                <a:spcPts val="1250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2000" dirty="0">
                <a:latin typeface="Courier New" pitchFamily="49" charset="0"/>
              </a:rPr>
              <a:t>.data</a:t>
            </a:r>
            <a:r>
              <a:rPr lang="en-GB" sz="2000" dirty="0"/>
              <a:t> section</a:t>
            </a:r>
          </a:p>
          <a:p>
            <a:pPr lvl="1">
              <a:lnSpc>
                <a:spcPct val="88000"/>
              </a:lnSpc>
              <a:spcBef>
                <a:spcPts val="563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1800" dirty="0"/>
              <a:t>Initialized global variables</a:t>
            </a:r>
          </a:p>
          <a:p>
            <a:pPr>
              <a:lnSpc>
                <a:spcPct val="80000"/>
              </a:lnSpc>
              <a:spcBef>
                <a:spcPts val="1250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2000" dirty="0">
                <a:latin typeface="Courier New" pitchFamily="49" charset="0"/>
              </a:rPr>
              <a:t>.</a:t>
            </a:r>
            <a:r>
              <a:rPr lang="en-GB" sz="2000" dirty="0" err="1">
                <a:latin typeface="Courier New" pitchFamily="49" charset="0"/>
              </a:rPr>
              <a:t>bss</a:t>
            </a:r>
            <a:r>
              <a:rPr lang="en-GB" sz="2000" dirty="0"/>
              <a:t> section</a:t>
            </a:r>
          </a:p>
          <a:p>
            <a:pPr lvl="1">
              <a:lnSpc>
                <a:spcPct val="88000"/>
              </a:lnSpc>
              <a:spcBef>
                <a:spcPts val="563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1800" dirty="0"/>
              <a:t>Uninitialized global variables</a:t>
            </a:r>
          </a:p>
          <a:p>
            <a:pPr lvl="1">
              <a:lnSpc>
                <a:spcPct val="88000"/>
              </a:lnSpc>
              <a:spcBef>
                <a:spcPts val="563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1800" dirty="0">
                <a:solidFill>
                  <a:srgbClr val="C00000"/>
                </a:solidFill>
              </a:rPr>
              <a:t>“Better Save Space”</a:t>
            </a:r>
          </a:p>
          <a:p>
            <a:pPr lvl="1">
              <a:lnSpc>
                <a:spcPct val="88000"/>
              </a:lnSpc>
              <a:spcBef>
                <a:spcPts val="563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1800" dirty="0"/>
              <a:t>Has section header but occupies no space</a:t>
            </a:r>
          </a:p>
          <a:p>
            <a:pPr lvl="1">
              <a:lnSpc>
                <a:spcPct val="88000"/>
              </a:lnSpc>
              <a:spcBef>
                <a:spcPts val="563"/>
              </a:spcBef>
              <a:buFont typeface="Wingdings" charset="2"/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sz="1800" dirty="0"/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B5A386D4-0F2F-3B70-9A5A-34D31DFF3A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1600200"/>
            <a:ext cx="2971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56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ELF header</a:t>
            </a:r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DC937B28-27F2-BDE0-48C8-8D7C0BAEA0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1981200"/>
            <a:ext cx="2971800" cy="609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56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...</a:t>
            </a:r>
          </a:p>
        </p:txBody>
      </p:sp>
      <p:sp>
        <p:nvSpPr>
          <p:cNvPr id="14341" name="Rectangle 5">
            <a:extLst>
              <a:ext uri="{FF2B5EF4-FFF2-40B4-BE49-F238E27FC236}">
                <a16:creationId xmlns:a16="http://schemas.microsoft.com/office/drawing/2014/main" id="{6202F84C-425A-FFD2-BDD7-EC4B833FE0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2590800"/>
            <a:ext cx="2971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56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.text</a:t>
            </a: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 section</a:t>
            </a:r>
          </a:p>
        </p:txBody>
      </p:sp>
      <p:sp>
        <p:nvSpPr>
          <p:cNvPr id="14342" name="Rectangle 6">
            <a:extLst>
              <a:ext uri="{FF2B5EF4-FFF2-40B4-BE49-F238E27FC236}">
                <a16:creationId xmlns:a16="http://schemas.microsoft.com/office/drawing/2014/main" id="{D3759DA1-2800-9FDF-5577-0E3007FED3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2971800"/>
            <a:ext cx="2971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56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.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rodata</a:t>
            </a: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 section</a:t>
            </a:r>
          </a:p>
        </p:txBody>
      </p:sp>
      <p:sp>
        <p:nvSpPr>
          <p:cNvPr id="14343" name="Rectangle 7">
            <a:extLst>
              <a:ext uri="{FF2B5EF4-FFF2-40B4-BE49-F238E27FC236}">
                <a16:creationId xmlns:a16="http://schemas.microsoft.com/office/drawing/2014/main" id="{5A94D58C-4802-2511-D4B8-8AFE3C7100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3733800"/>
            <a:ext cx="2971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56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.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bss</a:t>
            </a: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 section</a:t>
            </a:r>
          </a:p>
        </p:txBody>
      </p:sp>
      <p:sp>
        <p:nvSpPr>
          <p:cNvPr id="14344" name="Rectangle 8">
            <a:extLst>
              <a:ext uri="{FF2B5EF4-FFF2-40B4-BE49-F238E27FC236}">
                <a16:creationId xmlns:a16="http://schemas.microsoft.com/office/drawing/2014/main" id="{5E45FDBF-390C-C22F-E2DE-B8D49AE02E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4114800"/>
            <a:ext cx="2971800" cy="381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56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.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symtab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</a:t>
            </a:r>
            <a:r>
              <a:rPr lang="en-GB" sz="1600" dirty="0">
                <a:latin typeface="Calibri" pitchFamily="34" charset="0"/>
                <a:ea typeface="msgothic" charset="0"/>
                <a:cs typeface="msgothic" charset="0"/>
              </a:rPr>
              <a:t>section</a:t>
            </a:r>
          </a:p>
        </p:txBody>
      </p:sp>
      <p:sp>
        <p:nvSpPr>
          <p:cNvPr id="14345" name="Rectangle 9">
            <a:extLst>
              <a:ext uri="{FF2B5EF4-FFF2-40B4-BE49-F238E27FC236}">
                <a16:creationId xmlns:a16="http://schemas.microsoft.com/office/drawing/2014/main" id="{462F5D3E-D213-49FC-9B73-E2C9E8636E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4495800"/>
            <a:ext cx="2971800" cy="381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56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.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rel.txt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</a:t>
            </a:r>
            <a:r>
              <a:rPr lang="en-GB" sz="1600" dirty="0">
                <a:latin typeface="Calibri" pitchFamily="34" charset="0"/>
                <a:ea typeface="msgothic" charset="0"/>
                <a:cs typeface="msgothic" charset="0"/>
              </a:rPr>
              <a:t>section</a:t>
            </a:r>
          </a:p>
        </p:txBody>
      </p:sp>
      <p:sp>
        <p:nvSpPr>
          <p:cNvPr id="14346" name="Rectangle 10">
            <a:extLst>
              <a:ext uri="{FF2B5EF4-FFF2-40B4-BE49-F238E27FC236}">
                <a16:creationId xmlns:a16="http://schemas.microsoft.com/office/drawing/2014/main" id="{9A1B2F70-487B-C734-E623-CFFC25163B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4876800"/>
            <a:ext cx="2971800" cy="381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56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.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rel.data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</a:t>
            </a:r>
            <a:r>
              <a:rPr lang="en-GB" sz="1600" dirty="0">
                <a:latin typeface="Calibri" pitchFamily="34" charset="0"/>
                <a:ea typeface="msgothic" charset="0"/>
                <a:cs typeface="msgothic" charset="0"/>
              </a:rPr>
              <a:t>section</a:t>
            </a:r>
          </a:p>
        </p:txBody>
      </p:sp>
      <p:sp>
        <p:nvSpPr>
          <p:cNvPr id="14347" name="Rectangle 11">
            <a:extLst>
              <a:ext uri="{FF2B5EF4-FFF2-40B4-BE49-F238E27FC236}">
                <a16:creationId xmlns:a16="http://schemas.microsoft.com/office/drawing/2014/main" id="{D5F1B937-A305-B5CC-1F43-876E4BE900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5257800"/>
            <a:ext cx="2971800" cy="381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56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.debug </a:t>
            </a:r>
            <a:r>
              <a:rPr lang="en-GB" sz="1600" dirty="0">
                <a:latin typeface="Calibri" pitchFamily="34" charset="0"/>
                <a:ea typeface="msgothic" charset="0"/>
                <a:cs typeface="msgothic" charset="0"/>
              </a:rPr>
              <a:t>section</a:t>
            </a:r>
          </a:p>
        </p:txBody>
      </p:sp>
      <p:sp>
        <p:nvSpPr>
          <p:cNvPr id="14348" name="Rectangle 12">
            <a:extLst>
              <a:ext uri="{FF2B5EF4-FFF2-40B4-BE49-F238E27FC236}">
                <a16:creationId xmlns:a16="http://schemas.microsoft.com/office/drawing/2014/main" id="{B1F9C784-AD62-B1CE-61AA-C2F7840F48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5638800"/>
            <a:ext cx="29718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 w="2556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...</a:t>
            </a:r>
          </a:p>
        </p:txBody>
      </p:sp>
      <p:sp>
        <p:nvSpPr>
          <p:cNvPr id="14349" name="Text Box 13">
            <a:extLst>
              <a:ext uri="{FF2B5EF4-FFF2-40B4-BE49-F238E27FC236}">
                <a16:creationId xmlns:a16="http://schemas.microsoft.com/office/drawing/2014/main" id="{E84C7482-E108-E8DF-69DC-BA027E2ED3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39200" y="1447800"/>
            <a:ext cx="285954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solidFill>
                  <a:srgbClr val="000066"/>
                </a:solidFill>
                <a:latin typeface="Calibri" pitchFamily="34" charset="0"/>
                <a:ea typeface="msgothic" charset="0"/>
                <a:cs typeface="msgothic" charset="0"/>
              </a:rPr>
              <a:t>0</a:t>
            </a:r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07D019EF-8B09-4F8D-0D7A-5B7FB8C76A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3352800"/>
            <a:ext cx="2971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56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.data</a:t>
            </a: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 section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144F72-A66C-C8DB-4DD4-8CBBF3C55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92C60-C071-3249-9DBB-404B1D195F8C}" type="slidenum">
              <a:rPr lang="en-US" smtClean="0"/>
              <a:t>30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B4A8E0-F76D-4717-6A6C-BC7F79003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03994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299468-B44F-3408-627E-C37F5D67A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1">
            <a:extLst>
              <a:ext uri="{FF2B5EF4-FFF2-40B4-BE49-F238E27FC236}">
                <a16:creationId xmlns:a16="http://schemas.microsoft.com/office/drawing/2014/main" id="{47D19D6F-9854-94D5-A9AC-4CA84FE98ADA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81000" y="385763"/>
            <a:ext cx="8716962" cy="782638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ELF Object File Format (cont.)</a:t>
            </a:r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3FE9F2F5-F6B3-3880-E58A-5C543B4831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96875" y="1309688"/>
            <a:ext cx="5272087" cy="5472112"/>
          </a:xfrm>
          <a:ln/>
        </p:spPr>
        <p:txBody>
          <a:bodyPr/>
          <a:lstStyle/>
          <a:p>
            <a:pPr>
              <a:lnSpc>
                <a:spcPct val="71000"/>
              </a:lnSpc>
              <a:spcBef>
                <a:spcPts val="1250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2000" dirty="0">
                <a:latin typeface="Courier New" pitchFamily="49" charset="0"/>
              </a:rPr>
              <a:t>.</a:t>
            </a:r>
            <a:r>
              <a:rPr lang="en-GB" sz="2000" dirty="0" err="1">
                <a:latin typeface="Courier New" pitchFamily="49" charset="0"/>
              </a:rPr>
              <a:t>symtab</a:t>
            </a:r>
            <a:r>
              <a:rPr lang="en-GB" sz="2000" dirty="0"/>
              <a:t> section</a:t>
            </a:r>
          </a:p>
          <a:p>
            <a:pPr lvl="1">
              <a:lnSpc>
                <a:spcPct val="78000"/>
              </a:lnSpc>
              <a:spcBef>
                <a:spcPts val="563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1800" dirty="0"/>
              <a:t>Symbol table (symbol name, type, address)</a:t>
            </a:r>
          </a:p>
          <a:p>
            <a:pPr>
              <a:lnSpc>
                <a:spcPct val="71000"/>
              </a:lnSpc>
              <a:spcBef>
                <a:spcPts val="1250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2000" dirty="0">
                <a:latin typeface="Courier New" pitchFamily="49" charset="0"/>
              </a:rPr>
              <a:t>.</a:t>
            </a:r>
            <a:r>
              <a:rPr lang="en-GB" sz="2000" dirty="0" err="1">
                <a:latin typeface="Courier New" pitchFamily="49" charset="0"/>
              </a:rPr>
              <a:t>rel.text</a:t>
            </a:r>
            <a:r>
              <a:rPr lang="en-GB" sz="2000" dirty="0"/>
              <a:t> section</a:t>
            </a:r>
          </a:p>
          <a:p>
            <a:pPr lvl="1">
              <a:lnSpc>
                <a:spcPct val="78000"/>
              </a:lnSpc>
              <a:spcBef>
                <a:spcPts val="563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1800" dirty="0"/>
              <a:t>Relocation info for </a:t>
            </a:r>
            <a:r>
              <a:rPr lang="en-GB" sz="1800" b="1" dirty="0">
                <a:latin typeface="Courier New" pitchFamily="49" charset="0"/>
              </a:rPr>
              <a:t>.text</a:t>
            </a:r>
            <a:r>
              <a:rPr lang="en-GB" sz="1800" b="1" dirty="0"/>
              <a:t> </a:t>
            </a:r>
            <a:r>
              <a:rPr lang="en-GB" sz="1800" dirty="0"/>
              <a:t>section</a:t>
            </a:r>
          </a:p>
          <a:p>
            <a:pPr lvl="1">
              <a:lnSpc>
                <a:spcPct val="78000"/>
              </a:lnSpc>
              <a:spcBef>
                <a:spcPts val="563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1800" dirty="0"/>
              <a:t>Addresses of instructions that will need to be modified in the executable</a:t>
            </a:r>
          </a:p>
          <a:p>
            <a:pPr>
              <a:lnSpc>
                <a:spcPct val="71000"/>
              </a:lnSpc>
              <a:spcBef>
                <a:spcPts val="1250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2000" dirty="0">
                <a:latin typeface="Courier New" pitchFamily="49" charset="0"/>
              </a:rPr>
              <a:t>.</a:t>
            </a:r>
            <a:r>
              <a:rPr lang="en-GB" sz="2000" dirty="0" err="1">
                <a:latin typeface="Courier New" pitchFamily="49" charset="0"/>
              </a:rPr>
              <a:t>rel.data</a:t>
            </a:r>
            <a:r>
              <a:rPr lang="en-GB" sz="2000" dirty="0"/>
              <a:t> section</a:t>
            </a:r>
          </a:p>
          <a:p>
            <a:pPr lvl="1">
              <a:lnSpc>
                <a:spcPct val="78000"/>
              </a:lnSpc>
              <a:spcBef>
                <a:spcPts val="563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1800" dirty="0"/>
              <a:t>Relocation info for </a:t>
            </a:r>
            <a:r>
              <a:rPr lang="en-GB" sz="1800" b="1" dirty="0">
                <a:latin typeface="Courier New" pitchFamily="49" charset="0"/>
              </a:rPr>
              <a:t>.data</a:t>
            </a:r>
            <a:r>
              <a:rPr lang="en-GB" sz="1800" b="1" dirty="0"/>
              <a:t> </a:t>
            </a:r>
            <a:r>
              <a:rPr lang="en-GB" sz="1800" dirty="0"/>
              <a:t>section</a:t>
            </a:r>
          </a:p>
          <a:p>
            <a:pPr lvl="1">
              <a:lnSpc>
                <a:spcPct val="78000"/>
              </a:lnSpc>
              <a:spcBef>
                <a:spcPts val="563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1800" dirty="0"/>
              <a:t>Addresses of pointer data that will need to be modified in the merged executable</a:t>
            </a:r>
          </a:p>
          <a:p>
            <a:pPr>
              <a:lnSpc>
                <a:spcPct val="71000"/>
              </a:lnSpc>
              <a:spcBef>
                <a:spcPts val="1250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2000" dirty="0">
                <a:latin typeface="Courier New" pitchFamily="49" charset="0"/>
              </a:rPr>
              <a:t>.debug</a:t>
            </a:r>
            <a:r>
              <a:rPr lang="en-GB" sz="2000" dirty="0"/>
              <a:t> section</a:t>
            </a:r>
          </a:p>
          <a:p>
            <a:pPr lvl="1">
              <a:lnSpc>
                <a:spcPct val="78000"/>
              </a:lnSpc>
              <a:spcBef>
                <a:spcPts val="563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sz="1800" dirty="0"/>
              <a:t>Info for symbolic debugging (</a:t>
            </a:r>
            <a:r>
              <a:rPr lang="en-GB" sz="1800" b="1" dirty="0" err="1">
                <a:latin typeface="Courier New" pitchFamily="49" charset="0"/>
              </a:rPr>
              <a:t>gcc</a:t>
            </a:r>
            <a:r>
              <a:rPr lang="en-GB" sz="1800" b="1" dirty="0">
                <a:latin typeface="Courier New" pitchFamily="49" charset="0"/>
              </a:rPr>
              <a:t> –g</a:t>
            </a:r>
            <a:r>
              <a:rPr lang="en-GB" sz="1800" dirty="0"/>
              <a:t>)</a:t>
            </a:r>
          </a:p>
        </p:txBody>
      </p:sp>
      <p:sp>
        <p:nvSpPr>
          <p:cNvPr id="26" name="Rectangle 3">
            <a:extLst>
              <a:ext uri="{FF2B5EF4-FFF2-40B4-BE49-F238E27FC236}">
                <a16:creationId xmlns:a16="http://schemas.microsoft.com/office/drawing/2014/main" id="{6712857D-F691-C99C-6861-E974FC1AE5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1600200"/>
            <a:ext cx="2971800" cy="381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56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ELF header</a:t>
            </a:r>
          </a:p>
        </p:txBody>
      </p:sp>
      <p:sp>
        <p:nvSpPr>
          <p:cNvPr id="27" name="Rectangle 4">
            <a:extLst>
              <a:ext uri="{FF2B5EF4-FFF2-40B4-BE49-F238E27FC236}">
                <a16:creationId xmlns:a16="http://schemas.microsoft.com/office/drawing/2014/main" id="{3E6F098E-B425-C0D2-E4A3-EF1AA3F049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1981200"/>
            <a:ext cx="29718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 w="2556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Segment header table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(required for executables)</a:t>
            </a:r>
          </a:p>
        </p:txBody>
      </p:sp>
      <p:sp>
        <p:nvSpPr>
          <p:cNvPr id="28" name="Rectangle 5">
            <a:extLst>
              <a:ext uri="{FF2B5EF4-FFF2-40B4-BE49-F238E27FC236}">
                <a16:creationId xmlns:a16="http://schemas.microsoft.com/office/drawing/2014/main" id="{CBC01546-8CD2-CA54-AF8B-8DB9C7616D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2590800"/>
            <a:ext cx="2971800" cy="381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56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.text</a:t>
            </a: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 section</a:t>
            </a:r>
          </a:p>
        </p:txBody>
      </p:sp>
      <p:sp>
        <p:nvSpPr>
          <p:cNvPr id="29" name="Rectangle 6">
            <a:extLst>
              <a:ext uri="{FF2B5EF4-FFF2-40B4-BE49-F238E27FC236}">
                <a16:creationId xmlns:a16="http://schemas.microsoft.com/office/drawing/2014/main" id="{5701CF7E-E2D2-7B8E-2C3D-C014DE945E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2971800"/>
            <a:ext cx="2971800" cy="381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56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.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rodata</a:t>
            </a: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 section</a:t>
            </a:r>
          </a:p>
        </p:txBody>
      </p:sp>
      <p:sp>
        <p:nvSpPr>
          <p:cNvPr id="30" name="Rectangle 7">
            <a:extLst>
              <a:ext uri="{FF2B5EF4-FFF2-40B4-BE49-F238E27FC236}">
                <a16:creationId xmlns:a16="http://schemas.microsoft.com/office/drawing/2014/main" id="{283EFAB5-D632-84D2-DB82-8EDE5F36BB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3733800"/>
            <a:ext cx="2971800" cy="381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56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.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bss</a:t>
            </a: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 section</a:t>
            </a:r>
          </a:p>
        </p:txBody>
      </p:sp>
      <p:sp>
        <p:nvSpPr>
          <p:cNvPr id="31" name="Rectangle 8">
            <a:extLst>
              <a:ext uri="{FF2B5EF4-FFF2-40B4-BE49-F238E27FC236}">
                <a16:creationId xmlns:a16="http://schemas.microsoft.com/office/drawing/2014/main" id="{A236D595-F5CC-60F4-C7E1-083AB61D1A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4114800"/>
            <a:ext cx="2971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56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.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symtab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</a:t>
            </a:r>
            <a:r>
              <a:rPr lang="en-GB" sz="1600" dirty="0">
                <a:latin typeface="Calibri" pitchFamily="34" charset="0"/>
                <a:ea typeface="msgothic" charset="0"/>
                <a:cs typeface="msgothic" charset="0"/>
              </a:rPr>
              <a:t>section</a:t>
            </a:r>
          </a:p>
        </p:txBody>
      </p:sp>
      <p:sp>
        <p:nvSpPr>
          <p:cNvPr id="32" name="Rectangle 9">
            <a:extLst>
              <a:ext uri="{FF2B5EF4-FFF2-40B4-BE49-F238E27FC236}">
                <a16:creationId xmlns:a16="http://schemas.microsoft.com/office/drawing/2014/main" id="{A5674FA4-384B-AEB8-E07F-554002C209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4495800"/>
            <a:ext cx="2971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56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.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rel.txt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</a:t>
            </a:r>
            <a:r>
              <a:rPr lang="en-GB" sz="1600" dirty="0">
                <a:latin typeface="Calibri" pitchFamily="34" charset="0"/>
                <a:ea typeface="msgothic" charset="0"/>
                <a:cs typeface="msgothic" charset="0"/>
              </a:rPr>
              <a:t>section</a:t>
            </a:r>
          </a:p>
        </p:txBody>
      </p:sp>
      <p:sp>
        <p:nvSpPr>
          <p:cNvPr id="33" name="Rectangle 10">
            <a:extLst>
              <a:ext uri="{FF2B5EF4-FFF2-40B4-BE49-F238E27FC236}">
                <a16:creationId xmlns:a16="http://schemas.microsoft.com/office/drawing/2014/main" id="{D3C973E9-3CA4-6083-1570-EF95B4B192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4876800"/>
            <a:ext cx="2971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56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.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rel.data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</a:t>
            </a:r>
            <a:r>
              <a:rPr lang="en-GB" sz="1600" dirty="0">
                <a:latin typeface="Calibri" pitchFamily="34" charset="0"/>
                <a:ea typeface="msgothic" charset="0"/>
                <a:cs typeface="msgothic" charset="0"/>
              </a:rPr>
              <a:t>section</a:t>
            </a:r>
          </a:p>
        </p:txBody>
      </p:sp>
      <p:sp>
        <p:nvSpPr>
          <p:cNvPr id="34" name="Rectangle 11">
            <a:extLst>
              <a:ext uri="{FF2B5EF4-FFF2-40B4-BE49-F238E27FC236}">
                <a16:creationId xmlns:a16="http://schemas.microsoft.com/office/drawing/2014/main" id="{300147AC-2A26-698F-4400-28CC52B674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5257800"/>
            <a:ext cx="2971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56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.debug </a:t>
            </a:r>
            <a:r>
              <a:rPr lang="en-GB" sz="1600" dirty="0">
                <a:latin typeface="Calibri" pitchFamily="34" charset="0"/>
                <a:ea typeface="msgothic" charset="0"/>
                <a:cs typeface="msgothic" charset="0"/>
              </a:rPr>
              <a:t>section</a:t>
            </a:r>
          </a:p>
        </p:txBody>
      </p:sp>
      <p:sp>
        <p:nvSpPr>
          <p:cNvPr id="35" name="Rectangle 12">
            <a:extLst>
              <a:ext uri="{FF2B5EF4-FFF2-40B4-BE49-F238E27FC236}">
                <a16:creationId xmlns:a16="http://schemas.microsoft.com/office/drawing/2014/main" id="{CA950D1E-2CC1-34B3-8999-078C84DDA0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5638800"/>
            <a:ext cx="2971800" cy="609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56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...</a:t>
            </a:r>
          </a:p>
        </p:txBody>
      </p:sp>
      <p:sp>
        <p:nvSpPr>
          <p:cNvPr id="36" name="Text Box 13">
            <a:extLst>
              <a:ext uri="{FF2B5EF4-FFF2-40B4-BE49-F238E27FC236}">
                <a16:creationId xmlns:a16="http://schemas.microsoft.com/office/drawing/2014/main" id="{8D2108A8-F243-A372-51B6-E6021C8F31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39200" y="1447800"/>
            <a:ext cx="285954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solidFill>
                  <a:srgbClr val="000066"/>
                </a:solidFill>
                <a:latin typeface="Calibri" pitchFamily="34" charset="0"/>
                <a:ea typeface="msgothic" charset="0"/>
                <a:cs typeface="msgothic" charset="0"/>
              </a:rPr>
              <a:t>0</a:t>
            </a:r>
          </a:p>
        </p:txBody>
      </p:sp>
      <p:sp>
        <p:nvSpPr>
          <p:cNvPr id="37" name="Rectangle 6">
            <a:extLst>
              <a:ext uri="{FF2B5EF4-FFF2-40B4-BE49-F238E27FC236}">
                <a16:creationId xmlns:a16="http://schemas.microsoft.com/office/drawing/2014/main" id="{6A6CD602-3C43-FA1B-CBEF-E491298C52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3352800"/>
            <a:ext cx="2971800" cy="381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56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.data</a:t>
            </a: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 section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E0E4D84-017C-909D-15A6-0F2422BCE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92C60-C071-3249-9DBB-404B1D195F8C}" type="slidenum">
              <a:rPr lang="en-US" smtClean="0"/>
              <a:t>31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9BC706-2A82-A082-5C36-1EF6059B1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14958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896CB-58E3-A7B4-15FB-2790BA0A4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3F3546F1-97F3-2022-207B-9E9E08E66B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21747" y="1192586"/>
            <a:ext cx="8548687" cy="5035083"/>
          </a:xfrm>
          <a:noFill/>
          <a:ln/>
        </p:spPr>
        <p:txBody>
          <a:bodyPr>
            <a:normAutofit/>
          </a:bodyPr>
          <a:lstStyle/>
          <a:p>
            <a:pPr>
              <a:lnSpc>
                <a:spcPct val="83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Global symbols</a:t>
            </a:r>
          </a:p>
          <a:p>
            <a:pPr lvl="1">
              <a:lnSpc>
                <a:spcPct val="88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Symbols that can be referenced by other object files</a:t>
            </a:r>
          </a:p>
          <a:p>
            <a:pPr lvl="1">
              <a:lnSpc>
                <a:spcPct val="88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E.g. non-</a:t>
            </a:r>
            <a:r>
              <a:rPr lang="en-GB" b="1" dirty="0">
                <a:latin typeface="Courier New" pitchFamily="49" charset="0"/>
              </a:rPr>
              <a:t>static</a:t>
            </a:r>
            <a:r>
              <a:rPr lang="en-GB" dirty="0"/>
              <a:t> functions &amp; global variables.</a:t>
            </a:r>
          </a:p>
          <a:p>
            <a:pPr>
              <a:lnSpc>
                <a:spcPct val="83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dirty="0"/>
          </a:p>
          <a:p>
            <a:pPr>
              <a:lnSpc>
                <a:spcPct val="83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Local symbols</a:t>
            </a:r>
          </a:p>
          <a:p>
            <a:pPr lvl="1">
              <a:lnSpc>
                <a:spcPct val="88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Symbols that can only be referenced by this object file. </a:t>
            </a:r>
          </a:p>
          <a:p>
            <a:pPr lvl="1">
              <a:lnSpc>
                <a:spcPct val="88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E.g. static functions &amp; global variables</a:t>
            </a:r>
          </a:p>
          <a:p>
            <a:pPr marL="0" indent="0">
              <a:lnSpc>
                <a:spcPct val="83000"/>
              </a:lnSpc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dirty="0"/>
          </a:p>
          <a:p>
            <a:pPr>
              <a:lnSpc>
                <a:spcPct val="83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External symbols</a:t>
            </a:r>
          </a:p>
          <a:p>
            <a:pPr lvl="1">
              <a:lnSpc>
                <a:spcPct val="88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Symbols referenced by this object file but defined in other object files.</a:t>
            </a:r>
          </a:p>
          <a:p>
            <a:pPr>
              <a:lnSpc>
                <a:spcPct val="83000"/>
              </a:lnSpc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dirty="0"/>
          </a:p>
        </p:txBody>
      </p:sp>
      <p:sp>
        <p:nvSpPr>
          <p:cNvPr id="16385" name="Rectangle 1">
            <a:extLst>
              <a:ext uri="{FF2B5EF4-FFF2-40B4-BE49-F238E27FC236}">
                <a16:creationId xmlns:a16="http://schemas.microsoft.com/office/drawing/2014/main" id="{98322361-9D79-DF77-2131-53B52A95D4B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37391" y="230653"/>
            <a:ext cx="8716962" cy="782638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Linker Symbols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6AF0065-3DDF-31FC-C34B-EA29338A8036}"/>
              </a:ext>
            </a:extLst>
          </p:cNvPr>
          <p:cNvGrpSpPr/>
          <p:nvPr/>
        </p:nvGrpSpPr>
        <p:grpSpPr>
          <a:xfrm>
            <a:off x="3929529" y="4388976"/>
            <a:ext cx="3605593" cy="461665"/>
            <a:chOff x="3929529" y="4388976"/>
            <a:chExt cx="3605593" cy="461665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EF8F042-44A2-082D-65F3-F81AF15DEAC8}"/>
                </a:ext>
              </a:extLst>
            </p:cNvPr>
            <p:cNvSpPr txBox="1"/>
            <p:nvPr/>
          </p:nvSpPr>
          <p:spPr>
            <a:xfrm>
              <a:off x="4743823" y="4388976"/>
              <a:ext cx="279129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3366FF"/>
                  </a:solidFill>
                </a:rPr>
                <a:t>needs to be resolved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249597A3-D225-2F20-2639-96C2DB658185}"/>
                </a:ext>
              </a:extLst>
            </p:cNvPr>
            <p:cNvCxnSpPr>
              <a:stCxn id="5" idx="1"/>
            </p:cNvCxnSpPr>
            <p:nvPr/>
          </p:nvCxnSpPr>
          <p:spPr>
            <a:xfrm flipH="1">
              <a:off x="3929529" y="4619809"/>
              <a:ext cx="814294" cy="56779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3C5D92F-0D74-1F89-D011-A66669FC3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92C60-C071-3249-9DBB-404B1D195F8C}" type="slidenum">
              <a:rPr lang="en-US" smtClean="0"/>
              <a:t>32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1177C7-52B8-47B0-FFC9-ADFAFDA2E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74413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E6720-3DB7-A967-D04C-1FBC7F0BD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1">
            <a:extLst>
              <a:ext uri="{FF2B5EF4-FFF2-40B4-BE49-F238E27FC236}">
                <a16:creationId xmlns:a16="http://schemas.microsoft.com/office/drawing/2014/main" id="{4623F45B-90E4-4CD7-1B0A-C72E14C80AA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04813" y="360362"/>
            <a:ext cx="8716962" cy="782638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Step 1: Symbol Resolution</a:t>
            </a:r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7E428858-CE7C-4FCC-5EB4-B1E3A2285E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003" y="2702650"/>
            <a:ext cx="4072997" cy="2587504"/>
          </a:xfrm>
          <a:prstGeom prst="rect">
            <a:avLst/>
          </a:prstGeom>
          <a:solidFill>
            <a:srgbClr val="F7F5CD"/>
          </a:solidFill>
          <a:ln w="324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r>
              <a:rPr lang="en-US" sz="1800" dirty="0">
                <a:solidFill>
                  <a:srgbClr val="2D961E"/>
                </a:solidFill>
                <a:latin typeface="Menlo-Regular"/>
              </a:rPr>
              <a:t>#include “</a:t>
            </a:r>
            <a:r>
              <a:rPr lang="en-US" sz="1800" dirty="0" err="1">
                <a:solidFill>
                  <a:srgbClr val="2D961E"/>
                </a:solidFill>
                <a:latin typeface="Menlo-Regular"/>
              </a:rPr>
              <a:t>sum.h</a:t>
            </a:r>
            <a:r>
              <a:rPr lang="en-US" sz="1800" dirty="0">
                <a:solidFill>
                  <a:srgbClr val="2D961E"/>
                </a:solidFill>
                <a:latin typeface="Menlo-Regular"/>
              </a:rPr>
              <a:t>”</a:t>
            </a:r>
            <a:endParaRPr lang="en-US" sz="1800" dirty="0">
              <a:solidFill>
                <a:srgbClr val="000000"/>
              </a:solidFill>
              <a:latin typeface="Menlo-Regular"/>
            </a:endParaRPr>
          </a:p>
          <a:p>
            <a:endParaRPr lang="en-US" sz="1800" dirty="0">
              <a:solidFill>
                <a:srgbClr val="000000"/>
              </a:solidFill>
              <a:latin typeface="Menlo-Regular"/>
            </a:endParaRPr>
          </a:p>
          <a:p>
            <a:r>
              <a:rPr lang="hu-HU" sz="1800" dirty="0">
                <a:solidFill>
                  <a:srgbClr val="2D961E"/>
                </a:solidFill>
                <a:latin typeface="Menlo-Regular"/>
              </a:rPr>
              <a:t>int</a:t>
            </a:r>
            <a:r>
              <a:rPr lang="hu-HU" sz="1800" dirty="0">
                <a:solidFill>
                  <a:srgbClr val="000000"/>
                </a:solidFill>
                <a:latin typeface="Menlo-Regular"/>
              </a:rPr>
              <a:t> </a:t>
            </a:r>
            <a:r>
              <a:rPr lang="hu-HU" sz="1800" dirty="0">
                <a:solidFill>
                  <a:srgbClr val="C1651C"/>
                </a:solidFill>
                <a:latin typeface="Menlo-Regular"/>
              </a:rPr>
              <a:t>array</a:t>
            </a:r>
            <a:r>
              <a:rPr lang="hu-HU" sz="1800" dirty="0">
                <a:solidFill>
                  <a:srgbClr val="000000"/>
                </a:solidFill>
                <a:latin typeface="Menlo-Regular"/>
              </a:rPr>
              <a:t>[2] = {1, 2};</a:t>
            </a:r>
          </a:p>
          <a:p>
            <a:endParaRPr lang="hu-HU" sz="1800" dirty="0">
              <a:solidFill>
                <a:srgbClr val="000000"/>
              </a:solidFill>
              <a:latin typeface="Menlo-Regular"/>
            </a:endParaRPr>
          </a:p>
          <a:p>
            <a:r>
              <a:rPr lang="en-US" sz="1800" dirty="0" err="1">
                <a:solidFill>
                  <a:srgbClr val="2D961E"/>
                </a:solidFill>
                <a:latin typeface="Menlo-Regular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Menlo-Regular"/>
              </a:rPr>
              <a:t> </a:t>
            </a:r>
            <a:r>
              <a:rPr lang="en-US" sz="1800" dirty="0">
                <a:solidFill>
                  <a:srgbClr val="4A00FF"/>
                </a:solidFill>
                <a:latin typeface="Menlo-Regular"/>
              </a:rPr>
              <a:t>main</a:t>
            </a:r>
            <a:r>
              <a:rPr lang="en-US" sz="1800" dirty="0">
                <a:solidFill>
                  <a:srgbClr val="000000"/>
                </a:solidFill>
                <a:latin typeface="Menlo-Regular"/>
              </a:rPr>
              <a:t>()</a:t>
            </a:r>
          </a:p>
          <a:p>
            <a:r>
              <a:rPr lang="en-US" sz="1800" dirty="0">
                <a:solidFill>
                  <a:srgbClr val="000000"/>
                </a:solidFill>
                <a:latin typeface="Menlo-Regular"/>
              </a:rPr>
              <a:t>{</a:t>
            </a:r>
          </a:p>
          <a:p>
            <a:r>
              <a:rPr lang="fr-FR" sz="18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fr-FR" sz="1800" dirty="0" err="1">
                <a:solidFill>
                  <a:srgbClr val="2D961E"/>
                </a:solidFill>
                <a:latin typeface="Menlo-Regular"/>
              </a:rPr>
              <a:t>int</a:t>
            </a:r>
            <a:r>
              <a:rPr lang="fr-FR" sz="1800" dirty="0">
                <a:solidFill>
                  <a:srgbClr val="000000"/>
                </a:solidFill>
                <a:latin typeface="Menlo-Regular"/>
              </a:rPr>
              <a:t> </a:t>
            </a:r>
            <a:r>
              <a:rPr lang="fr-FR" sz="1800" dirty="0">
                <a:solidFill>
                  <a:srgbClr val="C1651C"/>
                </a:solidFill>
                <a:latin typeface="Menlo-Regular"/>
              </a:rPr>
              <a:t>val</a:t>
            </a:r>
            <a:r>
              <a:rPr lang="fr-FR" sz="1800" dirty="0">
                <a:solidFill>
                  <a:srgbClr val="000000"/>
                </a:solidFill>
                <a:latin typeface="Menlo-Regular"/>
              </a:rPr>
              <a:t> = </a:t>
            </a:r>
            <a:r>
              <a:rPr lang="fr-FR" sz="1800" dirty="0" err="1">
                <a:solidFill>
                  <a:srgbClr val="000000"/>
                </a:solidFill>
                <a:latin typeface="Menlo-Regular"/>
              </a:rPr>
              <a:t>sum</a:t>
            </a:r>
            <a:r>
              <a:rPr lang="fr-FR" sz="1800" dirty="0">
                <a:solidFill>
                  <a:srgbClr val="000000"/>
                </a:solidFill>
                <a:latin typeface="Menlo-Regular"/>
              </a:rPr>
              <a:t>(</a:t>
            </a:r>
            <a:r>
              <a:rPr lang="fr-FR" sz="1800" dirty="0" err="1">
                <a:solidFill>
                  <a:srgbClr val="000000"/>
                </a:solidFill>
                <a:latin typeface="Menlo-Regular"/>
              </a:rPr>
              <a:t>array</a:t>
            </a:r>
            <a:r>
              <a:rPr lang="fr-FR" sz="1800" dirty="0">
                <a:solidFill>
                  <a:srgbClr val="000000"/>
                </a:solidFill>
                <a:latin typeface="Menlo-Regular"/>
              </a:rPr>
              <a:t>, 2);</a:t>
            </a:r>
          </a:p>
          <a:p>
            <a:r>
              <a:rPr lang="fr-FR" sz="18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fr-FR" sz="1800" dirty="0">
                <a:solidFill>
                  <a:srgbClr val="C200FF"/>
                </a:solidFill>
                <a:latin typeface="Menlo-Regular"/>
              </a:rPr>
              <a:t>return</a:t>
            </a:r>
            <a:r>
              <a:rPr lang="fr-FR" sz="1800" dirty="0">
                <a:solidFill>
                  <a:srgbClr val="000000"/>
                </a:solidFill>
                <a:latin typeface="Menlo-Regular"/>
              </a:rPr>
              <a:t> val;</a:t>
            </a:r>
          </a:p>
          <a:p>
            <a:r>
              <a:rPr lang="fr-FR" sz="1800" dirty="0">
                <a:solidFill>
                  <a:srgbClr val="000000"/>
                </a:solidFill>
                <a:latin typeface="Menlo-Regular"/>
              </a:rPr>
              <a:t>}</a:t>
            </a:r>
            <a:endParaRPr lang="en-US" sz="1800" dirty="0">
              <a:latin typeface="Courier New"/>
              <a:cs typeface="Courier New"/>
            </a:endParaRP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A72ACE4B-A02E-58E0-DD1A-B013E2E11D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2093" y="4931144"/>
            <a:ext cx="1008907" cy="359010"/>
          </a:xfrm>
          <a:prstGeom prst="rect">
            <a:avLst/>
          </a:prstGeom>
          <a:noFill/>
          <a:ln w="3240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ea typeface="msgothic" charset="0"/>
                <a:cs typeface="msgothic" charset="0"/>
              </a:rPr>
              <a:t>main.c</a:t>
            </a:r>
            <a:endParaRPr lang="en-GB" sz="1800" b="1" i="1" dirty="0">
              <a:solidFill>
                <a:schemeClr val="tx1">
                  <a:lumMod val="50000"/>
                  <a:lumOff val="50000"/>
                </a:schemeClr>
              </a:solidFill>
              <a:latin typeface="Courier New" pitchFamily="49" charset="0"/>
              <a:ea typeface="msgothic" charset="0"/>
              <a:cs typeface="msgothic" charset="0"/>
            </a:endParaRPr>
          </a:p>
        </p:txBody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82EDD86E-51E7-413A-0E08-31C31D8D84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7848" y="2704237"/>
            <a:ext cx="4211970" cy="2587504"/>
          </a:xfrm>
          <a:prstGeom prst="rect">
            <a:avLst/>
          </a:prstGeom>
          <a:solidFill>
            <a:srgbClr val="D5F1CF"/>
          </a:solidFill>
          <a:ln w="324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r>
              <a:rPr lang="en-US" sz="1800" dirty="0" err="1">
                <a:solidFill>
                  <a:srgbClr val="2D961E"/>
                </a:solidFill>
                <a:latin typeface="Menlo-Regular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Menlo-Regular"/>
              </a:rPr>
              <a:t> </a:t>
            </a:r>
            <a:r>
              <a:rPr lang="en-US" sz="1800" dirty="0">
                <a:solidFill>
                  <a:srgbClr val="4A00FF"/>
                </a:solidFill>
                <a:latin typeface="Menlo-Regular"/>
              </a:rPr>
              <a:t>sum</a:t>
            </a:r>
            <a:r>
              <a:rPr lang="en-US" sz="1800" dirty="0">
                <a:solidFill>
                  <a:srgbClr val="000000"/>
                </a:solidFill>
                <a:latin typeface="Menlo-Regular"/>
              </a:rPr>
              <a:t>(</a:t>
            </a:r>
            <a:r>
              <a:rPr lang="en-US" sz="1800" dirty="0" err="1">
                <a:solidFill>
                  <a:srgbClr val="2D961E"/>
                </a:solidFill>
                <a:latin typeface="Menlo-Regular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Menlo-Regular"/>
              </a:rPr>
              <a:t> *</a:t>
            </a:r>
            <a:r>
              <a:rPr lang="en-US" sz="1800" dirty="0">
                <a:solidFill>
                  <a:srgbClr val="C1651C"/>
                </a:solidFill>
                <a:latin typeface="Menlo-Regular"/>
              </a:rPr>
              <a:t>a</a:t>
            </a:r>
            <a:r>
              <a:rPr lang="en-US" sz="1800" dirty="0">
                <a:solidFill>
                  <a:srgbClr val="000000"/>
                </a:solidFill>
                <a:latin typeface="Menlo-Regular"/>
              </a:rPr>
              <a:t>, </a:t>
            </a:r>
            <a:r>
              <a:rPr lang="en-US" sz="1800" dirty="0" err="1">
                <a:solidFill>
                  <a:srgbClr val="2D961E"/>
                </a:solidFill>
                <a:latin typeface="Menlo-Regular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Menlo-Regular"/>
              </a:rPr>
              <a:t> </a:t>
            </a:r>
            <a:r>
              <a:rPr lang="en-US" sz="1800" dirty="0">
                <a:solidFill>
                  <a:srgbClr val="C1651C"/>
                </a:solidFill>
                <a:latin typeface="Menlo-Regular"/>
              </a:rPr>
              <a:t>n</a:t>
            </a:r>
            <a:r>
              <a:rPr lang="en-US" sz="1800" dirty="0">
                <a:solidFill>
                  <a:srgbClr val="000000"/>
                </a:solidFill>
                <a:latin typeface="Menlo-Regular"/>
              </a:rPr>
              <a:t>)</a:t>
            </a:r>
          </a:p>
          <a:p>
            <a:r>
              <a:rPr lang="en-US" sz="1800" dirty="0">
                <a:solidFill>
                  <a:srgbClr val="000000"/>
                </a:solidFill>
                <a:latin typeface="Menlo-Regular"/>
              </a:rPr>
              <a:t>{</a:t>
            </a:r>
          </a:p>
          <a:p>
            <a:r>
              <a:rPr lang="fr-FR" sz="18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fr-FR" sz="1800" dirty="0" err="1">
                <a:solidFill>
                  <a:srgbClr val="2D961E"/>
                </a:solidFill>
                <a:latin typeface="Menlo-Regular"/>
              </a:rPr>
              <a:t>int</a:t>
            </a:r>
            <a:r>
              <a:rPr lang="fr-FR" sz="1800" dirty="0">
                <a:solidFill>
                  <a:srgbClr val="000000"/>
                </a:solidFill>
                <a:latin typeface="Menlo-Regular"/>
              </a:rPr>
              <a:t> </a:t>
            </a:r>
            <a:r>
              <a:rPr lang="fr-FR" sz="1800" dirty="0">
                <a:solidFill>
                  <a:srgbClr val="C1651C"/>
                </a:solidFill>
                <a:latin typeface="Menlo-Regular"/>
              </a:rPr>
              <a:t>i</a:t>
            </a:r>
            <a:r>
              <a:rPr lang="fr-FR" sz="1800" dirty="0">
                <a:solidFill>
                  <a:srgbClr val="000000"/>
                </a:solidFill>
                <a:latin typeface="Menlo-Regular"/>
              </a:rPr>
              <a:t>, </a:t>
            </a:r>
            <a:r>
              <a:rPr lang="fr-FR" sz="1800" dirty="0">
                <a:solidFill>
                  <a:srgbClr val="C1651C"/>
                </a:solidFill>
                <a:latin typeface="Menlo-Regular"/>
              </a:rPr>
              <a:t>s</a:t>
            </a:r>
            <a:r>
              <a:rPr lang="fr-FR" sz="1800" dirty="0">
                <a:solidFill>
                  <a:srgbClr val="000000"/>
                </a:solidFill>
                <a:latin typeface="Menlo-Regular"/>
              </a:rPr>
              <a:t> = 0;</a:t>
            </a:r>
          </a:p>
          <a:p>
            <a:endParaRPr lang="fr-FR" sz="1800" dirty="0">
              <a:solidFill>
                <a:srgbClr val="000000"/>
              </a:solidFill>
              <a:latin typeface="Menlo-Regular"/>
            </a:endParaRPr>
          </a:p>
          <a:p>
            <a:r>
              <a:rPr lang="da-DK" sz="18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da-DK" sz="1800" dirty="0">
                <a:solidFill>
                  <a:srgbClr val="C200FF"/>
                </a:solidFill>
                <a:latin typeface="Menlo-Regular"/>
              </a:rPr>
              <a:t>for</a:t>
            </a:r>
            <a:r>
              <a:rPr lang="da-DK" sz="1800" dirty="0">
                <a:solidFill>
                  <a:srgbClr val="000000"/>
                </a:solidFill>
                <a:latin typeface="Menlo-Regular"/>
              </a:rPr>
              <a:t> (i = 0; i &lt; n; i++) {</a:t>
            </a:r>
          </a:p>
          <a:p>
            <a:r>
              <a:rPr lang="da-DK" sz="1800" dirty="0">
                <a:solidFill>
                  <a:srgbClr val="000000"/>
                </a:solidFill>
                <a:latin typeface="Menlo-Regular"/>
              </a:rPr>
              <a:t>        s += a[i];</a:t>
            </a:r>
          </a:p>
          <a:p>
            <a:r>
              <a:rPr lang="da-DK" sz="1800" dirty="0">
                <a:solidFill>
                  <a:srgbClr val="000000"/>
                </a:solidFill>
                <a:latin typeface="Menlo-Regular"/>
              </a:rPr>
              <a:t>    }</a:t>
            </a:r>
          </a:p>
          <a:p>
            <a:r>
              <a:rPr lang="is-IS" sz="18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is-IS" sz="1800" dirty="0">
                <a:solidFill>
                  <a:srgbClr val="C200FF"/>
                </a:solidFill>
                <a:latin typeface="Menlo-Regular"/>
              </a:rPr>
              <a:t>return</a:t>
            </a:r>
            <a:r>
              <a:rPr lang="is-IS" sz="1800" dirty="0">
                <a:solidFill>
                  <a:srgbClr val="000000"/>
                </a:solidFill>
                <a:latin typeface="Menlo-Regular"/>
              </a:rPr>
              <a:t> s;</a:t>
            </a:r>
          </a:p>
          <a:p>
            <a:r>
              <a:rPr lang="is-IS" sz="1800" dirty="0">
                <a:solidFill>
                  <a:srgbClr val="000000"/>
                </a:solidFill>
                <a:latin typeface="Menlo-Regular"/>
              </a:rPr>
              <a:t>}</a:t>
            </a:r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87BA4D91-1117-E6F8-2D10-1CD3E9BDBB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8028" y="4913085"/>
            <a:ext cx="928772" cy="357663"/>
          </a:xfrm>
          <a:prstGeom prst="rect">
            <a:avLst/>
          </a:prstGeom>
          <a:noFill/>
          <a:ln w="3240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ea typeface="msgothic" charset="0"/>
                <a:cs typeface="msgothic" charset="0"/>
              </a:rPr>
              <a:t>sum.c</a:t>
            </a:r>
            <a:endParaRPr lang="en-GB" sz="1800" b="1" i="1" dirty="0">
              <a:solidFill>
                <a:schemeClr val="tx1">
                  <a:lumMod val="50000"/>
                  <a:lumOff val="50000"/>
                </a:schemeClr>
              </a:solidFill>
              <a:latin typeface="Courier New" pitchFamily="49" charset="0"/>
              <a:ea typeface="msgothic" charset="0"/>
              <a:cs typeface="msgothic" charset="0"/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AD4C7607-B98B-FCB6-EF57-C7B6D0E0FAA9}"/>
              </a:ext>
            </a:extLst>
          </p:cNvPr>
          <p:cNvGrpSpPr/>
          <p:nvPr/>
        </p:nvGrpSpPr>
        <p:grpSpPr>
          <a:xfrm>
            <a:off x="1903119" y="3342816"/>
            <a:ext cx="2256019" cy="1113129"/>
            <a:chOff x="1684554" y="2812052"/>
            <a:chExt cx="2256019" cy="1113129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08FBD3C-15FC-7C9F-2F67-B13003E06785}"/>
                </a:ext>
              </a:extLst>
            </p:cNvPr>
            <p:cNvSpPr txBox="1"/>
            <p:nvPr/>
          </p:nvSpPr>
          <p:spPr>
            <a:xfrm>
              <a:off x="2601745" y="2812052"/>
              <a:ext cx="133882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rgbClr val="990000"/>
                  </a:solidFill>
                  <a:latin typeface="Calibri" pitchFamily="34" charset="0"/>
                </a:rPr>
                <a:t>Referencing </a:t>
              </a:r>
            </a:p>
            <a:p>
              <a:r>
                <a:rPr lang="en-US" sz="1800" dirty="0">
                  <a:solidFill>
                    <a:srgbClr val="990000"/>
                  </a:solidFill>
                  <a:latin typeface="Calibri" pitchFamily="34" charset="0"/>
                </a:rPr>
                <a:t>a global…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4F08D664-5CA5-7E2E-7C71-8070205B89A8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1684554" y="3269942"/>
              <a:ext cx="917191" cy="655239"/>
            </a:xfrm>
            <a:prstGeom prst="straightConnector1">
              <a:avLst/>
            </a:prstGeom>
            <a:noFill/>
            <a:ln w="25400" cap="flat" cmpd="sng" algn="ctr">
              <a:solidFill>
                <a:srgbClr val="99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C6D1D42A-5087-4C11-C6E1-947BD0952852}"/>
              </a:ext>
            </a:extLst>
          </p:cNvPr>
          <p:cNvGrpSpPr/>
          <p:nvPr/>
        </p:nvGrpSpPr>
        <p:grpSpPr>
          <a:xfrm>
            <a:off x="-75675" y="4142414"/>
            <a:ext cx="992579" cy="1936469"/>
            <a:chOff x="132131" y="3397531"/>
            <a:chExt cx="992579" cy="1936469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86A8F74-CB17-5E98-3E38-7870F882FD42}"/>
                </a:ext>
              </a:extLst>
            </p:cNvPr>
            <p:cNvSpPr txBox="1"/>
            <p:nvPr/>
          </p:nvSpPr>
          <p:spPr>
            <a:xfrm>
              <a:off x="132131" y="4687669"/>
              <a:ext cx="99257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800" dirty="0">
                  <a:solidFill>
                    <a:srgbClr val="990000"/>
                  </a:solidFill>
                  <a:latin typeface="Calibri" pitchFamily="34" charset="0"/>
                </a:rPr>
                <a:t>Defining </a:t>
              </a:r>
            </a:p>
            <a:p>
              <a:pPr algn="ctr"/>
              <a:r>
                <a:rPr lang="en-US" sz="1800" dirty="0">
                  <a:solidFill>
                    <a:srgbClr val="990000"/>
                  </a:solidFill>
                  <a:latin typeface="Calibri" pitchFamily="34" charset="0"/>
                </a:rPr>
                <a:t>a global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8B0E9A32-41DC-EF20-D4A2-C2EC11E5A51B}"/>
                </a:ext>
              </a:extLst>
            </p:cNvPr>
            <p:cNvCxnSpPr>
              <a:stCxn id="14" idx="0"/>
            </p:cNvCxnSpPr>
            <p:nvPr/>
          </p:nvCxnSpPr>
          <p:spPr bwMode="auto">
            <a:xfrm flipV="1">
              <a:off x="628421" y="3397531"/>
              <a:ext cx="395906" cy="1290138"/>
            </a:xfrm>
            <a:prstGeom prst="straightConnector1">
              <a:avLst/>
            </a:prstGeom>
            <a:noFill/>
            <a:ln w="25400" cap="flat" cmpd="sng" algn="ctr">
              <a:solidFill>
                <a:srgbClr val="99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5E3EA89D-0401-439F-BF92-4C6B089C226A}"/>
              </a:ext>
            </a:extLst>
          </p:cNvPr>
          <p:cNvGrpSpPr/>
          <p:nvPr/>
        </p:nvGrpSpPr>
        <p:grpSpPr>
          <a:xfrm>
            <a:off x="876896" y="4676254"/>
            <a:ext cx="1643599" cy="2075269"/>
            <a:chOff x="994380" y="3868331"/>
            <a:chExt cx="1643599" cy="2075269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C0B7B23-1222-1A08-6F4A-723C2FED848D}"/>
                </a:ext>
              </a:extLst>
            </p:cNvPr>
            <p:cNvSpPr txBox="1"/>
            <p:nvPr/>
          </p:nvSpPr>
          <p:spPr>
            <a:xfrm>
              <a:off x="994380" y="5297269"/>
              <a:ext cx="164359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800" dirty="0">
                  <a:solidFill>
                    <a:srgbClr val="990000"/>
                  </a:solidFill>
                  <a:latin typeface="Calibri" pitchFamily="34" charset="0"/>
                </a:rPr>
                <a:t>Linker knows</a:t>
              </a:r>
            </a:p>
            <a:p>
              <a:pPr algn="r"/>
              <a:r>
                <a:rPr lang="en-US" sz="1800" dirty="0">
                  <a:solidFill>
                    <a:srgbClr val="990000"/>
                  </a:solidFill>
                  <a:latin typeface="Calibri" pitchFamily="34" charset="0"/>
                </a:rPr>
                <a:t>nothing of </a:t>
              </a:r>
              <a:r>
                <a:rPr lang="en-US" sz="1800" dirty="0" err="1">
                  <a:solidFill>
                    <a:srgbClr val="990000"/>
                  </a:solidFill>
                  <a:latin typeface="Courier New"/>
                  <a:cs typeface="Courier New"/>
                </a:rPr>
                <a:t>val</a:t>
              </a:r>
              <a:endParaRPr lang="en-US" sz="1800" dirty="0">
                <a:solidFill>
                  <a:srgbClr val="990000"/>
                </a:solidFill>
                <a:latin typeface="Courier New"/>
                <a:cs typeface="Courier New"/>
              </a:endParaRPr>
            </a:p>
          </p:txBody>
        </p: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C3B660EB-CD39-C6E7-654C-23E3CCF559D4}"/>
                </a:ext>
              </a:extLst>
            </p:cNvPr>
            <p:cNvCxnSpPr>
              <a:cxnSpLocks/>
              <a:stCxn id="28" idx="0"/>
            </p:cNvCxnSpPr>
            <p:nvPr/>
          </p:nvCxnSpPr>
          <p:spPr bwMode="auto">
            <a:xfrm flipH="1" flipV="1">
              <a:off x="1067755" y="3868331"/>
              <a:ext cx="748425" cy="1428938"/>
            </a:xfrm>
            <a:prstGeom prst="straightConnector1">
              <a:avLst/>
            </a:prstGeom>
            <a:noFill/>
            <a:ln w="25400" cap="flat" cmpd="sng" algn="ctr">
              <a:solidFill>
                <a:srgbClr val="99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6153" name="Group 6152">
            <a:extLst>
              <a:ext uri="{FF2B5EF4-FFF2-40B4-BE49-F238E27FC236}">
                <a16:creationId xmlns:a16="http://schemas.microsoft.com/office/drawing/2014/main" id="{66E8C4D8-819D-0D18-D260-17703088ED90}"/>
              </a:ext>
            </a:extLst>
          </p:cNvPr>
          <p:cNvGrpSpPr/>
          <p:nvPr/>
        </p:nvGrpSpPr>
        <p:grpSpPr>
          <a:xfrm>
            <a:off x="1494086" y="4676254"/>
            <a:ext cx="1969876" cy="1380782"/>
            <a:chOff x="2503845" y="4609239"/>
            <a:chExt cx="1969876" cy="1380782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5410AAFD-1BF1-F658-7F52-26D8815E4871}"/>
                </a:ext>
              </a:extLst>
            </p:cNvPr>
            <p:cNvSpPr txBox="1"/>
            <p:nvPr/>
          </p:nvSpPr>
          <p:spPr>
            <a:xfrm>
              <a:off x="3134893" y="5343690"/>
              <a:ext cx="133882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800" dirty="0">
                  <a:solidFill>
                    <a:srgbClr val="990000"/>
                  </a:solidFill>
                  <a:latin typeface="Calibri" pitchFamily="34" charset="0"/>
                </a:rPr>
                <a:t>Referencing</a:t>
              </a:r>
            </a:p>
            <a:p>
              <a:pPr algn="ctr"/>
              <a:r>
                <a:rPr lang="en-US" sz="1800" dirty="0">
                  <a:solidFill>
                    <a:srgbClr val="990000"/>
                  </a:solidFill>
                  <a:latin typeface="Calibri" pitchFamily="34" charset="0"/>
                </a:rPr>
                <a:t>a global…</a:t>
              </a:r>
            </a:p>
          </p:txBody>
        </p: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4BCF0DA4-16F9-B490-E7DD-6CBB251D0087}"/>
                </a:ext>
              </a:extLst>
            </p:cNvPr>
            <p:cNvCxnSpPr>
              <a:cxnSpLocks/>
              <a:stCxn id="42" idx="0"/>
            </p:cNvCxnSpPr>
            <p:nvPr/>
          </p:nvCxnSpPr>
          <p:spPr bwMode="auto">
            <a:xfrm flipH="1" flipV="1">
              <a:off x="2503845" y="4609239"/>
              <a:ext cx="1300462" cy="734451"/>
            </a:xfrm>
            <a:prstGeom prst="straightConnector1">
              <a:avLst/>
            </a:prstGeom>
            <a:noFill/>
            <a:ln w="25400" cap="flat" cmpd="sng" algn="ctr">
              <a:solidFill>
                <a:srgbClr val="99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6154" name="Group 6153">
            <a:extLst>
              <a:ext uri="{FF2B5EF4-FFF2-40B4-BE49-F238E27FC236}">
                <a16:creationId xmlns:a16="http://schemas.microsoft.com/office/drawing/2014/main" id="{1EE9CEFD-6180-C082-673C-8D65B12AA9FB}"/>
              </a:ext>
            </a:extLst>
          </p:cNvPr>
          <p:cNvGrpSpPr/>
          <p:nvPr/>
        </p:nvGrpSpPr>
        <p:grpSpPr>
          <a:xfrm>
            <a:off x="3404589" y="3055223"/>
            <a:ext cx="2173003" cy="3680579"/>
            <a:chOff x="3404589" y="3055223"/>
            <a:chExt cx="2173003" cy="3680579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0FDFCD8-9D25-4F16-730E-EF10F4E121D5}"/>
                </a:ext>
              </a:extLst>
            </p:cNvPr>
            <p:cNvSpPr txBox="1"/>
            <p:nvPr/>
          </p:nvSpPr>
          <p:spPr>
            <a:xfrm>
              <a:off x="3404589" y="6366470"/>
              <a:ext cx="21730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rgbClr val="990000"/>
                  </a:solidFill>
                  <a:latin typeface="Calibri" pitchFamily="34" charset="0"/>
                </a:rPr>
                <a:t>…that’s defined here</a:t>
              </a:r>
            </a:p>
          </p:txBody>
        </p:sp>
        <p:cxnSp>
          <p:nvCxnSpPr>
            <p:cNvPr id="50" name="Straight Arrow Connector 49">
              <a:extLst>
                <a:ext uri="{FF2B5EF4-FFF2-40B4-BE49-F238E27FC236}">
                  <a16:creationId xmlns:a16="http://schemas.microsoft.com/office/drawing/2014/main" id="{31E6529C-39A2-9450-D14D-EF5F52620DDF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4487848" y="3055223"/>
              <a:ext cx="620343" cy="3288249"/>
            </a:xfrm>
            <a:prstGeom prst="straightConnector1">
              <a:avLst/>
            </a:prstGeom>
            <a:noFill/>
            <a:ln w="25400" cap="flat" cmpd="sng" algn="ctr">
              <a:solidFill>
                <a:srgbClr val="99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C285A77B-E16A-E837-FA33-20789EB5F4FB}"/>
              </a:ext>
            </a:extLst>
          </p:cNvPr>
          <p:cNvGrpSpPr/>
          <p:nvPr/>
        </p:nvGrpSpPr>
        <p:grpSpPr>
          <a:xfrm>
            <a:off x="5363448" y="3605937"/>
            <a:ext cx="3020317" cy="2774265"/>
            <a:chOff x="5363448" y="2882900"/>
            <a:chExt cx="3020317" cy="2774265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911FBEDC-01CD-9F10-56EE-0787F43EF2BB}"/>
                </a:ext>
              </a:extLst>
            </p:cNvPr>
            <p:cNvSpPr txBox="1"/>
            <p:nvPr/>
          </p:nvSpPr>
          <p:spPr>
            <a:xfrm>
              <a:off x="6324600" y="5010834"/>
              <a:ext cx="205916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800" dirty="0">
                  <a:solidFill>
                    <a:srgbClr val="990000"/>
                  </a:solidFill>
                  <a:latin typeface="Calibri" pitchFamily="34" charset="0"/>
                </a:rPr>
                <a:t>Linker knows</a:t>
              </a:r>
            </a:p>
            <a:p>
              <a:pPr algn="ctr"/>
              <a:r>
                <a:rPr lang="en-US" sz="1800" dirty="0">
                  <a:solidFill>
                    <a:srgbClr val="990000"/>
                  </a:solidFill>
                  <a:latin typeface="Calibri" pitchFamily="34" charset="0"/>
                </a:rPr>
                <a:t>nothing of </a:t>
              </a:r>
              <a:r>
                <a:rPr lang="en-US" sz="1800" dirty="0" err="1">
                  <a:solidFill>
                    <a:srgbClr val="990000"/>
                  </a:solidFill>
                  <a:latin typeface="Courier New"/>
                  <a:cs typeface="Courier New"/>
                </a:rPr>
                <a:t>i</a:t>
              </a:r>
              <a:r>
                <a:rPr lang="en-US" sz="1800" dirty="0">
                  <a:solidFill>
                    <a:srgbClr val="990000"/>
                  </a:solidFill>
                  <a:latin typeface="Courier New"/>
                  <a:cs typeface="Courier New"/>
                </a:rPr>
                <a:t> </a:t>
              </a:r>
              <a:r>
                <a:rPr lang="en-US" sz="1800" dirty="0">
                  <a:solidFill>
                    <a:srgbClr val="990000"/>
                  </a:solidFill>
                  <a:latin typeface="Calibri"/>
                  <a:cs typeface="Calibri"/>
                </a:rPr>
                <a:t>or</a:t>
              </a:r>
              <a:r>
                <a:rPr lang="en-US" sz="1800" dirty="0">
                  <a:solidFill>
                    <a:srgbClr val="990000"/>
                  </a:solidFill>
                  <a:latin typeface="Courier New"/>
                  <a:cs typeface="Courier New"/>
                </a:rPr>
                <a:t> s</a:t>
              </a:r>
            </a:p>
          </p:txBody>
        </p: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3D685462-AFCE-255B-57E2-E2B039A30234}"/>
                </a:ext>
              </a:extLst>
            </p:cNvPr>
            <p:cNvCxnSpPr>
              <a:cxnSpLocks/>
              <a:stCxn id="52" idx="0"/>
            </p:cNvCxnSpPr>
            <p:nvPr/>
          </p:nvCxnSpPr>
          <p:spPr bwMode="auto">
            <a:xfrm flipH="1" flipV="1">
              <a:off x="5363448" y="2882900"/>
              <a:ext cx="1990735" cy="2127934"/>
            </a:xfrm>
            <a:prstGeom prst="straightConnector1">
              <a:avLst/>
            </a:prstGeom>
            <a:noFill/>
            <a:ln w="25400" cap="flat" cmpd="sng" algn="ctr">
              <a:solidFill>
                <a:srgbClr val="99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grpSp>
        <p:nvGrpSpPr>
          <p:cNvPr id="6155" name="Group 6154">
            <a:extLst>
              <a:ext uri="{FF2B5EF4-FFF2-40B4-BE49-F238E27FC236}">
                <a16:creationId xmlns:a16="http://schemas.microsoft.com/office/drawing/2014/main" id="{8CE07AF5-4239-C4B4-FFC8-81EBC723BCA3}"/>
              </a:ext>
            </a:extLst>
          </p:cNvPr>
          <p:cNvGrpSpPr/>
          <p:nvPr/>
        </p:nvGrpSpPr>
        <p:grpSpPr>
          <a:xfrm>
            <a:off x="804819" y="1882523"/>
            <a:ext cx="2599770" cy="1480066"/>
            <a:chOff x="1124710" y="1872734"/>
            <a:chExt cx="2599770" cy="1480066"/>
          </a:xfrm>
        </p:grpSpPr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01F0F6E4-8D9C-D962-4383-EA3FE3B42CFD}"/>
                </a:ext>
              </a:extLst>
            </p:cNvPr>
            <p:cNvSpPr txBox="1"/>
            <p:nvPr/>
          </p:nvSpPr>
          <p:spPr>
            <a:xfrm>
              <a:off x="1551477" y="1872734"/>
              <a:ext cx="21730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rgbClr val="990000"/>
                  </a:solidFill>
                  <a:latin typeface="Calibri" pitchFamily="34" charset="0"/>
                </a:rPr>
                <a:t>…that’s defined here</a:t>
              </a:r>
            </a:p>
          </p:txBody>
        </p: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FDEEE4CC-2301-7EE3-B7EB-FF337B857CC9}"/>
                </a:ext>
              </a:extLst>
            </p:cNvPr>
            <p:cNvCxnSpPr>
              <a:stCxn id="71" idx="2"/>
            </p:cNvCxnSpPr>
            <p:nvPr/>
          </p:nvCxnSpPr>
          <p:spPr bwMode="auto">
            <a:xfrm flipH="1">
              <a:off x="1124710" y="2242066"/>
              <a:ext cx="1513269" cy="1110734"/>
            </a:xfrm>
            <a:prstGeom prst="straightConnector1">
              <a:avLst/>
            </a:prstGeom>
            <a:noFill/>
            <a:ln w="25400" cap="flat" cmpd="sng" algn="ctr">
              <a:solidFill>
                <a:srgbClr val="99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A61CA95-C2F9-E664-FCE0-A2628BED6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92C60-C071-3249-9DBB-404B1D195F8C}" type="slidenum">
              <a:rPr lang="en-US" smtClean="0"/>
              <a:t>33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8CEABDF-CC44-1684-AE9E-8974B9F41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70359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746C9-BD23-29F2-CE35-B0218F3CE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1">
            <a:extLst>
              <a:ext uri="{FF2B5EF4-FFF2-40B4-BE49-F238E27FC236}">
                <a16:creationId xmlns:a16="http://schemas.microsoft.com/office/drawing/2014/main" id="{C85585D2-BE79-7D52-2925-46415B0C82C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40266" y="436562"/>
            <a:ext cx="8322734" cy="782638"/>
          </a:xfrm>
          <a:ln/>
        </p:spPr>
        <p:txBody>
          <a:bodyPr>
            <a:normAutofit fontScale="90000"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C linker quirks: it allows symbol name collision!</a:t>
            </a:r>
          </a:p>
        </p:txBody>
      </p:sp>
      <p:sp>
        <p:nvSpPr>
          <p:cNvPr id="24578" name="Rectangle 2">
            <a:extLst>
              <a:ext uri="{FF2B5EF4-FFF2-40B4-BE49-F238E27FC236}">
                <a16:creationId xmlns:a16="http://schemas.microsoft.com/office/drawing/2014/main" id="{AB759686-966E-7247-6AD4-7135FB9DEF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5613" y="1754188"/>
            <a:ext cx="8307387" cy="1446212"/>
          </a:xfrm>
          <a:ln/>
        </p:spPr>
        <p:txBody>
          <a:bodyPr>
            <a:normAutofit/>
          </a:bodyPr>
          <a:lstStyle/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Program symbols are either </a:t>
            </a:r>
            <a:r>
              <a:rPr lang="en-GB" i="1" dirty="0"/>
              <a:t>strong</a:t>
            </a:r>
            <a:r>
              <a:rPr lang="en-GB" dirty="0"/>
              <a:t> or </a:t>
            </a:r>
            <a:r>
              <a:rPr lang="en-GB" i="1" dirty="0"/>
              <a:t>weak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b="1" i="1" dirty="0">
                <a:solidFill>
                  <a:srgbClr val="C00000"/>
                </a:solidFill>
              </a:rPr>
              <a:t>Strong</a:t>
            </a:r>
            <a:r>
              <a:rPr lang="en-GB" dirty="0"/>
              <a:t>: procedures and initialized </a:t>
            </a:r>
            <a:r>
              <a:rPr lang="en-GB" dirty="0" err="1"/>
              <a:t>globals</a:t>
            </a:r>
            <a:endParaRPr lang="en-GB" dirty="0"/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b="1" i="1" dirty="0">
                <a:solidFill>
                  <a:srgbClr val="C00000"/>
                </a:solidFill>
              </a:rPr>
              <a:t>Weak</a:t>
            </a:r>
            <a:r>
              <a:rPr lang="en-GB" dirty="0"/>
              <a:t>: uninitialized </a:t>
            </a:r>
            <a:r>
              <a:rPr lang="en-GB" dirty="0" err="1"/>
              <a:t>globals</a:t>
            </a:r>
            <a:endParaRPr lang="en-GB" dirty="0"/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2FF5EDB7-0C26-FF87-DA35-8871083949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70150" y="3893119"/>
            <a:ext cx="1698199" cy="1140185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latin typeface="Courier New" pitchFamily="49" charset="0"/>
                <a:ea typeface="msgothic" charset="0"/>
                <a:cs typeface="msgothic" charset="0"/>
              </a:rPr>
              <a:t>int foo=5;</a:t>
            </a:r>
          </a:p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800" b="1" dirty="0">
              <a:latin typeface="Courier New" pitchFamily="49" charset="0"/>
              <a:ea typeface="msgothic" charset="0"/>
              <a:cs typeface="msgothic" charset="0"/>
            </a:endParaRPr>
          </a:p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b="1" dirty="0">
                <a:latin typeface="Courier New" pitchFamily="49" charset="0"/>
                <a:ea typeface="msgothic" charset="0"/>
                <a:cs typeface="msgothic" charset="0"/>
              </a:rPr>
              <a:t>v</a:t>
            </a:r>
            <a:r>
              <a:rPr lang="en-GB" sz="1800" b="1" dirty="0">
                <a:latin typeface="Courier New" pitchFamily="49" charset="0"/>
                <a:ea typeface="msgothic" charset="0"/>
                <a:cs typeface="msgothic" charset="0"/>
              </a:rPr>
              <a:t>oid p1() {</a:t>
            </a:r>
          </a:p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latin typeface="Courier New" pitchFamily="49" charset="0"/>
                <a:ea typeface="msgothic" charset="0"/>
                <a:cs typeface="msgothic" charset="0"/>
              </a:rPr>
              <a:t>}</a:t>
            </a:r>
          </a:p>
        </p:txBody>
      </p:sp>
      <p:sp>
        <p:nvSpPr>
          <p:cNvPr id="24580" name="Rectangle 4">
            <a:extLst>
              <a:ext uri="{FF2B5EF4-FFF2-40B4-BE49-F238E27FC236}">
                <a16:creationId xmlns:a16="http://schemas.microsoft.com/office/drawing/2014/main" id="{24329B5D-2505-9AE8-E37A-4C768AAF3A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1575" y="3893119"/>
            <a:ext cx="1698199" cy="1140185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latin typeface="Courier New" pitchFamily="49" charset="0"/>
                <a:ea typeface="msgothic" charset="0"/>
                <a:cs typeface="msgothic" charset="0"/>
              </a:rPr>
              <a:t>int foo;</a:t>
            </a:r>
          </a:p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800" b="1" dirty="0">
              <a:latin typeface="Courier New" pitchFamily="49" charset="0"/>
              <a:ea typeface="msgothic" charset="0"/>
              <a:cs typeface="msgothic" charset="0"/>
            </a:endParaRPr>
          </a:p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b="1" dirty="0">
                <a:latin typeface="Courier New" pitchFamily="49" charset="0"/>
                <a:ea typeface="msgothic" charset="0"/>
                <a:cs typeface="msgothic" charset="0"/>
              </a:rPr>
              <a:t>v</a:t>
            </a:r>
            <a:r>
              <a:rPr lang="en-GB" sz="1800" b="1" dirty="0">
                <a:latin typeface="Courier New" pitchFamily="49" charset="0"/>
                <a:ea typeface="msgothic" charset="0"/>
                <a:cs typeface="msgothic" charset="0"/>
              </a:rPr>
              <a:t>oid p2() {</a:t>
            </a:r>
          </a:p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latin typeface="Courier New" pitchFamily="49" charset="0"/>
                <a:ea typeface="msgothic" charset="0"/>
                <a:cs typeface="msgothic" charset="0"/>
              </a:rPr>
              <a:t>}</a:t>
            </a:r>
          </a:p>
        </p:txBody>
      </p:sp>
      <p:sp>
        <p:nvSpPr>
          <p:cNvPr id="24581" name="Rectangle 5">
            <a:extLst>
              <a:ext uri="{FF2B5EF4-FFF2-40B4-BE49-F238E27FC236}">
                <a16:creationId xmlns:a16="http://schemas.microsoft.com/office/drawing/2014/main" id="{8F7F7C15-0C0F-19D9-C65D-68F043AC74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62213" y="3523232"/>
            <a:ext cx="717550" cy="354012"/>
          </a:xfrm>
          <a:prstGeom prst="rect">
            <a:avLst/>
          </a:prstGeom>
          <a:noFill/>
          <a:ln w="3240">
            <a:solidFill>
              <a:srgbClr val="FFFFFF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000000"/>
                </a:solidFill>
                <a:latin typeface="Courier New" pitchFamily="49" charset="0"/>
                <a:ea typeface="msgothic" charset="0"/>
                <a:cs typeface="msgothic" charset="0"/>
              </a:rPr>
              <a:t>p1.c</a:t>
            </a:r>
          </a:p>
        </p:txBody>
      </p:sp>
      <p:sp>
        <p:nvSpPr>
          <p:cNvPr id="24582" name="Rectangle 6">
            <a:extLst>
              <a:ext uri="{FF2B5EF4-FFF2-40B4-BE49-F238E27FC236}">
                <a16:creationId xmlns:a16="http://schemas.microsoft.com/office/drawing/2014/main" id="{047B3AEF-510B-E630-35CE-C6AC59168F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6813" y="3523232"/>
            <a:ext cx="717550" cy="354012"/>
          </a:xfrm>
          <a:prstGeom prst="rect">
            <a:avLst/>
          </a:prstGeom>
          <a:noFill/>
          <a:ln w="3240">
            <a:solidFill>
              <a:srgbClr val="FFFFFF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solidFill>
                  <a:srgbClr val="000000"/>
                </a:solidFill>
                <a:latin typeface="Courier New" pitchFamily="49" charset="0"/>
                <a:ea typeface="msgothic" charset="0"/>
                <a:cs typeface="msgothic" charset="0"/>
              </a:rPr>
              <a:t>p2.c</a:t>
            </a:r>
          </a:p>
        </p:txBody>
      </p:sp>
      <p:sp>
        <p:nvSpPr>
          <p:cNvPr id="24583" name="Text Box 7">
            <a:extLst>
              <a:ext uri="{FF2B5EF4-FFF2-40B4-BE49-F238E27FC236}">
                <a16:creationId xmlns:a16="http://schemas.microsoft.com/office/drawing/2014/main" id="{0F2BE4D9-959A-8FB5-350B-EE560009A6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42175" y="4391593"/>
            <a:ext cx="785513" cy="3659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solidFill>
                  <a:srgbClr val="990000"/>
                </a:solidFill>
                <a:latin typeface="Calibri" pitchFamily="34" charset="0"/>
                <a:ea typeface="msgothic" charset="0"/>
                <a:cs typeface="msgothic" charset="0"/>
              </a:rPr>
              <a:t>strong</a:t>
            </a:r>
          </a:p>
        </p:txBody>
      </p:sp>
      <p:sp>
        <p:nvSpPr>
          <p:cNvPr id="24584" name="Line 8">
            <a:extLst>
              <a:ext uri="{FF2B5EF4-FFF2-40B4-BE49-F238E27FC236}">
                <a16:creationId xmlns:a16="http://schemas.microsoft.com/office/drawing/2014/main" id="{91651D1C-6553-AD26-5463-CC18D8C39C0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27775" y="4572000"/>
            <a:ext cx="917575" cy="1588"/>
          </a:xfrm>
          <a:prstGeom prst="line">
            <a:avLst/>
          </a:prstGeom>
          <a:noFill/>
          <a:ln w="25560">
            <a:solidFill>
              <a:srgbClr val="99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>
              <a:solidFill>
                <a:srgbClr val="990000"/>
              </a:solidFill>
            </a:endParaRPr>
          </a:p>
        </p:txBody>
      </p:sp>
      <p:sp>
        <p:nvSpPr>
          <p:cNvPr id="24585" name="Text Box 9">
            <a:extLst>
              <a:ext uri="{FF2B5EF4-FFF2-40B4-BE49-F238E27FC236}">
                <a16:creationId xmlns:a16="http://schemas.microsoft.com/office/drawing/2014/main" id="{167192FD-B88F-7EF1-5FBC-9F42CCC8DE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42175" y="3883594"/>
            <a:ext cx="691321" cy="3659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solidFill>
                  <a:srgbClr val="990000"/>
                </a:solidFill>
                <a:latin typeface="Calibri" pitchFamily="34" charset="0"/>
                <a:ea typeface="msgothic" charset="0"/>
                <a:cs typeface="msgothic" charset="0"/>
              </a:rPr>
              <a:t>weak</a:t>
            </a:r>
          </a:p>
        </p:txBody>
      </p:sp>
      <p:sp>
        <p:nvSpPr>
          <p:cNvPr id="24586" name="Line 10">
            <a:extLst>
              <a:ext uri="{FF2B5EF4-FFF2-40B4-BE49-F238E27FC236}">
                <a16:creationId xmlns:a16="http://schemas.microsoft.com/office/drawing/2014/main" id="{F678F03F-0F6E-D022-16A5-6C0F928ED57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24600" y="4070877"/>
            <a:ext cx="917575" cy="1588"/>
          </a:xfrm>
          <a:prstGeom prst="line">
            <a:avLst/>
          </a:prstGeom>
          <a:noFill/>
          <a:ln w="25560">
            <a:solidFill>
              <a:srgbClr val="990000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>
              <a:solidFill>
                <a:srgbClr val="990000"/>
              </a:solidFill>
            </a:endParaRPr>
          </a:p>
        </p:txBody>
      </p:sp>
      <p:sp>
        <p:nvSpPr>
          <p:cNvPr id="24587" name="Text Box 11">
            <a:extLst>
              <a:ext uri="{FF2B5EF4-FFF2-40B4-BE49-F238E27FC236}">
                <a16:creationId xmlns:a16="http://schemas.microsoft.com/office/drawing/2014/main" id="{0EA7B5F7-394A-6CC7-CD86-D128112F5B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850" y="4431282"/>
            <a:ext cx="785513" cy="3659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solidFill>
                  <a:srgbClr val="990000"/>
                </a:solidFill>
                <a:latin typeface="Calibri" pitchFamily="34" charset="0"/>
                <a:ea typeface="msgothic" charset="0"/>
                <a:cs typeface="msgothic" charset="0"/>
              </a:rPr>
              <a:t>strong</a:t>
            </a:r>
          </a:p>
        </p:txBody>
      </p:sp>
      <p:sp>
        <p:nvSpPr>
          <p:cNvPr id="24588" name="Line 12">
            <a:extLst>
              <a:ext uri="{FF2B5EF4-FFF2-40B4-BE49-F238E27FC236}">
                <a16:creationId xmlns:a16="http://schemas.microsoft.com/office/drawing/2014/main" id="{FE3FAB64-6323-F469-A755-0F312C04B03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20825" y="4645594"/>
            <a:ext cx="917575" cy="1588"/>
          </a:xfrm>
          <a:prstGeom prst="line">
            <a:avLst/>
          </a:prstGeom>
          <a:noFill/>
          <a:ln w="25560">
            <a:solidFill>
              <a:srgbClr val="990000"/>
            </a:solidFill>
            <a:miter lim="800000"/>
            <a:headEnd type="triangle" w="med" len="med"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4589" name="Text Box 13">
            <a:extLst>
              <a:ext uri="{FF2B5EF4-FFF2-40B4-BE49-F238E27FC236}">
                <a16:creationId xmlns:a16="http://schemas.microsoft.com/office/drawing/2014/main" id="{E7C99FC4-C2DF-431A-90D3-6517B71B08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850" y="3889415"/>
            <a:ext cx="785513" cy="3659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solidFill>
                  <a:srgbClr val="990000"/>
                </a:solidFill>
                <a:latin typeface="Calibri" pitchFamily="34" charset="0"/>
                <a:ea typeface="msgothic" charset="0"/>
                <a:cs typeface="msgothic" charset="0"/>
              </a:rPr>
              <a:t>strong</a:t>
            </a:r>
          </a:p>
        </p:txBody>
      </p:sp>
      <p:sp>
        <p:nvSpPr>
          <p:cNvPr id="24590" name="Line 14">
            <a:extLst>
              <a:ext uri="{FF2B5EF4-FFF2-40B4-BE49-F238E27FC236}">
                <a16:creationId xmlns:a16="http://schemas.microsoft.com/office/drawing/2014/main" id="{27ACDDC2-D900-B428-625C-07CDB954667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520825" y="4072468"/>
            <a:ext cx="917575" cy="1588"/>
          </a:xfrm>
          <a:prstGeom prst="line">
            <a:avLst/>
          </a:prstGeom>
          <a:noFill/>
          <a:ln w="25560">
            <a:solidFill>
              <a:srgbClr val="990000"/>
            </a:solidFill>
            <a:miter lim="800000"/>
            <a:headEnd type="triangle" w="med" len="med"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43DAFDD-5A8F-92A1-8203-803643938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92C60-C071-3249-9DBB-404B1D195F8C}" type="slidenum">
              <a:rPr lang="en-US" smtClean="0"/>
              <a:t>34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AE1214-68A9-DBB1-6848-7E7F5DEB4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36531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3" grpId="0"/>
      <p:bldP spid="24584" grpId="0" animBg="1"/>
      <p:bldP spid="24585" grpId="0"/>
      <p:bldP spid="24586" grpId="0" animBg="1"/>
      <p:bldP spid="24587" grpId="0"/>
      <p:bldP spid="24588" grpId="0" animBg="1"/>
      <p:bldP spid="24589" grpId="0"/>
      <p:bldP spid="24590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1A845-85CC-DF83-8C15-5EF8E1A0C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1">
            <a:extLst>
              <a:ext uri="{FF2B5EF4-FFF2-40B4-BE49-F238E27FC236}">
                <a16:creationId xmlns:a16="http://schemas.microsoft.com/office/drawing/2014/main" id="{2DC8A590-EDB1-3043-B17A-27A7B0A1FB2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79412" y="436562"/>
            <a:ext cx="8716962" cy="782638"/>
          </a:xfrm>
          <a:ln/>
        </p:spPr>
        <p:txBody>
          <a:bodyPr>
            <a:normAutofit fontScale="90000"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Symbol resolution in the face of name collision</a:t>
            </a:r>
          </a:p>
        </p:txBody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8952EACC-6EA1-B7A5-DADC-1D680F66B8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568824"/>
            <a:ext cx="8715374" cy="5027238"/>
          </a:xfrm>
          <a:ln/>
        </p:spPr>
        <p:txBody>
          <a:bodyPr>
            <a:normAutofit/>
          </a:bodyPr>
          <a:lstStyle/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Rule 1: Multiple strong symbols are not allowed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Otherwise: Linker error</a:t>
            </a:r>
          </a:p>
          <a:p>
            <a:pPr>
              <a:buFont typeface="Wingdings" charset="2"/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dirty="0"/>
          </a:p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Rule 2: If there’s a strong symbol and multiple weak symbols, they all resolve to the strong symbol. </a:t>
            </a:r>
          </a:p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endParaRPr lang="en-GB" dirty="0"/>
          </a:p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Rule 3: If there are multiple weak symbols, pick an arbitrary one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Can override this with </a:t>
            </a:r>
            <a:r>
              <a:rPr lang="en-GB" b="1" dirty="0" err="1">
                <a:latin typeface="Courier New" pitchFamily="49" charset="0"/>
              </a:rPr>
              <a:t>gcc</a:t>
            </a:r>
            <a:r>
              <a:rPr lang="en-GB" b="1" dirty="0">
                <a:latin typeface="Courier New" pitchFamily="49" charset="0"/>
              </a:rPr>
              <a:t> –</a:t>
            </a:r>
            <a:r>
              <a:rPr lang="en-GB" b="1" dirty="0" err="1">
                <a:latin typeface="Courier New" pitchFamily="49" charset="0"/>
              </a:rPr>
              <a:t>fno</a:t>
            </a:r>
            <a:r>
              <a:rPr lang="en-GB" b="1" dirty="0">
                <a:latin typeface="Courier New" pitchFamily="49" charset="0"/>
              </a:rPr>
              <a:t>-common</a:t>
            </a:r>
          </a:p>
          <a:p>
            <a:pPr>
              <a:buFont typeface="Wingdings" charset="2"/>
              <a:buNone/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	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F3F7A43-5D6F-C56C-407B-24F71407A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92C60-C071-3249-9DBB-404B1D195F8C}" type="slidenum">
              <a:rPr lang="en-US" smtClean="0"/>
              <a:t>35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712FFF9-F09C-023A-AC55-6E5563C84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07467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8A883-63DC-0638-2CCF-DA802A368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DC5A4C62-E0DE-207B-306C-06E43B52A7CD}"/>
              </a:ext>
            </a:extLst>
          </p:cNvPr>
          <p:cNvSpPr/>
          <p:nvPr/>
        </p:nvSpPr>
        <p:spPr bwMode="auto">
          <a:xfrm>
            <a:off x="0" y="1879599"/>
            <a:ext cx="9144000" cy="1098550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  <a:ln w="28575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91440" tIns="45720" rIns="91440" bIns="45720" numCol="1" rtlCol="0" anchor="ctr" anchorCtr="1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dirty="0">
              <a:latin typeface="Calibri" pitchFamily="34" charset="0"/>
            </a:endParaRPr>
          </a:p>
        </p:txBody>
      </p:sp>
      <p:sp>
        <p:nvSpPr>
          <p:cNvPr id="26625" name="Rectangle 1">
            <a:extLst>
              <a:ext uri="{FF2B5EF4-FFF2-40B4-BE49-F238E27FC236}">
                <a16:creationId xmlns:a16="http://schemas.microsoft.com/office/drawing/2014/main" id="{6B86BB03-F73C-F936-F26B-956E8033ACD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27038" y="284162"/>
            <a:ext cx="8716962" cy="782638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Linker Puzzles</a:t>
            </a:r>
          </a:p>
        </p:txBody>
      </p:sp>
      <p:sp>
        <p:nvSpPr>
          <p:cNvPr id="26626" name="Text Box 2">
            <a:extLst>
              <a:ext uri="{FF2B5EF4-FFF2-40B4-BE49-F238E27FC236}">
                <a16:creationId xmlns:a16="http://schemas.microsoft.com/office/drawing/2014/main" id="{EE97515C-FC45-6938-8DCF-C88D6DA8EF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2165350"/>
            <a:ext cx="1045777" cy="557461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>
                <a:latin typeface="Courier New" pitchFamily="49" charset="0"/>
                <a:ea typeface="msgothic" charset="0"/>
                <a:cs typeface="msgothic" charset="0"/>
              </a:rPr>
              <a:t>int x;</a:t>
            </a:r>
          </a:p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>
                <a:latin typeface="Courier New" pitchFamily="49" charset="0"/>
                <a:ea typeface="msgothic" charset="0"/>
                <a:cs typeface="msgothic" charset="0"/>
              </a:rPr>
              <a:t>p1() {}</a:t>
            </a:r>
          </a:p>
        </p:txBody>
      </p:sp>
      <p:sp>
        <p:nvSpPr>
          <p:cNvPr id="26627" name="Text Box 3">
            <a:extLst>
              <a:ext uri="{FF2B5EF4-FFF2-40B4-BE49-F238E27FC236}">
                <a16:creationId xmlns:a16="http://schemas.microsoft.com/office/drawing/2014/main" id="{4C52718D-A2A6-A05C-1AF5-E34C8EDE0F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3961" y="2165350"/>
            <a:ext cx="1045777" cy="557461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>
                <a:latin typeface="Courier New" pitchFamily="49" charset="0"/>
                <a:ea typeface="msgothic" charset="0"/>
                <a:cs typeface="msgothic" charset="0"/>
              </a:rPr>
              <a:t>int x;</a:t>
            </a:r>
          </a:p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>
                <a:latin typeface="Courier New" pitchFamily="49" charset="0"/>
                <a:ea typeface="msgothic" charset="0"/>
                <a:cs typeface="msgothic" charset="0"/>
              </a:rPr>
              <a:t>p2() {}</a:t>
            </a:r>
          </a:p>
        </p:txBody>
      </p:sp>
      <p:sp>
        <p:nvSpPr>
          <p:cNvPr id="26630" name="Text Box 6">
            <a:extLst>
              <a:ext uri="{FF2B5EF4-FFF2-40B4-BE49-F238E27FC236}">
                <a16:creationId xmlns:a16="http://schemas.microsoft.com/office/drawing/2014/main" id="{958187C1-AF54-3EF4-670A-21CD254B87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3411920"/>
            <a:ext cx="1169208" cy="788935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>
                <a:latin typeface="Courier New" pitchFamily="49" charset="0"/>
                <a:ea typeface="msgothic" charset="0"/>
                <a:cs typeface="msgothic" charset="0"/>
              </a:rPr>
              <a:t>int x=7;</a:t>
            </a:r>
          </a:p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>
                <a:latin typeface="Courier New" pitchFamily="49" charset="0"/>
                <a:ea typeface="msgothic" charset="0"/>
                <a:cs typeface="msgothic" charset="0"/>
              </a:rPr>
              <a:t>int y=5;</a:t>
            </a:r>
          </a:p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>
                <a:latin typeface="Courier New" pitchFamily="49" charset="0"/>
                <a:ea typeface="msgothic" charset="0"/>
                <a:cs typeface="msgothic" charset="0"/>
              </a:rPr>
              <a:t>p1() {}</a:t>
            </a:r>
          </a:p>
        </p:txBody>
      </p:sp>
      <p:sp>
        <p:nvSpPr>
          <p:cNvPr id="26631" name="Text Box 7">
            <a:extLst>
              <a:ext uri="{FF2B5EF4-FFF2-40B4-BE49-F238E27FC236}">
                <a16:creationId xmlns:a16="http://schemas.microsoft.com/office/drawing/2014/main" id="{92272E62-D079-D639-8D69-D9B70E67CB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3961" y="3411920"/>
            <a:ext cx="1292639" cy="557461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>
                <a:latin typeface="Courier New" pitchFamily="49" charset="0"/>
                <a:ea typeface="msgothic" charset="0"/>
                <a:cs typeface="msgothic" charset="0"/>
              </a:rPr>
              <a:t>double x;</a:t>
            </a:r>
          </a:p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>
                <a:latin typeface="Courier New" pitchFamily="49" charset="0"/>
                <a:ea typeface="msgothic" charset="0"/>
                <a:cs typeface="msgothic" charset="0"/>
              </a:rPr>
              <a:t>p2() {}</a:t>
            </a:r>
          </a:p>
        </p:txBody>
      </p:sp>
      <p:sp>
        <p:nvSpPr>
          <p:cNvPr id="26634" name="Text Box 10">
            <a:extLst>
              <a:ext uri="{FF2B5EF4-FFF2-40B4-BE49-F238E27FC236}">
                <a16:creationId xmlns:a16="http://schemas.microsoft.com/office/drawing/2014/main" id="{A7ED6E04-0B20-7F08-F516-6619C748B6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1174750"/>
            <a:ext cx="1045777" cy="557461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>
                <a:latin typeface="Courier New" pitchFamily="49" charset="0"/>
                <a:ea typeface="msgothic" charset="0"/>
                <a:cs typeface="msgothic" charset="0"/>
              </a:rPr>
              <a:t>int x;</a:t>
            </a:r>
          </a:p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>
                <a:latin typeface="Courier New" pitchFamily="49" charset="0"/>
                <a:ea typeface="msgothic" charset="0"/>
                <a:cs typeface="msgothic" charset="0"/>
              </a:rPr>
              <a:t>p1() {}</a:t>
            </a:r>
          </a:p>
        </p:txBody>
      </p:sp>
      <p:sp>
        <p:nvSpPr>
          <p:cNvPr id="26635" name="Text Box 11">
            <a:extLst>
              <a:ext uri="{FF2B5EF4-FFF2-40B4-BE49-F238E27FC236}">
                <a16:creationId xmlns:a16="http://schemas.microsoft.com/office/drawing/2014/main" id="{13F2A2DA-49D4-A47F-392B-9AE00F4180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3961" y="1174750"/>
            <a:ext cx="1045777" cy="557461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600" b="1">
              <a:latin typeface="Courier New" pitchFamily="49" charset="0"/>
              <a:ea typeface="msgothic" charset="0"/>
              <a:cs typeface="msgothic" charset="0"/>
            </a:endParaRPr>
          </a:p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>
                <a:latin typeface="Courier New" pitchFamily="49" charset="0"/>
                <a:ea typeface="msgothic" charset="0"/>
                <a:cs typeface="msgothic" charset="0"/>
              </a:rPr>
              <a:t>p1() {}</a:t>
            </a:r>
          </a:p>
        </p:txBody>
      </p:sp>
      <p:sp>
        <p:nvSpPr>
          <p:cNvPr id="26636" name="Text Box 12">
            <a:extLst>
              <a:ext uri="{FF2B5EF4-FFF2-40B4-BE49-F238E27FC236}">
                <a16:creationId xmlns:a16="http://schemas.microsoft.com/office/drawing/2014/main" id="{D997D0D6-9FD7-73BD-2F66-21F4D8FE45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9525" y="1304925"/>
            <a:ext cx="4047431" cy="3659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0" dirty="0">
                <a:latin typeface="Calibri" pitchFamily="34" charset="0"/>
                <a:ea typeface="msgothic" charset="0"/>
                <a:cs typeface="msgothic" charset="0"/>
              </a:rPr>
              <a:t>Link time error: two strong symbols (</a:t>
            </a:r>
            <a:r>
              <a:rPr lang="en-GB" sz="1800" dirty="0">
                <a:latin typeface="Courier New" pitchFamily="49" charset="0"/>
                <a:ea typeface="msgothic" charset="0"/>
                <a:cs typeface="msgothic" charset="0"/>
              </a:rPr>
              <a:t>p1</a:t>
            </a:r>
            <a:r>
              <a:rPr lang="en-GB" sz="1800" b="0" dirty="0">
                <a:latin typeface="Calibri" pitchFamily="34" charset="0"/>
                <a:ea typeface="msgothic" charset="0"/>
                <a:cs typeface="msgothic" charset="0"/>
              </a:rPr>
              <a:t>)</a:t>
            </a:r>
          </a:p>
        </p:txBody>
      </p:sp>
      <p:sp>
        <p:nvSpPr>
          <p:cNvPr id="26637" name="Text Box 13">
            <a:extLst>
              <a:ext uri="{FF2B5EF4-FFF2-40B4-BE49-F238E27FC236}">
                <a16:creationId xmlns:a16="http://schemas.microsoft.com/office/drawing/2014/main" id="{E174A979-D15E-4B4F-B1BD-7BAD51C7C7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4125" y="2159000"/>
            <a:ext cx="4397079" cy="63748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0" dirty="0">
                <a:latin typeface="Calibri" pitchFamily="34" charset="0"/>
                <a:ea typeface="msgothic" charset="0"/>
                <a:cs typeface="msgothic" charset="0"/>
              </a:rPr>
              <a:t>References to  </a:t>
            </a:r>
            <a:r>
              <a:rPr lang="en-GB" sz="1800" dirty="0">
                <a:latin typeface="Courier New" pitchFamily="49" charset="0"/>
                <a:ea typeface="msgothic" charset="0"/>
                <a:cs typeface="msgothic" charset="0"/>
              </a:rPr>
              <a:t>x</a:t>
            </a:r>
            <a:r>
              <a:rPr lang="en-GB" sz="1800" b="0" dirty="0">
                <a:latin typeface="Calibri" pitchFamily="34" charset="0"/>
                <a:ea typeface="msgothic" charset="0"/>
                <a:cs typeface="msgothic" charset="0"/>
              </a:rPr>
              <a:t> will refer to the same </a:t>
            </a: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0" dirty="0">
                <a:latin typeface="Calibri" pitchFamily="34" charset="0"/>
                <a:ea typeface="msgothic" charset="0"/>
                <a:cs typeface="msgothic" charset="0"/>
              </a:rPr>
              <a:t>uninitialized int. Is this what you really want?</a:t>
            </a:r>
          </a:p>
        </p:txBody>
      </p:sp>
      <p:sp>
        <p:nvSpPr>
          <p:cNvPr id="26639" name="Text Box 15">
            <a:extLst>
              <a:ext uri="{FF2B5EF4-FFF2-40B4-BE49-F238E27FC236}">
                <a16:creationId xmlns:a16="http://schemas.microsoft.com/office/drawing/2014/main" id="{ABAB6616-88EB-2A89-6172-08E59D9127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9050" y="3423032"/>
            <a:ext cx="3477532" cy="63748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0" dirty="0">
                <a:latin typeface="Calibri" pitchFamily="34" charset="0"/>
                <a:ea typeface="msgothic" charset="0"/>
                <a:cs typeface="msgothic" charset="0"/>
              </a:rPr>
              <a:t>Writes to </a:t>
            </a:r>
            <a:r>
              <a:rPr lang="en-GB" sz="1800" dirty="0">
                <a:latin typeface="Courier New" pitchFamily="49" charset="0"/>
                <a:ea typeface="msgothic" charset="0"/>
                <a:cs typeface="msgothic" charset="0"/>
              </a:rPr>
              <a:t>x</a:t>
            </a:r>
            <a:r>
              <a:rPr lang="en-GB" sz="1800" b="0" dirty="0">
                <a:latin typeface="Calibri" pitchFamily="34" charset="0"/>
                <a:ea typeface="msgothic" charset="0"/>
                <a:cs typeface="msgothic" charset="0"/>
              </a:rPr>
              <a:t> in </a:t>
            </a:r>
            <a:r>
              <a:rPr lang="en-GB" sz="1800" dirty="0">
                <a:latin typeface="Courier New" pitchFamily="49" charset="0"/>
                <a:ea typeface="msgothic" charset="0"/>
                <a:cs typeface="msgothic" charset="0"/>
              </a:rPr>
              <a:t>p2</a:t>
            </a:r>
            <a:r>
              <a:rPr lang="en-GB" sz="1800" b="0" dirty="0">
                <a:latin typeface="Courier New" pitchFamily="49" charset="0"/>
                <a:ea typeface="msgothic" charset="0"/>
                <a:cs typeface="msgothic" charset="0"/>
              </a:rPr>
              <a:t> </a:t>
            </a:r>
            <a:r>
              <a:rPr lang="en-GB" sz="1800" b="0" dirty="0">
                <a:latin typeface="Calibri" pitchFamily="34" charset="0"/>
                <a:ea typeface="msgothic" charset="0"/>
                <a:cs typeface="msgothic" charset="0"/>
              </a:rPr>
              <a:t>will overwrite </a:t>
            </a:r>
            <a:r>
              <a:rPr lang="en-GB" sz="1800" dirty="0">
                <a:latin typeface="Courier New" pitchFamily="49" charset="0"/>
                <a:ea typeface="msgothic" charset="0"/>
                <a:cs typeface="msgothic" charset="0"/>
              </a:rPr>
              <a:t>y</a:t>
            </a:r>
            <a:r>
              <a:rPr lang="en-GB" sz="1800" b="0" dirty="0">
                <a:latin typeface="Calibri" pitchFamily="34" charset="0"/>
                <a:ea typeface="msgothic" charset="0"/>
                <a:cs typeface="msgothic" charset="0"/>
              </a:rPr>
              <a:t>!</a:t>
            </a: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0" dirty="0">
                <a:latin typeface="Calibri" pitchFamily="34" charset="0"/>
                <a:ea typeface="msgothic" charset="0"/>
                <a:cs typeface="msgothic" charset="0"/>
              </a:rPr>
              <a:t>Nasty!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F951C1B-9B45-450F-CFA0-32D85CA61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92C60-C071-3249-9DBB-404B1D195F8C}" type="slidenum">
              <a:rPr lang="en-US" smtClean="0"/>
              <a:t>36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2CFB81-DB87-16FB-74AE-F3647F798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11487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6626" grpId="0" animBg="1"/>
      <p:bldP spid="26627" grpId="0" animBg="1"/>
      <p:bldP spid="26630" grpId="0" animBg="1"/>
      <p:bldP spid="26631" grpId="0" animBg="1"/>
      <p:bldP spid="26636" grpId="0"/>
      <p:bldP spid="26637" grpId="0"/>
      <p:bldP spid="26639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EE4C0C-8338-29FF-66E6-ECFD2146B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8491D-9134-6E0E-72B2-8A7CB1C1D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How to avoid symbol resolution confusion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2446E5-5003-F5A7-7DF7-F04E1773D9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002118"/>
            <a:ext cx="8229600" cy="4124045"/>
          </a:xfrm>
        </p:spPr>
        <p:txBody>
          <a:bodyPr/>
          <a:lstStyle/>
          <a:p>
            <a:r>
              <a:rPr lang="en-US" dirty="0"/>
              <a:t>Avoid global variables if you can</a:t>
            </a:r>
          </a:p>
          <a:p>
            <a:r>
              <a:rPr lang="en-US" dirty="0"/>
              <a:t>Otherwise</a:t>
            </a:r>
          </a:p>
          <a:p>
            <a:pPr lvl="1"/>
            <a:r>
              <a:rPr lang="en-US" dirty="0"/>
              <a:t>Use </a:t>
            </a:r>
            <a:r>
              <a:rPr lang="en-US" b="1" dirty="0">
                <a:latin typeface="Courier New" pitchFamily="49" charset="0"/>
                <a:cs typeface="Courier New" pitchFamily="49" charset="0"/>
              </a:rPr>
              <a:t>static </a:t>
            </a:r>
            <a:r>
              <a:rPr lang="en-US" dirty="0"/>
              <a:t>if you can</a:t>
            </a:r>
          </a:p>
          <a:p>
            <a:pPr lvl="1"/>
            <a:r>
              <a:rPr lang="en-US" dirty="0"/>
              <a:t>Initialize if you define a global variable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C5C251-BB1C-11C2-9556-EE78C5FF1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92C60-C071-3249-9DBB-404B1D195F8C}" type="slidenum">
              <a:rPr lang="en-US" smtClean="0"/>
              <a:t>37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1D742F-770E-30DF-55B1-06A3214FB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7416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6F3A3D-1A64-E802-CE33-80BAF0C4F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1">
            <a:extLst>
              <a:ext uri="{FF2B5EF4-FFF2-40B4-BE49-F238E27FC236}">
                <a16:creationId xmlns:a16="http://schemas.microsoft.com/office/drawing/2014/main" id="{101FDDF4-D6BC-615C-84EA-CD4A14F4EDF7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72533" y="465667"/>
            <a:ext cx="7594600" cy="573088"/>
          </a:xfrm>
          <a:ln/>
        </p:spPr>
        <p:txBody>
          <a:bodyPr>
            <a:normAutofit fontScale="90000"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Step 2: Relocation</a:t>
            </a:r>
          </a:p>
        </p:txBody>
      </p:sp>
      <p:sp>
        <p:nvSpPr>
          <p:cNvPr id="18434" name="Rectangle 2">
            <a:extLst>
              <a:ext uri="{FF2B5EF4-FFF2-40B4-BE49-F238E27FC236}">
                <a16:creationId xmlns:a16="http://schemas.microsoft.com/office/drawing/2014/main" id="{B4FA81FA-75C2-51F5-9440-2262537B2D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174" y="3702050"/>
            <a:ext cx="2278062" cy="533400"/>
          </a:xfrm>
          <a:prstGeom prst="rect">
            <a:avLst/>
          </a:prstGeom>
          <a:solidFill>
            <a:srgbClr val="F6F5BD"/>
          </a:solidFill>
          <a:ln w="2556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>
                <a:latin typeface="Courier New" pitchFamily="49" charset="0"/>
                <a:ea typeface="msgothic" charset="0"/>
                <a:cs typeface="msgothic" charset="0"/>
              </a:rPr>
              <a:t>main()</a:t>
            </a:r>
          </a:p>
        </p:txBody>
      </p:sp>
      <p:sp>
        <p:nvSpPr>
          <p:cNvPr id="18435" name="Text Box 3">
            <a:extLst>
              <a:ext uri="{FF2B5EF4-FFF2-40B4-BE49-F238E27FC236}">
                <a16:creationId xmlns:a16="http://schemas.microsoft.com/office/drawing/2014/main" id="{9161E0BC-1872-744E-7C1E-6D57607938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865" y="3395828"/>
            <a:ext cx="1008907" cy="354906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latin typeface="Courier New" pitchFamily="49" charset="0"/>
                <a:ea typeface="msgothic" charset="0"/>
                <a:cs typeface="msgothic" charset="0"/>
              </a:rPr>
              <a:t>main.o</a:t>
            </a:r>
          </a:p>
        </p:txBody>
      </p:sp>
      <p:sp>
        <p:nvSpPr>
          <p:cNvPr id="18437" name="Rectangle 5">
            <a:extLst>
              <a:ext uri="{FF2B5EF4-FFF2-40B4-BE49-F238E27FC236}">
                <a16:creationId xmlns:a16="http://schemas.microsoft.com/office/drawing/2014/main" id="{A13355C3-73A3-AC49-C398-F5AB9F60E9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174" y="5032375"/>
            <a:ext cx="2278062" cy="533400"/>
          </a:xfrm>
          <a:prstGeom prst="rect">
            <a:avLst/>
          </a:prstGeom>
          <a:solidFill>
            <a:srgbClr val="F6F5BD"/>
          </a:solidFill>
          <a:ln w="2556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sum()</a:t>
            </a:r>
          </a:p>
        </p:txBody>
      </p:sp>
      <p:sp>
        <p:nvSpPr>
          <p:cNvPr id="18438" name="Text Box 6">
            <a:extLst>
              <a:ext uri="{FF2B5EF4-FFF2-40B4-BE49-F238E27FC236}">
                <a16:creationId xmlns:a16="http://schemas.microsoft.com/office/drawing/2014/main" id="{4C9B9C5F-09D7-DCF5-F5E7-24CDE33899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" y="4738689"/>
            <a:ext cx="874368" cy="35766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 err="1">
                <a:latin typeface="Courier New" pitchFamily="49" charset="0"/>
                <a:ea typeface="msgothic" charset="0"/>
                <a:cs typeface="msgothic" charset="0"/>
              </a:rPr>
              <a:t>sum.o</a:t>
            </a:r>
            <a:endParaRPr lang="en-GB" sz="1800" b="1" dirty="0">
              <a:latin typeface="Courier New" pitchFamily="49" charset="0"/>
              <a:ea typeface="msgothic" charset="0"/>
              <a:cs typeface="msgothic" charset="0"/>
            </a:endParaRPr>
          </a:p>
        </p:txBody>
      </p:sp>
      <p:sp>
        <p:nvSpPr>
          <p:cNvPr id="18444" name="Rectangle 12">
            <a:extLst>
              <a:ext uri="{FF2B5EF4-FFF2-40B4-BE49-F238E27FC236}">
                <a16:creationId xmlns:a16="http://schemas.microsoft.com/office/drawing/2014/main" id="{CFFEF0AB-D270-DAC4-9FE5-28850482F4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174" y="2057400"/>
            <a:ext cx="2278062" cy="533400"/>
          </a:xfrm>
          <a:prstGeom prst="rect">
            <a:avLst/>
          </a:prstGeom>
          <a:solidFill>
            <a:srgbClr val="F6F5BD"/>
          </a:solidFill>
          <a:ln w="2556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System code</a:t>
            </a:r>
          </a:p>
        </p:txBody>
      </p:sp>
      <p:sp>
        <p:nvSpPr>
          <p:cNvPr id="18446" name="Rectangle 14">
            <a:extLst>
              <a:ext uri="{FF2B5EF4-FFF2-40B4-BE49-F238E27FC236}">
                <a16:creationId xmlns:a16="http://schemas.microsoft.com/office/drawing/2014/main" id="{09015B45-D1BF-9D7D-177B-C08FEF881E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174" y="4235450"/>
            <a:ext cx="2278062" cy="32226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56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int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array[2]={1,2}</a:t>
            </a:r>
          </a:p>
        </p:txBody>
      </p:sp>
      <p:sp>
        <p:nvSpPr>
          <p:cNvPr id="18447" name="Rectangle 15">
            <a:extLst>
              <a:ext uri="{FF2B5EF4-FFF2-40B4-BE49-F238E27FC236}">
                <a16:creationId xmlns:a16="http://schemas.microsoft.com/office/drawing/2014/main" id="{05E118F1-5C80-89FE-F8F6-690F3D916B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8174" y="2590800"/>
            <a:ext cx="2278062" cy="3619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56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System data</a:t>
            </a:r>
          </a:p>
        </p:txBody>
      </p:sp>
      <p:sp>
        <p:nvSpPr>
          <p:cNvPr id="18451" name="Text Box 19">
            <a:extLst>
              <a:ext uri="{FF2B5EF4-FFF2-40B4-BE49-F238E27FC236}">
                <a16:creationId xmlns:a16="http://schemas.microsoft.com/office/drawing/2014/main" id="{FF33BA40-B192-E20D-B705-627E5EFFCA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9467" y="1306513"/>
            <a:ext cx="3226502" cy="45647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b="1" dirty="0" err="1">
                <a:latin typeface="Calibri" pitchFamily="34" charset="0"/>
                <a:ea typeface="msgothic" charset="0"/>
                <a:cs typeface="msgothic" charset="0"/>
              </a:rPr>
              <a:t>Relocatable</a:t>
            </a:r>
            <a:r>
              <a:rPr lang="en-GB" b="1" dirty="0">
                <a:latin typeface="Calibri" pitchFamily="34" charset="0"/>
                <a:ea typeface="msgothic" charset="0"/>
                <a:cs typeface="msgothic" charset="0"/>
              </a:rPr>
              <a:t> Object Files</a:t>
            </a:r>
          </a:p>
        </p:txBody>
      </p:sp>
      <p:sp>
        <p:nvSpPr>
          <p:cNvPr id="18455" name="Text Box 23">
            <a:extLst>
              <a:ext uri="{FF2B5EF4-FFF2-40B4-BE49-F238E27FC236}">
                <a16:creationId xmlns:a16="http://schemas.microsoft.com/office/drawing/2014/main" id="{9FB10889-B76C-E49C-15B6-8CA0AC062B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8299" y="2112963"/>
            <a:ext cx="871049" cy="354906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latin typeface="Courier New" pitchFamily="49" charset="0"/>
                <a:ea typeface="msgothic" charset="0"/>
                <a:cs typeface="msgothic" charset="0"/>
              </a:rPr>
              <a:t>.text</a:t>
            </a:r>
          </a:p>
        </p:txBody>
      </p:sp>
      <p:sp>
        <p:nvSpPr>
          <p:cNvPr id="18456" name="Text Box 24">
            <a:extLst>
              <a:ext uri="{FF2B5EF4-FFF2-40B4-BE49-F238E27FC236}">
                <a16:creationId xmlns:a16="http://schemas.microsoft.com/office/drawing/2014/main" id="{E8D8F1FF-E3D4-9840-4658-EAE6760D13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8299" y="2478088"/>
            <a:ext cx="871049" cy="354906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latin typeface="Courier New" pitchFamily="49" charset="0"/>
                <a:ea typeface="msgothic" charset="0"/>
                <a:cs typeface="msgothic" charset="0"/>
              </a:rPr>
              <a:t>.data</a:t>
            </a:r>
          </a:p>
        </p:txBody>
      </p:sp>
      <p:sp>
        <p:nvSpPr>
          <p:cNvPr id="18457" name="Text Box 25">
            <a:extLst>
              <a:ext uri="{FF2B5EF4-FFF2-40B4-BE49-F238E27FC236}">
                <a16:creationId xmlns:a16="http://schemas.microsoft.com/office/drawing/2014/main" id="{26646BD9-E467-9344-0328-140F4CC59A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8299" y="3741738"/>
            <a:ext cx="871049" cy="354906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latin typeface="Courier New" pitchFamily="49" charset="0"/>
                <a:ea typeface="msgothic" charset="0"/>
                <a:cs typeface="msgothic" charset="0"/>
              </a:rPr>
              <a:t>.text</a:t>
            </a:r>
          </a:p>
        </p:txBody>
      </p:sp>
      <p:sp>
        <p:nvSpPr>
          <p:cNvPr id="18458" name="Text Box 26">
            <a:extLst>
              <a:ext uri="{FF2B5EF4-FFF2-40B4-BE49-F238E27FC236}">
                <a16:creationId xmlns:a16="http://schemas.microsoft.com/office/drawing/2014/main" id="{65C1783C-6015-6381-F7E8-B0DBF76A6E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8299" y="4154488"/>
            <a:ext cx="871049" cy="354906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latin typeface="Courier New" pitchFamily="49" charset="0"/>
                <a:ea typeface="msgothic" charset="0"/>
                <a:cs typeface="msgothic" charset="0"/>
              </a:rPr>
              <a:t>.data</a:t>
            </a:r>
          </a:p>
        </p:txBody>
      </p:sp>
      <p:sp>
        <p:nvSpPr>
          <p:cNvPr id="18459" name="Text Box 27">
            <a:extLst>
              <a:ext uri="{FF2B5EF4-FFF2-40B4-BE49-F238E27FC236}">
                <a16:creationId xmlns:a16="http://schemas.microsoft.com/office/drawing/2014/main" id="{7063C52B-A3FC-5DA0-1502-6C9BEC89C6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8299" y="5103813"/>
            <a:ext cx="871049" cy="354906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>
                <a:latin typeface="Courier New" pitchFamily="49" charset="0"/>
                <a:ea typeface="msgothic" charset="0"/>
                <a:cs typeface="msgothic" charset="0"/>
              </a:rPr>
              <a:t>.text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227DC34-07AB-E2F0-020A-BE34C193C24F}"/>
              </a:ext>
            </a:extLst>
          </p:cNvPr>
          <p:cNvGrpSpPr/>
          <p:nvPr/>
        </p:nvGrpSpPr>
        <p:grpSpPr>
          <a:xfrm>
            <a:off x="4038600" y="1306513"/>
            <a:ext cx="4900862" cy="4635499"/>
            <a:chOff x="4038600" y="1306513"/>
            <a:chExt cx="4900862" cy="4635499"/>
          </a:xfrm>
        </p:grpSpPr>
        <p:sp>
          <p:nvSpPr>
            <p:cNvPr id="18440" name="Rectangle 8">
              <a:extLst>
                <a:ext uri="{FF2B5EF4-FFF2-40B4-BE49-F238E27FC236}">
                  <a16:creationId xmlns:a16="http://schemas.microsoft.com/office/drawing/2014/main" id="{EE0CFF89-BFF8-9823-67C3-A0316B35DA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1591" y="2309813"/>
              <a:ext cx="2422525" cy="319087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  <a:ea typeface="msgothic" charset="0"/>
                  <a:cs typeface="msgothic" charset="0"/>
                </a:rPr>
                <a:t>Headers</a:t>
              </a:r>
            </a:p>
          </p:txBody>
        </p:sp>
        <p:sp>
          <p:nvSpPr>
            <p:cNvPr id="18441" name="Rectangle 9">
              <a:extLst>
                <a:ext uri="{FF2B5EF4-FFF2-40B4-BE49-F238E27FC236}">
                  <a16:creationId xmlns:a16="http://schemas.microsoft.com/office/drawing/2014/main" id="{5FA4F855-12A3-1C33-77A8-2ADA25E39B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1591" y="2957513"/>
              <a:ext cx="2422525" cy="533400"/>
            </a:xfrm>
            <a:prstGeom prst="rect">
              <a:avLst/>
            </a:prstGeom>
            <a:solidFill>
              <a:srgbClr val="F6F5BD"/>
            </a:solidFill>
            <a:ln w="2556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4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>
                  <a:latin typeface="Courier New" pitchFamily="49" charset="0"/>
                  <a:ea typeface="msgothic" charset="0"/>
                  <a:cs typeface="msgothic" charset="0"/>
                </a:rPr>
                <a:t>main()</a:t>
              </a:r>
            </a:p>
          </p:txBody>
        </p:sp>
        <p:sp>
          <p:nvSpPr>
            <p:cNvPr id="18442" name="Rectangle 10">
              <a:extLst>
                <a:ext uri="{FF2B5EF4-FFF2-40B4-BE49-F238E27FC236}">
                  <a16:creationId xmlns:a16="http://schemas.microsoft.com/office/drawing/2014/main" id="{58237B69-7EE7-EB87-592A-CF27FFC903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1591" y="3490913"/>
              <a:ext cx="2422525" cy="533400"/>
            </a:xfrm>
            <a:prstGeom prst="rect">
              <a:avLst/>
            </a:prstGeom>
            <a:solidFill>
              <a:srgbClr val="F6F5BD"/>
            </a:solidFill>
            <a:ln w="2556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4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>
                  <a:latin typeface="Courier New" pitchFamily="49" charset="0"/>
                  <a:ea typeface="msgothic" charset="0"/>
                  <a:cs typeface="msgothic" charset="0"/>
                </a:rPr>
                <a:t>swap()</a:t>
              </a:r>
            </a:p>
          </p:txBody>
        </p:sp>
        <p:sp>
          <p:nvSpPr>
            <p:cNvPr id="18443" name="Text Box 11">
              <a:extLst>
                <a:ext uri="{FF2B5EF4-FFF2-40B4-BE49-F238E27FC236}">
                  <a16:creationId xmlns:a16="http://schemas.microsoft.com/office/drawing/2014/main" id="{0194A6B7-ABC7-AAC4-B408-7AB6C0A091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48237" y="2136774"/>
              <a:ext cx="309563" cy="363538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dirty="0">
                  <a:latin typeface="Calibri" pitchFamily="34" charset="0"/>
                  <a:ea typeface="msgothic" charset="0"/>
                  <a:cs typeface="msgothic" charset="0"/>
                </a:rPr>
                <a:t>0</a:t>
              </a:r>
            </a:p>
          </p:txBody>
        </p:sp>
        <p:sp>
          <p:nvSpPr>
            <p:cNvPr id="18448" name="Rectangle 16">
              <a:extLst>
                <a:ext uri="{FF2B5EF4-FFF2-40B4-BE49-F238E27FC236}">
                  <a16:creationId xmlns:a16="http://schemas.microsoft.com/office/drawing/2014/main" id="{3D284F54-16D5-EA5F-F177-AF82EF5536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1591" y="4024313"/>
              <a:ext cx="2422525" cy="533400"/>
            </a:xfrm>
            <a:prstGeom prst="rect">
              <a:avLst/>
            </a:prstGeom>
            <a:solidFill>
              <a:srgbClr val="F6F5BD"/>
            </a:solidFill>
            <a:ln w="2556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  <a:ea typeface="msgothic" charset="0"/>
                  <a:cs typeface="msgothic" charset="0"/>
                </a:rPr>
                <a:t>More system code</a:t>
              </a:r>
            </a:p>
          </p:txBody>
        </p:sp>
        <p:sp>
          <p:nvSpPr>
            <p:cNvPr id="18452" name="Text Box 20">
              <a:extLst>
                <a:ext uri="{FF2B5EF4-FFF2-40B4-BE49-F238E27FC236}">
                  <a16:creationId xmlns:a16="http://schemas.microsoft.com/office/drawing/2014/main" id="{2D24AD54-9164-306C-5F3A-D40448C09E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05400" y="1306513"/>
              <a:ext cx="2995862" cy="456473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b="1" dirty="0">
                  <a:latin typeface="Calibri" pitchFamily="34" charset="0"/>
                  <a:ea typeface="msgothic" charset="0"/>
                  <a:cs typeface="msgothic" charset="0"/>
                </a:rPr>
                <a:t>Executable Object File</a:t>
              </a:r>
            </a:p>
          </p:txBody>
        </p:sp>
        <p:sp>
          <p:nvSpPr>
            <p:cNvPr id="18453" name="AutoShape 21">
              <a:extLst>
                <a:ext uri="{FF2B5EF4-FFF2-40B4-BE49-F238E27FC236}">
                  <a16:creationId xmlns:a16="http://schemas.microsoft.com/office/drawing/2014/main" id="{C39FADA0-3BD4-86AD-C287-F88BFB406199}"/>
                </a:ext>
              </a:extLst>
            </p:cNvPr>
            <p:cNvSpPr>
              <a:spLocks/>
            </p:cNvSpPr>
            <p:nvPr/>
          </p:nvSpPr>
          <p:spPr bwMode="auto">
            <a:xfrm>
              <a:off x="7772400" y="2628899"/>
              <a:ext cx="304800" cy="1928813"/>
            </a:xfrm>
            <a:prstGeom prst="rightBrace">
              <a:avLst>
                <a:gd name="adj1" fmla="val 59766"/>
                <a:gd name="adj2" fmla="val 50000"/>
              </a:avLst>
            </a:prstGeom>
            <a:noFill/>
            <a:ln w="2556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54" name="Text Box 22">
              <a:extLst>
                <a:ext uri="{FF2B5EF4-FFF2-40B4-BE49-F238E27FC236}">
                  <a16:creationId xmlns:a16="http://schemas.microsoft.com/office/drawing/2014/main" id="{6A235BB4-EC6A-9360-E6F7-204BB47D71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68413" y="3224742"/>
              <a:ext cx="871049" cy="35490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94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>
                  <a:latin typeface="Courier New" pitchFamily="49" charset="0"/>
                  <a:ea typeface="msgothic" charset="0"/>
                  <a:cs typeface="msgothic" charset="0"/>
                </a:rPr>
                <a:t>.text</a:t>
              </a:r>
            </a:p>
          </p:txBody>
        </p:sp>
        <p:sp>
          <p:nvSpPr>
            <p:cNvPr id="18462" name="Rectangle 30">
              <a:extLst>
                <a:ext uri="{FF2B5EF4-FFF2-40B4-BE49-F238E27FC236}">
                  <a16:creationId xmlns:a16="http://schemas.microsoft.com/office/drawing/2014/main" id="{66103936-0E10-8A1B-E28D-263C6E38A4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1591" y="5257800"/>
              <a:ext cx="2422525" cy="684212"/>
            </a:xfrm>
            <a:prstGeom prst="rect">
              <a:avLst/>
            </a:prstGeom>
            <a:solidFill>
              <a:srgbClr val="FFFFFF"/>
            </a:solidFill>
            <a:ln w="2556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4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>
                  <a:latin typeface="Courier New" pitchFamily="49" charset="0"/>
                  <a:ea typeface="msgothic" charset="0"/>
                  <a:cs typeface="msgothic" charset="0"/>
                </a:rPr>
                <a:t>.symtab</a:t>
              </a:r>
            </a:p>
            <a:p>
              <a:pPr algn="ctr">
                <a:lnSpc>
                  <a:spcPct val="94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>
                  <a:latin typeface="Courier New" pitchFamily="49" charset="0"/>
                  <a:ea typeface="msgothic" charset="0"/>
                  <a:cs typeface="msgothic" charset="0"/>
                </a:rPr>
                <a:t>.debug</a:t>
              </a:r>
            </a:p>
          </p:txBody>
        </p:sp>
        <p:sp>
          <p:nvSpPr>
            <p:cNvPr id="18463" name="AutoShape 31">
              <a:extLst>
                <a:ext uri="{FF2B5EF4-FFF2-40B4-BE49-F238E27FC236}">
                  <a16:creationId xmlns:a16="http://schemas.microsoft.com/office/drawing/2014/main" id="{6F2981E5-71D1-429D-1892-064EE61882B9}"/>
                </a:ext>
              </a:extLst>
            </p:cNvPr>
            <p:cNvSpPr>
              <a:spLocks/>
            </p:cNvSpPr>
            <p:nvPr/>
          </p:nvSpPr>
          <p:spPr bwMode="auto">
            <a:xfrm>
              <a:off x="7730316" y="4557713"/>
              <a:ext cx="304800" cy="676275"/>
            </a:xfrm>
            <a:prstGeom prst="rightBrace">
              <a:avLst>
                <a:gd name="adj1" fmla="val 18490"/>
                <a:gd name="adj2" fmla="val 50000"/>
              </a:avLst>
            </a:prstGeom>
            <a:noFill/>
            <a:ln w="2556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464" name="Text Box 32">
              <a:extLst>
                <a:ext uri="{FF2B5EF4-FFF2-40B4-BE49-F238E27FC236}">
                  <a16:creationId xmlns:a16="http://schemas.microsoft.com/office/drawing/2014/main" id="{391D3AC0-A92C-8FAF-B09E-6C7E915C9D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68413" y="4696354"/>
              <a:ext cx="871049" cy="354906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  <a:effectLst/>
          </p:spPr>
          <p:txBody>
            <a:bodyPr wrap="none" lIns="90000" tIns="46800" rIns="90000" bIns="46800">
              <a:spAutoFit/>
            </a:bodyPr>
            <a:lstStyle/>
            <a:p>
              <a:pPr>
                <a:lnSpc>
                  <a:spcPct val="94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800" b="1">
                  <a:latin typeface="Courier New" pitchFamily="49" charset="0"/>
                  <a:ea typeface="msgothic" charset="0"/>
                  <a:cs typeface="msgothic" charset="0"/>
                </a:rPr>
                <a:t>.data</a:t>
              </a:r>
            </a:p>
          </p:txBody>
        </p:sp>
        <p:sp>
          <p:nvSpPr>
            <p:cNvPr id="18467" name="Line 35">
              <a:extLst>
                <a:ext uri="{FF2B5EF4-FFF2-40B4-BE49-F238E27FC236}">
                  <a16:creationId xmlns:a16="http://schemas.microsoft.com/office/drawing/2014/main" id="{F2B2984D-A0E2-99DB-93B8-EE5D3EDDA4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8600" y="4106070"/>
              <a:ext cx="836613" cy="1587"/>
            </a:xfrm>
            <a:prstGeom prst="line">
              <a:avLst/>
            </a:prstGeom>
            <a:noFill/>
            <a:ln w="76320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8468" name="Line 36">
              <a:extLst>
                <a:ext uri="{FF2B5EF4-FFF2-40B4-BE49-F238E27FC236}">
                  <a16:creationId xmlns:a16="http://schemas.microsoft.com/office/drawing/2014/main" id="{A82A58A9-1257-1D5B-1E83-A688AE9C00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8600" y="2971800"/>
              <a:ext cx="836613" cy="392113"/>
            </a:xfrm>
            <a:prstGeom prst="line">
              <a:avLst/>
            </a:prstGeom>
            <a:noFill/>
            <a:ln w="76320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8469" name="Line 37">
              <a:extLst>
                <a:ext uri="{FF2B5EF4-FFF2-40B4-BE49-F238E27FC236}">
                  <a16:creationId xmlns:a16="http://schemas.microsoft.com/office/drawing/2014/main" id="{EE237157-DFF8-514A-7859-3B2102CBEB8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38600" y="4849813"/>
              <a:ext cx="836613" cy="409575"/>
            </a:xfrm>
            <a:prstGeom prst="line">
              <a:avLst/>
            </a:prstGeom>
            <a:noFill/>
            <a:ln w="76320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 type="triangle" w="med" len="me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18470" name="Rectangle 38">
              <a:extLst>
                <a:ext uri="{FF2B5EF4-FFF2-40B4-BE49-F238E27FC236}">
                  <a16:creationId xmlns:a16="http://schemas.microsoft.com/office/drawing/2014/main" id="{A6FCD489-E67F-5E50-4964-99A2A3D42B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1591" y="2633663"/>
              <a:ext cx="2422525" cy="319087"/>
            </a:xfrm>
            <a:prstGeom prst="rect">
              <a:avLst/>
            </a:prstGeom>
            <a:solidFill>
              <a:srgbClr val="F6F5BD"/>
            </a:solidFill>
            <a:ln w="2556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  <a:ea typeface="msgothic" charset="0"/>
                  <a:cs typeface="msgothic" charset="0"/>
                </a:rPr>
                <a:t>System code</a:t>
              </a:r>
            </a:p>
          </p:txBody>
        </p:sp>
        <p:sp>
          <p:nvSpPr>
            <p:cNvPr id="46" name="Rectangle 15">
              <a:extLst>
                <a:ext uri="{FF2B5EF4-FFF2-40B4-BE49-F238E27FC236}">
                  <a16:creationId xmlns:a16="http://schemas.microsoft.com/office/drawing/2014/main" id="{0A295A21-4E24-4E47-0E58-86D7CA61F4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1590" y="4564063"/>
              <a:ext cx="2422525" cy="36195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56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8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>
                  <a:latin typeface="Calibri" pitchFamily="34" charset="0"/>
                  <a:ea typeface="msgothic" charset="0"/>
                  <a:cs typeface="msgothic" charset="0"/>
                </a:rPr>
                <a:t>System data</a:t>
              </a:r>
            </a:p>
          </p:txBody>
        </p:sp>
        <p:sp>
          <p:nvSpPr>
            <p:cNvPr id="47" name="Rectangle 14">
              <a:extLst>
                <a:ext uri="{FF2B5EF4-FFF2-40B4-BE49-F238E27FC236}">
                  <a16:creationId xmlns:a16="http://schemas.microsoft.com/office/drawing/2014/main" id="{717F0C7C-5112-FC6E-0C06-06D77E654D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1591" y="4942682"/>
              <a:ext cx="2422524" cy="32226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25560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lIns="90000" tIns="46800" rIns="90000" bIns="46800" anchor="ctr"/>
            <a:lstStyle/>
            <a:p>
              <a:pPr algn="ctr">
                <a:lnSpc>
                  <a:spcPct val="94000"/>
                </a:lnSpc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1600" b="1" dirty="0" err="1">
                  <a:latin typeface="Courier New" pitchFamily="49" charset="0"/>
                  <a:ea typeface="msgothic" charset="0"/>
                  <a:cs typeface="msgothic" charset="0"/>
                </a:rPr>
                <a:t>int</a:t>
              </a:r>
              <a:r>
                <a:rPr lang="en-GB" sz="1600" b="1" dirty="0">
                  <a:latin typeface="Courier New" pitchFamily="49" charset="0"/>
                  <a:ea typeface="msgothic" charset="0"/>
                  <a:cs typeface="msgothic" charset="0"/>
                </a:rPr>
                <a:t> array[2]={1,2}</a:t>
              </a:r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047F2AC-3D10-9948-D44C-9682E8674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92C60-C071-3249-9DBB-404B1D195F8C}" type="slidenum">
              <a:rPr lang="en-US" smtClean="0"/>
              <a:t>38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7B301F-78C5-1DE0-3CFB-CB03D503C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55504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6A498-9DC1-450C-B029-B9329C698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1">
            <a:extLst>
              <a:ext uri="{FF2B5EF4-FFF2-40B4-BE49-F238E27FC236}">
                <a16:creationId xmlns:a16="http://schemas.microsoft.com/office/drawing/2014/main" id="{A6AE0CF6-4683-3334-D520-A271DBB83C7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33904" y="445029"/>
            <a:ext cx="8716962" cy="782638"/>
          </a:xfrm>
          <a:ln/>
        </p:spPr>
        <p:txBody>
          <a:bodyPr/>
          <a:lstStyle/>
          <a:p>
            <a:pPr>
              <a:lnSpc>
                <a:spcPct val="82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Relocation Entries</a:t>
            </a:r>
          </a:p>
        </p:txBody>
      </p:sp>
      <p:sp>
        <p:nvSpPr>
          <p:cNvPr id="19460" name="Text Box 4">
            <a:extLst>
              <a:ext uri="{FF2B5EF4-FFF2-40B4-BE49-F238E27FC236}">
                <a16:creationId xmlns:a16="http://schemas.microsoft.com/office/drawing/2014/main" id="{327CD5CC-9600-5EFB-6F75-74C77777E0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6059" y="6513825"/>
            <a:ext cx="3326850" cy="33663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Source: 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objdump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 –r –d 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main.o</a:t>
            </a:r>
            <a:endParaRPr lang="en-GB" sz="1600" b="1" dirty="0">
              <a:latin typeface="Courier New" pitchFamily="49" charset="0"/>
              <a:ea typeface="msgothic" charset="0"/>
              <a:cs typeface="msgothic" charset="0"/>
            </a:endParaRPr>
          </a:p>
        </p:txBody>
      </p:sp>
      <p:sp>
        <p:nvSpPr>
          <p:cNvPr id="9" name="Text Box 2">
            <a:extLst>
              <a:ext uri="{FF2B5EF4-FFF2-40B4-BE49-F238E27FC236}">
                <a16:creationId xmlns:a16="http://schemas.microsoft.com/office/drawing/2014/main" id="{E575C2A4-BBE9-A4CA-D829-F6FF92D753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581400"/>
            <a:ext cx="5380169" cy="2791856"/>
          </a:xfrm>
          <a:prstGeom prst="rect">
            <a:avLst/>
          </a:prstGeom>
          <a:solidFill>
            <a:schemeClr val="bg1">
              <a:lumMod val="95000"/>
            </a:schemeClr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r>
              <a:rPr lang="fr-FR" sz="1600" dirty="0">
                <a:solidFill>
                  <a:srgbClr val="000000"/>
                </a:solidFill>
                <a:latin typeface="Menlo-Regular"/>
              </a:rPr>
              <a:t>0000000000000000 &lt;main&gt;:</a:t>
            </a:r>
          </a:p>
          <a:p>
            <a:r>
              <a:rPr lang="ro-RO" sz="1600" dirty="0">
                <a:solidFill>
                  <a:srgbClr val="000000"/>
                </a:solidFill>
                <a:latin typeface="Menlo-Regular"/>
              </a:rPr>
              <a:t>   0:   48 83 ec 08             sub    $0x8,%rsp</a:t>
            </a:r>
          </a:p>
          <a:p>
            <a:r>
              <a:rPr lang="en-US" sz="1600" dirty="0">
                <a:solidFill>
                  <a:srgbClr val="000000"/>
                </a:solidFill>
                <a:latin typeface="Menlo-Regular"/>
              </a:rPr>
              <a:t>   4:   be 02 00 00 00          </a:t>
            </a:r>
            <a:r>
              <a:rPr lang="en-US" sz="1600" dirty="0" err="1">
                <a:solidFill>
                  <a:srgbClr val="000000"/>
                </a:solidFill>
                <a:latin typeface="Menlo-Regular"/>
              </a:rPr>
              <a:t>mov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    $0x2,%esi</a:t>
            </a:r>
          </a:p>
          <a:p>
            <a:r>
              <a:rPr lang="sk-SK" sz="1600" dirty="0">
                <a:solidFill>
                  <a:srgbClr val="000000"/>
                </a:solidFill>
                <a:latin typeface="Menlo-Regular"/>
              </a:rPr>
              <a:t>   9:   bf 00 00 00 00          mov    $0x0,%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r</a:t>
            </a:r>
            <a:r>
              <a:rPr lang="sk-SK" sz="1600" dirty="0">
                <a:solidFill>
                  <a:srgbClr val="000000"/>
                </a:solidFill>
                <a:latin typeface="Menlo-Regular"/>
              </a:rPr>
              <a:t>di      </a:t>
            </a:r>
            <a:r>
              <a:rPr lang="sk-SK" sz="1600" dirty="0">
                <a:solidFill>
                  <a:srgbClr val="3366FF"/>
                </a:solidFill>
                <a:latin typeface="Menlo-Regular"/>
              </a:rPr>
              <a:t># %</a:t>
            </a:r>
            <a:r>
              <a:rPr lang="en-US" sz="1600" dirty="0">
                <a:solidFill>
                  <a:srgbClr val="3366FF"/>
                </a:solidFill>
                <a:latin typeface="Menlo-Regular"/>
              </a:rPr>
              <a:t>r</a:t>
            </a:r>
            <a:r>
              <a:rPr lang="sk-SK" sz="1600" dirty="0">
                <a:solidFill>
                  <a:srgbClr val="3366FF"/>
                </a:solidFill>
                <a:latin typeface="Menlo-Regular"/>
              </a:rPr>
              <a:t>di = &amp;array</a:t>
            </a:r>
          </a:p>
          <a:p>
            <a:r>
              <a:rPr lang="en-US" sz="1600" dirty="0">
                <a:solidFill>
                  <a:srgbClr val="000000"/>
                </a:solidFill>
                <a:latin typeface="Menlo-Regular"/>
              </a:rPr>
              <a:t>                        </a:t>
            </a:r>
            <a:r>
              <a:rPr lang="en-US" sz="1600" dirty="0">
                <a:solidFill>
                  <a:srgbClr val="FF0000"/>
                </a:solidFill>
                <a:latin typeface="Menlo-Regular"/>
              </a:rPr>
              <a:t>a: R_X86_64_32 array          </a:t>
            </a:r>
            <a:r>
              <a:rPr lang="en-US" sz="1600" dirty="0">
                <a:solidFill>
                  <a:srgbClr val="3366FF"/>
                </a:solidFill>
                <a:latin typeface="Menlo-Regular"/>
              </a:rPr>
              <a:t># Relocation entry</a:t>
            </a:r>
          </a:p>
          <a:p>
            <a:endParaRPr lang="en-US" sz="1600" dirty="0">
              <a:solidFill>
                <a:srgbClr val="3366FF"/>
              </a:solidFill>
              <a:latin typeface="Menlo-Regular"/>
            </a:endParaRPr>
          </a:p>
          <a:p>
            <a:r>
              <a:rPr lang="en-US" sz="1600" dirty="0">
                <a:solidFill>
                  <a:srgbClr val="000000"/>
                </a:solidFill>
                <a:latin typeface="Menlo-Regular"/>
              </a:rPr>
              <a:t>   e:   e8 00 00 00 00          </a:t>
            </a:r>
            <a:r>
              <a:rPr lang="en-US" sz="1600" dirty="0" err="1">
                <a:solidFill>
                  <a:srgbClr val="000000"/>
                </a:solidFill>
                <a:latin typeface="Menlo-Regular"/>
              </a:rPr>
              <a:t>callq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  13 &lt;main+0x13&gt; </a:t>
            </a:r>
            <a:r>
              <a:rPr lang="en-US" sz="1600" dirty="0">
                <a:solidFill>
                  <a:srgbClr val="3366FF"/>
                </a:solidFill>
                <a:latin typeface="Menlo-Regular"/>
              </a:rPr>
              <a:t># sum()</a:t>
            </a:r>
          </a:p>
          <a:p>
            <a:r>
              <a:rPr lang="en-US" sz="1600" dirty="0">
                <a:solidFill>
                  <a:srgbClr val="000000"/>
                </a:solidFill>
                <a:latin typeface="Menlo-Regular"/>
              </a:rPr>
              <a:t>                        </a:t>
            </a:r>
            <a:r>
              <a:rPr lang="en-US" sz="1600" dirty="0">
                <a:solidFill>
                  <a:srgbClr val="FF0000"/>
                </a:solidFill>
                <a:latin typeface="Menlo-Regular"/>
              </a:rPr>
              <a:t>f: R_X86_64_PC32 sum-0x4      </a:t>
            </a:r>
            <a:r>
              <a:rPr lang="en-US" sz="1600" dirty="0">
                <a:solidFill>
                  <a:srgbClr val="3366FF"/>
                </a:solidFill>
                <a:latin typeface="Menlo-Regular"/>
              </a:rPr>
              <a:t># Relocation entry</a:t>
            </a:r>
          </a:p>
          <a:p>
            <a:r>
              <a:rPr lang="en-US" sz="1600" dirty="0">
                <a:solidFill>
                  <a:srgbClr val="000000"/>
                </a:solidFill>
                <a:latin typeface="Menlo-Regular"/>
              </a:rPr>
              <a:t>  13:   48 83 c4 08             add    $0x8,%rsp</a:t>
            </a:r>
          </a:p>
          <a:p>
            <a:r>
              <a:rPr lang="en-US" sz="1600" dirty="0">
                <a:solidFill>
                  <a:srgbClr val="000000"/>
                </a:solidFill>
                <a:latin typeface="Menlo-Regular"/>
              </a:rPr>
              <a:t>  17:   c3                      </a:t>
            </a:r>
            <a:r>
              <a:rPr lang="en-US" sz="1600" dirty="0" err="1">
                <a:solidFill>
                  <a:srgbClr val="000000"/>
                </a:solidFill>
                <a:latin typeface="Menlo-Regular"/>
              </a:rPr>
              <a:t>retq</a:t>
            </a:r>
            <a:endParaRPr lang="en-US" sz="1600" dirty="0">
              <a:solidFill>
                <a:srgbClr val="000000"/>
              </a:solidFill>
              <a:latin typeface="Menlo-Regular"/>
            </a:endParaRPr>
          </a:p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ro-RO" sz="1600" dirty="0">
              <a:latin typeface="Courier New" pitchFamily="49" charset="0"/>
              <a:ea typeface="msgothic" charset="0"/>
              <a:cs typeface="msgothic" charset="0"/>
            </a:endParaRP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3C9B7E31-391A-2FDA-C5AA-13869C4464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67113" y="6014373"/>
            <a:ext cx="1067294" cy="357663"/>
          </a:xfrm>
          <a:prstGeom prst="rect">
            <a:avLst/>
          </a:prstGeom>
          <a:noFill/>
          <a:ln w="3240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ea typeface="msgothic" charset="0"/>
                <a:cs typeface="msgothic" charset="0"/>
              </a:rPr>
              <a:t>main.o</a:t>
            </a:r>
            <a:endParaRPr lang="en-GB" sz="1800" b="1" i="1" dirty="0">
              <a:solidFill>
                <a:schemeClr val="tx1">
                  <a:lumMod val="50000"/>
                  <a:lumOff val="50000"/>
                </a:schemeClr>
              </a:solidFill>
              <a:latin typeface="Courier New" pitchFamily="49" charset="0"/>
              <a:ea typeface="msgothic" charset="0"/>
              <a:cs typeface="msgothic" charset="0"/>
            </a:endParaRP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F0737896-A052-D79A-906E-F7A2DEF301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203" y="1353670"/>
            <a:ext cx="4072997" cy="2033507"/>
          </a:xfrm>
          <a:prstGeom prst="rect">
            <a:avLst/>
          </a:prstGeom>
          <a:solidFill>
            <a:srgbClr val="F7F5CD"/>
          </a:solidFill>
          <a:ln w="324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r>
              <a:rPr lang="hu-HU" sz="1800" dirty="0">
                <a:solidFill>
                  <a:srgbClr val="2D961E"/>
                </a:solidFill>
                <a:latin typeface="Menlo-Regular"/>
              </a:rPr>
              <a:t>int</a:t>
            </a:r>
            <a:r>
              <a:rPr lang="hu-HU" sz="1800" dirty="0">
                <a:solidFill>
                  <a:srgbClr val="000000"/>
                </a:solidFill>
                <a:latin typeface="Menlo-Regular"/>
              </a:rPr>
              <a:t> </a:t>
            </a:r>
            <a:r>
              <a:rPr lang="hu-HU" sz="1800" dirty="0">
                <a:solidFill>
                  <a:srgbClr val="C1651C"/>
                </a:solidFill>
                <a:latin typeface="Menlo-Regular"/>
              </a:rPr>
              <a:t>array</a:t>
            </a:r>
            <a:r>
              <a:rPr lang="hu-HU" sz="1800" dirty="0">
                <a:solidFill>
                  <a:srgbClr val="000000"/>
                </a:solidFill>
                <a:latin typeface="Menlo-Regular"/>
              </a:rPr>
              <a:t>[2] = {1, 2};</a:t>
            </a:r>
          </a:p>
          <a:p>
            <a:endParaRPr lang="hu-HU" sz="1800" dirty="0">
              <a:solidFill>
                <a:srgbClr val="000000"/>
              </a:solidFill>
              <a:latin typeface="Menlo-Regular"/>
            </a:endParaRPr>
          </a:p>
          <a:p>
            <a:r>
              <a:rPr lang="en-US" sz="1800" dirty="0" err="1">
                <a:solidFill>
                  <a:srgbClr val="2D961E"/>
                </a:solidFill>
                <a:latin typeface="Menlo-Regular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Menlo-Regular"/>
              </a:rPr>
              <a:t> </a:t>
            </a:r>
            <a:r>
              <a:rPr lang="en-US" sz="1800" dirty="0">
                <a:solidFill>
                  <a:srgbClr val="4A00FF"/>
                </a:solidFill>
                <a:latin typeface="Menlo-Regular"/>
              </a:rPr>
              <a:t>main</a:t>
            </a:r>
            <a:r>
              <a:rPr lang="en-US" sz="1800" dirty="0">
                <a:solidFill>
                  <a:srgbClr val="000000"/>
                </a:solidFill>
                <a:latin typeface="Menlo-Regular"/>
              </a:rPr>
              <a:t>()</a:t>
            </a:r>
          </a:p>
          <a:p>
            <a:r>
              <a:rPr lang="en-US" sz="1800" dirty="0">
                <a:solidFill>
                  <a:srgbClr val="000000"/>
                </a:solidFill>
                <a:latin typeface="Menlo-Regular"/>
              </a:rPr>
              <a:t>{</a:t>
            </a:r>
          </a:p>
          <a:p>
            <a:r>
              <a:rPr lang="fr-FR" sz="18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fr-FR" sz="1800" dirty="0" err="1">
                <a:solidFill>
                  <a:srgbClr val="2D961E"/>
                </a:solidFill>
                <a:latin typeface="Menlo-Regular"/>
              </a:rPr>
              <a:t>int</a:t>
            </a:r>
            <a:r>
              <a:rPr lang="fr-FR" sz="1800" dirty="0">
                <a:solidFill>
                  <a:srgbClr val="000000"/>
                </a:solidFill>
                <a:latin typeface="Menlo-Regular"/>
              </a:rPr>
              <a:t> </a:t>
            </a:r>
            <a:r>
              <a:rPr lang="fr-FR" sz="1800" dirty="0">
                <a:solidFill>
                  <a:srgbClr val="C1651C"/>
                </a:solidFill>
                <a:latin typeface="Menlo-Regular"/>
              </a:rPr>
              <a:t>val</a:t>
            </a:r>
            <a:r>
              <a:rPr lang="fr-FR" sz="1800" dirty="0">
                <a:solidFill>
                  <a:srgbClr val="000000"/>
                </a:solidFill>
                <a:latin typeface="Menlo-Regular"/>
              </a:rPr>
              <a:t> = </a:t>
            </a:r>
            <a:r>
              <a:rPr lang="fr-FR" sz="1800" dirty="0" err="1">
                <a:solidFill>
                  <a:srgbClr val="000000"/>
                </a:solidFill>
                <a:latin typeface="Menlo-Regular"/>
              </a:rPr>
              <a:t>sum</a:t>
            </a:r>
            <a:r>
              <a:rPr lang="fr-FR" sz="1800" dirty="0">
                <a:solidFill>
                  <a:srgbClr val="000000"/>
                </a:solidFill>
                <a:latin typeface="Menlo-Regular"/>
              </a:rPr>
              <a:t>(</a:t>
            </a:r>
            <a:r>
              <a:rPr lang="fr-FR" sz="1800" dirty="0" err="1">
                <a:solidFill>
                  <a:srgbClr val="000000"/>
                </a:solidFill>
                <a:latin typeface="Menlo-Regular"/>
              </a:rPr>
              <a:t>array</a:t>
            </a:r>
            <a:r>
              <a:rPr lang="fr-FR" sz="1800" dirty="0">
                <a:solidFill>
                  <a:srgbClr val="000000"/>
                </a:solidFill>
                <a:latin typeface="Menlo-Regular"/>
              </a:rPr>
              <a:t>, 2);</a:t>
            </a:r>
          </a:p>
          <a:p>
            <a:r>
              <a:rPr lang="fr-FR" sz="1800" dirty="0">
                <a:solidFill>
                  <a:srgbClr val="000000"/>
                </a:solidFill>
                <a:latin typeface="Menlo-Regular"/>
              </a:rPr>
              <a:t>    </a:t>
            </a:r>
            <a:r>
              <a:rPr lang="fr-FR" sz="1800" dirty="0">
                <a:solidFill>
                  <a:srgbClr val="C200FF"/>
                </a:solidFill>
                <a:latin typeface="Menlo-Regular"/>
              </a:rPr>
              <a:t>return</a:t>
            </a:r>
            <a:r>
              <a:rPr lang="fr-FR" sz="1800" dirty="0">
                <a:solidFill>
                  <a:srgbClr val="000000"/>
                </a:solidFill>
                <a:latin typeface="Menlo-Regular"/>
              </a:rPr>
              <a:t> val;</a:t>
            </a:r>
          </a:p>
          <a:p>
            <a:r>
              <a:rPr lang="fr-FR" sz="1800" dirty="0">
                <a:solidFill>
                  <a:srgbClr val="000000"/>
                </a:solidFill>
                <a:latin typeface="Menlo-Regular"/>
              </a:rPr>
              <a:t>}</a:t>
            </a:r>
            <a:endParaRPr lang="en-US" sz="1800" dirty="0">
              <a:latin typeface="Courier New"/>
              <a:cs typeface="Courier New"/>
            </a:endParaRP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33315E06-C275-A890-E202-8C6FFDBD07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9906" y="2895044"/>
            <a:ext cx="1067294" cy="357663"/>
          </a:xfrm>
          <a:prstGeom prst="rect">
            <a:avLst/>
          </a:prstGeom>
          <a:noFill/>
          <a:ln w="3240">
            <a:noFill/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ea typeface="msgothic" charset="0"/>
                <a:cs typeface="msgothic" charset="0"/>
              </a:rPr>
              <a:t>main.c</a:t>
            </a:r>
            <a:endParaRPr lang="en-GB" sz="1800" b="1" i="1" dirty="0">
              <a:solidFill>
                <a:schemeClr val="tx1">
                  <a:lumMod val="50000"/>
                  <a:lumOff val="50000"/>
                </a:schemeClr>
              </a:solidFill>
              <a:latin typeface="Courier New" pitchFamily="49" charset="0"/>
              <a:ea typeface="msgothic" charset="0"/>
              <a:cs typeface="msgothic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C7C4C09-ADE1-2174-859E-65E0D42A9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92C60-C071-3249-9DBB-404B1D195F8C}" type="slidenum">
              <a:rPr lang="en-US" smtClean="0"/>
              <a:t>39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5D839D-12B5-74B9-12D5-D5643F03B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4354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C4B259-8862-79CE-2DC4-29D058299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1">
            <a:extLst>
              <a:ext uri="{FF2B5EF4-FFF2-40B4-BE49-F238E27FC236}">
                <a16:creationId xmlns:a16="http://schemas.microsoft.com/office/drawing/2014/main" id="{28364868-A86C-5A79-66E5-DF08A1AEDAE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250826" y="152400"/>
            <a:ext cx="8918575" cy="1135063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Relocated .text section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3462C74-6A87-9672-B619-F48548E4D1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3200400"/>
            <a:ext cx="181758" cy="328424"/>
          </a:xfrm>
          <a:prstGeom prst="rect">
            <a:avLst/>
          </a:prstGeom>
          <a:solidFill>
            <a:schemeClr val="bg1">
              <a:lumMod val="95000"/>
            </a:schemeClr>
          </a:solidFill>
          <a:ln w="126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ro-RO" sz="1600" dirty="0">
              <a:latin typeface="Courier New" pitchFamily="49" charset="0"/>
              <a:ea typeface="msgothic" charset="0"/>
              <a:cs typeface="msgothic" charset="0"/>
            </a:endParaRPr>
          </a:p>
        </p:txBody>
      </p:sp>
      <p:sp>
        <p:nvSpPr>
          <p:cNvPr id="6" name="Text Box 2">
            <a:extLst>
              <a:ext uri="{FF2B5EF4-FFF2-40B4-BE49-F238E27FC236}">
                <a16:creationId xmlns:a16="http://schemas.microsoft.com/office/drawing/2014/main" id="{2C14B1A4-E20E-C98B-3343-6B9A662A53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1330888"/>
            <a:ext cx="9017001" cy="4526497"/>
          </a:xfrm>
          <a:prstGeom prst="rect">
            <a:avLst/>
          </a:prstGeom>
          <a:solidFill>
            <a:schemeClr val="bg1">
              <a:lumMod val="95000"/>
            </a:schemeClr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90000" tIns="46800" rIns="90000" bIns="46800">
            <a:spAutoFit/>
          </a:bodyPr>
          <a:lstStyle/>
          <a:p>
            <a:r>
              <a:rPr lang="fr-FR" sz="1600" dirty="0">
                <a:solidFill>
                  <a:srgbClr val="000000"/>
                </a:solidFill>
                <a:latin typeface="Menlo-Regular"/>
              </a:rPr>
              <a:t>00000000004004d0 &lt;main&gt;:</a:t>
            </a:r>
          </a:p>
          <a:p>
            <a:r>
              <a:rPr lang="ro-RO" sz="1600" dirty="0">
                <a:solidFill>
                  <a:srgbClr val="000000"/>
                </a:solidFill>
                <a:latin typeface="Menlo-Regular"/>
              </a:rPr>
              <a:t>  4004d0:       48 83 ec 08       sub    $0x8,%rsp</a:t>
            </a:r>
          </a:p>
          <a:p>
            <a:r>
              <a:rPr lang="en-US" sz="1600" dirty="0">
                <a:solidFill>
                  <a:srgbClr val="000000"/>
                </a:solidFill>
                <a:latin typeface="Menlo-Regular"/>
              </a:rPr>
              <a:t>  4004d4:       be 02 00 00 00    </a:t>
            </a:r>
            <a:r>
              <a:rPr lang="en-US" sz="1600" dirty="0" err="1">
                <a:solidFill>
                  <a:srgbClr val="000000"/>
                </a:solidFill>
                <a:latin typeface="Menlo-Regular"/>
              </a:rPr>
              <a:t>mov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    $0x2,%esi</a:t>
            </a:r>
          </a:p>
          <a:p>
            <a:r>
              <a:rPr lang="sk-SK" sz="1600" dirty="0">
                <a:solidFill>
                  <a:srgbClr val="000000"/>
                </a:solidFill>
                <a:latin typeface="Menlo-Regular"/>
              </a:rPr>
              <a:t>  4004d9:       bf 18 10 60 00    mov    </a:t>
            </a:r>
            <a:r>
              <a:rPr lang="sk-SK" sz="1600" dirty="0">
                <a:solidFill>
                  <a:srgbClr val="FF0000"/>
                </a:solidFill>
                <a:latin typeface="Menlo-Regular"/>
              </a:rPr>
              <a:t>$0x601018</a:t>
            </a:r>
            <a:r>
              <a:rPr lang="sk-SK" sz="1600" dirty="0">
                <a:solidFill>
                  <a:srgbClr val="000000"/>
                </a:solidFill>
                <a:latin typeface="Menlo-Regular"/>
              </a:rPr>
              <a:t>,%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r</a:t>
            </a:r>
            <a:r>
              <a:rPr lang="sk-SK" sz="1600" dirty="0">
                <a:solidFill>
                  <a:srgbClr val="000000"/>
                </a:solidFill>
                <a:latin typeface="Menlo-Regular"/>
              </a:rPr>
              <a:t>di  </a:t>
            </a:r>
            <a:r>
              <a:rPr lang="sk-SK" sz="1600" dirty="0">
                <a:latin typeface="Menlo-Regular"/>
              </a:rPr>
              <a:t># %</a:t>
            </a:r>
            <a:r>
              <a:rPr lang="en-US" sz="1600" dirty="0">
                <a:latin typeface="Menlo-Regular"/>
              </a:rPr>
              <a:t>r</a:t>
            </a:r>
            <a:r>
              <a:rPr lang="sk-SK" sz="1600" dirty="0">
                <a:latin typeface="Menlo-Regular"/>
              </a:rPr>
              <a:t>di = &amp;array</a:t>
            </a:r>
          </a:p>
          <a:p>
            <a:r>
              <a:rPr lang="en-US" sz="1600" dirty="0">
                <a:solidFill>
                  <a:srgbClr val="000000"/>
                </a:solidFill>
                <a:latin typeface="Menlo-Regular"/>
              </a:rPr>
              <a:t>  4004de:       e8 </a:t>
            </a:r>
            <a:r>
              <a:rPr lang="en-US" sz="1600" dirty="0">
                <a:latin typeface="Menlo-Regular"/>
              </a:rPr>
              <a:t>05 00 00 00    </a:t>
            </a:r>
            <a:r>
              <a:rPr lang="en-US" sz="1600" dirty="0" err="1">
                <a:solidFill>
                  <a:srgbClr val="000000"/>
                </a:solidFill>
                <a:latin typeface="Menlo-Regular"/>
              </a:rPr>
              <a:t>callq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  </a:t>
            </a:r>
            <a:r>
              <a:rPr lang="en-US" sz="1600" dirty="0">
                <a:solidFill>
                  <a:srgbClr val="FF0000"/>
                </a:solidFill>
                <a:latin typeface="Menlo-Regular"/>
              </a:rPr>
              <a:t>4004e8 </a:t>
            </a:r>
            <a:r>
              <a:rPr lang="en-US" sz="1600" dirty="0">
                <a:solidFill>
                  <a:srgbClr val="000000"/>
                </a:solidFill>
                <a:latin typeface="Menlo-Regular"/>
              </a:rPr>
              <a:t>&lt;sum&gt;    # sum()</a:t>
            </a:r>
          </a:p>
          <a:p>
            <a:r>
              <a:rPr lang="en-US" sz="1600" dirty="0">
                <a:solidFill>
                  <a:srgbClr val="000000"/>
                </a:solidFill>
                <a:latin typeface="Menlo-Regular"/>
              </a:rPr>
              <a:t>  4004e3:       48 83 c4 08       add    $0x8,%rsp</a:t>
            </a:r>
          </a:p>
          <a:p>
            <a:r>
              <a:rPr lang="en-US" sz="1600" dirty="0">
                <a:solidFill>
                  <a:srgbClr val="000000"/>
                </a:solidFill>
                <a:latin typeface="Menlo-Regular"/>
              </a:rPr>
              <a:t>  4004e7:       c3                </a:t>
            </a:r>
            <a:r>
              <a:rPr lang="en-US" sz="1600" dirty="0" err="1">
                <a:solidFill>
                  <a:srgbClr val="000000"/>
                </a:solidFill>
                <a:latin typeface="Menlo-Regular"/>
              </a:rPr>
              <a:t>retq</a:t>
            </a:r>
            <a:endParaRPr lang="en-US" sz="1600" dirty="0">
              <a:solidFill>
                <a:srgbClr val="000000"/>
              </a:solidFill>
              <a:latin typeface="Menlo-Regular"/>
            </a:endParaRPr>
          </a:p>
          <a:p>
            <a:endParaRPr lang="en-US" sz="1600" dirty="0">
              <a:solidFill>
                <a:srgbClr val="000000"/>
              </a:solidFill>
              <a:latin typeface="Menlo-Regular"/>
            </a:endParaRPr>
          </a:p>
          <a:p>
            <a:r>
              <a:rPr lang="en-US" sz="1600" dirty="0">
                <a:solidFill>
                  <a:srgbClr val="000000"/>
                </a:solidFill>
                <a:latin typeface="Menlo-Regular"/>
              </a:rPr>
              <a:t>00000000004004e8 &lt;sum&gt;:</a:t>
            </a:r>
          </a:p>
          <a:p>
            <a:r>
              <a:rPr lang="sk-SK" sz="1600" dirty="0">
                <a:solidFill>
                  <a:srgbClr val="000000"/>
                </a:solidFill>
                <a:latin typeface="Menlo-Regular"/>
              </a:rPr>
              <a:t>  </a:t>
            </a:r>
            <a:r>
              <a:rPr lang="sk-SK" sz="1600" dirty="0">
                <a:solidFill>
                  <a:srgbClr val="FF0000"/>
                </a:solidFill>
                <a:latin typeface="Menlo-Regular"/>
              </a:rPr>
              <a:t>4004e8</a:t>
            </a:r>
            <a:r>
              <a:rPr lang="sk-SK" sz="1600" dirty="0">
                <a:solidFill>
                  <a:srgbClr val="000000"/>
                </a:solidFill>
                <a:latin typeface="Menlo-Regular"/>
              </a:rPr>
              <a:t>:       b8 00 00 00 00          mov    $0x0,%eax</a:t>
            </a:r>
          </a:p>
          <a:p>
            <a:r>
              <a:rPr lang="sk-SK" sz="1600" dirty="0">
                <a:solidFill>
                  <a:srgbClr val="000000"/>
                </a:solidFill>
                <a:latin typeface="Menlo-Regular"/>
              </a:rPr>
              <a:t>  4004ed:       ba 00 00 00 00          mov    $0x0,%edx</a:t>
            </a:r>
          </a:p>
          <a:p>
            <a:r>
              <a:rPr lang="cs-CZ" sz="1600" dirty="0">
                <a:solidFill>
                  <a:srgbClr val="000000"/>
                </a:solidFill>
                <a:latin typeface="Menlo-Regular"/>
              </a:rPr>
              <a:t>  4004f2:       </a:t>
            </a:r>
            <a:r>
              <a:rPr lang="cs-CZ" sz="1600" dirty="0" err="1">
                <a:solidFill>
                  <a:srgbClr val="000000"/>
                </a:solidFill>
                <a:latin typeface="Menlo-Regular"/>
              </a:rPr>
              <a:t>eb</a:t>
            </a:r>
            <a:r>
              <a:rPr lang="cs-CZ" sz="1600" dirty="0">
                <a:solidFill>
                  <a:srgbClr val="000000"/>
                </a:solidFill>
                <a:latin typeface="Menlo-Regular"/>
              </a:rPr>
              <a:t> 09                   </a:t>
            </a:r>
            <a:r>
              <a:rPr lang="cs-CZ" sz="1600" dirty="0" err="1">
                <a:solidFill>
                  <a:srgbClr val="000000"/>
                </a:solidFill>
                <a:latin typeface="Menlo-Regular"/>
              </a:rPr>
              <a:t>jmp</a:t>
            </a:r>
            <a:r>
              <a:rPr lang="cs-CZ" sz="1600" dirty="0">
                <a:solidFill>
                  <a:srgbClr val="000000"/>
                </a:solidFill>
                <a:latin typeface="Menlo-Regular"/>
              </a:rPr>
              <a:t>    4004fd &lt;sum+0x15&gt;</a:t>
            </a:r>
          </a:p>
          <a:p>
            <a:r>
              <a:rPr lang="ro-RO" sz="1600" dirty="0">
                <a:solidFill>
                  <a:srgbClr val="000000"/>
                </a:solidFill>
                <a:latin typeface="Menlo-Regular"/>
              </a:rPr>
              <a:t>  4004f4:       48 63 ca                movslq %edx,%rcx</a:t>
            </a:r>
          </a:p>
          <a:p>
            <a:r>
              <a:rPr lang="en-US" sz="1600" dirty="0">
                <a:solidFill>
                  <a:srgbClr val="000000"/>
                </a:solidFill>
                <a:latin typeface="Menlo-Regular"/>
              </a:rPr>
              <a:t>  4004f7:       03 04 8f                add    (%rdi,%rcx,4),%</a:t>
            </a:r>
            <a:r>
              <a:rPr lang="en-US" sz="1600" dirty="0" err="1">
                <a:solidFill>
                  <a:srgbClr val="000000"/>
                </a:solidFill>
                <a:latin typeface="Menlo-Regular"/>
              </a:rPr>
              <a:t>eax</a:t>
            </a:r>
            <a:endParaRPr lang="en-US" sz="1600" dirty="0">
              <a:solidFill>
                <a:srgbClr val="000000"/>
              </a:solidFill>
              <a:latin typeface="Menlo-Regular"/>
            </a:endParaRPr>
          </a:p>
          <a:p>
            <a:r>
              <a:rPr lang="en-US" sz="1600" dirty="0">
                <a:solidFill>
                  <a:srgbClr val="000000"/>
                </a:solidFill>
                <a:latin typeface="Menlo-Regular"/>
              </a:rPr>
              <a:t>  4004fa:       83 c2 01                add    $0x1,%edx</a:t>
            </a:r>
          </a:p>
          <a:p>
            <a:r>
              <a:rPr lang="nl-NL" sz="1600" dirty="0">
                <a:solidFill>
                  <a:srgbClr val="000000"/>
                </a:solidFill>
                <a:latin typeface="Menlo-Regular"/>
              </a:rPr>
              <a:t>  4004fd:       39 f2                   </a:t>
            </a:r>
            <a:r>
              <a:rPr lang="nl-NL" sz="1600" dirty="0" err="1">
                <a:solidFill>
                  <a:srgbClr val="000000"/>
                </a:solidFill>
                <a:latin typeface="Menlo-Regular"/>
              </a:rPr>
              <a:t>cmp</a:t>
            </a:r>
            <a:r>
              <a:rPr lang="nl-NL" sz="1600" dirty="0">
                <a:solidFill>
                  <a:srgbClr val="000000"/>
                </a:solidFill>
                <a:latin typeface="Menlo-Regular"/>
              </a:rPr>
              <a:t>    %</a:t>
            </a:r>
            <a:r>
              <a:rPr lang="nl-NL" sz="1600" dirty="0" err="1">
                <a:solidFill>
                  <a:srgbClr val="000000"/>
                </a:solidFill>
                <a:latin typeface="Menlo-Regular"/>
              </a:rPr>
              <a:t>esi</a:t>
            </a:r>
            <a:r>
              <a:rPr lang="nl-NL" sz="1600" dirty="0">
                <a:solidFill>
                  <a:srgbClr val="000000"/>
                </a:solidFill>
                <a:latin typeface="Menlo-Regular"/>
              </a:rPr>
              <a:t>,%</a:t>
            </a:r>
            <a:r>
              <a:rPr lang="nl-NL" sz="1600" dirty="0" err="1">
                <a:solidFill>
                  <a:srgbClr val="000000"/>
                </a:solidFill>
                <a:latin typeface="Menlo-Regular"/>
              </a:rPr>
              <a:t>edx</a:t>
            </a:r>
            <a:endParaRPr lang="nl-NL" sz="1600" dirty="0">
              <a:solidFill>
                <a:srgbClr val="000000"/>
              </a:solidFill>
              <a:latin typeface="Menlo-Regular"/>
            </a:endParaRPr>
          </a:p>
          <a:p>
            <a:r>
              <a:rPr lang="nl-NL" sz="1600" dirty="0">
                <a:solidFill>
                  <a:srgbClr val="000000"/>
                </a:solidFill>
                <a:latin typeface="Menlo-Regular"/>
              </a:rPr>
              <a:t>  4004ff:       7c f3                   </a:t>
            </a:r>
            <a:r>
              <a:rPr lang="nl-NL" sz="1600" dirty="0" err="1">
                <a:solidFill>
                  <a:srgbClr val="000000"/>
                </a:solidFill>
                <a:latin typeface="Menlo-Regular"/>
              </a:rPr>
              <a:t>jl</a:t>
            </a:r>
            <a:r>
              <a:rPr lang="nl-NL" sz="1600" dirty="0">
                <a:solidFill>
                  <a:srgbClr val="000000"/>
                </a:solidFill>
                <a:latin typeface="Menlo-Regular"/>
              </a:rPr>
              <a:t>     4004f4 &lt;sum+0xc&gt;</a:t>
            </a:r>
          </a:p>
          <a:p>
            <a:r>
              <a:rPr lang="hu-HU" sz="1600" dirty="0">
                <a:solidFill>
                  <a:srgbClr val="000000"/>
                </a:solidFill>
                <a:latin typeface="Menlo-Regular"/>
              </a:rPr>
              <a:t>  400501:       c3                      retq</a:t>
            </a:r>
            <a:endParaRPr lang="ro-RO" sz="1600" dirty="0">
              <a:latin typeface="Courier New" pitchFamily="49" charset="0"/>
              <a:ea typeface="msgothic" charset="0"/>
              <a:cs typeface="msgothic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E4A0C3-1E61-884C-1E86-4EFD08C507E4}"/>
              </a:ext>
            </a:extLst>
          </p:cNvPr>
          <p:cNvSpPr/>
          <p:nvPr/>
        </p:nvSpPr>
        <p:spPr>
          <a:xfrm>
            <a:off x="5155539" y="5857385"/>
            <a:ext cx="215475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 err="1">
                <a:latin typeface="Courier New"/>
                <a:cs typeface="Courier New"/>
              </a:rPr>
              <a:t>objdump</a:t>
            </a:r>
            <a:r>
              <a:rPr lang="en-US" sz="1600" dirty="0">
                <a:latin typeface="Courier New"/>
                <a:cs typeface="Courier New"/>
              </a:rPr>
              <a:t> -d </a:t>
            </a:r>
            <a:r>
              <a:rPr lang="en-US" sz="1600" dirty="0" err="1">
                <a:latin typeface="Courier New"/>
                <a:cs typeface="Courier New"/>
              </a:rPr>
              <a:t>a.out</a:t>
            </a:r>
            <a:endParaRPr lang="en-US" sz="1600" dirty="0">
              <a:latin typeface="Courier New"/>
              <a:cs typeface="Courier New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BDE3022-0788-2334-CD48-8A73AC980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92C60-C071-3249-9DBB-404B1D195F8C}" type="slidenum">
              <a:rPr lang="en-US" smtClean="0"/>
              <a:t>40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9BD791-1943-22AA-2541-B05006F23D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11075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E095F-571E-0B77-BB80-D92CE29FB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1">
            <a:extLst>
              <a:ext uri="{FF2B5EF4-FFF2-40B4-BE49-F238E27FC236}">
                <a16:creationId xmlns:a16="http://schemas.microsoft.com/office/drawing/2014/main" id="{BC25F8A3-388E-5126-5FCF-C1DF2095BAE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350838" y="381000"/>
            <a:ext cx="8716962" cy="782638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Loading Executable Object Files</a:t>
            </a:r>
          </a:p>
        </p:txBody>
      </p:sp>
      <p:sp>
        <p:nvSpPr>
          <p:cNvPr id="33794" name="Rectangle 2">
            <a:extLst>
              <a:ext uri="{FF2B5EF4-FFF2-40B4-BE49-F238E27FC236}">
                <a16:creationId xmlns:a16="http://schemas.microsoft.com/office/drawing/2014/main" id="{A69DE36B-CB99-1A3B-E3D7-4AF07F2440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646" y="1567788"/>
            <a:ext cx="2971800" cy="381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56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ELF header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7FDA834B-A6AB-10F9-7797-87A8618DDF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646" y="1948788"/>
            <a:ext cx="29718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 w="2556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Program header table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(required for executables)</a:t>
            </a:r>
          </a:p>
        </p:txBody>
      </p:sp>
      <p:sp>
        <p:nvSpPr>
          <p:cNvPr id="33796" name="Rectangle 4">
            <a:extLst>
              <a:ext uri="{FF2B5EF4-FFF2-40B4-BE49-F238E27FC236}">
                <a16:creationId xmlns:a16="http://schemas.microsoft.com/office/drawing/2014/main" id="{20ADD70A-DE40-146D-49CE-051C539994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646" y="2550922"/>
            <a:ext cx="2971800" cy="381000"/>
          </a:xfrm>
          <a:prstGeom prst="rect">
            <a:avLst/>
          </a:prstGeom>
          <a:solidFill>
            <a:srgbClr val="F6F5BD"/>
          </a:solidFill>
          <a:ln w="2556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.text section</a:t>
            </a:r>
          </a:p>
        </p:txBody>
      </p:sp>
      <p:sp>
        <p:nvSpPr>
          <p:cNvPr id="33797" name="Rectangle 5">
            <a:extLst>
              <a:ext uri="{FF2B5EF4-FFF2-40B4-BE49-F238E27FC236}">
                <a16:creationId xmlns:a16="http://schemas.microsoft.com/office/drawing/2014/main" id="{5B53500E-DAD4-ADC8-4F91-889DFD49A1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646" y="3312922"/>
            <a:ext cx="2971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56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.data section</a:t>
            </a:r>
          </a:p>
        </p:txBody>
      </p:sp>
      <p:sp>
        <p:nvSpPr>
          <p:cNvPr id="33798" name="Rectangle 6">
            <a:extLst>
              <a:ext uri="{FF2B5EF4-FFF2-40B4-BE49-F238E27FC236}">
                <a16:creationId xmlns:a16="http://schemas.microsoft.com/office/drawing/2014/main" id="{B0957C9C-F7AC-5061-BE90-D85BDD464F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646" y="3693922"/>
            <a:ext cx="2971800" cy="381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56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.</a:t>
            </a:r>
            <a:r>
              <a:rPr lang="en-GB" sz="1600" b="1" dirty="0" err="1">
                <a:latin typeface="Calibri" pitchFamily="34" charset="0"/>
                <a:ea typeface="msgothic" charset="0"/>
                <a:cs typeface="msgothic" charset="0"/>
              </a:rPr>
              <a:t>bss</a:t>
            </a: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 section</a:t>
            </a:r>
          </a:p>
        </p:txBody>
      </p:sp>
      <p:sp>
        <p:nvSpPr>
          <p:cNvPr id="33799" name="Rectangle 7">
            <a:extLst>
              <a:ext uri="{FF2B5EF4-FFF2-40B4-BE49-F238E27FC236}">
                <a16:creationId xmlns:a16="http://schemas.microsoft.com/office/drawing/2014/main" id="{819717E0-297E-009C-EB0F-5262628C91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646" y="4074922"/>
            <a:ext cx="2971800" cy="381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56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.</a:t>
            </a:r>
            <a:r>
              <a:rPr lang="en-GB" sz="1600" b="1" dirty="0" err="1">
                <a:latin typeface="Calibri" pitchFamily="34" charset="0"/>
                <a:ea typeface="msgothic" charset="0"/>
                <a:cs typeface="msgothic" charset="0"/>
              </a:rPr>
              <a:t>symtab</a:t>
            </a:r>
            <a:endParaRPr lang="en-GB" sz="1600" b="1" dirty="0"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33802" name="Rectangle 10">
            <a:extLst>
              <a:ext uri="{FF2B5EF4-FFF2-40B4-BE49-F238E27FC236}">
                <a16:creationId xmlns:a16="http://schemas.microsoft.com/office/drawing/2014/main" id="{B9CD806E-98A2-FB96-E037-DD5C3DD3D5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646" y="4455922"/>
            <a:ext cx="2971800" cy="381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56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.debug</a:t>
            </a:r>
          </a:p>
        </p:txBody>
      </p:sp>
      <p:sp>
        <p:nvSpPr>
          <p:cNvPr id="33803" name="Rectangle 11">
            <a:extLst>
              <a:ext uri="{FF2B5EF4-FFF2-40B4-BE49-F238E27FC236}">
                <a16:creationId xmlns:a16="http://schemas.microsoft.com/office/drawing/2014/main" id="{E9C01368-5C9F-3722-BB82-E54FAE0DE7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646" y="5598922"/>
            <a:ext cx="29718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 w="2556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Section header table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(required for </a:t>
            </a:r>
            <a:r>
              <a:rPr lang="en-GB" sz="1600" b="1" dirty="0" err="1">
                <a:latin typeface="Calibri" pitchFamily="34" charset="0"/>
                <a:ea typeface="msgothic" charset="0"/>
                <a:cs typeface="msgothic" charset="0"/>
              </a:rPr>
              <a:t>relocatables</a:t>
            </a: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)</a:t>
            </a:r>
          </a:p>
        </p:txBody>
      </p:sp>
      <p:sp>
        <p:nvSpPr>
          <p:cNvPr id="33804" name="Text Box 12">
            <a:extLst>
              <a:ext uri="{FF2B5EF4-FFF2-40B4-BE49-F238E27FC236}">
                <a16:creationId xmlns:a16="http://schemas.microsoft.com/office/drawing/2014/main" id="{7612EE8E-A291-219D-42FA-82A65EA733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69568" y="1413296"/>
            <a:ext cx="285954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0</a:t>
            </a:r>
          </a:p>
        </p:txBody>
      </p:sp>
      <p:sp>
        <p:nvSpPr>
          <p:cNvPr id="33805" name="Text Box 13">
            <a:extLst>
              <a:ext uri="{FF2B5EF4-FFF2-40B4-BE49-F238E27FC236}">
                <a16:creationId xmlns:a16="http://schemas.microsoft.com/office/drawing/2014/main" id="{47CB678C-295D-81C4-F986-AD1141E159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806" y="1236452"/>
            <a:ext cx="2285154" cy="3659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800" b="1" dirty="0">
                <a:latin typeface="Calibri" pitchFamily="34" charset="0"/>
                <a:ea typeface="msgothic" charset="0"/>
                <a:cs typeface="msgothic" charset="0"/>
              </a:rPr>
              <a:t>Executable Object File</a:t>
            </a:r>
          </a:p>
        </p:txBody>
      </p:sp>
      <p:sp>
        <p:nvSpPr>
          <p:cNvPr id="33806" name="Rectangle 14">
            <a:extLst>
              <a:ext uri="{FF2B5EF4-FFF2-40B4-BE49-F238E27FC236}">
                <a16:creationId xmlns:a16="http://schemas.microsoft.com/office/drawing/2014/main" id="{47832DED-2DCC-89EB-402F-48855BF403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6829" y="1262063"/>
            <a:ext cx="2789237" cy="487362"/>
          </a:xfrm>
          <a:prstGeom prst="rect">
            <a:avLst/>
          </a:prstGeom>
          <a:solidFill>
            <a:schemeClr val="bg1">
              <a:lumMod val="75000"/>
            </a:schemeClr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GB" sz="1600" b="1" dirty="0"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33807" name="Rectangle 15">
            <a:extLst>
              <a:ext uri="{FF2B5EF4-FFF2-40B4-BE49-F238E27FC236}">
                <a16:creationId xmlns:a16="http://schemas.microsoft.com/office/drawing/2014/main" id="{E7524B91-8847-DE80-8359-FF5792C66D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6829" y="2963863"/>
            <a:ext cx="2789237" cy="669925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shared libraries</a:t>
            </a:r>
          </a:p>
        </p:txBody>
      </p:sp>
      <p:sp>
        <p:nvSpPr>
          <p:cNvPr id="33808" name="Rectangle 16">
            <a:extLst>
              <a:ext uri="{FF2B5EF4-FFF2-40B4-BE49-F238E27FC236}">
                <a16:creationId xmlns:a16="http://schemas.microsoft.com/office/drawing/2014/main" id="{A5A6C39A-4F68-3239-9D15-7D34370C98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6829" y="3629025"/>
            <a:ext cx="2789237" cy="723900"/>
          </a:xfrm>
          <a:prstGeom prst="rect">
            <a:avLst/>
          </a:prstGeom>
          <a:solidFill>
            <a:schemeClr val="bg1">
              <a:lumMod val="75000"/>
            </a:schemeClr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09" name="Rectangle 17">
            <a:extLst>
              <a:ext uri="{FF2B5EF4-FFF2-40B4-BE49-F238E27FC236}">
                <a16:creationId xmlns:a16="http://schemas.microsoft.com/office/drawing/2014/main" id="{29019B42-BECF-6C51-A77B-DF1C8243CC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6830" y="4350808"/>
            <a:ext cx="2789237" cy="669925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Run-time heap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(created by 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malloc</a:t>
            </a: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)</a:t>
            </a:r>
          </a:p>
        </p:txBody>
      </p:sp>
      <p:sp>
        <p:nvSpPr>
          <p:cNvPr id="33810" name="Rectangle 18">
            <a:extLst>
              <a:ext uri="{FF2B5EF4-FFF2-40B4-BE49-F238E27FC236}">
                <a16:creationId xmlns:a16="http://schemas.microsoft.com/office/drawing/2014/main" id="{39958C31-9E7B-A8E7-F5BD-2243B816B7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6829" y="2054225"/>
            <a:ext cx="2789237" cy="906463"/>
          </a:xfrm>
          <a:prstGeom prst="rect">
            <a:avLst/>
          </a:prstGeom>
          <a:solidFill>
            <a:schemeClr val="bg1">
              <a:lumMod val="75000"/>
            </a:schemeClr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11" name="Line 19">
            <a:extLst>
              <a:ext uri="{FF2B5EF4-FFF2-40B4-BE49-F238E27FC236}">
                <a16:creationId xmlns:a16="http://schemas.microsoft.com/office/drawing/2014/main" id="{6BDA15D9-15B4-4277-E1C7-13B042F3B6B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076950" y="3957638"/>
            <a:ext cx="1588" cy="384175"/>
          </a:xfrm>
          <a:prstGeom prst="line">
            <a:avLst/>
          </a:prstGeom>
          <a:noFill/>
          <a:ln w="324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3812" name="Rectangle 20">
            <a:extLst>
              <a:ext uri="{FF2B5EF4-FFF2-40B4-BE49-F238E27FC236}">
                <a16:creationId xmlns:a16="http://schemas.microsoft.com/office/drawing/2014/main" id="{E19D31AF-9FAE-427C-4F9D-B3F3AC3DC3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6829" y="1719263"/>
            <a:ext cx="2789237" cy="563562"/>
          </a:xfrm>
          <a:prstGeom prst="rect">
            <a:avLst/>
          </a:prstGeom>
          <a:solidFill>
            <a:srgbClr val="D5F1CF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User stack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(created at runtime)</a:t>
            </a:r>
          </a:p>
        </p:txBody>
      </p:sp>
      <p:sp>
        <p:nvSpPr>
          <p:cNvPr id="33814" name="Line 22">
            <a:extLst>
              <a:ext uri="{FF2B5EF4-FFF2-40B4-BE49-F238E27FC236}">
                <a16:creationId xmlns:a16="http://schemas.microsoft.com/office/drawing/2014/main" id="{9498C512-FE1F-DD25-2654-EE9AF6CB173A}"/>
              </a:ext>
            </a:extLst>
          </p:cNvPr>
          <p:cNvSpPr>
            <a:spLocks noChangeShapeType="1"/>
          </p:cNvSpPr>
          <p:nvPr/>
        </p:nvSpPr>
        <p:spPr bwMode="auto">
          <a:xfrm>
            <a:off x="6076950" y="2282825"/>
            <a:ext cx="1588" cy="228600"/>
          </a:xfrm>
          <a:prstGeom prst="line">
            <a:avLst/>
          </a:prstGeom>
          <a:noFill/>
          <a:ln w="324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3815" name="Rectangle 23">
            <a:extLst>
              <a:ext uri="{FF2B5EF4-FFF2-40B4-BE49-F238E27FC236}">
                <a16:creationId xmlns:a16="http://schemas.microsoft.com/office/drawing/2014/main" id="{F886A054-D4E6-F763-30B3-2B39ABACA6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6829" y="6312958"/>
            <a:ext cx="2789238" cy="396875"/>
          </a:xfrm>
          <a:prstGeom prst="rect">
            <a:avLst/>
          </a:prstGeom>
          <a:solidFill>
            <a:schemeClr val="bg1">
              <a:lumMod val="75000"/>
            </a:schemeClr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Unused</a:t>
            </a:r>
          </a:p>
        </p:txBody>
      </p:sp>
      <p:sp>
        <p:nvSpPr>
          <p:cNvPr id="33816" name="Text Box 24">
            <a:extLst>
              <a:ext uri="{FF2B5EF4-FFF2-40B4-BE49-F238E27FC236}">
                <a16:creationId xmlns:a16="http://schemas.microsoft.com/office/drawing/2014/main" id="{E738C477-0BAC-EF43-F360-FDF50E424E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1194" y="6531510"/>
            <a:ext cx="285954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0</a:t>
            </a:r>
          </a:p>
        </p:txBody>
      </p:sp>
      <p:sp>
        <p:nvSpPr>
          <p:cNvPr id="33817" name="Text Box 25">
            <a:extLst>
              <a:ext uri="{FF2B5EF4-FFF2-40B4-BE49-F238E27FC236}">
                <a16:creationId xmlns:a16="http://schemas.microsoft.com/office/drawing/2014/main" id="{53BC3577-29E6-C448-9837-DA8ED6FA9E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34221" y="2108200"/>
            <a:ext cx="869831" cy="808556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%</a:t>
            </a:r>
            <a:r>
              <a:rPr lang="en-GB" sz="1600" dirty="0" err="1">
                <a:latin typeface="Courier New" pitchFamily="49" charset="0"/>
                <a:ea typeface="msgothic" charset="0"/>
                <a:cs typeface="msgothic" charset="0"/>
              </a:rPr>
              <a:t>r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sp</a:t>
            </a: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 </a:t>
            </a: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(stack </a:t>
            </a: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pointer)</a:t>
            </a:r>
          </a:p>
        </p:txBody>
      </p:sp>
      <p:sp>
        <p:nvSpPr>
          <p:cNvPr id="33818" name="Line 26">
            <a:extLst>
              <a:ext uri="{FF2B5EF4-FFF2-40B4-BE49-F238E27FC236}">
                <a16:creationId xmlns:a16="http://schemas.microsoft.com/office/drawing/2014/main" id="{7D8080B1-3500-701B-A6CF-7C446275C9D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527834" y="2279650"/>
            <a:ext cx="384175" cy="1588"/>
          </a:xfrm>
          <a:prstGeom prst="line">
            <a:avLst/>
          </a:prstGeom>
          <a:noFill/>
          <a:ln w="324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3821" name="Text Box 29">
            <a:extLst>
              <a:ext uri="{FF2B5EF4-FFF2-40B4-BE49-F238E27FC236}">
                <a16:creationId xmlns:a16="http://schemas.microsoft.com/office/drawing/2014/main" id="{0272138B-A2A2-A2CE-B7DE-2ED4B2777C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88288" y="4173538"/>
            <a:ext cx="552052" cy="325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>
                <a:latin typeface="Courier New" pitchFamily="49" charset="0"/>
                <a:ea typeface="msgothic" charset="0"/>
                <a:cs typeface="msgothic" charset="0"/>
              </a:rPr>
              <a:t>brk</a:t>
            </a:r>
          </a:p>
        </p:txBody>
      </p:sp>
      <p:sp>
        <p:nvSpPr>
          <p:cNvPr id="33822" name="Line 30">
            <a:extLst>
              <a:ext uri="{FF2B5EF4-FFF2-40B4-BE49-F238E27FC236}">
                <a16:creationId xmlns:a16="http://schemas.microsoft.com/office/drawing/2014/main" id="{04D2300C-E40B-679A-CA20-50B28587E9D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504113" y="4340225"/>
            <a:ext cx="384175" cy="1588"/>
          </a:xfrm>
          <a:prstGeom prst="line">
            <a:avLst/>
          </a:prstGeom>
          <a:noFill/>
          <a:ln w="324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3824" name="Text Box 32">
            <a:extLst>
              <a:ext uri="{FF2B5EF4-FFF2-40B4-BE49-F238E27FC236}">
                <a16:creationId xmlns:a16="http://schemas.microsoft.com/office/drawing/2014/main" id="{29143945-D15E-94DD-D11E-342BBA524D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6172200"/>
            <a:ext cx="920542" cy="26994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200" b="1" dirty="0">
                <a:latin typeface="Courier New" pitchFamily="49" charset="0"/>
                <a:ea typeface="msgothic" charset="0"/>
                <a:cs typeface="msgothic" charset="0"/>
              </a:rPr>
              <a:t>0x400000</a:t>
            </a:r>
          </a:p>
        </p:txBody>
      </p:sp>
      <p:sp>
        <p:nvSpPr>
          <p:cNvPr id="33826" name="Rectangle 34">
            <a:extLst>
              <a:ext uri="{FF2B5EF4-FFF2-40B4-BE49-F238E27FC236}">
                <a16:creationId xmlns:a16="http://schemas.microsoft.com/office/drawing/2014/main" id="{357E24C3-975F-9FB3-91EB-38821978C9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6829" y="5017558"/>
            <a:ext cx="2789238" cy="66992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Read/write data segment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(.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data</a:t>
            </a: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, .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bss</a:t>
            </a: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)</a:t>
            </a:r>
          </a:p>
        </p:txBody>
      </p:sp>
      <p:sp>
        <p:nvSpPr>
          <p:cNvPr id="33827" name="Rectangle 35">
            <a:extLst>
              <a:ext uri="{FF2B5EF4-FFF2-40B4-BE49-F238E27FC236}">
                <a16:creationId xmlns:a16="http://schemas.microsoft.com/office/drawing/2014/main" id="{E101524B-DCA2-598C-4CEE-FF964E13AB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6829" y="5643033"/>
            <a:ext cx="2789238" cy="669925"/>
          </a:xfrm>
          <a:prstGeom prst="rect">
            <a:avLst/>
          </a:prstGeom>
          <a:solidFill>
            <a:srgbClr val="F6F5BD"/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Read-only code segment</a:t>
            </a:r>
          </a:p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(.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text</a:t>
            </a: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, 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.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rodata</a:t>
            </a: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)</a:t>
            </a:r>
          </a:p>
        </p:txBody>
      </p:sp>
      <p:sp>
        <p:nvSpPr>
          <p:cNvPr id="33828" name="AutoShape 36">
            <a:extLst>
              <a:ext uri="{FF2B5EF4-FFF2-40B4-BE49-F238E27FC236}">
                <a16:creationId xmlns:a16="http://schemas.microsoft.com/office/drawing/2014/main" id="{47C0D1B3-DDDB-94C6-7D43-792613F543DA}"/>
              </a:ext>
            </a:extLst>
          </p:cNvPr>
          <p:cNvSpPr>
            <a:spLocks/>
          </p:cNvSpPr>
          <p:nvPr/>
        </p:nvSpPr>
        <p:spPr bwMode="auto">
          <a:xfrm>
            <a:off x="7524750" y="5026025"/>
            <a:ext cx="76200" cy="1295400"/>
          </a:xfrm>
          <a:prstGeom prst="rightBrace">
            <a:avLst>
              <a:gd name="adj1" fmla="val 141667"/>
              <a:gd name="adj2" fmla="val 50000"/>
            </a:avLst>
          </a:prstGeom>
          <a:noFill/>
          <a:ln w="12600">
            <a:solidFill>
              <a:srgbClr val="000066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3829" name="Text Box 37">
            <a:extLst>
              <a:ext uri="{FF2B5EF4-FFF2-40B4-BE49-F238E27FC236}">
                <a16:creationId xmlns:a16="http://schemas.microsoft.com/office/drawing/2014/main" id="{A0B1D68A-DDF6-B7A3-C237-E6D00FEF86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7150" y="5010150"/>
            <a:ext cx="1149459" cy="130093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Loaded </a:t>
            </a: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from </a:t>
            </a: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the </a:t>
            </a: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executable </a:t>
            </a:r>
          </a:p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file</a:t>
            </a:r>
          </a:p>
        </p:txBody>
      </p:sp>
      <p:sp>
        <p:nvSpPr>
          <p:cNvPr id="39" name="Rectangle 5">
            <a:extLst>
              <a:ext uri="{FF2B5EF4-FFF2-40B4-BE49-F238E27FC236}">
                <a16:creationId xmlns:a16="http://schemas.microsoft.com/office/drawing/2014/main" id="{08D0F0DE-6F3C-990A-3DDB-7CFEDACA2D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646" y="2931922"/>
            <a:ext cx="2971800" cy="381000"/>
          </a:xfrm>
          <a:prstGeom prst="rect">
            <a:avLst/>
          </a:prstGeom>
          <a:solidFill>
            <a:srgbClr val="F6F5BD"/>
          </a:solidFill>
          <a:ln w="2556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.</a:t>
            </a:r>
            <a:r>
              <a:rPr lang="en-GB" sz="1600" b="1" dirty="0" err="1">
                <a:latin typeface="Calibri" pitchFamily="34" charset="0"/>
                <a:ea typeface="msgothic" charset="0"/>
                <a:cs typeface="msgothic" charset="0"/>
              </a:rPr>
              <a:t>rodata</a:t>
            </a: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 section</a:t>
            </a:r>
          </a:p>
        </p:txBody>
      </p:sp>
      <p:sp>
        <p:nvSpPr>
          <p:cNvPr id="40" name="Rectangle 10">
            <a:extLst>
              <a:ext uri="{FF2B5EF4-FFF2-40B4-BE49-F238E27FC236}">
                <a16:creationId xmlns:a16="http://schemas.microsoft.com/office/drawing/2014/main" id="{C0C7757F-570C-83A2-00E1-4EA58BC864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646" y="4836922"/>
            <a:ext cx="2971800" cy="381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56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.line</a:t>
            </a:r>
          </a:p>
        </p:txBody>
      </p:sp>
      <p:sp>
        <p:nvSpPr>
          <p:cNvPr id="42" name="Rectangle 10">
            <a:extLst>
              <a:ext uri="{FF2B5EF4-FFF2-40B4-BE49-F238E27FC236}">
                <a16:creationId xmlns:a16="http://schemas.microsoft.com/office/drawing/2014/main" id="{BA04E72B-3A7D-8B1B-4F6A-5EBC4D403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646" y="5217922"/>
            <a:ext cx="2971800" cy="381000"/>
          </a:xfrm>
          <a:prstGeom prst="rect">
            <a:avLst/>
          </a:prstGeom>
          <a:solidFill>
            <a:schemeClr val="bg1">
              <a:lumMod val="95000"/>
            </a:schemeClr>
          </a:solidFill>
          <a:ln w="2556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.</a:t>
            </a:r>
            <a:r>
              <a:rPr lang="en-GB" sz="1600" b="1" dirty="0" err="1">
                <a:latin typeface="Calibri" pitchFamily="34" charset="0"/>
                <a:ea typeface="msgothic" charset="0"/>
                <a:cs typeface="msgothic" charset="0"/>
              </a:rPr>
              <a:t>strtab</a:t>
            </a:r>
            <a:endParaRPr lang="en-GB" sz="1600" b="1" dirty="0">
              <a:latin typeface="Calibri" pitchFamily="34" charset="0"/>
              <a:ea typeface="msgothic" charset="0"/>
              <a:cs typeface="msgothic" charset="0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9CAC504-C490-9B08-4DB2-B02BF480D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92C60-C071-3249-9DBB-404B1D195F8C}" type="slidenum">
              <a:rPr lang="en-US" smtClean="0"/>
              <a:t>41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23CD57-740E-1894-C1B7-F5BC7E99D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66370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404813" y="436562"/>
            <a:ext cx="8716962" cy="782638"/>
          </a:xfrm>
          <a:ln/>
        </p:spPr>
        <p:txBody>
          <a:bodyPr>
            <a:normAutofit fontScale="90000"/>
          </a:bodyPr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Dynamic linking: Shared Libraries</a:t>
            </a:r>
          </a:p>
        </p:txBody>
      </p:sp>
      <p:sp>
        <p:nvSpPr>
          <p:cNvPr id="3584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96347" y="1295400"/>
            <a:ext cx="8307387" cy="5486400"/>
          </a:xfrm>
          <a:ln/>
        </p:spPr>
        <p:txBody>
          <a:bodyPr>
            <a:normAutofit/>
          </a:bodyPr>
          <a:lstStyle/>
          <a:p>
            <a:pPr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Dynamic linking can occur at program load-time 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Handled automatically by the dynamic linker (</a:t>
            </a:r>
            <a:r>
              <a:rPr lang="en-GB" b="1" dirty="0" err="1">
                <a:latin typeface="Courier New" pitchFamily="49" charset="0"/>
              </a:rPr>
              <a:t>ld-linux.so</a:t>
            </a:r>
            <a:r>
              <a:rPr lang="en-GB" dirty="0">
                <a:latin typeface="Courier New" pitchFamily="49" charset="0"/>
              </a:rPr>
              <a:t>)</a:t>
            </a:r>
            <a:r>
              <a:rPr lang="en-GB" dirty="0"/>
              <a:t>.</a:t>
            </a:r>
          </a:p>
          <a:p>
            <a:pPr lvl="1"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Standard C library (</a:t>
            </a:r>
            <a:r>
              <a:rPr lang="en-GB" b="1" dirty="0" err="1">
                <a:latin typeface="Courier New" pitchFamily="49" charset="0"/>
              </a:rPr>
              <a:t>libc.so</a:t>
            </a:r>
            <a:r>
              <a:rPr lang="en-GB" dirty="0"/>
              <a:t>) usually dynamically linked. </a:t>
            </a:r>
          </a:p>
          <a:p>
            <a:pPr>
              <a:spcBef>
                <a:spcPts val="1800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Dynamic linking can also occur at run-time. </a:t>
            </a:r>
          </a:p>
          <a:p>
            <a:pPr lvl="1">
              <a:spcBef>
                <a:spcPts val="1800"/>
              </a:spcBef>
              <a:tabLst>
                <a:tab pos="319088" algn="l"/>
                <a:tab pos="846138" algn="l"/>
                <a:tab pos="1760538" algn="l"/>
                <a:tab pos="2674938" algn="l"/>
                <a:tab pos="3589338" algn="l"/>
                <a:tab pos="4503738" algn="l"/>
                <a:tab pos="5418138" algn="l"/>
                <a:tab pos="6332538" algn="l"/>
                <a:tab pos="7246938" algn="l"/>
                <a:tab pos="8161338" algn="l"/>
                <a:tab pos="9075738" algn="l"/>
                <a:tab pos="9990138" algn="l"/>
              </a:tabLst>
            </a:pPr>
            <a:r>
              <a:rPr lang="en-GB" dirty="0"/>
              <a:t>In Linux, this is done by </a:t>
            </a:r>
            <a:r>
              <a:rPr lang="en-GB" b="1" dirty="0" err="1">
                <a:latin typeface="Courier New" pitchFamily="49" charset="0"/>
              </a:rPr>
              <a:t>dlopen</a:t>
            </a:r>
            <a:r>
              <a:rPr lang="en-GB" dirty="0">
                <a:latin typeface="Courier New" pitchFamily="49" charset="0"/>
              </a:rPr>
              <a:t>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C12F432-8CBF-4FEB-A784-118144C79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92C60-C071-3249-9DBB-404B1D195F8C}" type="slidenum">
              <a:rPr lang="en-US" smtClean="0"/>
              <a:t>42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1501EB-FBA1-44CF-8B9C-C7AE174F5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33059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1"/>
          <p:cNvSpPr>
            <a:spLocks noGrp="1" noChangeArrowheads="1"/>
          </p:cNvSpPr>
          <p:nvPr>
            <p:ph type="title" idx="4294967295"/>
          </p:nvPr>
        </p:nvSpPr>
        <p:spPr>
          <a:xfrm>
            <a:off x="350838" y="285750"/>
            <a:ext cx="8716962" cy="781050"/>
          </a:xfrm>
          <a:ln/>
        </p:spPr>
        <p:txBody>
          <a:bodyPr/>
          <a:lstStyle/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/>
              <a:t>Dynamic Linking at Load-time</a:t>
            </a:r>
          </a:p>
        </p:txBody>
      </p:sp>
      <p:sp>
        <p:nvSpPr>
          <p:cNvPr id="36866" name="Line 2"/>
          <p:cNvSpPr>
            <a:spLocks noChangeShapeType="1"/>
          </p:cNvSpPr>
          <p:nvPr/>
        </p:nvSpPr>
        <p:spPr bwMode="auto">
          <a:xfrm>
            <a:off x="2620963" y="1247500"/>
            <a:ext cx="1587" cy="381000"/>
          </a:xfrm>
          <a:prstGeom prst="line">
            <a:avLst/>
          </a:prstGeom>
          <a:noFill/>
          <a:ln w="324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6867" name="Rectangle 3"/>
          <p:cNvSpPr>
            <a:spLocks noChangeArrowheads="1"/>
          </p:cNvSpPr>
          <p:nvPr/>
        </p:nvSpPr>
        <p:spPr bwMode="auto">
          <a:xfrm>
            <a:off x="2454275" y="1657075"/>
            <a:ext cx="1676400" cy="33154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360" tIns="44280" rIns="90360" bIns="44280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compile</a:t>
            </a:r>
          </a:p>
        </p:txBody>
      </p:sp>
      <p:sp>
        <p:nvSpPr>
          <p:cNvPr id="36868" name="Text Box 4"/>
          <p:cNvSpPr txBox="1">
            <a:spLocks noChangeArrowheads="1"/>
          </p:cNvSpPr>
          <p:nvPr/>
        </p:nvSpPr>
        <p:spPr bwMode="auto">
          <a:xfrm>
            <a:off x="2143830" y="1010963"/>
            <a:ext cx="920542" cy="328424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main.c</a:t>
            </a:r>
            <a:endParaRPr lang="en-GB" sz="1600" b="1" dirty="0">
              <a:latin typeface="Courier New" pitchFamily="49" charset="0"/>
              <a:ea typeface="msgothic" charset="0"/>
              <a:cs typeface="msgothic" charset="0"/>
            </a:endParaRPr>
          </a:p>
        </p:txBody>
      </p:sp>
      <p:sp>
        <p:nvSpPr>
          <p:cNvPr id="36869" name="Text Box 5"/>
          <p:cNvSpPr txBox="1">
            <a:spLocks noChangeArrowheads="1"/>
          </p:cNvSpPr>
          <p:nvPr/>
        </p:nvSpPr>
        <p:spPr bwMode="auto">
          <a:xfrm>
            <a:off x="2820105" y="2568300"/>
            <a:ext cx="920542" cy="328424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main.o</a:t>
            </a:r>
            <a:endParaRPr lang="en-GB" sz="1600" b="1" dirty="0">
              <a:latin typeface="Courier New" pitchFamily="49" charset="0"/>
              <a:ea typeface="msgothic" charset="0"/>
              <a:cs typeface="msgothic" charset="0"/>
            </a:endParaRPr>
          </a:p>
        </p:txBody>
      </p:sp>
      <p:sp>
        <p:nvSpPr>
          <p:cNvPr id="36870" name="Line 6"/>
          <p:cNvSpPr>
            <a:spLocks noChangeShapeType="1"/>
          </p:cNvSpPr>
          <p:nvPr/>
        </p:nvSpPr>
        <p:spPr bwMode="auto">
          <a:xfrm>
            <a:off x="3292475" y="2238100"/>
            <a:ext cx="1588" cy="381000"/>
          </a:xfrm>
          <a:prstGeom prst="line">
            <a:avLst/>
          </a:prstGeom>
          <a:noFill/>
          <a:ln w="324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6871" name="Text Box 7"/>
          <p:cNvSpPr txBox="1">
            <a:spLocks noChangeArrowheads="1"/>
          </p:cNvSpPr>
          <p:nvPr/>
        </p:nvSpPr>
        <p:spPr bwMode="auto">
          <a:xfrm>
            <a:off x="4422644" y="1949175"/>
            <a:ext cx="1536195" cy="55987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libc.so</a:t>
            </a:r>
            <a:endParaRPr lang="en-GB" sz="1600" b="1" dirty="0">
              <a:latin typeface="Courier New" pitchFamily="49" charset="0"/>
              <a:ea typeface="msgothic" charset="0"/>
              <a:cs typeface="msgothic" charset="0"/>
            </a:endParaRPr>
          </a:p>
          <a:p>
            <a:pPr algn="ctr"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libmysum.so</a:t>
            </a:r>
            <a:endParaRPr lang="en-GB" sz="1600" b="1" dirty="0">
              <a:latin typeface="Courier New" pitchFamily="49" charset="0"/>
              <a:ea typeface="msgothic" charset="0"/>
              <a:cs typeface="msgothic" charset="0"/>
            </a:endParaRPr>
          </a:p>
        </p:txBody>
      </p:sp>
      <p:sp>
        <p:nvSpPr>
          <p:cNvPr id="36872" name="Rectangle 8"/>
          <p:cNvSpPr>
            <a:spLocks noChangeArrowheads="1"/>
          </p:cNvSpPr>
          <p:nvPr/>
        </p:nvSpPr>
        <p:spPr bwMode="auto">
          <a:xfrm>
            <a:off x="2454275" y="3225525"/>
            <a:ext cx="3028950" cy="3413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360" tIns="44280" rIns="90360" bIns="44280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Linker (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ld</a:t>
            </a: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)</a:t>
            </a:r>
          </a:p>
        </p:txBody>
      </p:sp>
      <p:sp>
        <p:nvSpPr>
          <p:cNvPr id="36873" name="Text Box 9"/>
          <p:cNvSpPr txBox="1">
            <a:spLocks noChangeArrowheads="1"/>
          </p:cNvSpPr>
          <p:nvPr/>
        </p:nvSpPr>
        <p:spPr bwMode="auto">
          <a:xfrm>
            <a:off x="2857257" y="3974825"/>
            <a:ext cx="797411" cy="328424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a.out</a:t>
            </a:r>
            <a:endParaRPr lang="en-GB" sz="1600" b="1" dirty="0">
              <a:latin typeface="Courier New" pitchFamily="49" charset="0"/>
              <a:ea typeface="msgothic" charset="0"/>
              <a:cs typeface="msgothic" charset="0"/>
            </a:endParaRPr>
          </a:p>
        </p:txBody>
      </p:sp>
      <p:sp>
        <p:nvSpPr>
          <p:cNvPr id="36874" name="Line 10"/>
          <p:cNvSpPr>
            <a:spLocks noChangeShapeType="1"/>
          </p:cNvSpPr>
          <p:nvPr/>
        </p:nvSpPr>
        <p:spPr bwMode="auto">
          <a:xfrm>
            <a:off x="3292475" y="3609700"/>
            <a:ext cx="1588" cy="381000"/>
          </a:xfrm>
          <a:prstGeom prst="line">
            <a:avLst/>
          </a:prstGeom>
          <a:noFill/>
          <a:ln w="324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6875" name="Line 11"/>
          <p:cNvSpPr>
            <a:spLocks noChangeShapeType="1"/>
          </p:cNvSpPr>
          <p:nvPr/>
        </p:nvSpPr>
        <p:spPr bwMode="auto">
          <a:xfrm>
            <a:off x="3292475" y="4295500"/>
            <a:ext cx="1588" cy="457200"/>
          </a:xfrm>
          <a:prstGeom prst="line">
            <a:avLst/>
          </a:prstGeom>
          <a:noFill/>
          <a:ln w="324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6876" name="Rectangle 12"/>
          <p:cNvSpPr>
            <a:spLocks noChangeArrowheads="1"/>
          </p:cNvSpPr>
          <p:nvPr/>
        </p:nvSpPr>
        <p:spPr bwMode="auto">
          <a:xfrm>
            <a:off x="2454275" y="6124300"/>
            <a:ext cx="3200400" cy="3413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360" tIns="44280" rIns="90360" bIns="44280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Dynamic linker (</a:t>
            </a:r>
            <a:r>
              <a:rPr lang="en-GB" sz="1600" b="1" dirty="0">
                <a:latin typeface="Courier New" pitchFamily="49" charset="0"/>
                <a:ea typeface="msgothic" charset="0"/>
                <a:cs typeface="msgothic" charset="0"/>
              </a:rPr>
              <a:t>ld-linux.so</a:t>
            </a: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)</a:t>
            </a:r>
          </a:p>
        </p:txBody>
      </p:sp>
      <p:sp>
        <p:nvSpPr>
          <p:cNvPr id="36877" name="Line 13"/>
          <p:cNvSpPr>
            <a:spLocks noChangeShapeType="1"/>
          </p:cNvSpPr>
          <p:nvPr/>
        </p:nvSpPr>
        <p:spPr bwMode="auto">
          <a:xfrm>
            <a:off x="3292475" y="5133700"/>
            <a:ext cx="1588" cy="990600"/>
          </a:xfrm>
          <a:prstGeom prst="line">
            <a:avLst/>
          </a:prstGeom>
          <a:noFill/>
          <a:ln w="324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6878" name="Line 14"/>
          <p:cNvSpPr>
            <a:spLocks noChangeShapeType="1"/>
          </p:cNvSpPr>
          <p:nvPr/>
        </p:nvSpPr>
        <p:spPr bwMode="auto">
          <a:xfrm>
            <a:off x="3292475" y="2847700"/>
            <a:ext cx="1588" cy="381000"/>
          </a:xfrm>
          <a:prstGeom prst="line">
            <a:avLst/>
          </a:prstGeom>
          <a:noFill/>
          <a:ln w="324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6879" name="Text Box 15"/>
          <p:cNvSpPr txBox="1">
            <a:spLocks noChangeArrowheads="1"/>
          </p:cNvSpPr>
          <p:nvPr/>
        </p:nvSpPr>
        <p:spPr bwMode="auto">
          <a:xfrm>
            <a:off x="5254625" y="2542900"/>
            <a:ext cx="2609850" cy="57708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msgothic" charset="0"/>
                <a:cs typeface="msgothic" charset="0"/>
              </a:rPr>
              <a:t>Relocation and symbol  table info</a:t>
            </a:r>
          </a:p>
        </p:txBody>
      </p:sp>
      <p:sp>
        <p:nvSpPr>
          <p:cNvPr id="36880" name="Line 16"/>
          <p:cNvSpPr>
            <a:spLocks noChangeShapeType="1"/>
          </p:cNvSpPr>
          <p:nvPr/>
        </p:nvSpPr>
        <p:spPr bwMode="auto">
          <a:xfrm>
            <a:off x="5180013" y="2542900"/>
            <a:ext cx="1587" cy="685800"/>
          </a:xfrm>
          <a:prstGeom prst="line">
            <a:avLst/>
          </a:prstGeom>
          <a:noFill/>
          <a:ln w="324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6881" name="Text Box 17"/>
          <p:cNvSpPr txBox="1">
            <a:spLocks noChangeArrowheads="1"/>
          </p:cNvSpPr>
          <p:nvPr/>
        </p:nvSpPr>
        <p:spPr bwMode="auto">
          <a:xfrm>
            <a:off x="4416294" y="4844775"/>
            <a:ext cx="1536195" cy="55987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libc.so</a:t>
            </a:r>
            <a:endParaRPr lang="en-GB" sz="1600" b="1" dirty="0">
              <a:latin typeface="Courier New" pitchFamily="49" charset="0"/>
              <a:ea typeface="msgothic" charset="0"/>
              <a:cs typeface="msgothic" charset="0"/>
            </a:endParaRPr>
          </a:p>
          <a:p>
            <a:pPr algn="ctr"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 err="1">
                <a:latin typeface="Courier New" pitchFamily="49" charset="0"/>
                <a:ea typeface="msgothic" charset="0"/>
                <a:cs typeface="msgothic" charset="0"/>
              </a:rPr>
              <a:t>l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ibmysum.so</a:t>
            </a:r>
            <a:endParaRPr lang="en-GB" sz="1600" b="1" dirty="0">
              <a:latin typeface="Courier New" pitchFamily="49" charset="0"/>
              <a:ea typeface="msgothic" charset="0"/>
              <a:cs typeface="msgothic" charset="0"/>
            </a:endParaRPr>
          </a:p>
        </p:txBody>
      </p:sp>
      <p:sp>
        <p:nvSpPr>
          <p:cNvPr id="36882" name="Text Box 18"/>
          <p:cNvSpPr txBox="1">
            <a:spLocks noChangeArrowheads="1"/>
          </p:cNvSpPr>
          <p:nvPr/>
        </p:nvSpPr>
        <p:spPr bwMode="auto">
          <a:xfrm>
            <a:off x="5254625" y="5559150"/>
            <a:ext cx="1771650" cy="335799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itchFamily="34" charset="0"/>
                <a:ea typeface="msgothic" charset="0"/>
                <a:cs typeface="msgothic" charset="0"/>
              </a:rPr>
              <a:t>Code and data</a:t>
            </a:r>
          </a:p>
        </p:txBody>
      </p:sp>
      <p:sp>
        <p:nvSpPr>
          <p:cNvPr id="36883" name="Line 19"/>
          <p:cNvSpPr>
            <a:spLocks noChangeShapeType="1"/>
          </p:cNvSpPr>
          <p:nvPr/>
        </p:nvSpPr>
        <p:spPr bwMode="auto">
          <a:xfrm>
            <a:off x="5173663" y="5438500"/>
            <a:ext cx="1587" cy="685800"/>
          </a:xfrm>
          <a:prstGeom prst="line">
            <a:avLst/>
          </a:prstGeom>
          <a:noFill/>
          <a:ln w="324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6884" name="Text Box 20"/>
          <p:cNvSpPr txBox="1">
            <a:spLocks noChangeArrowheads="1"/>
          </p:cNvSpPr>
          <p:nvPr/>
        </p:nvSpPr>
        <p:spPr bwMode="auto">
          <a:xfrm>
            <a:off x="-228600" y="3873224"/>
            <a:ext cx="2514600" cy="57708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algn="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i="1" dirty="0">
                <a:solidFill>
                  <a:srgbClr val="990000"/>
                </a:solidFill>
                <a:latin typeface="Calibri" pitchFamily="34" charset="0"/>
                <a:ea typeface="msgothic" charset="0"/>
                <a:cs typeface="msgothic" charset="0"/>
              </a:rPr>
              <a:t>Partially linked </a:t>
            </a:r>
          </a:p>
          <a:p>
            <a:pPr algn="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i="1" dirty="0">
                <a:solidFill>
                  <a:srgbClr val="990000"/>
                </a:solidFill>
                <a:latin typeface="Calibri" pitchFamily="34" charset="0"/>
                <a:ea typeface="msgothic" charset="0"/>
                <a:cs typeface="msgothic" charset="0"/>
              </a:rPr>
              <a:t>executable object file</a:t>
            </a:r>
          </a:p>
        </p:txBody>
      </p:sp>
      <p:sp>
        <p:nvSpPr>
          <p:cNvPr id="36885" name="Text Box 21"/>
          <p:cNvSpPr txBox="1">
            <a:spLocks noChangeArrowheads="1"/>
          </p:cNvSpPr>
          <p:nvPr/>
        </p:nvSpPr>
        <p:spPr bwMode="auto">
          <a:xfrm>
            <a:off x="914400" y="2451355"/>
            <a:ext cx="1371600" cy="57708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algn="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i="1" dirty="0" err="1">
                <a:solidFill>
                  <a:srgbClr val="990000"/>
                </a:solidFill>
                <a:latin typeface="Calibri" pitchFamily="34" charset="0"/>
                <a:ea typeface="msgothic" charset="0"/>
                <a:cs typeface="msgothic" charset="0"/>
              </a:rPr>
              <a:t>Relocatable</a:t>
            </a:r>
            <a:endParaRPr lang="en-GB" sz="1600" b="1" i="1" dirty="0">
              <a:solidFill>
                <a:srgbClr val="990000"/>
              </a:solidFill>
              <a:latin typeface="Calibri" pitchFamily="34" charset="0"/>
              <a:ea typeface="msgothic" charset="0"/>
              <a:cs typeface="msgothic" charset="0"/>
            </a:endParaRPr>
          </a:p>
          <a:p>
            <a:pPr algn="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i="1" dirty="0">
                <a:solidFill>
                  <a:srgbClr val="990000"/>
                </a:solidFill>
                <a:latin typeface="Calibri" pitchFamily="34" charset="0"/>
                <a:ea typeface="msgothic" charset="0"/>
                <a:cs typeface="msgothic" charset="0"/>
              </a:rPr>
              <a:t>object file</a:t>
            </a:r>
          </a:p>
        </p:txBody>
      </p:sp>
      <p:sp>
        <p:nvSpPr>
          <p:cNvPr id="36886" name="Text Box 22"/>
          <p:cNvSpPr txBox="1">
            <a:spLocks noChangeArrowheads="1"/>
          </p:cNvSpPr>
          <p:nvPr/>
        </p:nvSpPr>
        <p:spPr bwMode="auto">
          <a:xfrm>
            <a:off x="533400" y="5887233"/>
            <a:ext cx="1752600" cy="818367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algn="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i="1" dirty="0">
                <a:solidFill>
                  <a:srgbClr val="990000"/>
                </a:solidFill>
                <a:latin typeface="Calibri" pitchFamily="34" charset="0"/>
                <a:ea typeface="msgothic" charset="0"/>
                <a:cs typeface="msgothic" charset="0"/>
              </a:rPr>
              <a:t>Fully linked </a:t>
            </a:r>
          </a:p>
          <a:p>
            <a:pPr algn="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i="1" dirty="0">
                <a:solidFill>
                  <a:srgbClr val="990000"/>
                </a:solidFill>
                <a:latin typeface="Calibri" pitchFamily="34" charset="0"/>
                <a:ea typeface="msgothic" charset="0"/>
                <a:cs typeface="msgothic" charset="0"/>
              </a:rPr>
              <a:t>executable</a:t>
            </a:r>
          </a:p>
          <a:p>
            <a:pPr algn="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i="1" dirty="0">
                <a:solidFill>
                  <a:srgbClr val="990000"/>
                </a:solidFill>
                <a:latin typeface="Calibri" pitchFamily="34" charset="0"/>
                <a:ea typeface="msgothic" charset="0"/>
                <a:cs typeface="msgothic" charset="0"/>
              </a:rPr>
              <a:t>in memory</a:t>
            </a:r>
          </a:p>
        </p:txBody>
      </p:sp>
      <p:sp>
        <p:nvSpPr>
          <p:cNvPr id="36887" name="Line 23"/>
          <p:cNvSpPr>
            <a:spLocks noChangeShapeType="1"/>
          </p:cNvSpPr>
          <p:nvPr/>
        </p:nvSpPr>
        <p:spPr bwMode="auto">
          <a:xfrm>
            <a:off x="3783013" y="1247500"/>
            <a:ext cx="1587" cy="381000"/>
          </a:xfrm>
          <a:prstGeom prst="line">
            <a:avLst/>
          </a:prstGeom>
          <a:noFill/>
          <a:ln w="3240">
            <a:solidFill>
              <a:srgbClr val="000066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36888" name="Text Box 24"/>
          <p:cNvSpPr txBox="1">
            <a:spLocks noChangeArrowheads="1"/>
          </p:cNvSpPr>
          <p:nvPr/>
        </p:nvSpPr>
        <p:spPr bwMode="auto">
          <a:xfrm>
            <a:off x="3370423" y="1010963"/>
            <a:ext cx="797411" cy="328424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 algn="ctr"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dirty="0" err="1">
                <a:latin typeface="Courier New" pitchFamily="49" charset="0"/>
                <a:ea typeface="msgothic" charset="0"/>
                <a:cs typeface="msgothic" charset="0"/>
              </a:rPr>
              <a:t>sum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.h</a:t>
            </a:r>
            <a:endParaRPr lang="en-GB" sz="1600" b="1" dirty="0">
              <a:latin typeface="Courier New" pitchFamily="49" charset="0"/>
              <a:ea typeface="msgothic" charset="0"/>
              <a:cs typeface="msgothic" charset="0"/>
            </a:endParaRPr>
          </a:p>
        </p:txBody>
      </p:sp>
      <p:sp>
        <p:nvSpPr>
          <p:cNvPr id="36889" name="Rectangle 25"/>
          <p:cNvSpPr>
            <a:spLocks noChangeArrowheads="1"/>
          </p:cNvSpPr>
          <p:nvPr/>
        </p:nvSpPr>
        <p:spPr bwMode="auto">
          <a:xfrm>
            <a:off x="2454275" y="4749525"/>
            <a:ext cx="1657350" cy="574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24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lIns="90360" tIns="44280" rIns="90360" bIns="44280">
            <a:spAutoFit/>
          </a:bodyPr>
          <a:lstStyle/>
          <a:p>
            <a:pPr algn="ctr">
              <a:lnSpc>
                <a:spcPct val="98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Loader (</a:t>
            </a:r>
            <a:r>
              <a:rPr lang="en-GB" sz="1600" b="1" dirty="0" err="1">
                <a:latin typeface="Courier New" pitchFamily="49" charset="0"/>
                <a:ea typeface="msgothic" charset="0"/>
                <a:cs typeface="msgothic" charset="0"/>
              </a:rPr>
              <a:t>execve</a:t>
            </a:r>
            <a:r>
              <a:rPr lang="en-GB" sz="1600" b="1" dirty="0">
                <a:latin typeface="Calibri" pitchFamily="34" charset="0"/>
                <a:ea typeface="msgothic" charset="0"/>
                <a:cs typeface="msgothic" charset="0"/>
              </a:rPr>
              <a:t>)</a:t>
            </a:r>
          </a:p>
        </p:txBody>
      </p:sp>
      <p:sp>
        <p:nvSpPr>
          <p:cNvPr id="36890" name="Text Box 26"/>
          <p:cNvSpPr txBox="1">
            <a:spLocks noChangeArrowheads="1"/>
          </p:cNvSpPr>
          <p:nvPr/>
        </p:nvSpPr>
        <p:spPr bwMode="auto">
          <a:xfrm>
            <a:off x="4343400" y="1047475"/>
            <a:ext cx="4368200" cy="559872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lIns="90000" tIns="46800" rIns="90000" bIns="46800">
            <a:spAutoFit/>
          </a:bodyPr>
          <a:lstStyle/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 err="1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unix</a:t>
            </a:r>
            <a:r>
              <a:rPr lang="en-GB" sz="1600" b="1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&gt; </a:t>
            </a:r>
            <a:r>
              <a:rPr lang="en-GB" sz="1600" b="1" dirty="0" err="1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gcc</a:t>
            </a:r>
            <a:r>
              <a:rPr lang="en-GB" sz="1600" b="1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 -shared -o </a:t>
            </a:r>
            <a:r>
              <a:rPr lang="en-GB" sz="1600" b="1" dirty="0" err="1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libmysum.so</a:t>
            </a:r>
            <a:r>
              <a:rPr lang="en-GB" sz="1600" b="1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 \</a:t>
            </a:r>
          </a:p>
          <a:p>
            <a:pPr>
              <a:lnSpc>
                <a:spcPct val="94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1600" b="1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     </a:t>
            </a:r>
            <a:r>
              <a:rPr lang="en-GB" sz="1600" dirty="0" err="1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sum</a:t>
            </a:r>
            <a:r>
              <a:rPr lang="en-GB" sz="1600" b="1" dirty="0" err="1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.c</a:t>
            </a:r>
            <a:r>
              <a:rPr lang="en-GB" sz="1600" b="1" dirty="0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 </a:t>
            </a:r>
            <a:r>
              <a:rPr lang="en-GB" sz="1600" b="1" dirty="0" err="1">
                <a:solidFill>
                  <a:srgbClr val="990000"/>
                </a:solidFill>
                <a:latin typeface="Courier New" pitchFamily="49" charset="0"/>
                <a:ea typeface="msgothic" charset="0"/>
                <a:cs typeface="msgothic" charset="0"/>
              </a:rPr>
              <a:t>myotherfunctions.c</a:t>
            </a:r>
            <a:endParaRPr lang="en-GB" sz="1600" b="1" dirty="0">
              <a:solidFill>
                <a:srgbClr val="990000"/>
              </a:solidFill>
              <a:latin typeface="Courier New" pitchFamily="49" charset="0"/>
              <a:ea typeface="msgothic" charset="0"/>
              <a:cs typeface="msgothic" charset="0"/>
            </a:endParaRPr>
          </a:p>
        </p:txBody>
      </p:sp>
      <p:sp>
        <p:nvSpPr>
          <p:cNvPr id="36891" name="Line 27"/>
          <p:cNvSpPr>
            <a:spLocks noChangeShapeType="1"/>
          </p:cNvSpPr>
          <p:nvPr/>
        </p:nvSpPr>
        <p:spPr bwMode="auto">
          <a:xfrm flipH="1">
            <a:off x="5715000" y="1574799"/>
            <a:ext cx="460375" cy="609600"/>
          </a:xfrm>
          <a:prstGeom prst="line">
            <a:avLst/>
          </a:prstGeom>
          <a:noFill/>
          <a:ln w="25560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F4EB026-139D-424F-9EE2-765DE2D48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592C60-C071-3249-9DBB-404B1D195F8C}" type="slidenum">
              <a:rPr lang="en-US" smtClean="0"/>
              <a:t>43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60331C-41C4-4A5D-BA7B-E52575323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3714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4879</TotalTime>
  <Words>3386</Words>
  <Application>Microsoft Macintosh PowerPoint</Application>
  <PresentationFormat>On-screen Show (4:3)</PresentationFormat>
  <Paragraphs>660</Paragraphs>
  <Slides>43</Slides>
  <Notes>38</Notes>
  <HiddenSlides>3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2" baseType="lpstr">
      <vt:lpstr>Arial</vt:lpstr>
      <vt:lpstr>Calibri</vt:lpstr>
      <vt:lpstr>Consolas</vt:lpstr>
      <vt:lpstr>Corbel</vt:lpstr>
      <vt:lpstr>Courier New</vt:lpstr>
      <vt:lpstr>Menlo-Regular</vt:lpstr>
      <vt:lpstr>Tahoma</vt:lpstr>
      <vt:lpstr>Wingdings</vt:lpstr>
      <vt:lpstr>Office Theme</vt:lpstr>
      <vt:lpstr>Code optimization </vt:lpstr>
      <vt:lpstr>What we’ve learnt so far</vt:lpstr>
      <vt:lpstr>What we’ve learnt so far</vt:lpstr>
      <vt:lpstr>Lesson plan</vt:lpstr>
      <vt:lpstr>Optimizing Compilers</vt:lpstr>
      <vt:lpstr>Common optimization: code motion</vt:lpstr>
      <vt:lpstr>Common Optimization:  use simpler instructions</vt:lpstr>
      <vt:lpstr>Common Optimization:  reuse common sub-expressions</vt:lpstr>
      <vt:lpstr>Common Optimization:  reuse common sub-expressions</vt:lpstr>
      <vt:lpstr>What prevents optimization?</vt:lpstr>
      <vt:lpstr>Optimization obstacle #1:  Procedure Calls</vt:lpstr>
      <vt:lpstr>Lower Case Conversion Performance</vt:lpstr>
      <vt:lpstr>Calling strlen in loop</vt:lpstr>
      <vt:lpstr>Calling strlen in loop</vt:lpstr>
      <vt:lpstr>Lower Case Conversion Performance</vt:lpstr>
      <vt:lpstr>Optimization obstacle:  Procedure Calls</vt:lpstr>
      <vt:lpstr>Optimization obstacle 2: Memory aliasing</vt:lpstr>
      <vt:lpstr>Memory aliasing: different pointers may point to the same location</vt:lpstr>
      <vt:lpstr>Optimization obstacle:  memory aliasing</vt:lpstr>
      <vt:lpstr>Getting High Performance</vt:lpstr>
      <vt:lpstr>Summary</vt:lpstr>
      <vt:lpstr>The rest of the slides are optional</vt:lpstr>
      <vt:lpstr>Lesson plan</vt:lpstr>
      <vt:lpstr>Example C Program</vt:lpstr>
      <vt:lpstr>Linking</vt:lpstr>
      <vt:lpstr>Why a separate link phase?</vt:lpstr>
      <vt:lpstr>How does linker merge object files?</vt:lpstr>
      <vt:lpstr>How does linker merge object files?</vt:lpstr>
      <vt:lpstr>Format of the object files</vt:lpstr>
      <vt:lpstr>ELF Object File Format</vt:lpstr>
      <vt:lpstr>ELF Object File Format (cont.)</vt:lpstr>
      <vt:lpstr>Linker Symbols</vt:lpstr>
      <vt:lpstr>Step 1: Symbol Resolution</vt:lpstr>
      <vt:lpstr>C linker quirks: it allows symbol name collision!</vt:lpstr>
      <vt:lpstr>Symbol resolution in the face of name collision</vt:lpstr>
      <vt:lpstr>Linker Puzzles</vt:lpstr>
      <vt:lpstr>How to avoid symbol resolution confusion</vt:lpstr>
      <vt:lpstr>Step 2: Relocation</vt:lpstr>
      <vt:lpstr>Relocation Entries</vt:lpstr>
      <vt:lpstr>Relocated .text section</vt:lpstr>
      <vt:lpstr>Loading Executable Object Files</vt:lpstr>
      <vt:lpstr>Dynamic linking: Shared Libraries</vt:lpstr>
      <vt:lpstr>Dynamic Linking at Load-time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Jinyang Li</dc:creator>
  <cp:lastModifiedBy>Jinyang Li</cp:lastModifiedBy>
  <cp:revision>247</cp:revision>
  <dcterms:created xsi:type="dcterms:W3CDTF">2018-03-18T03:12:26Z</dcterms:created>
  <dcterms:modified xsi:type="dcterms:W3CDTF">2026-10-28T17:24:47Z</dcterms:modified>
</cp:coreProperties>
</file>