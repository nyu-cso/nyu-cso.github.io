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8"/>
  </p:notesMasterIdLst>
  <p:handoutMasterIdLst>
    <p:handoutMasterId r:id="rId39"/>
  </p:handoutMasterIdLst>
  <p:sldIdLst>
    <p:sldId id="256" r:id="rId2"/>
    <p:sldId id="1089" r:id="rId3"/>
    <p:sldId id="1093" r:id="rId4"/>
    <p:sldId id="1129" r:id="rId5"/>
    <p:sldId id="954" r:id="rId6"/>
    <p:sldId id="1153" r:id="rId7"/>
    <p:sldId id="1025" r:id="rId8"/>
    <p:sldId id="1115" r:id="rId9"/>
    <p:sldId id="1116" r:id="rId10"/>
    <p:sldId id="1118" r:id="rId11"/>
    <p:sldId id="1152" r:id="rId12"/>
    <p:sldId id="1154" r:id="rId13"/>
    <p:sldId id="1161" r:id="rId14"/>
    <p:sldId id="1119" r:id="rId15"/>
    <p:sldId id="1120" r:id="rId16"/>
    <p:sldId id="1123" r:id="rId17"/>
    <p:sldId id="1164" r:id="rId18"/>
    <p:sldId id="1131" r:id="rId19"/>
    <p:sldId id="1132" r:id="rId20"/>
    <p:sldId id="1133" r:id="rId21"/>
    <p:sldId id="1134" r:id="rId22"/>
    <p:sldId id="1135" r:id="rId23"/>
    <p:sldId id="1136" r:id="rId24"/>
    <p:sldId id="1138" r:id="rId25"/>
    <p:sldId id="966" r:id="rId26"/>
    <p:sldId id="1196" r:id="rId27"/>
    <p:sldId id="1197" r:id="rId28"/>
    <p:sldId id="1198" r:id="rId29"/>
    <p:sldId id="1199" r:id="rId30"/>
    <p:sldId id="1200" r:id="rId31"/>
    <p:sldId id="1155" r:id="rId32"/>
    <p:sldId id="1139" r:id="rId33"/>
    <p:sldId id="1140" r:id="rId34"/>
    <p:sldId id="1143" r:id="rId35"/>
    <p:sldId id="1157" r:id="rId36"/>
    <p:sldId id="120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66"/>
    <a:srgbClr val="FCD5B5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C1F13C-0F2F-3040-A169-6772F606462C}" v="15" dt="2026-02-04T17:55:52.6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538" autoAdjust="0"/>
    <p:restoredTop sz="95448" autoAdjust="0"/>
  </p:normalViewPr>
  <p:slideViewPr>
    <p:cSldViewPr snapToGrid="0" snapToObjects="1">
      <p:cViewPr varScale="1">
        <p:scale>
          <a:sx n="88" d="100"/>
          <a:sy n="88" d="100"/>
        </p:scale>
        <p:origin x="200" y="7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112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197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950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60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>
            <a:noAutofit/>
          </a:bodyPr>
          <a:lstStyle>
            <a:lvl1pPr algn="l">
              <a:defRPr sz="4000" b="1" cap="all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2026/2/4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C:</a:t>
            </a:r>
            <a:r>
              <a:rPr lang="zh-CN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zh-CN" alt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en-US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Pointers and Arrays</a:t>
            </a:r>
            <a:endParaRPr lang="en-US" sz="4800" b="0" dirty="0">
              <a:solidFill>
                <a:schemeClr val="tx1"/>
              </a:solidFill>
              <a:latin typeface="+mj-lt"/>
              <a:ea typeface="Verdana" pitchFamily="34" charset="0"/>
              <a:cs typeface="Consolas" pitchFamily="49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dirty="0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xmlns:p14="http://schemas.microsoft.com/office/powerpoint/2010/main"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F8ECD8-5413-4750-8EE7-99A92DCAB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we’ve learnt in last lecture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AEB162-C03E-43D2-85C6-98938B5A4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8487747" cy="4525963"/>
          </a:xfrm>
        </p:spPr>
        <p:txBody>
          <a:bodyPr/>
          <a:lstStyle/>
          <a:p>
            <a:r>
              <a:rPr lang="en-US" dirty="0"/>
              <a:t>C program’s basic organization</a:t>
            </a:r>
          </a:p>
          <a:p>
            <a:pPr lvl="1"/>
            <a:r>
              <a:rPr lang="en-US" dirty="0"/>
              <a:t>*.c vs. *.h files</a:t>
            </a:r>
          </a:p>
          <a:p>
            <a:pPr lvl="1"/>
            <a:r>
              <a:rPr lang="en-US" dirty="0"/>
              <a:t>Compilation workflow and make</a:t>
            </a:r>
          </a:p>
          <a:p>
            <a:r>
              <a:rPr lang="en-US" dirty="0"/>
              <a:t>Bitwise operators, &amp;, |, ~, ^, &gt;&gt;, &lt;&lt;</a:t>
            </a:r>
          </a:p>
          <a:p>
            <a:pPr lvl="1"/>
            <a:r>
              <a:rPr lang="en-US" dirty="0"/>
              <a:t>&gt;&gt; (arithmetic vs. logical)</a:t>
            </a:r>
          </a:p>
          <a:p>
            <a:r>
              <a:rPr lang="en-US" dirty="0"/>
              <a:t>Control flow</a:t>
            </a:r>
          </a:p>
          <a:p>
            <a:pPr lvl="1"/>
            <a:r>
              <a:rPr lang="en-US" dirty="0" err="1"/>
              <a:t>goto</a:t>
            </a:r>
            <a:r>
              <a:rPr lang="en-US" dirty="0"/>
              <a:t> is general, but results in spaghetti code</a:t>
            </a:r>
          </a:p>
        </p:txBody>
      </p:sp>
    </p:spTree>
    <p:extLst>
      <p:ext uri="{BB962C8B-B14F-4D97-AF65-F5344CB8AC3E}">
        <p14:creationId xmlns:p14="http://schemas.microsoft.com/office/powerpoint/2010/main" val="3657704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D7A7-C5B9-BFDF-30B4-D3138E5B4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35" y="19878"/>
            <a:ext cx="8229600" cy="1143000"/>
          </a:xfrm>
        </p:spPr>
        <p:txBody>
          <a:bodyPr/>
          <a:lstStyle/>
          <a:p>
            <a:r>
              <a:rPr lang="en-US" dirty="0"/>
              <a:t>C scope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38585-B9A5-D70A-6AAD-86B89F6E0F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2878"/>
            <a:ext cx="8229600" cy="2136913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Local variable: defined within a procedure</a:t>
            </a:r>
          </a:p>
          <a:p>
            <a:pPr lvl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Scope: within the procedure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Global variable: defined outside of any procedure</a:t>
            </a:r>
          </a:p>
          <a:p>
            <a:pPr lvl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Scope: within the file unless exported via *.h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A26EE3-E125-A1FB-E368-5BB497B14104}"/>
              </a:ext>
            </a:extLst>
          </p:cNvPr>
          <p:cNvSpPr txBox="1"/>
          <p:nvPr/>
        </p:nvSpPr>
        <p:spPr>
          <a:xfrm>
            <a:off x="675863" y="3151429"/>
            <a:ext cx="4108173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y = 1;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swap(int x, int y)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x = y;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y=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swap(x, y);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5772AC-6BE5-6ED0-F73B-D5842A4B9271}"/>
              </a:ext>
            </a:extLst>
          </p:cNvPr>
          <p:cNvSpPr txBox="1"/>
          <p:nvPr/>
        </p:nvSpPr>
        <p:spPr>
          <a:xfrm>
            <a:off x="2063578" y="6178378"/>
            <a:ext cx="4498347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mic Sans MS" panose="030F0902030302020204" pitchFamily="66" charset="0"/>
              </a:rPr>
              <a:t>Function arguments are passed-by-value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8A28B37-F04B-37AC-72BF-36AB0ADC54AD}"/>
              </a:ext>
            </a:extLst>
          </p:cNvPr>
          <p:cNvSpPr/>
          <p:nvPr/>
        </p:nvSpPr>
        <p:spPr>
          <a:xfrm>
            <a:off x="1923196" y="5659395"/>
            <a:ext cx="634653" cy="494270"/>
          </a:xfrm>
          <a:custGeom>
            <a:avLst/>
            <a:gdLst>
              <a:gd name="csX0" fmla="*/ 634653 w 634653"/>
              <a:gd name="csY0" fmla="*/ 494270 h 494270"/>
              <a:gd name="csX1" fmla="*/ 78599 w 634653"/>
              <a:gd name="csY1" fmla="*/ 358346 h 494270"/>
              <a:gd name="csX2" fmla="*/ 16815 w 634653"/>
              <a:gd name="csY2" fmla="*/ 0 h 494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34653" h="494270">
                <a:moveTo>
                  <a:pt x="634653" y="494270"/>
                </a:moveTo>
                <a:cubicBezTo>
                  <a:pt x="408112" y="467497"/>
                  <a:pt x="181572" y="440724"/>
                  <a:pt x="78599" y="358346"/>
                </a:cubicBezTo>
                <a:cubicBezTo>
                  <a:pt x="-24374" y="275968"/>
                  <a:pt x="-3780" y="137984"/>
                  <a:pt x="16815" y="0"/>
                </a:cubicBezTo>
              </a:path>
            </a:pathLst>
          </a:custGeom>
          <a:noFill/>
          <a:ln w="28575">
            <a:solidFill>
              <a:srgbClr val="0000F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8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latin typeface="+mj-lt"/>
              </a:rPr>
              <a:t>Pointers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+mj-lt"/>
              </a:rPr>
              <a:t>Pointer is a memory address</a:t>
            </a:r>
          </a:p>
        </p:txBody>
      </p:sp>
    </p:spTree>
    <p:extLst>
      <p:ext uri="{BB962C8B-B14F-4D97-AF65-F5344CB8AC3E}">
        <p14:creationId xmlns:p14="http://schemas.microsoft.com/office/powerpoint/2010/main" val="3174743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97676" y="246277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97676" y="281166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97676" y="316098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097676" y="386958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097676" y="351708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12" name="矩形 11"/>
          <p:cNvSpPr/>
          <p:nvPr/>
        </p:nvSpPr>
        <p:spPr>
          <a:xfrm>
            <a:off x="1097676" y="422312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1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45" name="矩形 44"/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1094760" y="457028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3" name="矩形 52"/>
          <p:cNvSpPr/>
          <p:nvPr/>
        </p:nvSpPr>
        <p:spPr>
          <a:xfrm>
            <a:off x="1094760" y="492546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1092850" y="527965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/>
          <p:cNvSpPr/>
          <p:nvPr/>
        </p:nvSpPr>
        <p:spPr>
          <a:xfrm>
            <a:off x="1097676" y="562974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158934" y="137542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grpSp>
        <p:nvGrpSpPr>
          <p:cNvPr id="36" name="组 50"/>
          <p:cNvGrpSpPr/>
          <p:nvPr/>
        </p:nvGrpSpPr>
        <p:grpSpPr>
          <a:xfrm>
            <a:off x="2213414" y="1048742"/>
            <a:ext cx="768021" cy="5317404"/>
            <a:chOff x="2213414" y="1048742"/>
            <a:chExt cx="768021" cy="5317404"/>
          </a:xfrm>
        </p:grpSpPr>
        <p:sp>
          <p:nvSpPr>
            <p:cNvPr id="38" name="矩形 19"/>
            <p:cNvSpPr/>
            <p:nvPr/>
          </p:nvSpPr>
          <p:spPr>
            <a:xfrm>
              <a:off x="2232965" y="6027592"/>
              <a:ext cx="69602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39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0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1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3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7"/>
            <p:cNvSpPr/>
            <p:nvPr/>
          </p:nvSpPr>
          <p:spPr>
            <a:xfrm>
              <a:off x="2264260" y="390491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0x16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8"/>
            <p:cNvSpPr/>
            <p:nvPr/>
          </p:nvSpPr>
          <p:spPr>
            <a:xfrm>
              <a:off x="2264785" y="355830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0x17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9"/>
            <p:cNvSpPr/>
            <p:nvPr/>
          </p:nvSpPr>
          <p:spPr>
            <a:xfrm>
              <a:off x="2262875" y="322403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0x18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30"/>
            <p:cNvSpPr/>
            <p:nvPr/>
          </p:nvSpPr>
          <p:spPr>
            <a:xfrm>
              <a:off x="2265797" y="286009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0x19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1"/>
            <p:cNvSpPr/>
            <p:nvPr/>
          </p:nvSpPr>
          <p:spPr>
            <a:xfrm>
              <a:off x="2276653" y="2492119"/>
              <a:ext cx="69021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0x1a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4"/>
            <p:cNvSpPr/>
            <p:nvPr/>
          </p:nvSpPr>
          <p:spPr>
            <a:xfrm>
              <a:off x="2213414" y="1048742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0xff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1" name="矩形 47"/>
            <p:cNvSpPr/>
            <p:nvPr/>
          </p:nvSpPr>
          <p:spPr>
            <a:xfrm>
              <a:off x="2286613" y="1777120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47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90AC37A-E48B-43AE-89BC-38731BFCD22E}"/>
              </a:ext>
            </a:extLst>
          </p:cNvPr>
          <p:cNvSpPr/>
          <p:nvPr/>
        </p:nvSpPr>
        <p:spPr>
          <a:xfrm>
            <a:off x="4078555" y="5020910"/>
            <a:ext cx="3967769" cy="1085644"/>
          </a:xfrm>
          <a:prstGeom prst="wedgeRoundRectCallout">
            <a:avLst>
              <a:gd name="adj1" fmla="val -84930"/>
              <a:gd name="adj2" fmla="val 53708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Addresses are 8-byte long on 64-bit machine; for brevity, I omit leading 0s.</a:t>
            </a:r>
          </a:p>
        </p:txBody>
      </p:sp>
    </p:spTree>
    <p:extLst>
      <p:ext uri="{BB962C8B-B14F-4D97-AF65-F5344CB8AC3E}">
        <p14:creationId xmlns:p14="http://schemas.microsoft.com/office/powerpoint/2010/main" val="1668329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60904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97676" y="246277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97676" y="281166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97676" y="316098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097676" y="386958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097676" y="351708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12" name="矩形 11"/>
          <p:cNvSpPr/>
          <p:nvPr/>
        </p:nvSpPr>
        <p:spPr>
          <a:xfrm>
            <a:off x="1097676" y="422312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1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45" name="矩形 44"/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/>
          <p:cNvSpPr/>
          <p:nvPr/>
        </p:nvSpPr>
        <p:spPr>
          <a:xfrm>
            <a:off x="1097676" y="4579232"/>
            <a:ext cx="1091998" cy="140662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/>
              <a:t>2</a:t>
            </a:r>
            <a:endParaRPr kumimoji="1" lang="zh-CN" altLang="en-US" dirty="0"/>
          </a:p>
        </p:txBody>
      </p:sp>
      <p:sp>
        <p:nvSpPr>
          <p:cNvPr id="37" name="矩形 36"/>
          <p:cNvSpPr/>
          <p:nvPr/>
        </p:nvSpPr>
        <p:spPr>
          <a:xfrm>
            <a:off x="4163227" y="1338671"/>
            <a:ext cx="266877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</a:p>
          <a:p>
            <a:r>
              <a:rPr lang="en-US" altLang="zh-CN" sz="2400" dirty="0" err="1"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 b = 2;</a:t>
            </a:r>
            <a:endParaRPr lang="zh-CN" altLang="en-US" sz="2400" dirty="0"/>
          </a:p>
        </p:txBody>
      </p:sp>
      <p:grpSp>
        <p:nvGrpSpPr>
          <p:cNvPr id="36" name="组 50"/>
          <p:cNvGrpSpPr/>
          <p:nvPr/>
        </p:nvGrpSpPr>
        <p:grpSpPr>
          <a:xfrm>
            <a:off x="2213414" y="1048742"/>
            <a:ext cx="768021" cy="5317404"/>
            <a:chOff x="2213414" y="1048742"/>
            <a:chExt cx="768021" cy="5317404"/>
          </a:xfrm>
        </p:grpSpPr>
        <p:sp>
          <p:nvSpPr>
            <p:cNvPr id="38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39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0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1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3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7"/>
            <p:cNvSpPr/>
            <p:nvPr/>
          </p:nvSpPr>
          <p:spPr>
            <a:xfrm>
              <a:off x="2264260" y="390491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0x16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8"/>
            <p:cNvSpPr/>
            <p:nvPr/>
          </p:nvSpPr>
          <p:spPr>
            <a:xfrm>
              <a:off x="2264785" y="355830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0x17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9"/>
            <p:cNvSpPr/>
            <p:nvPr/>
          </p:nvSpPr>
          <p:spPr>
            <a:xfrm>
              <a:off x="2262875" y="322403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0x18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30"/>
            <p:cNvSpPr/>
            <p:nvPr/>
          </p:nvSpPr>
          <p:spPr>
            <a:xfrm>
              <a:off x="2265797" y="286009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0x19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1"/>
            <p:cNvSpPr/>
            <p:nvPr/>
          </p:nvSpPr>
          <p:spPr>
            <a:xfrm>
              <a:off x="2276653" y="2492119"/>
              <a:ext cx="69021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0x1a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4"/>
            <p:cNvSpPr/>
            <p:nvPr/>
          </p:nvSpPr>
          <p:spPr>
            <a:xfrm>
              <a:off x="2213414" y="1048742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0xff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1" name="矩形 47"/>
            <p:cNvSpPr/>
            <p:nvPr/>
          </p:nvSpPr>
          <p:spPr>
            <a:xfrm>
              <a:off x="2286613" y="1777120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47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8869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1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135251" y="1362082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45" name="矩形 44"/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4133341" y="178911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4168951" y="2206144"/>
            <a:ext cx="266877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*x;</a:t>
            </a:r>
          </a:p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363362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13414" y="1048742"/>
            <a:ext cx="768021" cy="5317404"/>
            <a:chOff x="2213414" y="1048742"/>
            <a:chExt cx="768021" cy="5317404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0x1d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34"/>
            <p:cNvSpPr/>
            <p:nvPr/>
          </p:nvSpPr>
          <p:spPr>
            <a:xfrm>
              <a:off x="2213414" y="1048742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0xff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68921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0x1e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12" name="Rounded Rectangular Callout 11"/>
          <p:cNvSpPr/>
          <p:nvPr/>
        </p:nvSpPr>
        <p:spPr>
          <a:xfrm>
            <a:off x="6306765" y="2109282"/>
            <a:ext cx="1985367" cy="887834"/>
          </a:xfrm>
          <a:prstGeom prst="wedgeRoundRectCallout">
            <a:avLst>
              <a:gd name="adj1" fmla="val -91822"/>
              <a:gd name="adj2" fmla="val 36346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&amp;</a:t>
            </a:r>
            <a:r>
              <a:rPr lang="en-US" sz="2000" dirty="0">
                <a:solidFill>
                  <a:srgbClr val="000000"/>
                </a:solidFill>
              </a:rPr>
              <a:t> gives address of variable</a:t>
            </a:r>
          </a:p>
        </p:txBody>
      </p:sp>
      <p:sp>
        <p:nvSpPr>
          <p:cNvPr id="35" name="Rounded Rectangular Callout 34"/>
          <p:cNvSpPr/>
          <p:nvPr/>
        </p:nvSpPr>
        <p:spPr>
          <a:xfrm>
            <a:off x="6240533" y="595291"/>
            <a:ext cx="2740335" cy="1081817"/>
          </a:xfrm>
          <a:prstGeom prst="wedgeRoundRectCallout">
            <a:avLst>
              <a:gd name="adj1" fmla="val -75905"/>
              <a:gd name="adj2" fmla="val 117495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Same as: char*   x;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You pronounce </a:t>
            </a:r>
            <a:r>
              <a:rPr lang="en-US" dirty="0" err="1">
                <a:solidFill>
                  <a:srgbClr val="000000"/>
                </a:solidFill>
              </a:rPr>
              <a:t>typename</a:t>
            </a:r>
            <a:r>
              <a:rPr lang="en-US" dirty="0">
                <a:solidFill>
                  <a:srgbClr val="000000"/>
                </a:solidFill>
              </a:rPr>
              <a:t> from right to 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11035" y="5862599"/>
            <a:ext cx="18114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type mismatch!</a:t>
            </a:r>
          </a:p>
        </p:txBody>
      </p:sp>
      <p:sp>
        <p:nvSpPr>
          <p:cNvPr id="48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D75CA7-7894-462E-8D96-7793D323969E}"/>
              </a:ext>
            </a:extLst>
          </p:cNvPr>
          <p:cNvGrpSpPr/>
          <p:nvPr/>
        </p:nvGrpSpPr>
        <p:grpSpPr>
          <a:xfrm>
            <a:off x="2928481" y="2420272"/>
            <a:ext cx="2786315" cy="1844505"/>
            <a:chOff x="2928481" y="2420272"/>
            <a:chExt cx="2786315" cy="1844505"/>
          </a:xfrm>
        </p:grpSpPr>
        <p:sp>
          <p:nvSpPr>
            <p:cNvPr id="34" name="Rounded Rectangular Callout 33"/>
            <p:cNvSpPr/>
            <p:nvPr/>
          </p:nvSpPr>
          <p:spPr>
            <a:xfrm>
              <a:off x="2928481" y="3376943"/>
              <a:ext cx="2786315" cy="887834"/>
            </a:xfrm>
            <a:prstGeom prst="wedgeRoundRectCallout">
              <a:avLst>
                <a:gd name="adj1" fmla="val -8580"/>
                <a:gd name="adj2" fmla="val -122467"/>
                <a:gd name="adj3" fmla="val 16667"/>
              </a:avLst>
            </a:prstGeom>
            <a:solidFill>
              <a:srgbClr val="DCE6F2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000000"/>
                  </a:solidFill>
                </a:rPr>
                <a:t>Can be combined as:</a:t>
              </a:r>
            </a:p>
            <a:p>
              <a:pPr algn="ctr"/>
              <a:r>
                <a:rPr lang="en-US" sz="2000" dirty="0">
                  <a:solidFill>
                    <a:srgbClr val="000000"/>
                  </a:solidFill>
                </a:rPr>
                <a:t>char   *x = &amp;a;</a:t>
              </a:r>
            </a:p>
          </p:txBody>
        </p:sp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EE96B933-C318-4AE7-B8BA-D94C93FCC130}"/>
                </a:ext>
              </a:extLst>
            </p:cNvPr>
            <p:cNvSpPr/>
            <p:nvPr/>
          </p:nvSpPr>
          <p:spPr>
            <a:xfrm>
              <a:off x="4084189" y="2420272"/>
              <a:ext cx="184666" cy="490919"/>
            </a:xfrm>
            <a:prstGeom prst="leftBrac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5AA4531-4171-4333-8283-D63650097A2B}"/>
              </a:ext>
            </a:extLst>
          </p:cNvPr>
          <p:cNvSpPr txBox="1"/>
          <p:nvPr/>
        </p:nvSpPr>
        <p:spPr>
          <a:xfrm>
            <a:off x="4497963" y="5299960"/>
            <a:ext cx="234089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800" dirty="0">
                <a:solidFill>
                  <a:srgbClr val="000000"/>
                </a:solidFill>
              </a:rPr>
              <a:t>what happens if I write</a:t>
            </a:r>
          </a:p>
          <a:p>
            <a:pPr algn="ctr"/>
            <a:r>
              <a:rPr lang="en-US" sz="1800" dirty="0">
                <a:solidFill>
                  <a:srgbClr val="000000"/>
                </a:solidFill>
              </a:rPr>
              <a:t>char x = &amp;a;</a:t>
            </a:r>
          </a:p>
        </p:txBody>
      </p:sp>
    </p:spTree>
    <p:extLst>
      <p:ext uri="{BB962C8B-B14F-4D97-AF65-F5344CB8AC3E}">
        <p14:creationId xmlns:p14="http://schemas.microsoft.com/office/powerpoint/2010/main" val="959764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5" grpId="0" animBg="1"/>
      <p:bldP spid="3" grpId="0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1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988986" y="137542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45" name="矩形 44"/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987076" y="1802463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4022686" y="221948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13414" y="1048742"/>
            <a:ext cx="768021" cy="5317404"/>
            <a:chOff x="2213414" y="1048742"/>
            <a:chExt cx="768021" cy="5317404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0x1d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34"/>
            <p:cNvSpPr/>
            <p:nvPr/>
          </p:nvSpPr>
          <p:spPr>
            <a:xfrm>
              <a:off x="2213414" y="1048742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0xff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68921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0x1e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3" name="Rounded Rectangular Callout 2"/>
          <p:cNvSpPr/>
          <p:nvPr/>
        </p:nvSpPr>
        <p:spPr>
          <a:xfrm>
            <a:off x="3931778" y="4725294"/>
            <a:ext cx="2527552" cy="1098954"/>
          </a:xfrm>
          <a:prstGeom prst="wedgeRoundRectCallout">
            <a:avLst>
              <a:gd name="adj1" fmla="val -62279"/>
              <a:gd name="adj2" fmla="val -158425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Size of pointer on a 64-bit machine? </a:t>
            </a:r>
          </a:p>
          <a:p>
            <a:pPr algn="ctr"/>
            <a:endParaRPr lang="en-US" sz="2400" dirty="0">
              <a:solidFill>
                <a:srgbClr val="000000"/>
              </a:solidFill>
            </a:endParaRPr>
          </a:p>
        </p:txBody>
      </p:sp>
      <p:sp>
        <p:nvSpPr>
          <p:cNvPr id="6" name="Right Brace 5"/>
          <p:cNvSpPr/>
          <p:nvPr/>
        </p:nvSpPr>
        <p:spPr>
          <a:xfrm>
            <a:off x="3075786" y="2492119"/>
            <a:ext cx="442400" cy="1975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4621984" y="5369301"/>
            <a:ext cx="937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8 bytes</a:t>
            </a:r>
          </a:p>
        </p:txBody>
      </p:sp>
      <p:sp>
        <p:nvSpPr>
          <p:cNvPr id="47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" name="矩形 38">
            <a:extLst>
              <a:ext uri="{FF2B5EF4-FFF2-40B4-BE49-F238E27FC236}">
                <a16:creationId xmlns:a16="http://schemas.microsoft.com/office/drawing/2014/main" id="{6B28F555-39F5-488D-AD52-4F2943D9B8F2}"/>
              </a:ext>
            </a:extLst>
          </p:cNvPr>
          <p:cNvSpPr/>
          <p:nvPr/>
        </p:nvSpPr>
        <p:spPr>
          <a:xfrm>
            <a:off x="4035300" y="2660455"/>
            <a:ext cx="418142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(“x=%p\n”, x); </a:t>
            </a:r>
            <a:endParaRPr lang="zh-CN" altLang="en-US" sz="2400" dirty="0"/>
          </a:p>
        </p:txBody>
      </p:sp>
      <p:sp>
        <p:nvSpPr>
          <p:cNvPr id="11" name="Rounded Rectangular Callout 2">
            <a:extLst>
              <a:ext uri="{FF2B5EF4-FFF2-40B4-BE49-F238E27FC236}">
                <a16:creationId xmlns:a16="http://schemas.microsoft.com/office/drawing/2014/main" id="{D6A7A176-D7C2-47F0-A9D7-76690E6718E1}"/>
              </a:ext>
            </a:extLst>
          </p:cNvPr>
          <p:cNvSpPr/>
          <p:nvPr/>
        </p:nvSpPr>
        <p:spPr>
          <a:xfrm>
            <a:off x="5393982" y="3517990"/>
            <a:ext cx="3599764" cy="1207303"/>
          </a:xfrm>
          <a:prstGeom prst="wedgeRoundRectCallout">
            <a:avLst>
              <a:gd name="adj1" fmla="val -27460"/>
              <a:gd name="adj2" fmla="val -89672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You can print the value of a pointer variable with %p (leading zeros are not printed)</a:t>
            </a:r>
          </a:p>
          <a:p>
            <a:pPr algn="ctr"/>
            <a:endParaRPr lang="en-US" sz="2400" dirty="0">
              <a:solidFill>
                <a:srgbClr val="00000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D45A3B-DA93-450E-A5A5-B4DAE178F1B1}"/>
              </a:ext>
            </a:extLst>
          </p:cNvPr>
          <p:cNvSpPr txBox="1"/>
          <p:nvPr/>
        </p:nvSpPr>
        <p:spPr>
          <a:xfrm>
            <a:off x="6792228" y="4316365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0x10</a:t>
            </a:r>
          </a:p>
        </p:txBody>
      </p:sp>
      <p:pic>
        <p:nvPicPr>
          <p:cNvPr id="12" name="Picture 2" descr="Bang good Buzzer Alarm Push Button Lottery Trivia Quiz Game Red Light With  Sound - US$11.99-arrival notice">
            <a:extLst>
              <a:ext uri="{FF2B5EF4-FFF2-40B4-BE49-F238E27FC236}">
                <a16:creationId xmlns:a16="http://schemas.microsoft.com/office/drawing/2014/main" id="{4846E216-9B4F-4B6C-ADF2-D81D7D2073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667" y="4725294"/>
            <a:ext cx="525582" cy="525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Bang good Buzzer Alarm Push Button Lottery Trivia Quiz Game Red Light With  Sound - US$11.99-arrival notice">
            <a:extLst>
              <a:ext uri="{FF2B5EF4-FFF2-40B4-BE49-F238E27FC236}">
                <a16:creationId xmlns:a16="http://schemas.microsoft.com/office/drawing/2014/main" id="{25437059-1230-41E6-BBB8-5A3F16F241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616" y="3517990"/>
            <a:ext cx="525582" cy="525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2984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/>
      <p:bldP spid="11" grpId="0" animBg="1"/>
      <p:bldP spid="6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1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523603"/>
            <a:ext cx="750380" cy="4842543"/>
            <a:chOff x="2231055" y="1523603"/>
            <a:chExt cx="750380" cy="4842543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523603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45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EC256D-3AF5-4C55-8C14-29954623D920}"/>
              </a:ext>
            </a:extLst>
          </p:cNvPr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767C4F4-01B6-49F2-BE16-EBBF2C5C0C09}"/>
              </a:ext>
            </a:extLst>
          </p:cNvPr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6">
            <a:extLst>
              <a:ext uri="{FF2B5EF4-FFF2-40B4-BE49-F238E27FC236}">
                <a16:creationId xmlns:a16="http://schemas.microsoft.com/office/drawing/2014/main" id="{01BB1705-2BF8-44C6-8D68-6177327C411F}"/>
              </a:ext>
            </a:extLst>
          </p:cNvPr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44">
            <a:extLst>
              <a:ext uri="{FF2B5EF4-FFF2-40B4-BE49-F238E27FC236}">
                <a16:creationId xmlns:a16="http://schemas.microsoft.com/office/drawing/2014/main" id="{E373BEA9-7F80-4510-A17D-1332E178C936}"/>
              </a:ext>
            </a:extLst>
          </p:cNvPr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02292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16">
            <a:extLst>
              <a:ext uri="{FF2B5EF4-FFF2-40B4-BE49-F238E27FC236}">
                <a16:creationId xmlns:a16="http://schemas.microsoft.com/office/drawing/2014/main" id="{2F238F76-39EB-1F4A-8061-54E61690505C}"/>
              </a:ext>
            </a:extLst>
          </p:cNvPr>
          <p:cNvSpPr/>
          <p:nvPr/>
        </p:nvSpPr>
        <p:spPr>
          <a:xfrm>
            <a:off x="1107196" y="597449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1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FF0000"/>
                </a:solidFill>
                <a:latin typeface="Verdana"/>
                <a:cs typeface="Verdana"/>
              </a:rPr>
              <a:t>3</a:t>
            </a:r>
            <a:endParaRPr kumimoji="1"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cxnSpLocks/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375426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3;</a:t>
            </a:r>
            <a:endParaRPr lang="zh-CN" altLang="en-US" sz="2400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5217459" y="2860095"/>
            <a:ext cx="3738282" cy="1407115"/>
          </a:xfrm>
          <a:prstGeom prst="wedgeRoundRectCallout">
            <a:avLst>
              <a:gd name="adj1" fmla="val -61336"/>
              <a:gd name="adj2" fmla="val 14722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* operator dereferences a pointer, not to be confused with the * in (char *) which is part of </a:t>
            </a:r>
            <a:r>
              <a:rPr lang="en-US" sz="2000" dirty="0" err="1">
                <a:solidFill>
                  <a:srgbClr val="000000"/>
                </a:solidFill>
              </a:rPr>
              <a:t>typename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65" name="Rounded Rectangular Callout 64"/>
          <p:cNvSpPr/>
          <p:nvPr/>
        </p:nvSpPr>
        <p:spPr>
          <a:xfrm>
            <a:off x="4090251" y="4807794"/>
            <a:ext cx="3839225" cy="1046507"/>
          </a:xfrm>
          <a:prstGeom prst="wedgeRoundRectCallout">
            <a:avLst>
              <a:gd name="adj1" fmla="val -56451"/>
              <a:gd name="adj2" fmla="val -124963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Value of variable a after this statement?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15DF5FF-FF07-4690-8838-9BF3944ECD1E}"/>
              </a:ext>
            </a:extLst>
          </p:cNvPr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472AC05-A275-4190-90FA-FC24C69926BD}"/>
              </a:ext>
            </a:extLst>
          </p:cNvPr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6">
            <a:extLst>
              <a:ext uri="{FF2B5EF4-FFF2-40B4-BE49-F238E27FC236}">
                <a16:creationId xmlns:a16="http://schemas.microsoft.com/office/drawing/2014/main" id="{7DA32564-58DB-48D4-8FF5-668013BB430D}"/>
              </a:ext>
            </a:extLst>
          </p:cNvPr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44">
            <a:extLst>
              <a:ext uri="{FF2B5EF4-FFF2-40B4-BE49-F238E27FC236}">
                <a16:creationId xmlns:a16="http://schemas.microsoft.com/office/drawing/2014/main" id="{5334041F-4720-4398-8E6F-74EB5C3EC854}"/>
              </a:ext>
            </a:extLst>
          </p:cNvPr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20531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3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??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Verdana"/>
                <a:cs typeface="Verdana"/>
              </a:rPr>
              <a:t>1</a:t>
            </a:r>
            <a:endParaRPr kumimoji="1" lang="zh-CN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375426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63" name="矩形 46"/>
          <p:cNvSpPr/>
          <p:nvPr/>
        </p:nvSpPr>
        <p:spPr>
          <a:xfrm>
            <a:off x="2359753" y="870798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24" name="Freeform 23"/>
          <p:cNvSpPr/>
          <p:nvPr/>
        </p:nvSpPr>
        <p:spPr>
          <a:xfrm>
            <a:off x="2233281" y="1417638"/>
            <a:ext cx="846701" cy="4436663"/>
          </a:xfrm>
          <a:custGeom>
            <a:avLst/>
            <a:gdLst>
              <a:gd name="connsiteX0" fmla="*/ 0 w 846701"/>
              <a:gd name="connsiteY0" fmla="*/ 14599 h 2408877"/>
              <a:gd name="connsiteX1" fmla="*/ 846701 w 846701"/>
              <a:gd name="connsiteY1" fmla="*/ 0 h 2408877"/>
              <a:gd name="connsiteX2" fmla="*/ 846701 w 846701"/>
              <a:gd name="connsiteY2" fmla="*/ 2394278 h 2408877"/>
              <a:gd name="connsiteX3" fmla="*/ 72992 w 846701"/>
              <a:gd name="connsiteY3" fmla="*/ 2408877 h 2408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701" h="2408877">
                <a:moveTo>
                  <a:pt x="0" y="14599"/>
                </a:moveTo>
                <a:lnTo>
                  <a:pt x="846701" y="0"/>
                </a:lnTo>
                <a:lnTo>
                  <a:pt x="846701" y="2394278"/>
                </a:lnTo>
                <a:lnTo>
                  <a:pt x="72992" y="2408877"/>
                </a:lnTo>
              </a:path>
            </a:pathLst>
          </a:custGeom>
          <a:ln>
            <a:solidFill>
              <a:srgbClr val="0000FF"/>
            </a:solidFill>
            <a:headEnd type="none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3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6498514" y="2054084"/>
            <a:ext cx="2188286" cy="1043175"/>
          </a:xfrm>
          <a:prstGeom prst="wedgeRoundRectCallout">
            <a:avLst>
              <a:gd name="adj1" fmla="val -92030"/>
              <a:gd name="adj2" fmla="val -2071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what if x is uninitialized?</a:t>
            </a:r>
          </a:p>
        </p:txBody>
      </p:sp>
      <p:cxnSp>
        <p:nvCxnSpPr>
          <p:cNvPr id="5" name="Straight Connector 4"/>
          <p:cNvCxnSpPr/>
          <p:nvPr/>
        </p:nvCxnSpPr>
        <p:spPr>
          <a:xfrm flipV="1">
            <a:off x="4666135" y="2577875"/>
            <a:ext cx="826910" cy="1"/>
          </a:xfrm>
          <a:prstGeom prst="line">
            <a:avLst/>
          </a:prstGeom>
          <a:ln w="5715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ular Callout 46"/>
          <p:cNvSpPr/>
          <p:nvPr/>
        </p:nvSpPr>
        <p:spPr>
          <a:xfrm>
            <a:off x="5286317" y="3383328"/>
            <a:ext cx="3721095" cy="1342508"/>
          </a:xfrm>
          <a:prstGeom prst="wedgeRoundRectCallout">
            <a:avLst>
              <a:gd name="adj1" fmla="val -63116"/>
              <a:gd name="adj2" fmla="val -19835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Dereferencing an arbitrary address value may result in “Segmentation fault” or a random memory write</a:t>
            </a:r>
          </a:p>
        </p:txBody>
      </p:sp>
      <p:sp>
        <p:nvSpPr>
          <p:cNvPr id="65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C6088E-5EC3-4D5F-AE6F-82D936FCA195}"/>
              </a:ext>
            </a:extLst>
          </p:cNvPr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6" name="矩形 4">
            <a:extLst>
              <a:ext uri="{FF2B5EF4-FFF2-40B4-BE49-F238E27FC236}">
                <a16:creationId xmlns:a16="http://schemas.microsoft.com/office/drawing/2014/main" id="{AC19788C-D720-4B86-A354-6C231D261E93}"/>
              </a:ext>
            </a:extLst>
          </p:cNvPr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58AB1EE-FB16-4521-B46A-754CFE9AFAE2}"/>
              </a:ext>
            </a:extLst>
          </p:cNvPr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44">
            <a:extLst>
              <a:ext uri="{FF2B5EF4-FFF2-40B4-BE49-F238E27FC236}">
                <a16:creationId xmlns:a16="http://schemas.microsoft.com/office/drawing/2014/main" id="{3AC114A4-5D05-4681-95BD-E6A070297C31}"/>
              </a:ext>
            </a:extLst>
          </p:cNvPr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7338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solidFill>
                  <a:srgbClr val="FF0000"/>
                </a:solidFill>
              </a:rPr>
              <a:t>0x0</a:t>
            </a:r>
            <a:endParaRPr kumimoji="1" lang="zh-CN" altLang="en-US" sz="3000" dirty="0">
              <a:solidFill>
                <a:srgbClr val="FF0000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0D0D0D"/>
                </a:solidFill>
                <a:latin typeface="Verdana"/>
                <a:cs typeface="Verdana"/>
              </a:rPr>
              <a:t>1</a:t>
            </a:r>
            <a:endParaRPr kumimoji="1" lang="zh-CN" altLang="en-US" sz="2000" dirty="0">
              <a:solidFill>
                <a:srgbClr val="0D0D0D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31988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NULL;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375426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63" name="矩形 46"/>
          <p:cNvSpPr/>
          <p:nvPr/>
        </p:nvSpPr>
        <p:spPr>
          <a:xfrm>
            <a:off x="2319873" y="955692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3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6675709" y="1857406"/>
            <a:ext cx="2188286" cy="1043175"/>
          </a:xfrm>
          <a:prstGeom prst="wedgeRoundRectCallout">
            <a:avLst>
              <a:gd name="adj1" fmla="val -81909"/>
              <a:gd name="adj2" fmla="val 13501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Always initialize pointers!</a:t>
            </a:r>
          </a:p>
        </p:txBody>
      </p:sp>
      <p:sp>
        <p:nvSpPr>
          <p:cNvPr id="47" name="Rounded Rectangular Callout 46"/>
          <p:cNvSpPr/>
          <p:nvPr/>
        </p:nvSpPr>
        <p:spPr>
          <a:xfrm>
            <a:off x="5676340" y="3383328"/>
            <a:ext cx="3331072" cy="1043175"/>
          </a:xfrm>
          <a:prstGeom prst="wedgeRoundRectCallout">
            <a:avLst>
              <a:gd name="adj1" fmla="val -77402"/>
              <a:gd name="adj2" fmla="val -7734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Dereferencing NULL pointer definitely results in “Segmentation fault”</a:t>
            </a:r>
          </a:p>
        </p:txBody>
      </p:sp>
      <p:sp>
        <p:nvSpPr>
          <p:cNvPr id="65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CCA544-E050-4744-875C-18BBCDA98EFF}"/>
              </a:ext>
            </a:extLst>
          </p:cNvPr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AFE338-77C2-42A5-8252-93DCC8A1155D}"/>
              </a:ext>
            </a:extLst>
          </p:cNvPr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6">
            <a:extLst>
              <a:ext uri="{FF2B5EF4-FFF2-40B4-BE49-F238E27FC236}">
                <a16:creationId xmlns:a16="http://schemas.microsoft.com/office/drawing/2014/main" id="{303D61C7-9F84-4AC5-B41D-061E767BA3E6}"/>
              </a:ext>
            </a:extLst>
          </p:cNvPr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44">
            <a:extLst>
              <a:ext uri="{FF2B5EF4-FFF2-40B4-BE49-F238E27FC236}">
                <a16:creationId xmlns:a16="http://schemas.microsoft.com/office/drawing/2014/main" id="{53238A05-4177-4166-AD51-7344C25E2341}"/>
              </a:ext>
            </a:extLst>
          </p:cNvPr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6123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39930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solidFill>
                  <a:srgbClr val="FF0000"/>
                </a:solidFill>
              </a:rPr>
              <a:t>0x0</a:t>
            </a:r>
            <a:endParaRPr kumimoji="1" lang="zh-CN" altLang="en-US" sz="3000" dirty="0">
              <a:solidFill>
                <a:srgbClr val="FF0000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39930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0D0D0D"/>
                </a:solidFill>
                <a:latin typeface="Verdana"/>
                <a:cs typeface="Verdana"/>
              </a:rPr>
              <a:t>1</a:t>
            </a:r>
            <a:endParaRPr kumimoji="1" lang="zh-CN" altLang="en-US" sz="2000" dirty="0">
              <a:solidFill>
                <a:srgbClr val="0D0D0D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186653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637014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186653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31988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NULL;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186653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1731928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1773309" y="1375426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63" name="矩形 46"/>
          <p:cNvSpPr/>
          <p:nvPr/>
        </p:nvSpPr>
        <p:spPr>
          <a:xfrm>
            <a:off x="1862127" y="967259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3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65" name="矩形 3"/>
          <p:cNvSpPr/>
          <p:nvPr/>
        </p:nvSpPr>
        <p:spPr>
          <a:xfrm>
            <a:off x="639930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pic>
        <p:nvPicPr>
          <p:cNvPr id="4" name="Picture 3" descr="Screen Shot 2018-09-24 at 1.35.52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835" y="4267210"/>
            <a:ext cx="6264266" cy="2098936"/>
          </a:xfrm>
          <a:prstGeom prst="rect">
            <a:avLst/>
          </a:prstGeom>
        </p:spPr>
      </p:pic>
      <p:sp>
        <p:nvSpPr>
          <p:cNvPr id="3" name="矩形 3">
            <a:extLst>
              <a:ext uri="{FF2B5EF4-FFF2-40B4-BE49-F238E27FC236}">
                <a16:creationId xmlns:a16="http://schemas.microsoft.com/office/drawing/2014/main" id="{AFD5B97B-F7C3-4A41-A270-4F59BC18434D}"/>
              </a:ext>
            </a:extLst>
          </p:cNvPr>
          <p:cNvSpPr/>
          <p:nvPr/>
        </p:nvSpPr>
        <p:spPr>
          <a:xfrm>
            <a:off x="637014" y="1423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F2072E-9B83-4874-BEB3-C466B1ABF5DF}"/>
              </a:ext>
            </a:extLst>
          </p:cNvPr>
          <p:cNvSpPr/>
          <p:nvPr/>
        </p:nvSpPr>
        <p:spPr>
          <a:xfrm>
            <a:off x="637014" y="177239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6">
            <a:extLst>
              <a:ext uri="{FF2B5EF4-FFF2-40B4-BE49-F238E27FC236}">
                <a16:creationId xmlns:a16="http://schemas.microsoft.com/office/drawing/2014/main" id="{5320B0F1-A1A8-40B0-A5EC-4AA15C414B24}"/>
              </a:ext>
            </a:extLst>
          </p:cNvPr>
          <p:cNvSpPr/>
          <p:nvPr/>
        </p:nvSpPr>
        <p:spPr>
          <a:xfrm>
            <a:off x="637014" y="21285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44">
            <a:extLst>
              <a:ext uri="{FF2B5EF4-FFF2-40B4-BE49-F238E27FC236}">
                <a16:creationId xmlns:a16="http://schemas.microsoft.com/office/drawing/2014/main" id="{4B5370AB-DAD0-4C77-B34F-F247F418F182}"/>
              </a:ext>
            </a:extLst>
          </p:cNvPr>
          <p:cNvSpPr/>
          <p:nvPr/>
        </p:nvSpPr>
        <p:spPr>
          <a:xfrm>
            <a:off x="634098" y="10669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655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87825" y="263316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 has different types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59185" y="2464403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659185" y="597116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3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205908" y="5976852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656269" y="4562193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205908" y="560183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205908" y="4199502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1751183" y="3513298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1792564" y="1367334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35" name="矩形 40"/>
          <p:cNvSpPr/>
          <p:nvPr/>
        </p:nvSpPr>
        <p:spPr>
          <a:xfrm>
            <a:off x="3421276" y="3503473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*y = &amp;b;</a:t>
            </a:r>
            <a:endParaRPr lang="zh-CN" altLang="en-US" sz="2400" dirty="0"/>
          </a:p>
        </p:txBody>
      </p:sp>
      <p:sp>
        <p:nvSpPr>
          <p:cNvPr id="45" name="矩形 45"/>
          <p:cNvSpPr/>
          <p:nvPr/>
        </p:nvSpPr>
        <p:spPr>
          <a:xfrm>
            <a:off x="3386931" y="280442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3;</a:t>
            </a:r>
            <a:endParaRPr lang="zh-CN" altLang="en-US" sz="2400" dirty="0"/>
          </a:p>
        </p:txBody>
      </p:sp>
      <p:sp>
        <p:nvSpPr>
          <p:cNvPr id="47" name="矩形 48"/>
          <p:cNvSpPr/>
          <p:nvPr/>
        </p:nvSpPr>
        <p:spPr>
          <a:xfrm>
            <a:off x="3386930" y="396513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*y = 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127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65" name="矩形 3"/>
          <p:cNvSpPr/>
          <p:nvPr/>
        </p:nvSpPr>
        <p:spPr>
          <a:xfrm>
            <a:off x="659185" y="633385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36A00AF4-3248-47DD-B689-8DA9A02944D9}"/>
              </a:ext>
            </a:extLst>
          </p:cNvPr>
          <p:cNvSpPr/>
          <p:nvPr/>
        </p:nvSpPr>
        <p:spPr>
          <a:xfrm>
            <a:off x="659185" y="1423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9769BF46-059B-473C-B4EB-30CB92D7E865}"/>
              </a:ext>
            </a:extLst>
          </p:cNvPr>
          <p:cNvSpPr/>
          <p:nvPr/>
        </p:nvSpPr>
        <p:spPr>
          <a:xfrm>
            <a:off x="659185" y="177239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5" name="矩形 6">
            <a:extLst>
              <a:ext uri="{FF2B5EF4-FFF2-40B4-BE49-F238E27FC236}">
                <a16:creationId xmlns:a16="http://schemas.microsoft.com/office/drawing/2014/main" id="{D615F702-A050-4017-9852-FB9AE849184C}"/>
              </a:ext>
            </a:extLst>
          </p:cNvPr>
          <p:cNvSpPr/>
          <p:nvPr/>
        </p:nvSpPr>
        <p:spPr>
          <a:xfrm>
            <a:off x="659185" y="21285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44">
            <a:extLst>
              <a:ext uri="{FF2B5EF4-FFF2-40B4-BE49-F238E27FC236}">
                <a16:creationId xmlns:a16="http://schemas.microsoft.com/office/drawing/2014/main" id="{39B5D8E8-B217-4A1C-A3BD-7B4D7CF5883D}"/>
              </a:ext>
            </a:extLst>
          </p:cNvPr>
          <p:cNvSpPr/>
          <p:nvPr/>
        </p:nvSpPr>
        <p:spPr>
          <a:xfrm>
            <a:off x="656269" y="10669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B0AE460-3722-47C0-AD33-4CBBAE7CAED5}"/>
              </a:ext>
            </a:extLst>
          </p:cNvPr>
          <p:cNvGrpSpPr/>
          <p:nvPr/>
        </p:nvGrpSpPr>
        <p:grpSpPr>
          <a:xfrm>
            <a:off x="221447" y="387213"/>
            <a:ext cx="1523904" cy="2097789"/>
            <a:chOff x="221447" y="387213"/>
            <a:chExt cx="1523904" cy="2097789"/>
          </a:xfrm>
        </p:grpSpPr>
        <p:sp>
          <p:nvSpPr>
            <p:cNvPr id="64" name="矩形 46"/>
            <p:cNvSpPr/>
            <p:nvPr/>
          </p:nvSpPr>
          <p:spPr>
            <a:xfrm>
              <a:off x="221447" y="2064292"/>
              <a:ext cx="40524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y: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48" name="矩形 8"/>
            <p:cNvSpPr/>
            <p:nvPr/>
          </p:nvSpPr>
          <p:spPr>
            <a:xfrm>
              <a:off x="653353" y="387213"/>
              <a:ext cx="1091998" cy="2097789"/>
            </a:xfrm>
            <a:prstGeom prst="rect">
              <a:avLst/>
            </a:prstGeom>
            <a:solidFill>
              <a:schemeClr val="bg1"/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30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9D2029A-28B7-4BD6-A623-7B55D8E7A109}"/>
              </a:ext>
            </a:extLst>
          </p:cNvPr>
          <p:cNvSpPr txBox="1"/>
          <p:nvPr/>
        </p:nvSpPr>
        <p:spPr>
          <a:xfrm>
            <a:off x="884113" y="5061035"/>
            <a:ext cx="651140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127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AE0619-EA91-46A8-8431-55297FDD1F13}"/>
              </a:ext>
            </a:extLst>
          </p:cNvPr>
          <p:cNvGrpSpPr/>
          <p:nvPr/>
        </p:nvGrpSpPr>
        <p:grpSpPr>
          <a:xfrm>
            <a:off x="807257" y="1198826"/>
            <a:ext cx="1834234" cy="4647383"/>
            <a:chOff x="807257" y="1198826"/>
            <a:chExt cx="1834234" cy="4647383"/>
          </a:xfrm>
        </p:grpSpPr>
        <p:sp>
          <p:nvSpPr>
            <p:cNvPr id="24" name="Freeform 23"/>
            <p:cNvSpPr/>
            <p:nvPr/>
          </p:nvSpPr>
          <p:spPr>
            <a:xfrm>
              <a:off x="1794790" y="1409546"/>
              <a:ext cx="846701" cy="4436663"/>
            </a:xfrm>
            <a:custGeom>
              <a:avLst/>
              <a:gdLst>
                <a:gd name="connsiteX0" fmla="*/ 0 w 846701"/>
                <a:gd name="connsiteY0" fmla="*/ 14599 h 2408877"/>
                <a:gd name="connsiteX1" fmla="*/ 846701 w 846701"/>
                <a:gd name="connsiteY1" fmla="*/ 0 h 2408877"/>
                <a:gd name="connsiteX2" fmla="*/ 846701 w 846701"/>
                <a:gd name="connsiteY2" fmla="*/ 2394278 h 2408877"/>
                <a:gd name="connsiteX3" fmla="*/ 72992 w 846701"/>
                <a:gd name="connsiteY3" fmla="*/ 2408877 h 2408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6701" h="2408877">
                  <a:moveTo>
                    <a:pt x="0" y="14599"/>
                  </a:moveTo>
                  <a:lnTo>
                    <a:pt x="846701" y="0"/>
                  </a:lnTo>
                  <a:lnTo>
                    <a:pt x="846701" y="2394278"/>
                  </a:lnTo>
                  <a:lnTo>
                    <a:pt x="72992" y="2408877"/>
                  </a:lnTo>
                </a:path>
              </a:pathLst>
            </a:custGeom>
            <a:ln>
              <a:solidFill>
                <a:srgbClr val="0000FF"/>
              </a:solidFill>
              <a:headEnd type="none"/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024C7A-5AC4-4772-8612-077566458ADF}"/>
                </a:ext>
              </a:extLst>
            </p:cNvPr>
            <p:cNvSpPr txBox="1"/>
            <p:nvPr/>
          </p:nvSpPr>
          <p:spPr>
            <a:xfrm>
              <a:off x="807257" y="1198826"/>
              <a:ext cx="784189" cy="4616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0x11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B9492089-2F56-4498-871C-7E1B30CD4DD9}"/>
              </a:ext>
            </a:extLst>
          </p:cNvPr>
          <p:cNvSpPr txBox="1"/>
          <p:nvPr/>
        </p:nvSpPr>
        <p:spPr>
          <a:xfrm>
            <a:off x="5696756" y="3385220"/>
            <a:ext cx="162095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rgbClr val="000000"/>
                </a:solidFill>
              </a:rPr>
              <a:t>what if I write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c</a:t>
            </a:r>
            <a:r>
              <a:rPr lang="en-US" sz="1800" dirty="0">
                <a:solidFill>
                  <a:srgbClr val="000000"/>
                </a:solidFill>
              </a:rPr>
              <a:t>har *y = &amp;b;</a:t>
            </a:r>
          </a:p>
        </p:txBody>
      </p:sp>
    </p:spTree>
    <p:extLst>
      <p:ext uri="{BB962C8B-B14F-4D97-AF65-F5344CB8AC3E}">
        <p14:creationId xmlns:p14="http://schemas.microsoft.com/office/powerpoint/2010/main" val="4258348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70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3515" y="259023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Double 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3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375426"/>
            <a:ext cx="721365" cy="4990720"/>
            <a:chOff x="2231055" y="1375426"/>
            <a:chExt cx="721365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18473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63" name="矩形 46"/>
          <p:cNvSpPr/>
          <p:nvPr/>
        </p:nvSpPr>
        <p:spPr>
          <a:xfrm>
            <a:off x="2286613" y="24103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45" name="矩形 45"/>
          <p:cNvSpPr/>
          <p:nvPr/>
        </p:nvSpPr>
        <p:spPr>
          <a:xfrm>
            <a:off x="3306740" y="2664314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3;</a:t>
            </a:r>
            <a:endParaRPr lang="zh-CN" altLang="en-US" sz="2400" dirty="0"/>
          </a:p>
        </p:txBody>
      </p:sp>
      <p:sp>
        <p:nvSpPr>
          <p:cNvPr id="65" name="矩形 52"/>
          <p:cNvSpPr/>
          <p:nvPr/>
        </p:nvSpPr>
        <p:spPr>
          <a:xfrm>
            <a:off x="3325237" y="3290557"/>
            <a:ext cx="358246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**xx = &amp;x;</a:t>
            </a:r>
            <a:endParaRPr lang="zh-CN" altLang="en-US" sz="2400" dirty="0"/>
          </a:p>
        </p:txBody>
      </p:sp>
      <p:sp>
        <p:nvSpPr>
          <p:cNvPr id="67" name="Rounded Rectangular Callout 66"/>
          <p:cNvSpPr/>
          <p:nvPr/>
        </p:nvSpPr>
        <p:spPr>
          <a:xfrm>
            <a:off x="5980793" y="1238167"/>
            <a:ext cx="1985367" cy="887834"/>
          </a:xfrm>
          <a:prstGeom prst="wedgeRoundRectCallout">
            <a:avLst>
              <a:gd name="adj1" fmla="val -94191"/>
              <a:gd name="adj2" fmla="val 189979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Same as:</a:t>
            </a:r>
          </a:p>
          <a:p>
            <a:pPr algn="ctr"/>
            <a:r>
              <a:rPr lang="en-US" sz="2000" dirty="0">
                <a:solidFill>
                  <a:srgbClr val="000000"/>
                </a:solidFill>
              </a:rPr>
              <a:t>char   **xx;</a:t>
            </a:r>
          </a:p>
          <a:p>
            <a:pPr algn="ctr"/>
            <a:r>
              <a:rPr lang="en-US" sz="2000" dirty="0">
                <a:solidFill>
                  <a:srgbClr val="000000"/>
                </a:solidFill>
              </a:rPr>
              <a:t>xx = &amp;x;</a:t>
            </a:r>
          </a:p>
        </p:txBody>
      </p:sp>
      <p:sp>
        <p:nvSpPr>
          <p:cNvPr id="68" name="Rounded Rectangular Callout 67"/>
          <p:cNvSpPr/>
          <p:nvPr/>
        </p:nvSpPr>
        <p:spPr>
          <a:xfrm>
            <a:off x="3359174" y="3914144"/>
            <a:ext cx="2332352" cy="887834"/>
          </a:xfrm>
          <a:prstGeom prst="wedgeRoundRectCallout">
            <a:avLst>
              <a:gd name="adj1" fmla="val -12978"/>
              <a:gd name="adj2" fmla="val -85909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char **xx is the same as char**  xx;</a:t>
            </a:r>
          </a:p>
        </p:txBody>
      </p:sp>
      <p:sp>
        <p:nvSpPr>
          <p:cNvPr id="71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C86E7BF1-9069-44B6-B805-76047FE313F4}"/>
              </a:ext>
            </a:extLst>
          </p:cNvPr>
          <p:cNvSpPr/>
          <p:nvPr/>
        </p:nvSpPr>
        <p:spPr>
          <a:xfrm>
            <a:off x="1087538" y="212600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28" name="矩形 52">
            <a:extLst>
              <a:ext uri="{FF2B5EF4-FFF2-40B4-BE49-F238E27FC236}">
                <a16:creationId xmlns:a16="http://schemas.microsoft.com/office/drawing/2014/main" id="{E0287F1F-7960-4570-91A0-7B4EA9134350}"/>
              </a:ext>
            </a:extLst>
          </p:cNvPr>
          <p:cNvSpPr/>
          <p:nvPr/>
        </p:nvSpPr>
        <p:spPr>
          <a:xfrm>
            <a:off x="3294372" y="5077430"/>
            <a:ext cx="575980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err="1">
                <a:solidFill>
                  <a:srgbClr val="000000"/>
                </a:solidFill>
              </a:rPr>
              <a:t>printf</a:t>
            </a:r>
            <a:r>
              <a:rPr lang="en-US" sz="2000" dirty="0">
                <a:solidFill>
                  <a:srgbClr val="000000"/>
                </a:solidFill>
              </a:rPr>
              <a:t>(“xx=%p *xx=%p **xx=%d\n”, xx, *xx, **xx);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32AEAA-4875-430F-B96F-03B4B12F98FC}"/>
              </a:ext>
            </a:extLst>
          </p:cNvPr>
          <p:cNvSpPr/>
          <p:nvPr/>
        </p:nvSpPr>
        <p:spPr>
          <a:xfrm>
            <a:off x="1104026" y="45856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3">
            <a:extLst>
              <a:ext uri="{FF2B5EF4-FFF2-40B4-BE49-F238E27FC236}">
                <a16:creationId xmlns:a16="http://schemas.microsoft.com/office/drawing/2014/main" id="{C3EC647E-C309-47F6-A200-FA7075E496ED}"/>
              </a:ext>
            </a:extLst>
          </p:cNvPr>
          <p:cNvSpPr/>
          <p:nvPr/>
        </p:nvSpPr>
        <p:spPr>
          <a:xfrm>
            <a:off x="1104026" y="494836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6" name="矩形 3">
            <a:extLst>
              <a:ext uri="{FF2B5EF4-FFF2-40B4-BE49-F238E27FC236}">
                <a16:creationId xmlns:a16="http://schemas.microsoft.com/office/drawing/2014/main" id="{A0F04111-73CA-4FE9-B2CB-77023898BE01}"/>
              </a:ext>
            </a:extLst>
          </p:cNvPr>
          <p:cNvSpPr/>
          <p:nvPr/>
        </p:nvSpPr>
        <p:spPr>
          <a:xfrm>
            <a:off x="1104051" y="530510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7" name="矩形 3">
            <a:extLst>
              <a:ext uri="{FF2B5EF4-FFF2-40B4-BE49-F238E27FC236}">
                <a16:creationId xmlns:a16="http://schemas.microsoft.com/office/drawing/2014/main" id="{EA0227F1-CC18-478C-8654-E982B5EC1B5F}"/>
              </a:ext>
            </a:extLst>
          </p:cNvPr>
          <p:cNvSpPr/>
          <p:nvPr/>
        </p:nvSpPr>
        <p:spPr>
          <a:xfrm>
            <a:off x="1093293" y="566740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AFDCD2-1827-4E73-AE3A-08730440F716}"/>
              </a:ext>
            </a:extLst>
          </p:cNvPr>
          <p:cNvSpPr txBox="1"/>
          <p:nvPr/>
        </p:nvSpPr>
        <p:spPr>
          <a:xfrm>
            <a:off x="6310649" y="3150863"/>
            <a:ext cx="162095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rgbClr val="000000"/>
                </a:solidFill>
              </a:rPr>
              <a:t>what if I write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char *xx =&amp;x;</a:t>
            </a:r>
          </a:p>
        </p:txBody>
      </p:sp>
      <p:sp>
        <p:nvSpPr>
          <p:cNvPr id="14" name="矩形 3">
            <a:extLst>
              <a:ext uri="{FF2B5EF4-FFF2-40B4-BE49-F238E27FC236}">
                <a16:creationId xmlns:a16="http://schemas.microsoft.com/office/drawing/2014/main" id="{283BC130-2DEA-49A6-9699-59D69E1EAD76}"/>
              </a:ext>
            </a:extLst>
          </p:cNvPr>
          <p:cNvSpPr/>
          <p:nvPr/>
        </p:nvSpPr>
        <p:spPr>
          <a:xfrm>
            <a:off x="1087538" y="17666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5" name="矩形 3">
            <a:extLst>
              <a:ext uri="{FF2B5EF4-FFF2-40B4-BE49-F238E27FC236}">
                <a16:creationId xmlns:a16="http://schemas.microsoft.com/office/drawing/2014/main" id="{52AB6D1B-707E-471A-8246-C55D91D8775F}"/>
              </a:ext>
            </a:extLst>
          </p:cNvPr>
          <p:cNvSpPr/>
          <p:nvPr/>
        </p:nvSpPr>
        <p:spPr>
          <a:xfrm>
            <a:off x="1082890" y="1411403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6" name="矩形 3">
            <a:extLst>
              <a:ext uri="{FF2B5EF4-FFF2-40B4-BE49-F238E27FC236}">
                <a16:creationId xmlns:a16="http://schemas.microsoft.com/office/drawing/2014/main" id="{6B647E44-3359-4207-B32E-EE856DDE41B6}"/>
              </a:ext>
            </a:extLst>
          </p:cNvPr>
          <p:cNvSpPr/>
          <p:nvPr/>
        </p:nvSpPr>
        <p:spPr>
          <a:xfrm>
            <a:off x="1080674" y="105498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8" name="矩形 3">
            <a:extLst>
              <a:ext uri="{FF2B5EF4-FFF2-40B4-BE49-F238E27FC236}">
                <a16:creationId xmlns:a16="http://schemas.microsoft.com/office/drawing/2014/main" id="{AD803A63-FB0E-4B08-9398-645C2F3CA779}"/>
              </a:ext>
            </a:extLst>
          </p:cNvPr>
          <p:cNvSpPr/>
          <p:nvPr/>
        </p:nvSpPr>
        <p:spPr>
          <a:xfrm>
            <a:off x="1078458" y="708743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9" name="矩形 3">
            <a:extLst>
              <a:ext uri="{FF2B5EF4-FFF2-40B4-BE49-F238E27FC236}">
                <a16:creationId xmlns:a16="http://schemas.microsoft.com/office/drawing/2014/main" id="{73AD0144-8BC8-4BF9-BE4A-4949B558D130}"/>
              </a:ext>
            </a:extLst>
          </p:cNvPr>
          <p:cNvSpPr/>
          <p:nvPr/>
        </p:nvSpPr>
        <p:spPr>
          <a:xfrm>
            <a:off x="1076242" y="34696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20" name="矩形 3">
            <a:extLst>
              <a:ext uri="{FF2B5EF4-FFF2-40B4-BE49-F238E27FC236}">
                <a16:creationId xmlns:a16="http://schemas.microsoft.com/office/drawing/2014/main" id="{926C8EEB-48F5-4B91-BF4F-6927A0A3EE89}"/>
              </a:ext>
            </a:extLst>
          </p:cNvPr>
          <p:cNvSpPr/>
          <p:nvPr/>
        </p:nvSpPr>
        <p:spPr>
          <a:xfrm>
            <a:off x="1070723" y="1988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3F9CB3-F560-4F04-8A5E-0F961A1E4E5C}"/>
              </a:ext>
            </a:extLst>
          </p:cNvPr>
          <p:cNvGrpSpPr/>
          <p:nvPr/>
        </p:nvGrpSpPr>
        <p:grpSpPr>
          <a:xfrm>
            <a:off x="542815" y="40738"/>
            <a:ext cx="1625425" cy="2121757"/>
            <a:chOff x="542815" y="16749"/>
            <a:chExt cx="1625425" cy="2121757"/>
          </a:xfrm>
        </p:grpSpPr>
        <p:sp>
          <p:nvSpPr>
            <p:cNvPr id="64" name="矩形 46"/>
            <p:cNvSpPr/>
            <p:nvPr/>
          </p:nvSpPr>
          <p:spPr>
            <a:xfrm>
              <a:off x="542815" y="1738396"/>
              <a:ext cx="60625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xx: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48" name="矩形 8"/>
            <p:cNvSpPr/>
            <p:nvPr/>
          </p:nvSpPr>
          <p:spPr>
            <a:xfrm>
              <a:off x="1076242" y="16749"/>
              <a:ext cx="1091998" cy="2097789"/>
            </a:xfrm>
            <a:prstGeom prst="rect">
              <a:avLst/>
            </a:prstGeom>
            <a:solidFill>
              <a:schemeClr val="bg1"/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3000" dirty="0"/>
                <a:t>??</a:t>
              </a:r>
              <a:endParaRPr kumimoji="1" lang="zh-CN" altLang="en-US" sz="30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A3D328-57FC-49CA-AD68-BF5B0D8C6DC7}"/>
              </a:ext>
            </a:extLst>
          </p:cNvPr>
          <p:cNvGrpSpPr/>
          <p:nvPr/>
        </p:nvGrpSpPr>
        <p:grpSpPr>
          <a:xfrm>
            <a:off x="1257930" y="830523"/>
            <a:ext cx="994460" cy="3605964"/>
            <a:chOff x="1257930" y="830523"/>
            <a:chExt cx="994460" cy="3605964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6B33EC70-AD54-46D0-B23F-A671BE382254}"/>
                </a:ext>
              </a:extLst>
            </p:cNvPr>
            <p:cNvCxnSpPr>
              <a:cxnSpLocks/>
              <a:stCxn id="48" idx="3"/>
              <a:endCxn id="53" idx="1"/>
            </p:cNvCxnSpPr>
            <p:nvPr/>
          </p:nvCxnSpPr>
          <p:spPr>
            <a:xfrm>
              <a:off x="2168240" y="1089633"/>
              <a:ext cx="84150" cy="3346854"/>
            </a:xfrm>
            <a:prstGeom prst="bentConnector3">
              <a:avLst>
                <a:gd name="adj1" fmla="val 1111123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37996C-207D-4484-8345-E20427B4BF3E}"/>
                </a:ext>
              </a:extLst>
            </p:cNvPr>
            <p:cNvSpPr txBox="1"/>
            <p:nvPr/>
          </p:nvSpPr>
          <p:spPr>
            <a:xfrm>
              <a:off x="1257930" y="830523"/>
              <a:ext cx="78418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0x15</a:t>
              </a:r>
            </a:p>
          </p:txBody>
        </p:sp>
      </p:grpSp>
      <p:sp>
        <p:nvSpPr>
          <p:cNvPr id="30" name="矩形 31">
            <a:extLst>
              <a:ext uri="{FF2B5EF4-FFF2-40B4-BE49-F238E27FC236}">
                <a16:creationId xmlns:a16="http://schemas.microsoft.com/office/drawing/2014/main" id="{0B66D5AE-0F86-4F97-B5E4-014844B6E9A0}"/>
              </a:ext>
            </a:extLst>
          </p:cNvPr>
          <p:cNvSpPr/>
          <p:nvPr/>
        </p:nvSpPr>
        <p:spPr>
          <a:xfrm>
            <a:off x="2227467" y="1837480"/>
            <a:ext cx="69602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0x30</a:t>
            </a:r>
            <a:endParaRPr lang="zh-CN" altLang="en-US" sz="16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36275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68" grpId="0" animBg="1"/>
      <p:bldP spid="28" grpId="0"/>
      <p:bldP spid="7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Double 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0x11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3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127</a:t>
            </a:r>
            <a:endParaRPr kumimoji="1" lang="zh-CN" altLang="en-US" sz="3000" dirty="0">
              <a:solidFill>
                <a:srgbClr val="000000"/>
              </a:solidFill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15578" y="3874138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y: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cxnSpLocks/>
            <a:stCxn id="9" idx="3"/>
            <a:endCxn id="44" idx="1"/>
          </p:cNvCxnSpPr>
          <p:nvPr/>
        </p:nvCxnSpPr>
        <p:spPr>
          <a:xfrm>
            <a:off x="2189674" y="3521390"/>
            <a:ext cx="41381" cy="2341209"/>
          </a:xfrm>
          <a:prstGeom prst="bentConnector3">
            <a:avLst>
              <a:gd name="adj1" fmla="val 1689130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148884" y="374706"/>
            <a:ext cx="823793" cy="5991440"/>
            <a:chOff x="2148884" y="374706"/>
            <a:chExt cx="823793" cy="599144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148884" y="3985559"/>
              <a:ext cx="69442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76653" y="4196951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9602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0x22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34"/>
            <p:cNvSpPr/>
            <p:nvPr/>
          </p:nvSpPr>
          <p:spPr>
            <a:xfrm>
              <a:off x="2213414" y="3747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0x22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35" name="矩形 40"/>
          <p:cNvSpPr/>
          <p:nvPr/>
        </p:nvSpPr>
        <p:spPr>
          <a:xfrm>
            <a:off x="3309659" y="2681090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*y = &amp;b;</a:t>
            </a:r>
            <a:endParaRPr lang="zh-CN" altLang="en-US" sz="2400" dirty="0"/>
          </a:p>
        </p:txBody>
      </p:sp>
      <p:sp>
        <p:nvSpPr>
          <p:cNvPr id="48" name="矩形 8"/>
          <p:cNvSpPr/>
          <p:nvPr/>
        </p:nvSpPr>
        <p:spPr>
          <a:xfrm>
            <a:off x="1082890" y="374706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3000" dirty="0"/>
          </a:p>
        </p:txBody>
      </p:sp>
      <p:sp>
        <p:nvSpPr>
          <p:cNvPr id="51" name="矩形 46"/>
          <p:cNvSpPr/>
          <p:nvPr/>
        </p:nvSpPr>
        <p:spPr>
          <a:xfrm>
            <a:off x="1323260" y="-25404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63" name="矩形 46"/>
          <p:cNvSpPr/>
          <p:nvPr/>
        </p:nvSpPr>
        <p:spPr>
          <a:xfrm>
            <a:off x="2286613" y="24103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64" name="矩形 46"/>
          <p:cNvSpPr/>
          <p:nvPr/>
        </p:nvSpPr>
        <p:spPr>
          <a:xfrm>
            <a:off x="466917" y="1668173"/>
            <a:ext cx="60625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 err="1">
                <a:latin typeface="Verdana"/>
                <a:ea typeface="宋体" pitchFamily="2" charset="-122"/>
                <a:cs typeface="Verdana"/>
              </a:rPr>
              <a:t>yy</a:t>
            </a:r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24" name="Freeform 23"/>
          <p:cNvSpPr/>
          <p:nvPr/>
        </p:nvSpPr>
        <p:spPr>
          <a:xfrm>
            <a:off x="2327995" y="1417638"/>
            <a:ext cx="751988" cy="2742239"/>
          </a:xfrm>
          <a:custGeom>
            <a:avLst/>
            <a:gdLst>
              <a:gd name="connsiteX0" fmla="*/ 0 w 846701"/>
              <a:gd name="connsiteY0" fmla="*/ 14599 h 2408877"/>
              <a:gd name="connsiteX1" fmla="*/ 846701 w 846701"/>
              <a:gd name="connsiteY1" fmla="*/ 0 h 2408877"/>
              <a:gd name="connsiteX2" fmla="*/ 846701 w 846701"/>
              <a:gd name="connsiteY2" fmla="*/ 2394278 h 2408877"/>
              <a:gd name="connsiteX3" fmla="*/ 72992 w 846701"/>
              <a:gd name="connsiteY3" fmla="*/ 2408877 h 2408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701" h="2408877">
                <a:moveTo>
                  <a:pt x="0" y="14599"/>
                </a:moveTo>
                <a:lnTo>
                  <a:pt x="846701" y="0"/>
                </a:lnTo>
                <a:lnTo>
                  <a:pt x="846701" y="2394278"/>
                </a:lnTo>
                <a:lnTo>
                  <a:pt x="72992" y="2408877"/>
                </a:lnTo>
              </a:path>
            </a:pathLst>
          </a:custGeom>
          <a:ln>
            <a:solidFill>
              <a:schemeClr val="accent1"/>
            </a:solidFill>
            <a:headEnd type="none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3;</a:t>
            </a:r>
            <a:endParaRPr lang="zh-CN" altLang="en-US" sz="2400" dirty="0"/>
          </a:p>
        </p:txBody>
      </p:sp>
      <p:sp>
        <p:nvSpPr>
          <p:cNvPr id="47" name="矩形 48"/>
          <p:cNvSpPr/>
          <p:nvPr/>
        </p:nvSpPr>
        <p:spPr>
          <a:xfrm>
            <a:off x="3473923" y="3979603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*y = 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127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65" name="矩形 52"/>
          <p:cNvSpPr/>
          <p:nvPr/>
        </p:nvSpPr>
        <p:spPr>
          <a:xfrm>
            <a:off x="3442139" y="4842128"/>
            <a:ext cx="358246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**xx = &amp;x;</a:t>
            </a:r>
            <a:endParaRPr lang="zh-CN" altLang="en-US" sz="2400" dirty="0"/>
          </a:p>
        </p:txBody>
      </p:sp>
      <p:sp>
        <p:nvSpPr>
          <p:cNvPr id="66" name="矩形 53"/>
          <p:cNvSpPr/>
          <p:nvPr/>
        </p:nvSpPr>
        <p:spPr>
          <a:xfrm>
            <a:off x="3452099" y="5231657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 **</a:t>
            </a:r>
            <a:r>
              <a:rPr lang="en-US" altLang="zh-CN" sz="2400" dirty="0" err="1">
                <a:latin typeface="Consolas"/>
                <a:ea typeface="宋体" pitchFamily="2" charset="-122"/>
                <a:cs typeface="Consolas"/>
              </a:rPr>
              <a:t>yy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 = &amp;y;</a:t>
            </a:r>
            <a:endParaRPr lang="zh-CN" altLang="en-US" sz="2400" dirty="0"/>
          </a:p>
        </p:txBody>
      </p:sp>
      <p:sp>
        <p:nvSpPr>
          <p:cNvPr id="69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3" name="矩形 16">
            <a:extLst>
              <a:ext uri="{FF2B5EF4-FFF2-40B4-BE49-F238E27FC236}">
                <a16:creationId xmlns:a16="http://schemas.microsoft.com/office/drawing/2014/main" id="{E99F4B3B-B1B1-41A2-8B8E-A714D18F5DD7}"/>
              </a:ext>
            </a:extLst>
          </p:cNvPr>
          <p:cNvSpPr/>
          <p:nvPr/>
        </p:nvSpPr>
        <p:spPr>
          <a:xfrm>
            <a:off x="1094760" y="4207453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…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4" name="矩形 16">
            <a:extLst>
              <a:ext uri="{FF2B5EF4-FFF2-40B4-BE49-F238E27FC236}">
                <a16:creationId xmlns:a16="http://schemas.microsoft.com/office/drawing/2014/main" id="{22217484-7182-455F-A1AD-46F0157CE3FB}"/>
              </a:ext>
            </a:extLst>
          </p:cNvPr>
          <p:cNvSpPr/>
          <p:nvPr/>
        </p:nvSpPr>
        <p:spPr>
          <a:xfrm>
            <a:off x="1097676" y="21018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…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73" name="矩形 49">
            <a:extLst>
              <a:ext uri="{FF2B5EF4-FFF2-40B4-BE49-F238E27FC236}">
                <a16:creationId xmlns:a16="http://schemas.microsoft.com/office/drawing/2014/main" id="{9C71DF5D-42C5-4272-BAC6-953D318041E0}"/>
              </a:ext>
            </a:extLst>
          </p:cNvPr>
          <p:cNvSpPr/>
          <p:nvPr/>
        </p:nvSpPr>
        <p:spPr>
          <a:xfrm>
            <a:off x="1204644" y="983363"/>
            <a:ext cx="1026411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sz="1000" dirty="0">
              <a:solidFill>
                <a:srgbClr val="FF0000"/>
              </a:solidFill>
              <a:latin typeface="Verdana"/>
              <a:ea typeface="宋体" pitchFamily="2" charset="-122"/>
              <a:cs typeface="Verdana"/>
            </a:endParaRPr>
          </a:p>
          <a:p>
            <a:r>
              <a:rPr lang="en-US" altLang="zh-CN" sz="2000" dirty="0">
                <a:solidFill>
                  <a:schemeClr val="accent1"/>
                </a:solidFill>
                <a:latin typeface="Verdana"/>
                <a:ea typeface="宋体" pitchFamily="2" charset="-122"/>
                <a:cs typeface="Verdana"/>
              </a:rPr>
              <a:t>0x1b</a:t>
            </a:r>
            <a:endParaRPr lang="zh-CN" altLang="en-US" sz="2000" dirty="0">
              <a:solidFill>
                <a:schemeClr val="accent1"/>
              </a:solidFill>
              <a:latin typeface="Verdana"/>
              <a:cs typeface="Verdana"/>
            </a:endParaRPr>
          </a:p>
        </p:txBody>
      </p:sp>
      <p:sp>
        <p:nvSpPr>
          <p:cNvPr id="7" name="矩形 52">
            <a:extLst>
              <a:ext uri="{FF2B5EF4-FFF2-40B4-BE49-F238E27FC236}">
                <a16:creationId xmlns:a16="http://schemas.microsoft.com/office/drawing/2014/main" id="{E7C778AF-F100-4EC3-AFFE-771D40B7A10E}"/>
              </a:ext>
            </a:extLst>
          </p:cNvPr>
          <p:cNvSpPr/>
          <p:nvPr/>
        </p:nvSpPr>
        <p:spPr>
          <a:xfrm>
            <a:off x="3473923" y="5816636"/>
            <a:ext cx="575980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err="1">
                <a:solidFill>
                  <a:srgbClr val="000000"/>
                </a:solidFill>
              </a:rPr>
              <a:t>printf</a:t>
            </a:r>
            <a:r>
              <a:rPr lang="en-US" sz="2000" dirty="0">
                <a:solidFill>
                  <a:srgbClr val="000000"/>
                </a:solidFill>
              </a:rPr>
              <a:t>(“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=%p *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=%p **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=%d\n”, 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, *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, **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950252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7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confusions on 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48636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* has two meanings!!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0000FF"/>
                </a:solidFill>
              </a:rPr>
              <a:t>part of a pointer type name, e.g. char *, char **, </a:t>
            </a:r>
            <a:r>
              <a:rPr lang="en-US" dirty="0" err="1">
                <a:solidFill>
                  <a:srgbClr val="0000FF"/>
                </a:solidFill>
              </a:rPr>
              <a:t>int</a:t>
            </a:r>
            <a:r>
              <a:rPr lang="en-US" dirty="0">
                <a:solidFill>
                  <a:srgbClr val="0000FF"/>
                </a:solidFill>
              </a:rPr>
              <a:t> *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</a:rPr>
              <a:t>the deference operator. </a:t>
            </a:r>
          </a:p>
        </p:txBody>
      </p:sp>
      <p:sp>
        <p:nvSpPr>
          <p:cNvPr id="4" name="矩形 3"/>
          <p:cNvSpPr/>
          <p:nvPr/>
        </p:nvSpPr>
        <p:spPr>
          <a:xfrm>
            <a:off x="953220" y="3324149"/>
            <a:ext cx="2797407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= 1;</a:t>
            </a:r>
          </a:p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&amp;a;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2;</a:t>
            </a:r>
          </a:p>
        </p:txBody>
      </p:sp>
      <p:sp>
        <p:nvSpPr>
          <p:cNvPr id="6" name="矩形 3"/>
          <p:cNvSpPr/>
          <p:nvPr/>
        </p:nvSpPr>
        <p:spPr>
          <a:xfrm>
            <a:off x="953220" y="4728577"/>
            <a:ext cx="290077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b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, 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c;</a:t>
            </a:r>
          </a:p>
        </p:txBody>
      </p:sp>
      <p:sp>
        <p:nvSpPr>
          <p:cNvPr id="8" name="Rounded Rectangular Callout 7"/>
          <p:cNvSpPr/>
          <p:nvPr/>
        </p:nvSpPr>
        <p:spPr>
          <a:xfrm>
            <a:off x="4931925" y="2901045"/>
            <a:ext cx="3930431" cy="1778564"/>
          </a:xfrm>
          <a:prstGeom prst="wedgeRoundRectCallout">
            <a:avLst>
              <a:gd name="adj1" fmla="val -96083"/>
              <a:gd name="adj2" fmla="val 79455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C’s syntax for declaring multiple pointer variables on one line</a:t>
            </a:r>
          </a:p>
          <a:p>
            <a:pPr algn="ctr"/>
            <a:r>
              <a:rPr lang="en-US" sz="2400" dirty="0">
                <a:solidFill>
                  <a:schemeClr val="accent3">
                    <a:lumMod val="75000"/>
                  </a:schemeClr>
                </a:solidFill>
              </a:rPr>
              <a:t>char*   b, c; </a:t>
            </a:r>
            <a:r>
              <a:rPr lang="en-US" sz="2400" dirty="0">
                <a:solidFill>
                  <a:srgbClr val="000000"/>
                </a:solidFill>
              </a:rPr>
              <a:t>does not work</a:t>
            </a:r>
          </a:p>
        </p:txBody>
      </p:sp>
      <p:sp>
        <p:nvSpPr>
          <p:cNvPr id="9" name="矩形 3"/>
          <p:cNvSpPr/>
          <p:nvPr/>
        </p:nvSpPr>
        <p:spPr>
          <a:xfrm>
            <a:off x="953220" y="5819234"/>
            <a:ext cx="411160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f=p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,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 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g=p;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5216176" y="5079436"/>
            <a:ext cx="3927824" cy="1778564"/>
          </a:xfrm>
          <a:prstGeom prst="wedgeRoundRectCallout">
            <a:avLst>
              <a:gd name="adj1" fmla="val -79748"/>
              <a:gd name="adj2" fmla="val 8056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C’s syntax for declaring and initializing multiple pointer variables on one line</a:t>
            </a:r>
          </a:p>
        </p:txBody>
      </p:sp>
      <p:sp>
        <p:nvSpPr>
          <p:cNvPr id="12" name="矩形 3"/>
          <p:cNvSpPr/>
          <p:nvPr/>
        </p:nvSpPr>
        <p:spPr>
          <a:xfrm>
            <a:off x="953220" y="5159464"/>
            <a:ext cx="373058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**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d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,**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e;</a:t>
            </a:r>
          </a:p>
        </p:txBody>
      </p:sp>
      <p:sp>
        <p:nvSpPr>
          <p:cNvPr id="13" name="矩形 3"/>
          <p:cNvSpPr/>
          <p:nvPr/>
        </p:nvSpPr>
        <p:spPr>
          <a:xfrm>
            <a:off x="953220" y="6233244"/>
            <a:ext cx="426295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**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m=&amp;p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,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 **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n=&amp;p;</a:t>
            </a:r>
          </a:p>
        </p:txBody>
      </p:sp>
    </p:spTree>
    <p:extLst>
      <p:ext uri="{BB962C8B-B14F-4D97-AF65-F5344CB8AC3E}">
        <p14:creationId xmlns:p14="http://schemas.microsoft.com/office/powerpoint/2010/main" val="4257583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/>
      <p:bldP spid="10" grpId="0" animBg="1"/>
      <p:bldP spid="12" grpId="0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88971" y="1071067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swap(int* x, int* y)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244076" y="2913747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7" name="TextBox 14"/>
          <p:cNvSpPr txBox="1">
            <a:spLocks noChangeArrowheads="1"/>
          </p:cNvSpPr>
          <p:nvPr/>
        </p:nvSpPr>
        <p:spPr bwMode="auto">
          <a:xfrm>
            <a:off x="322283" y="5593467"/>
            <a:ext cx="4249717" cy="830997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Comic Sans MS" charset="0"/>
                <a:ea typeface="宋体" charset="0"/>
              </a:defRPr>
            </a:lvl1pPr>
            <a:lvl2pPr>
              <a:defRPr sz="2400">
                <a:solidFill>
                  <a:schemeClr val="tx1"/>
                </a:solidFill>
                <a:latin typeface="Comic Sans MS" charset="0"/>
                <a:ea typeface="宋体" charset="0"/>
              </a:defRPr>
            </a:lvl2pPr>
            <a:lvl3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3pPr>
            <a:lvl4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4pPr>
            <a:lvl5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5pPr>
            <a:lvl6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6pPr>
            <a:lvl7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7pPr>
            <a:lvl8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8pPr>
            <a:lvl9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9pPr>
          </a:lstStyle>
          <a:p>
            <a:pPr eaLnBrk="1" hangingPunct="1"/>
            <a:r>
              <a:rPr lang="en-US" altLang="zh-CN" sz="2400" dirty="0">
                <a:solidFill>
                  <a:srgbClr val="0000FF"/>
                </a:solidFill>
                <a:latin typeface="+mj-lt"/>
                <a:cs typeface="Verdana"/>
              </a:rPr>
              <a:t>Size and value of x, y, </a:t>
            </a:r>
            <a:r>
              <a:rPr lang="en-US" altLang="zh-CN" sz="2400" dirty="0" err="1">
                <a:solidFill>
                  <a:srgbClr val="0000FF"/>
                </a:solidFill>
                <a:latin typeface="+mj-lt"/>
                <a:cs typeface="Verdana"/>
              </a:rPr>
              <a:t>tmp</a:t>
            </a:r>
            <a:r>
              <a:rPr lang="en-US" altLang="zh-CN" sz="2400" dirty="0">
                <a:solidFill>
                  <a:srgbClr val="0000FF"/>
                </a:solidFill>
                <a:latin typeface="+mj-lt"/>
                <a:cs typeface="Verdana"/>
              </a:rPr>
              <a:t> </a:t>
            </a:r>
          </a:p>
          <a:p>
            <a:pPr eaLnBrk="1" hangingPunct="1"/>
            <a:r>
              <a:rPr lang="en-US" altLang="zh-CN" sz="2400" dirty="0">
                <a:solidFill>
                  <a:srgbClr val="0000FF"/>
                </a:solidFill>
                <a:latin typeface="+mj-lt"/>
                <a:cs typeface="Verdana"/>
              </a:rPr>
              <a:t>in swap upon function entrance?</a:t>
            </a:r>
            <a:endParaRPr lang="zh-CN" altLang="en-US" sz="2400" dirty="0">
              <a:solidFill>
                <a:srgbClr val="FF0000"/>
              </a:solidFill>
              <a:latin typeface="+mj-lt"/>
              <a:cs typeface="Verdana"/>
            </a:endParaRPr>
          </a:p>
        </p:txBody>
      </p:sp>
      <p:sp>
        <p:nvSpPr>
          <p:cNvPr id="13" name="矩形 8"/>
          <p:cNvSpPr/>
          <p:nvPr/>
        </p:nvSpPr>
        <p:spPr>
          <a:xfrm>
            <a:off x="6125272" y="1283941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/>
              <a:t>1</a:t>
            </a:r>
            <a:endParaRPr kumimoji="1" lang="zh-CN" altLang="en-US" sz="2800" dirty="0"/>
          </a:p>
        </p:txBody>
      </p:sp>
      <p:sp>
        <p:nvSpPr>
          <p:cNvPr id="14" name="矩形 16"/>
          <p:cNvSpPr/>
          <p:nvPr/>
        </p:nvSpPr>
        <p:spPr>
          <a:xfrm>
            <a:off x="6125272" y="2035482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latin typeface="Calibri"/>
                <a:cs typeface="Calibri"/>
              </a:rPr>
              <a:t>2</a:t>
            </a:r>
            <a:endParaRPr kumimoji="1" lang="zh-CN" altLang="en-US" sz="3000" dirty="0"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931995" y="2379143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93820" y="2163699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91910" y="2035482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310840" y="1450706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305688" y="1303566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931995" y="1666150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132940" y="3045052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??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931995" y="5012190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931995" y="3663219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132940" y="4484103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??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722427" y="6085910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110486" y="95246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125272" y="268894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133902" y="5857909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000" dirty="0">
                <a:solidFill>
                  <a:prstClr val="black"/>
                </a:solidFill>
              </a:rPr>
              <a:t>??</a:t>
            </a:r>
            <a:endParaRPr kumimoji="1" lang="zh-CN" altLang="en-US" sz="3000" dirty="0"/>
          </a:p>
        </p:txBody>
      </p:sp>
      <p:sp>
        <p:nvSpPr>
          <p:cNvPr id="22" name="Right Arrow 21"/>
          <p:cNvSpPr/>
          <p:nvPr/>
        </p:nvSpPr>
        <p:spPr>
          <a:xfrm>
            <a:off x="244076" y="1624763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1BDF79C7-96D0-482C-8B1E-97058B4D4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1117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88971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x, int* y)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88971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125272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/>
              <a:t>1</a:t>
            </a:r>
            <a:endParaRPr kumimoji="1" lang="zh-CN" altLang="en-US" sz="2800" dirty="0"/>
          </a:p>
        </p:txBody>
      </p:sp>
      <p:sp>
        <p:nvSpPr>
          <p:cNvPr id="14" name="矩形 16"/>
          <p:cNvSpPr/>
          <p:nvPr/>
        </p:nvSpPr>
        <p:spPr>
          <a:xfrm>
            <a:off x="6125272" y="2192684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latin typeface="Calibri"/>
                <a:cs typeface="Calibri"/>
              </a:rPr>
              <a:t>2</a:t>
            </a:r>
            <a:endParaRPr kumimoji="1" lang="zh-CN" altLang="en-US" sz="3000" dirty="0"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931995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93820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91910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310840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305688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931995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132940" y="3202254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0xf4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931995" y="5169392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931995" y="3820421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132940" y="4641305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0xf0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722427" y="6243112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110486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125272" y="28461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133902" y="6015111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000" dirty="0">
                <a:solidFill>
                  <a:prstClr val="black"/>
                </a:solidFill>
              </a:rPr>
              <a:t>??</a:t>
            </a:r>
            <a:endParaRPr kumimoji="1" lang="zh-CN" altLang="en-US" sz="3000" dirty="0"/>
          </a:p>
        </p:txBody>
      </p:sp>
      <p:sp>
        <p:nvSpPr>
          <p:cNvPr id="8" name="Freeform 7"/>
          <p:cNvSpPr/>
          <p:nvPr/>
        </p:nvSpPr>
        <p:spPr>
          <a:xfrm>
            <a:off x="7131404" y="2003292"/>
            <a:ext cx="1141946" cy="1969856"/>
          </a:xfrm>
          <a:custGeom>
            <a:avLst/>
            <a:gdLst>
              <a:gd name="connsiteX0" fmla="*/ 0 w 1141946"/>
              <a:gd name="connsiteY0" fmla="*/ 1948035 h 1969856"/>
              <a:gd name="connsiteX1" fmla="*/ 635053 w 1141946"/>
              <a:gd name="connsiteY1" fmla="*/ 1948035 h 1969856"/>
              <a:gd name="connsiteX2" fmla="*/ 1028181 w 1141946"/>
              <a:gd name="connsiteY2" fmla="*/ 1721261 h 1969856"/>
              <a:gd name="connsiteX3" fmla="*/ 1073541 w 1141946"/>
              <a:gd name="connsiteY3" fmla="*/ 209440 h 1969856"/>
              <a:gd name="connsiteX4" fmla="*/ 166324 w 1141946"/>
              <a:gd name="connsiteY4" fmla="*/ 12903 h 196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46" h="1969856">
                <a:moveTo>
                  <a:pt x="0" y="1948035"/>
                </a:moveTo>
                <a:cubicBezTo>
                  <a:pt x="231845" y="1966933"/>
                  <a:pt x="463690" y="1985831"/>
                  <a:pt x="635053" y="1948035"/>
                </a:cubicBezTo>
                <a:cubicBezTo>
                  <a:pt x="806417" y="1910239"/>
                  <a:pt x="955100" y="2011027"/>
                  <a:pt x="1028181" y="1721261"/>
                </a:cubicBezTo>
                <a:cubicBezTo>
                  <a:pt x="1101262" y="1431495"/>
                  <a:pt x="1217184" y="494166"/>
                  <a:pt x="1073541" y="209440"/>
                </a:cubicBezTo>
                <a:cubicBezTo>
                  <a:pt x="929898" y="-75286"/>
                  <a:pt x="166324" y="12903"/>
                  <a:pt x="166324" y="12903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7086043" y="2746292"/>
            <a:ext cx="1039459" cy="2604308"/>
          </a:xfrm>
          <a:custGeom>
            <a:avLst/>
            <a:gdLst>
              <a:gd name="connsiteX0" fmla="*/ 0 w 1039459"/>
              <a:gd name="connsiteY0" fmla="*/ 2595910 h 2604308"/>
              <a:gd name="connsiteX1" fmla="*/ 816496 w 1039459"/>
              <a:gd name="connsiteY1" fmla="*/ 2520319 h 2604308"/>
              <a:gd name="connsiteX2" fmla="*/ 967699 w 1039459"/>
              <a:gd name="connsiteY2" fmla="*/ 1991182 h 2604308"/>
              <a:gd name="connsiteX3" fmla="*/ 997940 w 1039459"/>
              <a:gd name="connsiteY3" fmla="*/ 252587 h 2604308"/>
              <a:gd name="connsiteX4" fmla="*/ 393128 w 1039459"/>
              <a:gd name="connsiteY4" fmla="*/ 10696 h 2604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9459" h="2604308">
                <a:moveTo>
                  <a:pt x="0" y="2595910"/>
                </a:moveTo>
                <a:cubicBezTo>
                  <a:pt x="327606" y="2608508"/>
                  <a:pt x="655213" y="2621107"/>
                  <a:pt x="816496" y="2520319"/>
                </a:cubicBezTo>
                <a:cubicBezTo>
                  <a:pt x="977779" y="2419531"/>
                  <a:pt x="937458" y="2369137"/>
                  <a:pt x="967699" y="1991182"/>
                </a:cubicBezTo>
                <a:cubicBezTo>
                  <a:pt x="997940" y="1613227"/>
                  <a:pt x="1093702" y="582668"/>
                  <a:pt x="997940" y="252587"/>
                </a:cubicBezTo>
                <a:cubicBezTo>
                  <a:pt x="902178" y="-77494"/>
                  <a:pt x="393128" y="10696"/>
                  <a:pt x="393128" y="10696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/>
          <p:cNvSpPr/>
          <p:nvPr/>
        </p:nvSpPr>
        <p:spPr>
          <a:xfrm>
            <a:off x="244076" y="1781965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F12B698A-3F0D-442A-93F7-A2D8862EF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09912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33866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x, int* y)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33866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070167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/>
              <a:t>1</a:t>
            </a:r>
            <a:endParaRPr kumimoji="1" lang="zh-CN" altLang="en-US" sz="2800" dirty="0"/>
          </a:p>
        </p:txBody>
      </p:sp>
      <p:sp>
        <p:nvSpPr>
          <p:cNvPr id="14" name="矩形 16"/>
          <p:cNvSpPr/>
          <p:nvPr/>
        </p:nvSpPr>
        <p:spPr>
          <a:xfrm>
            <a:off x="6070167" y="2192684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latin typeface="Calibri"/>
                <a:cs typeface="Calibri"/>
              </a:rPr>
              <a:t>2</a:t>
            </a:r>
            <a:endParaRPr kumimoji="1" lang="zh-CN" altLang="en-US" sz="3000" dirty="0"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876890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38715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36805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255735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250583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876890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077835" y="3202254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0xf4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876890" y="5169392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876890" y="3820421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077835" y="4641305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0xf0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667322" y="6243112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055381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070167" y="28461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078797" y="6015111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000" dirty="0">
              <a:solidFill>
                <a:srgbClr val="FF0000"/>
              </a:solidFill>
            </a:endParaRPr>
          </a:p>
        </p:txBody>
      </p:sp>
      <p:sp>
        <p:nvSpPr>
          <p:cNvPr id="8" name="Freeform 7"/>
          <p:cNvSpPr/>
          <p:nvPr/>
        </p:nvSpPr>
        <p:spPr>
          <a:xfrm>
            <a:off x="7076299" y="2003292"/>
            <a:ext cx="1141946" cy="1969856"/>
          </a:xfrm>
          <a:custGeom>
            <a:avLst/>
            <a:gdLst>
              <a:gd name="connsiteX0" fmla="*/ 0 w 1141946"/>
              <a:gd name="connsiteY0" fmla="*/ 1948035 h 1969856"/>
              <a:gd name="connsiteX1" fmla="*/ 635053 w 1141946"/>
              <a:gd name="connsiteY1" fmla="*/ 1948035 h 1969856"/>
              <a:gd name="connsiteX2" fmla="*/ 1028181 w 1141946"/>
              <a:gd name="connsiteY2" fmla="*/ 1721261 h 1969856"/>
              <a:gd name="connsiteX3" fmla="*/ 1073541 w 1141946"/>
              <a:gd name="connsiteY3" fmla="*/ 209440 h 1969856"/>
              <a:gd name="connsiteX4" fmla="*/ 166324 w 1141946"/>
              <a:gd name="connsiteY4" fmla="*/ 12903 h 196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46" h="1969856">
                <a:moveTo>
                  <a:pt x="0" y="1948035"/>
                </a:moveTo>
                <a:cubicBezTo>
                  <a:pt x="231845" y="1966933"/>
                  <a:pt x="463690" y="1985831"/>
                  <a:pt x="635053" y="1948035"/>
                </a:cubicBezTo>
                <a:cubicBezTo>
                  <a:pt x="806417" y="1910239"/>
                  <a:pt x="955100" y="2011027"/>
                  <a:pt x="1028181" y="1721261"/>
                </a:cubicBezTo>
                <a:cubicBezTo>
                  <a:pt x="1101262" y="1431495"/>
                  <a:pt x="1217184" y="494166"/>
                  <a:pt x="1073541" y="209440"/>
                </a:cubicBezTo>
                <a:cubicBezTo>
                  <a:pt x="929898" y="-75286"/>
                  <a:pt x="166324" y="12903"/>
                  <a:pt x="166324" y="12903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 8"/>
          <p:cNvSpPr/>
          <p:nvPr/>
        </p:nvSpPr>
        <p:spPr>
          <a:xfrm>
            <a:off x="7030938" y="2746292"/>
            <a:ext cx="1039459" cy="2604308"/>
          </a:xfrm>
          <a:custGeom>
            <a:avLst/>
            <a:gdLst>
              <a:gd name="connsiteX0" fmla="*/ 0 w 1039459"/>
              <a:gd name="connsiteY0" fmla="*/ 2595910 h 2604308"/>
              <a:gd name="connsiteX1" fmla="*/ 816496 w 1039459"/>
              <a:gd name="connsiteY1" fmla="*/ 2520319 h 2604308"/>
              <a:gd name="connsiteX2" fmla="*/ 967699 w 1039459"/>
              <a:gd name="connsiteY2" fmla="*/ 1991182 h 2604308"/>
              <a:gd name="connsiteX3" fmla="*/ 997940 w 1039459"/>
              <a:gd name="connsiteY3" fmla="*/ 252587 h 2604308"/>
              <a:gd name="connsiteX4" fmla="*/ 393128 w 1039459"/>
              <a:gd name="connsiteY4" fmla="*/ 10696 h 2604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9459" h="2604308">
                <a:moveTo>
                  <a:pt x="0" y="2595910"/>
                </a:moveTo>
                <a:cubicBezTo>
                  <a:pt x="327606" y="2608508"/>
                  <a:pt x="655213" y="2621107"/>
                  <a:pt x="816496" y="2520319"/>
                </a:cubicBezTo>
                <a:cubicBezTo>
                  <a:pt x="977779" y="2419531"/>
                  <a:pt x="937458" y="2369137"/>
                  <a:pt x="967699" y="1991182"/>
                </a:cubicBezTo>
                <a:cubicBezTo>
                  <a:pt x="997940" y="1613227"/>
                  <a:pt x="1093702" y="582668"/>
                  <a:pt x="997940" y="252587"/>
                </a:cubicBezTo>
                <a:cubicBezTo>
                  <a:pt x="902178" y="-77494"/>
                  <a:pt x="393128" y="10696"/>
                  <a:pt x="393128" y="10696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ight Arrow 26"/>
          <p:cNvSpPr/>
          <p:nvPr/>
        </p:nvSpPr>
        <p:spPr>
          <a:xfrm>
            <a:off x="188971" y="2090208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A99E5900-0A33-4468-9F71-0D28C17C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F284F7-2C93-4252-970B-8555008FE05F}"/>
              </a:ext>
            </a:extLst>
          </p:cNvPr>
          <p:cNvSpPr txBox="1"/>
          <p:nvPr/>
        </p:nvSpPr>
        <p:spPr>
          <a:xfrm>
            <a:off x="6446087" y="618155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66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81304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33866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x, int* y)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33866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070167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</a:rPr>
              <a:t>1</a:t>
            </a:r>
            <a:endParaRPr kumimoji="1" lang="zh-CN" altLang="en-US" sz="2800" dirty="0">
              <a:solidFill>
                <a:schemeClr val="tx1"/>
              </a:solidFill>
            </a:endParaRPr>
          </a:p>
        </p:txBody>
      </p:sp>
      <p:sp>
        <p:nvSpPr>
          <p:cNvPr id="14" name="矩形 16"/>
          <p:cNvSpPr/>
          <p:nvPr/>
        </p:nvSpPr>
        <p:spPr>
          <a:xfrm>
            <a:off x="6070167" y="2192684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latin typeface="Calibri"/>
                <a:cs typeface="Calibri"/>
              </a:rPr>
              <a:t>2</a:t>
            </a:r>
            <a:endParaRPr kumimoji="1" lang="zh-CN" altLang="en-US" sz="3000" dirty="0"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876890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38715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36805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255735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250583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876890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077835" y="3202254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0xf4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876890" y="5169392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876890" y="3820421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077835" y="4641305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0xf0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667322" y="6243112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055381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070167" y="28461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078797" y="6015111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000" dirty="0">
                <a:solidFill>
                  <a:schemeClr val="tx1"/>
                </a:solidFill>
              </a:rPr>
              <a:t>1</a:t>
            </a:r>
            <a:endParaRPr kumimoji="1" lang="zh-CN" altLang="en-US" sz="3000" dirty="0">
              <a:solidFill>
                <a:schemeClr val="tx1"/>
              </a:solidFill>
            </a:endParaRPr>
          </a:p>
        </p:txBody>
      </p:sp>
      <p:sp>
        <p:nvSpPr>
          <p:cNvPr id="8" name="Freeform 7"/>
          <p:cNvSpPr/>
          <p:nvPr/>
        </p:nvSpPr>
        <p:spPr>
          <a:xfrm>
            <a:off x="7076299" y="2003292"/>
            <a:ext cx="1141946" cy="1969856"/>
          </a:xfrm>
          <a:custGeom>
            <a:avLst/>
            <a:gdLst>
              <a:gd name="connsiteX0" fmla="*/ 0 w 1141946"/>
              <a:gd name="connsiteY0" fmla="*/ 1948035 h 1969856"/>
              <a:gd name="connsiteX1" fmla="*/ 635053 w 1141946"/>
              <a:gd name="connsiteY1" fmla="*/ 1948035 h 1969856"/>
              <a:gd name="connsiteX2" fmla="*/ 1028181 w 1141946"/>
              <a:gd name="connsiteY2" fmla="*/ 1721261 h 1969856"/>
              <a:gd name="connsiteX3" fmla="*/ 1073541 w 1141946"/>
              <a:gd name="connsiteY3" fmla="*/ 209440 h 1969856"/>
              <a:gd name="connsiteX4" fmla="*/ 166324 w 1141946"/>
              <a:gd name="connsiteY4" fmla="*/ 12903 h 196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46" h="1969856">
                <a:moveTo>
                  <a:pt x="0" y="1948035"/>
                </a:moveTo>
                <a:cubicBezTo>
                  <a:pt x="231845" y="1966933"/>
                  <a:pt x="463690" y="1985831"/>
                  <a:pt x="635053" y="1948035"/>
                </a:cubicBezTo>
                <a:cubicBezTo>
                  <a:pt x="806417" y="1910239"/>
                  <a:pt x="955100" y="2011027"/>
                  <a:pt x="1028181" y="1721261"/>
                </a:cubicBezTo>
                <a:cubicBezTo>
                  <a:pt x="1101262" y="1431495"/>
                  <a:pt x="1217184" y="494166"/>
                  <a:pt x="1073541" y="209440"/>
                </a:cubicBezTo>
                <a:cubicBezTo>
                  <a:pt x="929898" y="-75286"/>
                  <a:pt x="166324" y="12903"/>
                  <a:pt x="166324" y="12903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 8"/>
          <p:cNvSpPr/>
          <p:nvPr/>
        </p:nvSpPr>
        <p:spPr>
          <a:xfrm>
            <a:off x="7030938" y="2746292"/>
            <a:ext cx="1039459" cy="2604308"/>
          </a:xfrm>
          <a:custGeom>
            <a:avLst/>
            <a:gdLst>
              <a:gd name="connsiteX0" fmla="*/ 0 w 1039459"/>
              <a:gd name="connsiteY0" fmla="*/ 2595910 h 2604308"/>
              <a:gd name="connsiteX1" fmla="*/ 816496 w 1039459"/>
              <a:gd name="connsiteY1" fmla="*/ 2520319 h 2604308"/>
              <a:gd name="connsiteX2" fmla="*/ 967699 w 1039459"/>
              <a:gd name="connsiteY2" fmla="*/ 1991182 h 2604308"/>
              <a:gd name="connsiteX3" fmla="*/ 997940 w 1039459"/>
              <a:gd name="connsiteY3" fmla="*/ 252587 h 2604308"/>
              <a:gd name="connsiteX4" fmla="*/ 393128 w 1039459"/>
              <a:gd name="connsiteY4" fmla="*/ 10696 h 2604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9459" h="2604308">
                <a:moveTo>
                  <a:pt x="0" y="2595910"/>
                </a:moveTo>
                <a:cubicBezTo>
                  <a:pt x="327606" y="2608508"/>
                  <a:pt x="655213" y="2621107"/>
                  <a:pt x="816496" y="2520319"/>
                </a:cubicBezTo>
                <a:cubicBezTo>
                  <a:pt x="977779" y="2419531"/>
                  <a:pt x="937458" y="2369137"/>
                  <a:pt x="967699" y="1991182"/>
                </a:cubicBezTo>
                <a:cubicBezTo>
                  <a:pt x="997940" y="1613227"/>
                  <a:pt x="1093702" y="582668"/>
                  <a:pt x="997940" y="252587"/>
                </a:cubicBezTo>
                <a:cubicBezTo>
                  <a:pt x="902178" y="-77494"/>
                  <a:pt x="393128" y="10696"/>
                  <a:pt x="393128" y="10696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ight Arrow 26"/>
          <p:cNvSpPr/>
          <p:nvPr/>
        </p:nvSpPr>
        <p:spPr>
          <a:xfrm>
            <a:off x="188971" y="2415891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12969D1A-6A9B-4873-994D-D5997B257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79E53-86A4-4B07-9137-2DF22C6B268F}"/>
              </a:ext>
            </a:extLst>
          </p:cNvPr>
          <p:cNvSpPr txBox="1"/>
          <p:nvPr/>
        </p:nvSpPr>
        <p:spPr>
          <a:xfrm>
            <a:off x="6446087" y="1592519"/>
            <a:ext cx="36740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6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4993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33866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x, int* y)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33866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070167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</a:rPr>
              <a:t>2</a:t>
            </a:r>
            <a:endParaRPr kumimoji="1" lang="zh-CN" altLang="en-US" sz="2800" dirty="0">
              <a:solidFill>
                <a:schemeClr val="tx1"/>
              </a:solidFill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876890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38715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36805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255735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250583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876890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077835" y="3202254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0xf4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876890" y="5169392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876890" y="3820421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077835" y="4641305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0xf0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667322" y="6243112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055381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070167" y="2919356"/>
            <a:ext cx="1091998" cy="282897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078797" y="6015111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000" dirty="0">
                <a:solidFill>
                  <a:schemeClr val="tx1"/>
                </a:solidFill>
              </a:rPr>
              <a:t>1</a:t>
            </a:r>
            <a:endParaRPr kumimoji="1" lang="zh-CN" altLang="en-US" sz="3000" dirty="0">
              <a:solidFill>
                <a:schemeClr val="tx1"/>
              </a:solidFill>
            </a:endParaRPr>
          </a:p>
        </p:txBody>
      </p:sp>
      <p:sp>
        <p:nvSpPr>
          <p:cNvPr id="8" name="Freeform 7"/>
          <p:cNvSpPr/>
          <p:nvPr/>
        </p:nvSpPr>
        <p:spPr>
          <a:xfrm>
            <a:off x="7076299" y="2003292"/>
            <a:ext cx="1141946" cy="1969856"/>
          </a:xfrm>
          <a:custGeom>
            <a:avLst/>
            <a:gdLst>
              <a:gd name="connsiteX0" fmla="*/ 0 w 1141946"/>
              <a:gd name="connsiteY0" fmla="*/ 1948035 h 1969856"/>
              <a:gd name="connsiteX1" fmla="*/ 635053 w 1141946"/>
              <a:gd name="connsiteY1" fmla="*/ 1948035 h 1969856"/>
              <a:gd name="connsiteX2" fmla="*/ 1028181 w 1141946"/>
              <a:gd name="connsiteY2" fmla="*/ 1721261 h 1969856"/>
              <a:gd name="connsiteX3" fmla="*/ 1073541 w 1141946"/>
              <a:gd name="connsiteY3" fmla="*/ 209440 h 1969856"/>
              <a:gd name="connsiteX4" fmla="*/ 166324 w 1141946"/>
              <a:gd name="connsiteY4" fmla="*/ 12903 h 196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46" h="1969856">
                <a:moveTo>
                  <a:pt x="0" y="1948035"/>
                </a:moveTo>
                <a:cubicBezTo>
                  <a:pt x="231845" y="1966933"/>
                  <a:pt x="463690" y="1985831"/>
                  <a:pt x="635053" y="1948035"/>
                </a:cubicBezTo>
                <a:cubicBezTo>
                  <a:pt x="806417" y="1910239"/>
                  <a:pt x="955100" y="2011027"/>
                  <a:pt x="1028181" y="1721261"/>
                </a:cubicBezTo>
                <a:cubicBezTo>
                  <a:pt x="1101262" y="1431495"/>
                  <a:pt x="1217184" y="494166"/>
                  <a:pt x="1073541" y="209440"/>
                </a:cubicBezTo>
                <a:cubicBezTo>
                  <a:pt x="929898" y="-75286"/>
                  <a:pt x="166324" y="12903"/>
                  <a:pt x="166324" y="12903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 8"/>
          <p:cNvSpPr/>
          <p:nvPr/>
        </p:nvSpPr>
        <p:spPr>
          <a:xfrm>
            <a:off x="7030938" y="2746292"/>
            <a:ext cx="1039459" cy="2604308"/>
          </a:xfrm>
          <a:custGeom>
            <a:avLst/>
            <a:gdLst>
              <a:gd name="connsiteX0" fmla="*/ 0 w 1039459"/>
              <a:gd name="connsiteY0" fmla="*/ 2595910 h 2604308"/>
              <a:gd name="connsiteX1" fmla="*/ 816496 w 1039459"/>
              <a:gd name="connsiteY1" fmla="*/ 2520319 h 2604308"/>
              <a:gd name="connsiteX2" fmla="*/ 967699 w 1039459"/>
              <a:gd name="connsiteY2" fmla="*/ 1991182 h 2604308"/>
              <a:gd name="connsiteX3" fmla="*/ 997940 w 1039459"/>
              <a:gd name="connsiteY3" fmla="*/ 252587 h 2604308"/>
              <a:gd name="connsiteX4" fmla="*/ 393128 w 1039459"/>
              <a:gd name="connsiteY4" fmla="*/ 10696 h 2604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9459" h="2604308">
                <a:moveTo>
                  <a:pt x="0" y="2595910"/>
                </a:moveTo>
                <a:cubicBezTo>
                  <a:pt x="327606" y="2608508"/>
                  <a:pt x="655213" y="2621107"/>
                  <a:pt x="816496" y="2520319"/>
                </a:cubicBezTo>
                <a:cubicBezTo>
                  <a:pt x="977779" y="2419531"/>
                  <a:pt x="937458" y="2369137"/>
                  <a:pt x="967699" y="1991182"/>
                </a:cubicBezTo>
                <a:cubicBezTo>
                  <a:pt x="997940" y="1613227"/>
                  <a:pt x="1093702" y="582668"/>
                  <a:pt x="997940" y="252587"/>
                </a:cubicBezTo>
                <a:cubicBezTo>
                  <a:pt x="902178" y="-77494"/>
                  <a:pt x="393128" y="10696"/>
                  <a:pt x="393128" y="10696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ight Arrow 26"/>
          <p:cNvSpPr/>
          <p:nvPr/>
        </p:nvSpPr>
        <p:spPr>
          <a:xfrm>
            <a:off x="188971" y="2647608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BBF91E1-A398-4E65-88BF-0DBD869BF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  <p:sp>
        <p:nvSpPr>
          <p:cNvPr id="2" name="矩形 8">
            <a:extLst>
              <a:ext uri="{FF2B5EF4-FFF2-40B4-BE49-F238E27FC236}">
                <a16:creationId xmlns:a16="http://schemas.microsoft.com/office/drawing/2014/main" id="{AE19B63D-F64C-4BC1-87B7-6368411C49C0}"/>
              </a:ext>
            </a:extLst>
          </p:cNvPr>
          <p:cNvSpPr/>
          <p:nvPr/>
        </p:nvSpPr>
        <p:spPr>
          <a:xfrm>
            <a:off x="6077835" y="2180002"/>
            <a:ext cx="1091998" cy="739355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</a:rPr>
              <a:t>2</a:t>
            </a:r>
            <a:endParaRPr kumimoji="1" lang="zh-CN" altLang="en-US" sz="2800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90BB9A-DBAD-4118-97F9-858DA5C7BA84}"/>
              </a:ext>
            </a:extLst>
          </p:cNvPr>
          <p:cNvSpPr txBox="1"/>
          <p:nvPr/>
        </p:nvSpPr>
        <p:spPr>
          <a:xfrm>
            <a:off x="6449767" y="2310751"/>
            <a:ext cx="348133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66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79026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88971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a, int* b)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*a;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*a = *b;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*b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88971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125272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</a:rPr>
              <a:t>2</a:t>
            </a:r>
            <a:endParaRPr kumimoji="1" lang="zh-CN" altLang="en-US" sz="2800" dirty="0">
              <a:solidFill>
                <a:schemeClr val="tx1"/>
              </a:solidFill>
            </a:endParaRPr>
          </a:p>
        </p:txBody>
      </p:sp>
      <p:sp>
        <p:nvSpPr>
          <p:cNvPr id="14" name="矩形 16"/>
          <p:cNvSpPr/>
          <p:nvPr/>
        </p:nvSpPr>
        <p:spPr>
          <a:xfrm>
            <a:off x="6125272" y="2192684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solidFill>
                  <a:srgbClr val="FF0000"/>
                </a:solidFill>
                <a:latin typeface="Calibri"/>
                <a:cs typeface="Calibri"/>
              </a:rPr>
              <a:t>1</a:t>
            </a:r>
            <a:endParaRPr kumimoji="1" lang="zh-CN" altLang="en-US" sz="30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931995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93820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91910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310840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305688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931995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06" name="矩形 3"/>
          <p:cNvSpPr/>
          <p:nvPr/>
        </p:nvSpPr>
        <p:spPr>
          <a:xfrm>
            <a:off x="6110486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125272" y="28461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4722427" y="2003292"/>
            <a:ext cx="3550923" cy="4790258"/>
            <a:chOff x="4667322" y="1408209"/>
            <a:chExt cx="3550923" cy="4790258"/>
          </a:xfrm>
        </p:grpSpPr>
        <p:sp>
          <p:nvSpPr>
            <p:cNvPr id="83" name="矩形 29"/>
            <p:cNvSpPr/>
            <p:nvPr/>
          </p:nvSpPr>
          <p:spPr>
            <a:xfrm>
              <a:off x="4876890" y="4574309"/>
              <a:ext cx="100219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 err="1">
                  <a:latin typeface="Verdana"/>
                  <a:ea typeface="宋体" pitchFamily="2" charset="-122"/>
                  <a:cs typeface="Verdana"/>
                </a:rPr>
                <a:t>swap.b</a:t>
              </a:r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: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84" name="矩形 39"/>
            <p:cNvSpPr/>
            <p:nvPr/>
          </p:nvSpPr>
          <p:spPr>
            <a:xfrm>
              <a:off x="4876890" y="3225338"/>
              <a:ext cx="107305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 err="1">
                  <a:latin typeface="Consolas"/>
                  <a:ea typeface="宋体" pitchFamily="2" charset="-122"/>
                  <a:cs typeface="Consolas"/>
                </a:rPr>
                <a:t>swap.a</a:t>
              </a:r>
              <a:r>
                <a:rPr lang="en-US" altLang="zh-CN" dirty="0">
                  <a:latin typeface="Consolas"/>
                  <a:ea typeface="宋体" pitchFamily="2" charset="-122"/>
                  <a:cs typeface="Consolas"/>
                </a:rPr>
                <a:t>:</a:t>
              </a:r>
              <a:endParaRPr lang="zh-CN" altLang="en-US" dirty="0"/>
            </a:p>
          </p:txBody>
        </p:sp>
        <p:sp>
          <p:nvSpPr>
            <p:cNvPr id="92" name="矩形 29"/>
            <p:cNvSpPr/>
            <p:nvPr/>
          </p:nvSpPr>
          <p:spPr>
            <a:xfrm>
              <a:off x="4667322" y="5648029"/>
              <a:ext cx="128262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 err="1">
                  <a:latin typeface="Verdana"/>
                  <a:ea typeface="宋体" pitchFamily="2" charset="-122"/>
                  <a:cs typeface="Verdana"/>
                </a:rPr>
                <a:t>swap.tmp</a:t>
              </a:r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: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077835" y="1408209"/>
              <a:ext cx="2140410" cy="4790258"/>
              <a:chOff x="6077835" y="1408209"/>
              <a:chExt cx="2140410" cy="4790258"/>
            </a:xfrm>
          </p:grpSpPr>
          <p:sp>
            <p:nvSpPr>
              <p:cNvPr id="82" name="矩形 7"/>
              <p:cNvSpPr/>
              <p:nvPr/>
            </p:nvSpPr>
            <p:spPr>
              <a:xfrm>
                <a:off x="6077835" y="2607171"/>
                <a:ext cx="1091998" cy="1439051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3000" dirty="0"/>
                  <a:t>0xf4</a:t>
                </a:r>
                <a:endParaRPr kumimoji="1" lang="zh-CN" altLang="en-US" sz="3000" dirty="0"/>
              </a:p>
            </p:txBody>
          </p:sp>
          <p:sp>
            <p:nvSpPr>
              <p:cNvPr id="85" name="矩形 8"/>
              <p:cNvSpPr/>
              <p:nvPr/>
            </p:nvSpPr>
            <p:spPr>
              <a:xfrm>
                <a:off x="6077835" y="4046222"/>
                <a:ext cx="1091998" cy="1359249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3000" dirty="0"/>
                  <a:t>0xf0</a:t>
                </a:r>
                <a:endParaRPr kumimoji="1" lang="zh-CN" altLang="en-US" sz="3000" dirty="0"/>
              </a:p>
            </p:txBody>
          </p:sp>
          <p:sp>
            <p:nvSpPr>
              <p:cNvPr id="108" name="矩形 3"/>
              <p:cNvSpPr/>
              <p:nvPr/>
            </p:nvSpPr>
            <p:spPr>
              <a:xfrm>
                <a:off x="6078797" y="5420028"/>
                <a:ext cx="1091998" cy="778439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50000"/>
                  </a:lnSpc>
                </a:pPr>
                <a:r>
                  <a:rPr kumimoji="1" lang="en-US" altLang="zh-CN" sz="3000" dirty="0">
                    <a:solidFill>
                      <a:schemeClr val="tx1"/>
                    </a:solidFill>
                  </a:rPr>
                  <a:t>1</a:t>
                </a:r>
                <a:endParaRPr kumimoji="1" lang="zh-CN" altLang="en-US" sz="3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Freeform 7"/>
              <p:cNvSpPr/>
              <p:nvPr/>
            </p:nvSpPr>
            <p:spPr>
              <a:xfrm>
                <a:off x="7076299" y="1408209"/>
                <a:ext cx="1141946" cy="1969856"/>
              </a:xfrm>
              <a:custGeom>
                <a:avLst/>
                <a:gdLst>
                  <a:gd name="connsiteX0" fmla="*/ 0 w 1141946"/>
                  <a:gd name="connsiteY0" fmla="*/ 1948035 h 1969856"/>
                  <a:gd name="connsiteX1" fmla="*/ 635053 w 1141946"/>
                  <a:gd name="connsiteY1" fmla="*/ 1948035 h 1969856"/>
                  <a:gd name="connsiteX2" fmla="*/ 1028181 w 1141946"/>
                  <a:gd name="connsiteY2" fmla="*/ 1721261 h 1969856"/>
                  <a:gd name="connsiteX3" fmla="*/ 1073541 w 1141946"/>
                  <a:gd name="connsiteY3" fmla="*/ 209440 h 1969856"/>
                  <a:gd name="connsiteX4" fmla="*/ 166324 w 1141946"/>
                  <a:gd name="connsiteY4" fmla="*/ 12903 h 196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1946" h="1969856">
                    <a:moveTo>
                      <a:pt x="0" y="1948035"/>
                    </a:moveTo>
                    <a:cubicBezTo>
                      <a:pt x="231845" y="1966933"/>
                      <a:pt x="463690" y="1985831"/>
                      <a:pt x="635053" y="1948035"/>
                    </a:cubicBezTo>
                    <a:cubicBezTo>
                      <a:pt x="806417" y="1910239"/>
                      <a:pt x="955100" y="2011027"/>
                      <a:pt x="1028181" y="1721261"/>
                    </a:cubicBezTo>
                    <a:cubicBezTo>
                      <a:pt x="1101262" y="1431495"/>
                      <a:pt x="1217184" y="494166"/>
                      <a:pt x="1073541" y="209440"/>
                    </a:cubicBezTo>
                    <a:cubicBezTo>
                      <a:pt x="929898" y="-75286"/>
                      <a:pt x="166324" y="12903"/>
                      <a:pt x="166324" y="12903"/>
                    </a:cubicBezTo>
                  </a:path>
                </a:pathLst>
              </a:custGeom>
              <a:ln>
                <a:headEnd type="none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Freeform 8"/>
              <p:cNvSpPr/>
              <p:nvPr/>
            </p:nvSpPr>
            <p:spPr>
              <a:xfrm>
                <a:off x="7030938" y="2151209"/>
                <a:ext cx="1039459" cy="2604308"/>
              </a:xfrm>
              <a:custGeom>
                <a:avLst/>
                <a:gdLst>
                  <a:gd name="connsiteX0" fmla="*/ 0 w 1039459"/>
                  <a:gd name="connsiteY0" fmla="*/ 2595910 h 2604308"/>
                  <a:gd name="connsiteX1" fmla="*/ 816496 w 1039459"/>
                  <a:gd name="connsiteY1" fmla="*/ 2520319 h 2604308"/>
                  <a:gd name="connsiteX2" fmla="*/ 967699 w 1039459"/>
                  <a:gd name="connsiteY2" fmla="*/ 1991182 h 2604308"/>
                  <a:gd name="connsiteX3" fmla="*/ 997940 w 1039459"/>
                  <a:gd name="connsiteY3" fmla="*/ 252587 h 2604308"/>
                  <a:gd name="connsiteX4" fmla="*/ 393128 w 1039459"/>
                  <a:gd name="connsiteY4" fmla="*/ 10696 h 2604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9459" h="2604308">
                    <a:moveTo>
                      <a:pt x="0" y="2595910"/>
                    </a:moveTo>
                    <a:cubicBezTo>
                      <a:pt x="327606" y="2608508"/>
                      <a:pt x="655213" y="2621107"/>
                      <a:pt x="816496" y="2520319"/>
                    </a:cubicBezTo>
                    <a:cubicBezTo>
                      <a:pt x="977779" y="2419531"/>
                      <a:pt x="937458" y="2369137"/>
                      <a:pt x="967699" y="1991182"/>
                    </a:cubicBezTo>
                    <a:cubicBezTo>
                      <a:pt x="997940" y="1613227"/>
                      <a:pt x="1093702" y="582668"/>
                      <a:pt x="997940" y="252587"/>
                    </a:cubicBezTo>
                    <a:cubicBezTo>
                      <a:pt x="902178" y="-77494"/>
                      <a:pt x="393128" y="10696"/>
                      <a:pt x="393128" y="10696"/>
                    </a:cubicBezTo>
                  </a:path>
                </a:pathLst>
              </a:custGeom>
              <a:ln>
                <a:headEnd type="none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27" name="Right Arrow 26"/>
          <p:cNvSpPr/>
          <p:nvPr/>
        </p:nvSpPr>
        <p:spPr>
          <a:xfrm>
            <a:off x="244076" y="4641305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标题 1">
            <a:extLst>
              <a:ext uri="{FF2B5EF4-FFF2-40B4-BE49-F238E27FC236}">
                <a16:creationId xmlns:a16="http://schemas.microsoft.com/office/drawing/2014/main" id="{AF71E701-CEC0-44FB-AE11-D0A8108FA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7339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2171700" y="3771900"/>
            <a:ext cx="5197083" cy="13144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Array is a collection of contiguous objects with the same type</a:t>
            </a:r>
          </a:p>
        </p:txBody>
      </p:sp>
    </p:spTree>
    <p:extLst>
      <p:ext uri="{BB962C8B-B14F-4D97-AF65-F5344CB8AC3E}">
        <p14:creationId xmlns:p14="http://schemas.microsoft.com/office/powerpoint/2010/main" val="30424602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44936" y="324201"/>
            <a:ext cx="7886700" cy="994172"/>
          </a:xfrm>
        </p:spPr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8C3EB5-AF10-E74E-A0DD-DCF93483C85E}"/>
              </a:ext>
            </a:extLst>
          </p:cNvPr>
          <p:cNvSpPr txBox="1"/>
          <p:nvPr/>
        </p:nvSpPr>
        <p:spPr>
          <a:xfrm>
            <a:off x="4351306" y="2411555"/>
            <a:ext cx="3082447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Access method-1: use index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B51185-D14E-F945-A3B7-180546153DD4}"/>
              </a:ext>
            </a:extLst>
          </p:cNvPr>
          <p:cNvSpPr txBox="1"/>
          <p:nvPr/>
        </p:nvSpPr>
        <p:spPr>
          <a:xfrm>
            <a:off x="4204499" y="1958594"/>
            <a:ext cx="35702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int a[4] = {1, 2, 3, 4};</a:t>
            </a:r>
          </a:p>
        </p:txBody>
      </p:sp>
      <p:graphicFrame>
        <p:nvGraphicFramePr>
          <p:cNvPr id="30" name="Table 30">
            <a:extLst>
              <a:ext uri="{FF2B5EF4-FFF2-40B4-BE49-F238E27FC236}">
                <a16:creationId xmlns:a16="http://schemas.microsoft.com/office/drawing/2014/main" id="{DC292B06-09C5-4607-B7DF-670426EF6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082697"/>
              </p:ext>
            </p:extLst>
          </p:nvPr>
        </p:nvGraphicFramePr>
        <p:xfrm>
          <a:off x="1293854" y="1910951"/>
          <a:ext cx="1165721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5721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32" name="矩形 46">
            <a:extLst>
              <a:ext uri="{FF2B5EF4-FFF2-40B4-BE49-F238E27FC236}">
                <a16:creationId xmlns:a16="http://schemas.microsoft.com/office/drawing/2014/main" id="{B613BD33-BA31-4274-9A8C-1CF9ADDA64FF}"/>
              </a:ext>
            </a:extLst>
          </p:cNvPr>
          <p:cNvSpPr/>
          <p:nvPr/>
        </p:nvSpPr>
        <p:spPr>
          <a:xfrm>
            <a:off x="2445542" y="5028124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33" name="矩形 46">
            <a:extLst>
              <a:ext uri="{FF2B5EF4-FFF2-40B4-BE49-F238E27FC236}">
                <a16:creationId xmlns:a16="http://schemas.microsoft.com/office/drawing/2014/main" id="{E44A6FFC-1CB4-43DE-8F32-E4DCE40EF78F}"/>
              </a:ext>
            </a:extLst>
          </p:cNvPr>
          <p:cNvSpPr/>
          <p:nvPr/>
        </p:nvSpPr>
        <p:spPr>
          <a:xfrm>
            <a:off x="2444939" y="4582948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34" name="矩形 46">
            <a:extLst>
              <a:ext uri="{FF2B5EF4-FFF2-40B4-BE49-F238E27FC236}">
                <a16:creationId xmlns:a16="http://schemas.microsoft.com/office/drawing/2014/main" id="{8E59C647-1C2E-4EB2-9FA8-036850E1DC9A}"/>
              </a:ext>
            </a:extLst>
          </p:cNvPr>
          <p:cNvSpPr/>
          <p:nvPr/>
        </p:nvSpPr>
        <p:spPr>
          <a:xfrm>
            <a:off x="2453396" y="4157215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36" name="矩形 46">
            <a:extLst>
              <a:ext uri="{FF2B5EF4-FFF2-40B4-BE49-F238E27FC236}">
                <a16:creationId xmlns:a16="http://schemas.microsoft.com/office/drawing/2014/main" id="{877441E1-A0B4-4F6C-ABEE-17718B739BAB}"/>
              </a:ext>
            </a:extLst>
          </p:cNvPr>
          <p:cNvSpPr/>
          <p:nvPr/>
        </p:nvSpPr>
        <p:spPr>
          <a:xfrm>
            <a:off x="2430301" y="3696799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sz="1200" dirty="0">
              <a:latin typeface="Verdana"/>
              <a:cs typeface="Verdana"/>
            </a:endParaRPr>
          </a:p>
        </p:txBody>
      </p:sp>
      <p:sp>
        <p:nvSpPr>
          <p:cNvPr id="38" name="矩形 46">
            <a:extLst>
              <a:ext uri="{FF2B5EF4-FFF2-40B4-BE49-F238E27FC236}">
                <a16:creationId xmlns:a16="http://schemas.microsoft.com/office/drawing/2014/main" id="{0DE84DC9-ED29-4A8C-B223-658B79554827}"/>
              </a:ext>
            </a:extLst>
          </p:cNvPr>
          <p:cNvSpPr/>
          <p:nvPr/>
        </p:nvSpPr>
        <p:spPr>
          <a:xfrm>
            <a:off x="2444938" y="3263238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42" name="矩形 46">
            <a:extLst>
              <a:ext uri="{FF2B5EF4-FFF2-40B4-BE49-F238E27FC236}">
                <a16:creationId xmlns:a16="http://schemas.microsoft.com/office/drawing/2014/main" id="{4587E5A7-9EEC-4DC0-90D5-92183046D0DB}"/>
              </a:ext>
            </a:extLst>
          </p:cNvPr>
          <p:cNvSpPr/>
          <p:nvPr/>
        </p:nvSpPr>
        <p:spPr>
          <a:xfrm>
            <a:off x="2427624" y="2845268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44" name="矩形 46">
            <a:extLst>
              <a:ext uri="{FF2B5EF4-FFF2-40B4-BE49-F238E27FC236}">
                <a16:creationId xmlns:a16="http://schemas.microsoft.com/office/drawing/2014/main" id="{51D209D4-73B0-49FC-B534-7489D791962F}"/>
              </a:ext>
            </a:extLst>
          </p:cNvPr>
          <p:cNvSpPr/>
          <p:nvPr/>
        </p:nvSpPr>
        <p:spPr>
          <a:xfrm>
            <a:off x="2426041" y="2399670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0x118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46" name="矩形 46">
            <a:extLst>
              <a:ext uri="{FF2B5EF4-FFF2-40B4-BE49-F238E27FC236}">
                <a16:creationId xmlns:a16="http://schemas.microsoft.com/office/drawing/2014/main" id="{A54CCAE3-7B93-46A7-8D54-107A4FF94807}"/>
              </a:ext>
            </a:extLst>
          </p:cNvPr>
          <p:cNvSpPr/>
          <p:nvPr/>
        </p:nvSpPr>
        <p:spPr>
          <a:xfrm>
            <a:off x="2426041" y="1963075"/>
            <a:ext cx="8835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0x11c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0468D2-CDE6-4B73-B847-F9113EDF0436}"/>
              </a:ext>
            </a:extLst>
          </p:cNvPr>
          <p:cNvSpPr txBox="1"/>
          <p:nvPr/>
        </p:nvSpPr>
        <p:spPr>
          <a:xfrm>
            <a:off x="223450" y="3263207"/>
            <a:ext cx="4818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4C1254-165D-44C7-84CC-CE574D5E6FBE}"/>
              </a:ext>
            </a:extLst>
          </p:cNvPr>
          <p:cNvSpPr txBox="1"/>
          <p:nvPr/>
        </p:nvSpPr>
        <p:spPr>
          <a:xfrm>
            <a:off x="4333993" y="2874906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a[3] = 0;</a:t>
            </a:r>
          </a:p>
        </p:txBody>
      </p:sp>
      <p:graphicFrame>
        <p:nvGraphicFramePr>
          <p:cNvPr id="61" name="Table 30">
            <a:extLst>
              <a:ext uri="{FF2B5EF4-FFF2-40B4-BE49-F238E27FC236}">
                <a16:creationId xmlns:a16="http://schemas.microsoft.com/office/drawing/2014/main" id="{DD5A0F98-E067-4622-A08B-0F28EC814C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867984"/>
              </p:ext>
            </p:extLst>
          </p:nvPr>
        </p:nvGraphicFramePr>
        <p:xfrm>
          <a:off x="674979" y="1962786"/>
          <a:ext cx="663083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3083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a[3]: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a[2]: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a[1]: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a[0]: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63" name="TextBox 62">
            <a:extLst>
              <a:ext uri="{FF2B5EF4-FFF2-40B4-BE49-F238E27FC236}">
                <a16:creationId xmlns:a16="http://schemas.microsoft.com/office/drawing/2014/main" id="{1438B4FA-1BDA-41DB-BBF0-DE16C14C95DD}"/>
              </a:ext>
            </a:extLst>
          </p:cNvPr>
          <p:cNvSpPr txBox="1"/>
          <p:nvPr/>
        </p:nvSpPr>
        <p:spPr>
          <a:xfrm>
            <a:off x="1697083" y="1958594"/>
            <a:ext cx="325730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04188CD5-35B2-469E-9FBB-50531813DB40}"/>
              </a:ext>
            </a:extLst>
          </p:cNvPr>
          <p:cNvGrpSpPr/>
          <p:nvPr/>
        </p:nvGrpSpPr>
        <p:grpSpPr>
          <a:xfrm>
            <a:off x="3910998" y="3881465"/>
            <a:ext cx="4126097" cy="707886"/>
            <a:chOff x="4955059" y="3782638"/>
            <a:chExt cx="5501463" cy="943848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5006886-C42A-4D49-B932-989462946BBB}"/>
                </a:ext>
              </a:extLst>
            </p:cNvPr>
            <p:cNvSpPr txBox="1"/>
            <p:nvPr/>
          </p:nvSpPr>
          <p:spPr>
            <a:xfrm>
              <a:off x="5428735" y="3782638"/>
              <a:ext cx="5027787" cy="9438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There’s no meta-data (e.g. length) </a:t>
              </a:r>
            </a:p>
            <a:p>
              <a:r>
                <a:rPr lang="en-US" sz="2000" dirty="0"/>
                <a:t>associated/stored with the array</a:t>
              </a:r>
            </a:p>
          </p:txBody>
        </p:sp>
        <p:sp>
          <p:nvSpPr>
            <p:cNvPr id="68" name="&quot;Not Allowed&quot; Symbol 67">
              <a:extLst>
                <a:ext uri="{FF2B5EF4-FFF2-40B4-BE49-F238E27FC236}">
                  <a16:creationId xmlns:a16="http://schemas.microsoft.com/office/drawing/2014/main" id="{DBA5950D-4707-4E0D-9C5F-CE1AB24F2800}"/>
                </a:ext>
              </a:extLst>
            </p:cNvPr>
            <p:cNvSpPr/>
            <p:nvPr/>
          </p:nvSpPr>
          <p:spPr>
            <a:xfrm>
              <a:off x="4955059" y="3782638"/>
              <a:ext cx="473676" cy="469556"/>
            </a:xfrm>
            <a:prstGeom prst="noSmoking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5506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57" grpId="0"/>
      <p:bldP spid="6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EE45D-3249-473B-90A2-DE66C56E1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944" y="274580"/>
            <a:ext cx="7886700" cy="994172"/>
          </a:xfrm>
        </p:spPr>
        <p:txBody>
          <a:bodyPr/>
          <a:lstStyle/>
          <a:p>
            <a:r>
              <a:rPr lang="en-US" dirty="0"/>
              <a:t>Array access using pointer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9AAEB0-FAF8-4A1E-9011-094DAB621CBC}"/>
              </a:ext>
            </a:extLst>
          </p:cNvPr>
          <p:cNvSpPr txBox="1"/>
          <p:nvPr/>
        </p:nvSpPr>
        <p:spPr>
          <a:xfrm>
            <a:off x="4172309" y="1637112"/>
            <a:ext cx="1736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int *p = a;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5DF1EB-6E72-4E87-88AC-90F5B04BC4C5}"/>
              </a:ext>
            </a:extLst>
          </p:cNvPr>
          <p:cNvSpPr txBox="1"/>
          <p:nvPr/>
        </p:nvSpPr>
        <p:spPr>
          <a:xfrm>
            <a:off x="4172310" y="1327022"/>
            <a:ext cx="35702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int a[4] = {1, 2, 3, 4};</a:t>
            </a:r>
          </a:p>
        </p:txBody>
      </p:sp>
      <p:graphicFrame>
        <p:nvGraphicFramePr>
          <p:cNvPr id="20" name="Table 30">
            <a:extLst>
              <a:ext uri="{FF2B5EF4-FFF2-40B4-BE49-F238E27FC236}">
                <a16:creationId xmlns:a16="http://schemas.microsoft.com/office/drawing/2014/main" id="{0A942129-59CB-43A1-8EE5-E3CC433DE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674340"/>
              </p:ext>
            </p:extLst>
          </p:nvPr>
        </p:nvGraphicFramePr>
        <p:xfrm>
          <a:off x="1034774" y="1270871"/>
          <a:ext cx="1165721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5721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21" name="矩形 46">
            <a:extLst>
              <a:ext uri="{FF2B5EF4-FFF2-40B4-BE49-F238E27FC236}">
                <a16:creationId xmlns:a16="http://schemas.microsoft.com/office/drawing/2014/main" id="{162C3EB0-C7A0-4A1A-A5DE-1B79C3AAB9E8}"/>
              </a:ext>
            </a:extLst>
          </p:cNvPr>
          <p:cNvSpPr/>
          <p:nvPr/>
        </p:nvSpPr>
        <p:spPr>
          <a:xfrm>
            <a:off x="2171222" y="4296604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2" name="矩形 46">
            <a:extLst>
              <a:ext uri="{FF2B5EF4-FFF2-40B4-BE49-F238E27FC236}">
                <a16:creationId xmlns:a16="http://schemas.microsoft.com/office/drawing/2014/main" id="{4C56DD99-EC33-491F-B68D-9DE687447C1B}"/>
              </a:ext>
            </a:extLst>
          </p:cNvPr>
          <p:cNvSpPr/>
          <p:nvPr/>
        </p:nvSpPr>
        <p:spPr>
          <a:xfrm>
            <a:off x="2185858" y="3866668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3" name="矩形 46">
            <a:extLst>
              <a:ext uri="{FF2B5EF4-FFF2-40B4-BE49-F238E27FC236}">
                <a16:creationId xmlns:a16="http://schemas.microsoft.com/office/drawing/2014/main" id="{1F029F19-320E-4340-80C0-F150D41C9BC0}"/>
              </a:ext>
            </a:extLst>
          </p:cNvPr>
          <p:cNvSpPr/>
          <p:nvPr/>
        </p:nvSpPr>
        <p:spPr>
          <a:xfrm>
            <a:off x="2179075" y="341045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4" name="矩形 46">
            <a:extLst>
              <a:ext uri="{FF2B5EF4-FFF2-40B4-BE49-F238E27FC236}">
                <a16:creationId xmlns:a16="http://schemas.microsoft.com/office/drawing/2014/main" id="{019F376D-5848-404A-85AC-60988B67FA88}"/>
              </a:ext>
            </a:extLst>
          </p:cNvPr>
          <p:cNvSpPr/>
          <p:nvPr/>
        </p:nvSpPr>
        <p:spPr>
          <a:xfrm>
            <a:off x="2171221" y="2980519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5" name="矩形 46">
            <a:extLst>
              <a:ext uri="{FF2B5EF4-FFF2-40B4-BE49-F238E27FC236}">
                <a16:creationId xmlns:a16="http://schemas.microsoft.com/office/drawing/2014/main" id="{E178A857-DD1F-4503-95EE-2548B2216D3C}"/>
              </a:ext>
            </a:extLst>
          </p:cNvPr>
          <p:cNvSpPr/>
          <p:nvPr/>
        </p:nvSpPr>
        <p:spPr>
          <a:xfrm>
            <a:off x="2217220" y="2557897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6" name="矩形 46">
            <a:extLst>
              <a:ext uri="{FF2B5EF4-FFF2-40B4-BE49-F238E27FC236}">
                <a16:creationId xmlns:a16="http://schemas.microsoft.com/office/drawing/2014/main" id="{47B0A901-2FE9-47D1-806A-99D78D88CADF}"/>
              </a:ext>
            </a:extLst>
          </p:cNvPr>
          <p:cNvSpPr/>
          <p:nvPr/>
        </p:nvSpPr>
        <p:spPr>
          <a:xfrm>
            <a:off x="2199906" y="211487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7" name="矩形 46">
            <a:extLst>
              <a:ext uri="{FF2B5EF4-FFF2-40B4-BE49-F238E27FC236}">
                <a16:creationId xmlns:a16="http://schemas.microsoft.com/office/drawing/2014/main" id="{898CF2E7-C860-4CFF-B843-81F076A710D7}"/>
              </a:ext>
            </a:extLst>
          </p:cNvPr>
          <p:cNvSpPr/>
          <p:nvPr/>
        </p:nvSpPr>
        <p:spPr>
          <a:xfrm>
            <a:off x="2198323" y="1681803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0x118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8" name="矩形 46">
            <a:extLst>
              <a:ext uri="{FF2B5EF4-FFF2-40B4-BE49-F238E27FC236}">
                <a16:creationId xmlns:a16="http://schemas.microsoft.com/office/drawing/2014/main" id="{E2F27840-7E5C-4328-A95D-C5491EEB60BC}"/>
              </a:ext>
            </a:extLst>
          </p:cNvPr>
          <p:cNvSpPr/>
          <p:nvPr/>
        </p:nvSpPr>
        <p:spPr>
          <a:xfrm>
            <a:off x="2196690" y="1268134"/>
            <a:ext cx="8835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0x11c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999195-EAE6-40D1-BFE3-E736B9F63A1F}"/>
              </a:ext>
            </a:extLst>
          </p:cNvPr>
          <p:cNvSpPr txBox="1"/>
          <p:nvPr/>
        </p:nvSpPr>
        <p:spPr>
          <a:xfrm>
            <a:off x="-70620" y="2630995"/>
            <a:ext cx="568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a:</a:t>
            </a:r>
          </a:p>
        </p:txBody>
      </p:sp>
      <p:graphicFrame>
        <p:nvGraphicFramePr>
          <p:cNvPr id="30" name="Table 30">
            <a:extLst>
              <a:ext uri="{FF2B5EF4-FFF2-40B4-BE49-F238E27FC236}">
                <a16:creationId xmlns:a16="http://schemas.microsoft.com/office/drawing/2014/main" id="{C2B6FB25-544A-4F69-997E-46C705DFEC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231269"/>
              </p:ext>
            </p:extLst>
          </p:nvPr>
        </p:nvGraphicFramePr>
        <p:xfrm>
          <a:off x="402745" y="1285724"/>
          <a:ext cx="663083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3083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a[3]: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a[2]: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a[1]: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a[0]: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9A53BF70-E4F1-46D6-8293-0FCFD085F824}"/>
              </a:ext>
            </a:extLst>
          </p:cNvPr>
          <p:cNvSpPr txBox="1"/>
          <p:nvPr/>
        </p:nvSpPr>
        <p:spPr>
          <a:xfrm>
            <a:off x="523344" y="3965828"/>
            <a:ext cx="5419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C28F36-5790-4830-B2A2-E118F7B1CB9F}"/>
              </a:ext>
            </a:extLst>
          </p:cNvPr>
          <p:cNvSpPr txBox="1"/>
          <p:nvPr/>
        </p:nvSpPr>
        <p:spPr>
          <a:xfrm>
            <a:off x="4235977" y="2491693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*(p+3)=0;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222A5BC-A6E0-49A1-B34A-A95D5EFE7FB5}"/>
              </a:ext>
            </a:extLst>
          </p:cNvPr>
          <p:cNvGrpSpPr/>
          <p:nvPr/>
        </p:nvGrpSpPr>
        <p:grpSpPr>
          <a:xfrm>
            <a:off x="3080288" y="3534624"/>
            <a:ext cx="1490619" cy="716692"/>
            <a:chOff x="4452484" y="4423272"/>
            <a:chExt cx="1987490" cy="955589"/>
          </a:xfrm>
        </p:grpSpPr>
        <p:sp>
          <p:nvSpPr>
            <p:cNvPr id="38" name="Left Brace 37">
              <a:extLst>
                <a:ext uri="{FF2B5EF4-FFF2-40B4-BE49-F238E27FC236}">
                  <a16:creationId xmlns:a16="http://schemas.microsoft.com/office/drawing/2014/main" id="{ECE1BF52-64AC-48FD-BA66-257EFBEBF391}"/>
                </a:ext>
              </a:extLst>
            </p:cNvPr>
            <p:cNvSpPr/>
            <p:nvPr/>
          </p:nvSpPr>
          <p:spPr>
            <a:xfrm rot="10800000">
              <a:off x="4452484" y="4423272"/>
              <a:ext cx="436398" cy="955589"/>
            </a:xfrm>
            <a:prstGeom prst="leftBrace">
              <a:avLst>
                <a:gd name="adj1" fmla="val 8248"/>
                <a:gd name="adj2" fmla="val 5043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4C49D7E-4219-4E5F-BE62-A85BB2D28CC9}"/>
                </a:ext>
              </a:extLst>
            </p:cNvPr>
            <p:cNvSpPr txBox="1"/>
            <p:nvPr/>
          </p:nvSpPr>
          <p:spPr>
            <a:xfrm>
              <a:off x="4799269" y="4654845"/>
              <a:ext cx="1640705" cy="4924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 is 8 bytes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FBBE622F-A1DA-4878-A1C2-A7027CC16A03}"/>
              </a:ext>
            </a:extLst>
          </p:cNvPr>
          <p:cNvSpPr txBox="1"/>
          <p:nvPr/>
        </p:nvSpPr>
        <p:spPr>
          <a:xfrm>
            <a:off x="4251217" y="2040513"/>
            <a:ext cx="4591513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Access Method-2: use pointer (arithmetic)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84E01265-F5FE-463E-9DF8-F93D95CD9C2B}"/>
              </a:ext>
            </a:extLst>
          </p:cNvPr>
          <p:cNvGrpSpPr/>
          <p:nvPr/>
        </p:nvGrpSpPr>
        <p:grpSpPr>
          <a:xfrm>
            <a:off x="3049343" y="2656734"/>
            <a:ext cx="556445" cy="369332"/>
            <a:chOff x="4411362" y="3398088"/>
            <a:chExt cx="748905" cy="493350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4B33FEFF-CE50-4F75-AB4B-A446129356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11362" y="3594377"/>
              <a:ext cx="4283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4FEBCF1-F3A9-4BEA-9B6B-65AA70914685}"/>
                </a:ext>
              </a:extLst>
            </p:cNvPr>
            <p:cNvSpPr txBox="1"/>
            <p:nvPr/>
          </p:nvSpPr>
          <p:spPr>
            <a:xfrm>
              <a:off x="4853772" y="3398088"/>
              <a:ext cx="306495" cy="4933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76D69EC3-9BBE-4AED-B943-B2891308F26D}"/>
              </a:ext>
            </a:extLst>
          </p:cNvPr>
          <p:cNvGrpSpPr/>
          <p:nvPr/>
        </p:nvGrpSpPr>
        <p:grpSpPr>
          <a:xfrm>
            <a:off x="3049345" y="2189037"/>
            <a:ext cx="1013832" cy="369332"/>
            <a:chOff x="4411365" y="2834405"/>
            <a:chExt cx="1364491" cy="493348"/>
          </a:xfrm>
        </p:grpSpPr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60E8D409-4865-4B56-BAD3-AC3A6B974559}"/>
                </a:ext>
              </a:extLst>
            </p:cNvPr>
            <p:cNvCxnSpPr>
              <a:cxnSpLocks/>
              <a:stCxn id="64" idx="1"/>
            </p:cNvCxnSpPr>
            <p:nvPr/>
          </p:nvCxnSpPr>
          <p:spPr>
            <a:xfrm flipH="1" flipV="1">
              <a:off x="4411365" y="3030699"/>
              <a:ext cx="442408" cy="503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B02EF67-A2F2-4D5E-B487-FBD3EFAA8A03}"/>
                </a:ext>
              </a:extLst>
            </p:cNvPr>
            <p:cNvSpPr txBox="1"/>
            <p:nvPr/>
          </p:nvSpPr>
          <p:spPr>
            <a:xfrm>
              <a:off x="4853773" y="2834405"/>
              <a:ext cx="922083" cy="4933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p+1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9F9A19BC-1DE6-40AB-B9FD-26105A3A3363}"/>
              </a:ext>
            </a:extLst>
          </p:cNvPr>
          <p:cNvGrpSpPr/>
          <p:nvPr/>
        </p:nvGrpSpPr>
        <p:grpSpPr>
          <a:xfrm>
            <a:off x="3038908" y="1751805"/>
            <a:ext cx="867646" cy="369332"/>
            <a:chOff x="4397318" y="2270722"/>
            <a:chExt cx="1167744" cy="493350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1F749F78-0A7E-40AC-BF79-7E68D3A1280D}"/>
                </a:ext>
              </a:extLst>
            </p:cNvPr>
            <p:cNvCxnSpPr/>
            <p:nvPr/>
          </p:nvCxnSpPr>
          <p:spPr>
            <a:xfrm flipH="1">
              <a:off x="4397318" y="2467011"/>
              <a:ext cx="4283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19252828-B419-4C79-B31E-99DF198B7535}"/>
                </a:ext>
              </a:extLst>
            </p:cNvPr>
            <p:cNvSpPr txBox="1"/>
            <p:nvPr/>
          </p:nvSpPr>
          <p:spPr>
            <a:xfrm>
              <a:off x="4839729" y="2270722"/>
              <a:ext cx="725333" cy="493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p+2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F06F115-31E5-49C0-9E69-F5313C47BC83}"/>
              </a:ext>
            </a:extLst>
          </p:cNvPr>
          <p:cNvGrpSpPr/>
          <p:nvPr/>
        </p:nvGrpSpPr>
        <p:grpSpPr>
          <a:xfrm>
            <a:off x="3038908" y="1277017"/>
            <a:ext cx="867646" cy="369332"/>
            <a:chOff x="4397318" y="1412579"/>
            <a:chExt cx="1167744" cy="493350"/>
          </a:xfrm>
        </p:grpSpPr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1F1C02AC-B9E0-4D13-9CB5-033E1C25A5FF}"/>
                </a:ext>
              </a:extLst>
            </p:cNvPr>
            <p:cNvCxnSpPr/>
            <p:nvPr/>
          </p:nvCxnSpPr>
          <p:spPr>
            <a:xfrm flipH="1">
              <a:off x="4397318" y="1710649"/>
              <a:ext cx="4283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6BA4D28-7D56-494C-8101-B23C5E2E10A5}"/>
                </a:ext>
              </a:extLst>
            </p:cNvPr>
            <p:cNvSpPr txBox="1"/>
            <p:nvPr/>
          </p:nvSpPr>
          <p:spPr>
            <a:xfrm>
              <a:off x="4839729" y="1412579"/>
              <a:ext cx="725333" cy="493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p+3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D3D3EB0-AAE3-4328-91F0-3E6802606BB0}"/>
              </a:ext>
            </a:extLst>
          </p:cNvPr>
          <p:cNvGrpSpPr/>
          <p:nvPr/>
        </p:nvGrpSpPr>
        <p:grpSpPr>
          <a:xfrm>
            <a:off x="4452422" y="2855951"/>
            <a:ext cx="4737298" cy="2217917"/>
            <a:chOff x="5977203" y="3030695"/>
            <a:chExt cx="6316397" cy="2957224"/>
          </a:xfrm>
        </p:grpSpPr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510D9445-4F03-4FF7-9D8D-3625E699AA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78834" y="3030695"/>
              <a:ext cx="267181" cy="3862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FB3F1E5-38D7-4290-BBDE-ECE1467D89E2}"/>
                </a:ext>
              </a:extLst>
            </p:cNvPr>
            <p:cNvSpPr txBox="1"/>
            <p:nvPr/>
          </p:nvSpPr>
          <p:spPr>
            <a:xfrm>
              <a:off x="5977203" y="3279484"/>
              <a:ext cx="6316397" cy="2708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dirty="0" err="1">
                  <a:latin typeface="Consolas" panose="020B0609020204030204" pitchFamily="49" charset="0"/>
                </a:rPr>
                <a:t>p+i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/>
                <a:t>points to the </a:t>
              </a:r>
              <a:r>
                <a:rPr lang="en-US" dirty="0" err="1"/>
                <a:t>i-th</a:t>
              </a:r>
              <a:r>
                <a:rPr lang="en-US" dirty="0"/>
                <a:t> element after the one pointed to by </a:t>
              </a:r>
              <a:r>
                <a:rPr lang="en-US" dirty="0">
                  <a:latin typeface="Consolas" panose="020B0609020204030204" pitchFamily="49" charset="0"/>
                </a:rPr>
                <a:t>p</a:t>
              </a:r>
            </a:p>
            <a:p>
              <a:pPr marL="342900" lvl="1"/>
              <a:r>
                <a:rPr lang="en-US" dirty="0"/>
                <a:t>i.e. </a:t>
              </a:r>
              <a:r>
                <a:rPr lang="en-US" dirty="0" err="1">
                  <a:latin typeface="Consolas" panose="020B0609020204030204" pitchFamily="49" charset="0"/>
                </a:rPr>
                <a:t>p+i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/>
                <a:t>is calculated as: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p’s value + 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sizeof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(*p) * i</a:t>
              </a:r>
            </a:p>
            <a:p>
              <a:pPr marL="342900" lvl="1"/>
              <a:r>
                <a:rPr lang="en-US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  <a:cs typeface="Consolas" panose="020B0609020204030204" pitchFamily="49" charset="0"/>
                </a:rPr>
                <a:t>*(</a:t>
              </a:r>
              <a:r>
                <a:rPr lang="en-US" dirty="0" err="1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  <a:cs typeface="Consolas" panose="020B0609020204030204" pitchFamily="49" charset="0"/>
                </a:rPr>
                <a:t>p+i</a:t>
              </a:r>
              <a:r>
                <a:rPr lang="en-US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  <a:cs typeface="Consolas" panose="020B0609020204030204" pitchFamily="49" charset="0"/>
                </a:rPr>
                <a:t>) </a:t>
              </a:r>
              <a:r>
                <a:rPr lang="en-US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is syntactically equivalent to</a:t>
              </a:r>
              <a:r>
                <a:rPr lang="en-US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  <a:cs typeface="Consolas" panose="020B0609020204030204" pitchFamily="49" charset="0"/>
                </a:rPr>
                <a:t> p[</a:t>
              </a:r>
              <a:r>
                <a:rPr lang="en-US" dirty="0" err="1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  <a:cs typeface="Consolas" panose="020B0609020204030204" pitchFamily="49" charset="0"/>
                </a:rPr>
                <a:t>i</a:t>
              </a:r>
              <a:r>
                <a:rPr lang="en-US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  <a:cs typeface="Consolas" panose="020B0609020204030204" pitchFamily="49" charset="0"/>
                </a:rPr>
                <a:t>]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dirty="0">
                  <a:latin typeface="Consolas" panose="020B0609020204030204" pitchFamily="49" charset="0"/>
                </a:rPr>
                <a:t>p–</a:t>
              </a:r>
              <a:r>
                <a:rPr lang="en-US" dirty="0" err="1"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/>
                <a:t>points to the </a:t>
              </a:r>
              <a:r>
                <a:rPr lang="en-US" dirty="0" err="1"/>
                <a:t>i-th</a:t>
              </a:r>
              <a:r>
                <a:rPr lang="en-US" dirty="0"/>
                <a:t> element before the one pointed to by p</a:t>
              </a:r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A8B4885-65AF-4FDA-918F-49A7DD75E90C}"/>
              </a:ext>
            </a:extLst>
          </p:cNvPr>
          <p:cNvSpPr txBox="1"/>
          <p:nvPr/>
        </p:nvSpPr>
        <p:spPr>
          <a:xfrm>
            <a:off x="1231480" y="3696763"/>
            <a:ext cx="846707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100" dirty="0"/>
              <a:t>0x110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945DBB-E51F-4A16-8348-5A0F11062327}"/>
              </a:ext>
            </a:extLst>
          </p:cNvPr>
          <p:cNvSpPr txBox="1"/>
          <p:nvPr/>
        </p:nvSpPr>
        <p:spPr>
          <a:xfrm>
            <a:off x="1451753" y="1273907"/>
            <a:ext cx="325730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E3AAC8E-B1EB-4974-9359-2C3147E5C275}"/>
              </a:ext>
            </a:extLst>
          </p:cNvPr>
          <p:cNvGrpSpPr/>
          <p:nvPr/>
        </p:nvGrpSpPr>
        <p:grpSpPr>
          <a:xfrm>
            <a:off x="213569" y="3000327"/>
            <a:ext cx="7758031" cy="3692049"/>
            <a:chOff x="284758" y="2857432"/>
            <a:chExt cx="10344042" cy="4922731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C6CD6F3-2CB3-42FE-9C57-1F35358F1056}"/>
                </a:ext>
              </a:extLst>
            </p:cNvPr>
            <p:cNvSpPr txBox="1"/>
            <p:nvPr/>
          </p:nvSpPr>
          <p:spPr>
            <a:xfrm>
              <a:off x="427117" y="6836316"/>
              <a:ext cx="10201683" cy="94384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 (array name) is aliased to be the memory address of the first element.</a:t>
              </a:r>
            </a:p>
            <a:p>
              <a:r>
                <a:rPr lang="en-US" sz="2000" dirty="0"/>
                <a:t>a is effectively a constant,  not a variable, cannot be changed</a:t>
              </a:r>
            </a:p>
          </p:txBody>
        </p: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680BFEF6-7A73-4E3A-A6F4-C5BE96B17B1B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284758" y="2857432"/>
              <a:ext cx="583555" cy="31254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Speech Bubble: Rectangle with Corners Rounded 73">
            <a:extLst>
              <a:ext uri="{FF2B5EF4-FFF2-40B4-BE49-F238E27FC236}">
                <a16:creationId xmlns:a16="http://schemas.microsoft.com/office/drawing/2014/main" id="{7DA9A97D-DECA-4BFB-84B7-3928F8EDE603}"/>
              </a:ext>
            </a:extLst>
          </p:cNvPr>
          <p:cNvSpPr/>
          <p:nvPr/>
        </p:nvSpPr>
        <p:spPr>
          <a:xfrm>
            <a:off x="1451753" y="5029683"/>
            <a:ext cx="2817916" cy="892534"/>
          </a:xfrm>
          <a:prstGeom prst="wedgeRoundRectCallout">
            <a:avLst>
              <a:gd name="adj1" fmla="val 72833"/>
              <a:gd name="adj2" fmla="val -156011"/>
              <a:gd name="adj3" fmla="val 16667"/>
            </a:avLst>
          </a:prstGeom>
          <a:solidFill>
            <a:schemeClr val="accent1">
              <a:lumMod val="40000"/>
              <a:lumOff val="60000"/>
              <a:alpha val="4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Built-in function </a:t>
            </a:r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 returns size (in bytes) of a given type or expression</a:t>
            </a:r>
          </a:p>
        </p:txBody>
      </p:sp>
    </p:spTree>
    <p:extLst>
      <p:ext uri="{BB962C8B-B14F-4D97-AF65-F5344CB8AC3E}">
        <p14:creationId xmlns:p14="http://schemas.microsoft.com/office/powerpoint/2010/main" val="296327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9" grpId="0" animBg="1"/>
      <p:bldP spid="75" grpId="0" animBg="1"/>
      <p:bldP spid="76" grpId="0" animBg="1"/>
      <p:bldP spid="7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EE45D-3249-473B-90A2-DE66C56E1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979" y="291281"/>
            <a:ext cx="7886700" cy="994172"/>
          </a:xfrm>
        </p:spPr>
        <p:txBody>
          <a:bodyPr/>
          <a:lstStyle/>
          <a:p>
            <a:r>
              <a:rPr lang="en-US" dirty="0"/>
              <a:t>Array access using pointer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9AAEB0-FAF8-4A1E-9011-094DAB621CBC}"/>
              </a:ext>
            </a:extLst>
          </p:cNvPr>
          <p:cNvSpPr txBox="1"/>
          <p:nvPr/>
        </p:nvSpPr>
        <p:spPr>
          <a:xfrm>
            <a:off x="4461870" y="2780112"/>
            <a:ext cx="23006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int *p = &amp;a[1];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5DF1EB-6E72-4E87-88AC-90F5B04BC4C5}"/>
              </a:ext>
            </a:extLst>
          </p:cNvPr>
          <p:cNvSpPr txBox="1"/>
          <p:nvPr/>
        </p:nvSpPr>
        <p:spPr>
          <a:xfrm>
            <a:off x="4461869" y="2470022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int a[4];</a:t>
            </a:r>
          </a:p>
        </p:txBody>
      </p:sp>
      <p:graphicFrame>
        <p:nvGraphicFramePr>
          <p:cNvPr id="20" name="Table 30">
            <a:extLst>
              <a:ext uri="{FF2B5EF4-FFF2-40B4-BE49-F238E27FC236}">
                <a16:creationId xmlns:a16="http://schemas.microsoft.com/office/drawing/2014/main" id="{0A942129-59CB-43A1-8EE5-E3CC433DEE0A}"/>
              </a:ext>
            </a:extLst>
          </p:cNvPr>
          <p:cNvGraphicFramePr>
            <a:graphicFrameLocks noGrp="1"/>
          </p:cNvGraphicFramePr>
          <p:nvPr/>
        </p:nvGraphicFramePr>
        <p:xfrm>
          <a:off x="1293854" y="1910951"/>
          <a:ext cx="1165721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5721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21" name="矩形 46">
            <a:extLst>
              <a:ext uri="{FF2B5EF4-FFF2-40B4-BE49-F238E27FC236}">
                <a16:creationId xmlns:a16="http://schemas.microsoft.com/office/drawing/2014/main" id="{162C3EB0-C7A0-4A1A-A5DE-1B79C3AAB9E8}"/>
              </a:ext>
            </a:extLst>
          </p:cNvPr>
          <p:cNvSpPr/>
          <p:nvPr/>
        </p:nvSpPr>
        <p:spPr>
          <a:xfrm>
            <a:off x="2430302" y="4967164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2" name="矩形 46">
            <a:extLst>
              <a:ext uri="{FF2B5EF4-FFF2-40B4-BE49-F238E27FC236}">
                <a16:creationId xmlns:a16="http://schemas.microsoft.com/office/drawing/2014/main" id="{4C56DD99-EC33-491F-B68D-9DE687447C1B}"/>
              </a:ext>
            </a:extLst>
          </p:cNvPr>
          <p:cNvSpPr/>
          <p:nvPr/>
        </p:nvSpPr>
        <p:spPr>
          <a:xfrm>
            <a:off x="2444938" y="4537228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3" name="矩形 46">
            <a:extLst>
              <a:ext uri="{FF2B5EF4-FFF2-40B4-BE49-F238E27FC236}">
                <a16:creationId xmlns:a16="http://schemas.microsoft.com/office/drawing/2014/main" id="{1F029F19-320E-4340-80C0-F150D41C9BC0}"/>
              </a:ext>
            </a:extLst>
          </p:cNvPr>
          <p:cNvSpPr/>
          <p:nvPr/>
        </p:nvSpPr>
        <p:spPr>
          <a:xfrm>
            <a:off x="2438155" y="408101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4" name="矩形 46">
            <a:extLst>
              <a:ext uri="{FF2B5EF4-FFF2-40B4-BE49-F238E27FC236}">
                <a16:creationId xmlns:a16="http://schemas.microsoft.com/office/drawing/2014/main" id="{019F376D-5848-404A-85AC-60988B67FA88}"/>
              </a:ext>
            </a:extLst>
          </p:cNvPr>
          <p:cNvSpPr/>
          <p:nvPr/>
        </p:nvSpPr>
        <p:spPr>
          <a:xfrm>
            <a:off x="2430301" y="3651079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5" name="矩形 46">
            <a:extLst>
              <a:ext uri="{FF2B5EF4-FFF2-40B4-BE49-F238E27FC236}">
                <a16:creationId xmlns:a16="http://schemas.microsoft.com/office/drawing/2014/main" id="{E178A857-DD1F-4503-95EE-2548B2216D3C}"/>
              </a:ext>
            </a:extLst>
          </p:cNvPr>
          <p:cNvSpPr/>
          <p:nvPr/>
        </p:nvSpPr>
        <p:spPr>
          <a:xfrm>
            <a:off x="2444938" y="3227956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6" name="矩形 46">
            <a:extLst>
              <a:ext uri="{FF2B5EF4-FFF2-40B4-BE49-F238E27FC236}">
                <a16:creationId xmlns:a16="http://schemas.microsoft.com/office/drawing/2014/main" id="{47B0A901-2FE9-47D1-806A-99D78D88CADF}"/>
              </a:ext>
            </a:extLst>
          </p:cNvPr>
          <p:cNvSpPr/>
          <p:nvPr/>
        </p:nvSpPr>
        <p:spPr>
          <a:xfrm>
            <a:off x="2427624" y="2784934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7" name="矩形 46">
            <a:extLst>
              <a:ext uri="{FF2B5EF4-FFF2-40B4-BE49-F238E27FC236}">
                <a16:creationId xmlns:a16="http://schemas.microsoft.com/office/drawing/2014/main" id="{898CF2E7-C860-4CFF-B843-81F076A710D7}"/>
              </a:ext>
            </a:extLst>
          </p:cNvPr>
          <p:cNvSpPr/>
          <p:nvPr/>
        </p:nvSpPr>
        <p:spPr>
          <a:xfrm>
            <a:off x="2426041" y="2351862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0x118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8" name="矩形 46">
            <a:extLst>
              <a:ext uri="{FF2B5EF4-FFF2-40B4-BE49-F238E27FC236}">
                <a16:creationId xmlns:a16="http://schemas.microsoft.com/office/drawing/2014/main" id="{E2F27840-7E5C-4328-A95D-C5491EEB60BC}"/>
              </a:ext>
            </a:extLst>
          </p:cNvPr>
          <p:cNvSpPr/>
          <p:nvPr/>
        </p:nvSpPr>
        <p:spPr>
          <a:xfrm>
            <a:off x="2424408" y="1938193"/>
            <a:ext cx="8835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0x11c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999195-EAE6-40D1-BFE3-E736B9F63A1F}"/>
              </a:ext>
            </a:extLst>
          </p:cNvPr>
          <p:cNvSpPr txBox="1"/>
          <p:nvPr/>
        </p:nvSpPr>
        <p:spPr>
          <a:xfrm>
            <a:off x="223209" y="3227956"/>
            <a:ext cx="383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a:</a:t>
            </a:r>
          </a:p>
        </p:txBody>
      </p:sp>
      <p:graphicFrame>
        <p:nvGraphicFramePr>
          <p:cNvPr id="30" name="Table 30">
            <a:extLst>
              <a:ext uri="{FF2B5EF4-FFF2-40B4-BE49-F238E27FC236}">
                <a16:creationId xmlns:a16="http://schemas.microsoft.com/office/drawing/2014/main" id="{C2B6FB25-544A-4F69-997E-46C705DFEC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632910"/>
              </p:ext>
            </p:extLst>
          </p:nvPr>
        </p:nvGraphicFramePr>
        <p:xfrm>
          <a:off x="688581" y="1938193"/>
          <a:ext cx="690301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0301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a[3]: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a[2]: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a[1]: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a[0]: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9A53BF70-E4F1-46D6-8293-0FCFD085F824}"/>
              </a:ext>
            </a:extLst>
          </p:cNvPr>
          <p:cNvSpPr txBox="1"/>
          <p:nvPr/>
        </p:nvSpPr>
        <p:spPr>
          <a:xfrm>
            <a:off x="910316" y="4597832"/>
            <a:ext cx="383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C28F36-5790-4830-B2A2-E118F7B1CB9F}"/>
              </a:ext>
            </a:extLst>
          </p:cNvPr>
          <p:cNvSpPr txBox="1"/>
          <p:nvPr/>
        </p:nvSpPr>
        <p:spPr>
          <a:xfrm>
            <a:off x="4498939" y="3146581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*(p+2)=0;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37E02A2-DD48-4A35-B0C1-89EA1724B751}"/>
              </a:ext>
            </a:extLst>
          </p:cNvPr>
          <p:cNvGrpSpPr/>
          <p:nvPr/>
        </p:nvGrpSpPr>
        <p:grpSpPr>
          <a:xfrm>
            <a:off x="3308522" y="2891616"/>
            <a:ext cx="561679" cy="369332"/>
            <a:chOff x="4411362" y="2834405"/>
            <a:chExt cx="748905" cy="492441"/>
          </a:xfrm>
        </p:grpSpPr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60E8D409-4865-4B56-BAD3-AC3A6B9745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11362" y="3030694"/>
              <a:ext cx="4283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B02EF67-A2F2-4D5E-B487-FBD3EFAA8A03}"/>
                </a:ext>
              </a:extLst>
            </p:cNvPr>
            <p:cNvSpPr txBox="1"/>
            <p:nvPr/>
          </p:nvSpPr>
          <p:spPr>
            <a:xfrm>
              <a:off x="4853772" y="2834405"/>
              <a:ext cx="306495" cy="492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03ECDE2-4EFB-42A9-A986-07614D15A518}"/>
              </a:ext>
            </a:extLst>
          </p:cNvPr>
          <p:cNvGrpSpPr/>
          <p:nvPr/>
        </p:nvGrpSpPr>
        <p:grpSpPr>
          <a:xfrm>
            <a:off x="3297987" y="2039020"/>
            <a:ext cx="870738" cy="783924"/>
            <a:chOff x="4397318" y="1717934"/>
            <a:chExt cx="1160985" cy="1045231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1F749F78-0A7E-40AC-BF79-7E68D3A1280D}"/>
                </a:ext>
              </a:extLst>
            </p:cNvPr>
            <p:cNvCxnSpPr/>
            <p:nvPr/>
          </p:nvCxnSpPr>
          <p:spPr>
            <a:xfrm flipH="1">
              <a:off x="4397318" y="2467011"/>
              <a:ext cx="4283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19252828-B419-4C79-B31E-99DF198B7535}"/>
                </a:ext>
              </a:extLst>
            </p:cNvPr>
            <p:cNvSpPr txBox="1"/>
            <p:nvPr/>
          </p:nvSpPr>
          <p:spPr>
            <a:xfrm>
              <a:off x="4839729" y="2270722"/>
              <a:ext cx="718574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p+1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1F1C02AC-B9E0-4D13-9CB5-033E1C25A5FF}"/>
                </a:ext>
              </a:extLst>
            </p:cNvPr>
            <p:cNvCxnSpPr/>
            <p:nvPr/>
          </p:nvCxnSpPr>
          <p:spPr>
            <a:xfrm flipH="1">
              <a:off x="4397318" y="1914223"/>
              <a:ext cx="4283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6BA4D28-7D56-494C-8101-B23C5E2E10A5}"/>
                </a:ext>
              </a:extLst>
            </p:cNvPr>
            <p:cNvSpPr txBox="1"/>
            <p:nvPr/>
          </p:nvSpPr>
          <p:spPr>
            <a:xfrm>
              <a:off x="4839729" y="1717934"/>
              <a:ext cx="718574" cy="4924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p+2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E9F153A-A1E6-4243-8319-C1AFFD161642}"/>
              </a:ext>
            </a:extLst>
          </p:cNvPr>
          <p:cNvSpPr txBox="1"/>
          <p:nvPr/>
        </p:nvSpPr>
        <p:spPr>
          <a:xfrm>
            <a:off x="1490560" y="4336843"/>
            <a:ext cx="846707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100" dirty="0"/>
              <a:t>0x114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7EF649F-49F8-435E-BB6E-4CC5774EC105}"/>
              </a:ext>
            </a:extLst>
          </p:cNvPr>
          <p:cNvSpPr/>
          <p:nvPr/>
        </p:nvSpPr>
        <p:spPr>
          <a:xfrm>
            <a:off x="4662316" y="4197299"/>
            <a:ext cx="3758615" cy="720346"/>
          </a:xfrm>
          <a:prstGeom prst="wedgeRoundRectCallout">
            <a:avLst>
              <a:gd name="adj1" fmla="val -37703"/>
              <a:gd name="adj2" fmla="val -133832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*(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p+i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chemeClr val="tx1"/>
                </a:solidFill>
              </a:rPr>
              <a:t> is syntactically equivalent to: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p[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1DDD07-431C-4929-AA9E-3B8F1954C9A5}"/>
              </a:ext>
            </a:extLst>
          </p:cNvPr>
          <p:cNvSpPr txBox="1"/>
          <p:nvPr/>
        </p:nvSpPr>
        <p:spPr>
          <a:xfrm>
            <a:off x="1768963" y="1958594"/>
            <a:ext cx="290464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43" name="Speech Bubble: Rectangle with Corners Rounded 42">
            <a:extLst>
              <a:ext uri="{FF2B5EF4-FFF2-40B4-BE49-F238E27FC236}">
                <a16:creationId xmlns:a16="http://schemas.microsoft.com/office/drawing/2014/main" id="{A5F0D122-9924-4624-91D9-B2BACCA0921A}"/>
              </a:ext>
            </a:extLst>
          </p:cNvPr>
          <p:cNvSpPr/>
          <p:nvPr/>
        </p:nvSpPr>
        <p:spPr>
          <a:xfrm>
            <a:off x="4907280" y="1320190"/>
            <a:ext cx="3641031" cy="684092"/>
          </a:xfrm>
          <a:prstGeom prst="wedgeRoundRectCallout">
            <a:avLst>
              <a:gd name="adj1" fmla="val -17719"/>
              <a:gd name="adj2" fmla="val 156697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&amp;a[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dirty="0">
                <a:solidFill>
                  <a:schemeClr val="tx1"/>
                </a:solidFill>
              </a:rPr>
              <a:t> is syntactically equivalent to: 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a+i</a:t>
            </a:r>
            <a:endParaRPr lang="en-US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7375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" grpId="0" animBg="1"/>
      <p:bldP spid="5" grpId="0" animBg="1"/>
      <p:bldP spid="42" grpId="0" animBg="1"/>
      <p:bldP spid="4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EE45D-3249-473B-90A2-DE66C56E1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520" y="397556"/>
            <a:ext cx="7886700" cy="994172"/>
          </a:xfrm>
        </p:spPr>
        <p:txBody>
          <a:bodyPr/>
          <a:lstStyle/>
          <a:p>
            <a:r>
              <a:rPr lang="en-US" dirty="0"/>
              <a:t>Array access using pointer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9AAEB0-FAF8-4A1E-9011-094DAB621CBC}"/>
              </a:ext>
            </a:extLst>
          </p:cNvPr>
          <p:cNvSpPr txBox="1"/>
          <p:nvPr/>
        </p:nvSpPr>
        <p:spPr>
          <a:xfrm>
            <a:off x="4141830" y="2200992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*p = &amp;a[3];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5DF1EB-6E72-4E87-88AC-90F5B04BC4C5}"/>
              </a:ext>
            </a:extLst>
          </p:cNvPr>
          <p:cNvSpPr txBox="1"/>
          <p:nvPr/>
        </p:nvSpPr>
        <p:spPr>
          <a:xfrm>
            <a:off x="4141830" y="1829942"/>
            <a:ext cx="42627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a[4] = {1, 2, 3, 4};</a:t>
            </a:r>
          </a:p>
        </p:txBody>
      </p:sp>
      <p:graphicFrame>
        <p:nvGraphicFramePr>
          <p:cNvPr id="20" name="Table 30">
            <a:extLst>
              <a:ext uri="{FF2B5EF4-FFF2-40B4-BE49-F238E27FC236}">
                <a16:creationId xmlns:a16="http://schemas.microsoft.com/office/drawing/2014/main" id="{0A942129-59CB-43A1-8EE5-E3CC433DE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4659872"/>
              </p:ext>
            </p:extLst>
          </p:nvPr>
        </p:nvGraphicFramePr>
        <p:xfrm>
          <a:off x="1293854" y="1910951"/>
          <a:ext cx="1165721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5721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21" name="矩形 46">
            <a:extLst>
              <a:ext uri="{FF2B5EF4-FFF2-40B4-BE49-F238E27FC236}">
                <a16:creationId xmlns:a16="http://schemas.microsoft.com/office/drawing/2014/main" id="{162C3EB0-C7A0-4A1A-A5DE-1B79C3AAB9E8}"/>
              </a:ext>
            </a:extLst>
          </p:cNvPr>
          <p:cNvSpPr/>
          <p:nvPr/>
        </p:nvSpPr>
        <p:spPr>
          <a:xfrm>
            <a:off x="2430302" y="4982404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2" name="矩形 46">
            <a:extLst>
              <a:ext uri="{FF2B5EF4-FFF2-40B4-BE49-F238E27FC236}">
                <a16:creationId xmlns:a16="http://schemas.microsoft.com/office/drawing/2014/main" id="{4C56DD99-EC33-491F-B68D-9DE687447C1B}"/>
              </a:ext>
            </a:extLst>
          </p:cNvPr>
          <p:cNvSpPr/>
          <p:nvPr/>
        </p:nvSpPr>
        <p:spPr>
          <a:xfrm>
            <a:off x="2444938" y="4552468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3" name="矩形 46">
            <a:extLst>
              <a:ext uri="{FF2B5EF4-FFF2-40B4-BE49-F238E27FC236}">
                <a16:creationId xmlns:a16="http://schemas.microsoft.com/office/drawing/2014/main" id="{1F029F19-320E-4340-80C0-F150D41C9BC0}"/>
              </a:ext>
            </a:extLst>
          </p:cNvPr>
          <p:cNvSpPr/>
          <p:nvPr/>
        </p:nvSpPr>
        <p:spPr>
          <a:xfrm>
            <a:off x="2438155" y="409625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4" name="矩形 46">
            <a:extLst>
              <a:ext uri="{FF2B5EF4-FFF2-40B4-BE49-F238E27FC236}">
                <a16:creationId xmlns:a16="http://schemas.microsoft.com/office/drawing/2014/main" id="{019F376D-5848-404A-85AC-60988B67FA88}"/>
              </a:ext>
            </a:extLst>
          </p:cNvPr>
          <p:cNvSpPr/>
          <p:nvPr/>
        </p:nvSpPr>
        <p:spPr>
          <a:xfrm>
            <a:off x="2430301" y="3666319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5" name="矩形 46">
            <a:extLst>
              <a:ext uri="{FF2B5EF4-FFF2-40B4-BE49-F238E27FC236}">
                <a16:creationId xmlns:a16="http://schemas.microsoft.com/office/drawing/2014/main" id="{E178A857-DD1F-4503-95EE-2548B2216D3C}"/>
              </a:ext>
            </a:extLst>
          </p:cNvPr>
          <p:cNvSpPr/>
          <p:nvPr/>
        </p:nvSpPr>
        <p:spPr>
          <a:xfrm>
            <a:off x="2444938" y="3243196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6" name="矩形 46">
            <a:extLst>
              <a:ext uri="{FF2B5EF4-FFF2-40B4-BE49-F238E27FC236}">
                <a16:creationId xmlns:a16="http://schemas.microsoft.com/office/drawing/2014/main" id="{47B0A901-2FE9-47D1-806A-99D78D88CADF}"/>
              </a:ext>
            </a:extLst>
          </p:cNvPr>
          <p:cNvSpPr/>
          <p:nvPr/>
        </p:nvSpPr>
        <p:spPr>
          <a:xfrm>
            <a:off x="2427624" y="2800174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7" name="矩形 46">
            <a:extLst>
              <a:ext uri="{FF2B5EF4-FFF2-40B4-BE49-F238E27FC236}">
                <a16:creationId xmlns:a16="http://schemas.microsoft.com/office/drawing/2014/main" id="{898CF2E7-C860-4CFF-B843-81F076A710D7}"/>
              </a:ext>
            </a:extLst>
          </p:cNvPr>
          <p:cNvSpPr/>
          <p:nvPr/>
        </p:nvSpPr>
        <p:spPr>
          <a:xfrm>
            <a:off x="2426041" y="2367102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0x118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8" name="矩形 46">
            <a:extLst>
              <a:ext uri="{FF2B5EF4-FFF2-40B4-BE49-F238E27FC236}">
                <a16:creationId xmlns:a16="http://schemas.microsoft.com/office/drawing/2014/main" id="{E2F27840-7E5C-4328-A95D-C5491EEB60BC}"/>
              </a:ext>
            </a:extLst>
          </p:cNvPr>
          <p:cNvSpPr/>
          <p:nvPr/>
        </p:nvSpPr>
        <p:spPr>
          <a:xfrm>
            <a:off x="2424408" y="1953433"/>
            <a:ext cx="8835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0x11c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999195-EAE6-40D1-BFE3-E736B9F63A1F}"/>
              </a:ext>
            </a:extLst>
          </p:cNvPr>
          <p:cNvSpPr txBox="1"/>
          <p:nvPr/>
        </p:nvSpPr>
        <p:spPr>
          <a:xfrm>
            <a:off x="170026" y="3185927"/>
            <a:ext cx="5482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graphicFrame>
        <p:nvGraphicFramePr>
          <p:cNvPr id="30" name="Table 30">
            <a:extLst>
              <a:ext uri="{FF2B5EF4-FFF2-40B4-BE49-F238E27FC236}">
                <a16:creationId xmlns:a16="http://schemas.microsoft.com/office/drawing/2014/main" id="{C2B6FB25-544A-4F69-997E-46C705DFEC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880640"/>
              </p:ext>
            </p:extLst>
          </p:nvPr>
        </p:nvGraphicFramePr>
        <p:xfrm>
          <a:off x="614063" y="1890124"/>
          <a:ext cx="663083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3083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a[3]: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a[2]: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a[1]: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a[0]: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9A53BF70-E4F1-46D6-8293-0FCFD085F824}"/>
              </a:ext>
            </a:extLst>
          </p:cNvPr>
          <p:cNvSpPr txBox="1"/>
          <p:nvPr/>
        </p:nvSpPr>
        <p:spPr>
          <a:xfrm>
            <a:off x="910559" y="4531757"/>
            <a:ext cx="419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C28F36-5790-4830-B2A2-E118F7B1CB9F}"/>
              </a:ext>
            </a:extLst>
          </p:cNvPr>
          <p:cNvSpPr txBox="1"/>
          <p:nvPr/>
        </p:nvSpPr>
        <p:spPr>
          <a:xfrm>
            <a:off x="4197429" y="3070251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*p=0;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9F153A-A1E6-4243-8319-C1AFFD161642}"/>
              </a:ext>
            </a:extLst>
          </p:cNvPr>
          <p:cNvSpPr txBox="1"/>
          <p:nvPr/>
        </p:nvSpPr>
        <p:spPr>
          <a:xfrm>
            <a:off x="1475042" y="4303009"/>
            <a:ext cx="824265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100" dirty="0"/>
              <a:t>0x11c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77C7-6289-4C4E-A978-57961B9BECA0}"/>
              </a:ext>
            </a:extLst>
          </p:cNvPr>
          <p:cNvSpPr txBox="1"/>
          <p:nvPr/>
        </p:nvSpPr>
        <p:spPr>
          <a:xfrm>
            <a:off x="5755160" y="3479971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AD85D6-B18F-44E7-83EF-E5E8D068DC37}"/>
              </a:ext>
            </a:extLst>
          </p:cNvPr>
          <p:cNvSpPr txBox="1"/>
          <p:nvPr/>
        </p:nvSpPr>
        <p:spPr>
          <a:xfrm>
            <a:off x="4212669" y="2583761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p--;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498183-DA18-42D8-B060-BC564A7D32DE}"/>
              </a:ext>
            </a:extLst>
          </p:cNvPr>
          <p:cNvSpPr txBox="1"/>
          <p:nvPr/>
        </p:nvSpPr>
        <p:spPr>
          <a:xfrm>
            <a:off x="1743144" y="2404950"/>
            <a:ext cx="311304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937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7" grpId="0"/>
      <p:bldP spid="3" grpId="0" animBg="1"/>
      <p:bldP spid="4" grpId="0"/>
      <p:bldP spid="3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EE45D-3249-473B-90A2-DE66C56E1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910" y="381592"/>
            <a:ext cx="7886700" cy="994172"/>
          </a:xfrm>
        </p:spPr>
        <p:txBody>
          <a:bodyPr/>
          <a:lstStyle/>
          <a:p>
            <a:r>
              <a:rPr lang="en-US" dirty="0"/>
              <a:t>Array access using pointer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9AAEB0-FAF8-4A1E-9011-094DAB621CBC}"/>
              </a:ext>
            </a:extLst>
          </p:cNvPr>
          <p:cNvSpPr txBox="1"/>
          <p:nvPr/>
        </p:nvSpPr>
        <p:spPr>
          <a:xfrm>
            <a:off x="4911870" y="2871140"/>
            <a:ext cx="25827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type??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p = &amp;a[0];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5DF1EB-6E72-4E87-88AC-90F5B04BC4C5}"/>
              </a:ext>
            </a:extLst>
          </p:cNvPr>
          <p:cNvSpPr txBox="1"/>
          <p:nvPr/>
        </p:nvSpPr>
        <p:spPr>
          <a:xfrm>
            <a:off x="4572000" y="2415977"/>
            <a:ext cx="1736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char *a[2];</a:t>
            </a:r>
          </a:p>
        </p:txBody>
      </p:sp>
      <p:graphicFrame>
        <p:nvGraphicFramePr>
          <p:cNvPr id="20" name="Table 30">
            <a:extLst>
              <a:ext uri="{FF2B5EF4-FFF2-40B4-BE49-F238E27FC236}">
                <a16:creationId xmlns:a16="http://schemas.microsoft.com/office/drawing/2014/main" id="{0A942129-59CB-43A1-8EE5-E3CC433DEE0A}"/>
              </a:ext>
            </a:extLst>
          </p:cNvPr>
          <p:cNvGraphicFramePr>
            <a:graphicFrameLocks noGrp="1"/>
          </p:cNvGraphicFramePr>
          <p:nvPr/>
        </p:nvGraphicFramePr>
        <p:xfrm>
          <a:off x="1293854" y="1910951"/>
          <a:ext cx="1165721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5721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21" name="矩形 46">
            <a:extLst>
              <a:ext uri="{FF2B5EF4-FFF2-40B4-BE49-F238E27FC236}">
                <a16:creationId xmlns:a16="http://schemas.microsoft.com/office/drawing/2014/main" id="{162C3EB0-C7A0-4A1A-A5DE-1B79C3AAB9E8}"/>
              </a:ext>
            </a:extLst>
          </p:cNvPr>
          <p:cNvSpPr/>
          <p:nvPr/>
        </p:nvSpPr>
        <p:spPr>
          <a:xfrm>
            <a:off x="2445542" y="5012884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2" name="矩形 46">
            <a:extLst>
              <a:ext uri="{FF2B5EF4-FFF2-40B4-BE49-F238E27FC236}">
                <a16:creationId xmlns:a16="http://schemas.microsoft.com/office/drawing/2014/main" id="{4C56DD99-EC33-491F-B68D-9DE687447C1B}"/>
              </a:ext>
            </a:extLst>
          </p:cNvPr>
          <p:cNvSpPr/>
          <p:nvPr/>
        </p:nvSpPr>
        <p:spPr>
          <a:xfrm>
            <a:off x="2460178" y="4582948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3" name="矩形 46">
            <a:extLst>
              <a:ext uri="{FF2B5EF4-FFF2-40B4-BE49-F238E27FC236}">
                <a16:creationId xmlns:a16="http://schemas.microsoft.com/office/drawing/2014/main" id="{1F029F19-320E-4340-80C0-F150D41C9BC0}"/>
              </a:ext>
            </a:extLst>
          </p:cNvPr>
          <p:cNvSpPr/>
          <p:nvPr/>
        </p:nvSpPr>
        <p:spPr>
          <a:xfrm>
            <a:off x="2453395" y="412673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4" name="矩形 46">
            <a:extLst>
              <a:ext uri="{FF2B5EF4-FFF2-40B4-BE49-F238E27FC236}">
                <a16:creationId xmlns:a16="http://schemas.microsoft.com/office/drawing/2014/main" id="{019F376D-5848-404A-85AC-60988B67FA88}"/>
              </a:ext>
            </a:extLst>
          </p:cNvPr>
          <p:cNvSpPr/>
          <p:nvPr/>
        </p:nvSpPr>
        <p:spPr>
          <a:xfrm>
            <a:off x="2445541" y="3696799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5" name="矩形 46">
            <a:extLst>
              <a:ext uri="{FF2B5EF4-FFF2-40B4-BE49-F238E27FC236}">
                <a16:creationId xmlns:a16="http://schemas.microsoft.com/office/drawing/2014/main" id="{E178A857-DD1F-4503-95EE-2548B2216D3C}"/>
              </a:ext>
            </a:extLst>
          </p:cNvPr>
          <p:cNvSpPr/>
          <p:nvPr/>
        </p:nvSpPr>
        <p:spPr>
          <a:xfrm>
            <a:off x="2460178" y="3273676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6" name="矩形 46">
            <a:extLst>
              <a:ext uri="{FF2B5EF4-FFF2-40B4-BE49-F238E27FC236}">
                <a16:creationId xmlns:a16="http://schemas.microsoft.com/office/drawing/2014/main" id="{47B0A901-2FE9-47D1-806A-99D78D88CADF}"/>
              </a:ext>
            </a:extLst>
          </p:cNvPr>
          <p:cNvSpPr/>
          <p:nvPr/>
        </p:nvSpPr>
        <p:spPr>
          <a:xfrm>
            <a:off x="2442864" y="2830654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7" name="矩形 46">
            <a:extLst>
              <a:ext uri="{FF2B5EF4-FFF2-40B4-BE49-F238E27FC236}">
                <a16:creationId xmlns:a16="http://schemas.microsoft.com/office/drawing/2014/main" id="{898CF2E7-C860-4CFF-B843-81F076A710D7}"/>
              </a:ext>
            </a:extLst>
          </p:cNvPr>
          <p:cNvSpPr/>
          <p:nvPr/>
        </p:nvSpPr>
        <p:spPr>
          <a:xfrm>
            <a:off x="2441281" y="2397582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0x118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8" name="矩形 46">
            <a:extLst>
              <a:ext uri="{FF2B5EF4-FFF2-40B4-BE49-F238E27FC236}">
                <a16:creationId xmlns:a16="http://schemas.microsoft.com/office/drawing/2014/main" id="{E2F27840-7E5C-4328-A95D-C5491EEB60BC}"/>
              </a:ext>
            </a:extLst>
          </p:cNvPr>
          <p:cNvSpPr/>
          <p:nvPr/>
        </p:nvSpPr>
        <p:spPr>
          <a:xfrm>
            <a:off x="2439648" y="1983913"/>
            <a:ext cx="8835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0x11c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999195-EAE6-40D1-BFE3-E736B9F63A1F}"/>
              </a:ext>
            </a:extLst>
          </p:cNvPr>
          <p:cNvSpPr txBox="1"/>
          <p:nvPr/>
        </p:nvSpPr>
        <p:spPr>
          <a:xfrm>
            <a:off x="170212" y="3297272"/>
            <a:ext cx="3835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graphicFrame>
        <p:nvGraphicFramePr>
          <p:cNvPr id="30" name="Table 30">
            <a:extLst>
              <a:ext uri="{FF2B5EF4-FFF2-40B4-BE49-F238E27FC236}">
                <a16:creationId xmlns:a16="http://schemas.microsoft.com/office/drawing/2014/main" id="{C2B6FB25-544A-4F69-997E-46C705DFEC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219225"/>
              </p:ext>
            </p:extLst>
          </p:nvPr>
        </p:nvGraphicFramePr>
        <p:xfrm>
          <a:off x="567915" y="2002082"/>
          <a:ext cx="663083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3083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a[1]: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a[0]: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9A53BF70-E4F1-46D6-8293-0FCFD085F824}"/>
              </a:ext>
            </a:extLst>
          </p:cNvPr>
          <p:cNvSpPr txBox="1"/>
          <p:nvPr/>
        </p:nvSpPr>
        <p:spPr>
          <a:xfrm>
            <a:off x="758324" y="4504515"/>
            <a:ext cx="444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C28F36-5790-4830-B2A2-E118F7B1CB9F}"/>
              </a:ext>
            </a:extLst>
          </p:cNvPr>
          <p:cNvSpPr txBox="1"/>
          <p:nvPr/>
        </p:nvSpPr>
        <p:spPr>
          <a:xfrm>
            <a:off x="4526901" y="3836418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*p=NULL;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9F153A-A1E6-4243-8319-C1AFFD161642}"/>
              </a:ext>
            </a:extLst>
          </p:cNvPr>
          <p:cNvSpPr txBox="1"/>
          <p:nvPr/>
        </p:nvSpPr>
        <p:spPr>
          <a:xfrm>
            <a:off x="1490560" y="4336843"/>
            <a:ext cx="846707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100" dirty="0"/>
              <a:t>0x110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77C7-6289-4C4E-A978-57961B9BECA0}"/>
              </a:ext>
            </a:extLst>
          </p:cNvPr>
          <p:cNvSpPr txBox="1"/>
          <p:nvPr/>
        </p:nvSpPr>
        <p:spPr>
          <a:xfrm>
            <a:off x="5791377" y="4024710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AD85D6-B18F-44E7-83EF-E5E8D068DC37}"/>
              </a:ext>
            </a:extLst>
          </p:cNvPr>
          <p:cNvSpPr txBox="1"/>
          <p:nvPr/>
        </p:nvSpPr>
        <p:spPr>
          <a:xfrm>
            <a:off x="4629886" y="3341860"/>
            <a:ext cx="748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p++;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0A009C61-272A-4892-A4EF-BFFD7A1A8498}"/>
              </a:ext>
            </a:extLst>
          </p:cNvPr>
          <p:cNvSpPr/>
          <p:nvPr/>
        </p:nvSpPr>
        <p:spPr>
          <a:xfrm>
            <a:off x="6918975" y="1858008"/>
            <a:ext cx="1736373" cy="691974"/>
          </a:xfrm>
          <a:prstGeom prst="wedgeRoundRectCallout">
            <a:avLst>
              <a:gd name="adj1" fmla="val -72923"/>
              <a:gd name="adj2" fmla="val 99703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Equivalent to: p =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4361EC-33D5-4723-AE7E-3FEE3BD74399}"/>
              </a:ext>
            </a:extLst>
          </p:cNvPr>
          <p:cNvSpPr/>
          <p:nvPr/>
        </p:nvSpPr>
        <p:spPr>
          <a:xfrm>
            <a:off x="4379817" y="2934967"/>
            <a:ext cx="1462398" cy="290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char**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58B02C-9B42-4684-A1E1-C6711614E742}"/>
              </a:ext>
            </a:extLst>
          </p:cNvPr>
          <p:cNvSpPr txBox="1"/>
          <p:nvPr/>
        </p:nvSpPr>
        <p:spPr>
          <a:xfrm>
            <a:off x="1561651" y="4342932"/>
            <a:ext cx="846707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100" dirty="0"/>
              <a:t>0x118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CF4BA0-BDDC-4669-9622-7CDF2F9FA04B}"/>
              </a:ext>
            </a:extLst>
          </p:cNvPr>
          <p:cNvSpPr txBox="1"/>
          <p:nvPr/>
        </p:nvSpPr>
        <p:spPr>
          <a:xfrm>
            <a:off x="1722069" y="2147854"/>
            <a:ext cx="332142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63637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7" grpId="0"/>
      <p:bldP spid="3" grpId="0" animBg="1"/>
      <p:bldP spid="4" grpId="0"/>
      <p:bldP spid="5" grpId="0" animBg="1"/>
      <p:bldP spid="9" grpId="0" animBg="1"/>
      <p:bldP spid="34" grpId="0" animBg="1"/>
      <p:bldP spid="3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EE45D-3249-473B-90A2-DE66C56E1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674" y="367482"/>
            <a:ext cx="8704243" cy="994172"/>
          </a:xfrm>
        </p:spPr>
        <p:txBody>
          <a:bodyPr>
            <a:normAutofit fontScale="90000"/>
          </a:bodyPr>
          <a:lstStyle/>
          <a:p>
            <a:r>
              <a:rPr lang="en-US" dirty="0"/>
              <a:t>Out-of-bound access results in (potentially silent) memory error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9AAEB0-FAF8-4A1E-9011-094DAB621CBC}"/>
              </a:ext>
            </a:extLst>
          </p:cNvPr>
          <p:cNvSpPr txBox="1"/>
          <p:nvPr/>
        </p:nvSpPr>
        <p:spPr>
          <a:xfrm>
            <a:off x="4461869" y="2383872"/>
            <a:ext cx="1736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int *p = a;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5DF1EB-6E72-4E87-88AC-90F5B04BC4C5}"/>
              </a:ext>
            </a:extLst>
          </p:cNvPr>
          <p:cNvSpPr txBox="1"/>
          <p:nvPr/>
        </p:nvSpPr>
        <p:spPr>
          <a:xfrm>
            <a:off x="4477109" y="1967102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int a[2];</a:t>
            </a:r>
          </a:p>
        </p:txBody>
      </p:sp>
      <p:graphicFrame>
        <p:nvGraphicFramePr>
          <p:cNvPr id="20" name="Table 30">
            <a:extLst>
              <a:ext uri="{FF2B5EF4-FFF2-40B4-BE49-F238E27FC236}">
                <a16:creationId xmlns:a16="http://schemas.microsoft.com/office/drawing/2014/main" id="{0A942129-59CB-43A1-8EE5-E3CC433DEE0A}"/>
              </a:ext>
            </a:extLst>
          </p:cNvPr>
          <p:cNvGraphicFramePr>
            <a:graphicFrameLocks noGrp="1"/>
          </p:cNvGraphicFramePr>
          <p:nvPr/>
        </p:nvGraphicFramePr>
        <p:xfrm>
          <a:off x="1293854" y="1910951"/>
          <a:ext cx="1165721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5721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21" name="矩形 46">
            <a:extLst>
              <a:ext uri="{FF2B5EF4-FFF2-40B4-BE49-F238E27FC236}">
                <a16:creationId xmlns:a16="http://schemas.microsoft.com/office/drawing/2014/main" id="{162C3EB0-C7A0-4A1A-A5DE-1B79C3AAB9E8}"/>
              </a:ext>
            </a:extLst>
          </p:cNvPr>
          <p:cNvSpPr/>
          <p:nvPr/>
        </p:nvSpPr>
        <p:spPr>
          <a:xfrm>
            <a:off x="2460782" y="4982404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2" name="矩形 46">
            <a:extLst>
              <a:ext uri="{FF2B5EF4-FFF2-40B4-BE49-F238E27FC236}">
                <a16:creationId xmlns:a16="http://schemas.microsoft.com/office/drawing/2014/main" id="{4C56DD99-EC33-491F-B68D-9DE687447C1B}"/>
              </a:ext>
            </a:extLst>
          </p:cNvPr>
          <p:cNvSpPr/>
          <p:nvPr/>
        </p:nvSpPr>
        <p:spPr>
          <a:xfrm>
            <a:off x="2475418" y="4552468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3" name="矩形 46">
            <a:extLst>
              <a:ext uri="{FF2B5EF4-FFF2-40B4-BE49-F238E27FC236}">
                <a16:creationId xmlns:a16="http://schemas.microsoft.com/office/drawing/2014/main" id="{1F029F19-320E-4340-80C0-F150D41C9BC0}"/>
              </a:ext>
            </a:extLst>
          </p:cNvPr>
          <p:cNvSpPr/>
          <p:nvPr/>
        </p:nvSpPr>
        <p:spPr>
          <a:xfrm>
            <a:off x="2468635" y="409625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4" name="矩形 46">
            <a:extLst>
              <a:ext uri="{FF2B5EF4-FFF2-40B4-BE49-F238E27FC236}">
                <a16:creationId xmlns:a16="http://schemas.microsoft.com/office/drawing/2014/main" id="{019F376D-5848-404A-85AC-60988B67FA88}"/>
              </a:ext>
            </a:extLst>
          </p:cNvPr>
          <p:cNvSpPr/>
          <p:nvPr/>
        </p:nvSpPr>
        <p:spPr>
          <a:xfrm>
            <a:off x="2460781" y="3666319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…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5" name="矩形 46">
            <a:extLst>
              <a:ext uri="{FF2B5EF4-FFF2-40B4-BE49-F238E27FC236}">
                <a16:creationId xmlns:a16="http://schemas.microsoft.com/office/drawing/2014/main" id="{E178A857-DD1F-4503-95EE-2548B2216D3C}"/>
              </a:ext>
            </a:extLst>
          </p:cNvPr>
          <p:cNvSpPr/>
          <p:nvPr/>
        </p:nvSpPr>
        <p:spPr>
          <a:xfrm>
            <a:off x="2475418" y="3243196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0x110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6" name="矩形 46">
            <a:extLst>
              <a:ext uri="{FF2B5EF4-FFF2-40B4-BE49-F238E27FC236}">
                <a16:creationId xmlns:a16="http://schemas.microsoft.com/office/drawing/2014/main" id="{47B0A901-2FE9-47D1-806A-99D78D88CADF}"/>
              </a:ext>
            </a:extLst>
          </p:cNvPr>
          <p:cNvSpPr/>
          <p:nvPr/>
        </p:nvSpPr>
        <p:spPr>
          <a:xfrm>
            <a:off x="2458104" y="2800174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7" name="矩形 46">
            <a:extLst>
              <a:ext uri="{FF2B5EF4-FFF2-40B4-BE49-F238E27FC236}">
                <a16:creationId xmlns:a16="http://schemas.microsoft.com/office/drawing/2014/main" id="{898CF2E7-C860-4CFF-B843-81F076A710D7}"/>
              </a:ext>
            </a:extLst>
          </p:cNvPr>
          <p:cNvSpPr/>
          <p:nvPr/>
        </p:nvSpPr>
        <p:spPr>
          <a:xfrm>
            <a:off x="2456521" y="2367102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0x118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8" name="矩形 46">
            <a:extLst>
              <a:ext uri="{FF2B5EF4-FFF2-40B4-BE49-F238E27FC236}">
                <a16:creationId xmlns:a16="http://schemas.microsoft.com/office/drawing/2014/main" id="{E2F27840-7E5C-4328-A95D-C5491EEB60BC}"/>
              </a:ext>
            </a:extLst>
          </p:cNvPr>
          <p:cNvSpPr/>
          <p:nvPr/>
        </p:nvSpPr>
        <p:spPr>
          <a:xfrm>
            <a:off x="2454888" y="1953433"/>
            <a:ext cx="8835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0x11c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999195-EAE6-40D1-BFE3-E736B9F63A1F}"/>
              </a:ext>
            </a:extLst>
          </p:cNvPr>
          <p:cNvSpPr txBox="1"/>
          <p:nvPr/>
        </p:nvSpPr>
        <p:spPr>
          <a:xfrm>
            <a:off x="78513" y="3331299"/>
            <a:ext cx="466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graphicFrame>
        <p:nvGraphicFramePr>
          <p:cNvPr id="30" name="Table 30">
            <a:extLst>
              <a:ext uri="{FF2B5EF4-FFF2-40B4-BE49-F238E27FC236}">
                <a16:creationId xmlns:a16="http://schemas.microsoft.com/office/drawing/2014/main" id="{C2B6FB25-544A-4F69-997E-46C705DFEC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387699"/>
              </p:ext>
            </p:extLst>
          </p:nvPr>
        </p:nvGraphicFramePr>
        <p:xfrm>
          <a:off x="565714" y="2040165"/>
          <a:ext cx="663083" cy="34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3083">
                  <a:extLst>
                    <a:ext uri="{9D8B030D-6E8A-4147-A177-3AD203B41FA5}">
                      <a16:colId xmlns:a16="http://schemas.microsoft.com/office/drawing/2014/main" val="584657250"/>
                    </a:ext>
                  </a:extLst>
                </a:gridCol>
              </a:tblGrid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269979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536916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a[1]: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50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r>
                        <a:rPr lang="en-US" sz="2000" dirty="0"/>
                        <a:t>a[0]:</a:t>
                      </a:r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808264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31846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92342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205285"/>
                  </a:ext>
                </a:extLst>
              </a:tr>
              <a:tr h="434972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L="68580" marR="68580" marT="34290" marB="3429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224924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9A53BF70-E4F1-46D6-8293-0FCFD085F824}"/>
              </a:ext>
            </a:extLst>
          </p:cNvPr>
          <p:cNvSpPr txBox="1"/>
          <p:nvPr/>
        </p:nvSpPr>
        <p:spPr>
          <a:xfrm>
            <a:off x="820211" y="4590668"/>
            <a:ext cx="4736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C28F36-5790-4830-B2A2-E118F7B1CB9F}"/>
              </a:ext>
            </a:extLst>
          </p:cNvPr>
          <p:cNvSpPr txBox="1"/>
          <p:nvPr/>
        </p:nvSpPr>
        <p:spPr>
          <a:xfrm>
            <a:off x="4486989" y="3235589"/>
            <a:ext cx="8899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*p=0;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9F153A-A1E6-4243-8319-C1AFFD161642}"/>
              </a:ext>
            </a:extLst>
          </p:cNvPr>
          <p:cNvSpPr txBox="1"/>
          <p:nvPr/>
        </p:nvSpPr>
        <p:spPr>
          <a:xfrm>
            <a:off x="1490559" y="4336843"/>
            <a:ext cx="824265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100" dirty="0"/>
              <a:t>0x11c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77C7-6289-4C4E-A978-57961B9BECA0}"/>
              </a:ext>
            </a:extLst>
          </p:cNvPr>
          <p:cNvSpPr txBox="1"/>
          <p:nvPr/>
        </p:nvSpPr>
        <p:spPr>
          <a:xfrm>
            <a:off x="5755160" y="3479971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AD85D6-B18F-44E7-83EF-E5E8D068DC37}"/>
              </a:ext>
            </a:extLst>
          </p:cNvPr>
          <p:cNvSpPr txBox="1"/>
          <p:nvPr/>
        </p:nvSpPr>
        <p:spPr>
          <a:xfrm>
            <a:off x="4532709" y="2781881"/>
            <a:ext cx="11721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 += 3;</a:t>
            </a:r>
          </a:p>
        </p:txBody>
      </p:sp>
      <p:pic>
        <p:nvPicPr>
          <p:cNvPr id="2050" name="Picture 2" descr="What It's Like to Be a Programmer">
            <a:extLst>
              <a:ext uri="{FF2B5EF4-FFF2-40B4-BE49-F238E27FC236}">
                <a16:creationId xmlns:a16="http://schemas.microsoft.com/office/drawing/2014/main" id="{2A35F156-91EB-44AE-94DF-204C52E9BB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6366" y="4128318"/>
            <a:ext cx="3077423" cy="1751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5698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Breakout exercise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2078079"/>
            <a:ext cx="5528177" cy="3394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mr-IN" altLang="zh-CN" sz="1800" dirty="0">
                <a:latin typeface="Consolas"/>
                <a:cs typeface="Consolas"/>
              </a:rPr>
              <a:t>int main() {</a:t>
            </a:r>
          </a:p>
          <a:p>
            <a:pPr marL="0" indent="0">
              <a:buNone/>
            </a:pPr>
            <a:r>
              <a:rPr kumimoji="1" lang="mr-IN" altLang="zh-CN" sz="1800" dirty="0">
                <a:latin typeface="Consolas"/>
                <a:cs typeface="Consolas"/>
              </a:rPr>
              <a:t>  int a[</a:t>
            </a:r>
            <a:r>
              <a:rPr kumimoji="1" lang="en-US" altLang="zh-CN" sz="1800" dirty="0">
                <a:latin typeface="Consolas"/>
                <a:cs typeface="Consolas"/>
              </a:rPr>
              <a:t>3</a:t>
            </a:r>
            <a:r>
              <a:rPr kumimoji="1" lang="mr-IN" altLang="zh-CN" sz="1800" dirty="0">
                <a:latin typeface="Consolas"/>
                <a:cs typeface="Consolas"/>
              </a:rPr>
              <a:t>] = {1, 2, 3};</a:t>
            </a:r>
          </a:p>
          <a:p>
            <a:pPr marL="0" indent="0">
              <a:buNone/>
            </a:pPr>
            <a:r>
              <a:rPr kumimoji="1" lang="mr-IN" altLang="zh-CN" sz="1800" dirty="0">
                <a:latin typeface="Consolas"/>
                <a:cs typeface="Consolas"/>
              </a:rPr>
              <a:t>  int *p = a;</a:t>
            </a:r>
            <a:endParaRPr kumimoji="1"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1800" dirty="0">
                <a:latin typeface="Consolas"/>
                <a:cs typeface="Consolas"/>
              </a:rPr>
              <a:t>  p++;</a:t>
            </a:r>
          </a:p>
          <a:p>
            <a:pPr marL="0" indent="0">
              <a:buNone/>
            </a:pPr>
            <a:r>
              <a:rPr kumimoji="1" lang="en-US" altLang="zh-CN" sz="1800" dirty="0">
                <a:latin typeface="Consolas"/>
                <a:cs typeface="Consolas"/>
              </a:rPr>
              <a:t>  p[1] = p[0];</a:t>
            </a:r>
            <a:endParaRPr kumimoji="1" lang="mr-IN" altLang="zh-CN" sz="9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1800" dirty="0">
                <a:latin typeface="Consolas"/>
                <a:cs typeface="Consolas"/>
              </a:rPr>
              <a:t>  </a:t>
            </a:r>
            <a:r>
              <a:rPr kumimoji="1" lang="en-US" altLang="zh-CN" sz="1800" dirty="0">
                <a:latin typeface="Consolas"/>
                <a:cs typeface="Consolas"/>
              </a:rPr>
              <a:t>//what are the values of a[0] a[1] a[2]?</a:t>
            </a:r>
          </a:p>
          <a:p>
            <a:pPr marL="0" indent="0">
              <a:buNone/>
            </a:pPr>
            <a:r>
              <a:rPr kumimoji="1" lang="mr-IN" altLang="zh-CN" sz="1800" dirty="0">
                <a:latin typeface="Consolas"/>
                <a:cs typeface="Consolas"/>
              </a:rPr>
              <a:t>}</a:t>
            </a:r>
            <a:endParaRPr kumimoji="1" lang="zh-CN" altLang="en-US" sz="1800" dirty="0">
              <a:latin typeface="Consolas"/>
              <a:cs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68200" y="3128917"/>
            <a:ext cx="173703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solidFill>
                  <a:srgbClr val="3366FF"/>
                </a:solidFill>
              </a:rPr>
              <a:t>Output: 1 2 2</a:t>
            </a:r>
          </a:p>
        </p:txBody>
      </p:sp>
    </p:spTree>
    <p:extLst>
      <p:ext uri="{BB962C8B-B14F-4D97-AF65-F5344CB8AC3E}">
        <p14:creationId xmlns:p14="http://schemas.microsoft.com/office/powerpoint/2010/main" val="1894577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Pass array to function via pointer</a:t>
            </a: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472440" y="1387158"/>
            <a:ext cx="8229600" cy="5440362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// multiply every array element by 2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void multiply2</a:t>
            </a:r>
            <a:r>
              <a:rPr kumimoji="1" lang="mr-IN" altLang="zh-CN" sz="2000" dirty="0">
                <a:latin typeface="Consolas"/>
                <a:cs typeface="Consolas"/>
              </a:rPr>
              <a:t>(</a:t>
            </a: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*a</a:t>
            </a:r>
            <a:r>
              <a:rPr kumimoji="1" lang="mr-IN" altLang="zh-CN" sz="2000" dirty="0">
                <a:latin typeface="Consolas"/>
                <a:cs typeface="Consolas"/>
              </a:rPr>
              <a:t>) {</a:t>
            </a:r>
          </a:p>
          <a:p>
            <a:pPr marL="0" indent="0">
              <a:buNone/>
            </a:pPr>
            <a:r>
              <a:rPr kumimoji="1" lang="mr-IN" altLang="zh-CN" sz="2000" dirty="0">
                <a:latin typeface="Consolas"/>
                <a:cs typeface="Consolas"/>
              </a:rPr>
              <a:t>  </a:t>
            </a:r>
            <a:r>
              <a:rPr kumimoji="1" lang="en-US" altLang="zh-CN" sz="2000" dirty="0">
                <a:latin typeface="Consolas"/>
                <a:cs typeface="Consolas"/>
              </a:rPr>
              <a:t> for (int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 = 0;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 &lt; ???;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++) {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	a[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] *= 2;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}</a:t>
            </a:r>
          </a:p>
          <a:p>
            <a:pPr marL="0" indent="0">
              <a:buNone/>
            </a:pPr>
            <a:r>
              <a:rPr kumimoji="1" lang="mr-IN" altLang="zh-CN" sz="2000" dirty="0">
                <a:latin typeface="Consolas"/>
                <a:cs typeface="Consolas"/>
              </a:rPr>
              <a:t>}</a:t>
            </a:r>
            <a:endParaRPr kumimoji="1"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endParaRPr kumimoji="1"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main() {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</a:t>
            </a: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a[2] = {1, 2};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multiply2(a);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for (</a:t>
            </a: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 = 0;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 &lt; 2;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++) {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    </a:t>
            </a:r>
            <a:r>
              <a:rPr kumimoji="1" lang="en-US" altLang="zh-CN" sz="2000" dirty="0" err="1">
                <a:latin typeface="Consolas"/>
                <a:cs typeface="Consolas"/>
              </a:rPr>
              <a:t>printf</a:t>
            </a:r>
            <a:r>
              <a:rPr kumimoji="1" lang="en-US" altLang="zh-CN" sz="2000" dirty="0">
                <a:latin typeface="Consolas"/>
                <a:cs typeface="Consolas"/>
              </a:rPr>
              <a:t>(“a[%d]=%d”,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, a[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]);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}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067252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Pass array to function via pointer</a:t>
            </a: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807706" y="1300319"/>
            <a:ext cx="7315214" cy="5283043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// multiply every array element by 2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void multiply2</a:t>
            </a:r>
            <a:r>
              <a:rPr kumimoji="1" lang="mr-IN" altLang="zh-CN" sz="2000" dirty="0">
                <a:latin typeface="Consolas"/>
                <a:cs typeface="Consolas"/>
              </a:rPr>
              <a:t>(</a:t>
            </a: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*a, </a:t>
            </a:r>
            <a:r>
              <a:rPr kumimoji="1" lang="en-US" altLang="zh-CN" sz="20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solidFill>
                  <a:srgbClr val="FF0000"/>
                </a:solidFill>
                <a:latin typeface="Consolas"/>
                <a:cs typeface="Consolas"/>
              </a:rPr>
              <a:t> n</a:t>
            </a:r>
            <a:r>
              <a:rPr kumimoji="1" lang="mr-IN" altLang="zh-CN" sz="2000" dirty="0">
                <a:latin typeface="Consolas"/>
                <a:cs typeface="Consolas"/>
              </a:rPr>
              <a:t>) {</a:t>
            </a:r>
          </a:p>
          <a:p>
            <a:pPr marL="0" indent="0">
              <a:buNone/>
            </a:pPr>
            <a:r>
              <a:rPr kumimoji="1" lang="mr-IN" altLang="zh-CN" sz="2000" dirty="0">
                <a:latin typeface="Consolas"/>
                <a:cs typeface="Consolas"/>
              </a:rPr>
              <a:t>  </a:t>
            </a:r>
            <a:r>
              <a:rPr kumimoji="1" lang="en-US" altLang="zh-CN" sz="2000" dirty="0">
                <a:latin typeface="Consolas"/>
                <a:cs typeface="Consolas"/>
              </a:rPr>
              <a:t> for (</a:t>
            </a: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 = 0;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 &lt; </a:t>
            </a:r>
            <a:r>
              <a:rPr kumimoji="1" lang="en-US" altLang="zh-CN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kumimoji="1" lang="en-US" altLang="zh-CN" sz="2000" dirty="0">
                <a:latin typeface="Consolas"/>
                <a:cs typeface="Consolas"/>
              </a:rPr>
              <a:t>;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++) {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	a[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] *= 2; // (*(</a:t>
            </a:r>
            <a:r>
              <a:rPr kumimoji="1" lang="en-US" altLang="zh-CN" sz="2000" dirty="0" err="1">
                <a:latin typeface="Consolas"/>
                <a:cs typeface="Consolas"/>
              </a:rPr>
              <a:t>a+i</a:t>
            </a:r>
            <a:r>
              <a:rPr kumimoji="1" lang="en-US" altLang="zh-CN" sz="2000" dirty="0">
                <a:latin typeface="Consolas"/>
                <a:cs typeface="Consolas"/>
              </a:rPr>
              <a:t>)) *= 2;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}</a:t>
            </a:r>
          </a:p>
          <a:p>
            <a:pPr marL="0" indent="0">
              <a:buNone/>
            </a:pPr>
            <a:r>
              <a:rPr kumimoji="1" lang="mr-IN" altLang="zh-CN" sz="2000" dirty="0">
                <a:latin typeface="Consolas"/>
                <a:cs typeface="Consolas"/>
              </a:rPr>
              <a:t>}</a:t>
            </a:r>
            <a:endParaRPr kumimoji="1"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endParaRPr kumimoji="1"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main() {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</a:t>
            </a: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a[2] = {1, 2};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multiply2(a, </a:t>
            </a:r>
            <a:r>
              <a:rPr kumimoji="1" lang="en-US" altLang="zh-CN" sz="2000" dirty="0">
                <a:solidFill>
                  <a:srgbClr val="FF0000"/>
                </a:solidFill>
                <a:latin typeface="Consolas"/>
                <a:cs typeface="Consolas"/>
              </a:rPr>
              <a:t>2</a:t>
            </a:r>
            <a:r>
              <a:rPr kumimoji="1" lang="en-US" altLang="zh-CN" sz="2000" dirty="0">
                <a:latin typeface="Consolas"/>
                <a:cs typeface="Consolas"/>
              </a:rPr>
              <a:t>);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for (</a:t>
            </a:r>
            <a:r>
              <a:rPr kumimoji="1" lang="en-US" altLang="zh-CN" sz="2000" dirty="0" err="1">
                <a:latin typeface="Consolas"/>
                <a:cs typeface="Consolas"/>
              </a:rPr>
              <a:t>int</a:t>
            </a:r>
            <a:r>
              <a:rPr kumimoji="1" lang="en-US" altLang="zh-CN" sz="2000" dirty="0">
                <a:latin typeface="Consolas"/>
                <a:cs typeface="Consolas"/>
              </a:rPr>
              <a:t>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 = 0;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 &lt; 2;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++) {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    </a:t>
            </a:r>
            <a:r>
              <a:rPr kumimoji="1" lang="en-US" altLang="zh-CN" sz="2000" dirty="0" err="1">
                <a:latin typeface="Consolas"/>
                <a:cs typeface="Consolas"/>
              </a:rPr>
              <a:t>printf</a:t>
            </a:r>
            <a:r>
              <a:rPr kumimoji="1" lang="en-US" altLang="zh-CN" sz="2000" dirty="0">
                <a:latin typeface="Consolas"/>
                <a:cs typeface="Consolas"/>
              </a:rPr>
              <a:t>(“a[%d]=%d”, 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, a[</a:t>
            </a:r>
            <a:r>
              <a:rPr kumimoji="1" lang="en-US" altLang="zh-CN" sz="2000" dirty="0" err="1">
                <a:latin typeface="Consolas"/>
                <a:cs typeface="Consolas"/>
              </a:rPr>
              <a:t>i</a:t>
            </a:r>
            <a:r>
              <a:rPr kumimoji="1" lang="en-US" altLang="zh-CN" sz="2000" dirty="0">
                <a:latin typeface="Consolas"/>
                <a:cs typeface="Consolas"/>
              </a:rPr>
              <a:t>]);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   }</a:t>
            </a:r>
          </a:p>
          <a:p>
            <a:pPr marL="0" indent="0">
              <a:buNone/>
            </a:pPr>
            <a:r>
              <a:rPr kumimoji="1" lang="en-US" altLang="zh-CN" sz="2000" dirty="0"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493720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14454" y="255185"/>
            <a:ext cx="7886700" cy="994172"/>
          </a:xfrm>
        </p:spPr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3487695" y="1881503"/>
            <a:ext cx="3922869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7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*cp = (char *)&amp;a;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954412" y="3204700"/>
            <a:ext cx="818999" cy="2670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954412" y="2940328"/>
            <a:ext cx="818999" cy="2670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954412" y="3469856"/>
            <a:ext cx="818999" cy="2670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954412" y="4786957"/>
            <a:ext cx="818999" cy="267080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54391" y="4757171"/>
            <a:ext cx="4667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805879" y="4823207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804447" y="457250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806638" y="4299550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814780" y="4023568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22250" y="3754934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20448" y="3502921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29351" y="3231200"/>
            <a:ext cx="9012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829744" y="2971242"/>
            <a:ext cx="90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952225" y="3730227"/>
            <a:ext cx="818999" cy="2670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952225" y="3996610"/>
            <a:ext cx="818999" cy="267080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950792" y="4262253"/>
            <a:ext cx="818999" cy="267080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954412" y="4524823"/>
            <a:ext cx="818999" cy="267080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4" name="矩形 5">
            <a:extLst>
              <a:ext uri="{FF2B5EF4-FFF2-40B4-BE49-F238E27FC236}">
                <a16:creationId xmlns:a16="http://schemas.microsoft.com/office/drawing/2014/main" id="{A37791A7-7CA0-4968-9713-DE3400C45489}"/>
              </a:ext>
            </a:extLst>
          </p:cNvPr>
          <p:cNvSpPr/>
          <p:nvPr/>
        </p:nvSpPr>
        <p:spPr>
          <a:xfrm>
            <a:off x="950792" y="2677250"/>
            <a:ext cx="818999" cy="2670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6" name="矩形 16">
            <a:extLst>
              <a:ext uri="{FF2B5EF4-FFF2-40B4-BE49-F238E27FC236}">
                <a16:creationId xmlns:a16="http://schemas.microsoft.com/office/drawing/2014/main" id="{647DFB5F-37D7-4792-B760-2E276F78CDF2}"/>
              </a:ext>
            </a:extLst>
          </p:cNvPr>
          <p:cNvSpPr/>
          <p:nvPr/>
        </p:nvSpPr>
        <p:spPr>
          <a:xfrm>
            <a:off x="1826124" y="2708164"/>
            <a:ext cx="8835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0x10c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28" name="矩形 5">
            <a:extLst>
              <a:ext uri="{FF2B5EF4-FFF2-40B4-BE49-F238E27FC236}">
                <a16:creationId xmlns:a16="http://schemas.microsoft.com/office/drawing/2014/main" id="{F89D727D-2B66-4CBF-BB02-106F1E44209B}"/>
              </a:ext>
            </a:extLst>
          </p:cNvPr>
          <p:cNvSpPr/>
          <p:nvPr/>
        </p:nvSpPr>
        <p:spPr>
          <a:xfrm>
            <a:off x="950792" y="2415625"/>
            <a:ext cx="818999" cy="2670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30" name="矩形 16">
            <a:extLst>
              <a:ext uri="{FF2B5EF4-FFF2-40B4-BE49-F238E27FC236}">
                <a16:creationId xmlns:a16="http://schemas.microsoft.com/office/drawing/2014/main" id="{8062214E-0C61-4F6A-BC93-7DF811AA406E}"/>
              </a:ext>
            </a:extLst>
          </p:cNvPr>
          <p:cNvSpPr/>
          <p:nvPr/>
        </p:nvSpPr>
        <p:spPr>
          <a:xfrm>
            <a:off x="1826125" y="2446538"/>
            <a:ext cx="90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0x10d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32" name="矩形 5">
            <a:extLst>
              <a:ext uri="{FF2B5EF4-FFF2-40B4-BE49-F238E27FC236}">
                <a16:creationId xmlns:a16="http://schemas.microsoft.com/office/drawing/2014/main" id="{66893248-8B2F-419B-9E95-829BA4F52875}"/>
              </a:ext>
            </a:extLst>
          </p:cNvPr>
          <p:cNvSpPr/>
          <p:nvPr/>
        </p:nvSpPr>
        <p:spPr>
          <a:xfrm>
            <a:off x="955162" y="2146504"/>
            <a:ext cx="818999" cy="2670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36" name="矩形 16">
            <a:extLst>
              <a:ext uri="{FF2B5EF4-FFF2-40B4-BE49-F238E27FC236}">
                <a16:creationId xmlns:a16="http://schemas.microsoft.com/office/drawing/2014/main" id="{6390BE2D-EF86-4D1A-9F81-2377F17C3EBD}"/>
              </a:ext>
            </a:extLst>
          </p:cNvPr>
          <p:cNvSpPr/>
          <p:nvPr/>
        </p:nvSpPr>
        <p:spPr>
          <a:xfrm>
            <a:off x="1830494" y="2177417"/>
            <a:ext cx="9012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0x10e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38" name="矩形 5">
            <a:extLst>
              <a:ext uri="{FF2B5EF4-FFF2-40B4-BE49-F238E27FC236}">
                <a16:creationId xmlns:a16="http://schemas.microsoft.com/office/drawing/2014/main" id="{A8888D49-6523-4908-8B45-4FD9150D8D7B}"/>
              </a:ext>
            </a:extLst>
          </p:cNvPr>
          <p:cNvSpPr/>
          <p:nvPr/>
        </p:nvSpPr>
        <p:spPr>
          <a:xfrm>
            <a:off x="950792" y="1874606"/>
            <a:ext cx="818999" cy="2670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40" name="矩形 16">
            <a:extLst>
              <a:ext uri="{FF2B5EF4-FFF2-40B4-BE49-F238E27FC236}">
                <a16:creationId xmlns:a16="http://schemas.microsoft.com/office/drawing/2014/main" id="{3F00BC99-B7F2-4C72-9B0B-1E56F08CC8EA}"/>
              </a:ext>
            </a:extLst>
          </p:cNvPr>
          <p:cNvSpPr/>
          <p:nvPr/>
        </p:nvSpPr>
        <p:spPr>
          <a:xfrm>
            <a:off x="1826124" y="1905520"/>
            <a:ext cx="8451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ea typeface="宋体" pitchFamily="2" charset="-122"/>
                <a:cs typeface="Verdana"/>
              </a:rPr>
              <a:t>0x10f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47F7D1-421E-45C5-B6A6-1296207C1A9F}"/>
              </a:ext>
            </a:extLst>
          </p:cNvPr>
          <p:cNvSpPr txBox="1"/>
          <p:nvPr/>
        </p:nvSpPr>
        <p:spPr>
          <a:xfrm>
            <a:off x="1888009" y="5592197"/>
            <a:ext cx="5367981" cy="461665"/>
          </a:xfrm>
          <a:prstGeom prst="rect">
            <a:avLst/>
          </a:prstGeom>
          <a:solidFill>
            <a:srgbClr val="DCE6F2"/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Assume 64-bit small endian machine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5B8C75-FFC5-47FF-9083-A06178ADCEE0}"/>
              </a:ext>
            </a:extLst>
          </p:cNvPr>
          <p:cNvSpPr txBox="1"/>
          <p:nvPr/>
        </p:nvSpPr>
        <p:spPr>
          <a:xfrm>
            <a:off x="3509319" y="3429000"/>
            <a:ext cx="868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cp++;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0EF45E-CCCA-4871-9684-8D818FDE9DA2}"/>
              </a:ext>
            </a:extLst>
          </p:cNvPr>
          <p:cNvSpPr txBox="1"/>
          <p:nvPr/>
        </p:nvSpPr>
        <p:spPr>
          <a:xfrm>
            <a:off x="3487695" y="2974711"/>
            <a:ext cx="2090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// What is *cp?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17A6E5-04BF-447D-BE6A-6FDD8CC11887}"/>
              </a:ext>
            </a:extLst>
          </p:cNvPr>
          <p:cNvSpPr txBox="1"/>
          <p:nvPr/>
        </p:nvSpPr>
        <p:spPr>
          <a:xfrm>
            <a:off x="3459893" y="3829711"/>
            <a:ext cx="2090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// What is *cp?</a:t>
            </a:r>
          </a:p>
        </p:txBody>
      </p:sp>
    </p:spTree>
    <p:extLst>
      <p:ext uri="{BB962C8B-B14F-4D97-AF65-F5344CB8AC3E}">
        <p14:creationId xmlns:p14="http://schemas.microsoft.com/office/powerpoint/2010/main" val="1310297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46" grpId="0"/>
      <p:bldP spid="4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4714" y="362454"/>
            <a:ext cx="8654572" cy="85725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Another example use of 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2095815"/>
            <a:ext cx="800090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unsigned char </a:t>
            </a:r>
            <a:r>
              <a:rPr kumimoji="1" lang="en-US" altLang="zh-CN" sz="2400" dirty="0" err="1">
                <a:latin typeface="Consolas"/>
                <a:cs typeface="Consolas"/>
              </a:rPr>
              <a:t>extract_float_exp_field</a:t>
            </a:r>
            <a:r>
              <a:rPr kumimoji="1" lang="en-US" altLang="zh-CN" sz="2400" dirty="0">
                <a:latin typeface="Consolas"/>
                <a:cs typeface="Consolas"/>
              </a:rPr>
              <a:t>(float f)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{</a:t>
            </a: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F586F-F281-45DE-B77C-781A31AA64B2}"/>
              </a:ext>
            </a:extLst>
          </p:cNvPr>
          <p:cNvSpPr txBox="1"/>
          <p:nvPr/>
        </p:nvSpPr>
        <p:spPr>
          <a:xfrm>
            <a:off x="1045381" y="3157644"/>
            <a:ext cx="6641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 unsigned int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*(unsigned int *)&amp;f;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88F430-289C-4952-BAF0-C6932D4101E0}"/>
              </a:ext>
            </a:extLst>
          </p:cNvPr>
          <p:cNvSpPr txBox="1"/>
          <p:nvPr/>
        </p:nvSpPr>
        <p:spPr>
          <a:xfrm>
            <a:off x="1184394" y="35780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707CD762-653A-5F21-62C8-6415155F0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701342"/>
              </p:ext>
            </p:extLst>
          </p:nvPr>
        </p:nvGraphicFramePr>
        <p:xfrm>
          <a:off x="457200" y="1519575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exp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TextBox 4">
            <a:extLst>
              <a:ext uri="{FF2B5EF4-FFF2-40B4-BE49-F238E27FC236}">
                <a16:creationId xmlns:a16="http://schemas.microsoft.com/office/drawing/2014/main" id="{34753AD2-2B45-5AB6-9092-50C947F1DD92}"/>
              </a:ext>
            </a:extLst>
          </p:cNvPr>
          <p:cNvSpPr txBox="1"/>
          <p:nvPr/>
        </p:nvSpPr>
        <p:spPr>
          <a:xfrm>
            <a:off x="404620" y="1219704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31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F8F1749C-095F-7125-89C0-A55AAECC6EA9}"/>
              </a:ext>
            </a:extLst>
          </p:cNvPr>
          <p:cNvSpPr txBox="1"/>
          <p:nvPr/>
        </p:nvSpPr>
        <p:spPr>
          <a:xfrm>
            <a:off x="708496" y="1220641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30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0C5EECEF-7C62-DC54-B1DC-E3E13585FD43}"/>
              </a:ext>
            </a:extLst>
          </p:cNvPr>
          <p:cNvSpPr txBox="1"/>
          <p:nvPr/>
        </p:nvSpPr>
        <p:spPr>
          <a:xfrm>
            <a:off x="2936266" y="1227500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23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425AC552-1184-E43F-B236-11209178ABC0}"/>
              </a:ext>
            </a:extLst>
          </p:cNvPr>
          <p:cNvSpPr txBox="1"/>
          <p:nvPr/>
        </p:nvSpPr>
        <p:spPr>
          <a:xfrm>
            <a:off x="3205186" y="1228437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22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D9057E35-8333-A06B-8C29-ADD263D06DAF}"/>
              </a:ext>
            </a:extLst>
          </p:cNvPr>
          <p:cNvSpPr txBox="1"/>
          <p:nvPr/>
        </p:nvSpPr>
        <p:spPr>
          <a:xfrm>
            <a:off x="8845195" y="1230548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725348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19296-4075-483F-BEA2-6301A1BF9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C16F4-3EBB-44D3-8328-DF6F0B721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2400" dirty="0"/>
              <a:t>Pointers are memory addresses</a:t>
            </a:r>
          </a:p>
          <a:p>
            <a:pPr lvl="1"/>
            <a:r>
              <a:rPr lang="en-US" sz="2000" dirty="0"/>
              <a:t>p =&amp;x; (p has address of variable x)</a:t>
            </a:r>
          </a:p>
          <a:p>
            <a:pPr lvl="1"/>
            <a:r>
              <a:rPr lang="en-US" sz="2000" dirty="0"/>
              <a:t>*p  … (refers to the variable pointed to by p)</a:t>
            </a:r>
            <a:endParaRPr lang="en-US" dirty="0"/>
          </a:p>
          <a:p>
            <a:r>
              <a:rPr lang="en-US" dirty="0"/>
              <a:t>Arrays: </a:t>
            </a:r>
          </a:p>
          <a:p>
            <a:pPr lvl="1"/>
            <a:r>
              <a:rPr lang="en-US" dirty="0"/>
              <a:t>No array meta-data associated/stored. No bound checking</a:t>
            </a:r>
          </a:p>
          <a:p>
            <a:pPr lvl="1"/>
            <a:r>
              <a:rPr lang="en-US" dirty="0"/>
              <a:t>equivalence of pointer arithmetic and array access</a:t>
            </a:r>
          </a:p>
          <a:p>
            <a:pPr lvl="2"/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p+i</a:t>
            </a:r>
            <a:r>
              <a:rPr lang="en-US" dirty="0"/>
              <a:t> same as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&amp;p[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</a:p>
          <a:p>
            <a:pPr lvl="2"/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*(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p+i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) </a:t>
            </a:r>
            <a:r>
              <a:rPr lang="en-US" dirty="0"/>
              <a:t>same as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p[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</a:p>
          <a:p>
            <a:pPr lvl="2"/>
            <a:r>
              <a:rPr lang="en-US" dirty="0"/>
              <a:t>Value of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p+i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/>
              <a:t>is computed as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p+sizeof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(*p)*I</a:t>
            </a:r>
          </a:p>
          <a:p>
            <a:r>
              <a:rPr lang="en-US" dirty="0"/>
              <a:t>Pass pointers to functions</a:t>
            </a:r>
          </a:p>
          <a:p>
            <a:r>
              <a:rPr lang="en-US" dirty="0"/>
              <a:t>Pointer casting</a:t>
            </a:r>
          </a:p>
        </p:txBody>
      </p:sp>
    </p:spTree>
    <p:extLst>
      <p:ext uri="{BB962C8B-B14F-4D97-AF65-F5344CB8AC3E}">
        <p14:creationId xmlns:p14="http://schemas.microsoft.com/office/powerpoint/2010/main" val="1834062764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75022</TotalTime>
  <Words>2801</Words>
  <Application>Microsoft Macintosh PowerPoint</Application>
  <PresentationFormat>On-screen Show (4:3)</PresentationFormat>
  <Paragraphs>835</Paragraphs>
  <Slides>36</Slides>
  <Notes>9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Arial</vt:lpstr>
      <vt:lpstr>Calibri</vt:lpstr>
      <vt:lpstr>Comic Sans MS</vt:lpstr>
      <vt:lpstr>Consolas</vt:lpstr>
      <vt:lpstr>Tahoma</vt:lpstr>
      <vt:lpstr>Verdana</vt:lpstr>
      <vt:lpstr>CloudVisor-Austin</vt:lpstr>
      <vt:lpstr>C:  Pointers and Arrays</vt:lpstr>
      <vt:lpstr>What we’ve learnt in last lecture</vt:lpstr>
      <vt:lpstr>C scope rules</vt:lpstr>
      <vt:lpstr>Pointers</vt:lpstr>
      <vt:lpstr>Pointer</vt:lpstr>
      <vt:lpstr>Pointer</vt:lpstr>
      <vt:lpstr>Pointer</vt:lpstr>
      <vt:lpstr>Pointer</vt:lpstr>
      <vt:lpstr>Pointer</vt:lpstr>
      <vt:lpstr>Pointer</vt:lpstr>
      <vt:lpstr>Pointer</vt:lpstr>
      <vt:lpstr>Pointer</vt:lpstr>
      <vt:lpstr>Pointer</vt:lpstr>
      <vt:lpstr>Pointer has different types</vt:lpstr>
      <vt:lpstr>Double Pointer</vt:lpstr>
      <vt:lpstr>Double Pointer</vt:lpstr>
      <vt:lpstr>Common confusions on *</vt:lpstr>
      <vt:lpstr>Pass pointers to function</vt:lpstr>
      <vt:lpstr>Pass pointers to function</vt:lpstr>
      <vt:lpstr>Pass pointers to function</vt:lpstr>
      <vt:lpstr>Pass pointers to function</vt:lpstr>
      <vt:lpstr>Pass pointers to function</vt:lpstr>
      <vt:lpstr>Pass pointers to function</vt:lpstr>
      <vt:lpstr>Arrays</vt:lpstr>
      <vt:lpstr>Array</vt:lpstr>
      <vt:lpstr>Array access using pointer</vt:lpstr>
      <vt:lpstr>Array access using pointer</vt:lpstr>
      <vt:lpstr>Array access using pointer</vt:lpstr>
      <vt:lpstr>Array access using pointer</vt:lpstr>
      <vt:lpstr>Out-of-bound access results in (potentially silent) memory error</vt:lpstr>
      <vt:lpstr>Breakout exercise</vt:lpstr>
      <vt:lpstr>Pass array to function via pointer</vt:lpstr>
      <vt:lpstr>Pass array to function via pointer</vt:lpstr>
      <vt:lpstr>Pointer casting</vt:lpstr>
      <vt:lpstr>Another example use of pointer casting</vt:lpstr>
      <vt:lpstr>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7297</cp:revision>
  <cp:lastPrinted>2019-09-23T15:14:39Z</cp:lastPrinted>
  <dcterms:created xsi:type="dcterms:W3CDTF">2012-08-17T04:52:30Z</dcterms:created>
  <dcterms:modified xsi:type="dcterms:W3CDTF">2026-02-04T17:57:02Z</dcterms:modified>
</cp:coreProperties>
</file>