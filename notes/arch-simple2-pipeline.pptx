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sldIdLst>
    <p:sldId id="256" r:id="rId5"/>
    <p:sldId id="420" r:id="rId6"/>
    <p:sldId id="302" r:id="rId7"/>
    <p:sldId id="304" r:id="rId8"/>
    <p:sldId id="306" r:id="rId9"/>
    <p:sldId id="305" r:id="rId10"/>
    <p:sldId id="419" r:id="rId11"/>
    <p:sldId id="303" r:id="rId12"/>
    <p:sldId id="309" r:id="rId13"/>
    <p:sldId id="310" r:id="rId14"/>
    <p:sldId id="312" r:id="rId15"/>
    <p:sldId id="313" r:id="rId16"/>
    <p:sldId id="314" r:id="rId17"/>
    <p:sldId id="315" r:id="rId18"/>
    <p:sldId id="316" r:id="rId19"/>
    <p:sldId id="317" r:id="rId20"/>
    <p:sldId id="424" r:id="rId21"/>
    <p:sldId id="322" r:id="rId22"/>
    <p:sldId id="422" r:id="rId23"/>
    <p:sldId id="423" r:id="rId24"/>
    <p:sldId id="327" r:id="rId25"/>
    <p:sldId id="328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44" r:id="rId36"/>
    <p:sldId id="340" r:id="rId37"/>
    <p:sldId id="339" r:id="rId38"/>
    <p:sldId id="341" r:id="rId39"/>
    <p:sldId id="342" r:id="rId40"/>
    <p:sldId id="42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B4C7E7"/>
    <a:srgbClr val="271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1D23D0-C4A5-764D-99AC-F555725CC517}" v="95" dt="2026-04-22T17:43:33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42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92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30T18:52:46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1 176,'0'0'3944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24AF82-36EB-404F-B7A6-C0839B6DE6D1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A5C31-8F86-4A3A-863C-30287A231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16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87E265B-5CE7-3044-8286-A3BB983412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6851496-4AA6-0D43-B9A6-3CC3AE35BC9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DDA162-796D-E747-9ECF-2B59DD1869A1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3252" name="Rectangle 6">
            <a:extLst>
              <a:ext uri="{FF2B5EF4-FFF2-40B4-BE49-F238E27FC236}">
                <a16:creationId xmlns:a16="http://schemas.microsoft.com/office/drawing/2014/main" id="{76B01002-7B9B-3D47-9585-054784C37DF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3253" name="Rectangle 7">
            <a:extLst>
              <a:ext uri="{FF2B5EF4-FFF2-40B4-BE49-F238E27FC236}">
                <a16:creationId xmlns:a16="http://schemas.microsoft.com/office/drawing/2014/main" id="{AB7E3219-2F8C-5D4B-BC9A-BFBFB6F4F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5381FE-F583-7B4B-B65A-FC22DD837466}" type="slidenum">
              <a:rPr lang="en-AU" altLang="en-US" sz="1300" smtClean="0">
                <a:latin typeface="Times New Roman" panose="02020603050405020304" pitchFamily="18" charset="0"/>
              </a:rPr>
              <a:pPr/>
              <a:t>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4C29F957-5CE8-5C40-B34D-EF17EB94A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A0B92A30-45C4-524E-89D6-A64AAC9E3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853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AE0222B8-D1DE-6048-AAAD-42A27F1810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D8C8163-972F-0144-8521-8694437C6FC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8E8C84-A879-1E44-9062-337A5E18E115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5300" name="Rectangle 6">
            <a:extLst>
              <a:ext uri="{FF2B5EF4-FFF2-40B4-BE49-F238E27FC236}">
                <a16:creationId xmlns:a16="http://schemas.microsoft.com/office/drawing/2014/main" id="{3432BACC-D12E-0B48-9A64-BA2DE89BCA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6545B246-5783-E745-80B4-642984FA3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B0A3BB-BFD5-CD47-953B-1070D1B11F6A}" type="slidenum">
              <a:rPr lang="en-AU" altLang="en-US" sz="1300" smtClean="0">
                <a:latin typeface="Times New Roman" panose="02020603050405020304" pitchFamily="18" charset="0"/>
              </a:rPr>
              <a:pPr/>
              <a:t>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B4D64B7B-8CF8-6A4C-AE2A-B9B8822302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60AC666E-1288-8C4F-8E5B-873F99D3E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498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EB9CAFA-9A08-824C-9D90-13526244FC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24D2236-8EC3-B54B-94A5-24B1921BAB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D01A8E-B29B-2B4F-948C-07D32443F597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9396" name="Rectangle 6">
            <a:extLst>
              <a:ext uri="{FF2B5EF4-FFF2-40B4-BE49-F238E27FC236}">
                <a16:creationId xmlns:a16="http://schemas.microsoft.com/office/drawing/2014/main" id="{05C594FD-B9B6-0F4D-B1A7-862804E97DF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9397" name="Rectangle 7">
            <a:extLst>
              <a:ext uri="{FF2B5EF4-FFF2-40B4-BE49-F238E27FC236}">
                <a16:creationId xmlns:a16="http://schemas.microsoft.com/office/drawing/2014/main" id="{DE21B014-3C94-1847-8E10-6B6D861DB9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16F307-AE13-2943-B591-CC0FE0FD2279}" type="slidenum">
              <a:rPr lang="en-AU" altLang="en-US" sz="1300" smtClean="0">
                <a:latin typeface="Times New Roman" panose="02020603050405020304" pitchFamily="18" charset="0"/>
              </a:rPr>
              <a:pPr/>
              <a:t>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043E596A-9D18-9E4F-B7F1-6BEB966F6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9" name="Rectangle 3">
            <a:extLst>
              <a:ext uri="{FF2B5EF4-FFF2-40B4-BE49-F238E27FC236}">
                <a16:creationId xmlns:a16="http://schemas.microsoft.com/office/drawing/2014/main" id="{8349AE9D-2549-C140-9C3C-2CD11C8E0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3595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DDA46F2-7C5E-9D4A-B0B5-F8DF7AAD85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161AB79-D4ED-AF43-8E6E-457B7AE9D37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16FC5B-18E4-9C4D-A478-F74F33C19E0C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7348" name="Rectangle 6">
            <a:extLst>
              <a:ext uri="{FF2B5EF4-FFF2-40B4-BE49-F238E27FC236}">
                <a16:creationId xmlns:a16="http://schemas.microsoft.com/office/drawing/2014/main" id="{C83B5906-1ED3-F54E-90DC-B31DFABB70F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7349" name="Rectangle 7">
            <a:extLst>
              <a:ext uri="{FF2B5EF4-FFF2-40B4-BE49-F238E27FC236}">
                <a16:creationId xmlns:a16="http://schemas.microsoft.com/office/drawing/2014/main" id="{5AFD8B15-057B-004E-B3AB-D8236989A8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96C98E-A667-FE4F-A051-C11535DE9A60}" type="slidenum">
              <a:rPr lang="en-AU" altLang="en-US" sz="1300" smtClean="0">
                <a:latin typeface="Times New Roman" panose="02020603050405020304" pitchFamily="18" charset="0"/>
              </a:rPr>
              <a:pPr/>
              <a:t>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F3DCB10B-1A47-7A47-BBC9-3F67157FD2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888DD7F6-9881-4048-BE5E-720E2F8EE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146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BC1AC80-DD6B-554C-A8A6-25A21E18FA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5A07776-E6AF-B24F-B96F-8A0A8CDC673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A8F4D7-DA4F-C544-A15A-B3DB27C707BD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1444" name="Rectangle 6">
            <a:extLst>
              <a:ext uri="{FF2B5EF4-FFF2-40B4-BE49-F238E27FC236}">
                <a16:creationId xmlns:a16="http://schemas.microsoft.com/office/drawing/2014/main" id="{8515D2C0-0491-C54F-9A36-CB62F9599B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1445" name="Rectangle 7">
            <a:extLst>
              <a:ext uri="{FF2B5EF4-FFF2-40B4-BE49-F238E27FC236}">
                <a16:creationId xmlns:a16="http://schemas.microsoft.com/office/drawing/2014/main" id="{C77448E2-6A2C-6B42-82F9-6B2700E5E3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1154DD-64AB-FE44-9FB7-8F97553315BC}" type="slidenum">
              <a:rPr lang="en-AU" altLang="en-US" sz="1300" smtClean="0">
                <a:latin typeface="Times New Roman" panose="02020603050405020304" pitchFamily="18" charset="0"/>
              </a:rPr>
              <a:pPr/>
              <a:t>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1446" name="Rectangle 2">
            <a:extLst>
              <a:ext uri="{FF2B5EF4-FFF2-40B4-BE49-F238E27FC236}">
                <a16:creationId xmlns:a16="http://schemas.microsoft.com/office/drawing/2014/main" id="{57F87540-8CCC-4E48-B27C-E6B4297723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7" name="Rectangle 3">
            <a:extLst>
              <a:ext uri="{FF2B5EF4-FFF2-40B4-BE49-F238E27FC236}">
                <a16:creationId xmlns:a16="http://schemas.microsoft.com/office/drawing/2014/main" id="{51DBA10E-0EF0-9B47-A6D5-03E5FA9CC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342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C58329A-3CE8-1749-BF05-21FBB012A0F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F84E5E31-D4D2-0947-B948-18D0C4D4C71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9E3172-B330-BC4C-8B4D-54C082A291BD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3492" name="Rectangle 6">
            <a:extLst>
              <a:ext uri="{FF2B5EF4-FFF2-40B4-BE49-F238E27FC236}">
                <a16:creationId xmlns:a16="http://schemas.microsoft.com/office/drawing/2014/main" id="{6784C38F-4302-104E-83A5-1FCE3ECBCA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A8DBDE92-8FC1-BA4E-8E02-59B7779CF5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9BA620-694E-6743-A811-679C138B51F7}" type="slidenum">
              <a:rPr lang="en-AU" altLang="en-US" sz="1300" smtClean="0">
                <a:latin typeface="Times New Roman" panose="02020603050405020304" pitchFamily="18" charset="0"/>
              </a:rPr>
              <a:pPr/>
              <a:t>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7148BAB0-EF8D-FD40-8180-4EBC3E8972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5" name="Rectangle 3">
            <a:extLst>
              <a:ext uri="{FF2B5EF4-FFF2-40B4-BE49-F238E27FC236}">
                <a16:creationId xmlns:a16="http://schemas.microsoft.com/office/drawing/2014/main" id="{60F6DD5C-56C3-9542-B8F0-CA8D49302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428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875E7E0-EF1B-2245-BDEC-CBA9F074D0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CB65050-FE6D-CB4A-BE52-7B3BDF4C12C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F81025-4EB8-9D4D-8D1C-0784FF0924C7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AC33EBDA-D27D-494D-88D9-04599D3E56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5541" name="Rectangle 7">
            <a:extLst>
              <a:ext uri="{FF2B5EF4-FFF2-40B4-BE49-F238E27FC236}">
                <a16:creationId xmlns:a16="http://schemas.microsoft.com/office/drawing/2014/main" id="{74638C60-2B9B-2D49-8BB1-082008589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39A3E1-77C7-9844-AD5D-129EFA4F96D8}" type="slidenum">
              <a:rPr lang="en-AU" altLang="en-US" sz="1300" smtClean="0">
                <a:latin typeface="Times New Roman" panose="02020603050405020304" pitchFamily="18" charset="0"/>
              </a:rPr>
              <a:pPr/>
              <a:t>10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5542" name="Rectangle 2">
            <a:extLst>
              <a:ext uri="{FF2B5EF4-FFF2-40B4-BE49-F238E27FC236}">
                <a16:creationId xmlns:a16="http://schemas.microsoft.com/office/drawing/2014/main" id="{12C2215E-9184-7744-B05E-487448684D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3" name="Rectangle 3">
            <a:extLst>
              <a:ext uri="{FF2B5EF4-FFF2-40B4-BE49-F238E27FC236}">
                <a16:creationId xmlns:a16="http://schemas.microsoft.com/office/drawing/2014/main" id="{CB1E532B-548A-2C4B-810C-03DDF175D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1430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14FDDB6-045B-6843-B695-F5380634B9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6896F4C4-F066-8E4D-9FD2-11B9B9B72DE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BE36A8-4655-B749-8D4F-481C3B50D736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9636" name="Rectangle 6">
            <a:extLst>
              <a:ext uri="{FF2B5EF4-FFF2-40B4-BE49-F238E27FC236}">
                <a16:creationId xmlns:a16="http://schemas.microsoft.com/office/drawing/2014/main" id="{38A595C8-BCA0-C743-A8D6-E3AD1A7FCCD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69637" name="Rectangle 7">
            <a:extLst>
              <a:ext uri="{FF2B5EF4-FFF2-40B4-BE49-F238E27FC236}">
                <a16:creationId xmlns:a16="http://schemas.microsoft.com/office/drawing/2014/main" id="{28A0B7B4-8C06-D54A-853C-31B9232F7D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359EF3-5EB3-0348-81BF-2A281198F03C}" type="slidenum">
              <a:rPr lang="en-AU" altLang="en-US" sz="1300" smtClean="0">
                <a:latin typeface="Times New Roman" panose="02020603050405020304" pitchFamily="18" charset="0"/>
              </a:rPr>
              <a:pPr/>
              <a:t>11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69638" name="Rectangle 2">
            <a:extLst>
              <a:ext uri="{FF2B5EF4-FFF2-40B4-BE49-F238E27FC236}">
                <a16:creationId xmlns:a16="http://schemas.microsoft.com/office/drawing/2014/main" id="{535F11A1-6BFF-4448-B914-03C6796AC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9" name="Rectangle 3">
            <a:extLst>
              <a:ext uri="{FF2B5EF4-FFF2-40B4-BE49-F238E27FC236}">
                <a16:creationId xmlns:a16="http://schemas.microsoft.com/office/drawing/2014/main" id="{4A9733D2-68E6-1D4E-A9A9-8AF3EF2E2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3020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E7161E5-5B95-B046-A871-70ECCD5D3E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8E8E226-43B5-474C-B174-727DADE433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6B27C2-702E-7E41-8B90-A4BB00E7A479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1684" name="Rectangle 6">
            <a:extLst>
              <a:ext uri="{FF2B5EF4-FFF2-40B4-BE49-F238E27FC236}">
                <a16:creationId xmlns:a16="http://schemas.microsoft.com/office/drawing/2014/main" id="{C889B0C1-0592-D747-BF85-1D58C70A19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1685" name="Rectangle 7">
            <a:extLst>
              <a:ext uri="{FF2B5EF4-FFF2-40B4-BE49-F238E27FC236}">
                <a16:creationId xmlns:a16="http://schemas.microsoft.com/office/drawing/2014/main" id="{213827C4-5850-5B48-8349-A5F9242C8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275163-5CA5-EC4F-BECB-B167D2551A32}" type="slidenum">
              <a:rPr lang="en-AU" altLang="en-US" sz="1300" smtClean="0">
                <a:latin typeface="Times New Roman" panose="02020603050405020304" pitchFamily="18" charset="0"/>
              </a:rPr>
              <a:pPr/>
              <a:t>12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1686" name="Rectangle 2">
            <a:extLst>
              <a:ext uri="{FF2B5EF4-FFF2-40B4-BE49-F238E27FC236}">
                <a16:creationId xmlns:a16="http://schemas.microsoft.com/office/drawing/2014/main" id="{F8B2133D-2B33-C846-AEA8-36DAD8434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7" name="Rectangle 3">
            <a:extLst>
              <a:ext uri="{FF2B5EF4-FFF2-40B4-BE49-F238E27FC236}">
                <a16:creationId xmlns:a16="http://schemas.microsoft.com/office/drawing/2014/main" id="{FC5F438B-18B2-DD4D-AF50-099B844D6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801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35338ADF-A40A-B748-9ADD-262F4D36F3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000C5BD5-DBF9-F440-A6E2-F522FE931F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FFC46F-544E-5341-A9A4-024FEE083A79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3732" name="Rectangle 6">
            <a:extLst>
              <a:ext uri="{FF2B5EF4-FFF2-40B4-BE49-F238E27FC236}">
                <a16:creationId xmlns:a16="http://schemas.microsoft.com/office/drawing/2014/main" id="{F606363B-EB70-934C-8AD4-3D727AC549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3733" name="Rectangle 7">
            <a:extLst>
              <a:ext uri="{FF2B5EF4-FFF2-40B4-BE49-F238E27FC236}">
                <a16:creationId xmlns:a16="http://schemas.microsoft.com/office/drawing/2014/main" id="{3AF5910F-D711-1F47-9356-BB82B86FDC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F14BB0-FD25-F34A-8802-E00EFD9235AF}" type="slidenum">
              <a:rPr lang="en-AU" altLang="en-US" sz="1300" smtClean="0">
                <a:latin typeface="Times New Roman" panose="02020603050405020304" pitchFamily="18" charset="0"/>
              </a:rPr>
              <a:pPr/>
              <a:t>13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3734" name="Rectangle 2">
            <a:extLst>
              <a:ext uri="{FF2B5EF4-FFF2-40B4-BE49-F238E27FC236}">
                <a16:creationId xmlns:a16="http://schemas.microsoft.com/office/drawing/2014/main" id="{51B59D8C-FBCD-3A41-8AA8-D22E575A52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5" name="Rectangle 3">
            <a:extLst>
              <a:ext uri="{FF2B5EF4-FFF2-40B4-BE49-F238E27FC236}">
                <a16:creationId xmlns:a16="http://schemas.microsoft.com/office/drawing/2014/main" id="{4A1D8FE5-A304-B840-97AA-42DD640BD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417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DE826F21-95EC-114F-95B0-FA5CDC6244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3EACDB50-93E0-8249-9C46-4C404A6EA81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D4C556-FA7D-0E49-BB0A-94B00F6CAF47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5780" name="Rectangle 6">
            <a:extLst>
              <a:ext uri="{FF2B5EF4-FFF2-40B4-BE49-F238E27FC236}">
                <a16:creationId xmlns:a16="http://schemas.microsoft.com/office/drawing/2014/main" id="{8D93E337-29B3-A04E-8BFD-30E1FD1D464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5781" name="Rectangle 7">
            <a:extLst>
              <a:ext uri="{FF2B5EF4-FFF2-40B4-BE49-F238E27FC236}">
                <a16:creationId xmlns:a16="http://schemas.microsoft.com/office/drawing/2014/main" id="{2FCD7A1A-DCDB-F344-A806-ED8D5C0BBF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7F286C-D578-E746-9773-1F5765E3301F}" type="slidenum">
              <a:rPr lang="en-AU" altLang="en-US" sz="1300" smtClean="0">
                <a:latin typeface="Times New Roman" panose="02020603050405020304" pitchFamily="18" charset="0"/>
              </a:rPr>
              <a:pPr/>
              <a:t>14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5782" name="Rectangle 2">
            <a:extLst>
              <a:ext uri="{FF2B5EF4-FFF2-40B4-BE49-F238E27FC236}">
                <a16:creationId xmlns:a16="http://schemas.microsoft.com/office/drawing/2014/main" id="{D7B937A7-5BBA-0A47-8052-A1C700F2A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3" name="Rectangle 3">
            <a:extLst>
              <a:ext uri="{FF2B5EF4-FFF2-40B4-BE49-F238E27FC236}">
                <a16:creationId xmlns:a16="http://schemas.microsoft.com/office/drawing/2014/main" id="{CF0C1993-A9C6-9643-AFE1-5F34CCF1F2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990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9DCE8FE0-FE38-0A4D-9507-C85A330072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9DAFA9BC-DB24-5643-9614-955E9313F4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945551-2782-494D-AB17-2ED6F4DD23CF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7828" name="Rectangle 6">
            <a:extLst>
              <a:ext uri="{FF2B5EF4-FFF2-40B4-BE49-F238E27FC236}">
                <a16:creationId xmlns:a16="http://schemas.microsoft.com/office/drawing/2014/main" id="{A72AA996-4EE8-AF48-BBBB-B92AD3CAF7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7829" name="Rectangle 7">
            <a:extLst>
              <a:ext uri="{FF2B5EF4-FFF2-40B4-BE49-F238E27FC236}">
                <a16:creationId xmlns:a16="http://schemas.microsoft.com/office/drawing/2014/main" id="{D5A971B8-3684-2944-8B39-64EF88839F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3974F2-197C-124C-B58C-A16021D5CACE}" type="slidenum">
              <a:rPr lang="en-AU" altLang="en-US" sz="1300" smtClean="0">
                <a:latin typeface="Times New Roman" panose="02020603050405020304" pitchFamily="18" charset="0"/>
              </a:rPr>
              <a:pPr/>
              <a:t>15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7830" name="Rectangle 2">
            <a:extLst>
              <a:ext uri="{FF2B5EF4-FFF2-40B4-BE49-F238E27FC236}">
                <a16:creationId xmlns:a16="http://schemas.microsoft.com/office/drawing/2014/main" id="{F778552A-A874-5D48-BD2C-328F85213A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31" name="Rectangle 3">
            <a:extLst>
              <a:ext uri="{FF2B5EF4-FFF2-40B4-BE49-F238E27FC236}">
                <a16:creationId xmlns:a16="http://schemas.microsoft.com/office/drawing/2014/main" id="{F433A8E8-6B63-0340-B47D-496C320CF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696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FC4CE866-9AFF-1E4F-9D11-A003D21494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9D6A2C-9B2D-6744-BD7B-5D2669601E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411FD4-FBB8-344B-84CF-1E763AF3F3F4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9876" name="Rectangle 6">
            <a:extLst>
              <a:ext uri="{FF2B5EF4-FFF2-40B4-BE49-F238E27FC236}">
                <a16:creationId xmlns:a16="http://schemas.microsoft.com/office/drawing/2014/main" id="{99D684B3-6852-D840-9995-EF081B79B5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9877" name="Rectangle 7">
            <a:extLst>
              <a:ext uri="{FF2B5EF4-FFF2-40B4-BE49-F238E27FC236}">
                <a16:creationId xmlns:a16="http://schemas.microsoft.com/office/drawing/2014/main" id="{04A9C2C3-76B8-AC49-A47A-2BC2BE9128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6BFC6D-41D1-5447-A4B6-8AC39285FF1A}" type="slidenum">
              <a:rPr lang="en-AU" altLang="en-US" sz="1300" smtClean="0">
                <a:latin typeface="Times New Roman" panose="02020603050405020304" pitchFamily="18" charset="0"/>
              </a:rPr>
              <a:pPr/>
              <a:t>16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9878" name="Rectangle 2">
            <a:extLst>
              <a:ext uri="{FF2B5EF4-FFF2-40B4-BE49-F238E27FC236}">
                <a16:creationId xmlns:a16="http://schemas.microsoft.com/office/drawing/2014/main" id="{B4457522-BE44-CE4B-AF36-194A382E91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9" name="Rectangle 3">
            <a:extLst>
              <a:ext uri="{FF2B5EF4-FFF2-40B4-BE49-F238E27FC236}">
                <a16:creationId xmlns:a16="http://schemas.microsoft.com/office/drawing/2014/main" id="{2259519A-8452-B141-A1BF-F2436082F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879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F164B-70FB-F310-8C3E-56B2E79A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7A6EE8C-F034-9FBA-3A24-51C1D934F6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A97A5F8E-4A50-567E-7A73-5454465B168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411FD4-FBB8-344B-84CF-1E763AF3F3F4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9876" name="Rectangle 6">
            <a:extLst>
              <a:ext uri="{FF2B5EF4-FFF2-40B4-BE49-F238E27FC236}">
                <a16:creationId xmlns:a16="http://schemas.microsoft.com/office/drawing/2014/main" id="{444EB66B-10BC-C990-CFD3-35F00EAA4E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79877" name="Rectangle 7">
            <a:extLst>
              <a:ext uri="{FF2B5EF4-FFF2-40B4-BE49-F238E27FC236}">
                <a16:creationId xmlns:a16="http://schemas.microsoft.com/office/drawing/2014/main" id="{60601F88-38DD-858B-768A-E14F66CDC8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6BFC6D-41D1-5447-A4B6-8AC39285FF1A}" type="slidenum">
              <a:rPr lang="en-AU" altLang="en-US" sz="1300" smtClean="0">
                <a:latin typeface="Times New Roman" panose="02020603050405020304" pitchFamily="18" charset="0"/>
              </a:rPr>
              <a:pPr/>
              <a:t>17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79878" name="Rectangle 2">
            <a:extLst>
              <a:ext uri="{FF2B5EF4-FFF2-40B4-BE49-F238E27FC236}">
                <a16:creationId xmlns:a16="http://schemas.microsoft.com/office/drawing/2014/main" id="{B9075338-176D-0D8C-5651-9F5DFF2E57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9" name="Rectangle 3">
            <a:extLst>
              <a:ext uri="{FF2B5EF4-FFF2-40B4-BE49-F238E27FC236}">
                <a16:creationId xmlns:a16="http://schemas.microsoft.com/office/drawing/2014/main" id="{5A3F124B-CFFF-BA5A-3C35-ECC4BCA5B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2203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75BDE643-E45E-C941-8D68-9E9C61066F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3BE02319-D007-904E-AE5F-0952885725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75A5A0-1B72-A442-A387-A303C635E5D0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90116" name="Rectangle 6">
            <a:extLst>
              <a:ext uri="{FF2B5EF4-FFF2-40B4-BE49-F238E27FC236}">
                <a16:creationId xmlns:a16="http://schemas.microsoft.com/office/drawing/2014/main" id="{40C8EAC9-2456-024B-A143-ED7D53EEB9A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90117" name="Rectangle 7">
            <a:extLst>
              <a:ext uri="{FF2B5EF4-FFF2-40B4-BE49-F238E27FC236}">
                <a16:creationId xmlns:a16="http://schemas.microsoft.com/office/drawing/2014/main" id="{0B255AD2-7856-214D-8FCB-1A3C346C2E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90EC46-D38D-0841-A3C5-6996B798325E}" type="slidenum">
              <a:rPr lang="en-AU" altLang="en-US" sz="1300" smtClean="0">
                <a:latin typeface="Times New Roman" panose="02020603050405020304" pitchFamily="18" charset="0"/>
              </a:rPr>
              <a:pPr/>
              <a:t>18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90118" name="Rectangle 2">
            <a:extLst>
              <a:ext uri="{FF2B5EF4-FFF2-40B4-BE49-F238E27FC236}">
                <a16:creationId xmlns:a16="http://schemas.microsoft.com/office/drawing/2014/main" id="{DC700FD9-0E84-DB40-9B6C-7770441F7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9" name="Rectangle 3">
            <a:extLst>
              <a:ext uri="{FF2B5EF4-FFF2-40B4-BE49-F238E27FC236}">
                <a16:creationId xmlns:a16="http://schemas.microsoft.com/office/drawing/2014/main" id="{78A8AD7A-1E53-264C-AA69-F5550AEE8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0233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75BDE643-E45E-C941-8D68-9E9C61066F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3BE02319-D007-904E-AE5F-0952885725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75A5A0-1B72-A442-A387-A303C635E5D0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90116" name="Rectangle 6">
            <a:extLst>
              <a:ext uri="{FF2B5EF4-FFF2-40B4-BE49-F238E27FC236}">
                <a16:creationId xmlns:a16="http://schemas.microsoft.com/office/drawing/2014/main" id="{40C8EAC9-2456-024B-A143-ED7D53EEB9A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90117" name="Rectangle 7">
            <a:extLst>
              <a:ext uri="{FF2B5EF4-FFF2-40B4-BE49-F238E27FC236}">
                <a16:creationId xmlns:a16="http://schemas.microsoft.com/office/drawing/2014/main" id="{0B255AD2-7856-214D-8FCB-1A3C346C2E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90EC46-D38D-0841-A3C5-6996B798325E}" type="slidenum">
              <a:rPr lang="en-AU" altLang="en-US" sz="1300" smtClean="0">
                <a:latin typeface="Times New Roman" panose="02020603050405020304" pitchFamily="18" charset="0"/>
              </a:rPr>
              <a:pPr/>
              <a:t>19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90118" name="Rectangle 2">
            <a:extLst>
              <a:ext uri="{FF2B5EF4-FFF2-40B4-BE49-F238E27FC236}">
                <a16:creationId xmlns:a16="http://schemas.microsoft.com/office/drawing/2014/main" id="{DC700FD9-0E84-DB40-9B6C-7770441F7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9" name="Rectangle 3">
            <a:extLst>
              <a:ext uri="{FF2B5EF4-FFF2-40B4-BE49-F238E27FC236}">
                <a16:creationId xmlns:a16="http://schemas.microsoft.com/office/drawing/2014/main" id="{78A8AD7A-1E53-264C-AA69-F5550AEE8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992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C7277312-4294-CA4E-BE68-8D38BB7477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4924E172-0C6A-994F-B481-240F1E35CED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1320EE-600E-C44B-9ADD-F0352E32E037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98308" name="Rectangle 6">
            <a:extLst>
              <a:ext uri="{FF2B5EF4-FFF2-40B4-BE49-F238E27FC236}">
                <a16:creationId xmlns:a16="http://schemas.microsoft.com/office/drawing/2014/main" id="{4E8D0AA2-26AF-4E4C-A52B-9A5368ED853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98309" name="Rectangle 7">
            <a:extLst>
              <a:ext uri="{FF2B5EF4-FFF2-40B4-BE49-F238E27FC236}">
                <a16:creationId xmlns:a16="http://schemas.microsoft.com/office/drawing/2014/main" id="{8BE5F4F3-60B9-2841-A2A3-D6F94D473A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D35C01-BD5F-CE41-A7E0-57EFC40F2CE8}" type="slidenum">
              <a:rPr lang="en-AU" altLang="en-US" sz="1300" smtClean="0">
                <a:latin typeface="Times New Roman" panose="02020603050405020304" pitchFamily="18" charset="0"/>
              </a:rPr>
              <a:pPr/>
              <a:t>21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98310" name="Rectangle 2">
            <a:extLst>
              <a:ext uri="{FF2B5EF4-FFF2-40B4-BE49-F238E27FC236}">
                <a16:creationId xmlns:a16="http://schemas.microsoft.com/office/drawing/2014/main" id="{93B28B28-B426-D34A-9940-BFE519756D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>
            <a:extLst>
              <a:ext uri="{FF2B5EF4-FFF2-40B4-BE49-F238E27FC236}">
                <a16:creationId xmlns:a16="http://schemas.microsoft.com/office/drawing/2014/main" id="{85A7B1E7-FD4A-D440-A550-A73D5DE33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765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3027B13B-A597-CC47-AA38-FBD7D888A2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33EF5EDD-4ECD-3F4E-BF03-89A6D02E89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C212A8-4B9C-2D40-9A4F-6F3C2F36D805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00356" name="Rectangle 6">
            <a:extLst>
              <a:ext uri="{FF2B5EF4-FFF2-40B4-BE49-F238E27FC236}">
                <a16:creationId xmlns:a16="http://schemas.microsoft.com/office/drawing/2014/main" id="{996B3A7F-68CD-2446-9C9A-6B18EA8CA7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0357" name="Rectangle 7">
            <a:extLst>
              <a:ext uri="{FF2B5EF4-FFF2-40B4-BE49-F238E27FC236}">
                <a16:creationId xmlns:a16="http://schemas.microsoft.com/office/drawing/2014/main" id="{3AD04BF0-403C-194F-A1AE-89C6CEB150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CB7689-10C9-994F-9D87-B42378203BEB}" type="slidenum">
              <a:rPr lang="en-AU" altLang="en-US" sz="1300" smtClean="0">
                <a:latin typeface="Times New Roman" panose="02020603050405020304" pitchFamily="18" charset="0"/>
              </a:rPr>
              <a:pPr/>
              <a:t>22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00358" name="Rectangle 2">
            <a:extLst>
              <a:ext uri="{FF2B5EF4-FFF2-40B4-BE49-F238E27FC236}">
                <a16:creationId xmlns:a16="http://schemas.microsoft.com/office/drawing/2014/main" id="{7CFB4920-A7F9-B247-AC33-411F091E5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9" name="Rectangle 3">
            <a:extLst>
              <a:ext uri="{FF2B5EF4-FFF2-40B4-BE49-F238E27FC236}">
                <a16:creationId xmlns:a16="http://schemas.microsoft.com/office/drawing/2014/main" id="{86AB31EC-61AA-754E-B48E-D806F1727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2691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D208F63D-897C-FB47-B32B-D500FD882E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B84D592-038F-A542-8920-E7F1F592E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068214-D9A2-B94A-99E6-06ADD0ED0E35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04452" name="Rectangle 6">
            <a:extLst>
              <a:ext uri="{FF2B5EF4-FFF2-40B4-BE49-F238E27FC236}">
                <a16:creationId xmlns:a16="http://schemas.microsoft.com/office/drawing/2014/main" id="{2D9CFDEE-86DA-3544-B009-6EA2D26DF2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4453" name="Rectangle 7">
            <a:extLst>
              <a:ext uri="{FF2B5EF4-FFF2-40B4-BE49-F238E27FC236}">
                <a16:creationId xmlns:a16="http://schemas.microsoft.com/office/drawing/2014/main" id="{AF23F3DD-DC8B-6D4D-80A1-B2FE90ABB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862B70-9415-4248-AC7B-2221BC26A5F0}" type="slidenum">
              <a:rPr lang="en-AU" altLang="en-US" sz="1300" smtClean="0">
                <a:latin typeface="Times New Roman" panose="02020603050405020304" pitchFamily="18" charset="0"/>
              </a:rPr>
              <a:pPr/>
              <a:t>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04454" name="Rectangle 2">
            <a:extLst>
              <a:ext uri="{FF2B5EF4-FFF2-40B4-BE49-F238E27FC236}">
                <a16:creationId xmlns:a16="http://schemas.microsoft.com/office/drawing/2014/main" id="{D0ABFFBC-BFE5-E74D-8B04-6F2132AC8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5" name="Rectangle 3">
            <a:extLst>
              <a:ext uri="{FF2B5EF4-FFF2-40B4-BE49-F238E27FC236}">
                <a16:creationId xmlns:a16="http://schemas.microsoft.com/office/drawing/2014/main" id="{98C4FE73-D038-B842-B351-E24E3F36C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009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2BDDC331-A395-C940-9731-10311E6068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8A6F1570-ABE0-CB47-8130-337C738DC2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644846-8BC7-884A-B96A-9530C9430E75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06500" name="Rectangle 6">
            <a:extLst>
              <a:ext uri="{FF2B5EF4-FFF2-40B4-BE49-F238E27FC236}">
                <a16:creationId xmlns:a16="http://schemas.microsoft.com/office/drawing/2014/main" id="{E157BF1A-3EC5-B245-A30A-36B383DFA1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6501" name="Rectangle 7">
            <a:extLst>
              <a:ext uri="{FF2B5EF4-FFF2-40B4-BE49-F238E27FC236}">
                <a16:creationId xmlns:a16="http://schemas.microsoft.com/office/drawing/2014/main" id="{7AEBD236-3A5E-5D45-9D08-59CB339E8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1B3D56-1E3A-3E4B-98AC-66E8535A2ABD}" type="slidenum">
              <a:rPr lang="en-AU" altLang="en-US" sz="1300" smtClean="0">
                <a:latin typeface="Times New Roman" panose="02020603050405020304" pitchFamily="18" charset="0"/>
              </a:rPr>
              <a:pPr/>
              <a:t>24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06502" name="Rectangle 2">
            <a:extLst>
              <a:ext uri="{FF2B5EF4-FFF2-40B4-BE49-F238E27FC236}">
                <a16:creationId xmlns:a16="http://schemas.microsoft.com/office/drawing/2014/main" id="{10724005-5A34-BB45-B0A5-E43E506612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3" name="Rectangle 3">
            <a:extLst>
              <a:ext uri="{FF2B5EF4-FFF2-40B4-BE49-F238E27FC236}">
                <a16:creationId xmlns:a16="http://schemas.microsoft.com/office/drawing/2014/main" id="{C272A498-1EBB-6E4E-84F6-1DBB33B5A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21765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EE723E17-6435-3642-A8B6-444CA6DDAC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0E4FE0B-7C72-634F-852C-D3B6C7DAF8C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6807D0-87BE-9C4D-8B4F-4D071734C866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08548" name="Rectangle 6">
            <a:extLst>
              <a:ext uri="{FF2B5EF4-FFF2-40B4-BE49-F238E27FC236}">
                <a16:creationId xmlns:a16="http://schemas.microsoft.com/office/drawing/2014/main" id="{DC1DAFF3-206F-2148-8237-727594B266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08549" name="Rectangle 7">
            <a:extLst>
              <a:ext uri="{FF2B5EF4-FFF2-40B4-BE49-F238E27FC236}">
                <a16:creationId xmlns:a16="http://schemas.microsoft.com/office/drawing/2014/main" id="{877DD02F-1B66-7247-A237-EC5B0E6BA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D3340D-43FB-8F46-A29B-1C9DF40C1A43}" type="slidenum">
              <a:rPr lang="en-AU" altLang="en-US" sz="1300" smtClean="0">
                <a:latin typeface="Times New Roman" panose="02020603050405020304" pitchFamily="18" charset="0"/>
              </a:rPr>
              <a:pPr/>
              <a:t>25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08550" name="Rectangle 2">
            <a:extLst>
              <a:ext uri="{FF2B5EF4-FFF2-40B4-BE49-F238E27FC236}">
                <a16:creationId xmlns:a16="http://schemas.microsoft.com/office/drawing/2014/main" id="{3FD6D11A-4D8C-B746-99DF-FF289AB1B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1" name="Rectangle 3">
            <a:extLst>
              <a:ext uri="{FF2B5EF4-FFF2-40B4-BE49-F238E27FC236}">
                <a16:creationId xmlns:a16="http://schemas.microsoft.com/office/drawing/2014/main" id="{8A4C1DCD-13DC-274B-8877-B41D317BF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3417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BD319B48-FB89-134C-86AA-53B7D3D248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A42E3BC8-D71F-ED42-B350-B8F70DC6317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52870C-EBF1-C04C-98FD-946C2DD0F220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0596" name="Rectangle 6">
            <a:extLst>
              <a:ext uri="{FF2B5EF4-FFF2-40B4-BE49-F238E27FC236}">
                <a16:creationId xmlns:a16="http://schemas.microsoft.com/office/drawing/2014/main" id="{18439222-B314-B640-BEA5-DB35D45C0F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0597" name="Rectangle 7">
            <a:extLst>
              <a:ext uri="{FF2B5EF4-FFF2-40B4-BE49-F238E27FC236}">
                <a16:creationId xmlns:a16="http://schemas.microsoft.com/office/drawing/2014/main" id="{FF7663FA-62B2-FE4F-92E3-33DC3E7351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F3A3E9-7837-2148-A9FD-96F865D8394D}" type="slidenum">
              <a:rPr lang="en-AU" altLang="en-US" sz="1300" smtClean="0">
                <a:latin typeface="Times New Roman" panose="02020603050405020304" pitchFamily="18" charset="0"/>
              </a:rPr>
              <a:pPr/>
              <a:t>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0598" name="Rectangle 2">
            <a:extLst>
              <a:ext uri="{FF2B5EF4-FFF2-40B4-BE49-F238E27FC236}">
                <a16:creationId xmlns:a16="http://schemas.microsoft.com/office/drawing/2014/main" id="{AAF0D1D6-DC56-E74E-AD23-0F3467450A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9" name="Rectangle 3">
            <a:extLst>
              <a:ext uri="{FF2B5EF4-FFF2-40B4-BE49-F238E27FC236}">
                <a16:creationId xmlns:a16="http://schemas.microsoft.com/office/drawing/2014/main" id="{87D00815-B405-AE4E-8F80-A9D9FD20F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8618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198E0BB1-5936-184D-BA78-0DA99EAABD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B918DB94-0B6F-7044-AF78-457FAD305E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B1CB5C-491E-384B-AFC1-21B20EDE4C46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83F22FB7-299D-144B-9117-3BC78C3928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DC3CA409-1584-CD41-AFFF-81645376D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0D39B5-447C-F542-9603-461C0CE13500}" type="slidenum">
              <a:rPr lang="en-AU" altLang="en-US" sz="1300" smtClean="0">
                <a:latin typeface="Times New Roman" panose="02020603050405020304" pitchFamily="18" charset="0"/>
              </a:rPr>
              <a:pPr/>
              <a:t>27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C2BCB939-5164-2F41-AD6B-23F0667BE5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8477D676-7544-444A-8E77-CB150C0C8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43291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C47D4CE1-A62A-8748-808F-69C79A41F8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EE6F054E-3F94-8845-8370-9BB195D293F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2AD404-7954-D642-AD42-447D3F726B8D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EBB4B3B2-D2D5-3B41-B1E5-C9A13BE3A2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4693" name="Rectangle 7">
            <a:extLst>
              <a:ext uri="{FF2B5EF4-FFF2-40B4-BE49-F238E27FC236}">
                <a16:creationId xmlns:a16="http://schemas.microsoft.com/office/drawing/2014/main" id="{21BF6522-3888-864F-9F5B-9054EC522F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6BEAEC-7CDF-6547-9105-7686391620D0}" type="slidenum">
              <a:rPr lang="en-AU" altLang="en-US" sz="1300" smtClean="0">
                <a:latin typeface="Times New Roman" panose="02020603050405020304" pitchFamily="18" charset="0"/>
              </a:rPr>
              <a:pPr/>
              <a:t>28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4694" name="Rectangle 2">
            <a:extLst>
              <a:ext uri="{FF2B5EF4-FFF2-40B4-BE49-F238E27FC236}">
                <a16:creationId xmlns:a16="http://schemas.microsoft.com/office/drawing/2014/main" id="{3B1FB7ED-D5D5-7A42-ACF8-BF507EFFC1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5" name="Rectangle 3">
            <a:extLst>
              <a:ext uri="{FF2B5EF4-FFF2-40B4-BE49-F238E27FC236}">
                <a16:creationId xmlns:a16="http://schemas.microsoft.com/office/drawing/2014/main" id="{B461073C-225A-A845-8B95-F2FE19261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4160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7B778F1B-012C-774C-B62E-9F6A0E5D70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32142D22-5CD5-3D43-9EDB-D3FE1EA89F3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3B46DA-5CD3-1049-977E-2B2693A5D393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6740" name="Rectangle 6">
            <a:extLst>
              <a:ext uri="{FF2B5EF4-FFF2-40B4-BE49-F238E27FC236}">
                <a16:creationId xmlns:a16="http://schemas.microsoft.com/office/drawing/2014/main" id="{3E8F1655-99A8-F042-89A6-69C662E8EA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6741" name="Rectangle 7">
            <a:extLst>
              <a:ext uri="{FF2B5EF4-FFF2-40B4-BE49-F238E27FC236}">
                <a16:creationId xmlns:a16="http://schemas.microsoft.com/office/drawing/2014/main" id="{FAD11D9B-CF28-BE4C-A43A-34BBC925C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FEFEED-C511-4942-BEFC-54A52EC0919F}" type="slidenum">
              <a:rPr lang="en-AU" altLang="en-US" sz="1300" smtClean="0">
                <a:latin typeface="Times New Roman" panose="02020603050405020304" pitchFamily="18" charset="0"/>
              </a:rPr>
              <a:pPr/>
              <a:t>29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6742" name="Rectangle 2">
            <a:extLst>
              <a:ext uri="{FF2B5EF4-FFF2-40B4-BE49-F238E27FC236}">
                <a16:creationId xmlns:a16="http://schemas.microsoft.com/office/drawing/2014/main" id="{9C0DC269-BC52-C74D-A200-5E1FB07153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3" name="Rectangle 3">
            <a:extLst>
              <a:ext uri="{FF2B5EF4-FFF2-40B4-BE49-F238E27FC236}">
                <a16:creationId xmlns:a16="http://schemas.microsoft.com/office/drawing/2014/main" id="{1E13A129-BC2B-BD4C-A32F-924DAF4BF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734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0FE50849-6619-A641-AFDE-311FECCB8F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52929421-009C-9048-8AAE-7494D2CC22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7198A0-46B4-BB4C-AEF4-EA8CFEBDC2C0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8788" name="Rectangle 6">
            <a:extLst>
              <a:ext uri="{FF2B5EF4-FFF2-40B4-BE49-F238E27FC236}">
                <a16:creationId xmlns:a16="http://schemas.microsoft.com/office/drawing/2014/main" id="{3CF94130-66AD-524D-8873-687D9A1037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18789" name="Rectangle 7">
            <a:extLst>
              <a:ext uri="{FF2B5EF4-FFF2-40B4-BE49-F238E27FC236}">
                <a16:creationId xmlns:a16="http://schemas.microsoft.com/office/drawing/2014/main" id="{8B18E5E3-070B-474B-8C75-F1E765DDCE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BAED89-76A2-A341-81C5-E68502E2FD3A}" type="slidenum">
              <a:rPr lang="en-AU" altLang="en-US" sz="1300" smtClean="0">
                <a:latin typeface="Times New Roman" panose="02020603050405020304" pitchFamily="18" charset="0"/>
              </a:rPr>
              <a:pPr/>
              <a:t>30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18790" name="Rectangle 2">
            <a:extLst>
              <a:ext uri="{FF2B5EF4-FFF2-40B4-BE49-F238E27FC236}">
                <a16:creationId xmlns:a16="http://schemas.microsoft.com/office/drawing/2014/main" id="{C69A5046-D188-6E43-AB29-55692FC829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91" name="Rectangle 3">
            <a:extLst>
              <a:ext uri="{FF2B5EF4-FFF2-40B4-BE49-F238E27FC236}">
                <a16:creationId xmlns:a16="http://schemas.microsoft.com/office/drawing/2014/main" id="{D7850B52-F115-6447-909C-688C1F2D6A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0841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3FA58E09-0B28-CB4A-9EBB-06D87E99E2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82526251-0D56-284F-AA36-1C47FDDB90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083778-4516-B84F-8B52-08B76C21ED7C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0836" name="Rectangle 6">
            <a:extLst>
              <a:ext uri="{FF2B5EF4-FFF2-40B4-BE49-F238E27FC236}">
                <a16:creationId xmlns:a16="http://schemas.microsoft.com/office/drawing/2014/main" id="{BCE7DCDB-454B-604B-9D45-85C0178E92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0837" name="Rectangle 7">
            <a:extLst>
              <a:ext uri="{FF2B5EF4-FFF2-40B4-BE49-F238E27FC236}">
                <a16:creationId xmlns:a16="http://schemas.microsoft.com/office/drawing/2014/main" id="{15CC1036-D90B-6E4E-A6E0-1E14C860F4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68EE1D-9EAB-6344-A963-64CF4DE83D8F}" type="slidenum">
              <a:rPr lang="en-AU" altLang="en-US" sz="1300" smtClean="0">
                <a:latin typeface="Times New Roman" panose="02020603050405020304" pitchFamily="18" charset="0"/>
              </a:rPr>
              <a:pPr/>
              <a:t>31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0838" name="Rectangle 2">
            <a:extLst>
              <a:ext uri="{FF2B5EF4-FFF2-40B4-BE49-F238E27FC236}">
                <a16:creationId xmlns:a16="http://schemas.microsoft.com/office/drawing/2014/main" id="{ECAB882C-AAAB-A44B-A512-2CB605B2AE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9" name="Rectangle 3">
            <a:extLst>
              <a:ext uri="{FF2B5EF4-FFF2-40B4-BE49-F238E27FC236}">
                <a16:creationId xmlns:a16="http://schemas.microsoft.com/office/drawing/2014/main" id="{EE47C9ED-3391-FC43-9419-A6B752EAD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94394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3120C2B4-E0FA-3D47-A609-7BF11E1E90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C814161-F4BA-0042-8169-9C400AF12B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4EC160-A595-3449-8576-3442CA8525CA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6980" name="Rectangle 6">
            <a:extLst>
              <a:ext uri="{FF2B5EF4-FFF2-40B4-BE49-F238E27FC236}">
                <a16:creationId xmlns:a16="http://schemas.microsoft.com/office/drawing/2014/main" id="{BE7A5E92-5340-9742-9C59-50842DA193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6981" name="Rectangle 7">
            <a:extLst>
              <a:ext uri="{FF2B5EF4-FFF2-40B4-BE49-F238E27FC236}">
                <a16:creationId xmlns:a16="http://schemas.microsoft.com/office/drawing/2014/main" id="{02D3851A-B415-094A-BD70-190B60CF30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D27F14-D979-B74F-A2CC-BD87ECA2092C}" type="slidenum">
              <a:rPr lang="en-AU" altLang="en-US" sz="1300" smtClean="0">
                <a:latin typeface="Times New Roman" panose="02020603050405020304" pitchFamily="18" charset="0"/>
              </a:rPr>
              <a:pPr/>
              <a:t>32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6982" name="Rectangle 2">
            <a:extLst>
              <a:ext uri="{FF2B5EF4-FFF2-40B4-BE49-F238E27FC236}">
                <a16:creationId xmlns:a16="http://schemas.microsoft.com/office/drawing/2014/main" id="{0463EB5F-36E0-F043-B264-57E8292A83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3" name="Rectangle 3">
            <a:extLst>
              <a:ext uri="{FF2B5EF4-FFF2-40B4-BE49-F238E27FC236}">
                <a16:creationId xmlns:a16="http://schemas.microsoft.com/office/drawing/2014/main" id="{5493F563-EEA2-D64E-B945-EA293CA80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99734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B74CE88E-DEC6-CB40-907F-90CAE413D2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9C38701A-0188-CC4D-AEED-699923F8CE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1FBE11-E30E-1F4C-AA20-0A271C54978F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4932" name="Rectangle 6">
            <a:extLst>
              <a:ext uri="{FF2B5EF4-FFF2-40B4-BE49-F238E27FC236}">
                <a16:creationId xmlns:a16="http://schemas.microsoft.com/office/drawing/2014/main" id="{E4A51339-B452-7E4B-8F3F-31B41B1DD9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4933" name="Rectangle 7">
            <a:extLst>
              <a:ext uri="{FF2B5EF4-FFF2-40B4-BE49-F238E27FC236}">
                <a16:creationId xmlns:a16="http://schemas.microsoft.com/office/drawing/2014/main" id="{990AC9C8-9A34-774C-826D-5C228C1D09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684075-EA22-0B40-B9B3-4A41907A0A32}" type="slidenum">
              <a:rPr lang="en-AU" altLang="en-US" sz="1300" smtClean="0">
                <a:latin typeface="Times New Roman" panose="02020603050405020304" pitchFamily="18" charset="0"/>
              </a:rPr>
              <a:pPr/>
              <a:t>33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4934" name="Rectangle 2">
            <a:extLst>
              <a:ext uri="{FF2B5EF4-FFF2-40B4-BE49-F238E27FC236}">
                <a16:creationId xmlns:a16="http://schemas.microsoft.com/office/drawing/2014/main" id="{1B3B8580-D2E5-8840-A903-2EC93A914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5" name="Rectangle 3">
            <a:extLst>
              <a:ext uri="{FF2B5EF4-FFF2-40B4-BE49-F238E27FC236}">
                <a16:creationId xmlns:a16="http://schemas.microsoft.com/office/drawing/2014/main" id="{3D3F7C70-1E6D-C24D-85B5-3EDEC4142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8680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4D53B8F5-46C5-AA4F-87D8-ABFE621BA5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5DA1AE39-2D4C-A140-89C0-80CE8A31B9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8695D9-78A6-AF47-8B59-5D1F9D274E5C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2884" name="Rectangle 6">
            <a:extLst>
              <a:ext uri="{FF2B5EF4-FFF2-40B4-BE49-F238E27FC236}">
                <a16:creationId xmlns:a16="http://schemas.microsoft.com/office/drawing/2014/main" id="{32C746C5-2C1C-4B4B-B15C-2458A35CF4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2885" name="Rectangle 7">
            <a:extLst>
              <a:ext uri="{FF2B5EF4-FFF2-40B4-BE49-F238E27FC236}">
                <a16:creationId xmlns:a16="http://schemas.microsoft.com/office/drawing/2014/main" id="{51045E89-B395-594B-A496-FE577A20CC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833E88-C393-B245-A41E-F5CFB0305016}" type="slidenum">
              <a:rPr lang="en-AU" altLang="en-US" sz="1300" smtClean="0">
                <a:latin typeface="Times New Roman" panose="02020603050405020304" pitchFamily="18" charset="0"/>
              </a:rPr>
              <a:pPr/>
              <a:t>34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2886" name="Rectangle 2">
            <a:extLst>
              <a:ext uri="{FF2B5EF4-FFF2-40B4-BE49-F238E27FC236}">
                <a16:creationId xmlns:a16="http://schemas.microsoft.com/office/drawing/2014/main" id="{3A9EA703-AAFA-A746-A755-42E9D657F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7" name="Rectangle 3">
            <a:extLst>
              <a:ext uri="{FF2B5EF4-FFF2-40B4-BE49-F238E27FC236}">
                <a16:creationId xmlns:a16="http://schemas.microsoft.com/office/drawing/2014/main" id="{37EA15F8-D5C5-4444-B767-4571A2C05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082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BBA2DB8F-1100-084B-B1D1-3E36E5BEE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7F7B7FA8-D4EB-7644-8E15-7AE22F2B94B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BF4A84-EE3B-2A46-979D-0333E0D95AFC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9028" name="Rectangle 6">
            <a:extLst>
              <a:ext uri="{FF2B5EF4-FFF2-40B4-BE49-F238E27FC236}">
                <a16:creationId xmlns:a16="http://schemas.microsoft.com/office/drawing/2014/main" id="{3917A0CA-BCCF-2E4D-BE79-5C5466154DA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9029" name="Rectangle 7">
            <a:extLst>
              <a:ext uri="{FF2B5EF4-FFF2-40B4-BE49-F238E27FC236}">
                <a16:creationId xmlns:a16="http://schemas.microsoft.com/office/drawing/2014/main" id="{2D6A2F37-C82D-194F-AF6F-63055C957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F29842-F5A0-7642-ACF7-58545FE8A4F9}" type="slidenum">
              <a:rPr lang="en-AU" altLang="en-US" sz="1300" smtClean="0">
                <a:latin typeface="Times New Roman" panose="02020603050405020304" pitchFamily="18" charset="0"/>
              </a:rPr>
              <a:pPr/>
              <a:t>35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9030" name="Rectangle 2">
            <a:extLst>
              <a:ext uri="{FF2B5EF4-FFF2-40B4-BE49-F238E27FC236}">
                <a16:creationId xmlns:a16="http://schemas.microsoft.com/office/drawing/2014/main" id="{CDFF0D46-9F0E-934B-A2DD-520F9CAF3D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31" name="Rectangle 3">
            <a:extLst>
              <a:ext uri="{FF2B5EF4-FFF2-40B4-BE49-F238E27FC236}">
                <a16:creationId xmlns:a16="http://schemas.microsoft.com/office/drawing/2014/main" id="{20162998-705B-234A-97FE-ECBB09EA8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4610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2267C919-716F-8244-B996-01418ED237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E42E9484-EF7D-CA4A-90DC-8DDDBB281E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EF0753-0E3A-8245-82AB-4B15D86AC20F}" type="datetime3">
              <a:rPr lang="en-AU" altLang="en-US" sz="1300" smtClean="0">
                <a:latin typeface="Times New Roman" panose="02020603050405020304" pitchFamily="18" charset="0"/>
              </a:rPr>
              <a:pPr/>
              <a:t>22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38BF10F7-A051-F04A-A17E-1F991BB784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4C9D6517-23F1-8945-BB67-BE660398DA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23BF65-97F0-9C4E-A28A-D10F5B33C755}" type="slidenum">
              <a:rPr lang="en-AU" altLang="en-US" sz="1300" smtClean="0">
                <a:latin typeface="Times New Roman" panose="02020603050405020304" pitchFamily="18" charset="0"/>
              </a:rPr>
              <a:pPr/>
              <a:t>36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1078" name="Rectangle 2">
            <a:extLst>
              <a:ext uri="{FF2B5EF4-FFF2-40B4-BE49-F238E27FC236}">
                <a16:creationId xmlns:a16="http://schemas.microsoft.com/office/drawing/2014/main" id="{E60413CE-01FB-1240-B8DD-636354B67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9" name="Rectangle 3">
            <a:extLst>
              <a:ext uri="{FF2B5EF4-FFF2-40B4-BE49-F238E27FC236}">
                <a16:creationId xmlns:a16="http://schemas.microsoft.com/office/drawing/2014/main" id="{2DFC1621-9F18-4F44-A28A-9A39B5FAC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999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B699-A849-4EC5-A695-7A38945B0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000">
                <a:solidFill>
                  <a:srgbClr val="271DEB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214C1-A2BD-4F8A-82F8-231C77D7F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DA503-27EF-4FA9-A37D-96031B217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B47BD-005F-48E5-B1B0-2319B5C80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1005D-27CA-4C5B-9153-26EF808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1BE1-394F-4D86-8BB7-AE39FFB9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349D7-DEED-4EBA-B796-1903138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8B7A3-E92B-4997-AB76-B13B0A55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FFE3F-9DD6-40C9-A7A1-F4BA4E3F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395F9-0293-4F1A-B219-79169DF7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94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9614-1AD8-482B-99E4-21AF9C1A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D5C2-07CA-4D85-BB9B-B58461F55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93776-70C1-4400-B497-933503D9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24593-02B7-45AC-BFC7-CD0771D0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2000D-C741-4C16-A972-0400E521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F4A4-9BA5-4666-A20B-C79222FA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CF11-F5E1-42A4-8667-6E396E806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1EC45-1B04-42D7-BF71-7DDE26677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54744-485D-4384-80EB-62A27941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39299-B7B4-4DF0-91E6-EA074F22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F7A3-C133-4CF0-AA56-2ACA380A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2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148F-D0D5-436A-984D-1521512F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9855-5727-4890-9580-E5AEC365C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1BFD0-1159-4E51-929E-AB07DA0DC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18B76-1F84-4106-AD52-F30B53320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05926-66B7-4426-B830-FB28B2F19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2102E0-7A50-4EB8-94B7-2C2AB8F5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B01B7-D97F-4B17-880A-3E65BC34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E4C08-0889-4679-98AA-489E1C5F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1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A4D8-F8B4-48E3-BCD7-8C1FD2334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A046D-DC92-40F0-A90E-31705824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02DBA-7380-463A-BAB0-50D545B5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9D2DE-29EE-444A-B416-7A82230E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2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8924B3-F449-409B-BD3E-0183CF24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920EE-4CF1-47E0-8939-51527D4DD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EE8A4-B643-4996-A707-A32CA824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5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1762-F426-40BC-A8A3-0BEF9C2C1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9175E-5EEE-4C3D-8692-9FD019976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89210-4BBC-4653-9F3C-1662F1317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379C7-9FD7-4909-BC49-3B5BA0C32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44525-C814-4CA0-B894-9D35E9D0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51BBB-DD4B-4EBD-8034-3348E10F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9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E4A2-FF72-42D6-9B09-D1A101EB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E1A08-80DE-48FC-8371-F362AF5D4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62E8D-F551-4CB6-82D1-0A11BC786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2F1BA-A9E2-4249-9E40-25BA363D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63D44-2B20-427A-AA85-2F07168A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4F17D-1042-4519-B7B4-D1BC89BA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5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9DF4-4351-479C-BFD4-4054A9F6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85F96-FFCB-4A3D-8285-FE9F3EAC7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2E86-A80C-4A94-BCA6-9B047752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3A25B-0F00-4A19-8035-2F72076A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879A2-B859-44F7-8B60-5E5E0DE6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77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87670-5E16-4870-A82D-A84E1FE42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1DBCE-BA05-4C1E-9A37-08F86024A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45621-F71A-4D6F-B553-E16117DD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D3F64-626E-4C86-AAF2-A32EB87E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7C1CD-5154-49CF-BC7E-3C6FDE30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0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44B7F9-7846-4F68-B8E4-CF773AED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0FE39-A131-44F9-ACCC-1FF46897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E4CB1-5920-4BD6-ADD6-407A98B19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3990E-A0F5-40FD-A2C7-A8D395E6CE6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A2B2F-2831-4252-A3B2-2C37FC74F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B7E47-05A4-4DD5-83FB-7C0DB4CD2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C1731-380D-4265-9BD3-8B4C37471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8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271DEB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BBFA-B750-460A-8D2F-6B071D7CD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Basic/Pipelined processor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ED4FF-219D-4DFD-9D2D-A1ECD233D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46686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919F-F514-44A6-8CEF-6789327D4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63A3-20AC-4242-9738-B518A265D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single-cycle CPU design, continued</a:t>
            </a:r>
          </a:p>
          <a:p>
            <a:r>
              <a:rPr lang="en-US" dirty="0"/>
              <a:t>Pipelining idea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409247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4">
            <a:extLst>
              <a:ext uri="{FF2B5EF4-FFF2-40B4-BE49-F238E27FC236}">
                <a16:creationId xmlns:a16="http://schemas.microsoft.com/office/drawing/2014/main" id="{CA54C832-D4F3-5C4F-ACB9-C5DD62999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11499448" cy="1325563"/>
          </a:xfrm>
        </p:spPr>
        <p:txBody>
          <a:bodyPr/>
          <a:lstStyle/>
          <a:p>
            <a:pPr eaLnBrk="1" hangingPunct="1"/>
            <a:r>
              <a:rPr lang="en-AU" altLang="en-US" dirty="0"/>
              <a:t>Recall our basic RISC-V CPU: </a:t>
            </a:r>
            <a:r>
              <a:rPr lang="en-AU" altLang="en-US" dirty="0" err="1"/>
              <a:t>datapath</a:t>
            </a:r>
            <a:r>
              <a:rPr lang="en-AU" altLang="en-US" dirty="0"/>
              <a:t> w/ control</a:t>
            </a:r>
          </a:p>
        </p:txBody>
      </p:sp>
      <p:pic>
        <p:nvPicPr>
          <p:cNvPr id="52228" name="Picture 1">
            <a:extLst>
              <a:ext uri="{FF2B5EF4-FFF2-40B4-BE49-F238E27FC236}">
                <a16:creationId xmlns:a16="http://schemas.microsoft.com/office/drawing/2014/main" id="{B8409C87-8819-E84E-935E-9D55FF51B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1" y="1021080"/>
            <a:ext cx="10347960" cy="5608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4361CE04-5D39-9140-A412-012D348FF1E0}"/>
              </a:ext>
            </a:extLst>
          </p:cNvPr>
          <p:cNvSpPr/>
          <p:nvPr/>
        </p:nvSpPr>
        <p:spPr>
          <a:xfrm>
            <a:off x="4536077" y="1105672"/>
            <a:ext cx="1783079" cy="1208314"/>
          </a:xfrm>
          <a:prstGeom prst="wedgeRoundRectCallout">
            <a:avLst>
              <a:gd name="adj1" fmla="val -45125"/>
              <a:gd name="adj2" fmla="val 715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derived from instruction type</a:t>
            </a:r>
          </a:p>
        </p:txBody>
      </p:sp>
    </p:spTree>
    <p:extLst>
      <p:ext uri="{BB962C8B-B14F-4D97-AF65-F5344CB8AC3E}">
        <p14:creationId xmlns:p14="http://schemas.microsoft.com/office/powerpoint/2010/main" val="246097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4">
            <a:extLst>
              <a:ext uri="{FF2B5EF4-FFF2-40B4-BE49-F238E27FC236}">
                <a16:creationId xmlns:a16="http://schemas.microsoft.com/office/drawing/2014/main" id="{BAF58C7D-D609-A149-A05D-BFEA935BC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6884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AU" altLang="en-US" dirty="0"/>
              <a:t>R-Type Inst</a:t>
            </a:r>
          </a:p>
        </p:txBody>
      </p:sp>
      <p:pic>
        <p:nvPicPr>
          <p:cNvPr id="54276" name="Picture 3">
            <a:extLst>
              <a:ext uri="{FF2B5EF4-FFF2-40B4-BE49-F238E27FC236}">
                <a16:creationId xmlns:a16="http://schemas.microsoft.com/office/drawing/2014/main" id="{B8DFDAAE-3FBD-B24F-8D36-104A5D52F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29" y="1717516"/>
            <a:ext cx="7731727" cy="4908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E11BF2-756E-40CD-A81D-B363EF482E1A}"/>
              </a:ext>
            </a:extLst>
          </p:cNvPr>
          <p:cNvSpPr txBox="1"/>
          <p:nvPr/>
        </p:nvSpPr>
        <p:spPr>
          <a:xfrm>
            <a:off x="9542195" y="222599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x5, x6, x7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FC2EE137-95FA-4A88-B8CC-3E9F06CD849E}"/>
              </a:ext>
            </a:extLst>
          </p:cNvPr>
          <p:cNvGrpSpPr>
            <a:grpSpLocks/>
          </p:cNvGrpSpPr>
          <p:nvPr/>
        </p:nvGrpSpPr>
        <p:grpSpPr bwMode="auto">
          <a:xfrm>
            <a:off x="3591875" y="735836"/>
            <a:ext cx="8518206" cy="531221"/>
            <a:chOff x="1331640" y="1391533"/>
            <a:chExt cx="6771978" cy="41592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09C1CB0E-F36C-479C-9527-A2F799414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funct7</a:t>
              </a:r>
              <a:endParaRPr lang="en-AU" altLang="en-US" sz="20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857E635C-C544-4222-87EC-BB7321505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C15609CE-8BCC-4011-9CFA-809EBB3AB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D70920B5-0D1B-4A7D-ACC0-7EFD1258D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D9C8C9BF-4FE3-47FF-A719-7D4646648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2EE7DCEF-CD57-4229-B1F6-A16D047E1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7972932-279E-421D-95FB-518E4FD895AF}"/>
              </a:ext>
            </a:extLst>
          </p:cNvPr>
          <p:cNvSpPr/>
          <p:nvPr/>
        </p:nvSpPr>
        <p:spPr>
          <a:xfrm>
            <a:off x="3591875" y="735834"/>
            <a:ext cx="1631429" cy="5312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Group 69">
            <a:extLst>
              <a:ext uri="{FF2B5EF4-FFF2-40B4-BE49-F238E27FC236}">
                <a16:creationId xmlns:a16="http://schemas.microsoft.com/office/drawing/2014/main" id="{18959CB8-FE3D-8BCF-129A-111702B64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876683"/>
              </p:ext>
            </p:extLst>
          </p:nvPr>
        </p:nvGraphicFramePr>
        <p:xfrm>
          <a:off x="8097864" y="1833214"/>
          <a:ext cx="3970066" cy="3285648"/>
        </p:xfrm>
        <a:graphic>
          <a:graphicData uri="http://schemas.openxmlformats.org/drawingml/2006/table">
            <a:tbl>
              <a:tblPr/>
              <a:tblGrid>
                <a:gridCol w="74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944">
                  <a:extLst>
                    <a:ext uri="{9D8B030D-6E8A-4147-A177-3AD203B41FA5}">
                      <a16:colId xmlns:a16="http://schemas.microsoft.com/office/drawing/2014/main" val="2322937756"/>
                    </a:ext>
                  </a:extLst>
                </a:gridCol>
                <a:gridCol w="729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opcode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ALUOp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func7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func3</a:t>
                      </a: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 control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ld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sd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beq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858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R-type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 (add)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(sub)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(AND)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(OR)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0DBBEBF-91B7-400D-EF04-7564B91368B1}"/>
              </a:ext>
            </a:extLst>
          </p:cNvPr>
          <p:cNvSpPr/>
          <p:nvPr/>
        </p:nvSpPr>
        <p:spPr>
          <a:xfrm>
            <a:off x="7939026" y="735833"/>
            <a:ext cx="1177771" cy="5312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A44E0A-C935-174E-367E-D77D2C02B2DB}"/>
              </a:ext>
            </a:extLst>
          </p:cNvPr>
          <p:cNvSpPr/>
          <p:nvPr/>
        </p:nvSpPr>
        <p:spPr>
          <a:xfrm>
            <a:off x="10474658" y="749250"/>
            <a:ext cx="1631429" cy="5312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8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4">
            <a:extLst>
              <a:ext uri="{FF2B5EF4-FFF2-40B4-BE49-F238E27FC236}">
                <a16:creationId xmlns:a16="http://schemas.microsoft.com/office/drawing/2014/main" id="{F9A091ED-3CEF-094D-AC9C-D4E8C525C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3458" y="440079"/>
            <a:ext cx="8259762" cy="769937"/>
          </a:xfrm>
        </p:spPr>
        <p:txBody>
          <a:bodyPr/>
          <a:lstStyle/>
          <a:p>
            <a:pPr eaLnBrk="1" hangingPunct="1"/>
            <a:r>
              <a:rPr lang="en-AU" altLang="en-US" dirty="0"/>
              <a:t>BEQ Instruction</a:t>
            </a:r>
          </a:p>
        </p:txBody>
      </p:sp>
      <p:pic>
        <p:nvPicPr>
          <p:cNvPr id="58372" name="Picture 1">
            <a:extLst>
              <a:ext uri="{FF2B5EF4-FFF2-40B4-BE49-F238E27FC236}">
                <a16:creationId xmlns:a16="http://schemas.microsoft.com/office/drawing/2014/main" id="{ABA11A73-F54D-684C-BECA-86DF0F58E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70" y="1775865"/>
            <a:ext cx="7758066" cy="464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69ACFA-3AB0-46A8-BC2E-DCE09AAA12DF}"/>
              </a:ext>
            </a:extLst>
          </p:cNvPr>
          <p:cNvSpPr txBox="1"/>
          <p:nvPr/>
        </p:nvSpPr>
        <p:spPr>
          <a:xfrm>
            <a:off x="8183444" y="239570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x5, x6, 100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5EB1F6BF-9077-4D4D-A8A2-29E669623D38}"/>
              </a:ext>
            </a:extLst>
          </p:cNvPr>
          <p:cNvGrpSpPr>
            <a:grpSpLocks/>
          </p:cNvGrpSpPr>
          <p:nvPr/>
        </p:nvGrpSpPr>
        <p:grpSpPr bwMode="auto">
          <a:xfrm>
            <a:off x="5260643" y="900387"/>
            <a:ext cx="6772275" cy="415170"/>
            <a:chOff x="1331640" y="1391533"/>
            <a:chExt cx="6771978" cy="41592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84BB3C44-A37A-47C6-8CB8-234889D36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 </a:t>
              </a:r>
              <a:endParaRPr lang="en-AU" altLang="en-US" sz="200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760ADC1F-A84C-41DA-855A-D45B3F3A7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C12549D7-DA96-466F-989F-B6591BE17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8E77C5A6-E471-46EA-A929-842B0C467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 </a:t>
              </a:r>
              <a:endParaRPr lang="en-AU" altLang="en-US" sz="2000"/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F205E82B-E66C-44C8-81B0-CDF531C4E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90F216E0-D5FD-43F2-9C4C-65821C3A5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9E60201-9EAA-4DFC-92B1-73803F74F6E8}"/>
              </a:ext>
            </a:extLst>
          </p:cNvPr>
          <p:cNvSpPr/>
          <p:nvPr/>
        </p:nvSpPr>
        <p:spPr>
          <a:xfrm>
            <a:off x="5260643" y="900388"/>
            <a:ext cx="217497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68F2CA-4454-4BC5-B81D-692AF7FAF066}"/>
              </a:ext>
            </a:extLst>
          </p:cNvPr>
          <p:cNvSpPr/>
          <p:nvPr/>
        </p:nvSpPr>
        <p:spPr>
          <a:xfrm>
            <a:off x="5478140" y="900388"/>
            <a:ext cx="1077958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1F5804-B45F-4663-AED5-EEFF45522273}"/>
              </a:ext>
            </a:extLst>
          </p:cNvPr>
          <p:cNvSpPr/>
          <p:nvPr/>
        </p:nvSpPr>
        <p:spPr>
          <a:xfrm>
            <a:off x="10545365" y="900388"/>
            <a:ext cx="190509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AD7E05-42CE-4013-AA81-947326B8D31D}"/>
              </a:ext>
            </a:extLst>
          </p:cNvPr>
          <p:cNvSpPr/>
          <p:nvPr/>
        </p:nvSpPr>
        <p:spPr>
          <a:xfrm>
            <a:off x="9639748" y="900388"/>
            <a:ext cx="904029" cy="4151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EDC284E-0563-48C7-A6ED-BD089E53CB51}"/>
                  </a:ext>
                </a:extLst>
              </p14:cNvPr>
              <p14:cNvContentPartPr/>
              <p14:nvPr/>
            </p14:nvContentPartPr>
            <p14:xfrm>
              <a:off x="2568558" y="4426033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EDC284E-0563-48C7-A6ED-BD089E53CB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0918" y="4408393"/>
                <a:ext cx="36000" cy="36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Group 69">
            <a:extLst>
              <a:ext uri="{FF2B5EF4-FFF2-40B4-BE49-F238E27FC236}">
                <a16:creationId xmlns:a16="http://schemas.microsoft.com/office/drawing/2014/main" id="{8EBF42BD-3D8A-63B4-57B4-A6F630DA3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448312"/>
              </p:ext>
            </p:extLst>
          </p:nvPr>
        </p:nvGraphicFramePr>
        <p:xfrm>
          <a:off x="8097864" y="1833214"/>
          <a:ext cx="3970066" cy="3285648"/>
        </p:xfrm>
        <a:graphic>
          <a:graphicData uri="http://schemas.openxmlformats.org/drawingml/2006/table">
            <a:tbl>
              <a:tblPr/>
              <a:tblGrid>
                <a:gridCol w="74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944">
                  <a:extLst>
                    <a:ext uri="{9D8B030D-6E8A-4147-A177-3AD203B41FA5}">
                      <a16:colId xmlns:a16="http://schemas.microsoft.com/office/drawing/2014/main" val="2322937756"/>
                    </a:ext>
                  </a:extLst>
                </a:gridCol>
                <a:gridCol w="729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opcode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ALUOp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func7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func3</a:t>
                      </a: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 control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ld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sd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beq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858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R-type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 (add)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010000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(sub)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(AND)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(OR)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30FB559-63A4-4B3A-1112-DAE74A54B9C2}"/>
              </a:ext>
            </a:extLst>
          </p:cNvPr>
          <p:cNvSpPr/>
          <p:nvPr/>
        </p:nvSpPr>
        <p:spPr>
          <a:xfrm>
            <a:off x="10719295" y="900386"/>
            <a:ext cx="1297044" cy="41517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8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4">
            <a:extLst>
              <a:ext uri="{FF2B5EF4-FFF2-40B4-BE49-F238E27FC236}">
                <a16:creationId xmlns:a16="http://schemas.microsoft.com/office/drawing/2014/main" id="{3CD2BF72-F388-C546-8EAB-12706DCD0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Load Inst</a:t>
            </a:r>
          </a:p>
        </p:txBody>
      </p:sp>
      <p:pic>
        <p:nvPicPr>
          <p:cNvPr id="56324" name="Picture 1">
            <a:extLst>
              <a:ext uri="{FF2B5EF4-FFF2-40B4-BE49-F238E27FC236}">
                <a16:creationId xmlns:a16="http://schemas.microsoft.com/office/drawing/2014/main" id="{17899A38-C8AA-4D42-BDB1-44843F1FC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70" y="1520017"/>
            <a:ext cx="7862931" cy="4741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C293F6-F763-4496-9582-BD0E1AD9D743}"/>
              </a:ext>
            </a:extLst>
          </p:cNvPr>
          <p:cNvSpPr txBox="1"/>
          <p:nvPr/>
        </p:nvSpPr>
        <p:spPr>
          <a:xfrm>
            <a:off x="9041789" y="242305"/>
            <a:ext cx="2747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x5, 40(x6)</a:t>
            </a:r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D4F945D4-2C37-46E4-9730-F28C6A2D71E1}"/>
              </a:ext>
            </a:extLst>
          </p:cNvPr>
          <p:cNvGrpSpPr>
            <a:grpSpLocks/>
          </p:cNvGrpSpPr>
          <p:nvPr/>
        </p:nvGrpSpPr>
        <p:grpSpPr bwMode="auto">
          <a:xfrm>
            <a:off x="3900739" y="834642"/>
            <a:ext cx="8147367" cy="410247"/>
            <a:chOff x="1331640" y="1391533"/>
            <a:chExt cx="6771978" cy="415925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BFFC7BD8-FB6A-43CE-8B38-67F8A6094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2374899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immediate</a:t>
              </a:r>
              <a:endParaRPr lang="en-AU" altLang="en-US" sz="2000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51A9B665-6BF0-4DFA-9B75-84DD29129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FEC927DB-4181-4048-B6C7-55E691A27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D23DDA33-7C7D-4F48-B528-E5FFC5CB3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6D63720C-2A72-49C1-AC0D-99C6A0149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/>
                <a:t>opcode</a:t>
              </a:r>
              <a:endParaRPr lang="en-AU" altLang="en-US" sz="2000" dirty="0"/>
            </a:p>
          </p:txBody>
        </p:sp>
      </p:grpSp>
      <p:graphicFrame>
        <p:nvGraphicFramePr>
          <p:cNvPr id="2" name="Group 69">
            <a:extLst>
              <a:ext uri="{FF2B5EF4-FFF2-40B4-BE49-F238E27FC236}">
                <a16:creationId xmlns:a16="http://schemas.microsoft.com/office/drawing/2014/main" id="{18D479FD-1F78-3361-20B6-3A7C8E578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953152"/>
              </p:ext>
            </p:extLst>
          </p:nvPr>
        </p:nvGraphicFramePr>
        <p:xfrm>
          <a:off x="8097864" y="1833214"/>
          <a:ext cx="3970066" cy="3285648"/>
        </p:xfrm>
        <a:graphic>
          <a:graphicData uri="http://schemas.openxmlformats.org/drawingml/2006/table">
            <a:tbl>
              <a:tblPr/>
              <a:tblGrid>
                <a:gridCol w="74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944">
                  <a:extLst>
                    <a:ext uri="{9D8B030D-6E8A-4147-A177-3AD203B41FA5}">
                      <a16:colId xmlns:a16="http://schemas.microsoft.com/office/drawing/2014/main" val="2322937756"/>
                    </a:ext>
                  </a:extLst>
                </a:gridCol>
                <a:gridCol w="729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opcode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ALUOp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func7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func3</a:t>
                      </a: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 control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ld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sd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beq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xxxxxxx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xxx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858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R-type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 (add)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010000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(sub)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(AND)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3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(OR)</a:t>
                      </a:r>
                      <a:endParaRPr kumimoji="0" lang="en-AU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54" marR="91454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82ABCD0-A5D9-E0BF-8703-560FD27F2861}"/>
              </a:ext>
            </a:extLst>
          </p:cNvPr>
          <p:cNvSpPr/>
          <p:nvPr/>
        </p:nvSpPr>
        <p:spPr>
          <a:xfrm>
            <a:off x="10470657" y="845033"/>
            <a:ext cx="1560404" cy="41517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52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DB205-0E3C-C946-8DBB-F4399102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95" y="18284"/>
            <a:ext cx="11761347" cy="1325563"/>
          </a:xfrm>
        </p:spPr>
        <p:txBody>
          <a:bodyPr/>
          <a:lstStyle/>
          <a:p>
            <a:r>
              <a:rPr lang="en-US" dirty="0"/>
              <a:t>Basic CPU must finish an instruction in one clock cycle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use a “slow” clock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75AB2E6E-F0CE-D847-89D5-559102B4B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00" y="1361697"/>
            <a:ext cx="9225455" cy="4999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BA1C1C8-2EE3-2747-9279-5703066726F0}"/>
              </a:ext>
            </a:extLst>
          </p:cNvPr>
          <p:cNvGrpSpPr/>
          <p:nvPr/>
        </p:nvGrpSpPr>
        <p:grpSpPr>
          <a:xfrm>
            <a:off x="2794000" y="4083602"/>
            <a:ext cx="1439917" cy="406400"/>
            <a:chOff x="1371600" y="3875252"/>
            <a:chExt cx="1439917" cy="40640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8E8B75A-2663-3345-8278-BFE344830165}"/>
                </a:ext>
              </a:extLst>
            </p:cNvPr>
            <p:cNvCxnSpPr/>
            <p:nvPr/>
          </p:nvCxnSpPr>
          <p:spPr>
            <a:xfrm>
              <a:off x="1371600" y="3875252"/>
              <a:ext cx="22071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2764B45-CBE2-A54D-84F5-F84DC4FD001B}"/>
                </a:ext>
              </a:extLst>
            </p:cNvPr>
            <p:cNvCxnSpPr/>
            <p:nvPr/>
          </p:nvCxnSpPr>
          <p:spPr>
            <a:xfrm>
              <a:off x="2590800" y="4281652"/>
              <a:ext cx="22071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3705685-463C-8B42-BBE3-33E92386F8C5}"/>
              </a:ext>
            </a:extLst>
          </p:cNvPr>
          <p:cNvGrpSpPr/>
          <p:nvPr/>
        </p:nvGrpSpPr>
        <p:grpSpPr>
          <a:xfrm>
            <a:off x="7472855" y="4172502"/>
            <a:ext cx="2026745" cy="635876"/>
            <a:chOff x="7472855" y="3964152"/>
            <a:chExt cx="2026745" cy="635876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8E47472-2152-8941-B81A-02953A22E46C}"/>
                </a:ext>
              </a:extLst>
            </p:cNvPr>
            <p:cNvCxnSpPr>
              <a:cxnSpLocks/>
            </p:cNvCxnSpPr>
            <p:nvPr/>
          </p:nvCxnSpPr>
          <p:spPr>
            <a:xfrm>
              <a:off x="7472855" y="3964152"/>
              <a:ext cx="74404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D2B6DB8-8619-C647-ACD7-33DFC71D68B5}"/>
                </a:ext>
              </a:extLst>
            </p:cNvPr>
            <p:cNvCxnSpPr>
              <a:cxnSpLocks/>
            </p:cNvCxnSpPr>
            <p:nvPr/>
          </p:nvCxnSpPr>
          <p:spPr>
            <a:xfrm>
              <a:off x="8013700" y="4600028"/>
              <a:ext cx="2032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0BE0411-4AF8-424F-872A-89829F05B18A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4395952"/>
              <a:ext cx="3556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3B03AD-568F-FE49-8E2B-873F2A655BAA}"/>
              </a:ext>
            </a:extLst>
          </p:cNvPr>
          <p:cNvCxnSpPr>
            <a:cxnSpLocks/>
          </p:cNvCxnSpPr>
          <p:nvPr/>
        </p:nvCxnSpPr>
        <p:spPr>
          <a:xfrm>
            <a:off x="10629900" y="4604302"/>
            <a:ext cx="355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0ADAE01-E7E4-5F46-BC69-56D5EA140C6B}"/>
              </a:ext>
            </a:extLst>
          </p:cNvPr>
          <p:cNvGrpSpPr/>
          <p:nvPr/>
        </p:nvGrpSpPr>
        <p:grpSpPr>
          <a:xfrm>
            <a:off x="5537200" y="4808378"/>
            <a:ext cx="5651500" cy="1553270"/>
            <a:chOff x="5537200" y="4600028"/>
            <a:chExt cx="5651500" cy="1553270"/>
          </a:xfrm>
        </p:grpSpPr>
        <p:cxnSp>
          <p:nvCxnSpPr>
            <p:cNvPr id="31" name="Elbow Connector 30">
              <a:extLst>
                <a:ext uri="{FF2B5EF4-FFF2-40B4-BE49-F238E27FC236}">
                  <a16:creationId xmlns:a16="http://schemas.microsoft.com/office/drawing/2014/main" id="{F109FA1B-F31C-D14D-B74B-6E34E17ECE41}"/>
                </a:ext>
              </a:extLst>
            </p:cNvPr>
            <p:cNvCxnSpPr/>
            <p:nvPr/>
          </p:nvCxnSpPr>
          <p:spPr>
            <a:xfrm rot="10800000" flipV="1">
              <a:off x="5537200" y="4600028"/>
              <a:ext cx="5651500" cy="1553270"/>
            </a:xfrm>
            <a:prstGeom prst="bentConnector3">
              <a:avLst>
                <a:gd name="adj1" fmla="val -236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C81B4E82-F07E-514B-AEB9-E3821432338C}"/>
                </a:ext>
              </a:extLst>
            </p:cNvPr>
            <p:cNvCxnSpPr/>
            <p:nvPr/>
          </p:nvCxnSpPr>
          <p:spPr>
            <a:xfrm rot="5400000" flipH="1" flipV="1">
              <a:off x="5060877" y="5289624"/>
              <a:ext cx="1352697" cy="374650"/>
            </a:xfrm>
            <a:prstGeom prst="bentConnector3">
              <a:avLst>
                <a:gd name="adj1" fmla="val 98821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AE177BD-0866-734C-8102-F49F9B58E8FB}"/>
              </a:ext>
            </a:extLst>
          </p:cNvPr>
          <p:cNvSpPr txBox="1"/>
          <p:nvPr/>
        </p:nvSpPr>
        <p:spPr>
          <a:xfrm>
            <a:off x="317501" y="4998588"/>
            <a:ext cx="3114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instruction latency (in </a:t>
            </a:r>
            <a:r>
              <a:rPr lang="en-US" dirty="0" err="1"/>
              <a:t>ps</a:t>
            </a:r>
            <a:r>
              <a:rPr lang="en-US" dirty="0"/>
              <a:t>)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B2C33E-C1BC-C044-83FC-B36537FEA634}"/>
              </a:ext>
            </a:extLst>
          </p:cNvPr>
          <p:cNvSpPr txBox="1"/>
          <p:nvPr/>
        </p:nvSpPr>
        <p:spPr>
          <a:xfrm>
            <a:off x="-32491" y="5392127"/>
            <a:ext cx="11968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200</a:t>
            </a:r>
          </a:p>
          <a:p>
            <a:pPr algn="ctr"/>
            <a:r>
              <a:rPr lang="en-US" dirty="0"/>
              <a:t>instruction</a:t>
            </a:r>
          </a:p>
          <a:p>
            <a:pPr algn="ctr"/>
            <a:r>
              <a:rPr lang="en-US" dirty="0"/>
              <a:t>fetch</a:t>
            </a:r>
          </a:p>
        </p:txBody>
      </p:sp>
      <p:sp>
        <p:nvSpPr>
          <p:cNvPr id="39" name="Rounded Rectangular Callout 38">
            <a:extLst>
              <a:ext uri="{FF2B5EF4-FFF2-40B4-BE49-F238E27FC236}">
                <a16:creationId xmlns:a16="http://schemas.microsoft.com/office/drawing/2014/main" id="{444EC7C8-D5B5-ED40-BD2F-23F925B2FA4D}"/>
              </a:ext>
            </a:extLst>
          </p:cNvPr>
          <p:cNvSpPr/>
          <p:nvPr/>
        </p:nvSpPr>
        <p:spPr>
          <a:xfrm>
            <a:off x="195295" y="4349290"/>
            <a:ext cx="2642637" cy="510269"/>
          </a:xfrm>
          <a:prstGeom prst="wedgeRoundRectCallout">
            <a:avLst>
              <a:gd name="adj1" fmla="val 57292"/>
              <a:gd name="adj2" fmla="val 854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picosecond = 10</a:t>
            </a:r>
            <a:r>
              <a:rPr lang="en-US" baseline="30000" dirty="0"/>
              <a:t>-12 </a:t>
            </a:r>
            <a:r>
              <a:rPr lang="en-US" dirty="0"/>
              <a:t>sec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089E97-9086-D44C-A45E-F76069100453}"/>
              </a:ext>
            </a:extLst>
          </p:cNvPr>
          <p:cNvSpPr txBox="1"/>
          <p:nvPr/>
        </p:nvSpPr>
        <p:spPr>
          <a:xfrm>
            <a:off x="1070877" y="5392127"/>
            <a:ext cx="8963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+ 100</a:t>
            </a:r>
          </a:p>
          <a:p>
            <a:pPr algn="ctr"/>
            <a:r>
              <a:rPr lang="en-US" dirty="0"/>
              <a:t>register</a:t>
            </a:r>
          </a:p>
          <a:p>
            <a:pPr algn="ctr"/>
            <a:r>
              <a:rPr lang="en-US" dirty="0"/>
              <a:t>read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A102B3-D7F0-C049-8CB7-7CF842DD460F}"/>
              </a:ext>
            </a:extLst>
          </p:cNvPr>
          <p:cNvSpPr txBox="1"/>
          <p:nvPr/>
        </p:nvSpPr>
        <p:spPr>
          <a:xfrm>
            <a:off x="1885776" y="5392612"/>
            <a:ext cx="756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+ 200 </a:t>
            </a:r>
          </a:p>
          <a:p>
            <a:pPr algn="ctr"/>
            <a:r>
              <a:rPr lang="en-US" dirty="0"/>
              <a:t>ALU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7F773F-45B6-8140-8C27-AC6D37112BF8}"/>
              </a:ext>
            </a:extLst>
          </p:cNvPr>
          <p:cNvSpPr txBox="1"/>
          <p:nvPr/>
        </p:nvSpPr>
        <p:spPr>
          <a:xfrm>
            <a:off x="2653392" y="5392127"/>
            <a:ext cx="7857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+ 200 </a:t>
            </a:r>
          </a:p>
          <a:p>
            <a:r>
              <a:rPr lang="en-US" dirty="0"/>
              <a:t>data </a:t>
            </a:r>
          </a:p>
          <a:p>
            <a:r>
              <a:rPr lang="en-US" dirty="0"/>
              <a:t>access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0BCDC0-CB0A-A541-B742-1D1765E9DEA1}"/>
              </a:ext>
            </a:extLst>
          </p:cNvPr>
          <p:cNvSpPr txBox="1"/>
          <p:nvPr/>
        </p:nvSpPr>
        <p:spPr>
          <a:xfrm>
            <a:off x="3388161" y="5381728"/>
            <a:ext cx="9492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+ 100 </a:t>
            </a:r>
          </a:p>
          <a:p>
            <a:r>
              <a:rPr lang="en-US" dirty="0"/>
              <a:t>register </a:t>
            </a:r>
          </a:p>
          <a:p>
            <a:r>
              <a:rPr lang="en-US" dirty="0"/>
              <a:t>write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0DEBB8-3594-FD47-8E00-8DE1E962AD4D}"/>
              </a:ext>
            </a:extLst>
          </p:cNvPr>
          <p:cNvSpPr txBox="1"/>
          <p:nvPr/>
        </p:nvSpPr>
        <p:spPr>
          <a:xfrm>
            <a:off x="892429" y="6442669"/>
            <a:ext cx="2153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 cycle &gt;= 800 </a:t>
            </a:r>
            <a:r>
              <a:rPr lang="en-US" dirty="0" err="1"/>
              <a:t>ps</a:t>
            </a:r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89F8927-9D7C-5E4C-8243-F69EF9F9B7F1}"/>
              </a:ext>
            </a:extLst>
          </p:cNvPr>
          <p:cNvGrpSpPr/>
          <p:nvPr/>
        </p:nvGrpSpPr>
        <p:grpSpPr>
          <a:xfrm>
            <a:off x="4165600" y="4032802"/>
            <a:ext cx="3562350" cy="1598448"/>
            <a:chOff x="4165600" y="3824452"/>
            <a:chExt cx="3562350" cy="1598448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47EE113-A797-2E4D-AEA5-C0BCCC9D71D7}"/>
                </a:ext>
              </a:extLst>
            </p:cNvPr>
            <p:cNvCxnSpPr>
              <a:cxnSpLocks/>
            </p:cNvCxnSpPr>
            <p:nvPr/>
          </p:nvCxnSpPr>
          <p:spPr>
            <a:xfrm>
              <a:off x="4165600" y="3824452"/>
              <a:ext cx="17653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433D036-9EB0-6548-8AD1-D4C43A0014FB}"/>
                </a:ext>
              </a:extLst>
            </p:cNvPr>
            <p:cNvCxnSpPr>
              <a:cxnSpLocks/>
            </p:cNvCxnSpPr>
            <p:nvPr/>
          </p:nvCxnSpPr>
          <p:spPr>
            <a:xfrm>
              <a:off x="4165600" y="5411952"/>
              <a:ext cx="20955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C451784-744F-B74C-85C8-C271B31E8E89}"/>
                </a:ext>
              </a:extLst>
            </p:cNvPr>
            <p:cNvCxnSpPr/>
            <p:nvPr/>
          </p:nvCxnSpPr>
          <p:spPr>
            <a:xfrm>
              <a:off x="4165600" y="3824452"/>
              <a:ext cx="0" cy="159844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F9F6864F-09D4-CC47-AFCB-1B9ED5B3E633}"/>
                </a:ext>
              </a:extLst>
            </p:cNvPr>
            <p:cNvCxnSpPr/>
            <p:nvPr/>
          </p:nvCxnSpPr>
          <p:spPr>
            <a:xfrm flipV="1">
              <a:off x="6985000" y="4800600"/>
              <a:ext cx="742950" cy="622300"/>
            </a:xfrm>
            <a:prstGeom prst="bentConnector3">
              <a:avLst>
                <a:gd name="adj1" fmla="val 7735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B9FCDD7-18FF-5B47-9EC2-15B3CAFA14D5}"/>
                </a:ext>
              </a:extLst>
            </p:cNvPr>
            <p:cNvCxnSpPr/>
            <p:nvPr/>
          </p:nvCxnSpPr>
          <p:spPr>
            <a:xfrm>
              <a:off x="7283669" y="3964152"/>
              <a:ext cx="18918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836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9" grpId="0" animBg="1"/>
      <p:bldP spid="40" grpId="0"/>
      <p:bldP spid="41" grpId="0"/>
      <p:bldP spid="42" grpId="0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3E052A7F-659C-FF4D-A0AB-AAF8B0E76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Our basic design is slow</a:t>
            </a:r>
            <a:endParaRPr lang="en-AU" altLang="en-US" dirty="0"/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F092970-AFF1-7D4E-B601-741CD420E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Longest delay determines clock period</a:t>
            </a:r>
          </a:p>
          <a:p>
            <a:pPr lvl="1" eaLnBrk="1" hangingPunct="1"/>
            <a:r>
              <a:rPr lang="en-US" altLang="en-US" dirty="0"/>
              <a:t>Critical path: load instruction</a:t>
            </a:r>
          </a:p>
          <a:p>
            <a:pPr lvl="2"/>
            <a:r>
              <a:rPr lang="en-US" altLang="en-US" dirty="0"/>
              <a:t>Instruction memory </a:t>
            </a:r>
            <a:r>
              <a:rPr lang="en-US" altLang="en-US" dirty="0">
                <a:sym typeface="Symbol" pitchFamily="2" charset="2"/>
              </a:rPr>
              <a:t></a:t>
            </a:r>
            <a:r>
              <a:rPr lang="en-US" altLang="en-US" dirty="0"/>
              <a:t> register file </a:t>
            </a:r>
            <a:r>
              <a:rPr lang="en-US" altLang="en-US" dirty="0">
                <a:sym typeface="Symbol" pitchFamily="2" charset="2"/>
              </a:rPr>
              <a:t></a:t>
            </a:r>
            <a:r>
              <a:rPr lang="en-US" altLang="en-US" dirty="0"/>
              <a:t> ALU </a:t>
            </a:r>
            <a:r>
              <a:rPr lang="en-US" altLang="en-US" dirty="0">
                <a:sym typeface="Symbol" pitchFamily="2" charset="2"/>
              </a:rPr>
              <a:t></a:t>
            </a:r>
            <a:r>
              <a:rPr lang="en-US" altLang="en-US" dirty="0"/>
              <a:t> data memory </a:t>
            </a:r>
            <a:r>
              <a:rPr lang="en-US" altLang="en-US" dirty="0">
                <a:sym typeface="Symbol" pitchFamily="2" charset="2"/>
              </a:rPr>
              <a:t></a:t>
            </a:r>
            <a:r>
              <a:rPr lang="en-US" altLang="en-US" dirty="0"/>
              <a:t> register file</a:t>
            </a:r>
          </a:p>
          <a:p>
            <a:pPr eaLnBrk="1" hangingPunct="1"/>
            <a:r>
              <a:rPr lang="en-US" altLang="en-US" dirty="0"/>
              <a:t>Not feasible to vary clock period for different instructions</a:t>
            </a:r>
          </a:p>
          <a:p>
            <a:pPr eaLnBrk="1" hangingPunct="1"/>
            <a:r>
              <a:rPr lang="en-US" altLang="en-US" dirty="0"/>
              <a:t>Next: improve performance by pipelining</a:t>
            </a:r>
          </a:p>
        </p:txBody>
      </p:sp>
    </p:spTree>
    <p:extLst>
      <p:ext uri="{BB962C8B-B14F-4D97-AF65-F5344CB8AC3E}">
        <p14:creationId xmlns:p14="http://schemas.microsoft.com/office/powerpoint/2010/main" val="270594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8" descr="f04-25-P374493">
            <a:extLst>
              <a:ext uri="{FF2B5EF4-FFF2-40B4-BE49-F238E27FC236}">
                <a16:creationId xmlns:a16="http://schemas.microsoft.com/office/drawing/2014/main" id="{F5D9B4B1-7E21-3B42-8F15-AE34B3535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157392"/>
            <a:ext cx="9223265" cy="5235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Rectangle 2">
            <a:extLst>
              <a:ext uri="{FF2B5EF4-FFF2-40B4-BE49-F238E27FC236}">
                <a16:creationId xmlns:a16="http://schemas.microsoft.com/office/drawing/2014/main" id="{973192F1-22BC-8F4B-A018-604FD2C56D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700" y="10874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Pipelining: a laundry analogy</a:t>
            </a:r>
            <a:endParaRPr lang="en-AU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1EC44-E6A3-954A-ACFF-BF66C731B937}"/>
              </a:ext>
            </a:extLst>
          </p:cNvPr>
          <p:cNvSpPr txBox="1"/>
          <p:nvPr/>
        </p:nvSpPr>
        <p:spPr>
          <a:xfrm>
            <a:off x="2373379" y="1538471"/>
            <a:ext cx="669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wash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CE0817-4934-7B4E-9179-C2237DC2A2BC}"/>
              </a:ext>
            </a:extLst>
          </p:cNvPr>
          <p:cNvSpPr txBox="1"/>
          <p:nvPr/>
        </p:nvSpPr>
        <p:spPr>
          <a:xfrm>
            <a:off x="2914099" y="1546354"/>
            <a:ext cx="49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dry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E51FE-2EED-E047-9FAD-D76BDA8E540C}"/>
              </a:ext>
            </a:extLst>
          </p:cNvPr>
          <p:cNvSpPr txBox="1"/>
          <p:nvPr/>
        </p:nvSpPr>
        <p:spPr>
          <a:xfrm>
            <a:off x="3305864" y="1546354"/>
            <a:ext cx="54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fold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0561A2-E6BA-7840-93BD-F05696707B23}"/>
              </a:ext>
            </a:extLst>
          </p:cNvPr>
          <p:cNvSpPr txBox="1"/>
          <p:nvPr/>
        </p:nvSpPr>
        <p:spPr>
          <a:xfrm>
            <a:off x="3733674" y="1562120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store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08AA8-364F-FC42-A52F-B35EF0FBE175}"/>
              </a:ext>
            </a:extLst>
          </p:cNvPr>
          <p:cNvSpPr/>
          <p:nvPr/>
        </p:nvSpPr>
        <p:spPr>
          <a:xfrm>
            <a:off x="5698796" y="509229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800" dirty="0"/>
              <a:t>Pipelined laundry: overlapping execution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Parallelism improves performance</a:t>
            </a:r>
          </a:p>
        </p:txBody>
      </p:sp>
    </p:spTree>
    <p:extLst>
      <p:ext uri="{BB962C8B-B14F-4D97-AF65-F5344CB8AC3E}">
        <p14:creationId xmlns:p14="http://schemas.microsoft.com/office/powerpoint/2010/main" val="599697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>
            <a:extLst>
              <a:ext uri="{FF2B5EF4-FFF2-40B4-BE49-F238E27FC236}">
                <a16:creationId xmlns:a16="http://schemas.microsoft.com/office/drawing/2014/main" id="{851FB939-7F43-AF48-A322-719EE90E1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RISC-V Pipeline</a:t>
            </a:r>
            <a:endParaRPr lang="en-AU" altLang="en-US"/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47D6DC8-8ABC-F047-A63D-A6365B5F6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Five stages: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en-US" dirty="0"/>
              <a:t>IF: Instruction fetch from memory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en-US" dirty="0"/>
              <a:t>ID: Instruction decode &amp; register read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en-US" dirty="0"/>
              <a:t>EX: Execute operation or calculate address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en-US" dirty="0"/>
              <a:t>MEM: Access memory operand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en-US" dirty="0"/>
              <a:t>WB: Write result back to register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1398881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4" name="Picture 1">
            <a:extLst>
              <a:ext uri="{FF2B5EF4-FFF2-40B4-BE49-F238E27FC236}">
                <a16:creationId xmlns:a16="http://schemas.microsoft.com/office/drawing/2014/main" id="{594E8E96-2302-B344-A8ED-C63A03EC8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1" y="1056289"/>
            <a:ext cx="11345752" cy="574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1" name="Rectangle 2">
            <a:extLst>
              <a:ext uri="{FF2B5EF4-FFF2-40B4-BE49-F238E27FC236}">
                <a16:creationId xmlns:a16="http://schemas.microsoft.com/office/drawing/2014/main" id="{B3135018-A4DA-8746-B53C-B1FC10B9B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792" y="5953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Pipeline Performance</a:t>
            </a:r>
            <a:endParaRPr lang="en-AU" altLang="en-US" dirty="0"/>
          </a:p>
        </p:txBody>
      </p:sp>
      <p:sp>
        <p:nvSpPr>
          <p:cNvPr id="68612" name="Text Box 4">
            <a:extLst>
              <a:ext uri="{FF2B5EF4-FFF2-40B4-BE49-F238E27FC236}">
                <a16:creationId xmlns:a16="http://schemas.microsoft.com/office/drawing/2014/main" id="{809163EB-E6C9-F244-B1F5-40AD70DC4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1226" y="722312"/>
            <a:ext cx="267652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Single-cycle (T</a:t>
            </a:r>
            <a:r>
              <a:rPr lang="en-US" altLang="en-US" sz="1800" baseline="-25000" dirty="0">
                <a:solidFill>
                  <a:schemeClr val="bg1"/>
                </a:solidFill>
              </a:rPr>
              <a:t>c</a:t>
            </a:r>
            <a:r>
              <a:rPr lang="en-US" altLang="en-US" sz="1800" dirty="0">
                <a:solidFill>
                  <a:schemeClr val="bg1"/>
                </a:solidFill>
              </a:rPr>
              <a:t>= 800ps)</a:t>
            </a:r>
            <a:endParaRPr lang="en-AU" altLang="en-US" sz="1800" dirty="0">
              <a:solidFill>
                <a:schemeClr val="bg1"/>
              </a:solidFill>
            </a:endParaRPr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CF75A04A-ABB5-FD46-87EA-F33F78CD0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7275" y="3778223"/>
            <a:ext cx="238442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Pipelined (T</a:t>
            </a:r>
            <a:r>
              <a:rPr lang="en-US" altLang="en-US" sz="1800" baseline="-25000" dirty="0">
                <a:solidFill>
                  <a:schemeClr val="bg1"/>
                </a:solidFill>
              </a:rPr>
              <a:t>c</a:t>
            </a:r>
            <a:r>
              <a:rPr lang="en-US" altLang="en-US" sz="1800" dirty="0">
                <a:solidFill>
                  <a:schemeClr val="bg1"/>
                </a:solidFill>
              </a:rPr>
              <a:t>= 200ps)</a:t>
            </a:r>
            <a:endParaRPr lang="en-AU" alt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36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>
            <a:extLst>
              <a:ext uri="{FF2B5EF4-FFF2-40B4-BE49-F238E27FC236}">
                <a16:creationId xmlns:a16="http://schemas.microsoft.com/office/drawing/2014/main" id="{B682CA44-1C74-324D-AA24-CF41E7AEC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Pipeline Speedup</a:t>
            </a:r>
            <a:endParaRPr lang="en-AU" altLang="en-US"/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0E8C3ACF-829E-EA48-BA01-E68B0F81C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Pipelining increases throughput (instructions/sec)</a:t>
            </a:r>
          </a:p>
          <a:p>
            <a:pPr lvl="1"/>
            <a:r>
              <a:rPr lang="en-US" altLang="en-US" dirty="0"/>
              <a:t>Latency (time for each instruction) does not decrease</a:t>
            </a:r>
          </a:p>
          <a:p>
            <a:pPr eaLnBrk="1" hangingPunct="1"/>
            <a:r>
              <a:rPr lang="en-US" altLang="en-US" dirty="0"/>
              <a:t>If all stages are balanced (i.e., all take the same time)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 err="1"/>
              <a:t>throughput</a:t>
            </a:r>
            <a:r>
              <a:rPr lang="en-US" altLang="en-US" baseline="-25000" dirty="0" err="1"/>
              <a:t>pipelined</a:t>
            </a:r>
            <a:r>
              <a:rPr lang="en-US" altLang="en-US" baseline="-25000" dirty="0"/>
              <a:t> </a:t>
            </a:r>
            <a:r>
              <a:rPr lang="en-US" altLang="en-US" dirty="0"/>
              <a:t>= number-of-stages * </a:t>
            </a:r>
            <a:r>
              <a:rPr lang="en-US" altLang="en-US" dirty="0" err="1"/>
              <a:t>throughput</a:t>
            </a:r>
            <a:r>
              <a:rPr lang="en-US" altLang="en-US" baseline="-25000" dirty="0" err="1"/>
              <a:t>nonpipelined</a:t>
            </a:r>
            <a:endParaRPr lang="en-US" altLang="en-US" dirty="0"/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If not balanced, speedup is less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8A9CAC-3296-CE40-82A3-047C660C7E48}"/>
              </a:ext>
            </a:extLst>
          </p:cNvPr>
          <p:cNvGrpSpPr/>
          <p:nvPr/>
        </p:nvGrpSpPr>
        <p:grpSpPr>
          <a:xfrm>
            <a:off x="2254102" y="4215809"/>
            <a:ext cx="6383493" cy="1432711"/>
            <a:chOff x="2254102" y="4215809"/>
            <a:chExt cx="6383493" cy="143271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115BDA2-F6BA-AD43-9803-5D192D073D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4102" y="4215809"/>
              <a:ext cx="536396" cy="8291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7306C0D-304B-7841-850B-4CB9FEC3BDB0}"/>
                </a:ext>
              </a:extLst>
            </p:cNvPr>
            <p:cNvSpPr txBox="1"/>
            <p:nvPr/>
          </p:nvSpPr>
          <p:spPr>
            <a:xfrm>
              <a:off x="2948152" y="5186855"/>
              <a:ext cx="5689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Throughput = 1/(time between instructions)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237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>
            <a:extLst>
              <a:ext uri="{FF2B5EF4-FFF2-40B4-BE49-F238E27FC236}">
                <a16:creationId xmlns:a16="http://schemas.microsoft.com/office/drawing/2014/main" id="{282D6C8A-C724-5B4F-8782-0A9BD74A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Pipelining and ISA Design</a:t>
            </a:r>
            <a:endParaRPr lang="en-AU" altLang="en-US"/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BADE5F1-0ED1-E946-9310-6469EE5FF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825625"/>
            <a:ext cx="10909515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/>
              <a:t>RISC-V ISA is designed to simplify pipelined CPU 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/>
              <a:t>All instructions are 32-bits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Easier to fetch and decode in one cycle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By contrast, x86: 1- to 17-byte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/>
              <a:t>Few and regular instruction formats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Can decode and read registers in one step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/>
              <a:t>Load/store addressing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Can calculate address in 3</a:t>
            </a:r>
            <a:r>
              <a:rPr lang="en-US" altLang="en-US" sz="2800" baseline="30000" dirty="0"/>
              <a:t>rd</a:t>
            </a:r>
            <a:r>
              <a:rPr lang="en-US" altLang="en-US" sz="2800" dirty="0"/>
              <a:t> stage, access memory in 4</a:t>
            </a:r>
            <a:r>
              <a:rPr lang="en-US" altLang="en-US" sz="2800" baseline="30000" dirty="0"/>
              <a:t>th</a:t>
            </a:r>
            <a:r>
              <a:rPr lang="en-US" altLang="en-US" sz="2800" dirty="0"/>
              <a:t> stage</a:t>
            </a:r>
          </a:p>
        </p:txBody>
      </p:sp>
    </p:spTree>
    <p:extLst>
      <p:ext uri="{BB962C8B-B14F-4D97-AF65-F5344CB8AC3E}">
        <p14:creationId xmlns:p14="http://schemas.microsoft.com/office/powerpoint/2010/main" val="1958416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>
            <a:extLst>
              <a:ext uri="{FF2B5EF4-FFF2-40B4-BE49-F238E27FC236}">
                <a16:creationId xmlns:a16="http://schemas.microsoft.com/office/drawing/2014/main" id="{5E0F8A03-C687-B84C-BC1E-8DECB966C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Pipeline challenges: hazards</a:t>
            </a:r>
            <a:endParaRPr lang="en-AU" altLang="en-US" dirty="0"/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9D5FD7C4-E04F-D545-9B2A-7AB8D405B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825625"/>
            <a:ext cx="11353801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Situations that prevent starting next instruction in the next 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Structure hazard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 required resource is busy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Data hazard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Need to wait for previous instruction to complete its 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Control hazard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Which instruction to execute depends on previous instruction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3549787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>
            <a:extLst>
              <a:ext uri="{FF2B5EF4-FFF2-40B4-BE49-F238E27FC236}">
                <a16:creationId xmlns:a16="http://schemas.microsoft.com/office/drawing/2014/main" id="{34324F7E-6B43-A943-BB39-B646064C0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8890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Hazards</a:t>
            </a:r>
            <a:endParaRPr lang="en-AU" altLang="en-US" dirty="0"/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7C4E0CCE-DEB5-EB48-B06E-2E486F64A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3424" y="1339850"/>
            <a:ext cx="11017469" cy="4351338"/>
          </a:xfrm>
        </p:spPr>
        <p:txBody>
          <a:bodyPr/>
          <a:lstStyle/>
          <a:p>
            <a:pPr eaLnBrk="1" hangingPunct="1"/>
            <a:r>
              <a:rPr lang="en-US" altLang="en-US" dirty="0"/>
              <a:t>Conflict use of a single resource</a:t>
            </a:r>
          </a:p>
          <a:p>
            <a:pPr eaLnBrk="1" hangingPunct="1"/>
            <a:r>
              <a:rPr lang="en-US" altLang="en-US" dirty="0"/>
              <a:t>Example: Suppose CPU only  has a single on-chip memory module</a:t>
            </a:r>
          </a:p>
          <a:p>
            <a:pPr lvl="1" eaLnBrk="1" hangingPunct="1"/>
            <a:r>
              <a:rPr lang="en-US" altLang="en-US" dirty="0"/>
              <a:t>Load/store requires data access</a:t>
            </a:r>
          </a:p>
          <a:p>
            <a:pPr lvl="1" eaLnBrk="1" hangingPunct="1"/>
            <a:r>
              <a:rPr lang="en-US" altLang="en-US" dirty="0"/>
              <a:t>Instruction fetch would have to </a:t>
            </a:r>
            <a:r>
              <a:rPr lang="en-US" altLang="en-US" i="1" dirty="0"/>
              <a:t>stall</a:t>
            </a:r>
            <a:r>
              <a:rPr lang="en-US" altLang="en-US" dirty="0"/>
              <a:t> for that cycle</a:t>
            </a:r>
          </a:p>
          <a:p>
            <a:pPr lvl="2" eaLnBrk="1" hangingPunct="1"/>
            <a:r>
              <a:rPr lang="en-US" altLang="en-US" dirty="0"/>
              <a:t>Would cause a pipeline “bubble”</a:t>
            </a:r>
          </a:p>
          <a:p>
            <a:pPr eaLnBrk="1" hangingPunct="1"/>
            <a:r>
              <a:rPr lang="en-US" altLang="en-US" dirty="0"/>
              <a:t>Solution: Use separate instruction/data memories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4490594B-0D9D-EB95-AE24-460E8FAB6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079" y="3971924"/>
            <a:ext cx="6577547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4505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588617-A436-B8CD-762A-B0BB1B16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83" y="3177581"/>
            <a:ext cx="10665241" cy="1379125"/>
          </a:xfrm>
          <a:prstGeom prst="rect">
            <a:avLst/>
          </a:prstGeom>
        </p:spPr>
      </p:pic>
      <p:sp>
        <p:nvSpPr>
          <p:cNvPr id="78851" name="Rectangle 2">
            <a:extLst>
              <a:ext uri="{FF2B5EF4-FFF2-40B4-BE49-F238E27FC236}">
                <a16:creationId xmlns:a16="http://schemas.microsoft.com/office/drawing/2014/main" id="{F0C61ADD-DFB0-7744-AA87-7A648AEE5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090" y="10157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Data Hazards</a:t>
            </a:r>
            <a:endParaRPr lang="en-AU" altLang="en-US" dirty="0"/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82D14AB1-6E1C-9C49-86AD-D9F146BC6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227" y="1290721"/>
            <a:ext cx="11729545" cy="646331"/>
          </a:xfrm>
        </p:spPr>
        <p:txBody>
          <a:bodyPr/>
          <a:lstStyle/>
          <a:p>
            <a:pPr lvl="1"/>
            <a:r>
              <a:rPr lang="en-US" altLang="en-US" sz="2800" dirty="0"/>
              <a:t>An instruction depends on the previous instruction to complete its write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2CCBF7-ADBB-4DEC-8D18-38F228202A90}"/>
              </a:ext>
            </a:extLst>
          </p:cNvPr>
          <p:cNvSpPr txBox="1"/>
          <p:nvPr/>
        </p:nvSpPr>
        <p:spPr>
          <a:xfrm>
            <a:off x="4412511" y="1899828"/>
            <a:ext cx="2642070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en-US" sz="1800" dirty="0">
                <a:latin typeface="Lucida Console" panose="020B0609040504020204" pitchFamily="49" charset="0"/>
              </a:rPr>
              <a:t>add	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x19</a:t>
            </a:r>
            <a:r>
              <a:rPr lang="en-US" altLang="en-US" sz="1800" dirty="0">
                <a:latin typeface="Lucida Console" panose="020B0609040504020204" pitchFamily="49" charset="0"/>
              </a:rPr>
              <a:t>, x0, x1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sub	x2,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x19</a:t>
            </a:r>
            <a:r>
              <a:rPr lang="en-US" altLang="en-US" sz="1800" dirty="0">
                <a:latin typeface="Lucida Console" panose="020B0609040504020204" pitchFamily="49" charset="0"/>
              </a:rPr>
              <a:t>, x3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F70DC052-0F59-4A2D-8358-097C03C68D0E}"/>
              </a:ext>
            </a:extLst>
          </p:cNvPr>
          <p:cNvSpPr/>
          <p:nvPr/>
        </p:nvSpPr>
        <p:spPr>
          <a:xfrm>
            <a:off x="340641" y="2485765"/>
            <a:ext cx="1882231" cy="920913"/>
          </a:xfrm>
          <a:prstGeom prst="wedgeRoundRectCallout">
            <a:avLst>
              <a:gd name="adj1" fmla="val 90860"/>
              <a:gd name="adj2" fmla="val 99793"/>
              <a:gd name="adj3" fmla="val 16667"/>
            </a:avLst>
          </a:prstGeom>
          <a:solidFill>
            <a:srgbClr val="B4C7E7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Instruction mem is read; right-shading indicates read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209566E-AF90-4593-A6F4-F267E437B886}"/>
              </a:ext>
            </a:extLst>
          </p:cNvPr>
          <p:cNvSpPr/>
          <p:nvPr/>
        </p:nvSpPr>
        <p:spPr>
          <a:xfrm>
            <a:off x="2571972" y="2570650"/>
            <a:ext cx="1231606" cy="542260"/>
          </a:xfrm>
          <a:prstGeom prst="wedgeRoundRectCallout">
            <a:avLst>
              <a:gd name="adj1" fmla="val 85684"/>
              <a:gd name="adj2" fmla="val 185049"/>
              <a:gd name="adj3" fmla="val 16667"/>
            </a:avLst>
          </a:prstGeom>
          <a:solidFill>
            <a:srgbClr val="B4C7E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Regfile</a:t>
            </a:r>
            <a:r>
              <a:rPr lang="en-US" sz="1600" dirty="0">
                <a:solidFill>
                  <a:schemeClr val="tx1"/>
                </a:solidFill>
              </a:rPr>
              <a:t> is read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18663C3-4747-4446-89DE-D2C6341DF889}"/>
              </a:ext>
            </a:extLst>
          </p:cNvPr>
          <p:cNvSpPr/>
          <p:nvPr/>
        </p:nvSpPr>
        <p:spPr>
          <a:xfrm>
            <a:off x="7752781" y="2058558"/>
            <a:ext cx="1867247" cy="887664"/>
          </a:xfrm>
          <a:prstGeom prst="wedgeRoundRectCallout">
            <a:avLst>
              <a:gd name="adj1" fmla="val -78896"/>
              <a:gd name="adj2" fmla="val 154460"/>
              <a:gd name="adj3" fmla="val 16667"/>
            </a:avLst>
          </a:prstGeom>
          <a:solidFill>
            <a:srgbClr val="B4C7E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Regfile</a:t>
            </a:r>
            <a:r>
              <a:rPr lang="en-US" sz="1600" dirty="0">
                <a:solidFill>
                  <a:schemeClr val="tx1"/>
                </a:solidFill>
              </a:rPr>
              <a:t> is written; left-shading indicates write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F4D44E-DF95-D3BA-CC10-F161E898E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440" y="4556706"/>
            <a:ext cx="5166726" cy="8252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2421BE-C783-EC3B-333E-6C9120AF3B6F}"/>
              </a:ext>
            </a:extLst>
          </p:cNvPr>
          <p:cNvSpPr txBox="1"/>
          <p:nvPr/>
        </p:nvSpPr>
        <p:spPr>
          <a:xfrm>
            <a:off x="1169024" y="4788065"/>
            <a:ext cx="1402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sub x2, </a:t>
            </a:r>
            <a:r>
              <a:rPr lang="en-US" sz="1600" dirty="0">
                <a:solidFill>
                  <a:srgbClr val="FF0000"/>
                </a:solidFill>
              </a:rPr>
              <a:t>x19</a:t>
            </a:r>
            <a:r>
              <a:rPr lang="en-US" sz="1600" dirty="0"/>
              <a:t>, x3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7DC15F6-DFD7-2908-0402-A2175365A1B2}"/>
              </a:ext>
            </a:extLst>
          </p:cNvPr>
          <p:cNvGrpSpPr/>
          <p:nvPr/>
        </p:nvGrpSpPr>
        <p:grpSpPr>
          <a:xfrm>
            <a:off x="2525161" y="4508353"/>
            <a:ext cx="3099897" cy="2248074"/>
            <a:chOff x="2525161" y="4508353"/>
            <a:chExt cx="3099897" cy="224807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83EF2F-3EBE-3544-155E-C9D7B1B58AF7}"/>
                </a:ext>
              </a:extLst>
            </p:cNvPr>
            <p:cNvSpPr/>
            <p:nvPr/>
          </p:nvSpPr>
          <p:spPr>
            <a:xfrm>
              <a:off x="4827722" y="4508353"/>
              <a:ext cx="797336" cy="9219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ular Callout 11">
              <a:extLst>
                <a:ext uri="{FF2B5EF4-FFF2-40B4-BE49-F238E27FC236}">
                  <a16:creationId xmlns:a16="http://schemas.microsoft.com/office/drawing/2014/main" id="{D2BCE6A7-3E68-B408-977C-15038E799124}"/>
                </a:ext>
              </a:extLst>
            </p:cNvPr>
            <p:cNvSpPr/>
            <p:nvPr/>
          </p:nvSpPr>
          <p:spPr>
            <a:xfrm>
              <a:off x="2525161" y="6188861"/>
              <a:ext cx="2701229" cy="567566"/>
            </a:xfrm>
            <a:prstGeom prst="wedgeRoundRectCallout">
              <a:avLst>
                <a:gd name="adj1" fmla="val 38995"/>
                <a:gd name="adj2" fmla="val -178879"/>
                <a:gd name="adj3" fmla="val 16667"/>
              </a:avLst>
            </a:prstGeom>
            <a:solidFill>
              <a:srgbClr val="FF0000">
                <a:alpha val="3803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Wrong: read old value of x19!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868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12 0.00023 L 0.1681 0.000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D979F-D526-60BB-8C84-5613FC60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>
            <a:extLst>
              <a:ext uri="{FF2B5EF4-FFF2-40B4-BE49-F238E27FC236}">
                <a16:creationId xmlns:a16="http://schemas.microsoft.com/office/drawing/2014/main" id="{F78FC10C-FF9A-435E-7F3E-11D086FFF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090" y="10157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Data Hazards</a:t>
            </a:r>
            <a:endParaRPr lang="en-AU" altLang="en-US" dirty="0"/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620FFBAC-DCC8-A35B-F873-C6C6E935D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227" y="1290721"/>
            <a:ext cx="11729545" cy="646331"/>
          </a:xfrm>
        </p:spPr>
        <p:txBody>
          <a:bodyPr/>
          <a:lstStyle/>
          <a:p>
            <a:pPr lvl="1"/>
            <a:r>
              <a:rPr lang="en-US" altLang="en-US" sz="2800" dirty="0"/>
              <a:t>An instruction depends on the previous instruction to complete its write</a:t>
            </a:r>
          </a:p>
        </p:txBody>
      </p:sp>
      <p:pic>
        <p:nvPicPr>
          <p:cNvPr id="78853" name="Picture 3">
            <a:extLst>
              <a:ext uri="{FF2B5EF4-FFF2-40B4-BE49-F238E27FC236}">
                <a16:creationId xmlns:a16="http://schemas.microsoft.com/office/drawing/2014/main" id="{2CC2A3F9-6221-70B6-2A49-29E60255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31" y="3126200"/>
            <a:ext cx="10286536" cy="328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C4C3EB-348A-CEDA-F6B3-8A50EBF000C7}"/>
              </a:ext>
            </a:extLst>
          </p:cNvPr>
          <p:cNvSpPr txBox="1"/>
          <p:nvPr/>
        </p:nvSpPr>
        <p:spPr>
          <a:xfrm>
            <a:off x="4412511" y="1899828"/>
            <a:ext cx="2642070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en-US" sz="1800" dirty="0">
                <a:latin typeface="Lucida Console" panose="020B0609040504020204" pitchFamily="49" charset="0"/>
              </a:rPr>
              <a:t>add	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x19</a:t>
            </a:r>
            <a:r>
              <a:rPr lang="en-US" altLang="en-US" sz="1800" dirty="0">
                <a:latin typeface="Lucida Console" panose="020B0609040504020204" pitchFamily="49" charset="0"/>
              </a:rPr>
              <a:t>, x0, x1</a:t>
            </a:r>
            <a:br>
              <a:rPr lang="en-US" altLang="en-US" sz="1800" dirty="0">
                <a:latin typeface="Lucida Console" panose="020B0609040504020204" pitchFamily="49" charset="0"/>
              </a:rPr>
            </a:br>
            <a:r>
              <a:rPr lang="en-US" altLang="en-US" sz="1800" dirty="0">
                <a:latin typeface="Lucida Console" panose="020B0609040504020204" pitchFamily="49" charset="0"/>
              </a:rPr>
              <a:t>sub	x2, </a:t>
            </a:r>
            <a:r>
              <a:rPr lang="en-US" altLang="en-US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x19</a:t>
            </a:r>
            <a:r>
              <a:rPr lang="en-US" altLang="en-US" sz="1800" dirty="0">
                <a:latin typeface="Lucida Console" panose="020B0609040504020204" pitchFamily="49" charset="0"/>
              </a:rPr>
              <a:t>, x3</a:t>
            </a:r>
          </a:p>
        </p:txBody>
      </p:sp>
    </p:spTree>
    <p:extLst>
      <p:ext uri="{BB962C8B-B14F-4D97-AF65-F5344CB8AC3E}">
        <p14:creationId xmlns:p14="http://schemas.microsoft.com/office/powerpoint/2010/main" val="568844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2">
            <a:extLst>
              <a:ext uri="{FF2B5EF4-FFF2-40B4-BE49-F238E27FC236}">
                <a16:creationId xmlns:a16="http://schemas.microsoft.com/office/drawing/2014/main" id="{A77C4702-3A63-FD46-901A-E1B3C76C7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4834" y="11581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Control hazard</a:t>
            </a:r>
            <a:endParaRPr lang="en-AU" altLang="en-US" dirty="0"/>
          </a:p>
        </p:txBody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E1E2083D-D24A-CC44-A3C7-FFAE06668C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0107" y="1302734"/>
            <a:ext cx="11355572" cy="842074"/>
          </a:xfrm>
        </p:spPr>
        <p:txBody>
          <a:bodyPr/>
          <a:lstStyle/>
          <a:p>
            <a:pPr eaLnBrk="1" hangingPunct="1"/>
            <a:r>
              <a:rPr lang="en-US" altLang="en-US" dirty="0"/>
              <a:t>Wait until branch outcome is determined before fetching next instruction</a:t>
            </a:r>
            <a:endParaRPr lang="en-AU" altLang="en-US" dirty="0"/>
          </a:p>
        </p:txBody>
      </p:sp>
      <p:pic>
        <p:nvPicPr>
          <p:cNvPr id="89093" name="Picture 1">
            <a:extLst>
              <a:ext uri="{FF2B5EF4-FFF2-40B4-BE49-F238E27FC236}">
                <a16:creationId xmlns:a16="http://schemas.microsoft.com/office/drawing/2014/main" id="{7B604CD0-EFC1-D749-9ACC-F151702B4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47949"/>
            <a:ext cx="9572954" cy="367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179DB6-66AE-4F15-8B80-F2F8E0347C95}"/>
              </a:ext>
            </a:extLst>
          </p:cNvPr>
          <p:cNvSpPr/>
          <p:nvPr/>
        </p:nvSpPr>
        <p:spPr>
          <a:xfrm>
            <a:off x="969531" y="5061097"/>
            <a:ext cx="9080364" cy="1431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C08EC-ECEE-00B0-BBC6-5F22141523B3}"/>
              </a:ext>
            </a:extLst>
          </p:cNvPr>
          <p:cNvSpPr txBox="1"/>
          <p:nvPr/>
        </p:nvSpPr>
        <p:spPr>
          <a:xfrm>
            <a:off x="57150" y="401002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0x8000: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999B5-3235-32B1-6BC9-DF29B7FB1AA6}"/>
              </a:ext>
            </a:extLst>
          </p:cNvPr>
          <p:cNvSpPr txBox="1"/>
          <p:nvPr/>
        </p:nvSpPr>
        <p:spPr>
          <a:xfrm>
            <a:off x="57149" y="4568123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0x8004: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778D5-40DA-8E40-9D2F-BBC9F02993CD}"/>
              </a:ext>
            </a:extLst>
          </p:cNvPr>
          <p:cNvSpPr txBox="1"/>
          <p:nvPr/>
        </p:nvSpPr>
        <p:spPr>
          <a:xfrm>
            <a:off x="1448819" y="6019207"/>
            <a:ext cx="7299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branch is taken, next instruction to execute should be </a:t>
            </a:r>
            <a:r>
              <a:rPr lang="en-US" dirty="0">
                <a:highlight>
                  <a:srgbClr val="FFFF00"/>
                </a:highlight>
              </a:rPr>
              <a:t>0x8054: or x7, x8, x9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1F902E-D11A-4409-80AE-92BBD890FFA7}"/>
              </a:ext>
            </a:extLst>
          </p:cNvPr>
          <p:cNvGrpSpPr/>
          <p:nvPr/>
        </p:nvGrpSpPr>
        <p:grpSpPr>
          <a:xfrm>
            <a:off x="57149" y="5042047"/>
            <a:ext cx="8848726" cy="664752"/>
            <a:chOff x="57149" y="5042047"/>
            <a:chExt cx="8848726" cy="6647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1DF2F1-8153-A2F8-A088-BD98070B4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9950" y="5042047"/>
              <a:ext cx="4225925" cy="66475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6131BD-EDA4-223E-8943-6B33FE92EAC4}"/>
                </a:ext>
              </a:extLst>
            </p:cNvPr>
            <p:cNvSpPr txBox="1"/>
            <p:nvPr/>
          </p:nvSpPr>
          <p:spPr>
            <a:xfrm>
              <a:off x="57149" y="5071264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0x8008: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D26D7E-EE03-0ED0-A2E7-4C1B45682BC6}"/>
                </a:ext>
              </a:extLst>
            </p:cNvPr>
            <p:cNvSpPr txBox="1"/>
            <p:nvPr/>
          </p:nvSpPr>
          <p:spPr>
            <a:xfrm>
              <a:off x="904883" y="5061097"/>
              <a:ext cx="17299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add x10, x8, x9</a:t>
              </a:r>
            </a:p>
          </p:txBody>
        </p:sp>
      </p:grpSp>
      <p:sp>
        <p:nvSpPr>
          <p:cNvPr id="10" name="Multiply 9">
            <a:extLst>
              <a:ext uri="{FF2B5EF4-FFF2-40B4-BE49-F238E27FC236}">
                <a16:creationId xmlns:a16="http://schemas.microsoft.com/office/drawing/2014/main" id="{3706FA81-0F53-707A-C469-ABD58C6554C1}"/>
              </a:ext>
            </a:extLst>
          </p:cNvPr>
          <p:cNvSpPr/>
          <p:nvPr/>
        </p:nvSpPr>
        <p:spPr>
          <a:xfrm>
            <a:off x="3733800" y="5071264"/>
            <a:ext cx="6447426" cy="635535"/>
          </a:xfrm>
          <a:prstGeom prst="mathMultiply">
            <a:avLst>
              <a:gd name="adj1" fmla="val 1003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2">
            <a:extLst>
              <a:ext uri="{FF2B5EF4-FFF2-40B4-BE49-F238E27FC236}">
                <a16:creationId xmlns:a16="http://schemas.microsoft.com/office/drawing/2014/main" id="{A77C4702-3A63-FD46-901A-E1B3C76C7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4834" y="11581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Control hazard</a:t>
            </a:r>
            <a:endParaRPr lang="en-AU" altLang="en-US" dirty="0"/>
          </a:p>
        </p:txBody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E1E2083D-D24A-CC44-A3C7-FFAE06668C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0107" y="1302734"/>
            <a:ext cx="11355572" cy="842074"/>
          </a:xfrm>
        </p:spPr>
        <p:txBody>
          <a:bodyPr/>
          <a:lstStyle/>
          <a:p>
            <a:pPr eaLnBrk="1" hangingPunct="1"/>
            <a:r>
              <a:rPr lang="en-US" altLang="en-US" dirty="0"/>
              <a:t>Wait until branch outcome is determined before fetching next instruction</a:t>
            </a:r>
            <a:endParaRPr lang="en-AU" altLang="en-US" dirty="0"/>
          </a:p>
        </p:txBody>
      </p:sp>
      <p:pic>
        <p:nvPicPr>
          <p:cNvPr id="89093" name="Picture 1">
            <a:extLst>
              <a:ext uri="{FF2B5EF4-FFF2-40B4-BE49-F238E27FC236}">
                <a16:creationId xmlns:a16="http://schemas.microsoft.com/office/drawing/2014/main" id="{7B604CD0-EFC1-D749-9ACC-F151702B4E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" r="96" b="18056"/>
          <a:stretch>
            <a:fillRect/>
          </a:stretch>
        </p:blipFill>
        <p:spPr bwMode="auto">
          <a:xfrm>
            <a:off x="800100" y="2037747"/>
            <a:ext cx="9572954" cy="3063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FDE6BF-86CC-1F84-EBFD-9BFA13EAC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840" y="5101070"/>
            <a:ext cx="4924403" cy="671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13BDC7-A412-8D94-10AC-1C22176DA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525" y="5842147"/>
            <a:ext cx="4225925" cy="664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941B50-FBC9-FB3E-031F-EF19EB644B33}"/>
              </a:ext>
            </a:extLst>
          </p:cNvPr>
          <p:cNvSpPr txBox="1"/>
          <p:nvPr/>
        </p:nvSpPr>
        <p:spPr>
          <a:xfrm>
            <a:off x="0" y="5852314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0x8054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AD617-E931-D036-37CD-D28F972BF233}"/>
              </a:ext>
            </a:extLst>
          </p:cNvPr>
          <p:cNvSpPr txBox="1"/>
          <p:nvPr/>
        </p:nvSpPr>
        <p:spPr>
          <a:xfrm>
            <a:off x="895357" y="5842147"/>
            <a:ext cx="1562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 x7, x8, x9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B19A64-FC4F-14CB-BB63-DCBBA85DC25C}"/>
              </a:ext>
            </a:extLst>
          </p:cNvPr>
          <p:cNvCxnSpPr/>
          <p:nvPr/>
        </p:nvCxnSpPr>
        <p:spPr>
          <a:xfrm>
            <a:off x="895359" y="3429000"/>
            <a:ext cx="0" cy="30778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748510-4A25-4EA6-D57F-51D517D6EABC}"/>
              </a:ext>
            </a:extLst>
          </p:cNvPr>
          <p:cNvSpPr txBox="1"/>
          <p:nvPr/>
        </p:nvSpPr>
        <p:spPr>
          <a:xfrm>
            <a:off x="-36306" y="3350180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0x8000: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1BFFC-F0BB-74CE-AC45-CA9541374E4B}"/>
              </a:ext>
            </a:extLst>
          </p:cNvPr>
          <p:cNvSpPr txBox="1"/>
          <p:nvPr/>
        </p:nvSpPr>
        <p:spPr>
          <a:xfrm>
            <a:off x="-36307" y="3908278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0x8004: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A51C1E-2CFD-E5C4-287A-3A935608CA2E}"/>
              </a:ext>
            </a:extLst>
          </p:cNvPr>
          <p:cNvSpPr txBox="1"/>
          <p:nvPr/>
        </p:nvSpPr>
        <p:spPr>
          <a:xfrm>
            <a:off x="11319" y="6285831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0x8008: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D1C4DD-A3A3-1A72-3E5F-1ECAC90E3ACB}"/>
              </a:ext>
            </a:extLst>
          </p:cNvPr>
          <p:cNvSpPr txBox="1"/>
          <p:nvPr/>
        </p:nvSpPr>
        <p:spPr>
          <a:xfrm>
            <a:off x="859053" y="6275664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 x10, x8, x9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4CFC92-C082-CECF-243E-422D504F4078}"/>
              </a:ext>
            </a:extLst>
          </p:cNvPr>
          <p:cNvSpPr txBox="1"/>
          <p:nvPr/>
        </p:nvSpPr>
        <p:spPr>
          <a:xfrm>
            <a:off x="236203" y="6036980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55171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8C2ADE-9E31-494B-A29A-543C915FD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 basic pipelined RISC-V CPU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36D48B-9816-924D-BE79-BAD6B84A61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27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8" name="Picture 1">
            <a:extLst>
              <a:ext uri="{FF2B5EF4-FFF2-40B4-BE49-F238E27FC236}">
                <a16:creationId xmlns:a16="http://schemas.microsoft.com/office/drawing/2014/main" id="{6AAB7F50-F9A5-AD4E-A4C0-64481ACFBF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91" b="6831"/>
          <a:stretch/>
        </p:blipFill>
        <p:spPr bwMode="auto">
          <a:xfrm>
            <a:off x="1589306" y="2029037"/>
            <a:ext cx="8674045" cy="482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Rectangle 2">
            <a:extLst>
              <a:ext uri="{FF2B5EF4-FFF2-40B4-BE49-F238E27FC236}">
                <a16:creationId xmlns:a16="http://schemas.microsoft.com/office/drawing/2014/main" id="{537BDF1B-F4F3-5C47-8101-4EA6E7182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421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Pipelined Datapath</a:t>
            </a:r>
            <a:endParaRPr lang="en-AU" altLang="en-US"/>
          </a:p>
        </p:txBody>
      </p:sp>
      <p:sp>
        <p:nvSpPr>
          <p:cNvPr id="97287" name="Text Box 7">
            <a:extLst>
              <a:ext uri="{FF2B5EF4-FFF2-40B4-BE49-F238E27FC236}">
                <a16:creationId xmlns:a16="http://schemas.microsoft.com/office/drawing/2014/main" id="{5527C616-A238-4849-85FE-815C1D0B5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458" y="5906133"/>
            <a:ext cx="1814390" cy="92333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Right-to-left flow leads to hazards</a:t>
            </a:r>
            <a:endParaRPr lang="en-AU" altLang="en-US" sz="180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F1A2C9-79BA-2448-AAD8-A4F420149DF4}"/>
              </a:ext>
            </a:extLst>
          </p:cNvPr>
          <p:cNvGrpSpPr/>
          <p:nvPr/>
        </p:nvGrpSpPr>
        <p:grpSpPr>
          <a:xfrm>
            <a:off x="2205348" y="1013254"/>
            <a:ext cx="1858612" cy="5816209"/>
            <a:chOff x="2205348" y="1013254"/>
            <a:chExt cx="1858612" cy="581620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22ADC53-8E70-B44C-A64D-21660B1B0110}"/>
                </a:ext>
              </a:extLst>
            </p:cNvPr>
            <p:cNvSpPr txBox="1"/>
            <p:nvPr/>
          </p:nvSpPr>
          <p:spPr>
            <a:xfrm>
              <a:off x="2205348" y="1051858"/>
              <a:ext cx="1678986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/>
                <a:t>IF: instruction </a:t>
              </a:r>
            </a:p>
            <a:p>
              <a:r>
                <a:rPr lang="en-US" sz="2000"/>
                <a:t>fetch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88F0150-0093-234A-9E85-C96086605E56}"/>
                </a:ext>
              </a:extLst>
            </p:cNvPr>
            <p:cNvCxnSpPr/>
            <p:nvPr/>
          </p:nvCxnSpPr>
          <p:spPr>
            <a:xfrm>
              <a:off x="4063960" y="1013254"/>
              <a:ext cx="0" cy="5816209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2CBA2DF-2021-D64D-9837-82D14EC497D0}"/>
              </a:ext>
            </a:extLst>
          </p:cNvPr>
          <p:cNvGrpSpPr/>
          <p:nvPr/>
        </p:nvGrpSpPr>
        <p:grpSpPr>
          <a:xfrm>
            <a:off x="4095492" y="1038229"/>
            <a:ext cx="1790504" cy="5829838"/>
            <a:chOff x="4095492" y="1038229"/>
            <a:chExt cx="1790504" cy="582983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471267-C0A8-374A-AD4E-99980AB29F41}"/>
                </a:ext>
              </a:extLst>
            </p:cNvPr>
            <p:cNvSpPr txBox="1"/>
            <p:nvPr/>
          </p:nvSpPr>
          <p:spPr>
            <a:xfrm>
              <a:off x="4095492" y="1038229"/>
              <a:ext cx="1678986" cy="10156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/>
                <a:t>ID: instruction </a:t>
              </a:r>
            </a:p>
            <a:p>
              <a:r>
                <a:rPr lang="en-US" sz="2000"/>
                <a:t>decode/reg </a:t>
              </a:r>
            </a:p>
            <a:p>
              <a:r>
                <a:rPr lang="en-US" sz="2000"/>
                <a:t>read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E5D6254-E579-354F-81A1-2E8A73178A7A}"/>
                </a:ext>
              </a:extLst>
            </p:cNvPr>
            <p:cNvCxnSpPr/>
            <p:nvPr/>
          </p:nvCxnSpPr>
          <p:spPr>
            <a:xfrm>
              <a:off x="5885996" y="1051858"/>
              <a:ext cx="0" cy="5816209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7D54ECD-F26B-6A48-ADDD-7F14F1B3CAC1}"/>
              </a:ext>
            </a:extLst>
          </p:cNvPr>
          <p:cNvGrpSpPr/>
          <p:nvPr/>
        </p:nvGrpSpPr>
        <p:grpSpPr>
          <a:xfrm>
            <a:off x="5894795" y="1014913"/>
            <a:ext cx="1594984" cy="5839525"/>
            <a:chOff x="5894795" y="1014913"/>
            <a:chExt cx="1594984" cy="583952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C01171-F06F-9140-9B7D-4DE1BC77B5B3}"/>
                </a:ext>
              </a:extLst>
            </p:cNvPr>
            <p:cNvSpPr txBox="1"/>
            <p:nvPr/>
          </p:nvSpPr>
          <p:spPr>
            <a:xfrm>
              <a:off x="5894795" y="1014913"/>
              <a:ext cx="1514997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/>
                <a:t>EX: execute/ </a:t>
              </a:r>
            </a:p>
            <a:p>
              <a:r>
                <a:rPr lang="en-US" sz="2000"/>
                <a:t>address calc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E1E68ED-9F0D-6440-BA0B-912AB95572E9}"/>
                </a:ext>
              </a:extLst>
            </p:cNvPr>
            <p:cNvCxnSpPr/>
            <p:nvPr/>
          </p:nvCxnSpPr>
          <p:spPr>
            <a:xfrm>
              <a:off x="7489779" y="1038229"/>
              <a:ext cx="0" cy="5816209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E8FB7D8-893E-E548-8585-6A74494DBF4F}"/>
              </a:ext>
            </a:extLst>
          </p:cNvPr>
          <p:cNvGrpSpPr/>
          <p:nvPr/>
        </p:nvGrpSpPr>
        <p:grpSpPr>
          <a:xfrm>
            <a:off x="7530109" y="1013254"/>
            <a:ext cx="1746983" cy="5816209"/>
            <a:chOff x="7530109" y="1013254"/>
            <a:chExt cx="1746983" cy="58162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37D06B-1397-3D4A-9360-D61EE60CA6CE}"/>
                </a:ext>
              </a:extLst>
            </p:cNvPr>
            <p:cNvSpPr txBox="1"/>
            <p:nvPr/>
          </p:nvSpPr>
          <p:spPr>
            <a:xfrm>
              <a:off x="7530109" y="1013373"/>
              <a:ext cx="1514997" cy="10156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/>
                <a:t>MEM: memory access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0124327-D79C-904D-8A47-844F9C0000E1}"/>
                </a:ext>
              </a:extLst>
            </p:cNvPr>
            <p:cNvCxnSpPr/>
            <p:nvPr/>
          </p:nvCxnSpPr>
          <p:spPr>
            <a:xfrm>
              <a:off x="9277092" y="1013254"/>
              <a:ext cx="0" cy="5816209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C198C6-8D56-AB46-AA7F-1350733ED7C3}"/>
              </a:ext>
            </a:extLst>
          </p:cNvPr>
          <p:cNvGrpSpPr/>
          <p:nvPr/>
        </p:nvGrpSpPr>
        <p:grpSpPr>
          <a:xfrm>
            <a:off x="9406648" y="981722"/>
            <a:ext cx="1514997" cy="5847741"/>
            <a:chOff x="9406648" y="981722"/>
            <a:chExt cx="1514997" cy="584774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FE54EA-1BB0-6E47-88F6-FFF81406DC78}"/>
                </a:ext>
              </a:extLst>
            </p:cNvPr>
            <p:cNvSpPr txBox="1"/>
            <p:nvPr/>
          </p:nvSpPr>
          <p:spPr>
            <a:xfrm>
              <a:off x="9406648" y="981722"/>
              <a:ext cx="1514997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/>
                <a:t>WB: write-back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B6A23C6-2715-2A48-88E3-DCBBB9A425CA}"/>
                </a:ext>
              </a:extLst>
            </p:cNvPr>
            <p:cNvCxnSpPr/>
            <p:nvPr/>
          </p:nvCxnSpPr>
          <p:spPr>
            <a:xfrm>
              <a:off x="10921645" y="1013254"/>
              <a:ext cx="0" cy="5816209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781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>
            <a:extLst>
              <a:ext uri="{FF2B5EF4-FFF2-40B4-BE49-F238E27FC236}">
                <a16:creationId xmlns:a16="http://schemas.microsoft.com/office/drawing/2014/main" id="{BD7C9337-0A63-A64F-850A-349CCD923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Pipeline registers</a:t>
            </a:r>
            <a:endParaRPr lang="en-AU" altLang="en-US"/>
          </a:p>
        </p:txBody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D8ED7DB9-EB51-9B48-A1EC-8582F03A5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15946" y="470079"/>
            <a:ext cx="7912444" cy="812960"/>
          </a:xfrm>
        </p:spPr>
        <p:txBody>
          <a:bodyPr>
            <a:normAutofit/>
          </a:bodyPr>
          <a:lstStyle/>
          <a:p>
            <a:pPr marL="457200" lvl="1" indent="0" eaLnBrk="1" hangingPunct="1">
              <a:buNone/>
            </a:pPr>
            <a:r>
              <a:rPr lang="en-US" altLang="en-US"/>
              <a:t>: needed to hold data produced in previous cycle</a:t>
            </a:r>
            <a:endParaRPr lang="en-AU" altLang="en-US"/>
          </a:p>
        </p:txBody>
      </p:sp>
      <p:pic>
        <p:nvPicPr>
          <p:cNvPr id="99333" name="Picture 1">
            <a:extLst>
              <a:ext uri="{FF2B5EF4-FFF2-40B4-BE49-F238E27FC236}">
                <a16:creationId xmlns:a16="http://schemas.microsoft.com/office/drawing/2014/main" id="{97920A1A-CC73-F64A-84B5-2993A825B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26" y="1314341"/>
            <a:ext cx="11924148" cy="533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2D6213E-9CFC-364B-953F-285AD03B5F63}"/>
              </a:ext>
            </a:extLst>
          </p:cNvPr>
          <p:cNvGrpSpPr/>
          <p:nvPr/>
        </p:nvGrpSpPr>
        <p:grpSpPr>
          <a:xfrm>
            <a:off x="3436881" y="1386354"/>
            <a:ext cx="679866" cy="4951383"/>
            <a:chOff x="3436881" y="1386354"/>
            <a:chExt cx="679866" cy="495138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D93EFC9-A9D5-874C-BB7F-69451472B0D5}"/>
                </a:ext>
              </a:extLst>
            </p:cNvPr>
            <p:cNvSpPr/>
            <p:nvPr/>
          </p:nvSpPr>
          <p:spPr>
            <a:xfrm>
              <a:off x="3515711" y="1828800"/>
              <a:ext cx="362608" cy="45089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05C0640-72BA-2742-9F26-868E7C8B2616}"/>
                </a:ext>
              </a:extLst>
            </p:cNvPr>
            <p:cNvSpPr txBox="1"/>
            <p:nvPr/>
          </p:nvSpPr>
          <p:spPr>
            <a:xfrm>
              <a:off x="3436881" y="1386354"/>
              <a:ext cx="67986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/>
                <a:t>IF/ID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A5E8193-7034-F840-B820-0D23D9748E0C}"/>
              </a:ext>
            </a:extLst>
          </p:cNvPr>
          <p:cNvGrpSpPr/>
          <p:nvPr/>
        </p:nvGrpSpPr>
        <p:grpSpPr>
          <a:xfrm>
            <a:off x="6111766" y="1388168"/>
            <a:ext cx="763351" cy="4951383"/>
            <a:chOff x="3436881" y="1386354"/>
            <a:chExt cx="763351" cy="495138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4DD648-8BA5-8842-929E-C18383299FC5}"/>
                </a:ext>
              </a:extLst>
            </p:cNvPr>
            <p:cNvSpPr/>
            <p:nvPr/>
          </p:nvSpPr>
          <p:spPr>
            <a:xfrm>
              <a:off x="3515711" y="1828800"/>
              <a:ext cx="362608" cy="45089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A77EF6-F09B-A642-8C69-99A4D1468E02}"/>
                </a:ext>
              </a:extLst>
            </p:cNvPr>
            <p:cNvSpPr txBox="1"/>
            <p:nvPr/>
          </p:nvSpPr>
          <p:spPr>
            <a:xfrm>
              <a:off x="3436881" y="1386354"/>
              <a:ext cx="7633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/>
                <a:t>ID/EX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E27686-8ABB-B441-B5A7-EA72F0181E1C}"/>
              </a:ext>
            </a:extLst>
          </p:cNvPr>
          <p:cNvGrpSpPr/>
          <p:nvPr/>
        </p:nvGrpSpPr>
        <p:grpSpPr>
          <a:xfrm>
            <a:off x="8371263" y="1402120"/>
            <a:ext cx="1106393" cy="4951383"/>
            <a:chOff x="3216157" y="1386354"/>
            <a:chExt cx="1106393" cy="495138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BF3831-2C79-2D47-9818-509FE307E38F}"/>
                </a:ext>
              </a:extLst>
            </p:cNvPr>
            <p:cNvSpPr/>
            <p:nvPr/>
          </p:nvSpPr>
          <p:spPr>
            <a:xfrm>
              <a:off x="3515711" y="1828800"/>
              <a:ext cx="362608" cy="45089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4A4371-0A2D-2B4B-9FB6-C50760F14FF8}"/>
                </a:ext>
              </a:extLst>
            </p:cNvPr>
            <p:cNvSpPr txBox="1"/>
            <p:nvPr/>
          </p:nvSpPr>
          <p:spPr>
            <a:xfrm>
              <a:off x="3216157" y="1386354"/>
              <a:ext cx="110639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/>
                <a:t>EX/MEM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F27FA9-9E0D-084B-9F31-9F3D362FA2B0}"/>
              </a:ext>
            </a:extLst>
          </p:cNvPr>
          <p:cNvGrpSpPr/>
          <p:nvPr/>
        </p:nvGrpSpPr>
        <p:grpSpPr>
          <a:xfrm>
            <a:off x="10880834" y="1406144"/>
            <a:ext cx="1215397" cy="4951383"/>
            <a:chOff x="3436881" y="1386354"/>
            <a:chExt cx="1215397" cy="49513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AEBDD1B-E21A-BA45-B863-CD5BDC71D527}"/>
                </a:ext>
              </a:extLst>
            </p:cNvPr>
            <p:cNvSpPr/>
            <p:nvPr/>
          </p:nvSpPr>
          <p:spPr>
            <a:xfrm>
              <a:off x="3515711" y="1828800"/>
              <a:ext cx="362608" cy="45089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9133A5-B9EA-C840-8331-3A310AF73A33}"/>
                </a:ext>
              </a:extLst>
            </p:cNvPr>
            <p:cNvSpPr txBox="1"/>
            <p:nvPr/>
          </p:nvSpPr>
          <p:spPr>
            <a:xfrm>
              <a:off x="3436881" y="1386354"/>
              <a:ext cx="121539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/>
                <a:t>MEM/WB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075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>
            <a:extLst>
              <a:ext uri="{FF2B5EF4-FFF2-40B4-BE49-F238E27FC236}">
                <a16:creationId xmlns:a16="http://schemas.microsoft.com/office/drawing/2014/main" id="{1D6C56D0-1D49-554B-946E-F441FDDAC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24" y="-14315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IF for Load, Store</a:t>
            </a:r>
            <a:endParaRPr lang="en-AU" altLang="en-US"/>
          </a:p>
        </p:txBody>
      </p:sp>
      <p:pic>
        <p:nvPicPr>
          <p:cNvPr id="103428" name="Picture 1">
            <a:extLst>
              <a:ext uri="{FF2B5EF4-FFF2-40B4-BE49-F238E27FC236}">
                <a16:creationId xmlns:a16="http://schemas.microsoft.com/office/drawing/2014/main" id="{14D6558A-1C5E-1D4D-AD56-1B47884FE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4" y="945931"/>
            <a:ext cx="11738902" cy="5801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E5927C-D7E3-A249-AB23-5278CD4CCB5E}"/>
              </a:ext>
            </a:extLst>
          </p:cNvPr>
          <p:cNvSpPr txBox="1"/>
          <p:nvPr/>
        </p:nvSpPr>
        <p:spPr>
          <a:xfrm>
            <a:off x="3990120" y="766914"/>
            <a:ext cx="82386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Single-clock-cycle diagram shows the state of an entire </a:t>
            </a:r>
            <a:r>
              <a:rPr lang="en-US" sz="2400" err="1"/>
              <a:t>datapath</a:t>
            </a:r>
            <a:r>
              <a:rPr lang="en-US" sz="2400"/>
              <a:t> </a:t>
            </a:r>
          </a:p>
          <a:p>
            <a:r>
              <a:rPr lang="en-US" sz="2400"/>
              <a:t>during a single clock cycle</a:t>
            </a:r>
          </a:p>
        </p:txBody>
      </p:sp>
    </p:spTree>
    <p:extLst>
      <p:ext uri="{BB962C8B-B14F-4D97-AF65-F5344CB8AC3E}">
        <p14:creationId xmlns:p14="http://schemas.microsoft.com/office/powerpoint/2010/main" val="401002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>
            <a:extLst>
              <a:ext uri="{FF2B5EF4-FFF2-40B4-BE49-F238E27FC236}">
                <a16:creationId xmlns:a16="http://schemas.microsoft.com/office/drawing/2014/main" id="{A3234CE4-2AA0-6845-935D-3E7C4E8B6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1820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ID for Load, Store, …</a:t>
            </a:r>
            <a:endParaRPr lang="en-AU" altLang="en-US"/>
          </a:p>
        </p:txBody>
      </p:sp>
      <p:pic>
        <p:nvPicPr>
          <p:cNvPr id="105476" name="Picture 1">
            <a:extLst>
              <a:ext uri="{FF2B5EF4-FFF2-40B4-BE49-F238E27FC236}">
                <a16:creationId xmlns:a16="http://schemas.microsoft.com/office/drawing/2014/main" id="{A94F326A-75D8-0849-9261-ACD143ECC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34" y="694186"/>
            <a:ext cx="11382704" cy="6122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232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>
            <a:extLst>
              <a:ext uri="{FF2B5EF4-FFF2-40B4-BE49-F238E27FC236}">
                <a16:creationId xmlns:a16="http://schemas.microsoft.com/office/drawing/2014/main" id="{C7409828-5750-B847-8B99-8830625B6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 for Load</a:t>
            </a:r>
            <a:endParaRPr lang="en-AU" altLang="en-US"/>
          </a:p>
        </p:txBody>
      </p:sp>
      <p:pic>
        <p:nvPicPr>
          <p:cNvPr id="107524" name="Picture 1">
            <a:extLst>
              <a:ext uri="{FF2B5EF4-FFF2-40B4-BE49-F238E27FC236}">
                <a16:creationId xmlns:a16="http://schemas.microsoft.com/office/drawing/2014/main" id="{B8E5B4FC-351B-C943-A0E1-F911BC661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4" y="395882"/>
            <a:ext cx="11790527" cy="6383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74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>
            <a:extLst>
              <a:ext uri="{FF2B5EF4-FFF2-40B4-BE49-F238E27FC236}">
                <a16:creationId xmlns:a16="http://schemas.microsoft.com/office/drawing/2014/main" id="{89EEC145-17E7-664C-B520-9105EDF30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 for Load</a:t>
            </a:r>
            <a:endParaRPr lang="en-AU" altLang="en-US"/>
          </a:p>
        </p:txBody>
      </p:sp>
      <p:pic>
        <p:nvPicPr>
          <p:cNvPr id="109572" name="Picture 1">
            <a:extLst>
              <a:ext uri="{FF2B5EF4-FFF2-40B4-BE49-F238E27FC236}">
                <a16:creationId xmlns:a16="http://schemas.microsoft.com/office/drawing/2014/main" id="{A07F2CA6-9BBD-7144-AE70-7028AE9F8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06" y="475487"/>
            <a:ext cx="11587655" cy="6263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1051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1">
            <a:extLst>
              <a:ext uri="{FF2B5EF4-FFF2-40B4-BE49-F238E27FC236}">
                <a16:creationId xmlns:a16="http://schemas.microsoft.com/office/drawing/2014/main" id="{C5C9B6B4-FF25-7A44-95CB-79357011A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38" y="365125"/>
            <a:ext cx="11398469" cy="6377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20" name="Rectangle 2">
            <a:extLst>
              <a:ext uri="{FF2B5EF4-FFF2-40B4-BE49-F238E27FC236}">
                <a16:creationId xmlns:a16="http://schemas.microsoft.com/office/drawing/2014/main" id="{C89DF1E2-12D0-CF4F-9AA3-9A5FE86F1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4963" y="18284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WB for Load</a:t>
            </a:r>
            <a:endParaRPr lang="en-AU" altLang="en-US"/>
          </a:p>
        </p:txBody>
      </p:sp>
      <p:sp>
        <p:nvSpPr>
          <p:cNvPr id="374788" name="Oval 4">
            <a:extLst>
              <a:ext uri="{FF2B5EF4-FFF2-40B4-BE49-F238E27FC236}">
                <a16:creationId xmlns:a16="http://schemas.microsoft.com/office/drawing/2014/main" id="{32936B69-8A78-5C4F-9012-AECDF70FA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968" y="4289043"/>
            <a:ext cx="865188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sp>
        <p:nvSpPr>
          <p:cNvPr id="374789" name="AutoShape 5">
            <a:extLst>
              <a:ext uri="{FF2B5EF4-FFF2-40B4-BE49-F238E27FC236}">
                <a16:creationId xmlns:a16="http://schemas.microsoft.com/office/drawing/2014/main" id="{997BDA22-5C24-BF48-BE06-7EDB32BFD0C0}"/>
              </a:ext>
            </a:extLst>
          </p:cNvPr>
          <p:cNvSpPr>
            <a:spLocks/>
          </p:cNvSpPr>
          <p:nvPr/>
        </p:nvSpPr>
        <p:spPr bwMode="auto">
          <a:xfrm>
            <a:off x="1749755" y="5463136"/>
            <a:ext cx="1063625" cy="865187"/>
          </a:xfrm>
          <a:prstGeom prst="borderCallout1">
            <a:avLst>
              <a:gd name="adj1" fmla="val 13213"/>
              <a:gd name="adj2" fmla="val 107162"/>
              <a:gd name="adj3" fmla="val -94203"/>
              <a:gd name="adj4" fmla="val 242024"/>
            </a:avLst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bg1"/>
                </a:solidFill>
              </a:rPr>
              <a:t>Wrong</a:t>
            </a:r>
            <a:br>
              <a:rPr lang="en-US" altLang="en-US" sz="1600">
                <a:solidFill>
                  <a:schemeClr val="bg1"/>
                </a:solidFill>
              </a:rPr>
            </a:br>
            <a:r>
              <a:rPr lang="en-US" altLang="en-US" sz="1600">
                <a:solidFill>
                  <a:schemeClr val="bg1"/>
                </a:solidFill>
              </a:rPr>
              <a:t>register</a:t>
            </a:r>
            <a:br>
              <a:rPr lang="en-US" altLang="en-US" sz="1600">
                <a:solidFill>
                  <a:schemeClr val="bg1"/>
                </a:solidFill>
              </a:rPr>
            </a:br>
            <a:r>
              <a:rPr lang="en-US" altLang="en-US" sz="1600">
                <a:solidFill>
                  <a:schemeClr val="bg1"/>
                </a:solidFill>
              </a:rPr>
              <a:t>number</a:t>
            </a:r>
            <a:endParaRPr lang="en-AU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20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8" grpId="0" animBg="1"/>
      <p:bldP spid="37478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>
            <a:extLst>
              <a:ext uri="{FF2B5EF4-FFF2-40B4-BE49-F238E27FC236}">
                <a16:creationId xmlns:a16="http://schemas.microsoft.com/office/drawing/2014/main" id="{EE24E503-A43D-0E46-8227-F278C6A27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064" y="-20621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Corrected Datapath for Load</a:t>
            </a:r>
            <a:endParaRPr lang="en-AU" altLang="en-US"/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FFC1DD2E-0A0A-E04E-B0F4-DBD053BE3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34" y="977461"/>
            <a:ext cx="11639532" cy="565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882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>
            <a:extLst>
              <a:ext uri="{FF2B5EF4-FFF2-40B4-BE49-F238E27FC236}">
                <a16:creationId xmlns:a16="http://schemas.microsoft.com/office/drawing/2014/main" id="{ECBFCB13-6D0C-AA49-9E9D-E01F2E12A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752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EX for Store</a:t>
            </a:r>
            <a:endParaRPr lang="en-AU" altLang="en-US"/>
          </a:p>
        </p:txBody>
      </p:sp>
      <p:pic>
        <p:nvPicPr>
          <p:cNvPr id="115716" name="Picture 1">
            <a:extLst>
              <a:ext uri="{FF2B5EF4-FFF2-40B4-BE49-F238E27FC236}">
                <a16:creationId xmlns:a16="http://schemas.microsoft.com/office/drawing/2014/main" id="{BB05BA90-6F6A-EB41-81AF-D5318508D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80" y="359106"/>
            <a:ext cx="11392676" cy="6267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282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A6EB16-0110-8600-7AC8-4EE6F3B20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242266"/>
            <a:ext cx="11430000" cy="6615734"/>
          </a:xfrm>
          <a:prstGeom prst="rect">
            <a:avLst/>
          </a:prstGeom>
        </p:spPr>
      </p:pic>
      <p:sp>
        <p:nvSpPr>
          <p:cNvPr id="117763" name="Rectangle 2">
            <a:extLst>
              <a:ext uri="{FF2B5EF4-FFF2-40B4-BE49-F238E27FC236}">
                <a16:creationId xmlns:a16="http://schemas.microsoft.com/office/drawing/2014/main" id="{8A3409C2-CE85-5F46-8D24-D4D3F4E26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518" y="-9459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MEM for Store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44225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2" name="Picture 1">
            <a:extLst>
              <a:ext uri="{FF2B5EF4-FFF2-40B4-BE49-F238E27FC236}">
                <a16:creationId xmlns:a16="http://schemas.microsoft.com/office/drawing/2014/main" id="{F55C3395-5E85-E949-B822-575DECB00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40" y="412423"/>
            <a:ext cx="11866919" cy="6256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1" name="Rectangle 2">
            <a:extLst>
              <a:ext uri="{FF2B5EF4-FFF2-40B4-BE49-F238E27FC236}">
                <a16:creationId xmlns:a16="http://schemas.microsoft.com/office/drawing/2014/main" id="{452577DF-812D-324F-8A84-E0BB2741E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540" y="-1576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WB for Store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86429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4D973B11-E702-3F4F-9461-83CF78502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4850" y="87312"/>
            <a:ext cx="10515600" cy="1325563"/>
          </a:xfrm>
        </p:spPr>
        <p:txBody>
          <a:bodyPr/>
          <a:lstStyle/>
          <a:p>
            <a:pPr eaLnBrk="1" hangingPunct="1"/>
            <a:r>
              <a:rPr lang="en-AU" altLang="en-US" dirty="0"/>
              <a:t>Single-Cycle Pipeline Diagram</a:t>
            </a:r>
          </a:p>
        </p:txBody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D95F322D-790E-1C48-A692-FD8D31675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5170" y="1366838"/>
            <a:ext cx="8270875" cy="647700"/>
          </a:xfrm>
        </p:spPr>
        <p:txBody>
          <a:bodyPr/>
          <a:lstStyle/>
          <a:p>
            <a:pPr eaLnBrk="1" hangingPunct="1"/>
            <a:r>
              <a:rPr lang="en-AU" altLang="en-US" dirty="0"/>
              <a:t>State of pipeline in a given cycle</a:t>
            </a:r>
          </a:p>
        </p:txBody>
      </p:sp>
      <p:pic>
        <p:nvPicPr>
          <p:cNvPr id="125957" name="Picture 1">
            <a:extLst>
              <a:ext uri="{FF2B5EF4-FFF2-40B4-BE49-F238E27FC236}">
                <a16:creationId xmlns:a16="http://schemas.microsoft.com/office/drawing/2014/main" id="{28477507-EA7A-C142-B14A-4E1B52BD0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490" y="1898650"/>
            <a:ext cx="8618555" cy="454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9264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2">
            <a:extLst>
              <a:ext uri="{FF2B5EF4-FFF2-40B4-BE49-F238E27FC236}">
                <a16:creationId xmlns:a16="http://schemas.microsoft.com/office/drawing/2014/main" id="{C844EC5B-B5EC-6E45-94B0-1C6E340FB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Multi-Cycle Pipeline Diagram</a:t>
            </a:r>
            <a:endParaRPr lang="en-AU" altLang="en-US"/>
          </a:p>
        </p:txBody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F3097E04-D8A0-2949-AF92-7FFBA4DBE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9772" y="1486202"/>
            <a:ext cx="8270875" cy="690562"/>
          </a:xfrm>
        </p:spPr>
        <p:txBody>
          <a:bodyPr/>
          <a:lstStyle/>
          <a:p>
            <a:pPr eaLnBrk="1" hangingPunct="1"/>
            <a:r>
              <a:rPr lang="en-US" altLang="en-US"/>
              <a:t>Traditional form</a:t>
            </a:r>
            <a:endParaRPr lang="en-AU" altLang="en-US"/>
          </a:p>
        </p:txBody>
      </p:sp>
      <p:pic>
        <p:nvPicPr>
          <p:cNvPr id="123909" name="Picture 1">
            <a:extLst>
              <a:ext uri="{FF2B5EF4-FFF2-40B4-BE49-F238E27FC236}">
                <a16:creationId xmlns:a16="http://schemas.microsoft.com/office/drawing/2014/main" id="{470BB42E-4AA4-B94A-A4C6-0A76C68F8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16" y="2060575"/>
            <a:ext cx="11481368" cy="4624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2684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61" name="Picture 1">
            <a:extLst>
              <a:ext uri="{FF2B5EF4-FFF2-40B4-BE49-F238E27FC236}">
                <a16:creationId xmlns:a16="http://schemas.microsoft.com/office/drawing/2014/main" id="{F384E4BD-B992-C741-A8F2-110277321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78" y="1239895"/>
            <a:ext cx="10032177" cy="55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59" name="Rectangle 2">
            <a:extLst>
              <a:ext uri="{FF2B5EF4-FFF2-40B4-BE49-F238E27FC236}">
                <a16:creationId xmlns:a16="http://schemas.microsoft.com/office/drawing/2014/main" id="{D8136AC8-0062-E24C-A522-12680CD35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0642" y="-29462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Multi-Cycle Pipeline Diagram</a:t>
            </a:r>
            <a:endParaRPr lang="en-AU" altLang="en-US"/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EB40706F-471F-1848-92D7-84D176748E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0642" y="701427"/>
            <a:ext cx="8270875" cy="690562"/>
          </a:xfrm>
        </p:spPr>
        <p:txBody>
          <a:bodyPr/>
          <a:lstStyle/>
          <a:p>
            <a:pPr eaLnBrk="1" hangingPunct="1"/>
            <a:r>
              <a:rPr lang="en-US" altLang="en-US"/>
              <a:t>Form showing resource usage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2475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2">
            <a:extLst>
              <a:ext uri="{FF2B5EF4-FFF2-40B4-BE49-F238E27FC236}">
                <a16:creationId xmlns:a16="http://schemas.microsoft.com/office/drawing/2014/main" id="{B65D1B6B-70E7-674D-9402-6E2A5D31B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035" y="-17342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Pipelined Control (Simplified)</a:t>
            </a:r>
            <a:endParaRPr lang="en-AU" altLang="en-US"/>
          </a:p>
        </p:txBody>
      </p:sp>
      <p:pic>
        <p:nvPicPr>
          <p:cNvPr id="128004" name="Picture 1">
            <a:extLst>
              <a:ext uri="{FF2B5EF4-FFF2-40B4-BE49-F238E27FC236}">
                <a16:creationId xmlns:a16="http://schemas.microsoft.com/office/drawing/2014/main" id="{E29B56D3-3203-B34E-BD70-B2134B135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16" y="961698"/>
            <a:ext cx="11682249" cy="578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3A3B8A8-888F-6F41-887C-5958807A4560}"/>
              </a:ext>
            </a:extLst>
          </p:cNvPr>
          <p:cNvGrpSpPr/>
          <p:nvPr/>
        </p:nvGrpSpPr>
        <p:grpSpPr>
          <a:xfrm>
            <a:off x="6842234" y="3563006"/>
            <a:ext cx="1794848" cy="3091244"/>
            <a:chOff x="6842234" y="3563006"/>
            <a:chExt cx="1794848" cy="309124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73155C1-C17C-2B4A-9DD5-F6A1C601538E}"/>
                </a:ext>
              </a:extLst>
            </p:cNvPr>
            <p:cNvSpPr/>
            <p:nvPr/>
          </p:nvSpPr>
          <p:spPr>
            <a:xfrm>
              <a:off x="6842234" y="3563006"/>
              <a:ext cx="756745" cy="2995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2CA0C4A-6FC5-3046-97BB-566245FF6CA7}"/>
                </a:ext>
              </a:extLst>
            </p:cNvPr>
            <p:cNvSpPr/>
            <p:nvPr/>
          </p:nvSpPr>
          <p:spPr>
            <a:xfrm>
              <a:off x="7026165" y="5746529"/>
              <a:ext cx="756745" cy="2995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013F7FF-4F44-4649-B6A7-B5DE82BC1D8B}"/>
                </a:ext>
              </a:extLst>
            </p:cNvPr>
            <p:cNvCxnSpPr>
              <a:cxnSpLocks/>
              <a:endCxn id="2" idx="5"/>
            </p:cNvCxnSpPr>
            <p:nvPr/>
          </p:nvCxnSpPr>
          <p:spPr>
            <a:xfrm flipH="1" flipV="1">
              <a:off x="7488156" y="3818684"/>
              <a:ext cx="568023" cy="257988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D46AE75-3C7A-0643-AFE4-0D689C9296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04537" y="6046074"/>
              <a:ext cx="615089" cy="3524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19C436-A772-3344-91CD-37C0FDE059C6}"/>
                </a:ext>
              </a:extLst>
            </p:cNvPr>
            <p:cNvSpPr txBox="1"/>
            <p:nvPr/>
          </p:nvSpPr>
          <p:spPr>
            <a:xfrm>
              <a:off x="7642514" y="6284918"/>
              <a:ext cx="9945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Set in EX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BE258B-C709-E24A-B98A-53E198739FD2}"/>
              </a:ext>
            </a:extLst>
          </p:cNvPr>
          <p:cNvGrpSpPr/>
          <p:nvPr/>
        </p:nvGrpSpPr>
        <p:grpSpPr>
          <a:xfrm>
            <a:off x="8918028" y="848558"/>
            <a:ext cx="1984796" cy="5739154"/>
            <a:chOff x="8918028" y="848558"/>
            <a:chExt cx="1984796" cy="573915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1135618-65AF-0A48-8450-613D43AEE3A9}"/>
                </a:ext>
              </a:extLst>
            </p:cNvPr>
            <p:cNvSpPr/>
            <p:nvPr/>
          </p:nvSpPr>
          <p:spPr>
            <a:xfrm>
              <a:off x="8918028" y="2469931"/>
              <a:ext cx="716116" cy="25248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7F3CCAA-8D67-A344-8438-86DD436583B2}"/>
                </a:ext>
              </a:extLst>
            </p:cNvPr>
            <p:cNvSpPr/>
            <p:nvPr/>
          </p:nvSpPr>
          <p:spPr>
            <a:xfrm>
              <a:off x="9634147" y="3279227"/>
              <a:ext cx="756745" cy="2995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E6A6D83-8985-B042-944F-80ADBA6F41F8}"/>
                </a:ext>
              </a:extLst>
            </p:cNvPr>
            <p:cNvSpPr/>
            <p:nvPr/>
          </p:nvSpPr>
          <p:spPr>
            <a:xfrm>
              <a:off x="9933691" y="848558"/>
              <a:ext cx="639109" cy="30357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4796616-840D-E04D-B879-F483A6F31E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16210" y="2722412"/>
              <a:ext cx="1356040" cy="34999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67B6E4-CFDB-9F45-B164-DC627430EE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75074" y="1213947"/>
              <a:ext cx="415362" cy="500837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E65448F-11CF-6642-A172-EFEC9AB51B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1338" y="3601167"/>
              <a:ext cx="619098" cy="261739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9BFDC0-BB28-404D-B4C5-F6990F59D5BA}"/>
                </a:ext>
              </a:extLst>
            </p:cNvPr>
            <p:cNvSpPr txBox="1"/>
            <p:nvPr/>
          </p:nvSpPr>
          <p:spPr>
            <a:xfrm>
              <a:off x="9634143" y="6218380"/>
              <a:ext cx="12686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Set in MEM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C74B16E-03BB-DE40-B952-885628C58600}"/>
              </a:ext>
            </a:extLst>
          </p:cNvPr>
          <p:cNvGrpSpPr/>
          <p:nvPr/>
        </p:nvGrpSpPr>
        <p:grpSpPr>
          <a:xfrm>
            <a:off x="4842783" y="2932384"/>
            <a:ext cx="7328326" cy="2749927"/>
            <a:chOff x="4842783" y="2932384"/>
            <a:chExt cx="7328326" cy="27499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B9CE9C0-1CC0-884E-8894-BCC22A5B426A}"/>
                </a:ext>
              </a:extLst>
            </p:cNvPr>
            <p:cNvGrpSpPr/>
            <p:nvPr/>
          </p:nvGrpSpPr>
          <p:grpSpPr>
            <a:xfrm>
              <a:off x="11078759" y="3413233"/>
              <a:ext cx="1092350" cy="2269078"/>
              <a:chOff x="11078759" y="3413233"/>
              <a:chExt cx="1092350" cy="2269078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EBE66A9-0A84-E546-97B6-5BB6E69CD35D}"/>
                  </a:ext>
                </a:extLst>
              </p:cNvPr>
              <p:cNvSpPr/>
              <p:nvPr/>
            </p:nvSpPr>
            <p:spPr>
              <a:xfrm>
                <a:off x="11215954" y="3413233"/>
                <a:ext cx="756745" cy="29954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12A934DA-42C8-A44C-9670-9237F220AE67}"/>
                  </a:ext>
                </a:extLst>
              </p:cNvPr>
              <p:cNvCxnSpPr>
                <a:cxnSpLocks/>
                <a:endCxn id="28" idx="5"/>
              </p:cNvCxnSpPr>
              <p:nvPr/>
            </p:nvCxnSpPr>
            <p:spPr>
              <a:xfrm flipV="1">
                <a:off x="11594326" y="3668911"/>
                <a:ext cx="267550" cy="164406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D8247E-AE7F-6447-B3C9-7A9BAB577198}"/>
                  </a:ext>
                </a:extLst>
              </p:cNvPr>
              <p:cNvSpPr txBox="1"/>
              <p:nvPr/>
            </p:nvSpPr>
            <p:spPr>
              <a:xfrm>
                <a:off x="11078759" y="5312979"/>
                <a:ext cx="10923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</a:rPr>
                  <a:t>Set in WB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541100-6D7A-0F4B-B19F-FD4054C583BC}"/>
                </a:ext>
              </a:extLst>
            </p:cNvPr>
            <p:cNvSpPr/>
            <p:nvPr/>
          </p:nvSpPr>
          <p:spPr>
            <a:xfrm>
              <a:off x="4842783" y="2932384"/>
              <a:ext cx="756745" cy="2995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CE2FBDD-0B3A-5342-B2B8-701E77E30300}"/>
                </a:ext>
              </a:extLst>
            </p:cNvPr>
            <p:cNvCxnSpPr>
              <a:cxnSpLocks/>
              <a:stCxn id="32" idx="0"/>
              <a:endCxn id="35" idx="6"/>
            </p:cNvCxnSpPr>
            <p:nvPr/>
          </p:nvCxnSpPr>
          <p:spPr>
            <a:xfrm flipH="1" flipV="1">
              <a:off x="5599528" y="3082157"/>
              <a:ext cx="6025406" cy="223082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98E3107-BF7A-6948-86B9-5B661F681521}"/>
              </a:ext>
            </a:extLst>
          </p:cNvPr>
          <p:cNvSpPr/>
          <p:nvPr/>
        </p:nvSpPr>
        <p:spPr>
          <a:xfrm>
            <a:off x="9586845" y="5044964"/>
            <a:ext cx="640931" cy="204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8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2">
            <a:extLst>
              <a:ext uri="{FF2B5EF4-FFF2-40B4-BE49-F238E27FC236}">
                <a16:creationId xmlns:a16="http://schemas.microsoft.com/office/drawing/2014/main" id="{E32D7515-9D7D-EF47-B4BC-AADF818CD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579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Pipelined Control</a:t>
            </a:r>
            <a:endParaRPr lang="en-AU" altLang="en-US"/>
          </a:p>
        </p:txBody>
      </p:sp>
      <p:pic>
        <p:nvPicPr>
          <p:cNvPr id="130053" name="Picture 1">
            <a:extLst>
              <a:ext uri="{FF2B5EF4-FFF2-40B4-BE49-F238E27FC236}">
                <a16:creationId xmlns:a16="http://schemas.microsoft.com/office/drawing/2014/main" id="{77CFF175-D073-D34E-94C0-ABDFB45D1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37" y="1813717"/>
            <a:ext cx="10342180" cy="4855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DD02AAA-EA08-8341-A2F1-09837A9269B7}"/>
              </a:ext>
            </a:extLst>
          </p:cNvPr>
          <p:cNvGrpSpPr/>
          <p:nvPr/>
        </p:nvGrpSpPr>
        <p:grpSpPr>
          <a:xfrm>
            <a:off x="4882177" y="3259723"/>
            <a:ext cx="776233" cy="678861"/>
            <a:chOff x="4882177" y="3259723"/>
            <a:chExt cx="776233" cy="6788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0C169A-6E30-E24D-8324-AA752674BE23}"/>
                </a:ext>
              </a:extLst>
            </p:cNvPr>
            <p:cNvSpPr txBox="1"/>
            <p:nvPr/>
          </p:nvSpPr>
          <p:spPr>
            <a:xfrm>
              <a:off x="4882177" y="3259723"/>
              <a:ext cx="7671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err="1">
                  <a:solidFill>
                    <a:srgbClr val="FF0000"/>
                  </a:solidFill>
                </a:rPr>
                <a:t>ALUSrc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A49936-ABE1-1143-838D-574D5137AC7C}"/>
                </a:ext>
              </a:extLst>
            </p:cNvPr>
            <p:cNvSpPr txBox="1"/>
            <p:nvPr/>
          </p:nvSpPr>
          <p:spPr>
            <a:xfrm>
              <a:off x="4897881" y="3600030"/>
              <a:ext cx="7605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err="1">
                  <a:solidFill>
                    <a:srgbClr val="FF0000"/>
                  </a:solidFill>
                </a:rPr>
                <a:t>ALUOp</a:t>
              </a: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C0A1ED-602F-1740-9198-37944DCB0B20}"/>
              </a:ext>
            </a:extLst>
          </p:cNvPr>
          <p:cNvGrpSpPr/>
          <p:nvPr/>
        </p:nvGrpSpPr>
        <p:grpSpPr>
          <a:xfrm>
            <a:off x="7914351" y="3245280"/>
            <a:ext cx="1090171" cy="907720"/>
            <a:chOff x="7914351" y="3245280"/>
            <a:chExt cx="1090171" cy="9077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8644DD-599A-1544-8AEB-077EB700A1AD}"/>
                </a:ext>
              </a:extLst>
            </p:cNvPr>
            <p:cNvSpPr txBox="1"/>
            <p:nvPr/>
          </p:nvSpPr>
          <p:spPr>
            <a:xfrm>
              <a:off x="7914352" y="3245280"/>
              <a:ext cx="10901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err="1">
                  <a:solidFill>
                    <a:srgbClr val="FF0000"/>
                  </a:solidFill>
                </a:rPr>
                <a:t>MemWrite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DE84CC-F214-4A42-8997-115B752155CA}"/>
                </a:ext>
              </a:extLst>
            </p:cNvPr>
            <p:cNvSpPr txBox="1"/>
            <p:nvPr/>
          </p:nvSpPr>
          <p:spPr>
            <a:xfrm>
              <a:off x="7914352" y="3598277"/>
              <a:ext cx="7639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Branch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E73124-25A9-2943-B953-22937ADAAB51}"/>
                </a:ext>
              </a:extLst>
            </p:cNvPr>
            <p:cNvSpPr txBox="1"/>
            <p:nvPr/>
          </p:nvSpPr>
          <p:spPr>
            <a:xfrm>
              <a:off x="7914351" y="3814446"/>
              <a:ext cx="649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err="1">
                  <a:solidFill>
                    <a:srgbClr val="FF0000"/>
                  </a:solidFill>
                </a:rPr>
                <a:t>PCSrc</a:t>
              </a: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D16D29-60DC-E743-8DA8-D74E4F654771}"/>
              </a:ext>
            </a:extLst>
          </p:cNvPr>
          <p:cNvGrpSpPr/>
          <p:nvPr/>
        </p:nvGrpSpPr>
        <p:grpSpPr>
          <a:xfrm>
            <a:off x="10829123" y="3270847"/>
            <a:ext cx="1123064" cy="678861"/>
            <a:chOff x="10829123" y="3270847"/>
            <a:chExt cx="1123064" cy="6788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6F7E78-3EDC-B147-8A68-21E45A63B8D5}"/>
                </a:ext>
              </a:extLst>
            </p:cNvPr>
            <p:cNvSpPr txBox="1"/>
            <p:nvPr/>
          </p:nvSpPr>
          <p:spPr>
            <a:xfrm>
              <a:off x="10829123" y="3270847"/>
              <a:ext cx="11230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err="1">
                  <a:solidFill>
                    <a:srgbClr val="FF0000"/>
                  </a:solidFill>
                </a:rPr>
                <a:t>MemToReg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D279E1-9406-9346-BEDB-170C731E0133}"/>
                </a:ext>
              </a:extLst>
            </p:cNvPr>
            <p:cNvSpPr txBox="1"/>
            <p:nvPr/>
          </p:nvSpPr>
          <p:spPr>
            <a:xfrm>
              <a:off x="10844827" y="3611154"/>
              <a:ext cx="9567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err="1">
                  <a:solidFill>
                    <a:srgbClr val="FF0000"/>
                  </a:solidFill>
                </a:rPr>
                <a:t>RegWrite</a:t>
              </a:r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4A6EA2-5C46-964B-8EC2-0E9BDCF97026}"/>
              </a:ext>
            </a:extLst>
          </p:cNvPr>
          <p:cNvGrpSpPr/>
          <p:nvPr/>
        </p:nvGrpSpPr>
        <p:grpSpPr>
          <a:xfrm>
            <a:off x="3578772" y="890058"/>
            <a:ext cx="7266055" cy="3067087"/>
            <a:chOff x="3578772" y="890058"/>
            <a:chExt cx="7266055" cy="306708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0DCF6A5-9C59-304D-BB3F-32ADC9195BB2}"/>
                </a:ext>
              </a:extLst>
            </p:cNvPr>
            <p:cNvSpPr/>
            <p:nvPr/>
          </p:nvSpPr>
          <p:spPr>
            <a:xfrm>
              <a:off x="3578772" y="1813717"/>
              <a:ext cx="173421" cy="21434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282EFDC-61C8-1248-9310-FAD7C6584859}"/>
                </a:ext>
              </a:extLst>
            </p:cNvPr>
            <p:cNvCxnSpPr/>
            <p:nvPr/>
          </p:nvCxnSpPr>
          <p:spPr>
            <a:xfrm flipH="1">
              <a:off x="3752193" y="1325563"/>
              <a:ext cx="772510" cy="4881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A5C223-2844-EE49-B442-0A5A7338BC40}"/>
                </a:ext>
              </a:extLst>
            </p:cNvPr>
            <p:cNvSpPr txBox="1"/>
            <p:nvPr/>
          </p:nvSpPr>
          <p:spPr>
            <a:xfrm>
              <a:off x="4511042" y="890058"/>
              <a:ext cx="6333785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sz="2400"/>
                <a:t>Control signals derived from instruction, same </a:t>
              </a:r>
              <a:r>
                <a:rPr lang="en-AU" altLang="en-US" sz="2400"/>
                <a:t>as </a:t>
              </a:r>
            </a:p>
            <a:p>
              <a:r>
                <a:rPr lang="en-AU" altLang="en-US" sz="2400"/>
                <a:t>in single-cycle implementation</a:t>
              </a:r>
            </a:p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943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919F-F514-44A6-8CEF-6789327D4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63A3-20AC-4242-9738-B518A265D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single-cycle CPU design</a:t>
            </a:r>
          </a:p>
          <a:p>
            <a:pPr lvl="1"/>
            <a:r>
              <a:rPr lang="en-US" dirty="0"/>
              <a:t>Data path vs. control path</a:t>
            </a:r>
          </a:p>
          <a:p>
            <a:pPr lvl="1"/>
            <a:r>
              <a:rPr lang="en-US" dirty="0"/>
              <a:t>Clock frequency is limited by the longest delay</a:t>
            </a:r>
          </a:p>
          <a:p>
            <a:r>
              <a:rPr lang="en-US" dirty="0"/>
              <a:t>Basic 5-stage pipelined design:</a:t>
            </a:r>
          </a:p>
          <a:p>
            <a:pPr lvl="1"/>
            <a:r>
              <a:rPr lang="en-US" dirty="0"/>
              <a:t>Main idea: Parallel processing of different stages of an instruction’s execution</a:t>
            </a:r>
          </a:p>
          <a:p>
            <a:pPr lvl="1"/>
            <a:r>
              <a:rPr lang="en-US" dirty="0"/>
              <a:t>RISC-V 5-stage pipeline (IF, ID, EXE, MEM, WB)</a:t>
            </a:r>
          </a:p>
          <a:p>
            <a:pPr lvl="1"/>
            <a:r>
              <a:rPr lang="en-US" dirty="0"/>
              <a:t>Pipeline hazards: structure, data, control</a:t>
            </a:r>
          </a:p>
        </p:txBody>
      </p:sp>
    </p:spTree>
    <p:extLst>
      <p:ext uri="{BB962C8B-B14F-4D97-AF65-F5344CB8AC3E}">
        <p14:creationId xmlns:p14="http://schemas.microsoft.com/office/powerpoint/2010/main" val="3159742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0F55FC4E86843A38ABC983CBD33D2" ma:contentTypeVersion="2" ma:contentTypeDescription="Create a new document." ma:contentTypeScope="" ma:versionID="ea51d48ed41b66d32eb63de817eecbcd">
  <xsd:schema xmlns:xsd="http://www.w3.org/2001/XMLSchema" xmlns:xs="http://www.w3.org/2001/XMLSchema" xmlns:p="http://schemas.microsoft.com/office/2006/metadata/properties" xmlns:ns3="74d6482f-e53c-4fa7-ac87-951f9f66bd4c" targetNamespace="http://schemas.microsoft.com/office/2006/metadata/properties" ma:root="true" ma:fieldsID="128b5480a780b9585a060f8329b1fff7" ns3:_="">
    <xsd:import namespace="74d6482f-e53c-4fa7-ac87-951f9f66bd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6482f-e53c-4fa7-ac87-951f9f66b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8BE67F-6A29-4F3C-980A-61925E1C42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6482f-e53c-4fa7-ac87-951f9f66bd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A49764-6831-454B-9881-BA171334BF38}">
  <ds:schemaRefs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74d6482f-e53c-4fa7-ac87-951f9f66bd4c"/>
  </ds:schemaRefs>
</ds:datastoreItem>
</file>

<file path=customXml/itemProps3.xml><?xml version="1.0" encoding="utf-8"?>
<ds:datastoreItem xmlns:ds="http://schemas.openxmlformats.org/officeDocument/2006/customXml" ds:itemID="{E0E9BADE-41FE-4D0C-857A-09C1459667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10804</TotalTime>
  <Words>1301</Words>
  <Application>Microsoft Macintosh PowerPoint</Application>
  <PresentationFormat>Widescreen</PresentationFormat>
  <Paragraphs>426</Paragraphs>
  <Slides>37</Slides>
  <Notes>32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Consolas</vt:lpstr>
      <vt:lpstr>Lucida Console</vt:lpstr>
      <vt:lpstr>Symbol</vt:lpstr>
      <vt:lpstr>Times New Roman</vt:lpstr>
      <vt:lpstr>Wingdings</vt:lpstr>
      <vt:lpstr>Office Theme</vt:lpstr>
      <vt:lpstr>Basic/Pipelined processor Implementation</vt:lpstr>
      <vt:lpstr>Today’s lesson plan</vt:lpstr>
      <vt:lpstr>Recall our basic RISC-V CPU: datapath w/ control</vt:lpstr>
      <vt:lpstr>R-Type Inst</vt:lpstr>
      <vt:lpstr>BEQ Instruction</vt:lpstr>
      <vt:lpstr>Load Inst</vt:lpstr>
      <vt:lpstr>Basic CPU must finish an instruction in one clock cycle  use a “slow” clock</vt:lpstr>
      <vt:lpstr>Our basic design is slow</vt:lpstr>
      <vt:lpstr>Pipelining: a laundry analogy</vt:lpstr>
      <vt:lpstr>RISC-V Pipeline</vt:lpstr>
      <vt:lpstr>Pipeline Performance</vt:lpstr>
      <vt:lpstr>Pipeline Speedup</vt:lpstr>
      <vt:lpstr>Pipelining and ISA Design</vt:lpstr>
      <vt:lpstr>Pipeline challenges: hazards</vt:lpstr>
      <vt:lpstr>Structure Hazards</vt:lpstr>
      <vt:lpstr>Data Hazards</vt:lpstr>
      <vt:lpstr>Data Hazards</vt:lpstr>
      <vt:lpstr>Control hazard</vt:lpstr>
      <vt:lpstr>Control hazard</vt:lpstr>
      <vt:lpstr>A basic pipelined RISC-V CPU</vt:lpstr>
      <vt:lpstr>Pipelined Datapath</vt:lpstr>
      <vt:lpstr>Pipeline registers</vt:lpstr>
      <vt:lpstr>IF for Load, Store</vt:lpstr>
      <vt:lpstr>ID for Load, Store, …</vt:lpstr>
      <vt:lpstr>EX for Load</vt:lpstr>
      <vt:lpstr>MEM for Load</vt:lpstr>
      <vt:lpstr>WB for Load</vt:lpstr>
      <vt:lpstr>Corrected Datapath for Load</vt:lpstr>
      <vt:lpstr>EX for Store</vt:lpstr>
      <vt:lpstr>MEM for Store</vt:lpstr>
      <vt:lpstr>WB for Store</vt:lpstr>
      <vt:lpstr>Single-Cycle Pipeline Diagram</vt:lpstr>
      <vt:lpstr>Multi-Cycle Pipeline Diagram</vt:lpstr>
      <vt:lpstr>Multi-Cycle Pipeline Diagram</vt:lpstr>
      <vt:lpstr>Pipelined Control (Simplified)</vt:lpstr>
      <vt:lpstr>Pipelined Control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Jinyang Li</dc:creator>
  <cp:lastModifiedBy>Jinyang Li</cp:lastModifiedBy>
  <cp:revision>5</cp:revision>
  <dcterms:created xsi:type="dcterms:W3CDTF">2021-12-02T03:24:51Z</dcterms:created>
  <dcterms:modified xsi:type="dcterms:W3CDTF">2026-04-22T17:44:54Z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0x010100F230F55FC4E86843A38ABC983CBD33D2</vt:lpwstr>
  </property>
</Properties>
</file>