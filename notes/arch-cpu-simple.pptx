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ink/ink1.xml" ContentType="application/inkml+xml"/>
  <Override PartName="/ppt/notesSlides/notesSlide1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93" r:id="rId8"/>
    <p:sldId id="283" r:id="rId9"/>
    <p:sldId id="294" r:id="rId10"/>
    <p:sldId id="307" r:id="rId11"/>
    <p:sldId id="308" r:id="rId12"/>
    <p:sldId id="262" r:id="rId13"/>
    <p:sldId id="266" r:id="rId14"/>
    <p:sldId id="267" r:id="rId15"/>
    <p:sldId id="268" r:id="rId16"/>
    <p:sldId id="263" r:id="rId17"/>
    <p:sldId id="264" r:id="rId18"/>
    <p:sldId id="290" r:id="rId19"/>
    <p:sldId id="292" r:id="rId20"/>
    <p:sldId id="297" r:id="rId21"/>
    <p:sldId id="298" r:id="rId22"/>
    <p:sldId id="299" r:id="rId23"/>
    <p:sldId id="300" r:id="rId24"/>
    <p:sldId id="302" r:id="rId25"/>
    <p:sldId id="304" r:id="rId26"/>
    <p:sldId id="305" r:id="rId27"/>
    <p:sldId id="306" r:id="rId28"/>
    <p:sldId id="303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3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1323888-8748-AB46-8E18-BEAF42E7945C}" v="7" dt="2026-04-20T16:30:51.74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252"/>
    <p:restoredTop sz="94742"/>
  </p:normalViewPr>
  <p:slideViewPr>
    <p:cSldViewPr snapToGrid="0">
      <p:cViewPr varScale="1">
        <p:scale>
          <a:sx n="165" d="100"/>
          <a:sy n="165" d="100"/>
        </p:scale>
        <p:origin x="232" y="4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microsoft.com/office/2015/10/relationships/revisionInfo" Target="revisionInfo.xml"/><Relationship Id="rId8" Type="http://schemas.openxmlformats.org/officeDocument/2006/relationships/slide" Target="slides/slide7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30T18:52:46.0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1 176,'0'0'3944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998A58-54B9-F443-9D2D-51815F7058B6}" type="datetimeFigureOut">
              <a:rPr lang="en-US" smtClean="0"/>
              <a:t>4/20/26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DBDB8D-B8BD-E340-B421-4A771A5D87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27694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>
            <a:extLst>
              <a:ext uri="{FF2B5EF4-FFF2-40B4-BE49-F238E27FC236}">
                <a16:creationId xmlns:a16="http://schemas.microsoft.com/office/drawing/2014/main" id="{17CE4DFD-9F15-B84A-9A87-0A6382A5D45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The University of Adelaide, School of Computer Science</a:t>
            </a:r>
          </a:p>
        </p:txBody>
      </p:sp>
      <p:sp>
        <p:nvSpPr>
          <p:cNvPr id="44035" name="Rectangle 3">
            <a:extLst>
              <a:ext uri="{FF2B5EF4-FFF2-40B4-BE49-F238E27FC236}">
                <a16:creationId xmlns:a16="http://schemas.microsoft.com/office/drawing/2014/main" id="{A622DD2C-E43C-4B45-89B1-DD202157AD73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64A0D56-714F-E84C-A1F8-10DAA030AF6D}" type="datetime3">
              <a:rPr lang="en-US" altLang="en-US" smtClean="0">
                <a:latin typeface="Times New Roman" panose="02020603050405020304" pitchFamily="18" charset="0"/>
              </a:rPr>
              <a:pPr/>
              <a:t>20 April 2026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4036" name="Rectangle 6">
            <a:extLst>
              <a:ext uri="{FF2B5EF4-FFF2-40B4-BE49-F238E27FC236}">
                <a16:creationId xmlns:a16="http://schemas.microsoft.com/office/drawing/2014/main" id="{3CF87B17-9707-734B-889F-BDD114A2D489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Chapter 2 — Instructions: Language of the Computer</a:t>
            </a:r>
          </a:p>
        </p:txBody>
      </p:sp>
      <p:sp>
        <p:nvSpPr>
          <p:cNvPr id="44037" name="Rectangle 7">
            <a:extLst>
              <a:ext uri="{FF2B5EF4-FFF2-40B4-BE49-F238E27FC236}">
                <a16:creationId xmlns:a16="http://schemas.microsoft.com/office/drawing/2014/main" id="{676C1F96-8F52-3646-A77A-9E2599476B9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D0EF475-1D35-2048-A0D6-079020BAD9F1}" type="slidenum">
              <a:rPr lang="en-US" altLang="en-US" smtClean="0">
                <a:latin typeface="Times New Roman" panose="02020603050405020304" pitchFamily="18" charset="0"/>
              </a:rPr>
              <a:pPr/>
              <a:t>8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4038" name="Rectangle 2">
            <a:extLst>
              <a:ext uri="{FF2B5EF4-FFF2-40B4-BE49-F238E27FC236}">
                <a16:creationId xmlns:a16="http://schemas.microsoft.com/office/drawing/2014/main" id="{BB1A3BDB-103F-C645-8D23-24DF29D3EC7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9" name="Rectangle 3">
            <a:extLst>
              <a:ext uri="{FF2B5EF4-FFF2-40B4-BE49-F238E27FC236}">
                <a16:creationId xmlns:a16="http://schemas.microsoft.com/office/drawing/2014/main" id="{73DA4D74-7AFA-E943-BA6A-F83B712DF20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1151154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78BCD71D-0CCC-2243-AF02-BD67D050C77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 sz="1300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A15D7DA2-7F91-7843-B4D6-AC9D2C343469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9A28B09-1CEE-3B45-A316-D679E8EE43F5}" type="datetime3">
              <a:rPr lang="en-AU" altLang="en-US" sz="1300" smtClean="0">
                <a:latin typeface="Times New Roman" panose="02020603050405020304" pitchFamily="18" charset="0"/>
              </a:rPr>
              <a:pPr/>
              <a:t>20 April, 2026</a:t>
            </a:fld>
            <a:endParaRPr lang="en-AU" altLang="en-US" sz="1300">
              <a:latin typeface="Times New Roman" panose="02020603050405020304" pitchFamily="18" charset="0"/>
            </a:endParaRPr>
          </a:p>
        </p:txBody>
      </p:sp>
      <p:sp>
        <p:nvSpPr>
          <p:cNvPr id="28676" name="Rectangle 6">
            <a:extLst>
              <a:ext uri="{FF2B5EF4-FFF2-40B4-BE49-F238E27FC236}">
                <a16:creationId xmlns:a16="http://schemas.microsoft.com/office/drawing/2014/main" id="{CC4F67E9-FDDB-7E4B-B194-5E207A26CA1E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 sz="1300">
                <a:latin typeface="Times New Roman" panose="02020603050405020304" pitchFamily="18" charset="0"/>
              </a:rPr>
              <a:t>Chapter 4 — The Processor</a:t>
            </a:r>
          </a:p>
        </p:txBody>
      </p:sp>
      <p:sp>
        <p:nvSpPr>
          <p:cNvPr id="28677" name="Rectangle 7">
            <a:extLst>
              <a:ext uri="{FF2B5EF4-FFF2-40B4-BE49-F238E27FC236}">
                <a16:creationId xmlns:a16="http://schemas.microsoft.com/office/drawing/2014/main" id="{489A7F3F-05C6-424F-A51C-12A9632AAC5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5DF34D3-E894-704D-8626-91E45DCA6CAC}" type="slidenum">
              <a:rPr lang="en-AU" altLang="en-US" sz="1300" smtClean="0">
                <a:latin typeface="Times New Roman" panose="02020603050405020304" pitchFamily="18" charset="0"/>
              </a:rPr>
              <a:pPr/>
              <a:t>18</a:t>
            </a:fld>
            <a:endParaRPr lang="en-AU" altLang="en-US" sz="1300">
              <a:latin typeface="Times New Roman" panose="02020603050405020304" pitchFamily="18" charset="0"/>
            </a:endParaRPr>
          </a:p>
        </p:txBody>
      </p:sp>
      <p:sp>
        <p:nvSpPr>
          <p:cNvPr id="28678" name="Rectangle 2">
            <a:extLst>
              <a:ext uri="{FF2B5EF4-FFF2-40B4-BE49-F238E27FC236}">
                <a16:creationId xmlns:a16="http://schemas.microsoft.com/office/drawing/2014/main" id="{33A8D3D5-BE0C-7F4C-8CAF-27691D5B29C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9" name="Rectangle 3">
            <a:extLst>
              <a:ext uri="{FF2B5EF4-FFF2-40B4-BE49-F238E27FC236}">
                <a16:creationId xmlns:a16="http://schemas.microsoft.com/office/drawing/2014/main" id="{4AC34330-E628-764F-B57C-C378AA2D73E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473595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280F7322-EB5D-A046-B9CE-784F1E2C6740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 sz="1300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00ACCE9A-C970-BC42-9D6F-8266B90D6C27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A53DE54-DC06-BE4A-BCF9-185A13680B6E}" type="datetime3">
              <a:rPr lang="en-AU" altLang="en-US" sz="1300" smtClean="0">
                <a:latin typeface="Times New Roman" panose="02020603050405020304" pitchFamily="18" charset="0"/>
              </a:rPr>
              <a:pPr/>
              <a:t>20 April, 2026</a:t>
            </a:fld>
            <a:endParaRPr lang="en-AU" altLang="en-US" sz="1300">
              <a:latin typeface="Times New Roman" panose="02020603050405020304" pitchFamily="18" charset="0"/>
            </a:endParaRPr>
          </a:p>
        </p:txBody>
      </p:sp>
      <p:sp>
        <p:nvSpPr>
          <p:cNvPr id="32772" name="Rectangle 6">
            <a:extLst>
              <a:ext uri="{FF2B5EF4-FFF2-40B4-BE49-F238E27FC236}">
                <a16:creationId xmlns:a16="http://schemas.microsoft.com/office/drawing/2014/main" id="{60D2DC8A-D52A-4847-AE4C-814DCFFA7070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 sz="1300">
                <a:latin typeface="Times New Roman" panose="02020603050405020304" pitchFamily="18" charset="0"/>
              </a:rPr>
              <a:t>Chapter 4 — The Processor</a:t>
            </a:r>
          </a:p>
        </p:txBody>
      </p:sp>
      <p:sp>
        <p:nvSpPr>
          <p:cNvPr id="32773" name="Rectangle 7">
            <a:extLst>
              <a:ext uri="{FF2B5EF4-FFF2-40B4-BE49-F238E27FC236}">
                <a16:creationId xmlns:a16="http://schemas.microsoft.com/office/drawing/2014/main" id="{150C8CBC-67B0-1847-A910-B950F025285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8282B50-6F0B-1D4F-8B81-C53E4B898F28}" type="slidenum">
              <a:rPr lang="en-AU" altLang="en-US" sz="1300" smtClean="0">
                <a:latin typeface="Times New Roman" panose="02020603050405020304" pitchFamily="18" charset="0"/>
              </a:rPr>
              <a:pPr/>
              <a:t>19</a:t>
            </a:fld>
            <a:endParaRPr lang="en-AU" altLang="en-US" sz="1300">
              <a:latin typeface="Times New Roman" panose="02020603050405020304" pitchFamily="18" charset="0"/>
            </a:endParaRPr>
          </a:p>
        </p:txBody>
      </p:sp>
      <p:sp>
        <p:nvSpPr>
          <p:cNvPr id="32774" name="Rectangle 2">
            <a:extLst>
              <a:ext uri="{FF2B5EF4-FFF2-40B4-BE49-F238E27FC236}">
                <a16:creationId xmlns:a16="http://schemas.microsoft.com/office/drawing/2014/main" id="{C5F9C694-9FA0-B64F-85D6-9825C96C428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5" name="Rectangle 3">
            <a:extLst>
              <a:ext uri="{FF2B5EF4-FFF2-40B4-BE49-F238E27FC236}">
                <a16:creationId xmlns:a16="http://schemas.microsoft.com/office/drawing/2014/main" id="{8139F0C5-8DBC-9148-A48A-86E0DCFE6B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215343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>
            <a:extLst>
              <a:ext uri="{FF2B5EF4-FFF2-40B4-BE49-F238E27FC236}">
                <a16:creationId xmlns:a16="http://schemas.microsoft.com/office/drawing/2014/main" id="{45D21E13-36BC-C64F-86E6-B7446C11109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 sz="1300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8EDB9F22-6743-7F42-848E-3E44556B4093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8326A03-3737-DB4B-B207-702F39B2967C}" type="datetime3">
              <a:rPr lang="en-AU" altLang="en-US" sz="1300" smtClean="0">
                <a:latin typeface="Times New Roman" panose="02020603050405020304" pitchFamily="18" charset="0"/>
              </a:rPr>
              <a:pPr/>
              <a:t>20 April, 2026</a:t>
            </a:fld>
            <a:endParaRPr lang="en-AU" altLang="en-US" sz="1300">
              <a:latin typeface="Times New Roman" panose="02020603050405020304" pitchFamily="18" charset="0"/>
            </a:endParaRPr>
          </a:p>
        </p:txBody>
      </p:sp>
      <p:sp>
        <p:nvSpPr>
          <p:cNvPr id="43012" name="Rectangle 6">
            <a:extLst>
              <a:ext uri="{FF2B5EF4-FFF2-40B4-BE49-F238E27FC236}">
                <a16:creationId xmlns:a16="http://schemas.microsoft.com/office/drawing/2014/main" id="{4102F25E-2DA2-AF4B-9402-1D8C9487A760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 sz="1300">
                <a:latin typeface="Times New Roman" panose="02020603050405020304" pitchFamily="18" charset="0"/>
              </a:rPr>
              <a:t>Chapter 4 — The Processor</a:t>
            </a:r>
          </a:p>
        </p:txBody>
      </p:sp>
      <p:sp>
        <p:nvSpPr>
          <p:cNvPr id="43013" name="Rectangle 7">
            <a:extLst>
              <a:ext uri="{FF2B5EF4-FFF2-40B4-BE49-F238E27FC236}">
                <a16:creationId xmlns:a16="http://schemas.microsoft.com/office/drawing/2014/main" id="{BF954B43-B6FB-5B4F-9810-6F009DE514B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D1FE3D0-0CC3-A249-9D87-50D3AFC1BEB1}" type="slidenum">
              <a:rPr lang="en-AU" altLang="en-US" sz="1300" smtClean="0">
                <a:latin typeface="Times New Roman" panose="02020603050405020304" pitchFamily="18" charset="0"/>
              </a:rPr>
              <a:pPr/>
              <a:t>20</a:t>
            </a:fld>
            <a:endParaRPr lang="en-AU" altLang="en-US" sz="1300">
              <a:latin typeface="Times New Roman" panose="02020603050405020304" pitchFamily="18" charset="0"/>
            </a:endParaRPr>
          </a:p>
        </p:txBody>
      </p:sp>
      <p:sp>
        <p:nvSpPr>
          <p:cNvPr id="43014" name="Rectangle 2">
            <a:extLst>
              <a:ext uri="{FF2B5EF4-FFF2-40B4-BE49-F238E27FC236}">
                <a16:creationId xmlns:a16="http://schemas.microsoft.com/office/drawing/2014/main" id="{10B2E4D3-B6FE-FE42-B3A1-9CA94D2B49C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5" name="Rectangle 3">
            <a:extLst>
              <a:ext uri="{FF2B5EF4-FFF2-40B4-BE49-F238E27FC236}">
                <a16:creationId xmlns:a16="http://schemas.microsoft.com/office/drawing/2014/main" id="{C1BA6ACE-429D-6045-B925-8381F94AC3F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899652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>
            <a:extLst>
              <a:ext uri="{FF2B5EF4-FFF2-40B4-BE49-F238E27FC236}">
                <a16:creationId xmlns:a16="http://schemas.microsoft.com/office/drawing/2014/main" id="{175BFF54-602F-C94A-9830-FA1BFB681B8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 sz="1300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45059" name="Rectangle 3">
            <a:extLst>
              <a:ext uri="{FF2B5EF4-FFF2-40B4-BE49-F238E27FC236}">
                <a16:creationId xmlns:a16="http://schemas.microsoft.com/office/drawing/2014/main" id="{9079D782-B876-FA4D-B0CB-E6C9C6FA11DF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BD6F2F8-D5C3-044A-BCBE-6C3D071F4530}" type="datetime3">
              <a:rPr lang="en-AU" altLang="en-US" sz="1300" smtClean="0">
                <a:latin typeface="Times New Roman" panose="02020603050405020304" pitchFamily="18" charset="0"/>
              </a:rPr>
              <a:pPr/>
              <a:t>20 April, 2026</a:t>
            </a:fld>
            <a:endParaRPr lang="en-AU" altLang="en-US" sz="1300">
              <a:latin typeface="Times New Roman" panose="02020603050405020304" pitchFamily="18" charset="0"/>
            </a:endParaRPr>
          </a:p>
        </p:txBody>
      </p:sp>
      <p:sp>
        <p:nvSpPr>
          <p:cNvPr id="45060" name="Rectangle 6">
            <a:extLst>
              <a:ext uri="{FF2B5EF4-FFF2-40B4-BE49-F238E27FC236}">
                <a16:creationId xmlns:a16="http://schemas.microsoft.com/office/drawing/2014/main" id="{617547D6-5BBF-C549-ABC0-A10D2790D86A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 sz="1300">
                <a:latin typeface="Times New Roman" panose="02020603050405020304" pitchFamily="18" charset="0"/>
              </a:rPr>
              <a:t>Chapter 4 — The Processor</a:t>
            </a:r>
          </a:p>
        </p:txBody>
      </p:sp>
      <p:sp>
        <p:nvSpPr>
          <p:cNvPr id="45061" name="Rectangle 7">
            <a:extLst>
              <a:ext uri="{FF2B5EF4-FFF2-40B4-BE49-F238E27FC236}">
                <a16:creationId xmlns:a16="http://schemas.microsoft.com/office/drawing/2014/main" id="{6095E8AA-2031-5140-95D0-6B9FD51B587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712B971-BA35-2E4B-B42F-AF7221BAEDC2}" type="slidenum">
              <a:rPr lang="en-AU" altLang="en-US" sz="1300" smtClean="0">
                <a:latin typeface="Times New Roman" panose="02020603050405020304" pitchFamily="18" charset="0"/>
              </a:rPr>
              <a:pPr/>
              <a:t>21</a:t>
            </a:fld>
            <a:endParaRPr lang="en-AU" altLang="en-US" sz="1300">
              <a:latin typeface="Times New Roman" panose="02020603050405020304" pitchFamily="18" charset="0"/>
            </a:endParaRPr>
          </a:p>
        </p:txBody>
      </p:sp>
      <p:sp>
        <p:nvSpPr>
          <p:cNvPr id="45062" name="Rectangle 2">
            <a:extLst>
              <a:ext uri="{FF2B5EF4-FFF2-40B4-BE49-F238E27FC236}">
                <a16:creationId xmlns:a16="http://schemas.microsoft.com/office/drawing/2014/main" id="{190D2575-DA64-BD46-9657-9EB50F52271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63" name="Rectangle 3">
            <a:extLst>
              <a:ext uri="{FF2B5EF4-FFF2-40B4-BE49-F238E27FC236}">
                <a16:creationId xmlns:a16="http://schemas.microsoft.com/office/drawing/2014/main" id="{C8179412-4584-6341-A321-4EB6FA22D1B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620123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>
            <a:extLst>
              <a:ext uri="{FF2B5EF4-FFF2-40B4-BE49-F238E27FC236}">
                <a16:creationId xmlns:a16="http://schemas.microsoft.com/office/drawing/2014/main" id="{7788F914-5618-1443-A33C-352419181996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 sz="1300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47107" name="Rectangle 3">
            <a:extLst>
              <a:ext uri="{FF2B5EF4-FFF2-40B4-BE49-F238E27FC236}">
                <a16:creationId xmlns:a16="http://schemas.microsoft.com/office/drawing/2014/main" id="{ECA5638E-8C60-884B-ACEB-D6CCE70A0134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B8221C8-44DA-5D4E-8B8B-390D389E7FD2}" type="datetime3">
              <a:rPr lang="en-AU" altLang="en-US" sz="1300" smtClean="0">
                <a:latin typeface="Times New Roman" panose="02020603050405020304" pitchFamily="18" charset="0"/>
              </a:rPr>
              <a:pPr/>
              <a:t>20 April, 2026</a:t>
            </a:fld>
            <a:endParaRPr lang="en-AU" altLang="en-US" sz="1300">
              <a:latin typeface="Times New Roman" panose="02020603050405020304" pitchFamily="18" charset="0"/>
            </a:endParaRPr>
          </a:p>
        </p:txBody>
      </p:sp>
      <p:sp>
        <p:nvSpPr>
          <p:cNvPr id="47108" name="Rectangle 6">
            <a:extLst>
              <a:ext uri="{FF2B5EF4-FFF2-40B4-BE49-F238E27FC236}">
                <a16:creationId xmlns:a16="http://schemas.microsoft.com/office/drawing/2014/main" id="{65F8CDA9-9B7E-8D47-8F54-A1C29DA9C8A1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 sz="1300">
                <a:latin typeface="Times New Roman" panose="02020603050405020304" pitchFamily="18" charset="0"/>
              </a:rPr>
              <a:t>Chapter 4 — The Processor</a:t>
            </a:r>
          </a:p>
        </p:txBody>
      </p:sp>
      <p:sp>
        <p:nvSpPr>
          <p:cNvPr id="47109" name="Rectangle 7">
            <a:extLst>
              <a:ext uri="{FF2B5EF4-FFF2-40B4-BE49-F238E27FC236}">
                <a16:creationId xmlns:a16="http://schemas.microsoft.com/office/drawing/2014/main" id="{EA03C6E9-9229-5C4D-A366-DC6F1DACF07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B88630D-8524-2145-84C5-B2DA7509C939}" type="slidenum">
              <a:rPr lang="en-AU" altLang="en-US" sz="1300" smtClean="0">
                <a:latin typeface="Times New Roman" panose="02020603050405020304" pitchFamily="18" charset="0"/>
              </a:rPr>
              <a:pPr/>
              <a:t>22</a:t>
            </a:fld>
            <a:endParaRPr lang="en-AU" altLang="en-US" sz="1300">
              <a:latin typeface="Times New Roman" panose="02020603050405020304" pitchFamily="18" charset="0"/>
            </a:endParaRPr>
          </a:p>
        </p:txBody>
      </p:sp>
      <p:sp>
        <p:nvSpPr>
          <p:cNvPr id="47110" name="Rectangle 2">
            <a:extLst>
              <a:ext uri="{FF2B5EF4-FFF2-40B4-BE49-F238E27FC236}">
                <a16:creationId xmlns:a16="http://schemas.microsoft.com/office/drawing/2014/main" id="{D4F90C09-EEFB-034F-A50D-36FD0E2DADD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11" name="Rectangle 3">
            <a:extLst>
              <a:ext uri="{FF2B5EF4-FFF2-40B4-BE49-F238E27FC236}">
                <a16:creationId xmlns:a16="http://schemas.microsoft.com/office/drawing/2014/main" id="{8E623AAD-AB54-184A-BAF0-8673CB88E73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013914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>
            <a:extLst>
              <a:ext uri="{FF2B5EF4-FFF2-40B4-BE49-F238E27FC236}">
                <a16:creationId xmlns:a16="http://schemas.microsoft.com/office/drawing/2014/main" id="{B1427023-12FB-674D-A23C-9AFFB8AFC6E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 sz="1300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49155" name="Rectangle 3">
            <a:extLst>
              <a:ext uri="{FF2B5EF4-FFF2-40B4-BE49-F238E27FC236}">
                <a16:creationId xmlns:a16="http://schemas.microsoft.com/office/drawing/2014/main" id="{D7ABB56F-033A-1E42-A7E7-97963C00DAE6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2977F0D-D11B-7646-AB9D-DA3B56190BF4}" type="datetime3">
              <a:rPr lang="en-AU" altLang="en-US" sz="1300" smtClean="0">
                <a:latin typeface="Times New Roman" panose="02020603050405020304" pitchFamily="18" charset="0"/>
              </a:rPr>
              <a:pPr/>
              <a:t>20 April, 2026</a:t>
            </a:fld>
            <a:endParaRPr lang="en-AU" altLang="en-US" sz="1300">
              <a:latin typeface="Times New Roman" panose="02020603050405020304" pitchFamily="18" charset="0"/>
            </a:endParaRPr>
          </a:p>
        </p:txBody>
      </p:sp>
      <p:sp>
        <p:nvSpPr>
          <p:cNvPr id="49156" name="Rectangle 6">
            <a:extLst>
              <a:ext uri="{FF2B5EF4-FFF2-40B4-BE49-F238E27FC236}">
                <a16:creationId xmlns:a16="http://schemas.microsoft.com/office/drawing/2014/main" id="{0858E1CB-BC22-B640-B340-549F2C60E2A9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 sz="1300">
                <a:latin typeface="Times New Roman" panose="02020603050405020304" pitchFamily="18" charset="0"/>
              </a:rPr>
              <a:t>Chapter 4 — The Processor</a:t>
            </a:r>
          </a:p>
        </p:txBody>
      </p:sp>
      <p:sp>
        <p:nvSpPr>
          <p:cNvPr id="49157" name="Rectangle 7">
            <a:extLst>
              <a:ext uri="{FF2B5EF4-FFF2-40B4-BE49-F238E27FC236}">
                <a16:creationId xmlns:a16="http://schemas.microsoft.com/office/drawing/2014/main" id="{EE696BD0-5421-484E-B5F4-A7D7E5F2C1C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4F69AFB-8918-4343-AEF2-B4F4F0675640}" type="slidenum">
              <a:rPr lang="en-AU" altLang="en-US" sz="1300" smtClean="0">
                <a:latin typeface="Times New Roman" panose="02020603050405020304" pitchFamily="18" charset="0"/>
              </a:rPr>
              <a:pPr/>
              <a:t>23</a:t>
            </a:fld>
            <a:endParaRPr lang="en-AU" altLang="en-US" sz="1300">
              <a:latin typeface="Times New Roman" panose="02020603050405020304" pitchFamily="18" charset="0"/>
            </a:endParaRPr>
          </a:p>
        </p:txBody>
      </p:sp>
      <p:sp>
        <p:nvSpPr>
          <p:cNvPr id="49158" name="Rectangle 2">
            <a:extLst>
              <a:ext uri="{FF2B5EF4-FFF2-40B4-BE49-F238E27FC236}">
                <a16:creationId xmlns:a16="http://schemas.microsoft.com/office/drawing/2014/main" id="{800E5383-E5B8-4949-9CE1-A121D1D2B6D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9" name="Rectangle 3">
            <a:extLst>
              <a:ext uri="{FF2B5EF4-FFF2-40B4-BE49-F238E27FC236}">
                <a16:creationId xmlns:a16="http://schemas.microsoft.com/office/drawing/2014/main" id="{238CD5E8-5D6D-594D-841E-1E4CAC3215B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0620597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>
            <a:extLst>
              <a:ext uri="{FF2B5EF4-FFF2-40B4-BE49-F238E27FC236}">
                <a16:creationId xmlns:a16="http://schemas.microsoft.com/office/drawing/2014/main" id="{587E265B-5CE7-3044-8286-A3BB9834129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 sz="1300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53251" name="Rectangle 3">
            <a:extLst>
              <a:ext uri="{FF2B5EF4-FFF2-40B4-BE49-F238E27FC236}">
                <a16:creationId xmlns:a16="http://schemas.microsoft.com/office/drawing/2014/main" id="{66851496-4AA6-0D43-B9A6-3CC3AE35BC9F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0DDA162-796D-E747-9ECF-2B59DD1869A1}" type="datetime3">
              <a:rPr lang="en-AU" altLang="en-US" sz="1300" smtClean="0">
                <a:latin typeface="Times New Roman" panose="02020603050405020304" pitchFamily="18" charset="0"/>
              </a:rPr>
              <a:pPr/>
              <a:t>20 April, 2026</a:t>
            </a:fld>
            <a:endParaRPr lang="en-AU" altLang="en-US" sz="1300">
              <a:latin typeface="Times New Roman" panose="02020603050405020304" pitchFamily="18" charset="0"/>
            </a:endParaRPr>
          </a:p>
        </p:txBody>
      </p:sp>
      <p:sp>
        <p:nvSpPr>
          <p:cNvPr id="53252" name="Rectangle 6">
            <a:extLst>
              <a:ext uri="{FF2B5EF4-FFF2-40B4-BE49-F238E27FC236}">
                <a16:creationId xmlns:a16="http://schemas.microsoft.com/office/drawing/2014/main" id="{76B01002-7B9B-3D47-9585-054784C37DF0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 sz="1300">
                <a:latin typeface="Times New Roman" panose="02020603050405020304" pitchFamily="18" charset="0"/>
              </a:rPr>
              <a:t>Chapter 4 — The Processor</a:t>
            </a:r>
          </a:p>
        </p:txBody>
      </p:sp>
      <p:sp>
        <p:nvSpPr>
          <p:cNvPr id="53253" name="Rectangle 7">
            <a:extLst>
              <a:ext uri="{FF2B5EF4-FFF2-40B4-BE49-F238E27FC236}">
                <a16:creationId xmlns:a16="http://schemas.microsoft.com/office/drawing/2014/main" id="{AB7E3219-2F8C-5D4B-BC9A-BFBFB6F4FBF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D5381FE-F583-7B4B-B65A-FC22DD837466}" type="slidenum">
              <a:rPr lang="en-AU" altLang="en-US" sz="1300" smtClean="0">
                <a:latin typeface="Times New Roman" panose="02020603050405020304" pitchFamily="18" charset="0"/>
              </a:rPr>
              <a:pPr/>
              <a:t>24</a:t>
            </a:fld>
            <a:endParaRPr lang="en-AU" altLang="en-US" sz="1300">
              <a:latin typeface="Times New Roman" panose="02020603050405020304" pitchFamily="18" charset="0"/>
            </a:endParaRPr>
          </a:p>
        </p:txBody>
      </p:sp>
      <p:sp>
        <p:nvSpPr>
          <p:cNvPr id="53254" name="Rectangle 2">
            <a:extLst>
              <a:ext uri="{FF2B5EF4-FFF2-40B4-BE49-F238E27FC236}">
                <a16:creationId xmlns:a16="http://schemas.microsoft.com/office/drawing/2014/main" id="{4C29F957-5CE8-5C40-B34D-EF17EB94A5F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5" name="Rectangle 3">
            <a:extLst>
              <a:ext uri="{FF2B5EF4-FFF2-40B4-BE49-F238E27FC236}">
                <a16:creationId xmlns:a16="http://schemas.microsoft.com/office/drawing/2014/main" id="{A0B92A30-45C4-524E-89D6-A64AAC9E3AA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758530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>
            <a:extLst>
              <a:ext uri="{FF2B5EF4-FFF2-40B4-BE49-F238E27FC236}">
                <a16:creationId xmlns:a16="http://schemas.microsoft.com/office/drawing/2014/main" id="{AE0222B8-D1DE-6048-AAAD-42A27F18101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 sz="1300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55299" name="Rectangle 3">
            <a:extLst>
              <a:ext uri="{FF2B5EF4-FFF2-40B4-BE49-F238E27FC236}">
                <a16:creationId xmlns:a16="http://schemas.microsoft.com/office/drawing/2014/main" id="{9D8C8163-972F-0144-8521-8694437C6FC9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38E8C84-A879-1E44-9062-337A5E18E115}" type="datetime3">
              <a:rPr lang="en-AU" altLang="en-US" sz="1300" smtClean="0">
                <a:latin typeface="Times New Roman" panose="02020603050405020304" pitchFamily="18" charset="0"/>
              </a:rPr>
              <a:pPr/>
              <a:t>20 April, 2026</a:t>
            </a:fld>
            <a:endParaRPr lang="en-AU" altLang="en-US" sz="1300">
              <a:latin typeface="Times New Roman" panose="02020603050405020304" pitchFamily="18" charset="0"/>
            </a:endParaRPr>
          </a:p>
        </p:txBody>
      </p:sp>
      <p:sp>
        <p:nvSpPr>
          <p:cNvPr id="55300" name="Rectangle 6">
            <a:extLst>
              <a:ext uri="{FF2B5EF4-FFF2-40B4-BE49-F238E27FC236}">
                <a16:creationId xmlns:a16="http://schemas.microsoft.com/office/drawing/2014/main" id="{3432BACC-D12E-0B48-9A64-BA2DE89BCA0D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 sz="1300">
                <a:latin typeface="Times New Roman" panose="02020603050405020304" pitchFamily="18" charset="0"/>
              </a:rPr>
              <a:t>Chapter 4 — The Processor</a:t>
            </a:r>
          </a:p>
        </p:txBody>
      </p:sp>
      <p:sp>
        <p:nvSpPr>
          <p:cNvPr id="55301" name="Rectangle 7">
            <a:extLst>
              <a:ext uri="{FF2B5EF4-FFF2-40B4-BE49-F238E27FC236}">
                <a16:creationId xmlns:a16="http://schemas.microsoft.com/office/drawing/2014/main" id="{6545B246-5783-E745-80B4-642984FA33E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2B0A3BB-BFD5-CD47-953B-1070D1B11F6A}" type="slidenum">
              <a:rPr lang="en-AU" altLang="en-US" sz="1300" smtClean="0">
                <a:latin typeface="Times New Roman" panose="02020603050405020304" pitchFamily="18" charset="0"/>
              </a:rPr>
              <a:pPr/>
              <a:t>25</a:t>
            </a:fld>
            <a:endParaRPr lang="en-AU" altLang="en-US" sz="1300">
              <a:latin typeface="Times New Roman" panose="02020603050405020304" pitchFamily="18" charset="0"/>
            </a:endParaRPr>
          </a:p>
        </p:txBody>
      </p:sp>
      <p:sp>
        <p:nvSpPr>
          <p:cNvPr id="55302" name="Rectangle 2">
            <a:extLst>
              <a:ext uri="{FF2B5EF4-FFF2-40B4-BE49-F238E27FC236}">
                <a16:creationId xmlns:a16="http://schemas.microsoft.com/office/drawing/2014/main" id="{B4D64B7B-8CF8-6A4C-AE2A-B9B88223022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303" name="Rectangle 3">
            <a:extLst>
              <a:ext uri="{FF2B5EF4-FFF2-40B4-BE49-F238E27FC236}">
                <a16:creationId xmlns:a16="http://schemas.microsoft.com/office/drawing/2014/main" id="{60AC666E-1288-8C4F-8E5B-873F99D3EC4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1849859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>
            <a:extLst>
              <a:ext uri="{FF2B5EF4-FFF2-40B4-BE49-F238E27FC236}">
                <a16:creationId xmlns:a16="http://schemas.microsoft.com/office/drawing/2014/main" id="{6DDA46F2-7C5E-9D4A-B0B5-F8DF7AAD856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 sz="1300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57347" name="Rectangle 3">
            <a:extLst>
              <a:ext uri="{FF2B5EF4-FFF2-40B4-BE49-F238E27FC236}">
                <a16:creationId xmlns:a16="http://schemas.microsoft.com/office/drawing/2014/main" id="{7161AB79-D4ED-AF43-8E6E-457B7AE9D37E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D16FC5B-18E4-9C4D-A478-F74F33C19E0C}" type="datetime3">
              <a:rPr lang="en-AU" altLang="en-US" sz="1300" smtClean="0">
                <a:latin typeface="Times New Roman" panose="02020603050405020304" pitchFamily="18" charset="0"/>
              </a:rPr>
              <a:pPr/>
              <a:t>20 April, 2026</a:t>
            </a:fld>
            <a:endParaRPr lang="en-AU" altLang="en-US" sz="1300">
              <a:latin typeface="Times New Roman" panose="02020603050405020304" pitchFamily="18" charset="0"/>
            </a:endParaRPr>
          </a:p>
        </p:txBody>
      </p:sp>
      <p:sp>
        <p:nvSpPr>
          <p:cNvPr id="57348" name="Rectangle 6">
            <a:extLst>
              <a:ext uri="{FF2B5EF4-FFF2-40B4-BE49-F238E27FC236}">
                <a16:creationId xmlns:a16="http://schemas.microsoft.com/office/drawing/2014/main" id="{C83B5906-1ED3-F54E-90DC-B31DFABB70F0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 sz="1300">
                <a:latin typeface="Times New Roman" panose="02020603050405020304" pitchFamily="18" charset="0"/>
              </a:rPr>
              <a:t>Chapter 4 — The Processor</a:t>
            </a:r>
          </a:p>
        </p:txBody>
      </p:sp>
      <p:sp>
        <p:nvSpPr>
          <p:cNvPr id="57349" name="Rectangle 7">
            <a:extLst>
              <a:ext uri="{FF2B5EF4-FFF2-40B4-BE49-F238E27FC236}">
                <a16:creationId xmlns:a16="http://schemas.microsoft.com/office/drawing/2014/main" id="{5AFD8B15-057B-004E-B3AB-D8236989A86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696C98E-A667-FE4F-A051-C11535DE9A60}" type="slidenum">
              <a:rPr lang="en-AU" altLang="en-US" sz="1300" smtClean="0">
                <a:latin typeface="Times New Roman" panose="02020603050405020304" pitchFamily="18" charset="0"/>
              </a:rPr>
              <a:pPr/>
              <a:t>26</a:t>
            </a:fld>
            <a:endParaRPr lang="en-AU" altLang="en-US" sz="1300">
              <a:latin typeface="Times New Roman" panose="02020603050405020304" pitchFamily="18" charset="0"/>
            </a:endParaRPr>
          </a:p>
        </p:txBody>
      </p:sp>
      <p:sp>
        <p:nvSpPr>
          <p:cNvPr id="57350" name="Rectangle 2">
            <a:extLst>
              <a:ext uri="{FF2B5EF4-FFF2-40B4-BE49-F238E27FC236}">
                <a16:creationId xmlns:a16="http://schemas.microsoft.com/office/drawing/2014/main" id="{F3DCB10B-1A47-7A47-BBC9-3F67157FD27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51" name="Rectangle 3">
            <a:extLst>
              <a:ext uri="{FF2B5EF4-FFF2-40B4-BE49-F238E27FC236}">
                <a16:creationId xmlns:a16="http://schemas.microsoft.com/office/drawing/2014/main" id="{888DD7F6-9881-4048-BE5E-720E2F8EEBA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0214607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>
            <a:extLst>
              <a:ext uri="{FF2B5EF4-FFF2-40B4-BE49-F238E27FC236}">
                <a16:creationId xmlns:a16="http://schemas.microsoft.com/office/drawing/2014/main" id="{2EB9CAFA-9A08-824C-9D90-13526244FCFF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 sz="1300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59395" name="Rectangle 3">
            <a:extLst>
              <a:ext uri="{FF2B5EF4-FFF2-40B4-BE49-F238E27FC236}">
                <a16:creationId xmlns:a16="http://schemas.microsoft.com/office/drawing/2014/main" id="{624D2236-8EC3-B54B-94A5-24B1921BABB0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2D01A8E-B29B-2B4F-948C-07D32443F597}" type="datetime3">
              <a:rPr lang="en-AU" altLang="en-US" sz="1300" smtClean="0">
                <a:latin typeface="Times New Roman" panose="02020603050405020304" pitchFamily="18" charset="0"/>
              </a:rPr>
              <a:pPr/>
              <a:t>20 April, 2026</a:t>
            </a:fld>
            <a:endParaRPr lang="en-AU" altLang="en-US" sz="1300">
              <a:latin typeface="Times New Roman" panose="02020603050405020304" pitchFamily="18" charset="0"/>
            </a:endParaRPr>
          </a:p>
        </p:txBody>
      </p:sp>
      <p:sp>
        <p:nvSpPr>
          <p:cNvPr id="59396" name="Rectangle 6">
            <a:extLst>
              <a:ext uri="{FF2B5EF4-FFF2-40B4-BE49-F238E27FC236}">
                <a16:creationId xmlns:a16="http://schemas.microsoft.com/office/drawing/2014/main" id="{05C594FD-B9B6-0F4D-B1A7-862804E97DFF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 sz="1300">
                <a:latin typeface="Times New Roman" panose="02020603050405020304" pitchFamily="18" charset="0"/>
              </a:rPr>
              <a:t>Chapter 4 — The Processor</a:t>
            </a:r>
          </a:p>
        </p:txBody>
      </p:sp>
      <p:sp>
        <p:nvSpPr>
          <p:cNvPr id="59397" name="Rectangle 7">
            <a:extLst>
              <a:ext uri="{FF2B5EF4-FFF2-40B4-BE49-F238E27FC236}">
                <a16:creationId xmlns:a16="http://schemas.microsoft.com/office/drawing/2014/main" id="{DE21B014-3C94-1847-8E10-6B6D861DB9E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016F307-AE13-2943-B591-CC0FE0FD2279}" type="slidenum">
              <a:rPr lang="en-AU" altLang="en-US" sz="1300" smtClean="0">
                <a:latin typeface="Times New Roman" panose="02020603050405020304" pitchFamily="18" charset="0"/>
              </a:rPr>
              <a:pPr/>
              <a:t>27</a:t>
            </a:fld>
            <a:endParaRPr lang="en-AU" altLang="en-US" sz="1300">
              <a:latin typeface="Times New Roman" panose="02020603050405020304" pitchFamily="18" charset="0"/>
            </a:endParaRPr>
          </a:p>
        </p:txBody>
      </p:sp>
      <p:sp>
        <p:nvSpPr>
          <p:cNvPr id="59398" name="Rectangle 2">
            <a:extLst>
              <a:ext uri="{FF2B5EF4-FFF2-40B4-BE49-F238E27FC236}">
                <a16:creationId xmlns:a16="http://schemas.microsoft.com/office/drawing/2014/main" id="{043E596A-9D18-9E4F-B7F1-6BEB966F6B3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9" name="Rectangle 3">
            <a:extLst>
              <a:ext uri="{FF2B5EF4-FFF2-40B4-BE49-F238E27FC236}">
                <a16:creationId xmlns:a16="http://schemas.microsoft.com/office/drawing/2014/main" id="{8349AE9D-2549-C140-9C3C-2CD11C8E0E4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3359589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>
            <a:extLst>
              <a:ext uri="{FF2B5EF4-FFF2-40B4-BE49-F238E27FC236}">
                <a16:creationId xmlns:a16="http://schemas.microsoft.com/office/drawing/2014/main" id="{8BC1AC80-DD6B-554C-A8A6-25A21E18FA8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 sz="1300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61443" name="Rectangle 3">
            <a:extLst>
              <a:ext uri="{FF2B5EF4-FFF2-40B4-BE49-F238E27FC236}">
                <a16:creationId xmlns:a16="http://schemas.microsoft.com/office/drawing/2014/main" id="{D5A07776-E6AF-B24F-B96F-8A0A8CDC673B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6A8F4D7-DA4F-C544-A15A-B3DB27C707BD}" type="datetime3">
              <a:rPr lang="en-AU" altLang="en-US" sz="1300" smtClean="0">
                <a:latin typeface="Times New Roman" panose="02020603050405020304" pitchFamily="18" charset="0"/>
              </a:rPr>
              <a:pPr/>
              <a:t>20 April, 2026</a:t>
            </a:fld>
            <a:endParaRPr lang="en-AU" altLang="en-US" sz="1300">
              <a:latin typeface="Times New Roman" panose="02020603050405020304" pitchFamily="18" charset="0"/>
            </a:endParaRPr>
          </a:p>
        </p:txBody>
      </p:sp>
      <p:sp>
        <p:nvSpPr>
          <p:cNvPr id="61444" name="Rectangle 6">
            <a:extLst>
              <a:ext uri="{FF2B5EF4-FFF2-40B4-BE49-F238E27FC236}">
                <a16:creationId xmlns:a16="http://schemas.microsoft.com/office/drawing/2014/main" id="{8515D2C0-0491-C54F-9A36-CB62F9599B57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 sz="1300">
                <a:latin typeface="Times New Roman" panose="02020603050405020304" pitchFamily="18" charset="0"/>
              </a:rPr>
              <a:t>Chapter 4 — The Processor</a:t>
            </a:r>
          </a:p>
        </p:txBody>
      </p:sp>
      <p:sp>
        <p:nvSpPr>
          <p:cNvPr id="61445" name="Rectangle 7">
            <a:extLst>
              <a:ext uri="{FF2B5EF4-FFF2-40B4-BE49-F238E27FC236}">
                <a16:creationId xmlns:a16="http://schemas.microsoft.com/office/drawing/2014/main" id="{C77448E2-6A2C-6B42-82F9-6B2700E5E36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11154DD-64AB-FE44-9FB7-8F97553315BC}" type="slidenum">
              <a:rPr lang="en-AU" altLang="en-US" sz="1300" smtClean="0">
                <a:latin typeface="Times New Roman" panose="02020603050405020304" pitchFamily="18" charset="0"/>
              </a:rPr>
              <a:pPr/>
              <a:t>28</a:t>
            </a:fld>
            <a:endParaRPr lang="en-AU" altLang="en-US" sz="1300">
              <a:latin typeface="Times New Roman" panose="02020603050405020304" pitchFamily="18" charset="0"/>
            </a:endParaRPr>
          </a:p>
        </p:txBody>
      </p:sp>
      <p:sp>
        <p:nvSpPr>
          <p:cNvPr id="61446" name="Rectangle 2">
            <a:extLst>
              <a:ext uri="{FF2B5EF4-FFF2-40B4-BE49-F238E27FC236}">
                <a16:creationId xmlns:a16="http://schemas.microsoft.com/office/drawing/2014/main" id="{57F87540-8CCC-4E48-B27C-E6B42977230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7" name="Rectangle 3">
            <a:extLst>
              <a:ext uri="{FF2B5EF4-FFF2-40B4-BE49-F238E27FC236}">
                <a16:creationId xmlns:a16="http://schemas.microsoft.com/office/drawing/2014/main" id="{51DBA10E-0EF0-9B47-A6D5-03E5FA9CCE9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353429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5547F4-3993-5141-A789-3A3DE6A6E2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5400">
                <a:solidFill>
                  <a:srgbClr val="0432FF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3E954C-56AD-214C-BEC7-ECB79F5C72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3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7DF760-0CCF-0543-91C7-FCCBC9DCD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D933B-8463-8C44-B27B-D6844853F110}" type="datetimeFigureOut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C12AF7-C7FD-3845-91B6-B31107CADD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B76D50-EBDD-C94B-AA74-98BD32E2D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44F84-6641-0A46-9799-B72C7E8EC4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0964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5EDBE0-A834-7645-A929-56F5F7FB8E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FC978F-EB04-D84F-888A-25593B05D1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E474FA-C0B4-8447-91EE-2D680EBCF0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D933B-8463-8C44-B27B-D6844853F110}" type="datetimeFigureOut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9CBC7D-1256-324D-A9ED-3604A054ED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1C11AE-D39C-6143-81A2-B10543E064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44F84-6641-0A46-9799-B72C7E8EC4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45906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EB231E-9F31-E145-B11D-56B74DA717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DCAD9F-3E66-6341-9B77-AA6A7E817C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E8F6ED-2D59-8B47-A197-784DB7A367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D933B-8463-8C44-B27B-D6844853F110}" type="datetimeFigureOut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C40D7A-4138-3048-B733-9112323166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DD7509-962A-9643-8DE7-D3CFB3DEB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44F84-6641-0A46-9799-B72C7E8EC4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77402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B3494F-7E81-B147-9AEC-1AED2985E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0238F0-8C13-5B4B-B395-AD391455A5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F259CA-886A-6644-93AE-84328CF20E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A1ED55-33C6-6F48-A287-E062D649C6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D933B-8463-8C44-B27B-D6844853F110}" type="datetimeFigureOut">
              <a:rPr lang="en-US" smtClean="0"/>
              <a:t>4/20/26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233978-F4B8-874F-9311-B07D554484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388D24-6AB9-6440-A436-50EFFD1B00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44F84-6641-0A46-9799-B72C7E8EC4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10236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D6EB17-9C8B-B347-87ED-3EBF5A58C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05CC7C-5F32-EF4A-B014-E7A37478FE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DC31B8-2648-8945-A76C-E9D667194B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E3A7A37-2AC7-BA4A-8ABE-11A4A455AC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D8BBD2A-12DD-AD47-998E-FF332B721E4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0A10C2B-B267-0E4C-8023-4DDDE470A6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D933B-8463-8C44-B27B-D6844853F110}" type="datetimeFigureOut">
              <a:rPr lang="en-US" smtClean="0"/>
              <a:t>4/20/26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A7F323E-A7A1-F347-B6EC-CD11806AB5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681DFE-A634-EF45-9843-B794CB9ED0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44F84-6641-0A46-9799-B72C7E8EC4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2402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9D265F-07C3-554F-9D51-38C232B4D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481D0C2-9CFA-4542-BBDA-9DA3F8A99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D933B-8463-8C44-B27B-D6844853F110}" type="datetimeFigureOut">
              <a:rPr lang="en-US" smtClean="0"/>
              <a:t>4/20/26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BF17A7-347F-134B-AAD3-7C32D23750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F40B50-F404-A342-823B-9510B52A7B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44F84-6641-0A46-9799-B72C7E8EC4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31445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529B979-0D8E-F44F-ACD2-29FDC2C88C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D933B-8463-8C44-B27B-D6844853F110}" type="datetimeFigureOut">
              <a:rPr lang="en-US" smtClean="0"/>
              <a:t>4/20/26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B05F56D-FECE-4E40-A390-2B66C2052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533363-F361-4840-9CA8-970C2CA10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44F84-6641-0A46-9799-B72C7E8EC4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73991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BFEE44-64EC-A445-BE3D-DAAA579B24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B0E16B-35C3-5C44-9173-3560C22A91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A6EFB4-249F-7F4A-8400-9340E4643A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E87149-4337-CB43-A5FE-8C4D44EDFE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D933B-8463-8C44-B27B-D6844853F110}" type="datetimeFigureOut">
              <a:rPr lang="en-US" smtClean="0"/>
              <a:t>4/20/26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9D55F6-EF39-B74D-91E2-F79D75C733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74A1A9-8183-EB4C-809C-6E1B67248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44F84-6641-0A46-9799-B72C7E8EC4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11841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CE0EF3-7FA2-E840-B11D-2D4D44BDCD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8EB920E-5B6F-0B43-8865-EAEA2E7F5E4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C4DD24-E6C7-084F-8620-42C3CF5F57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DC0D40-CB66-FB4D-8DB3-21784CCA8F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D933B-8463-8C44-B27B-D6844853F110}" type="datetimeFigureOut">
              <a:rPr lang="en-US" smtClean="0"/>
              <a:t>4/20/26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5F4034-BAAB-E04B-B521-A9B2FBF905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A6026E-9A09-9E4B-8AA9-35E8BCC44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44F84-6641-0A46-9799-B72C7E8EC4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70222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0D2D8E-8A72-8945-9C77-DA5C77402F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0A14DC-56D4-8948-90CF-63D5E6CE5C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D40E3A-5D85-D04F-BDC9-217DD64C3D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D933B-8463-8C44-B27B-D6844853F110}" type="datetimeFigureOut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46C1EC-230B-6744-8E49-EA06C2CE8D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AD7AE7-CD13-474B-A725-5F55B6C71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44F84-6641-0A46-9799-B72C7E8EC4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28637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5687899-636D-C943-A016-0537566AC5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A956BD-D6A0-7A4E-89BE-26AEA563A6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8CEA69-F580-BD4B-8662-390A820E7C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D933B-8463-8C44-B27B-D6844853F110}" type="datetimeFigureOut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AB33B2-8040-734A-9A60-AF883CC045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3D4163-DF91-B145-8669-46552DEDD6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44F84-6641-0A46-9799-B72C7E8EC4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2612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8BC4769-927E-DB4E-8756-5E83C7E762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1D367C-0A6B-6044-94BC-1AAA4BBAC3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975BBB-291E-F74E-A594-D492A81DE9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FD933B-8463-8C44-B27B-D6844853F110}" type="datetimeFigureOut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E5782C-9C94-C34F-B12B-90208208DC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575123-AA0C-4444-85DE-1CFA36FE70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544F84-6641-0A46-9799-B72C7E8EC4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47315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0432FF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1.png"/><Relationship Id="rId4" Type="http://schemas.openxmlformats.org/officeDocument/2006/relationships/customXml" Target="../ink/ink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E5A0EA-9EEF-A041-BB54-AB0B8A5FBD0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Basic Processor Implementation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502C4D-009F-244A-BF1A-2B4FE984F40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err="1"/>
              <a:t>Jinyang</a:t>
            </a:r>
            <a:r>
              <a:rPr lang="en-US"/>
              <a:t> Li</a:t>
            </a:r>
          </a:p>
        </p:txBody>
      </p:sp>
    </p:spTree>
    <p:extLst>
      <p:ext uri="{BB962C8B-B14F-4D97-AF65-F5344CB8AC3E}">
        <p14:creationId xmlns:p14="http://schemas.microsoft.com/office/powerpoint/2010/main" val="19223607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B5C802-CAE7-D741-B019-F36F897F9C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we’ve learnt so far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1DE31C-A472-1742-8160-40BAF0EC68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721735"/>
          </a:xfrm>
        </p:spPr>
        <p:txBody>
          <a:bodyPr/>
          <a:lstStyle/>
          <a:p>
            <a:r>
              <a:rPr lang="en-US"/>
              <a:t>Combinatorial logic</a:t>
            </a:r>
          </a:p>
          <a:p>
            <a:pPr lvl="1"/>
            <a:r>
              <a:rPr lang="en-US"/>
              <a:t>Truth table</a:t>
            </a:r>
          </a:p>
          <a:p>
            <a:pPr lvl="1"/>
            <a:r>
              <a:rPr lang="en-US"/>
              <a:t>ROM</a:t>
            </a:r>
          </a:p>
          <a:p>
            <a:r>
              <a:rPr lang="en-US"/>
              <a:t>ALU</a:t>
            </a:r>
          </a:p>
          <a:p>
            <a:r>
              <a:rPr lang="en-US"/>
              <a:t>Sequential logic</a:t>
            </a:r>
          </a:p>
          <a:p>
            <a:pPr lvl="1"/>
            <a:r>
              <a:rPr lang="en-US"/>
              <a:t>Clocks</a:t>
            </a:r>
          </a:p>
          <a:p>
            <a:pPr lvl="1"/>
            <a:r>
              <a:rPr lang="en-US"/>
              <a:t>Basic state elements (SR latch, D latch, flip-flop)</a:t>
            </a:r>
          </a:p>
          <a:p>
            <a:pPr lvl="1"/>
            <a:endParaRPr lang="en-US"/>
          </a:p>
        </p:txBody>
      </p:sp>
      <p:sp>
        <p:nvSpPr>
          <p:cNvPr id="4" name="Rounded Rectangular Callout 3">
            <a:extLst>
              <a:ext uri="{FF2B5EF4-FFF2-40B4-BE49-F238E27FC236}">
                <a16:creationId xmlns:a16="http://schemas.microsoft.com/office/drawing/2014/main" id="{5DB466A0-BF75-3D46-915B-7E0A9FF816B6}"/>
              </a:ext>
            </a:extLst>
          </p:cNvPr>
          <p:cNvSpPr/>
          <p:nvPr/>
        </p:nvSpPr>
        <p:spPr>
          <a:xfrm>
            <a:off x="3749040" y="5547360"/>
            <a:ext cx="1310640" cy="640080"/>
          </a:xfrm>
          <a:prstGeom prst="wedgeRoundRectCallout">
            <a:avLst>
              <a:gd name="adj1" fmla="val 42070"/>
              <a:gd name="adj2" fmla="val -99405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err="1"/>
              <a:t>unclocked</a:t>
            </a:r>
            <a:endParaRPr lang="en-US"/>
          </a:p>
        </p:txBody>
      </p:sp>
      <p:sp>
        <p:nvSpPr>
          <p:cNvPr id="5" name="Rounded Rectangular Callout 4">
            <a:extLst>
              <a:ext uri="{FF2B5EF4-FFF2-40B4-BE49-F238E27FC236}">
                <a16:creationId xmlns:a16="http://schemas.microsoft.com/office/drawing/2014/main" id="{35D97996-C000-AD40-87FF-A996AAF5B214}"/>
              </a:ext>
            </a:extLst>
          </p:cNvPr>
          <p:cNvSpPr/>
          <p:nvPr/>
        </p:nvSpPr>
        <p:spPr>
          <a:xfrm>
            <a:off x="5440680" y="5379720"/>
            <a:ext cx="1310640" cy="851217"/>
          </a:xfrm>
          <a:prstGeom prst="wedgeRoundRectCallout">
            <a:avLst>
              <a:gd name="adj1" fmla="val 38582"/>
              <a:gd name="adj2" fmla="val -70759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Clocked (Level triggered)</a:t>
            </a:r>
          </a:p>
        </p:txBody>
      </p:sp>
      <p:sp>
        <p:nvSpPr>
          <p:cNvPr id="6" name="Rounded Rectangular Callout 5">
            <a:extLst>
              <a:ext uri="{FF2B5EF4-FFF2-40B4-BE49-F238E27FC236}">
                <a16:creationId xmlns:a16="http://schemas.microsoft.com/office/drawing/2014/main" id="{BD8D72F3-22F8-7D4B-87CC-1A51BAB700A7}"/>
              </a:ext>
            </a:extLst>
          </p:cNvPr>
          <p:cNvSpPr/>
          <p:nvPr/>
        </p:nvSpPr>
        <p:spPr>
          <a:xfrm>
            <a:off x="6896100" y="5379720"/>
            <a:ext cx="1310640" cy="851217"/>
          </a:xfrm>
          <a:prstGeom prst="wedgeRoundRectCallout">
            <a:avLst>
              <a:gd name="adj1" fmla="val 33930"/>
              <a:gd name="adj2" fmla="val -74340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Clocked (edge triggered)</a:t>
            </a:r>
          </a:p>
        </p:txBody>
      </p:sp>
    </p:spTree>
    <p:extLst>
      <p:ext uri="{BB962C8B-B14F-4D97-AF65-F5344CB8AC3E}">
        <p14:creationId xmlns:p14="http://schemas.microsoft.com/office/powerpoint/2010/main" val="15211000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3BF046-37B5-2E45-B52C-CDC3222E5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Today’s lesson plan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BE96E5-18F9-AB4C-BB8D-BE72E6AFFA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Implement a basic CPU</a:t>
            </a:r>
          </a:p>
        </p:txBody>
      </p:sp>
    </p:spTree>
    <p:extLst>
      <p:ext uri="{BB962C8B-B14F-4D97-AF65-F5344CB8AC3E}">
        <p14:creationId xmlns:p14="http://schemas.microsoft.com/office/powerpoint/2010/main" val="32953372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F9F9CF-6216-C048-A8E7-A5040EB47C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852641" cy="1325563"/>
          </a:xfrm>
        </p:spPr>
        <p:txBody>
          <a:bodyPr/>
          <a:lstStyle/>
          <a:p>
            <a:r>
              <a:rPr lang="en-US"/>
              <a:t>Our CPU will be based on RISC-V instead of x86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9A28A9-5F19-D04C-8EE0-2E376DDD10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6600" y="1690689"/>
            <a:ext cx="10515600" cy="557212"/>
          </a:xfrm>
        </p:spPr>
        <p:txBody>
          <a:bodyPr/>
          <a:lstStyle/>
          <a:p>
            <a:r>
              <a:rPr lang="en-US"/>
              <a:t>3 popular ISAs now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F61FD328-1F43-7E4E-8932-E17571B944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5770392"/>
              </p:ext>
            </p:extLst>
          </p:nvPr>
        </p:nvGraphicFramePr>
        <p:xfrm>
          <a:off x="1797539" y="2550053"/>
          <a:ext cx="10051384" cy="34586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1595">
                  <a:extLst>
                    <a:ext uri="{9D8B030D-6E8A-4147-A177-3AD203B41FA5}">
                      <a16:colId xmlns:a16="http://schemas.microsoft.com/office/drawing/2014/main" val="821030313"/>
                    </a:ext>
                  </a:extLst>
                </a:gridCol>
                <a:gridCol w="3832170">
                  <a:extLst>
                    <a:ext uri="{9D8B030D-6E8A-4147-A177-3AD203B41FA5}">
                      <a16:colId xmlns:a16="http://schemas.microsoft.com/office/drawing/2014/main" val="156269205"/>
                    </a:ext>
                  </a:extLst>
                </a:gridCol>
                <a:gridCol w="2464460">
                  <a:extLst>
                    <a:ext uri="{9D8B030D-6E8A-4147-A177-3AD203B41FA5}">
                      <a16:colId xmlns:a16="http://schemas.microsoft.com/office/drawing/2014/main" val="1512755481"/>
                    </a:ext>
                  </a:extLst>
                </a:gridCol>
                <a:gridCol w="2903159">
                  <a:extLst>
                    <a:ext uri="{9D8B030D-6E8A-4147-A177-3AD203B41FA5}">
                      <a16:colId xmlns:a16="http://schemas.microsoft.com/office/drawing/2014/main" val="807888172"/>
                    </a:ext>
                  </a:extLst>
                </a:gridCol>
              </a:tblGrid>
              <a:tr h="682828">
                <a:tc>
                  <a:txBody>
                    <a:bodyPr/>
                    <a:lstStyle/>
                    <a:p>
                      <a:r>
                        <a:rPr lang="en-US"/>
                        <a:t>ISA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Key advantage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Who builds the processors?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Where are the processors used?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4276932"/>
                  </a:ext>
                </a:extLst>
              </a:tr>
              <a:tr h="1178579">
                <a:tc>
                  <a:txBody>
                    <a:bodyPr/>
                    <a:lstStyle/>
                    <a:p>
                      <a:r>
                        <a:rPr lang="en-US"/>
                        <a:t>x86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Fast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Intel, AMD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Server (Cloud), Desktop, Laptop, Xbox console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4992402"/>
                  </a:ext>
                </a:extLst>
              </a:tr>
              <a:tr h="682828">
                <a:tc>
                  <a:txBody>
                    <a:bodyPr/>
                    <a:lstStyle/>
                    <a:p>
                      <a:r>
                        <a:rPr lang="en-US"/>
                        <a:t>ARM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Low power (everybody can license the design from ARM Holdings for $$$)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Samsung, NVIDIA, Qualcomm, Broadcom, Huawei/</a:t>
                      </a:r>
                      <a:r>
                        <a:rPr lang="en-US" err="1"/>
                        <a:t>HiSilicon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Phones, Tablets, Nintendo console, Raspberry Pi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0817506"/>
                  </a:ext>
                </a:extLst>
              </a:tr>
              <a:tr h="682828">
                <a:tc>
                  <a:txBody>
                    <a:bodyPr/>
                    <a:lstStyle/>
                    <a:p>
                      <a:r>
                        <a:rPr lang="en-US"/>
                        <a:t>RISC-V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Open source, royalty-free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Western digital, Alibaba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Devices (e.g. SSD controllers)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8414391"/>
                  </a:ext>
                </a:extLst>
              </a:tr>
            </a:tbl>
          </a:graphicData>
        </a:graphic>
      </p:graphicFrame>
      <p:grpSp>
        <p:nvGrpSpPr>
          <p:cNvPr id="17" name="Group 16">
            <a:extLst>
              <a:ext uri="{FF2B5EF4-FFF2-40B4-BE49-F238E27FC236}">
                <a16:creationId xmlns:a16="http://schemas.microsoft.com/office/drawing/2014/main" id="{0BA75892-8099-E047-A797-AF8BD24E6074}"/>
              </a:ext>
            </a:extLst>
          </p:cNvPr>
          <p:cNvGrpSpPr/>
          <p:nvPr/>
        </p:nvGrpSpPr>
        <p:grpSpPr>
          <a:xfrm>
            <a:off x="137648" y="4480032"/>
            <a:ext cx="1605671" cy="1597882"/>
            <a:chOff x="137648" y="4480032"/>
            <a:chExt cx="1605671" cy="1597882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C9F3558A-4DA2-1545-ABB8-5747FA776B32}"/>
                </a:ext>
              </a:extLst>
            </p:cNvPr>
            <p:cNvSpPr txBox="1"/>
            <p:nvPr/>
          </p:nvSpPr>
          <p:spPr>
            <a:xfrm>
              <a:off x="420966" y="5041899"/>
              <a:ext cx="65594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/>
                <a:t>RISC</a:t>
              </a:r>
              <a:endParaRPr lang="en-US" b="1"/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3FED9109-622F-9644-8B79-2560ED881A66}"/>
                </a:ext>
              </a:extLst>
            </p:cNvPr>
            <p:cNvGrpSpPr/>
            <p:nvPr/>
          </p:nvGrpSpPr>
          <p:grpSpPr>
            <a:xfrm>
              <a:off x="137648" y="4480032"/>
              <a:ext cx="1605671" cy="1597882"/>
              <a:chOff x="137648" y="4480032"/>
              <a:chExt cx="1605671" cy="1597882"/>
            </a:xfrm>
          </p:grpSpPr>
          <p:sp>
            <p:nvSpPr>
              <p:cNvPr id="10" name="Left Brace 9">
                <a:extLst>
                  <a:ext uri="{FF2B5EF4-FFF2-40B4-BE49-F238E27FC236}">
                    <a16:creationId xmlns:a16="http://schemas.microsoft.com/office/drawing/2014/main" id="{C863CA0F-71E2-404C-8924-585CF2DC85F2}"/>
                  </a:ext>
                </a:extLst>
              </p:cNvPr>
              <p:cNvSpPr/>
              <p:nvPr/>
            </p:nvSpPr>
            <p:spPr>
              <a:xfrm>
                <a:off x="1476619" y="4480032"/>
                <a:ext cx="266700" cy="1513418"/>
              </a:xfrm>
              <a:prstGeom prst="leftBrac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CB5A5A6-484C-DA49-B740-412F2A448C99}"/>
                  </a:ext>
                </a:extLst>
              </p:cNvPr>
              <p:cNvSpPr txBox="1"/>
              <p:nvPr/>
            </p:nvSpPr>
            <p:spPr>
              <a:xfrm>
                <a:off x="137648" y="5431583"/>
                <a:ext cx="1551450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/>
                  <a:t>Reduced </a:t>
                </a:r>
              </a:p>
              <a:p>
                <a:r>
                  <a:rPr lang="en-US"/>
                  <a:t>Instruction Set</a:t>
                </a:r>
              </a:p>
            </p:txBody>
          </p:sp>
        </p:grp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6A4B0941-0416-E843-8717-A7B3630DA6C2}"/>
              </a:ext>
            </a:extLst>
          </p:cNvPr>
          <p:cNvGrpSpPr/>
          <p:nvPr/>
        </p:nvGrpSpPr>
        <p:grpSpPr>
          <a:xfrm>
            <a:off x="58519" y="3237269"/>
            <a:ext cx="1605670" cy="1177174"/>
            <a:chOff x="58519" y="3237269"/>
            <a:chExt cx="1605670" cy="1177174"/>
          </a:xfrm>
        </p:grpSpPr>
        <p:sp>
          <p:nvSpPr>
            <p:cNvPr id="9" name="Left Brace 8">
              <a:extLst>
                <a:ext uri="{FF2B5EF4-FFF2-40B4-BE49-F238E27FC236}">
                  <a16:creationId xmlns:a16="http://schemas.microsoft.com/office/drawing/2014/main" id="{D7A6A094-3186-3146-BAFF-66C9B302A290}"/>
                </a:ext>
              </a:extLst>
            </p:cNvPr>
            <p:cNvSpPr/>
            <p:nvPr/>
          </p:nvSpPr>
          <p:spPr>
            <a:xfrm>
              <a:off x="1397489" y="3237269"/>
              <a:ext cx="266700" cy="1041400"/>
            </a:xfrm>
            <a:prstGeom prst="lef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1D5F089-1C34-4640-9AC8-1CAC8C17A2D4}"/>
                </a:ext>
              </a:extLst>
            </p:cNvPr>
            <p:cNvSpPr txBox="1"/>
            <p:nvPr/>
          </p:nvSpPr>
          <p:spPr>
            <a:xfrm>
              <a:off x="424725" y="3375736"/>
              <a:ext cx="6479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/>
                <a:t>CISC</a:t>
              </a:r>
              <a:endParaRPr lang="en-US" b="1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7C22348D-5D59-CE47-9367-67CC967E71DC}"/>
                </a:ext>
              </a:extLst>
            </p:cNvPr>
            <p:cNvSpPr txBox="1"/>
            <p:nvPr/>
          </p:nvSpPr>
          <p:spPr>
            <a:xfrm>
              <a:off x="58519" y="3768112"/>
              <a:ext cx="1551450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Complex </a:t>
              </a:r>
            </a:p>
            <a:p>
              <a:r>
                <a:rPr lang="en-US"/>
                <a:t>Instruction Set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217757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8936FC-E6A0-EC46-81F8-99C4C20E55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RISC-V at a high level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9661C2F-C296-4C46-8729-139EDAD980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4252337"/>
              </p:ext>
            </p:extLst>
          </p:nvPr>
        </p:nvGraphicFramePr>
        <p:xfrm>
          <a:off x="1803400" y="1862666"/>
          <a:ext cx="8407401" cy="138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8300">
                  <a:extLst>
                    <a:ext uri="{9D8B030D-6E8A-4147-A177-3AD203B41FA5}">
                      <a16:colId xmlns:a16="http://schemas.microsoft.com/office/drawing/2014/main" val="3488478508"/>
                    </a:ext>
                  </a:extLst>
                </a:gridCol>
                <a:gridCol w="2696634">
                  <a:extLst>
                    <a:ext uri="{9D8B030D-6E8A-4147-A177-3AD203B41FA5}">
                      <a16:colId xmlns:a16="http://schemas.microsoft.com/office/drawing/2014/main" val="191442434"/>
                    </a:ext>
                  </a:extLst>
                </a:gridCol>
                <a:gridCol w="2802467">
                  <a:extLst>
                    <a:ext uri="{9D8B030D-6E8A-4147-A177-3AD203B41FA5}">
                      <a16:colId xmlns:a16="http://schemas.microsoft.com/office/drawing/2014/main" val="37108381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RISC-V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X86-64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11029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# of registers</a:t>
                      </a: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1463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Memory</a:t>
                      </a: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Byte-addressable,</a:t>
                      </a:r>
                    </a:p>
                    <a:p>
                      <a:r>
                        <a:rPr lang="en-US"/>
                        <a:t>Little Endian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Byte-addressable,</a:t>
                      </a:r>
                    </a:p>
                    <a:p>
                      <a:r>
                        <a:rPr lang="en-US"/>
                        <a:t>Little Endian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3130309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9A32897-CA73-6548-AEB4-27464ED29C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8451344"/>
              </p:ext>
            </p:extLst>
          </p:nvPr>
        </p:nvGraphicFramePr>
        <p:xfrm>
          <a:off x="1803400" y="3928765"/>
          <a:ext cx="8839197" cy="24790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946399">
                  <a:extLst>
                    <a:ext uri="{9D8B030D-6E8A-4147-A177-3AD203B41FA5}">
                      <a16:colId xmlns:a16="http://schemas.microsoft.com/office/drawing/2014/main" val="369118801"/>
                    </a:ext>
                  </a:extLst>
                </a:gridCol>
                <a:gridCol w="2705101">
                  <a:extLst>
                    <a:ext uri="{9D8B030D-6E8A-4147-A177-3AD203B41FA5}">
                      <a16:colId xmlns:a16="http://schemas.microsoft.com/office/drawing/2014/main" val="2516553484"/>
                    </a:ext>
                  </a:extLst>
                </a:gridCol>
                <a:gridCol w="3187697">
                  <a:extLst>
                    <a:ext uri="{9D8B030D-6E8A-4147-A177-3AD203B41FA5}">
                      <a16:colId xmlns:a16="http://schemas.microsoft.com/office/drawing/2014/main" val="42065720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0432FF"/>
                          </a:solidFill>
                        </a:rPr>
                        <a:t>Fewer instructions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50+ (200 manual pages)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1000+ (2306 manual pages)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95708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0432FF"/>
                          </a:solidFill>
                        </a:rPr>
                        <a:t>Simpler instruction encoding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4-byte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/>
                        <a:t>Variable length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72353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0432FF"/>
                          </a:solidFill>
                        </a:rPr>
                        <a:t>Simpler instructions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err="1"/>
                        <a:t>Ld</a:t>
                      </a:r>
                      <a:r>
                        <a:rPr lang="en-US"/>
                        <a:t>/</a:t>
                      </a:r>
                      <a:r>
                        <a:rPr lang="en-US" err="1"/>
                        <a:t>st</a:t>
                      </a:r>
                      <a:r>
                        <a:rPr lang="en-US"/>
                        <a:t> instructions load/store memory to or from register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/>
                        <a:t>Other instructions take only register operands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/>
                        <a:t>Instructions take either memory or register operands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/>
                        <a:t>Complex memory addressing modes D(B, I, S)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/>
                        <a:t>Prefixes modify instruction behavior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4025291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9CB5A0D0-7947-4E48-92FB-1AA0D397BAC8}"/>
              </a:ext>
            </a:extLst>
          </p:cNvPr>
          <p:cNvSpPr txBox="1"/>
          <p:nvPr/>
        </p:nvSpPr>
        <p:spPr>
          <a:xfrm>
            <a:off x="4102216" y="3467100"/>
            <a:ext cx="38097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Why RISC-V is much simpler?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A56C4C66-A55E-5748-A8D5-9DB26AC9D6F4}"/>
              </a:ext>
            </a:extLst>
          </p:cNvPr>
          <p:cNvGrpSpPr/>
          <p:nvPr/>
        </p:nvGrpSpPr>
        <p:grpSpPr>
          <a:xfrm>
            <a:off x="328930" y="2170006"/>
            <a:ext cx="1450829" cy="1041400"/>
            <a:chOff x="213360" y="3237269"/>
            <a:chExt cx="1450829" cy="1041400"/>
          </a:xfrm>
        </p:grpSpPr>
        <p:sp>
          <p:nvSpPr>
            <p:cNvPr id="10" name="Left Brace 9">
              <a:extLst>
                <a:ext uri="{FF2B5EF4-FFF2-40B4-BE49-F238E27FC236}">
                  <a16:creationId xmlns:a16="http://schemas.microsoft.com/office/drawing/2014/main" id="{8D388F83-4C68-4340-AD87-764931FE906D}"/>
                </a:ext>
              </a:extLst>
            </p:cNvPr>
            <p:cNvSpPr/>
            <p:nvPr/>
          </p:nvSpPr>
          <p:spPr>
            <a:xfrm>
              <a:off x="1397489" y="3237269"/>
              <a:ext cx="266700" cy="1041400"/>
            </a:xfrm>
            <a:prstGeom prst="lef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748AD381-B491-9349-B869-264A70575850}"/>
                </a:ext>
              </a:extLst>
            </p:cNvPr>
            <p:cNvSpPr txBox="1"/>
            <p:nvPr/>
          </p:nvSpPr>
          <p:spPr>
            <a:xfrm>
              <a:off x="213360" y="3502690"/>
              <a:ext cx="119616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similarities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242503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8E9AA9-BFE9-6743-A269-F24E61668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Basic RISC-V instructions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81D5544-57FD-974D-9BB7-E4FC074AD9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6826327"/>
              </p:ext>
            </p:extLst>
          </p:nvPr>
        </p:nvGraphicFramePr>
        <p:xfrm>
          <a:off x="1663700" y="2307166"/>
          <a:ext cx="9296400" cy="3661835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324100">
                  <a:extLst>
                    <a:ext uri="{9D8B030D-6E8A-4147-A177-3AD203B41FA5}">
                      <a16:colId xmlns:a16="http://schemas.microsoft.com/office/drawing/2014/main" val="3807727242"/>
                    </a:ext>
                  </a:extLst>
                </a:gridCol>
                <a:gridCol w="2324100">
                  <a:extLst>
                    <a:ext uri="{9D8B030D-6E8A-4147-A177-3AD203B41FA5}">
                      <a16:colId xmlns:a16="http://schemas.microsoft.com/office/drawing/2014/main" val="4051361729"/>
                    </a:ext>
                  </a:extLst>
                </a:gridCol>
                <a:gridCol w="2324100">
                  <a:extLst>
                    <a:ext uri="{9D8B030D-6E8A-4147-A177-3AD203B41FA5}">
                      <a16:colId xmlns:a16="http://schemas.microsoft.com/office/drawing/2014/main" val="3419424411"/>
                    </a:ext>
                  </a:extLst>
                </a:gridCol>
                <a:gridCol w="2324100">
                  <a:extLst>
                    <a:ext uri="{9D8B030D-6E8A-4147-A177-3AD203B41FA5}">
                      <a16:colId xmlns:a16="http://schemas.microsoft.com/office/drawing/2014/main" val="1535390154"/>
                    </a:ext>
                  </a:extLst>
                </a:gridCol>
              </a:tblGrid>
              <a:tr h="473961">
                <a:tc rowSpan="2"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1"/>
                          </a:solidFill>
                        </a:rPr>
                        <a:t>Data transfer</a:t>
                      </a: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load doubleword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err="1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ld</a:t>
                      </a:r>
                      <a:r>
                        <a:rPr lang="en-US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x5, 40(x6)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x5=Memory[x6+40]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0428446"/>
                  </a:ext>
                </a:extLst>
              </a:tr>
              <a:tr h="47396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store doubleword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sd</a:t>
                      </a:r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x5, 40(x6)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Memory[x6+40]=x5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342154"/>
                  </a:ext>
                </a:extLst>
              </a:tr>
              <a:tr h="473961">
                <a:tc rowSpan="4"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1"/>
                          </a:solidFill>
                        </a:rPr>
                        <a:t>Arithmetic</a:t>
                      </a:r>
                    </a:p>
                    <a:p>
                      <a:r>
                        <a:rPr lang="en-US">
                          <a:solidFill>
                            <a:schemeClr val="bg1"/>
                          </a:solidFill>
                        </a:rPr>
                        <a:t>Logical</a:t>
                      </a: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addition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</a:t>
                      </a:r>
                      <a:r>
                        <a:rPr lang="en-US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x5, x6, x7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x5 = x6 + x7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5041678"/>
                  </a:ext>
                </a:extLst>
              </a:tr>
              <a:tr h="47396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subtraction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sub</a:t>
                      </a:r>
                      <a:r>
                        <a:rPr lang="en-US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x5, x6, x7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x5 = x6 - x7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1218399"/>
                  </a:ext>
                </a:extLst>
              </a:tr>
              <a:tr h="473961">
                <a:tc vMerge="1">
                  <a:txBody>
                    <a:bodyPr/>
                    <a:lstStyle/>
                    <a:p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bitwise 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and</a:t>
                      </a:r>
                      <a:r>
                        <a:rPr lang="en-US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x5, x6, x7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x5 = x6 &amp; x7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9003464"/>
                  </a:ext>
                </a:extLst>
              </a:tr>
              <a:tr h="47396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bitwise 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or</a:t>
                      </a:r>
                      <a:r>
                        <a:rPr lang="en-US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x5, x6, x7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x5 = x6 | x7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4416604"/>
                  </a:ext>
                </a:extLst>
              </a:tr>
              <a:tr h="818069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1"/>
                          </a:solidFill>
                        </a:rPr>
                        <a:t>Conditional Branch</a:t>
                      </a: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Branch if equal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err="1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beq</a:t>
                      </a:r>
                      <a:r>
                        <a:rPr lang="en-US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x5, x6, 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If (x5==x6) go to PC+100*2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554233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B9052F93-9647-4C4A-BBB2-7F10FC3C826A}"/>
              </a:ext>
            </a:extLst>
          </p:cNvPr>
          <p:cNvSpPr txBox="1"/>
          <p:nvPr/>
        </p:nvSpPr>
        <p:spPr>
          <a:xfrm>
            <a:off x="1562100" y="1690688"/>
            <a:ext cx="34950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Registers: x0, x1, x2,…, x31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2C7B60BC-6069-1B4D-B198-72E16A145883}"/>
              </a:ext>
            </a:extLst>
          </p:cNvPr>
          <p:cNvGrpSpPr/>
          <p:nvPr/>
        </p:nvGrpSpPr>
        <p:grpSpPr>
          <a:xfrm>
            <a:off x="5334000" y="1660835"/>
            <a:ext cx="986404" cy="714065"/>
            <a:chOff x="5334000" y="1660835"/>
            <a:chExt cx="986404" cy="714065"/>
          </a:xfrm>
        </p:grpSpPr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AFD3B35F-472C-8747-B377-15697AB181BB}"/>
                </a:ext>
              </a:extLst>
            </p:cNvPr>
            <p:cNvCxnSpPr/>
            <p:nvPr/>
          </p:nvCxnSpPr>
          <p:spPr>
            <a:xfrm flipH="1">
              <a:off x="5334000" y="1955800"/>
              <a:ext cx="419100" cy="4191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7D847C6-8878-1B4A-8749-82B7C0B4189D}"/>
                </a:ext>
              </a:extLst>
            </p:cNvPr>
            <p:cNvSpPr txBox="1"/>
            <p:nvPr/>
          </p:nvSpPr>
          <p:spPr>
            <a:xfrm>
              <a:off x="5579496" y="1660835"/>
              <a:ext cx="74090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64-bit</a:t>
              </a: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F351B7EA-F0E0-68E7-B991-5A50775DCFE7}"/>
              </a:ext>
            </a:extLst>
          </p:cNvPr>
          <p:cNvSpPr txBox="1"/>
          <p:nvPr/>
        </p:nvSpPr>
        <p:spPr>
          <a:xfrm>
            <a:off x="6911340" y="1367522"/>
            <a:ext cx="3940438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Opposite of x86 AT&amp;T: mov (%</a:t>
            </a:r>
            <a:r>
              <a:rPr lang="en-US" dirty="0" err="1"/>
              <a:t>rbx</a:t>
            </a:r>
            <a:r>
              <a:rPr lang="en-US" dirty="0"/>
              <a:t>), %</a:t>
            </a:r>
            <a:r>
              <a:rPr lang="en-US" dirty="0" err="1"/>
              <a:t>rax</a:t>
            </a:r>
            <a:endParaRPr lang="en-US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F6D4A2A-FDB7-ACE9-D195-6EA5C93ED91E}"/>
              </a:ext>
            </a:extLst>
          </p:cNvPr>
          <p:cNvCxnSpPr/>
          <p:nvPr/>
        </p:nvCxnSpPr>
        <p:spPr>
          <a:xfrm flipH="1">
            <a:off x="6926580" y="2030167"/>
            <a:ext cx="228600" cy="3447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33E56483-23D8-6F05-0E37-9E1CF347CCFE}"/>
              </a:ext>
            </a:extLst>
          </p:cNvPr>
          <p:cNvSpPr txBox="1"/>
          <p:nvPr/>
        </p:nvSpPr>
        <p:spPr>
          <a:xfrm>
            <a:off x="6842741" y="1750698"/>
            <a:ext cx="1651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dst</a:t>
            </a:r>
            <a:r>
              <a:rPr lang="en-US" dirty="0"/>
              <a:t> register first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6246EE7-62CF-B2A6-A163-0275C5061129}"/>
              </a:ext>
            </a:extLst>
          </p:cNvPr>
          <p:cNvSpPr txBox="1"/>
          <p:nvPr/>
        </p:nvSpPr>
        <p:spPr>
          <a:xfrm>
            <a:off x="10170678" y="773174"/>
            <a:ext cx="4706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dst</a:t>
            </a:r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A805EC4-3C75-EBD8-904E-A7D5976BEE98}"/>
              </a:ext>
            </a:extLst>
          </p:cNvPr>
          <p:cNvSpPr txBox="1"/>
          <p:nvPr/>
        </p:nvSpPr>
        <p:spPr>
          <a:xfrm>
            <a:off x="9600790" y="773174"/>
            <a:ext cx="4489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src</a:t>
            </a:r>
            <a:endParaRPr lang="en-US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E9313EF-FD66-4ACC-F2B0-8A87CA82344F}"/>
              </a:ext>
            </a:extLst>
          </p:cNvPr>
          <p:cNvCxnSpPr/>
          <p:nvPr/>
        </p:nvCxnSpPr>
        <p:spPr>
          <a:xfrm flipH="1">
            <a:off x="9700241" y="1085426"/>
            <a:ext cx="228600" cy="3447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2BFF70D-78A2-3481-0076-5CFD29EC0D4C}"/>
              </a:ext>
            </a:extLst>
          </p:cNvPr>
          <p:cNvCxnSpPr>
            <a:cxnSpLocks/>
          </p:cNvCxnSpPr>
          <p:nvPr/>
        </p:nvCxnSpPr>
        <p:spPr>
          <a:xfrm>
            <a:off x="10233641" y="1117749"/>
            <a:ext cx="152400" cy="3124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64699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276B39-93FC-2847-9B3F-7755B5F16F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RISC-V instruction formats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57A3B3-BBBF-2D41-9262-CFA71B3EF0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186160" cy="1325563"/>
          </a:xfrm>
        </p:spPr>
        <p:txBody>
          <a:bodyPr>
            <a:normAutofit/>
          </a:bodyPr>
          <a:lstStyle/>
          <a:p>
            <a:r>
              <a:rPr lang="en-US" dirty="0"/>
              <a:t>All instructions are 32-bit long</a:t>
            </a:r>
          </a:p>
          <a:p>
            <a:pPr lvl="1"/>
            <a:r>
              <a:rPr lang="en-US" altLang="en-US" dirty="0"/>
              <a:t>Several formats encoding operation code (opcode), register numbers …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671E6AA-A5C3-0D41-AC38-AD990A81B3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2879745"/>
            <a:ext cx="12192000" cy="3018749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1BB52BDF-78F9-0A41-9C89-16E62B9A4552}"/>
              </a:ext>
            </a:extLst>
          </p:cNvPr>
          <p:cNvGrpSpPr/>
          <p:nvPr/>
        </p:nvGrpSpPr>
        <p:grpSpPr>
          <a:xfrm>
            <a:off x="6922972" y="3286125"/>
            <a:ext cx="3818481" cy="3184525"/>
            <a:chOff x="6922972" y="3286125"/>
            <a:chExt cx="3818481" cy="3184525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96DB496A-AC07-344A-9B5F-9604C3961967}"/>
                </a:ext>
              </a:extLst>
            </p:cNvPr>
            <p:cNvSpPr/>
            <p:nvPr/>
          </p:nvSpPr>
          <p:spPr>
            <a:xfrm>
              <a:off x="7625443" y="3286125"/>
              <a:ext cx="1387928" cy="2677886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05C7B62-0521-8C4C-B72E-EBFD4F9C80EC}"/>
                </a:ext>
              </a:extLst>
            </p:cNvPr>
            <p:cNvSpPr txBox="1"/>
            <p:nvPr/>
          </p:nvSpPr>
          <p:spPr>
            <a:xfrm>
              <a:off x="6922972" y="6101318"/>
              <a:ext cx="381848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>
                  <a:solidFill>
                    <a:srgbClr val="FF0000"/>
                  </a:solidFill>
                </a:rPr>
                <a:t>Opcode determines type of instruction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613190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1" name="Rectangle 17">
            <a:extLst>
              <a:ext uri="{FF2B5EF4-FFF2-40B4-BE49-F238E27FC236}">
                <a16:creationId xmlns:a16="http://schemas.microsoft.com/office/drawing/2014/main" id="{CA076549-6E10-514F-B41B-4E1E25EB053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16280" y="248393"/>
            <a:ext cx="10515600" cy="1113155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/>
              <a:t>R-type: arithmetic logic instructions</a:t>
            </a:r>
            <a:endParaRPr lang="en-AU" altLang="en-US"/>
          </a:p>
        </p:txBody>
      </p:sp>
      <p:grpSp>
        <p:nvGrpSpPr>
          <p:cNvPr id="43013" name="Group 2">
            <a:extLst>
              <a:ext uri="{FF2B5EF4-FFF2-40B4-BE49-F238E27FC236}">
                <a16:creationId xmlns:a16="http://schemas.microsoft.com/office/drawing/2014/main" id="{C548E25D-E068-8B47-AB1B-17099CBD485B}"/>
              </a:ext>
            </a:extLst>
          </p:cNvPr>
          <p:cNvGrpSpPr>
            <a:grpSpLocks/>
          </p:cNvGrpSpPr>
          <p:nvPr/>
        </p:nvGrpSpPr>
        <p:grpSpPr bwMode="auto">
          <a:xfrm>
            <a:off x="1326317" y="3153668"/>
            <a:ext cx="8518206" cy="993278"/>
            <a:chOff x="1331640" y="1391533"/>
            <a:chExt cx="6771978" cy="777698"/>
          </a:xfrm>
        </p:grpSpPr>
        <p:sp>
          <p:nvSpPr>
            <p:cNvPr id="43014" name="Text Box 5">
              <a:extLst>
                <a:ext uri="{FF2B5EF4-FFF2-40B4-BE49-F238E27FC236}">
                  <a16:creationId xmlns:a16="http://schemas.microsoft.com/office/drawing/2014/main" id="{B6D5EBEE-B0E5-694A-B951-20D1BF138D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31640" y="1391533"/>
              <a:ext cx="1296987" cy="415925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/>
                <a:t>funct7</a:t>
              </a:r>
              <a:endParaRPr lang="en-AU" altLang="en-US" sz="2000"/>
            </a:p>
          </p:txBody>
        </p:sp>
        <p:sp>
          <p:nvSpPr>
            <p:cNvPr id="43015" name="Text Box 6">
              <a:extLst>
                <a:ext uri="{FF2B5EF4-FFF2-40B4-BE49-F238E27FC236}">
                  <a16:creationId xmlns:a16="http://schemas.microsoft.com/office/drawing/2014/main" id="{3D092654-D3DD-9744-BAC8-CE80138470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28627" y="1391533"/>
              <a:ext cx="1079500" cy="415925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/>
                <a:t>rs2</a:t>
              </a:r>
              <a:endParaRPr lang="en-AU" altLang="en-US" sz="2000"/>
            </a:p>
          </p:txBody>
        </p:sp>
        <p:sp>
          <p:nvSpPr>
            <p:cNvPr id="43016" name="Text Box 7">
              <a:extLst>
                <a:ext uri="{FF2B5EF4-FFF2-40B4-BE49-F238E27FC236}">
                  <a16:creationId xmlns:a16="http://schemas.microsoft.com/office/drawing/2014/main" id="{D8377A6B-6E05-D248-A20F-C11A8DC462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08127" y="1391533"/>
              <a:ext cx="1079500" cy="415925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/>
                <a:t>rs1</a:t>
              </a:r>
              <a:endParaRPr lang="en-AU" altLang="en-US" sz="2000"/>
            </a:p>
          </p:txBody>
        </p:sp>
        <p:sp>
          <p:nvSpPr>
            <p:cNvPr id="43017" name="Text Box 8">
              <a:extLst>
                <a:ext uri="{FF2B5EF4-FFF2-40B4-BE49-F238E27FC236}">
                  <a16:creationId xmlns:a16="http://schemas.microsoft.com/office/drawing/2014/main" id="{C3BB2786-0DD7-9240-A323-214A392B4C4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27131" y="1391533"/>
              <a:ext cx="1079500" cy="415925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/>
                <a:t>rd</a:t>
              </a:r>
              <a:endParaRPr lang="en-AU" altLang="en-US" sz="2000"/>
            </a:p>
          </p:txBody>
        </p:sp>
        <p:sp>
          <p:nvSpPr>
            <p:cNvPr id="43018" name="Text Box 9">
              <a:extLst>
                <a:ext uri="{FF2B5EF4-FFF2-40B4-BE49-F238E27FC236}">
                  <a16:creationId xmlns:a16="http://schemas.microsoft.com/office/drawing/2014/main" id="{B6569A19-6BCD-744F-8394-B3CEA20C44A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89215" y="1391533"/>
              <a:ext cx="936328" cy="415925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/>
                <a:t>funct3</a:t>
              </a:r>
              <a:endParaRPr lang="en-AU" altLang="en-US" sz="2000"/>
            </a:p>
          </p:txBody>
        </p:sp>
        <p:sp>
          <p:nvSpPr>
            <p:cNvPr id="43019" name="Text Box 10">
              <a:extLst>
                <a:ext uri="{FF2B5EF4-FFF2-40B4-BE49-F238E27FC236}">
                  <a16:creationId xmlns:a16="http://schemas.microsoft.com/office/drawing/2014/main" id="{3647579B-AEC8-BB45-8827-47CF808FAE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06631" y="1391533"/>
              <a:ext cx="1296987" cy="415925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/>
                <a:t>opcode</a:t>
              </a:r>
              <a:endParaRPr lang="en-AU" altLang="en-US" sz="2000"/>
            </a:p>
          </p:txBody>
        </p:sp>
        <p:sp>
          <p:nvSpPr>
            <p:cNvPr id="43020" name="Text Box 11">
              <a:extLst>
                <a:ext uri="{FF2B5EF4-FFF2-40B4-BE49-F238E27FC236}">
                  <a16:creationId xmlns:a16="http://schemas.microsoft.com/office/drawing/2014/main" id="{FBFA439F-66AE-2A45-B0AA-F8FFEBDC0F3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19522" y="1828096"/>
              <a:ext cx="675185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/>
                <a:t>7 bits</a:t>
              </a:r>
              <a:endParaRPr lang="en-AU" altLang="en-US" sz="1600"/>
            </a:p>
          </p:txBody>
        </p:sp>
        <p:sp>
          <p:nvSpPr>
            <p:cNvPr id="43021" name="Text Box 12">
              <a:extLst>
                <a:ext uri="{FF2B5EF4-FFF2-40B4-BE49-F238E27FC236}">
                  <a16:creationId xmlns:a16="http://schemas.microsoft.com/office/drawing/2014/main" id="{942449B2-72A1-DE4C-88C1-734E5179B6D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94513" y="1830677"/>
              <a:ext cx="675185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/>
                <a:t>7 bits</a:t>
              </a:r>
              <a:endParaRPr lang="en-AU" altLang="en-US" sz="1600"/>
            </a:p>
          </p:txBody>
        </p:sp>
        <p:sp>
          <p:nvSpPr>
            <p:cNvPr id="43022" name="Text Box 13">
              <a:extLst>
                <a:ext uri="{FF2B5EF4-FFF2-40B4-BE49-F238E27FC236}">
                  <a16:creationId xmlns:a16="http://schemas.microsoft.com/office/drawing/2014/main" id="{BBD54BFB-B60D-D945-A024-7C88C3A08E9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46115" y="1828096"/>
              <a:ext cx="669925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/>
                <a:t>5 bits</a:t>
              </a:r>
              <a:endParaRPr lang="en-AU" altLang="en-US" sz="1600"/>
            </a:p>
          </p:txBody>
        </p:sp>
        <p:sp>
          <p:nvSpPr>
            <p:cNvPr id="43023" name="Text Box 14">
              <a:extLst>
                <a:ext uri="{FF2B5EF4-FFF2-40B4-BE49-F238E27FC236}">
                  <a16:creationId xmlns:a16="http://schemas.microsoft.com/office/drawing/2014/main" id="{52E8541D-2F8E-6344-B372-6B4354206A4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27202" y="1828096"/>
              <a:ext cx="669925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/>
                <a:t>5 bits</a:t>
              </a:r>
              <a:endParaRPr lang="en-AU" altLang="en-US" sz="1600"/>
            </a:p>
          </p:txBody>
        </p:sp>
        <p:sp>
          <p:nvSpPr>
            <p:cNvPr id="43024" name="Text Box 15">
              <a:extLst>
                <a:ext uri="{FF2B5EF4-FFF2-40B4-BE49-F238E27FC236}">
                  <a16:creationId xmlns:a16="http://schemas.microsoft.com/office/drawing/2014/main" id="{5243FF2E-6D06-1647-B698-555B88D1010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46206" y="1830677"/>
              <a:ext cx="669925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/>
                <a:t>5 bits</a:t>
              </a:r>
              <a:endParaRPr lang="en-AU" altLang="en-US" sz="1600"/>
            </a:p>
          </p:txBody>
        </p:sp>
        <p:sp>
          <p:nvSpPr>
            <p:cNvPr id="43025" name="Text Box 16">
              <a:extLst>
                <a:ext uri="{FF2B5EF4-FFF2-40B4-BE49-F238E27FC236}">
                  <a16:creationId xmlns:a16="http://schemas.microsoft.com/office/drawing/2014/main" id="{BDD2B1E0-501C-8B4C-B52B-083CB7A076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60900" y="1828096"/>
              <a:ext cx="675185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/>
                <a:t>3 bits</a:t>
              </a:r>
              <a:endParaRPr lang="en-AU" altLang="en-US" sz="1600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0E2DB41F-01AB-8840-8770-6B32A04689C9}"/>
              </a:ext>
            </a:extLst>
          </p:cNvPr>
          <p:cNvSpPr txBox="1"/>
          <p:nvPr/>
        </p:nvSpPr>
        <p:spPr>
          <a:xfrm>
            <a:off x="9597192" y="277296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4D23750-3E74-754C-93C9-18463C9F3407}"/>
              </a:ext>
            </a:extLst>
          </p:cNvPr>
          <p:cNvSpPr txBox="1"/>
          <p:nvPr/>
        </p:nvSpPr>
        <p:spPr>
          <a:xfrm>
            <a:off x="1289232" y="275797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31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E5B09F4-338A-AD42-9184-1450004659F3}"/>
              </a:ext>
            </a:extLst>
          </p:cNvPr>
          <p:cNvSpPr/>
          <p:nvPr/>
        </p:nvSpPr>
        <p:spPr>
          <a:xfrm>
            <a:off x="1326317" y="3153668"/>
            <a:ext cx="1631429" cy="531221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7432BEE-3977-654E-A244-78C8313E1113}"/>
              </a:ext>
            </a:extLst>
          </p:cNvPr>
          <p:cNvSpPr/>
          <p:nvPr/>
        </p:nvSpPr>
        <p:spPr>
          <a:xfrm>
            <a:off x="5680380" y="3165198"/>
            <a:ext cx="1172855" cy="531221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347617B-A406-ED42-B1E5-5F70071A33A3}"/>
              </a:ext>
            </a:extLst>
          </p:cNvPr>
          <p:cNvSpPr/>
          <p:nvPr/>
        </p:nvSpPr>
        <p:spPr>
          <a:xfrm>
            <a:off x="8227092" y="3161489"/>
            <a:ext cx="1617431" cy="531221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CCA04B95-A028-3944-B475-B6B79007C54A}"/>
              </a:ext>
            </a:extLst>
          </p:cNvPr>
          <p:cNvGrpSpPr/>
          <p:nvPr/>
        </p:nvGrpSpPr>
        <p:grpSpPr>
          <a:xfrm>
            <a:off x="2467384" y="3810737"/>
            <a:ext cx="6195892" cy="693916"/>
            <a:chOff x="2498381" y="2893547"/>
            <a:chExt cx="6195892" cy="693916"/>
          </a:xfrm>
        </p:grpSpPr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EF323C20-13DB-F44B-9551-3D805FDF986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498381" y="2893547"/>
              <a:ext cx="1411143" cy="685501"/>
            </a:xfrm>
            <a:prstGeom prst="straightConnector1">
              <a:avLst/>
            </a:prstGeom>
            <a:ln w="15875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01803B56-6178-5447-B6B5-B142CBD11D6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02309" y="2946888"/>
              <a:ext cx="1402768" cy="632160"/>
            </a:xfrm>
            <a:prstGeom prst="straightConnector1">
              <a:avLst/>
            </a:prstGeom>
            <a:ln w="15875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B5FA24D2-C85A-E64F-9B7D-40B9CB0AE3E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66135" y="2935509"/>
              <a:ext cx="3528138" cy="651954"/>
            </a:xfrm>
            <a:prstGeom prst="straightConnector1">
              <a:avLst/>
            </a:prstGeom>
            <a:ln w="15875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2DED2DE3-5696-1442-98C5-8403815E31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5350263"/>
              </p:ext>
            </p:extLst>
          </p:nvPr>
        </p:nvGraphicFramePr>
        <p:xfrm>
          <a:off x="1651032" y="5114644"/>
          <a:ext cx="81280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33010804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261862194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20601716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2707688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opcode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funct3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funct7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10943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add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0110011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0000000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98039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sub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0110011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0100000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45340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err="1"/>
                        <a:t>xor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0110011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0000000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5552754"/>
                  </a:ext>
                </a:extLst>
              </a:tr>
            </a:tbl>
          </a:graphicData>
        </a:graphic>
      </p:graphicFrame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B0ECCFBC-4929-BD46-A6E5-5D9EEF201B64}"/>
              </a:ext>
            </a:extLst>
          </p:cNvPr>
          <p:cNvCxnSpPr>
            <a:cxnSpLocks/>
          </p:cNvCxnSpPr>
          <p:nvPr/>
        </p:nvCxnSpPr>
        <p:spPr>
          <a:xfrm flipH="1">
            <a:off x="7695158" y="2922836"/>
            <a:ext cx="278313" cy="185251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118F7C2E-0CBA-930C-3433-3F851EA40F3C}"/>
              </a:ext>
            </a:extLst>
          </p:cNvPr>
          <p:cNvGrpSpPr/>
          <p:nvPr/>
        </p:nvGrpSpPr>
        <p:grpSpPr>
          <a:xfrm>
            <a:off x="3749342" y="1208908"/>
            <a:ext cx="3529401" cy="710040"/>
            <a:chOff x="8004468" y="2638964"/>
            <a:chExt cx="3529401" cy="710040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4F5F4D21-95C3-4F8A-9E92-7BDD921C7F38}"/>
                </a:ext>
              </a:extLst>
            </p:cNvPr>
            <p:cNvSpPr txBox="1"/>
            <p:nvPr/>
          </p:nvSpPr>
          <p:spPr>
            <a:xfrm>
              <a:off x="8056635" y="2979672"/>
              <a:ext cx="3477234" cy="369332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add</a:t>
              </a:r>
              <a:r>
                <a:rPr lang="en-US">
                  <a:latin typeface="Consolas" panose="020B0609020204030204" pitchFamily="49" charset="0"/>
                  <a:cs typeface="Consolas" panose="020B0609020204030204" pitchFamily="49" charset="0"/>
                </a:rPr>
                <a:t> x5, x6, x7 // x5=x6+x7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6F3A69E-01D8-4BAF-5744-50647B1572CE}"/>
                </a:ext>
              </a:extLst>
            </p:cNvPr>
            <p:cNvSpPr txBox="1"/>
            <p:nvPr/>
          </p:nvSpPr>
          <p:spPr>
            <a:xfrm>
              <a:off x="8004468" y="2638964"/>
              <a:ext cx="277159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Example R-type instruction:</a:t>
              </a:r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45EBBAF7-8B2C-E494-D1BF-CDB7497217E8}"/>
              </a:ext>
            </a:extLst>
          </p:cNvPr>
          <p:cNvSpPr txBox="1"/>
          <p:nvPr/>
        </p:nvSpPr>
        <p:spPr>
          <a:xfrm>
            <a:off x="7687016" y="2563675"/>
            <a:ext cx="26256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>
                <a:solidFill>
                  <a:schemeClr val="accent6">
                    <a:lumMod val="75000"/>
                  </a:schemeClr>
                </a:solidFill>
                <a:latin typeface="Segoe Print" panose="02000800000000000000" pitchFamily="2" charset="0"/>
              </a:rPr>
              <a:t>destination register       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385E64A-F204-2463-47E8-B3C6E699D3CA}"/>
              </a:ext>
            </a:extLst>
          </p:cNvPr>
          <p:cNvSpPr txBox="1"/>
          <p:nvPr/>
        </p:nvSpPr>
        <p:spPr>
          <a:xfrm>
            <a:off x="2768128" y="4498797"/>
            <a:ext cx="3296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>
                <a:solidFill>
                  <a:schemeClr val="accent1"/>
                </a:solidFill>
                <a:latin typeface="Segoe Print" panose="02000800000000000000" pitchFamily="2" charset="0"/>
              </a:rPr>
              <a:t>specifies which instruction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70E53C1-F833-9C0C-0A15-22F2EB9A8E7C}"/>
              </a:ext>
            </a:extLst>
          </p:cNvPr>
          <p:cNvSpPr txBox="1"/>
          <p:nvPr/>
        </p:nvSpPr>
        <p:spPr>
          <a:xfrm>
            <a:off x="3139961" y="2559740"/>
            <a:ext cx="26256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>
                <a:solidFill>
                  <a:schemeClr val="accent6">
                    <a:lumMod val="75000"/>
                  </a:schemeClr>
                </a:solidFill>
                <a:latin typeface="Segoe Print" panose="02000800000000000000" pitchFamily="2" charset="0"/>
              </a:rPr>
              <a:t>source register       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ABA3A5B2-37B2-E497-F253-2AF48269FB68}"/>
              </a:ext>
            </a:extLst>
          </p:cNvPr>
          <p:cNvCxnSpPr>
            <a:cxnSpLocks/>
          </p:cNvCxnSpPr>
          <p:nvPr/>
        </p:nvCxnSpPr>
        <p:spPr>
          <a:xfrm flipH="1">
            <a:off x="3687930" y="2949522"/>
            <a:ext cx="278313" cy="185251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578FBF7F-F8F1-985A-759C-F6BAC19A3F00}"/>
              </a:ext>
            </a:extLst>
          </p:cNvPr>
          <p:cNvCxnSpPr>
            <a:cxnSpLocks/>
          </p:cNvCxnSpPr>
          <p:nvPr/>
        </p:nvCxnSpPr>
        <p:spPr>
          <a:xfrm>
            <a:off x="4177449" y="2903744"/>
            <a:ext cx="642528" cy="257745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97959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544FD7-65D2-C64A-8C95-6A69BC3ED4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I-type: loads and immediate arithmetic</a:t>
            </a:r>
          </a:p>
        </p:txBody>
      </p:sp>
      <p:grpSp>
        <p:nvGrpSpPr>
          <p:cNvPr id="15" name="Group 1">
            <a:extLst>
              <a:ext uri="{FF2B5EF4-FFF2-40B4-BE49-F238E27FC236}">
                <a16:creationId xmlns:a16="http://schemas.microsoft.com/office/drawing/2014/main" id="{AA587621-52E0-2E41-84EF-E8F73277092B}"/>
              </a:ext>
            </a:extLst>
          </p:cNvPr>
          <p:cNvGrpSpPr>
            <a:grpSpLocks/>
          </p:cNvGrpSpPr>
          <p:nvPr/>
        </p:nvGrpSpPr>
        <p:grpSpPr bwMode="auto">
          <a:xfrm>
            <a:off x="1501415" y="3641467"/>
            <a:ext cx="8147367" cy="767081"/>
            <a:chOff x="1331640" y="1391533"/>
            <a:chExt cx="6771978" cy="777698"/>
          </a:xfrm>
        </p:grpSpPr>
        <p:sp>
          <p:nvSpPr>
            <p:cNvPr id="16" name="Text Box 5">
              <a:extLst>
                <a:ext uri="{FF2B5EF4-FFF2-40B4-BE49-F238E27FC236}">
                  <a16:creationId xmlns:a16="http://schemas.microsoft.com/office/drawing/2014/main" id="{84E2DC11-9CED-614F-A66B-D24C368A8F9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31640" y="1391533"/>
              <a:ext cx="2374899" cy="415925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/>
                <a:t>immediate</a:t>
              </a:r>
              <a:endParaRPr lang="en-AU" altLang="en-US" sz="2000"/>
            </a:p>
          </p:txBody>
        </p:sp>
        <p:sp>
          <p:nvSpPr>
            <p:cNvPr id="17" name="Text Box 7">
              <a:extLst>
                <a:ext uri="{FF2B5EF4-FFF2-40B4-BE49-F238E27FC236}">
                  <a16:creationId xmlns:a16="http://schemas.microsoft.com/office/drawing/2014/main" id="{1F5D7DE8-2A12-B347-9148-F7F899FF223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08127" y="1391533"/>
              <a:ext cx="1079500" cy="415925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/>
                <a:t>rs1</a:t>
              </a:r>
              <a:endParaRPr lang="en-AU" altLang="en-US" sz="2000"/>
            </a:p>
          </p:txBody>
        </p:sp>
        <p:sp>
          <p:nvSpPr>
            <p:cNvPr id="18" name="Text Box 8">
              <a:extLst>
                <a:ext uri="{FF2B5EF4-FFF2-40B4-BE49-F238E27FC236}">
                  <a16:creationId xmlns:a16="http://schemas.microsoft.com/office/drawing/2014/main" id="{4B307C97-B651-0948-9A50-D013A9C066A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27131" y="1391533"/>
              <a:ext cx="1079500" cy="415925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/>
                <a:t>rd</a:t>
              </a:r>
              <a:endParaRPr lang="en-AU" altLang="en-US" sz="2000"/>
            </a:p>
          </p:txBody>
        </p:sp>
        <p:sp>
          <p:nvSpPr>
            <p:cNvPr id="19" name="Text Box 9">
              <a:extLst>
                <a:ext uri="{FF2B5EF4-FFF2-40B4-BE49-F238E27FC236}">
                  <a16:creationId xmlns:a16="http://schemas.microsoft.com/office/drawing/2014/main" id="{B13A0D91-297D-7445-B56E-E28179A159E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89215" y="1391533"/>
              <a:ext cx="936328" cy="415925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/>
                <a:t>funct3</a:t>
              </a:r>
              <a:endParaRPr lang="en-AU" altLang="en-US" sz="2000"/>
            </a:p>
          </p:txBody>
        </p:sp>
        <p:sp>
          <p:nvSpPr>
            <p:cNvPr id="20" name="Text Box 10">
              <a:extLst>
                <a:ext uri="{FF2B5EF4-FFF2-40B4-BE49-F238E27FC236}">
                  <a16:creationId xmlns:a16="http://schemas.microsoft.com/office/drawing/2014/main" id="{D17E3FB3-6D39-E241-84A1-309521893E3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06631" y="1391533"/>
              <a:ext cx="1296987" cy="415925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/>
                <a:t>opcode</a:t>
              </a:r>
              <a:endParaRPr lang="en-AU" altLang="en-US" sz="2000"/>
            </a:p>
          </p:txBody>
        </p:sp>
        <p:sp>
          <p:nvSpPr>
            <p:cNvPr id="21" name="Text Box 11">
              <a:extLst>
                <a:ext uri="{FF2B5EF4-FFF2-40B4-BE49-F238E27FC236}">
                  <a16:creationId xmlns:a16="http://schemas.microsoft.com/office/drawing/2014/main" id="{A98D2F98-81AF-B646-A66E-5CB8915E9EC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78304" y="1828096"/>
              <a:ext cx="788999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/>
                <a:t>12 bits</a:t>
              </a:r>
              <a:endParaRPr lang="en-AU" altLang="en-US" sz="1600"/>
            </a:p>
          </p:txBody>
        </p:sp>
        <p:sp>
          <p:nvSpPr>
            <p:cNvPr id="22" name="Text Box 12">
              <a:extLst>
                <a:ext uri="{FF2B5EF4-FFF2-40B4-BE49-F238E27FC236}">
                  <a16:creationId xmlns:a16="http://schemas.microsoft.com/office/drawing/2014/main" id="{A49164AA-B498-434B-864F-B57F13466F5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94513" y="1830677"/>
              <a:ext cx="675185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/>
                <a:t>7 bits</a:t>
              </a:r>
              <a:endParaRPr lang="en-AU" altLang="en-US" sz="1600"/>
            </a:p>
          </p:txBody>
        </p:sp>
        <p:sp>
          <p:nvSpPr>
            <p:cNvPr id="23" name="Text Box 14">
              <a:extLst>
                <a:ext uri="{FF2B5EF4-FFF2-40B4-BE49-F238E27FC236}">
                  <a16:creationId xmlns:a16="http://schemas.microsoft.com/office/drawing/2014/main" id="{0D2AB8CB-6940-664A-A757-7DF2EF0DF7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27202" y="1828096"/>
              <a:ext cx="669925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/>
                <a:t>5 bits</a:t>
              </a:r>
              <a:endParaRPr lang="en-AU" altLang="en-US" sz="1600"/>
            </a:p>
          </p:txBody>
        </p:sp>
        <p:sp>
          <p:nvSpPr>
            <p:cNvPr id="24" name="Text Box 15">
              <a:extLst>
                <a:ext uri="{FF2B5EF4-FFF2-40B4-BE49-F238E27FC236}">
                  <a16:creationId xmlns:a16="http://schemas.microsoft.com/office/drawing/2014/main" id="{0BDA4B96-41C0-FF4B-840C-D6BCBD041A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46206" y="1830677"/>
              <a:ext cx="669925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/>
                <a:t>5 bits</a:t>
              </a:r>
              <a:endParaRPr lang="en-AU" altLang="en-US" sz="1600"/>
            </a:p>
          </p:txBody>
        </p:sp>
        <p:sp>
          <p:nvSpPr>
            <p:cNvPr id="25" name="Text Box 16">
              <a:extLst>
                <a:ext uri="{FF2B5EF4-FFF2-40B4-BE49-F238E27FC236}">
                  <a16:creationId xmlns:a16="http://schemas.microsoft.com/office/drawing/2014/main" id="{0EFE9E56-28E1-7947-B135-A6832A608BF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60900" y="1828096"/>
              <a:ext cx="675185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/>
                <a:t>3 bits</a:t>
              </a:r>
              <a:endParaRPr lang="en-AU" altLang="en-US" sz="1600"/>
            </a:p>
          </p:txBody>
        </p:sp>
      </p:grpSp>
      <p:sp>
        <p:nvSpPr>
          <p:cNvPr id="26" name="Rectangle 25">
            <a:extLst>
              <a:ext uri="{FF2B5EF4-FFF2-40B4-BE49-F238E27FC236}">
                <a16:creationId xmlns:a16="http://schemas.microsoft.com/office/drawing/2014/main" id="{52F61179-FEA8-E049-93E2-1ABFEB2632AB}"/>
              </a:ext>
            </a:extLst>
          </p:cNvPr>
          <p:cNvSpPr/>
          <p:nvPr/>
        </p:nvSpPr>
        <p:spPr>
          <a:xfrm>
            <a:off x="5633821" y="3641467"/>
            <a:ext cx="1153899" cy="410247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6EDF5C8-A12C-A14E-AFD0-7DEA23DEC1D6}"/>
              </a:ext>
            </a:extLst>
          </p:cNvPr>
          <p:cNvSpPr/>
          <p:nvPr/>
        </p:nvSpPr>
        <p:spPr>
          <a:xfrm>
            <a:off x="8088376" y="3661938"/>
            <a:ext cx="1560406" cy="410247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4D073567-F8D6-8445-8209-CFDA4A1BF90F}"/>
              </a:ext>
            </a:extLst>
          </p:cNvPr>
          <p:cNvGrpSpPr/>
          <p:nvPr/>
        </p:nvGrpSpPr>
        <p:grpSpPr>
          <a:xfrm>
            <a:off x="6477659" y="4113169"/>
            <a:ext cx="1943655" cy="583939"/>
            <a:chOff x="6366879" y="2996060"/>
            <a:chExt cx="1943655" cy="583939"/>
          </a:xfrm>
        </p:grpSpPr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3E8DA016-68AD-FA45-9DB8-D40FB070BC1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441092" y="2996060"/>
              <a:ext cx="869442" cy="583939"/>
            </a:xfrm>
            <a:prstGeom prst="straightConnector1">
              <a:avLst/>
            </a:prstGeom>
            <a:ln w="15875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AF2695EE-A0B8-AD44-9A63-A7E8CAE6771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366879" y="3088334"/>
              <a:ext cx="636860" cy="441830"/>
            </a:xfrm>
            <a:prstGeom prst="straightConnector1">
              <a:avLst/>
            </a:prstGeom>
            <a:ln w="15875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32" name="Table 31">
            <a:extLst>
              <a:ext uri="{FF2B5EF4-FFF2-40B4-BE49-F238E27FC236}">
                <a16:creationId xmlns:a16="http://schemas.microsoft.com/office/drawing/2014/main" id="{734EA48F-3564-874D-8646-FFF4A3A14E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3798747"/>
              </p:ext>
            </p:extLst>
          </p:nvPr>
        </p:nvGraphicFramePr>
        <p:xfrm>
          <a:off x="2294484" y="5380355"/>
          <a:ext cx="5613981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18364">
                  <a:extLst>
                    <a:ext uri="{9D8B030D-6E8A-4147-A177-3AD203B41FA5}">
                      <a16:colId xmlns:a16="http://schemas.microsoft.com/office/drawing/2014/main" val="2330108042"/>
                    </a:ext>
                  </a:extLst>
                </a:gridCol>
                <a:gridCol w="1859280">
                  <a:extLst>
                    <a:ext uri="{9D8B030D-6E8A-4147-A177-3AD203B41FA5}">
                      <a16:colId xmlns:a16="http://schemas.microsoft.com/office/drawing/2014/main" val="2261862194"/>
                    </a:ext>
                  </a:extLst>
                </a:gridCol>
                <a:gridCol w="1336337">
                  <a:extLst>
                    <a:ext uri="{9D8B030D-6E8A-4147-A177-3AD203B41FA5}">
                      <a16:colId xmlns:a16="http://schemas.microsoft.com/office/drawing/2014/main" val="12060171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opcode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funct3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10943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err="1"/>
                        <a:t>ld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0000011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98039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err="1"/>
                        <a:t>addi</a:t>
                      </a:r>
                      <a:r>
                        <a:rPr lang="en-US"/>
                        <a:t> (add immediate)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0010011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4534021"/>
                  </a:ext>
                </a:extLst>
              </a:tr>
            </a:tbl>
          </a:graphicData>
        </a:graphic>
      </p:graphicFrame>
      <p:sp>
        <p:nvSpPr>
          <p:cNvPr id="41" name="TextBox 40">
            <a:extLst>
              <a:ext uri="{FF2B5EF4-FFF2-40B4-BE49-F238E27FC236}">
                <a16:creationId xmlns:a16="http://schemas.microsoft.com/office/drawing/2014/main" id="{E39A2D41-AADA-5821-A397-FDDC224F830B}"/>
              </a:ext>
            </a:extLst>
          </p:cNvPr>
          <p:cNvSpPr txBox="1"/>
          <p:nvPr/>
        </p:nvSpPr>
        <p:spPr>
          <a:xfrm>
            <a:off x="3788891" y="1456192"/>
            <a:ext cx="27042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Example I-type instruction: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F226501-CA69-FEFA-CCB3-9AEB64A7C89B}"/>
              </a:ext>
            </a:extLst>
          </p:cNvPr>
          <p:cNvSpPr txBox="1"/>
          <p:nvPr/>
        </p:nvSpPr>
        <p:spPr>
          <a:xfrm>
            <a:off x="3825560" y="1812398"/>
            <a:ext cx="4363695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sz="180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ld</a:t>
            </a:r>
            <a:r>
              <a:rPr lang="en-US" sz="1800">
                <a:latin typeface="Consolas" panose="020B0609020204030204" pitchFamily="49" charset="0"/>
                <a:cs typeface="Consolas" panose="020B0609020204030204" pitchFamily="49" charset="0"/>
              </a:rPr>
              <a:t> x5, 40(x6) //x5=Memory[x6+40]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291F898-5A8B-34C1-6C51-64488745975A}"/>
              </a:ext>
            </a:extLst>
          </p:cNvPr>
          <p:cNvSpPr txBox="1"/>
          <p:nvPr/>
        </p:nvSpPr>
        <p:spPr>
          <a:xfrm>
            <a:off x="3825560" y="2195874"/>
            <a:ext cx="3857146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addi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 x5, x6, 100 // x5=x6+100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636BA3A-58CB-AF6F-FD7D-C164C7DBD2FC}"/>
              </a:ext>
            </a:extLst>
          </p:cNvPr>
          <p:cNvSpPr txBox="1"/>
          <p:nvPr/>
        </p:nvSpPr>
        <p:spPr>
          <a:xfrm>
            <a:off x="5430123" y="4676637"/>
            <a:ext cx="3296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>
                <a:solidFill>
                  <a:schemeClr val="accent1"/>
                </a:solidFill>
                <a:latin typeface="Segoe Print" panose="02000800000000000000" pitchFamily="2" charset="0"/>
              </a:rPr>
              <a:t>specifies which instruction</a:t>
            </a: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39F24955-E226-A279-1F91-10D3FC72C57F}"/>
              </a:ext>
            </a:extLst>
          </p:cNvPr>
          <p:cNvCxnSpPr>
            <a:cxnSpLocks/>
          </p:cNvCxnSpPr>
          <p:nvPr/>
        </p:nvCxnSpPr>
        <p:spPr>
          <a:xfrm flipH="1">
            <a:off x="7666797" y="3388892"/>
            <a:ext cx="278313" cy="185251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9CC061C9-DB59-016B-8966-6524E6B03A98}"/>
              </a:ext>
            </a:extLst>
          </p:cNvPr>
          <p:cNvSpPr txBox="1"/>
          <p:nvPr/>
        </p:nvSpPr>
        <p:spPr>
          <a:xfrm>
            <a:off x="7658655" y="3029731"/>
            <a:ext cx="26256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>
                <a:solidFill>
                  <a:schemeClr val="accent6">
                    <a:lumMod val="75000"/>
                  </a:schemeClr>
                </a:solidFill>
                <a:latin typeface="Segoe Print" panose="02000800000000000000" pitchFamily="2" charset="0"/>
              </a:rPr>
              <a:t>destination register       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758D13D-349D-64AE-0F22-30778CF90D03}"/>
              </a:ext>
            </a:extLst>
          </p:cNvPr>
          <p:cNvSpPr txBox="1"/>
          <p:nvPr/>
        </p:nvSpPr>
        <p:spPr>
          <a:xfrm>
            <a:off x="3111600" y="3025796"/>
            <a:ext cx="26256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>
                <a:solidFill>
                  <a:schemeClr val="accent6">
                    <a:lumMod val="75000"/>
                  </a:schemeClr>
                </a:solidFill>
                <a:latin typeface="Segoe Print" panose="02000800000000000000" pitchFamily="2" charset="0"/>
              </a:rPr>
              <a:t>source register       </a:t>
            </a: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0057588A-1CA1-4D86-27B9-4154F0108638}"/>
              </a:ext>
            </a:extLst>
          </p:cNvPr>
          <p:cNvCxnSpPr>
            <a:cxnSpLocks/>
          </p:cNvCxnSpPr>
          <p:nvPr/>
        </p:nvCxnSpPr>
        <p:spPr>
          <a:xfrm>
            <a:off x="4624136" y="3399063"/>
            <a:ext cx="377048" cy="192682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3B6DA9B0-71F9-225A-9905-D0F134F851DA}"/>
              </a:ext>
            </a:extLst>
          </p:cNvPr>
          <p:cNvSpPr txBox="1"/>
          <p:nvPr/>
        </p:nvSpPr>
        <p:spPr>
          <a:xfrm>
            <a:off x="983147" y="2742561"/>
            <a:ext cx="16995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>
                <a:solidFill>
                  <a:schemeClr val="accent6">
                    <a:lumMod val="75000"/>
                  </a:schemeClr>
                </a:solidFill>
                <a:latin typeface="Segoe Print" panose="02000800000000000000" pitchFamily="2" charset="0"/>
              </a:rPr>
              <a:t>Encodes the constant</a:t>
            </a:r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CC51BB65-2FCE-C5CD-033D-B05A27E8E645}"/>
              </a:ext>
            </a:extLst>
          </p:cNvPr>
          <p:cNvCxnSpPr>
            <a:cxnSpLocks/>
          </p:cNvCxnSpPr>
          <p:nvPr/>
        </p:nvCxnSpPr>
        <p:spPr>
          <a:xfrm>
            <a:off x="2284917" y="3210462"/>
            <a:ext cx="586314" cy="362121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85137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6A892B-9C92-AA4D-B813-B9C44A434F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S-type: stores</a:t>
            </a:r>
          </a:p>
        </p:txBody>
      </p:sp>
      <p:grpSp>
        <p:nvGrpSpPr>
          <p:cNvPr id="4" name="Group 15">
            <a:extLst>
              <a:ext uri="{FF2B5EF4-FFF2-40B4-BE49-F238E27FC236}">
                <a16:creationId xmlns:a16="http://schemas.microsoft.com/office/drawing/2014/main" id="{CDF3A218-C2EC-384C-BA1E-91BD3BCD3899}"/>
              </a:ext>
            </a:extLst>
          </p:cNvPr>
          <p:cNvGrpSpPr>
            <a:grpSpLocks/>
          </p:cNvGrpSpPr>
          <p:nvPr/>
        </p:nvGrpSpPr>
        <p:grpSpPr bwMode="auto">
          <a:xfrm>
            <a:off x="1594609" y="3731695"/>
            <a:ext cx="6772275" cy="776287"/>
            <a:chOff x="1331640" y="1391533"/>
            <a:chExt cx="6771978" cy="777698"/>
          </a:xfrm>
        </p:grpSpPr>
        <p:sp>
          <p:nvSpPr>
            <p:cNvPr id="5" name="Text Box 5">
              <a:extLst>
                <a:ext uri="{FF2B5EF4-FFF2-40B4-BE49-F238E27FC236}">
                  <a16:creationId xmlns:a16="http://schemas.microsoft.com/office/drawing/2014/main" id="{AA826854-A5D9-1649-89A7-D3E225634F0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31640" y="1391533"/>
              <a:ext cx="1296987" cy="415925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/>
                <a:t> </a:t>
              </a:r>
              <a:endParaRPr lang="en-AU" altLang="en-US" sz="2000"/>
            </a:p>
          </p:txBody>
        </p:sp>
        <p:sp>
          <p:nvSpPr>
            <p:cNvPr id="6" name="Text Box 6">
              <a:extLst>
                <a:ext uri="{FF2B5EF4-FFF2-40B4-BE49-F238E27FC236}">
                  <a16:creationId xmlns:a16="http://schemas.microsoft.com/office/drawing/2014/main" id="{37445E82-6708-2643-B975-69A190BE6EE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28627" y="1391533"/>
              <a:ext cx="1079500" cy="415925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/>
                <a:t>rs2</a:t>
              </a:r>
              <a:endParaRPr lang="en-AU" altLang="en-US" sz="2000"/>
            </a:p>
          </p:txBody>
        </p:sp>
        <p:sp>
          <p:nvSpPr>
            <p:cNvPr id="7" name="Text Box 7">
              <a:extLst>
                <a:ext uri="{FF2B5EF4-FFF2-40B4-BE49-F238E27FC236}">
                  <a16:creationId xmlns:a16="http://schemas.microsoft.com/office/drawing/2014/main" id="{7BBD7AB9-0436-824D-8239-7EF06B9C24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08127" y="1391533"/>
              <a:ext cx="1079500" cy="415925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/>
                <a:t>rs1</a:t>
              </a:r>
              <a:endParaRPr lang="en-AU" altLang="en-US" sz="2000"/>
            </a:p>
          </p:txBody>
        </p:sp>
        <p:sp>
          <p:nvSpPr>
            <p:cNvPr id="8" name="Text Box 8">
              <a:extLst>
                <a:ext uri="{FF2B5EF4-FFF2-40B4-BE49-F238E27FC236}">
                  <a16:creationId xmlns:a16="http://schemas.microsoft.com/office/drawing/2014/main" id="{24F786EC-24B4-6C42-9114-8CA35C28052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27131" y="1391533"/>
              <a:ext cx="1079500" cy="415925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/>
                <a:t> </a:t>
              </a:r>
              <a:endParaRPr lang="en-AU" altLang="en-US" sz="2000"/>
            </a:p>
          </p:txBody>
        </p:sp>
        <p:sp>
          <p:nvSpPr>
            <p:cNvPr id="9" name="Text Box 9">
              <a:extLst>
                <a:ext uri="{FF2B5EF4-FFF2-40B4-BE49-F238E27FC236}">
                  <a16:creationId xmlns:a16="http://schemas.microsoft.com/office/drawing/2014/main" id="{9BF9274E-3D1D-3F4A-B55F-CAECDA59D43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89215" y="1391533"/>
              <a:ext cx="936328" cy="415925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/>
                <a:t>funct3</a:t>
              </a:r>
              <a:endParaRPr lang="en-AU" altLang="en-US" sz="2000"/>
            </a:p>
          </p:txBody>
        </p:sp>
        <p:sp>
          <p:nvSpPr>
            <p:cNvPr id="10" name="Text Box 10">
              <a:extLst>
                <a:ext uri="{FF2B5EF4-FFF2-40B4-BE49-F238E27FC236}">
                  <a16:creationId xmlns:a16="http://schemas.microsoft.com/office/drawing/2014/main" id="{A65109F7-9089-D34D-B61B-F86A71FE1C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06631" y="1391533"/>
              <a:ext cx="1296987" cy="415925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/>
                <a:t>opcode</a:t>
              </a:r>
              <a:endParaRPr lang="en-AU" altLang="en-US" sz="2000"/>
            </a:p>
          </p:txBody>
        </p:sp>
        <p:sp>
          <p:nvSpPr>
            <p:cNvPr id="11" name="Text Box 11">
              <a:extLst>
                <a:ext uri="{FF2B5EF4-FFF2-40B4-BE49-F238E27FC236}">
                  <a16:creationId xmlns:a16="http://schemas.microsoft.com/office/drawing/2014/main" id="{7F84703A-B867-BB4B-B244-62899D975D7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19522" y="1828096"/>
              <a:ext cx="675185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/>
                <a:t>7 bits</a:t>
              </a:r>
              <a:endParaRPr lang="en-AU" altLang="en-US" sz="1600"/>
            </a:p>
          </p:txBody>
        </p:sp>
        <p:sp>
          <p:nvSpPr>
            <p:cNvPr id="12" name="Text Box 12">
              <a:extLst>
                <a:ext uri="{FF2B5EF4-FFF2-40B4-BE49-F238E27FC236}">
                  <a16:creationId xmlns:a16="http://schemas.microsoft.com/office/drawing/2014/main" id="{50828C8C-184A-6745-9425-97485A0F783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94513" y="1830677"/>
              <a:ext cx="675185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/>
                <a:t>7 bits</a:t>
              </a:r>
              <a:endParaRPr lang="en-AU" altLang="en-US" sz="1600"/>
            </a:p>
          </p:txBody>
        </p:sp>
        <p:sp>
          <p:nvSpPr>
            <p:cNvPr id="13" name="Text Box 13">
              <a:extLst>
                <a:ext uri="{FF2B5EF4-FFF2-40B4-BE49-F238E27FC236}">
                  <a16:creationId xmlns:a16="http://schemas.microsoft.com/office/drawing/2014/main" id="{9E45018F-D792-7F41-9941-8B18BD1A5C9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46115" y="1828096"/>
              <a:ext cx="669925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/>
                <a:t>5 bits</a:t>
              </a:r>
              <a:endParaRPr lang="en-AU" altLang="en-US" sz="1600"/>
            </a:p>
          </p:txBody>
        </p:sp>
        <p:sp>
          <p:nvSpPr>
            <p:cNvPr id="14" name="Text Box 14">
              <a:extLst>
                <a:ext uri="{FF2B5EF4-FFF2-40B4-BE49-F238E27FC236}">
                  <a16:creationId xmlns:a16="http://schemas.microsoft.com/office/drawing/2014/main" id="{D8D2E839-9F57-3B41-A07C-BCF823C4C16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27202" y="1828096"/>
              <a:ext cx="669925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/>
                <a:t>5 bits</a:t>
              </a:r>
              <a:endParaRPr lang="en-AU" altLang="en-US" sz="1600"/>
            </a:p>
          </p:txBody>
        </p:sp>
        <p:sp>
          <p:nvSpPr>
            <p:cNvPr id="15" name="Text Box 15">
              <a:extLst>
                <a:ext uri="{FF2B5EF4-FFF2-40B4-BE49-F238E27FC236}">
                  <a16:creationId xmlns:a16="http://schemas.microsoft.com/office/drawing/2014/main" id="{D89AD874-B01C-F442-8B5F-6E2910E6F0B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46206" y="1830677"/>
              <a:ext cx="669925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/>
                <a:t>5 bits</a:t>
              </a:r>
              <a:endParaRPr lang="en-AU" altLang="en-US" sz="1600"/>
            </a:p>
          </p:txBody>
        </p:sp>
        <p:sp>
          <p:nvSpPr>
            <p:cNvPr id="16" name="Text Box 16">
              <a:extLst>
                <a:ext uri="{FF2B5EF4-FFF2-40B4-BE49-F238E27FC236}">
                  <a16:creationId xmlns:a16="http://schemas.microsoft.com/office/drawing/2014/main" id="{AC5B55DF-5B88-5A43-A509-6EDD54BE2C9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60900" y="1828096"/>
              <a:ext cx="675185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/>
                <a:t>3 bits</a:t>
              </a:r>
              <a:endParaRPr lang="en-AU" altLang="en-US" sz="1600"/>
            </a:p>
          </p:txBody>
        </p:sp>
      </p:grpSp>
      <p:sp>
        <p:nvSpPr>
          <p:cNvPr id="17" name="TextBox 2">
            <a:extLst>
              <a:ext uri="{FF2B5EF4-FFF2-40B4-BE49-F238E27FC236}">
                <a16:creationId xmlns:a16="http://schemas.microsoft.com/office/drawing/2014/main" id="{DA8AD703-4AF5-2C48-9827-FDAC12D26B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51759" y="3753920"/>
            <a:ext cx="11811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imm[11:5]</a:t>
            </a:r>
          </a:p>
        </p:txBody>
      </p:sp>
      <p:sp>
        <p:nvSpPr>
          <p:cNvPr id="18" name="TextBox 37">
            <a:extLst>
              <a:ext uri="{FF2B5EF4-FFF2-40B4-BE49-F238E27FC236}">
                <a16:creationId xmlns:a16="http://schemas.microsoft.com/office/drawing/2014/main" id="{191700FE-338C-2D41-BD38-52DA62BC8C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98334" y="3753920"/>
            <a:ext cx="10699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imm[4:0]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2D04BB9-A631-DF4D-9866-CB8254DB8C98}"/>
              </a:ext>
            </a:extLst>
          </p:cNvPr>
          <p:cNvSpPr/>
          <p:nvPr/>
        </p:nvSpPr>
        <p:spPr>
          <a:xfrm>
            <a:off x="5055479" y="3708518"/>
            <a:ext cx="941268" cy="410247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7F2ED44-5764-AB42-B74E-E70BD5D3ADB2}"/>
              </a:ext>
            </a:extLst>
          </p:cNvPr>
          <p:cNvSpPr/>
          <p:nvPr/>
        </p:nvSpPr>
        <p:spPr>
          <a:xfrm>
            <a:off x="7076294" y="3708518"/>
            <a:ext cx="1297044" cy="410247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F35ADDCF-4D8D-9848-9BEA-04AF563CFB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8019054"/>
              </p:ext>
            </p:extLst>
          </p:nvPr>
        </p:nvGraphicFramePr>
        <p:xfrm>
          <a:off x="2168438" y="5396555"/>
          <a:ext cx="5131084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1169">
                  <a:extLst>
                    <a:ext uri="{9D8B030D-6E8A-4147-A177-3AD203B41FA5}">
                      <a16:colId xmlns:a16="http://schemas.microsoft.com/office/drawing/2014/main" val="2330108042"/>
                    </a:ext>
                  </a:extLst>
                </a:gridCol>
                <a:gridCol w="1358526">
                  <a:extLst>
                    <a:ext uri="{9D8B030D-6E8A-4147-A177-3AD203B41FA5}">
                      <a16:colId xmlns:a16="http://schemas.microsoft.com/office/drawing/2014/main" val="2261862194"/>
                    </a:ext>
                  </a:extLst>
                </a:gridCol>
                <a:gridCol w="1221389">
                  <a:extLst>
                    <a:ext uri="{9D8B030D-6E8A-4147-A177-3AD203B41FA5}">
                      <a16:colId xmlns:a16="http://schemas.microsoft.com/office/drawing/2014/main" val="12060171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opcode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funct3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10943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err="1"/>
                        <a:t>sw</a:t>
                      </a:r>
                      <a:r>
                        <a:rPr lang="en-US"/>
                        <a:t> (store word)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0100011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98039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err="1"/>
                        <a:t>sd</a:t>
                      </a:r>
                      <a:r>
                        <a:rPr lang="en-US"/>
                        <a:t> (store doubleword)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0100011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4534021"/>
                  </a:ext>
                </a:extLst>
              </a:tr>
            </a:tbl>
          </a:graphicData>
        </a:graphic>
      </p:graphicFrame>
      <p:sp>
        <p:nvSpPr>
          <p:cNvPr id="36" name="TextBox 35">
            <a:extLst>
              <a:ext uri="{FF2B5EF4-FFF2-40B4-BE49-F238E27FC236}">
                <a16:creationId xmlns:a16="http://schemas.microsoft.com/office/drawing/2014/main" id="{DE228B39-8DCD-D047-9E81-609801118B72}"/>
              </a:ext>
            </a:extLst>
          </p:cNvPr>
          <p:cNvSpPr txBox="1"/>
          <p:nvPr/>
        </p:nvSpPr>
        <p:spPr>
          <a:xfrm>
            <a:off x="7455639" y="2457931"/>
            <a:ext cx="4806893" cy="341632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altLang="en-US" dirty="0">
                <a:solidFill>
                  <a:schemeClr val="bg1"/>
                </a:solidFill>
              </a:rPr>
              <a:t>split </a:t>
            </a:r>
            <a:r>
              <a:rPr lang="en-US" altLang="en-US" dirty="0" err="1">
                <a:solidFill>
                  <a:schemeClr val="bg1"/>
                </a:solidFill>
              </a:rPr>
              <a:t>s.t.</a:t>
            </a:r>
            <a:r>
              <a:rPr lang="en-US" altLang="en-US" dirty="0">
                <a:solidFill>
                  <a:schemeClr val="bg1"/>
                </a:solidFill>
              </a:rPr>
              <a:t> rs1 and rs2 are always in the same </a:t>
            </a:r>
            <a:r>
              <a:rPr lang="en-US" altLang="en-US" dirty="0" err="1">
                <a:solidFill>
                  <a:schemeClr val="bg1"/>
                </a:solidFill>
              </a:rPr>
              <a:t>bitpos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96DF0D2-CAC6-CE66-1E73-6F5A2FC35CAD}"/>
              </a:ext>
            </a:extLst>
          </p:cNvPr>
          <p:cNvSpPr txBox="1"/>
          <p:nvPr/>
        </p:nvSpPr>
        <p:spPr>
          <a:xfrm>
            <a:off x="3788891" y="1456192"/>
            <a:ext cx="2751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Example S-type instruction: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0B44C69-E151-099D-8A43-97FD4B0DB0D2}"/>
              </a:ext>
            </a:extLst>
          </p:cNvPr>
          <p:cNvSpPr txBox="1"/>
          <p:nvPr/>
        </p:nvSpPr>
        <p:spPr>
          <a:xfrm>
            <a:off x="3825560" y="1812398"/>
            <a:ext cx="4237057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sz="180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sd</a:t>
            </a:r>
            <a:r>
              <a:rPr lang="en-US" sz="1800">
                <a:latin typeface="Consolas" panose="020B0609020204030204" pitchFamily="49" charset="0"/>
                <a:cs typeface="Consolas" panose="020B0609020204030204" pitchFamily="49" charset="0"/>
              </a:rPr>
              <a:t> x5, 40(x6) //Memory[x6+40]=x5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56F1B0C-755F-41C1-3422-FBF387C0B1B2}"/>
              </a:ext>
            </a:extLst>
          </p:cNvPr>
          <p:cNvSpPr txBox="1"/>
          <p:nvPr/>
        </p:nvSpPr>
        <p:spPr>
          <a:xfrm>
            <a:off x="4145745" y="2974935"/>
            <a:ext cx="2625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>
                <a:solidFill>
                  <a:schemeClr val="accent6">
                    <a:lumMod val="75000"/>
                  </a:schemeClr>
                </a:solidFill>
                <a:latin typeface="Segoe Print" panose="02000800000000000000" pitchFamily="2" charset="0"/>
              </a:rPr>
              <a:t>register storing base memory address    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1BBBBE6E-CFAD-0991-7E6E-0AA510DDC7CE}"/>
              </a:ext>
            </a:extLst>
          </p:cNvPr>
          <p:cNvCxnSpPr>
            <a:cxnSpLocks/>
          </p:cNvCxnSpPr>
          <p:nvPr/>
        </p:nvCxnSpPr>
        <p:spPr>
          <a:xfrm flipH="1">
            <a:off x="4386021" y="3527532"/>
            <a:ext cx="201477" cy="180986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09E2ADFF-62B4-BE2B-8F0A-F283CDDF4873}"/>
              </a:ext>
            </a:extLst>
          </p:cNvPr>
          <p:cNvSpPr txBox="1"/>
          <p:nvPr/>
        </p:nvSpPr>
        <p:spPr>
          <a:xfrm>
            <a:off x="2220111" y="3095786"/>
            <a:ext cx="26256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>
                <a:solidFill>
                  <a:schemeClr val="accent6">
                    <a:lumMod val="75000"/>
                  </a:schemeClr>
                </a:solidFill>
                <a:latin typeface="Segoe Print" panose="02000800000000000000" pitchFamily="2" charset="0"/>
              </a:rPr>
              <a:t>source register       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490B782D-F0A6-7602-13BB-AA86BAA71479}"/>
              </a:ext>
            </a:extLst>
          </p:cNvPr>
          <p:cNvCxnSpPr>
            <a:cxnSpLocks/>
            <a:stCxn id="34" idx="2"/>
          </p:cNvCxnSpPr>
          <p:nvPr/>
        </p:nvCxnSpPr>
        <p:spPr>
          <a:xfrm flipH="1">
            <a:off x="3301139" y="3465118"/>
            <a:ext cx="231809" cy="288802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CB37D7D0-B096-DE3E-C688-1CB3F0682103}"/>
              </a:ext>
            </a:extLst>
          </p:cNvPr>
          <p:cNvSpPr txBox="1"/>
          <p:nvPr/>
        </p:nvSpPr>
        <p:spPr>
          <a:xfrm>
            <a:off x="3120966" y="2475640"/>
            <a:ext cx="82328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chemeClr val="accent6">
                    <a:lumMod val="75000"/>
                  </a:schemeClr>
                </a:solidFill>
                <a:latin typeface="Segoe Print" panose="02000800000000000000" pitchFamily="2" charset="0"/>
              </a:rPr>
              <a:t>Encodes the constant memory offset</a:t>
            </a:r>
          </a:p>
        </p:txBody>
      </p:sp>
      <p:sp>
        <p:nvSpPr>
          <p:cNvPr id="56" name="Freeform 55">
            <a:extLst>
              <a:ext uri="{FF2B5EF4-FFF2-40B4-BE49-F238E27FC236}">
                <a16:creationId xmlns:a16="http://schemas.microsoft.com/office/drawing/2014/main" id="{55488D4D-A0B9-CB0E-1731-8F999D9813D0}"/>
              </a:ext>
            </a:extLst>
          </p:cNvPr>
          <p:cNvSpPr/>
          <p:nvPr/>
        </p:nvSpPr>
        <p:spPr>
          <a:xfrm>
            <a:off x="1906293" y="2712203"/>
            <a:ext cx="1214674" cy="976394"/>
          </a:xfrm>
          <a:custGeom>
            <a:avLst/>
            <a:gdLst>
              <a:gd name="csX0" fmla="*/ 1214674 w 1214674"/>
              <a:gd name="csY0" fmla="*/ 280 h 976394"/>
              <a:gd name="csX1" fmla="*/ 273728 w 1214674"/>
              <a:gd name="csY1" fmla="*/ 160008 h 976394"/>
              <a:gd name="csX2" fmla="*/ 0 w 1214674"/>
              <a:gd name="csY2" fmla="*/ 976393 h 97639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214674" h="976394" extrusionOk="0">
                <a:moveTo>
                  <a:pt x="1214674" y="280"/>
                </a:moveTo>
                <a:cubicBezTo>
                  <a:pt x="804729" y="-26300"/>
                  <a:pt x="432711" y="13634"/>
                  <a:pt x="273728" y="160008"/>
                </a:cubicBezTo>
                <a:cubicBezTo>
                  <a:pt x="96806" y="328067"/>
                  <a:pt x="20295" y="650032"/>
                  <a:pt x="0" y="976393"/>
                </a:cubicBezTo>
              </a:path>
            </a:pathLst>
          </a:custGeom>
          <a:noFill/>
          <a:ln w="15875">
            <a:solidFill>
              <a:schemeClr val="accent6">
                <a:lumMod val="75000"/>
              </a:schemeClr>
            </a:solidFill>
            <a:tailEnd type="stealth" w="lg" len="lg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2200759 w 2200759"/>
                      <a:gd name="connsiteY0" fmla="*/ 245 h 852652"/>
                      <a:gd name="connsiteX1" fmla="*/ 495945 w 2200759"/>
                      <a:gd name="connsiteY1" fmla="*/ 139730 h 852652"/>
                      <a:gd name="connsiteX2" fmla="*/ 0 w 2200759"/>
                      <a:gd name="connsiteY2" fmla="*/ 852652 h 85265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2200759" h="852652">
                        <a:moveTo>
                          <a:pt x="2200759" y="245"/>
                        </a:moveTo>
                        <a:cubicBezTo>
                          <a:pt x="1531748" y="-1047"/>
                          <a:pt x="862738" y="-2338"/>
                          <a:pt x="495945" y="139730"/>
                        </a:cubicBezTo>
                        <a:cubicBezTo>
                          <a:pt x="129152" y="281798"/>
                          <a:pt x="64576" y="567225"/>
                          <a:pt x="0" y="852652"/>
                        </a:cubicBezTo>
                      </a:path>
                    </a:pathLst>
                  </a:cu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Freeform 57">
            <a:extLst>
              <a:ext uri="{FF2B5EF4-FFF2-40B4-BE49-F238E27FC236}">
                <a16:creationId xmlns:a16="http://schemas.microsoft.com/office/drawing/2014/main" id="{217F912E-6F7B-4A91-F031-92479BFA084E}"/>
              </a:ext>
            </a:extLst>
          </p:cNvPr>
          <p:cNvSpPr/>
          <p:nvPr/>
        </p:nvSpPr>
        <p:spPr>
          <a:xfrm>
            <a:off x="6679769" y="2851688"/>
            <a:ext cx="357644" cy="805912"/>
          </a:xfrm>
          <a:custGeom>
            <a:avLst/>
            <a:gdLst>
              <a:gd name="connsiteX0" fmla="*/ 92990 w 357644"/>
              <a:gd name="connsiteY0" fmla="*/ 0 h 805912"/>
              <a:gd name="connsiteX1" fmla="*/ 356462 w 357644"/>
              <a:gd name="connsiteY1" fmla="*/ 356461 h 805912"/>
              <a:gd name="connsiteX2" fmla="*/ 0 w 357644"/>
              <a:gd name="connsiteY2" fmla="*/ 805912 h 8059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57644" h="805912">
                <a:moveTo>
                  <a:pt x="92990" y="0"/>
                </a:moveTo>
                <a:cubicBezTo>
                  <a:pt x="232475" y="111071"/>
                  <a:pt x="371960" y="222142"/>
                  <a:pt x="356462" y="356461"/>
                </a:cubicBezTo>
                <a:cubicBezTo>
                  <a:pt x="340964" y="490780"/>
                  <a:pt x="170482" y="648346"/>
                  <a:pt x="0" y="805912"/>
                </a:cubicBezTo>
              </a:path>
            </a:pathLst>
          </a:custGeom>
          <a:noFill/>
          <a:ln w="15875">
            <a:solidFill>
              <a:schemeClr val="accent6">
                <a:lumMod val="50000"/>
              </a:schemeClr>
            </a:solidFill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35408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39BDA4-8F4F-E546-BEA5-4EFB230B35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SB-type: conditional branch</a:t>
            </a:r>
          </a:p>
        </p:txBody>
      </p:sp>
      <p:grpSp>
        <p:nvGrpSpPr>
          <p:cNvPr id="3" name="Group 15">
            <a:extLst>
              <a:ext uri="{FF2B5EF4-FFF2-40B4-BE49-F238E27FC236}">
                <a16:creationId xmlns:a16="http://schemas.microsoft.com/office/drawing/2014/main" id="{CE3331F1-1734-4CBE-BED4-E0C5FE52DFEF}"/>
              </a:ext>
            </a:extLst>
          </p:cNvPr>
          <p:cNvGrpSpPr>
            <a:grpSpLocks/>
          </p:cNvGrpSpPr>
          <p:nvPr/>
        </p:nvGrpSpPr>
        <p:grpSpPr bwMode="auto">
          <a:xfrm>
            <a:off x="1318090" y="2465395"/>
            <a:ext cx="6772275" cy="1113956"/>
            <a:chOff x="1331640" y="1053250"/>
            <a:chExt cx="6771978" cy="1115981"/>
          </a:xfrm>
        </p:grpSpPr>
        <p:sp>
          <p:nvSpPr>
            <p:cNvPr id="4" name="Text Box 5">
              <a:extLst>
                <a:ext uri="{FF2B5EF4-FFF2-40B4-BE49-F238E27FC236}">
                  <a16:creationId xmlns:a16="http://schemas.microsoft.com/office/drawing/2014/main" id="{6F318E6D-2C57-4347-B522-14383CEDF2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31640" y="1391533"/>
              <a:ext cx="1296987" cy="415925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/>
                <a:t> </a:t>
              </a:r>
              <a:endParaRPr lang="en-AU" altLang="en-US" sz="2000"/>
            </a:p>
          </p:txBody>
        </p:sp>
        <p:sp>
          <p:nvSpPr>
            <p:cNvPr id="5" name="Text Box 6">
              <a:extLst>
                <a:ext uri="{FF2B5EF4-FFF2-40B4-BE49-F238E27FC236}">
                  <a16:creationId xmlns:a16="http://schemas.microsoft.com/office/drawing/2014/main" id="{36040CE8-B483-4856-BCAC-8D26F6BFEB6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28627" y="1391533"/>
              <a:ext cx="1079500" cy="415925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/>
                <a:t>rs2</a:t>
              </a:r>
              <a:endParaRPr lang="en-AU" altLang="en-US" sz="2000"/>
            </a:p>
          </p:txBody>
        </p:sp>
        <p:sp>
          <p:nvSpPr>
            <p:cNvPr id="6" name="Text Box 7">
              <a:extLst>
                <a:ext uri="{FF2B5EF4-FFF2-40B4-BE49-F238E27FC236}">
                  <a16:creationId xmlns:a16="http://schemas.microsoft.com/office/drawing/2014/main" id="{129820A6-6769-44B5-9026-959590F40DD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08127" y="1391533"/>
              <a:ext cx="1079500" cy="415925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/>
                <a:t>rs1</a:t>
              </a:r>
              <a:endParaRPr lang="en-AU" altLang="en-US" sz="2000"/>
            </a:p>
          </p:txBody>
        </p:sp>
        <p:sp>
          <p:nvSpPr>
            <p:cNvPr id="7" name="Text Box 8">
              <a:extLst>
                <a:ext uri="{FF2B5EF4-FFF2-40B4-BE49-F238E27FC236}">
                  <a16:creationId xmlns:a16="http://schemas.microsoft.com/office/drawing/2014/main" id="{E3F8D2A8-CA56-4AEC-8FBC-FC2CAE7123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27131" y="1391533"/>
              <a:ext cx="1079500" cy="415925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/>
                <a:t> </a:t>
              </a:r>
              <a:endParaRPr lang="en-AU" altLang="en-US" sz="2000"/>
            </a:p>
          </p:txBody>
        </p:sp>
        <p:sp>
          <p:nvSpPr>
            <p:cNvPr id="8" name="Text Box 9">
              <a:extLst>
                <a:ext uri="{FF2B5EF4-FFF2-40B4-BE49-F238E27FC236}">
                  <a16:creationId xmlns:a16="http://schemas.microsoft.com/office/drawing/2014/main" id="{240D808D-7693-41B6-9FDD-16A85807492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89215" y="1391533"/>
              <a:ext cx="936328" cy="415925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/>
                <a:t>funct3</a:t>
              </a:r>
              <a:endParaRPr lang="en-AU" altLang="en-US" sz="2000"/>
            </a:p>
          </p:txBody>
        </p:sp>
        <p:sp>
          <p:nvSpPr>
            <p:cNvPr id="9" name="Text Box 10">
              <a:extLst>
                <a:ext uri="{FF2B5EF4-FFF2-40B4-BE49-F238E27FC236}">
                  <a16:creationId xmlns:a16="http://schemas.microsoft.com/office/drawing/2014/main" id="{D96CB7E7-FAB1-4F1D-923D-CF1B5D89CD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06631" y="1391533"/>
              <a:ext cx="1296987" cy="415925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/>
                <a:t>opcode</a:t>
              </a:r>
              <a:endParaRPr lang="en-AU" altLang="en-US" sz="2000"/>
            </a:p>
          </p:txBody>
        </p:sp>
        <p:sp>
          <p:nvSpPr>
            <p:cNvPr id="11" name="Text Box 12">
              <a:extLst>
                <a:ext uri="{FF2B5EF4-FFF2-40B4-BE49-F238E27FC236}">
                  <a16:creationId xmlns:a16="http://schemas.microsoft.com/office/drawing/2014/main" id="{CE696A1C-D981-4649-8A30-6A99B8DF1F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94513" y="1830677"/>
              <a:ext cx="675185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/>
                <a:t>7 bits</a:t>
              </a:r>
              <a:endParaRPr lang="en-AU" altLang="en-US" sz="1600"/>
            </a:p>
          </p:txBody>
        </p:sp>
        <p:sp>
          <p:nvSpPr>
            <p:cNvPr id="12" name="Text Box 13">
              <a:extLst>
                <a:ext uri="{FF2B5EF4-FFF2-40B4-BE49-F238E27FC236}">
                  <a16:creationId xmlns:a16="http://schemas.microsoft.com/office/drawing/2014/main" id="{91C2A956-9005-4A3B-81F7-2D7EFAB11A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46115" y="1828096"/>
              <a:ext cx="669925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/>
                <a:t>5 bits</a:t>
              </a:r>
              <a:endParaRPr lang="en-AU" altLang="en-US" sz="1600"/>
            </a:p>
          </p:txBody>
        </p:sp>
        <p:sp>
          <p:nvSpPr>
            <p:cNvPr id="13" name="Text Box 14">
              <a:extLst>
                <a:ext uri="{FF2B5EF4-FFF2-40B4-BE49-F238E27FC236}">
                  <a16:creationId xmlns:a16="http://schemas.microsoft.com/office/drawing/2014/main" id="{969698DB-3B46-4519-893E-0EF35A9F2D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27202" y="1828096"/>
              <a:ext cx="669925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/>
                <a:t>5 bits</a:t>
              </a:r>
              <a:endParaRPr lang="en-AU" altLang="en-US" sz="1600"/>
            </a:p>
          </p:txBody>
        </p:sp>
        <p:sp>
          <p:nvSpPr>
            <p:cNvPr id="14" name="Text Box 15">
              <a:extLst>
                <a:ext uri="{FF2B5EF4-FFF2-40B4-BE49-F238E27FC236}">
                  <a16:creationId xmlns:a16="http://schemas.microsoft.com/office/drawing/2014/main" id="{2DAF3D0F-F471-4B6A-87E1-7835158923B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31918" y="1053250"/>
              <a:ext cx="669925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/>
                <a:t>5 bits</a:t>
              </a:r>
              <a:endParaRPr lang="en-AU" altLang="en-US" sz="1600"/>
            </a:p>
          </p:txBody>
        </p:sp>
        <p:sp>
          <p:nvSpPr>
            <p:cNvPr id="15" name="Text Box 16">
              <a:extLst>
                <a:ext uri="{FF2B5EF4-FFF2-40B4-BE49-F238E27FC236}">
                  <a16:creationId xmlns:a16="http://schemas.microsoft.com/office/drawing/2014/main" id="{CCE78733-34E9-413D-B958-82BD9E80E59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60900" y="1828096"/>
              <a:ext cx="675185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/>
                <a:t>3 bits</a:t>
              </a:r>
              <a:endParaRPr lang="en-AU" altLang="en-US" sz="1600"/>
            </a:p>
          </p:txBody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7BE17160-F0ED-4913-A86A-2C813EEC9066}"/>
              </a:ext>
            </a:extLst>
          </p:cNvPr>
          <p:cNvSpPr/>
          <p:nvPr/>
        </p:nvSpPr>
        <p:spPr>
          <a:xfrm>
            <a:off x="1318090" y="2803064"/>
            <a:ext cx="217497" cy="41517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0DECBFC-21B2-4C29-AD23-1821FFF769C5}"/>
              </a:ext>
            </a:extLst>
          </p:cNvPr>
          <p:cNvSpPr/>
          <p:nvPr/>
        </p:nvSpPr>
        <p:spPr>
          <a:xfrm>
            <a:off x="1535587" y="2803064"/>
            <a:ext cx="1077958" cy="41517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BBC8B7F0-8D4E-4261-B328-D39A5166EAB0}"/>
              </a:ext>
            </a:extLst>
          </p:cNvPr>
          <p:cNvCxnSpPr/>
          <p:nvPr/>
        </p:nvCxnSpPr>
        <p:spPr>
          <a:xfrm flipV="1">
            <a:off x="1041990" y="3281418"/>
            <a:ext cx="276100" cy="2933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DEB1561-08CD-4396-94D0-0FD54525C738}"/>
              </a:ext>
            </a:extLst>
          </p:cNvPr>
          <p:cNvCxnSpPr>
            <a:cxnSpLocks/>
          </p:cNvCxnSpPr>
          <p:nvPr/>
        </p:nvCxnSpPr>
        <p:spPr>
          <a:xfrm flipH="1" flipV="1">
            <a:off x="2053383" y="3260127"/>
            <a:ext cx="132670" cy="3146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DB69B4D8-4838-4CC2-99E1-D8FAF71C1AD8}"/>
              </a:ext>
            </a:extLst>
          </p:cNvPr>
          <p:cNvSpPr txBox="1"/>
          <p:nvPr/>
        </p:nvSpPr>
        <p:spPr>
          <a:xfrm>
            <a:off x="289031" y="3710036"/>
            <a:ext cx="9861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err="1"/>
              <a:t>Imm</a:t>
            </a:r>
            <a:r>
              <a:rPr lang="en-US"/>
              <a:t>[12]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A4B5091-1ACA-46BA-BE57-C25BE3B7DB0B}"/>
              </a:ext>
            </a:extLst>
          </p:cNvPr>
          <p:cNvSpPr txBox="1"/>
          <p:nvPr/>
        </p:nvSpPr>
        <p:spPr>
          <a:xfrm>
            <a:off x="1628967" y="3638804"/>
            <a:ext cx="1165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err="1"/>
              <a:t>Imm</a:t>
            </a:r>
            <a:r>
              <a:rPr lang="en-US"/>
              <a:t>[10:5]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4B78B53-72E6-4AA4-B75E-607829788113}"/>
              </a:ext>
            </a:extLst>
          </p:cNvPr>
          <p:cNvSpPr/>
          <p:nvPr/>
        </p:nvSpPr>
        <p:spPr>
          <a:xfrm>
            <a:off x="6602812" y="2803064"/>
            <a:ext cx="190509" cy="41517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FBFA334-8547-43FF-9902-B71FC1333B00}"/>
              </a:ext>
            </a:extLst>
          </p:cNvPr>
          <p:cNvSpPr/>
          <p:nvPr/>
        </p:nvSpPr>
        <p:spPr>
          <a:xfrm>
            <a:off x="5697195" y="2803064"/>
            <a:ext cx="904029" cy="41517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 Box 13">
            <a:extLst>
              <a:ext uri="{FF2B5EF4-FFF2-40B4-BE49-F238E27FC236}">
                <a16:creationId xmlns:a16="http://schemas.microsoft.com/office/drawing/2014/main" id="{598DFFAC-6C70-4B67-BA1C-BE26170514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26351" y="2467125"/>
            <a:ext cx="67518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/>
              <a:t>7 bits</a:t>
            </a:r>
            <a:endParaRPr lang="en-AU" altLang="en-US" sz="1600"/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E9CFF961-B611-4095-B268-A959DEFE657C}"/>
              </a:ext>
            </a:extLst>
          </p:cNvPr>
          <p:cNvCxnSpPr>
            <a:cxnSpLocks/>
          </p:cNvCxnSpPr>
          <p:nvPr/>
        </p:nvCxnSpPr>
        <p:spPr>
          <a:xfrm flipH="1" flipV="1">
            <a:off x="6726986" y="3281418"/>
            <a:ext cx="132670" cy="3146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FF6C1673-2F08-43EB-B711-6AD59374A1CC}"/>
              </a:ext>
            </a:extLst>
          </p:cNvPr>
          <p:cNvSpPr txBox="1"/>
          <p:nvPr/>
        </p:nvSpPr>
        <p:spPr>
          <a:xfrm>
            <a:off x="6588132" y="3671070"/>
            <a:ext cx="9861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err="1"/>
              <a:t>Imm</a:t>
            </a:r>
            <a:r>
              <a:rPr lang="en-US"/>
              <a:t>[11]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B187CBF5-237F-4DEB-98CE-207E4E5B6505}"/>
              </a:ext>
            </a:extLst>
          </p:cNvPr>
          <p:cNvCxnSpPr/>
          <p:nvPr/>
        </p:nvCxnSpPr>
        <p:spPr>
          <a:xfrm flipV="1">
            <a:off x="5823445" y="3302709"/>
            <a:ext cx="276100" cy="2933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77CD1447-C479-4B23-AB45-0309474DCE3C}"/>
              </a:ext>
            </a:extLst>
          </p:cNvPr>
          <p:cNvSpPr txBox="1"/>
          <p:nvPr/>
        </p:nvSpPr>
        <p:spPr>
          <a:xfrm>
            <a:off x="5161336" y="3692361"/>
            <a:ext cx="1048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err="1"/>
              <a:t>Imm</a:t>
            </a:r>
            <a:r>
              <a:rPr lang="en-US"/>
              <a:t>[4:1]</a:t>
            </a:r>
          </a:p>
        </p:txBody>
      </p:sp>
      <p:graphicFrame>
        <p:nvGraphicFramePr>
          <p:cNvPr id="35" name="Table 34">
            <a:extLst>
              <a:ext uri="{FF2B5EF4-FFF2-40B4-BE49-F238E27FC236}">
                <a16:creationId xmlns:a16="http://schemas.microsoft.com/office/drawing/2014/main" id="{68DFAA4C-ECBE-45D4-9B3F-2CFD03861E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9578937"/>
              </p:ext>
            </p:extLst>
          </p:nvPr>
        </p:nvGraphicFramePr>
        <p:xfrm>
          <a:off x="1269717" y="4865771"/>
          <a:ext cx="5131084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1169">
                  <a:extLst>
                    <a:ext uri="{9D8B030D-6E8A-4147-A177-3AD203B41FA5}">
                      <a16:colId xmlns:a16="http://schemas.microsoft.com/office/drawing/2014/main" val="2330108042"/>
                    </a:ext>
                  </a:extLst>
                </a:gridCol>
                <a:gridCol w="1358526">
                  <a:extLst>
                    <a:ext uri="{9D8B030D-6E8A-4147-A177-3AD203B41FA5}">
                      <a16:colId xmlns:a16="http://schemas.microsoft.com/office/drawing/2014/main" val="2261862194"/>
                    </a:ext>
                  </a:extLst>
                </a:gridCol>
                <a:gridCol w="1221389">
                  <a:extLst>
                    <a:ext uri="{9D8B030D-6E8A-4147-A177-3AD203B41FA5}">
                      <a16:colId xmlns:a16="http://schemas.microsoft.com/office/drawing/2014/main" val="12060171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opcode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funct3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10943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err="1"/>
                        <a:t>beq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1100111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98039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err="1"/>
                        <a:t>bne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1100111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4534021"/>
                  </a:ext>
                </a:extLst>
              </a:tr>
            </a:tbl>
          </a:graphicData>
        </a:graphic>
      </p:graphicFrame>
      <p:sp>
        <p:nvSpPr>
          <p:cNvPr id="36" name="TextBox 35">
            <a:extLst>
              <a:ext uri="{FF2B5EF4-FFF2-40B4-BE49-F238E27FC236}">
                <a16:creationId xmlns:a16="http://schemas.microsoft.com/office/drawing/2014/main" id="{759EA4E9-AB6A-4484-B3A7-0DA25FEF72C3}"/>
              </a:ext>
            </a:extLst>
          </p:cNvPr>
          <p:cNvSpPr txBox="1"/>
          <p:nvPr/>
        </p:nvSpPr>
        <p:spPr>
          <a:xfrm>
            <a:off x="6793321" y="4330610"/>
            <a:ext cx="512640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Immediate encodes a 12-bit signed integer offset.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Branch address is </a:t>
            </a:r>
            <a:r>
              <a:rPr lang="en-US" dirty="0" err="1"/>
              <a:t>PC+offset</a:t>
            </a:r>
            <a:r>
              <a:rPr lang="en-US" dirty="0"/>
              <a:t>*2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F3C8DC2-F9F0-11ED-974B-6D198160F37B}"/>
              </a:ext>
            </a:extLst>
          </p:cNvPr>
          <p:cNvSpPr txBox="1"/>
          <p:nvPr/>
        </p:nvSpPr>
        <p:spPr>
          <a:xfrm>
            <a:off x="2186053" y="1380317"/>
            <a:ext cx="2877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Example SB-type instruction: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CB20E63-F0F2-F35B-3728-DA69CA745DB3}"/>
              </a:ext>
            </a:extLst>
          </p:cNvPr>
          <p:cNvSpPr txBox="1"/>
          <p:nvPr/>
        </p:nvSpPr>
        <p:spPr>
          <a:xfrm>
            <a:off x="2222722" y="1736523"/>
            <a:ext cx="5049139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sz="180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beq</a:t>
            </a:r>
            <a:r>
              <a:rPr lang="en-US" sz="1800">
                <a:latin typeface="Consolas" panose="020B0609020204030204" pitchFamily="49" charset="0"/>
                <a:cs typeface="Consolas" panose="020B0609020204030204" pitchFamily="49" charset="0"/>
              </a:rPr>
              <a:t> x5, x6, 100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 // </a:t>
            </a:r>
            <a:r>
              <a:rPr lang="en-US"/>
              <a:t>If (x5==x6) </a:t>
            </a:r>
            <a:r>
              <a:rPr lang="en-US" err="1"/>
              <a:t>goto</a:t>
            </a:r>
            <a:r>
              <a:rPr lang="en-US"/>
              <a:t> PC+2*100</a:t>
            </a:r>
          </a:p>
        </p:txBody>
      </p:sp>
    </p:spTree>
    <p:extLst>
      <p:ext uri="{BB962C8B-B14F-4D97-AF65-F5344CB8AC3E}">
        <p14:creationId xmlns:p14="http://schemas.microsoft.com/office/powerpoint/2010/main" val="32821087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2D8B95-15EA-9248-AC92-59EA601AE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Instruction Execution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BDBA9A-7AA4-F447-AA95-E5DB96062B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800"/>
              <a:t>PC </a:t>
            </a:r>
            <a:r>
              <a:rPr lang="en-US" altLang="en-US" sz="2800">
                <a:sym typeface="Symbol" pitchFamily="2" charset="2"/>
              </a:rPr>
              <a:t> fetch instruction from memory</a:t>
            </a:r>
          </a:p>
          <a:p>
            <a:r>
              <a:rPr lang="en-US" altLang="en-US" sz="2800">
                <a:sym typeface="Symbol" pitchFamily="2" charset="2"/>
              </a:rPr>
              <a:t>Register numbers</a:t>
            </a:r>
            <a:r>
              <a:rPr lang="en-US" altLang="en-US" sz="2800"/>
              <a:t> </a:t>
            </a:r>
            <a:r>
              <a:rPr lang="en-US" altLang="en-US" sz="2800">
                <a:sym typeface="Symbol" pitchFamily="2" charset="2"/>
              </a:rPr>
              <a:t> which register to read/write in register file</a:t>
            </a:r>
          </a:p>
          <a:p>
            <a:r>
              <a:rPr lang="en-US" altLang="en-US" sz="2800">
                <a:sym typeface="Symbol" pitchFamily="2" charset="2"/>
              </a:rPr>
              <a:t>Depending on instruction class, do the following:</a:t>
            </a:r>
          </a:p>
          <a:p>
            <a:pPr lvl="1"/>
            <a:r>
              <a:rPr lang="en-US" altLang="en-US" sz="2400">
                <a:sym typeface="Symbol" pitchFamily="2" charset="2"/>
              </a:rPr>
              <a:t>Use ALU to calculate</a:t>
            </a:r>
          </a:p>
          <a:p>
            <a:pPr lvl="2"/>
            <a:r>
              <a:rPr lang="en-US" altLang="en-US" sz="2000">
                <a:sym typeface="Symbol" pitchFamily="2" charset="2"/>
              </a:rPr>
              <a:t>Arithmetic result</a:t>
            </a:r>
          </a:p>
          <a:p>
            <a:pPr lvl="2"/>
            <a:r>
              <a:rPr lang="en-US" altLang="en-US" sz="2000">
                <a:sym typeface="Symbol" pitchFamily="2" charset="2"/>
              </a:rPr>
              <a:t>Memory address for load/store</a:t>
            </a:r>
          </a:p>
          <a:p>
            <a:pPr lvl="2"/>
            <a:r>
              <a:rPr lang="en-US" altLang="en-US" sz="2000">
                <a:sym typeface="Symbol" pitchFamily="2" charset="2"/>
              </a:rPr>
              <a:t>Branch comparison</a:t>
            </a:r>
          </a:p>
          <a:p>
            <a:pPr lvl="1"/>
            <a:r>
              <a:rPr lang="en-US" altLang="en-US" sz="2400">
                <a:sym typeface="Symbol" pitchFamily="2" charset="2"/>
              </a:rPr>
              <a:t>Access data memory for load/store</a:t>
            </a:r>
          </a:p>
          <a:p>
            <a:pPr lvl="1"/>
            <a:r>
              <a:rPr lang="en-US" altLang="en-US" sz="2400">
                <a:sym typeface="Symbol" pitchFamily="2" charset="2"/>
              </a:rPr>
              <a:t>PC  either target address (branch) or PC + 4</a:t>
            </a:r>
          </a:p>
        </p:txBody>
      </p:sp>
    </p:spTree>
    <p:extLst>
      <p:ext uri="{BB962C8B-B14F-4D97-AF65-F5344CB8AC3E}">
        <p14:creationId xmlns:p14="http://schemas.microsoft.com/office/powerpoint/2010/main" val="334390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F641B9F3-3979-4C4B-8E5A-ECAF7E6F8D0F}"/>
              </a:ext>
            </a:extLst>
          </p:cNvPr>
          <p:cNvSpPr txBox="1"/>
          <p:nvPr/>
        </p:nvSpPr>
        <p:spPr>
          <a:xfrm>
            <a:off x="9041789" y="361390"/>
            <a:ext cx="27478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ld</a:t>
            </a:r>
            <a:r>
              <a:rPr lang="en-US" sz="2800">
                <a:latin typeface="Consolas" panose="020B0609020204030204" pitchFamily="49" charset="0"/>
                <a:cs typeface="Consolas" panose="020B0609020204030204" pitchFamily="49" charset="0"/>
              </a:rPr>
              <a:t> x5, 40(x6)</a:t>
            </a:r>
          </a:p>
        </p:txBody>
      </p:sp>
      <p:grpSp>
        <p:nvGrpSpPr>
          <p:cNvPr id="93" name="Group 92">
            <a:extLst>
              <a:ext uri="{FF2B5EF4-FFF2-40B4-BE49-F238E27FC236}">
                <a16:creationId xmlns:a16="http://schemas.microsoft.com/office/drawing/2014/main" id="{4796B27A-89A8-9747-98E1-8E071812EB4C}"/>
              </a:ext>
            </a:extLst>
          </p:cNvPr>
          <p:cNvGrpSpPr/>
          <p:nvPr/>
        </p:nvGrpSpPr>
        <p:grpSpPr>
          <a:xfrm>
            <a:off x="8636272" y="3075944"/>
            <a:ext cx="2652153" cy="2215054"/>
            <a:chOff x="8636272" y="3075944"/>
            <a:chExt cx="2652153" cy="2215054"/>
          </a:xfrm>
        </p:grpSpPr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8D103AA7-6A32-794D-B207-23C08D715187}"/>
                </a:ext>
              </a:extLst>
            </p:cNvPr>
            <p:cNvSpPr/>
            <p:nvPr/>
          </p:nvSpPr>
          <p:spPr>
            <a:xfrm>
              <a:off x="9464300" y="3075944"/>
              <a:ext cx="1753718" cy="221505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>
                  <a:solidFill>
                    <a:schemeClr val="accent1">
                      <a:lumMod val="75000"/>
                    </a:schemeClr>
                  </a:solidFill>
                </a:rPr>
                <a:t>Data memory</a:t>
              </a:r>
            </a:p>
            <a:p>
              <a:pPr algn="ctr"/>
              <a:endParaRPr lang="en-US" sz="2400">
                <a:solidFill>
                  <a:schemeClr val="tx1"/>
                </a:solidFill>
              </a:endParaRPr>
            </a:p>
            <a:p>
              <a:pPr algn="ctr"/>
              <a:endParaRPr lang="en-US" sz="2400">
                <a:solidFill>
                  <a:schemeClr val="tx1"/>
                </a:solidFill>
              </a:endParaRP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8A8F03FF-0842-E34E-A19A-5BD4BFE900DE}"/>
                </a:ext>
              </a:extLst>
            </p:cNvPr>
            <p:cNvSpPr txBox="1"/>
            <p:nvPr/>
          </p:nvSpPr>
          <p:spPr>
            <a:xfrm>
              <a:off x="9421733" y="4253457"/>
              <a:ext cx="99399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/>
                <a:t>address</a:t>
              </a:r>
              <a:endParaRPr lang="en-US"/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A44102A6-BC42-CF4E-BE86-926F0407D7A0}"/>
                </a:ext>
              </a:extLst>
            </p:cNvPr>
            <p:cNvSpPr txBox="1"/>
            <p:nvPr/>
          </p:nvSpPr>
          <p:spPr>
            <a:xfrm>
              <a:off x="10641197" y="4239358"/>
              <a:ext cx="64722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/>
                <a:t>data</a:t>
              </a:r>
              <a:endParaRPr lang="en-US"/>
            </a:p>
          </p:txBody>
        </p:sp>
        <p:cxnSp>
          <p:nvCxnSpPr>
            <p:cNvPr id="78" name="Straight Arrow Connector 77">
              <a:extLst>
                <a:ext uri="{FF2B5EF4-FFF2-40B4-BE49-F238E27FC236}">
                  <a16:creationId xmlns:a16="http://schemas.microsoft.com/office/drawing/2014/main" id="{031EA7ED-95FB-2442-89A3-CFAFDD1D3593}"/>
                </a:ext>
              </a:extLst>
            </p:cNvPr>
            <p:cNvCxnSpPr>
              <a:cxnSpLocks/>
            </p:cNvCxnSpPr>
            <p:nvPr/>
          </p:nvCxnSpPr>
          <p:spPr>
            <a:xfrm>
              <a:off x="8636272" y="4309599"/>
              <a:ext cx="854482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78BEE31E-03CC-7947-82CF-15D2A5C42071}"/>
              </a:ext>
            </a:extLst>
          </p:cNvPr>
          <p:cNvGrpSpPr/>
          <p:nvPr/>
        </p:nvGrpSpPr>
        <p:grpSpPr>
          <a:xfrm>
            <a:off x="747552" y="3098330"/>
            <a:ext cx="3615710" cy="2215054"/>
            <a:chOff x="747552" y="3098330"/>
            <a:chExt cx="3615710" cy="2215054"/>
          </a:xfrm>
        </p:grpSpPr>
        <p:grpSp>
          <p:nvGrpSpPr>
            <p:cNvPr id="87" name="Group 86">
              <a:extLst>
                <a:ext uri="{FF2B5EF4-FFF2-40B4-BE49-F238E27FC236}">
                  <a16:creationId xmlns:a16="http://schemas.microsoft.com/office/drawing/2014/main" id="{3FBC6270-9DD9-C44E-878C-833424729807}"/>
                </a:ext>
              </a:extLst>
            </p:cNvPr>
            <p:cNvGrpSpPr/>
            <p:nvPr/>
          </p:nvGrpSpPr>
          <p:grpSpPr>
            <a:xfrm>
              <a:off x="747552" y="3098330"/>
              <a:ext cx="3538366" cy="2215054"/>
              <a:chOff x="759300" y="2987565"/>
              <a:chExt cx="3538366" cy="2215054"/>
            </a:xfrm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E82469D1-F82F-3948-8FFA-4A6C2C173C3B}"/>
                  </a:ext>
                </a:extLst>
              </p:cNvPr>
              <p:cNvSpPr/>
              <p:nvPr/>
            </p:nvSpPr>
            <p:spPr>
              <a:xfrm>
                <a:off x="2543948" y="2987565"/>
                <a:ext cx="1753718" cy="2215054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>
                    <a:solidFill>
                      <a:schemeClr val="accent1">
                        <a:lumMod val="75000"/>
                      </a:schemeClr>
                    </a:solidFill>
                  </a:rPr>
                  <a:t>Instruction Memory</a:t>
                </a:r>
              </a:p>
              <a:p>
                <a:pPr algn="ctr"/>
                <a:endParaRPr lang="en-US" sz="2400">
                  <a:solidFill>
                    <a:schemeClr val="tx1"/>
                  </a:solidFill>
                </a:endParaRPr>
              </a:p>
              <a:p>
                <a:pPr algn="ctr"/>
                <a:endParaRPr lang="en-US" sz="2400">
                  <a:solidFill>
                    <a:schemeClr val="tx1"/>
                  </a:solidFill>
                </a:endParaRP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8137D5CB-2E1C-654A-80F5-A9BFFA5D3A62}"/>
                  </a:ext>
                </a:extLst>
              </p:cNvPr>
              <p:cNvSpPr/>
              <p:nvPr/>
            </p:nvSpPr>
            <p:spPr>
              <a:xfrm>
                <a:off x="759300" y="3216163"/>
                <a:ext cx="930165" cy="1986455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>
                    <a:solidFill>
                      <a:schemeClr val="accent1">
                        <a:lumMod val="75000"/>
                      </a:schemeClr>
                    </a:solidFill>
                  </a:rPr>
                  <a:t>PC</a:t>
                </a:r>
                <a:endParaRPr lang="en-US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78A706E1-F8E5-C742-A035-3649CB7C0B29}"/>
                  </a:ext>
                </a:extLst>
              </p:cNvPr>
              <p:cNvCxnSpPr>
                <a:cxnSpLocks/>
                <a:stCxn id="14" idx="3"/>
              </p:cNvCxnSpPr>
              <p:nvPr/>
            </p:nvCxnSpPr>
            <p:spPr>
              <a:xfrm>
                <a:off x="1689465" y="4209391"/>
                <a:ext cx="854482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5C3AAEE7-90FE-AA44-B41A-C96A12DC3E42}"/>
                </a:ext>
              </a:extLst>
            </p:cNvPr>
            <p:cNvSpPr txBox="1"/>
            <p:nvPr/>
          </p:nvSpPr>
          <p:spPr>
            <a:xfrm>
              <a:off x="3716034" y="4086602"/>
              <a:ext cx="64722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/>
                <a:t>data</a:t>
              </a:r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A57E619-1317-8D4E-B066-5CBB0A1AA9BE}"/>
                </a:ext>
              </a:extLst>
            </p:cNvPr>
            <p:cNvSpPr txBox="1"/>
            <p:nvPr/>
          </p:nvSpPr>
          <p:spPr>
            <a:xfrm>
              <a:off x="2496570" y="4100701"/>
              <a:ext cx="99399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/>
                <a:t>address</a:t>
              </a:r>
              <a:endParaRPr lang="en-US"/>
            </a:p>
          </p:txBody>
        </p:sp>
      </p:grp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CAA3993B-88B6-134B-B72B-2F288BB65967}"/>
              </a:ext>
            </a:extLst>
          </p:cNvPr>
          <p:cNvGrpSpPr/>
          <p:nvPr/>
        </p:nvGrpSpPr>
        <p:grpSpPr>
          <a:xfrm>
            <a:off x="4871545" y="2301766"/>
            <a:ext cx="6850655" cy="2841328"/>
            <a:chOff x="4871545" y="2301766"/>
            <a:chExt cx="6850655" cy="2841328"/>
          </a:xfrm>
        </p:grpSpPr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5AE51741-587E-084E-8F77-CA32EC0D53E0}"/>
                </a:ext>
              </a:extLst>
            </p:cNvPr>
            <p:cNvCxnSpPr>
              <a:cxnSpLocks/>
            </p:cNvCxnSpPr>
            <p:nvPr/>
          </p:nvCxnSpPr>
          <p:spPr>
            <a:xfrm>
              <a:off x="4871545" y="2301766"/>
              <a:ext cx="6850655" cy="1040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DDBBBBEF-2A69-934E-BF80-2AB2B38ABE0D}"/>
                </a:ext>
              </a:extLst>
            </p:cNvPr>
            <p:cNvCxnSpPr/>
            <p:nvPr/>
          </p:nvCxnSpPr>
          <p:spPr>
            <a:xfrm>
              <a:off x="11218018" y="4331289"/>
              <a:ext cx="504182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6CD9681F-10B8-CB44-9D2D-CD82535B059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722200" y="2301766"/>
              <a:ext cx="0" cy="202952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Elbow Connector 106">
              <a:extLst>
                <a:ext uri="{FF2B5EF4-FFF2-40B4-BE49-F238E27FC236}">
                  <a16:creationId xmlns:a16="http://schemas.microsoft.com/office/drawing/2014/main" id="{829D89DD-DFC6-1541-9565-C03491B3B08E}"/>
                </a:ext>
              </a:extLst>
            </p:cNvPr>
            <p:cNvCxnSpPr>
              <a:cxnSpLocks/>
              <a:endCxn id="105" idx="1"/>
            </p:cNvCxnSpPr>
            <p:nvPr/>
          </p:nvCxnSpPr>
          <p:spPr>
            <a:xfrm rot="16200000" flipH="1">
              <a:off x="3608943" y="3568235"/>
              <a:ext cx="2837461" cy="312257"/>
            </a:xfrm>
            <a:prstGeom prst="bentConnector2">
              <a:avLst/>
            </a:prstGeom>
            <a:ln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E1410B53-9E40-374E-9F3A-CD9FA5FE6604}"/>
              </a:ext>
            </a:extLst>
          </p:cNvPr>
          <p:cNvCxnSpPr>
            <a:endCxn id="86" idx="1"/>
          </p:cNvCxnSpPr>
          <p:nvPr/>
        </p:nvCxnSpPr>
        <p:spPr>
          <a:xfrm>
            <a:off x="4736654" y="4894215"/>
            <a:ext cx="437246" cy="0"/>
          </a:xfrm>
          <a:prstGeom prst="straightConnector1">
            <a:avLst/>
          </a:prstGeom>
          <a:ln>
            <a:solidFill>
              <a:schemeClr val="tx1"/>
            </a:solidFill>
            <a:headEnd type="oval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5" name="TextBox 144">
            <a:extLst>
              <a:ext uri="{FF2B5EF4-FFF2-40B4-BE49-F238E27FC236}">
                <a16:creationId xmlns:a16="http://schemas.microsoft.com/office/drawing/2014/main" id="{8120B8D4-2377-8D46-9B3D-F28D55B07DAA}"/>
              </a:ext>
            </a:extLst>
          </p:cNvPr>
          <p:cNvSpPr txBox="1"/>
          <p:nvPr/>
        </p:nvSpPr>
        <p:spPr>
          <a:xfrm>
            <a:off x="1677717" y="143787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4</a:t>
            </a:r>
          </a:p>
        </p:txBody>
      </p:sp>
      <p:grpSp>
        <p:nvGrpSpPr>
          <p:cNvPr id="158" name="Group 157">
            <a:extLst>
              <a:ext uri="{FF2B5EF4-FFF2-40B4-BE49-F238E27FC236}">
                <a16:creationId xmlns:a16="http://schemas.microsoft.com/office/drawing/2014/main" id="{C9F21763-E033-1744-B3AD-FCD8281142AC}"/>
              </a:ext>
            </a:extLst>
          </p:cNvPr>
          <p:cNvGrpSpPr/>
          <p:nvPr/>
        </p:nvGrpSpPr>
        <p:grpSpPr>
          <a:xfrm>
            <a:off x="747553" y="775665"/>
            <a:ext cx="2749823" cy="3544491"/>
            <a:chOff x="747553" y="775665"/>
            <a:chExt cx="2749823" cy="3544491"/>
          </a:xfrm>
        </p:grpSpPr>
        <p:grpSp>
          <p:nvGrpSpPr>
            <p:cNvPr id="126" name="Group 125">
              <a:extLst>
                <a:ext uri="{FF2B5EF4-FFF2-40B4-BE49-F238E27FC236}">
                  <a16:creationId xmlns:a16="http://schemas.microsoft.com/office/drawing/2014/main" id="{764A7296-EF72-CE43-9225-CDEDB1BB2C86}"/>
                </a:ext>
              </a:extLst>
            </p:cNvPr>
            <p:cNvGrpSpPr/>
            <p:nvPr/>
          </p:nvGrpSpPr>
          <p:grpSpPr>
            <a:xfrm>
              <a:off x="2532199" y="1272525"/>
              <a:ext cx="520910" cy="1324619"/>
              <a:chOff x="7957200" y="4065722"/>
              <a:chExt cx="576263" cy="1150938"/>
            </a:xfrm>
          </p:grpSpPr>
          <p:sp>
            <p:nvSpPr>
              <p:cNvPr id="130" name="Line 55">
                <a:extLst>
                  <a:ext uri="{FF2B5EF4-FFF2-40B4-BE49-F238E27FC236}">
                    <a16:creationId xmlns:a16="http://schemas.microsoft.com/office/drawing/2014/main" id="{E3A0100C-B3CF-BB48-BDC0-DB200C9823E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957200" y="4065722"/>
                <a:ext cx="1588" cy="4318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1" name="Line 56">
                <a:extLst>
                  <a:ext uri="{FF2B5EF4-FFF2-40B4-BE49-F238E27FC236}">
                    <a16:creationId xmlns:a16="http://schemas.microsoft.com/office/drawing/2014/main" id="{BA155E17-7BCB-094B-80C0-449E67D6D3C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7957200" y="4784860"/>
                <a:ext cx="1588" cy="4318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2" name="Line 57">
                <a:extLst>
                  <a:ext uri="{FF2B5EF4-FFF2-40B4-BE49-F238E27FC236}">
                    <a16:creationId xmlns:a16="http://schemas.microsoft.com/office/drawing/2014/main" id="{BFA98410-0F52-F640-B665-85F62243231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958788" y="4497522"/>
                <a:ext cx="144463" cy="142875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3" name="Line 58">
                <a:extLst>
                  <a:ext uri="{FF2B5EF4-FFF2-40B4-BE49-F238E27FC236}">
                    <a16:creationId xmlns:a16="http://schemas.microsoft.com/office/drawing/2014/main" id="{38468DE8-58E1-9F4C-9A20-F72C61CFE1A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7958788" y="4640397"/>
                <a:ext cx="144463" cy="1460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4" name="Line 59">
                <a:extLst>
                  <a:ext uri="{FF2B5EF4-FFF2-40B4-BE49-F238E27FC236}">
                    <a16:creationId xmlns:a16="http://schemas.microsoft.com/office/drawing/2014/main" id="{1A1991D2-3F56-2D41-A983-12272218B7B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957200" y="4065722"/>
                <a:ext cx="576263" cy="28733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5" name="Line 60">
                <a:extLst>
                  <a:ext uri="{FF2B5EF4-FFF2-40B4-BE49-F238E27FC236}">
                    <a16:creationId xmlns:a16="http://schemas.microsoft.com/office/drawing/2014/main" id="{1696E1D9-DA74-5844-B609-6429B44AA4A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957200" y="4929322"/>
                <a:ext cx="576263" cy="28733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6" name="Line 61">
                <a:extLst>
                  <a:ext uri="{FF2B5EF4-FFF2-40B4-BE49-F238E27FC236}">
                    <a16:creationId xmlns:a16="http://schemas.microsoft.com/office/drawing/2014/main" id="{DC9078F3-808E-2C42-8B83-024B9990B54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533463" y="4353060"/>
                <a:ext cx="0" cy="57626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7" name="Text Box 62">
                <a:extLst>
                  <a:ext uri="{FF2B5EF4-FFF2-40B4-BE49-F238E27FC236}">
                    <a16:creationId xmlns:a16="http://schemas.microsoft.com/office/drawing/2014/main" id="{4DA801AF-4835-B443-8977-EE84F486584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101663" y="4502285"/>
                <a:ext cx="377722" cy="21393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600">
                    <a:solidFill>
                      <a:schemeClr val="accent1">
                        <a:lumMod val="75000"/>
                      </a:schemeClr>
                    </a:solidFill>
                  </a:rPr>
                  <a:t>add</a:t>
                </a:r>
                <a:endParaRPr lang="en-AU" altLang="en-US" sz="180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</p:grpSp>
        <p:cxnSp>
          <p:nvCxnSpPr>
            <p:cNvPr id="139" name="Elbow Connector 138">
              <a:extLst>
                <a:ext uri="{FF2B5EF4-FFF2-40B4-BE49-F238E27FC236}">
                  <a16:creationId xmlns:a16="http://schemas.microsoft.com/office/drawing/2014/main" id="{479E2247-E07D-1543-827A-EA90B3DB6CB0}"/>
                </a:ext>
              </a:extLst>
            </p:cNvPr>
            <p:cNvCxnSpPr/>
            <p:nvPr/>
          </p:nvCxnSpPr>
          <p:spPr>
            <a:xfrm rot="5400000" flipH="1" flipV="1">
              <a:off x="1259362" y="3032148"/>
              <a:ext cx="2033057" cy="512618"/>
            </a:xfrm>
            <a:prstGeom prst="bentConnector3">
              <a:avLst>
                <a:gd name="adj1" fmla="val 101180"/>
              </a:avLst>
            </a:prstGeom>
            <a:ln>
              <a:solidFill>
                <a:schemeClr val="tx1"/>
              </a:solidFill>
              <a:headEnd type="oval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Arrow Connector 142">
              <a:extLst>
                <a:ext uri="{FF2B5EF4-FFF2-40B4-BE49-F238E27FC236}">
                  <a16:creationId xmlns:a16="http://schemas.microsoft.com/office/drawing/2014/main" id="{A3C34518-5F68-D345-83E6-5FDE7600CAC7}"/>
                </a:ext>
              </a:extLst>
            </p:cNvPr>
            <p:cNvCxnSpPr>
              <a:cxnSpLocks/>
            </p:cNvCxnSpPr>
            <p:nvPr/>
          </p:nvCxnSpPr>
          <p:spPr>
            <a:xfrm>
              <a:off x="2019581" y="1532037"/>
              <a:ext cx="531392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3BC79399-066F-084D-9BBD-8CBA272B357D}"/>
                </a:ext>
              </a:extLst>
            </p:cNvPr>
            <p:cNvCxnSpPr>
              <a:stCxn id="137" idx="3"/>
            </p:cNvCxnSpPr>
            <p:nvPr/>
          </p:nvCxnSpPr>
          <p:spPr>
            <a:xfrm>
              <a:off x="3004226" y="1898078"/>
              <a:ext cx="486334" cy="1857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Straight Connector 147">
              <a:extLst>
                <a:ext uri="{FF2B5EF4-FFF2-40B4-BE49-F238E27FC236}">
                  <a16:creationId xmlns:a16="http://schemas.microsoft.com/office/drawing/2014/main" id="{8C5857CB-4536-9A42-ADA6-B27D952F71A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90560" y="775665"/>
              <a:ext cx="0" cy="115001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Elbow Connector 150">
              <a:extLst>
                <a:ext uri="{FF2B5EF4-FFF2-40B4-BE49-F238E27FC236}">
                  <a16:creationId xmlns:a16="http://schemas.microsoft.com/office/drawing/2014/main" id="{94EC4CEB-BDE7-AA4F-9B56-FD346BD94F49}"/>
                </a:ext>
              </a:extLst>
            </p:cNvPr>
            <p:cNvCxnSpPr>
              <a:cxnSpLocks/>
              <a:endCxn id="14" idx="1"/>
            </p:cNvCxnSpPr>
            <p:nvPr/>
          </p:nvCxnSpPr>
          <p:spPr>
            <a:xfrm rot="5400000">
              <a:off x="350220" y="1173000"/>
              <a:ext cx="3544489" cy="2749823"/>
            </a:xfrm>
            <a:prstGeom prst="bentConnector4">
              <a:avLst>
                <a:gd name="adj1" fmla="val -39"/>
                <a:gd name="adj2" fmla="val 108313"/>
              </a:avLst>
            </a:prstGeom>
            <a:ln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9" name="TextBox 158">
            <a:extLst>
              <a:ext uri="{FF2B5EF4-FFF2-40B4-BE49-F238E27FC236}">
                <a16:creationId xmlns:a16="http://schemas.microsoft.com/office/drawing/2014/main" id="{7FA0C9BA-01E7-8949-B619-53B2C4674395}"/>
              </a:ext>
            </a:extLst>
          </p:cNvPr>
          <p:cNvSpPr txBox="1"/>
          <p:nvPr/>
        </p:nvSpPr>
        <p:spPr>
          <a:xfrm>
            <a:off x="9256072" y="899180"/>
            <a:ext cx="21334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x5 = Memory[x6+40]</a:t>
            </a:r>
          </a:p>
        </p:txBody>
      </p:sp>
      <p:sp>
        <p:nvSpPr>
          <p:cNvPr id="161" name="Rounded Rectangular Callout 160">
            <a:extLst>
              <a:ext uri="{FF2B5EF4-FFF2-40B4-BE49-F238E27FC236}">
                <a16:creationId xmlns:a16="http://schemas.microsoft.com/office/drawing/2014/main" id="{B69C13AD-5D92-6B44-94DC-163188F175EE}"/>
              </a:ext>
            </a:extLst>
          </p:cNvPr>
          <p:cNvSpPr/>
          <p:nvPr/>
        </p:nvSpPr>
        <p:spPr>
          <a:xfrm>
            <a:off x="411480" y="5764255"/>
            <a:ext cx="1066800" cy="697505"/>
          </a:xfrm>
          <a:prstGeom prst="wedgeRoundRectCallout">
            <a:avLst>
              <a:gd name="adj1" fmla="val 16310"/>
              <a:gd name="adj2" fmla="val -88260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64-bit register</a:t>
            </a:r>
          </a:p>
        </p:txBody>
      </p:sp>
      <p:grpSp>
        <p:nvGrpSpPr>
          <p:cNvPr id="163" name="Group 162">
            <a:extLst>
              <a:ext uri="{FF2B5EF4-FFF2-40B4-BE49-F238E27FC236}">
                <a16:creationId xmlns:a16="http://schemas.microsoft.com/office/drawing/2014/main" id="{C72A1047-79EF-424D-8874-7198A74808F1}"/>
              </a:ext>
            </a:extLst>
          </p:cNvPr>
          <p:cNvGrpSpPr/>
          <p:nvPr/>
        </p:nvGrpSpPr>
        <p:grpSpPr>
          <a:xfrm>
            <a:off x="4309413" y="3055393"/>
            <a:ext cx="4348894" cy="2768040"/>
            <a:chOff x="4309413" y="3055393"/>
            <a:chExt cx="4348894" cy="2768040"/>
          </a:xfrm>
        </p:grpSpPr>
        <p:grpSp>
          <p:nvGrpSpPr>
            <p:cNvPr id="113" name="Group 112">
              <a:extLst>
                <a:ext uri="{FF2B5EF4-FFF2-40B4-BE49-F238E27FC236}">
                  <a16:creationId xmlns:a16="http://schemas.microsoft.com/office/drawing/2014/main" id="{C4775669-ED8E-1F46-A705-42499A033099}"/>
                </a:ext>
              </a:extLst>
            </p:cNvPr>
            <p:cNvGrpSpPr/>
            <p:nvPr/>
          </p:nvGrpSpPr>
          <p:grpSpPr>
            <a:xfrm>
              <a:off x="4309413" y="3055393"/>
              <a:ext cx="4348894" cy="2768040"/>
              <a:chOff x="4309413" y="3055393"/>
              <a:chExt cx="4348894" cy="2768040"/>
            </a:xfrm>
          </p:grpSpPr>
          <p:grpSp>
            <p:nvGrpSpPr>
              <p:cNvPr id="92" name="Group 91">
                <a:extLst>
                  <a:ext uri="{FF2B5EF4-FFF2-40B4-BE49-F238E27FC236}">
                    <a16:creationId xmlns:a16="http://schemas.microsoft.com/office/drawing/2014/main" id="{CC69E787-F1A1-D842-9DEB-7EBB1120E0BF}"/>
                  </a:ext>
                </a:extLst>
              </p:cNvPr>
              <p:cNvGrpSpPr/>
              <p:nvPr/>
            </p:nvGrpSpPr>
            <p:grpSpPr>
              <a:xfrm>
                <a:off x="4309413" y="3055393"/>
                <a:ext cx="4348894" cy="2768040"/>
                <a:chOff x="4287378" y="2993174"/>
                <a:chExt cx="4348894" cy="2768040"/>
              </a:xfrm>
            </p:grpSpPr>
            <p:grpSp>
              <p:nvGrpSpPr>
                <p:cNvPr id="88" name="Group 87">
                  <a:extLst>
                    <a:ext uri="{FF2B5EF4-FFF2-40B4-BE49-F238E27FC236}">
                      <a16:creationId xmlns:a16="http://schemas.microsoft.com/office/drawing/2014/main" id="{54AC0510-D33B-EB42-9EDE-0EE8AC5F35A7}"/>
                    </a:ext>
                  </a:extLst>
                </p:cNvPr>
                <p:cNvGrpSpPr/>
                <p:nvPr/>
              </p:nvGrpSpPr>
              <p:grpSpPr>
                <a:xfrm>
                  <a:off x="4287378" y="2993174"/>
                  <a:ext cx="4348894" cy="2768040"/>
                  <a:chOff x="4287378" y="2993174"/>
                  <a:chExt cx="4348894" cy="2768040"/>
                </a:xfrm>
              </p:grpSpPr>
              <p:cxnSp>
                <p:nvCxnSpPr>
                  <p:cNvPr id="19" name="Straight Arrow Connector 18">
                    <a:extLst>
                      <a:ext uri="{FF2B5EF4-FFF2-40B4-BE49-F238E27FC236}">
                        <a16:creationId xmlns:a16="http://schemas.microsoft.com/office/drawing/2014/main" id="{10A9EE64-15C4-6640-A132-CE9F481F465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287378" y="4230769"/>
                    <a:ext cx="854482" cy="0"/>
                  </a:xfrm>
                  <a:prstGeom prst="straightConnector1">
                    <a:avLst/>
                  </a:prstGeom>
                  <a:ln>
                    <a:solidFill>
                      <a:schemeClr val="tx1"/>
                    </a:solidFill>
                    <a:tailEnd type="triangle" w="lg" len="lg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0" name="Rectangle 19">
                    <a:extLst>
                      <a:ext uri="{FF2B5EF4-FFF2-40B4-BE49-F238E27FC236}">
                        <a16:creationId xmlns:a16="http://schemas.microsoft.com/office/drawing/2014/main" id="{13122715-854F-D440-9E3E-76E02F653B1F}"/>
                      </a:ext>
                    </a:extLst>
                  </p:cNvPr>
                  <p:cNvSpPr/>
                  <p:nvPr/>
                </p:nvSpPr>
                <p:spPr>
                  <a:xfrm>
                    <a:off x="5207456" y="2993174"/>
                    <a:ext cx="1871683" cy="2215054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2000">
                        <a:solidFill>
                          <a:schemeClr val="accent1">
                            <a:lumMod val="75000"/>
                          </a:schemeClr>
                        </a:solidFill>
                      </a:rPr>
                      <a:t>Register file</a:t>
                    </a:r>
                  </a:p>
                  <a:p>
                    <a:pPr algn="ctr"/>
                    <a:endParaRPr lang="en-US" sz="2400">
                      <a:solidFill>
                        <a:schemeClr val="tx1"/>
                      </a:solidFill>
                    </a:endParaRPr>
                  </a:p>
                  <a:p>
                    <a:pPr algn="ctr"/>
                    <a:endParaRPr lang="en-US" sz="2400">
                      <a:solidFill>
                        <a:schemeClr val="tx1"/>
                      </a:solidFill>
                    </a:endParaRPr>
                  </a:p>
                </p:txBody>
              </p:sp>
              <p:cxnSp>
                <p:nvCxnSpPr>
                  <p:cNvPr id="30" name="Straight Arrow Connector 29">
                    <a:extLst>
                      <a:ext uri="{FF2B5EF4-FFF2-40B4-BE49-F238E27FC236}">
                        <a16:creationId xmlns:a16="http://schemas.microsoft.com/office/drawing/2014/main" id="{AB75ADDB-3FA4-D443-981A-F4A7246CAD0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7079139" y="3844761"/>
                    <a:ext cx="854482" cy="0"/>
                  </a:xfrm>
                  <a:prstGeom prst="straightConnector1">
                    <a:avLst/>
                  </a:prstGeom>
                  <a:ln>
                    <a:solidFill>
                      <a:schemeClr val="tx1"/>
                    </a:solidFill>
                    <a:tailEnd type="triangle" w="lg" len="lg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49" name="Group 48">
                    <a:extLst>
                      <a:ext uri="{FF2B5EF4-FFF2-40B4-BE49-F238E27FC236}">
                        <a16:creationId xmlns:a16="http://schemas.microsoft.com/office/drawing/2014/main" id="{C8B6E05D-9CE3-A04F-B587-A21112253CA6}"/>
                      </a:ext>
                    </a:extLst>
                  </p:cNvPr>
                  <p:cNvGrpSpPr/>
                  <p:nvPr/>
                </p:nvGrpSpPr>
                <p:grpSpPr>
                  <a:xfrm>
                    <a:off x="7933621" y="3429000"/>
                    <a:ext cx="702651" cy="1787660"/>
                    <a:chOff x="7957200" y="4065722"/>
                    <a:chExt cx="576263" cy="1150938"/>
                  </a:xfrm>
                </p:grpSpPr>
                <p:sp>
                  <p:nvSpPr>
                    <p:cNvPr id="39" name="Line 55">
                      <a:extLst>
                        <a:ext uri="{FF2B5EF4-FFF2-40B4-BE49-F238E27FC236}">
                          <a16:creationId xmlns:a16="http://schemas.microsoft.com/office/drawing/2014/main" id="{9AAF6312-D9DF-784A-A3BE-1D3FDED2A4D5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7957200" y="4065722"/>
                      <a:ext cx="1588" cy="431800"/>
                    </a:xfrm>
                    <a:prstGeom prst="line">
                      <a:avLst/>
                    </a:prstGeom>
                    <a:noFill/>
                    <a:ln w="1270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40" name="Line 56">
                      <a:extLst>
                        <a:ext uri="{FF2B5EF4-FFF2-40B4-BE49-F238E27FC236}">
                          <a16:creationId xmlns:a16="http://schemas.microsoft.com/office/drawing/2014/main" id="{EC6B0CD4-2594-5249-A478-0473CCB339E0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H="1">
                      <a:off x="7957200" y="4784860"/>
                      <a:ext cx="1588" cy="431800"/>
                    </a:xfrm>
                    <a:prstGeom prst="line">
                      <a:avLst/>
                    </a:prstGeom>
                    <a:noFill/>
                    <a:ln w="1270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41" name="Line 57">
                      <a:extLst>
                        <a:ext uri="{FF2B5EF4-FFF2-40B4-BE49-F238E27FC236}">
                          <a16:creationId xmlns:a16="http://schemas.microsoft.com/office/drawing/2014/main" id="{1FC3EA3D-98A8-EE44-976D-08D6848436F3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7958788" y="4497522"/>
                      <a:ext cx="144463" cy="142875"/>
                    </a:xfrm>
                    <a:prstGeom prst="line">
                      <a:avLst/>
                    </a:prstGeom>
                    <a:noFill/>
                    <a:ln w="1270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42" name="Line 58">
                      <a:extLst>
                        <a:ext uri="{FF2B5EF4-FFF2-40B4-BE49-F238E27FC236}">
                          <a16:creationId xmlns:a16="http://schemas.microsoft.com/office/drawing/2014/main" id="{2902482A-E3C8-3E4C-81CF-4A34B99973F4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H="1">
                      <a:off x="7958788" y="4640397"/>
                      <a:ext cx="144463" cy="146050"/>
                    </a:xfrm>
                    <a:prstGeom prst="line">
                      <a:avLst/>
                    </a:prstGeom>
                    <a:noFill/>
                    <a:ln w="1270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43" name="Line 59">
                      <a:extLst>
                        <a:ext uri="{FF2B5EF4-FFF2-40B4-BE49-F238E27FC236}">
                          <a16:creationId xmlns:a16="http://schemas.microsoft.com/office/drawing/2014/main" id="{753442D3-8A71-8A46-A6A8-7F1E1B28CBAA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7957200" y="4065722"/>
                      <a:ext cx="576263" cy="287338"/>
                    </a:xfrm>
                    <a:prstGeom prst="line">
                      <a:avLst/>
                    </a:prstGeom>
                    <a:noFill/>
                    <a:ln w="1270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44" name="Line 60">
                      <a:extLst>
                        <a:ext uri="{FF2B5EF4-FFF2-40B4-BE49-F238E27FC236}">
                          <a16:creationId xmlns:a16="http://schemas.microsoft.com/office/drawing/2014/main" id="{AFCBBA75-8E27-EF43-8DF2-D497C3DB974C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7957200" y="4929322"/>
                      <a:ext cx="576263" cy="287338"/>
                    </a:xfrm>
                    <a:prstGeom prst="line">
                      <a:avLst/>
                    </a:prstGeom>
                    <a:noFill/>
                    <a:ln w="1270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45" name="Line 61">
                      <a:extLst>
                        <a:ext uri="{FF2B5EF4-FFF2-40B4-BE49-F238E27FC236}">
                          <a16:creationId xmlns:a16="http://schemas.microsoft.com/office/drawing/2014/main" id="{1E66D242-38AF-494D-B62F-ABF7B68B9695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8533463" y="4353060"/>
                      <a:ext cx="0" cy="576263"/>
                    </a:xfrm>
                    <a:prstGeom prst="line">
                      <a:avLst/>
                    </a:prstGeom>
                    <a:noFill/>
                    <a:ln w="1270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46" name="Text Box 62">
                      <a:extLst>
                        <a:ext uri="{FF2B5EF4-FFF2-40B4-BE49-F238E27FC236}">
                          <a16:creationId xmlns:a16="http://schemas.microsoft.com/office/drawing/2014/main" id="{4B3F1B32-3FA1-8645-8EC8-3F152FA41447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8101663" y="4502285"/>
                      <a:ext cx="326037" cy="158523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lIns="0" tIns="0" rIns="0" bIns="0"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Char char="n"/>
                        <a:defRPr sz="3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buChar char="n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>
                        <a:spcBef>
                          <a:spcPct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en-US" sz="16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ALU</a:t>
                      </a:r>
                      <a:endParaRPr lang="en-AU" altLang="en-US" sz="18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p:txBody>
                </p:sp>
              </p:grpSp>
              <p:cxnSp>
                <p:nvCxnSpPr>
                  <p:cNvPr id="70" name="Straight Connector 69">
                    <a:extLst>
                      <a:ext uri="{FF2B5EF4-FFF2-40B4-BE49-F238E27FC236}">
                        <a16:creationId xmlns:a16="http://schemas.microsoft.com/office/drawing/2014/main" id="{56ED597C-D87E-9844-91D6-9896376A7E9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714619" y="4242766"/>
                    <a:ext cx="0" cy="1495882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  <a:headEnd type="oval" w="lg" len="lg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1" name="Straight Connector 70">
                    <a:extLst>
                      <a:ext uri="{FF2B5EF4-FFF2-40B4-BE49-F238E27FC236}">
                        <a16:creationId xmlns:a16="http://schemas.microsoft.com/office/drawing/2014/main" id="{C1AF1F22-BC11-A740-B2D2-D628E724409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 flipV="1">
                    <a:off x="4714619" y="5702036"/>
                    <a:ext cx="2679409" cy="36612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3" name="Straight Connector 72">
                    <a:extLst>
                      <a:ext uri="{FF2B5EF4-FFF2-40B4-BE49-F238E27FC236}">
                        <a16:creationId xmlns:a16="http://schemas.microsoft.com/office/drawing/2014/main" id="{C583CCE4-ED85-E946-B103-0ED86AB7A02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7372163" y="4865554"/>
                    <a:ext cx="21865" cy="89566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5DEB0B45-EE35-AD42-BB3E-7F7D49D4AA95}"/>
                    </a:ext>
                  </a:extLst>
                </p:cNvPr>
                <p:cNvSpPr txBox="1"/>
                <p:nvPr/>
              </p:nvSpPr>
              <p:spPr>
                <a:xfrm>
                  <a:off x="5157705" y="4006105"/>
                  <a:ext cx="121315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/>
                    <a:t>Read-reg-1</a:t>
                  </a:r>
                  <a:endParaRPr lang="en-US" sz="1600"/>
                </a:p>
              </p:txBody>
            </p:sp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76128BB3-A6F4-7740-97F6-CD88D3911905}"/>
                    </a:ext>
                  </a:extLst>
                </p:cNvPr>
                <p:cNvSpPr txBox="1"/>
                <p:nvPr/>
              </p:nvSpPr>
              <p:spPr>
                <a:xfrm>
                  <a:off x="6289751" y="3857193"/>
                  <a:ext cx="808106" cy="6463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/>
                    <a:t>Read</a:t>
                  </a:r>
                </a:p>
                <a:p>
                  <a:r>
                    <a:rPr lang="en-US"/>
                    <a:t>Data-1</a:t>
                  </a:r>
                  <a:endParaRPr lang="en-US" sz="1600"/>
                </a:p>
              </p:txBody>
            </p:sp>
            <p:cxnSp>
              <p:nvCxnSpPr>
                <p:cNvPr id="63" name="Straight Arrow Connector 62">
                  <a:extLst>
                    <a:ext uri="{FF2B5EF4-FFF2-40B4-BE49-F238E27FC236}">
                      <a16:creationId xmlns:a16="http://schemas.microsoft.com/office/drawing/2014/main" id="{14A56023-696E-9648-96AE-1FF276B84D0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366063" y="4881320"/>
                  <a:ext cx="583324" cy="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85" name="TextBox 84">
                  <a:extLst>
                    <a:ext uri="{FF2B5EF4-FFF2-40B4-BE49-F238E27FC236}">
                      <a16:creationId xmlns:a16="http://schemas.microsoft.com/office/drawing/2014/main" id="{78691B70-0D3A-3449-B47C-66F5F5C1F83E}"/>
                    </a:ext>
                  </a:extLst>
                </p:cNvPr>
                <p:cNvSpPr txBox="1"/>
                <p:nvPr/>
              </p:nvSpPr>
              <p:spPr>
                <a:xfrm>
                  <a:off x="5154785" y="4331289"/>
                  <a:ext cx="121315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/>
                    <a:t>Read-reg-2</a:t>
                  </a:r>
                  <a:endParaRPr lang="en-US" sz="1600"/>
                </a:p>
              </p:txBody>
            </p:sp>
            <p:sp>
              <p:nvSpPr>
                <p:cNvPr id="86" name="TextBox 85">
                  <a:extLst>
                    <a:ext uri="{FF2B5EF4-FFF2-40B4-BE49-F238E27FC236}">
                      <a16:creationId xmlns:a16="http://schemas.microsoft.com/office/drawing/2014/main" id="{A710DDAF-EED1-E14F-9B66-974BFE935BB8}"/>
                    </a:ext>
                  </a:extLst>
                </p:cNvPr>
                <p:cNvSpPr txBox="1"/>
                <p:nvPr/>
              </p:nvSpPr>
              <p:spPr>
                <a:xfrm>
                  <a:off x="5151865" y="4647330"/>
                  <a:ext cx="107811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/>
                    <a:t>Write-reg</a:t>
                  </a:r>
                  <a:endParaRPr lang="en-US" sz="1600"/>
                </a:p>
              </p:txBody>
            </p:sp>
          </p:grpSp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FD2F1B98-AC91-A443-BE47-16351DECCD8D}"/>
                  </a:ext>
                </a:extLst>
              </p:cNvPr>
              <p:cNvSpPr txBox="1"/>
              <p:nvPr/>
            </p:nvSpPr>
            <p:spPr>
              <a:xfrm>
                <a:off x="5183802" y="4958429"/>
                <a:ext cx="119160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/>
                  <a:t>Write-data</a:t>
                </a:r>
                <a:endParaRPr lang="en-US" sz="1600"/>
              </a:p>
            </p:txBody>
          </p:sp>
        </p:grpSp>
        <p:sp>
          <p:nvSpPr>
            <p:cNvPr id="162" name="TextBox 161">
              <a:extLst>
                <a:ext uri="{FF2B5EF4-FFF2-40B4-BE49-F238E27FC236}">
                  <a16:creationId xmlns:a16="http://schemas.microsoft.com/office/drawing/2014/main" id="{EB3BC0E9-C0FE-5547-940B-095C9D02D63F}"/>
                </a:ext>
              </a:extLst>
            </p:cNvPr>
            <p:cNvSpPr txBox="1"/>
            <p:nvPr/>
          </p:nvSpPr>
          <p:spPr>
            <a:xfrm>
              <a:off x="6321715" y="4453848"/>
              <a:ext cx="787267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Read</a:t>
              </a:r>
            </a:p>
            <a:p>
              <a:r>
                <a:rPr lang="en-US"/>
                <a:t>data-2</a:t>
              </a:r>
              <a:endParaRPr lang="en-US" sz="1600"/>
            </a:p>
          </p:txBody>
        </p:sp>
      </p:grpSp>
    </p:spTree>
    <p:extLst>
      <p:ext uri="{BB962C8B-B14F-4D97-AF65-F5344CB8AC3E}">
        <p14:creationId xmlns:p14="http://schemas.microsoft.com/office/powerpoint/2010/main" val="1916824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5" grpId="0"/>
      <p:bldP spid="16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F641B9F3-3979-4C4B-8E5A-ECAF7E6F8D0F}"/>
              </a:ext>
            </a:extLst>
          </p:cNvPr>
          <p:cNvSpPr txBox="1"/>
          <p:nvPr/>
        </p:nvSpPr>
        <p:spPr>
          <a:xfrm>
            <a:off x="8572990" y="360476"/>
            <a:ext cx="294503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add</a:t>
            </a:r>
            <a:r>
              <a:rPr lang="en-US" sz="2800">
                <a:latin typeface="Consolas" panose="020B0609020204030204" pitchFamily="49" charset="0"/>
                <a:cs typeface="Consolas" panose="020B0609020204030204" pitchFamily="49" charset="0"/>
              </a:rPr>
              <a:t> x5, x6, x7</a:t>
            </a:r>
          </a:p>
        </p:txBody>
      </p:sp>
      <p:grpSp>
        <p:nvGrpSpPr>
          <p:cNvPr id="93" name="Group 92">
            <a:extLst>
              <a:ext uri="{FF2B5EF4-FFF2-40B4-BE49-F238E27FC236}">
                <a16:creationId xmlns:a16="http://schemas.microsoft.com/office/drawing/2014/main" id="{4796B27A-89A8-9747-98E1-8E071812EB4C}"/>
              </a:ext>
            </a:extLst>
          </p:cNvPr>
          <p:cNvGrpSpPr/>
          <p:nvPr/>
        </p:nvGrpSpPr>
        <p:grpSpPr>
          <a:xfrm>
            <a:off x="8636272" y="3075944"/>
            <a:ext cx="2652153" cy="2215054"/>
            <a:chOff x="8636272" y="3075944"/>
            <a:chExt cx="2652153" cy="2215054"/>
          </a:xfrm>
        </p:grpSpPr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8D103AA7-6A32-794D-B207-23C08D715187}"/>
                </a:ext>
              </a:extLst>
            </p:cNvPr>
            <p:cNvSpPr/>
            <p:nvPr/>
          </p:nvSpPr>
          <p:spPr>
            <a:xfrm>
              <a:off x="9464300" y="3075944"/>
              <a:ext cx="1753718" cy="221505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>
                  <a:solidFill>
                    <a:schemeClr val="accent1">
                      <a:lumMod val="75000"/>
                    </a:schemeClr>
                  </a:solidFill>
                </a:rPr>
                <a:t>Data memory</a:t>
              </a:r>
            </a:p>
            <a:p>
              <a:pPr algn="ctr"/>
              <a:endParaRPr lang="en-US" sz="2000">
                <a:solidFill>
                  <a:schemeClr val="accent1">
                    <a:lumMod val="75000"/>
                  </a:schemeClr>
                </a:solidFill>
              </a:endParaRPr>
            </a:p>
            <a:p>
              <a:pPr algn="ctr"/>
              <a:endParaRPr lang="en-US" sz="2400">
                <a:solidFill>
                  <a:schemeClr val="tx1"/>
                </a:solidFill>
              </a:endParaRP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8A8F03FF-0842-E34E-A19A-5BD4BFE900DE}"/>
                </a:ext>
              </a:extLst>
            </p:cNvPr>
            <p:cNvSpPr txBox="1"/>
            <p:nvPr/>
          </p:nvSpPr>
          <p:spPr>
            <a:xfrm>
              <a:off x="9421733" y="4253457"/>
              <a:ext cx="99399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/>
                <a:t>address</a:t>
              </a:r>
              <a:endParaRPr lang="en-US"/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A44102A6-BC42-CF4E-BE86-926F0407D7A0}"/>
                </a:ext>
              </a:extLst>
            </p:cNvPr>
            <p:cNvSpPr txBox="1"/>
            <p:nvPr/>
          </p:nvSpPr>
          <p:spPr>
            <a:xfrm>
              <a:off x="10641197" y="4239358"/>
              <a:ext cx="64722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/>
                <a:t>data</a:t>
              </a:r>
              <a:endParaRPr lang="en-US"/>
            </a:p>
          </p:txBody>
        </p:sp>
        <p:cxnSp>
          <p:nvCxnSpPr>
            <p:cNvPr id="78" name="Straight Arrow Connector 77">
              <a:extLst>
                <a:ext uri="{FF2B5EF4-FFF2-40B4-BE49-F238E27FC236}">
                  <a16:creationId xmlns:a16="http://schemas.microsoft.com/office/drawing/2014/main" id="{031EA7ED-95FB-2442-89A3-CFAFDD1D3593}"/>
                </a:ext>
              </a:extLst>
            </p:cNvPr>
            <p:cNvCxnSpPr>
              <a:cxnSpLocks/>
            </p:cNvCxnSpPr>
            <p:nvPr/>
          </p:nvCxnSpPr>
          <p:spPr>
            <a:xfrm>
              <a:off x="8636272" y="4356734"/>
              <a:ext cx="854482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78BEE31E-03CC-7947-82CF-15D2A5C42071}"/>
              </a:ext>
            </a:extLst>
          </p:cNvPr>
          <p:cNvGrpSpPr/>
          <p:nvPr/>
        </p:nvGrpSpPr>
        <p:grpSpPr>
          <a:xfrm>
            <a:off x="747552" y="3098330"/>
            <a:ext cx="3615710" cy="2215054"/>
            <a:chOff x="747552" y="3098330"/>
            <a:chExt cx="3615710" cy="2215054"/>
          </a:xfrm>
        </p:grpSpPr>
        <p:grpSp>
          <p:nvGrpSpPr>
            <p:cNvPr id="87" name="Group 86">
              <a:extLst>
                <a:ext uri="{FF2B5EF4-FFF2-40B4-BE49-F238E27FC236}">
                  <a16:creationId xmlns:a16="http://schemas.microsoft.com/office/drawing/2014/main" id="{3FBC6270-9DD9-C44E-878C-833424729807}"/>
                </a:ext>
              </a:extLst>
            </p:cNvPr>
            <p:cNvGrpSpPr/>
            <p:nvPr/>
          </p:nvGrpSpPr>
          <p:grpSpPr>
            <a:xfrm>
              <a:off x="747552" y="3098330"/>
              <a:ext cx="3538366" cy="2215054"/>
              <a:chOff x="759300" y="2987565"/>
              <a:chExt cx="3538366" cy="2215054"/>
            </a:xfrm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E82469D1-F82F-3948-8FFA-4A6C2C173C3B}"/>
                  </a:ext>
                </a:extLst>
              </p:cNvPr>
              <p:cNvSpPr/>
              <p:nvPr/>
            </p:nvSpPr>
            <p:spPr>
              <a:xfrm>
                <a:off x="2543948" y="2987565"/>
                <a:ext cx="1753718" cy="2215054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>
                    <a:solidFill>
                      <a:schemeClr val="accent1">
                        <a:lumMod val="75000"/>
                      </a:schemeClr>
                    </a:solidFill>
                  </a:rPr>
                  <a:t>Instruction memory</a:t>
                </a:r>
              </a:p>
              <a:p>
                <a:pPr algn="ctr"/>
                <a:endParaRPr lang="en-US" sz="2400">
                  <a:solidFill>
                    <a:schemeClr val="tx1"/>
                  </a:solidFill>
                </a:endParaRPr>
              </a:p>
              <a:p>
                <a:pPr algn="ctr"/>
                <a:endParaRPr lang="en-US" sz="2400">
                  <a:solidFill>
                    <a:schemeClr val="tx1"/>
                  </a:solidFill>
                </a:endParaRP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8137D5CB-2E1C-654A-80F5-A9BFFA5D3A62}"/>
                  </a:ext>
                </a:extLst>
              </p:cNvPr>
              <p:cNvSpPr/>
              <p:nvPr/>
            </p:nvSpPr>
            <p:spPr>
              <a:xfrm>
                <a:off x="759300" y="3216163"/>
                <a:ext cx="930165" cy="1986455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>
                    <a:solidFill>
                      <a:schemeClr val="accent1">
                        <a:lumMod val="75000"/>
                      </a:schemeClr>
                    </a:solidFill>
                  </a:rPr>
                  <a:t>PC</a:t>
                </a:r>
                <a:endParaRPr lang="en-US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78A706E1-F8E5-C742-A035-3649CB7C0B29}"/>
                  </a:ext>
                </a:extLst>
              </p:cNvPr>
              <p:cNvCxnSpPr>
                <a:cxnSpLocks/>
                <a:stCxn id="14" idx="3"/>
              </p:cNvCxnSpPr>
              <p:nvPr/>
            </p:nvCxnSpPr>
            <p:spPr>
              <a:xfrm>
                <a:off x="1689465" y="4209391"/>
                <a:ext cx="854482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5C3AAEE7-90FE-AA44-B41A-C96A12DC3E42}"/>
                </a:ext>
              </a:extLst>
            </p:cNvPr>
            <p:cNvSpPr txBox="1"/>
            <p:nvPr/>
          </p:nvSpPr>
          <p:spPr>
            <a:xfrm>
              <a:off x="3716034" y="4086602"/>
              <a:ext cx="64722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/>
                <a:t>data</a:t>
              </a:r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A57E619-1317-8D4E-B066-5CBB0A1AA9BE}"/>
                </a:ext>
              </a:extLst>
            </p:cNvPr>
            <p:cNvSpPr txBox="1"/>
            <p:nvPr/>
          </p:nvSpPr>
          <p:spPr>
            <a:xfrm>
              <a:off x="2496570" y="4100701"/>
              <a:ext cx="99399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/>
                <a:t>address</a:t>
              </a:r>
              <a:endParaRPr lang="en-US"/>
            </a:p>
          </p:txBody>
        </p:sp>
      </p:grp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C4775669-ED8E-1F46-A705-42499A033099}"/>
              </a:ext>
            </a:extLst>
          </p:cNvPr>
          <p:cNvGrpSpPr/>
          <p:nvPr/>
        </p:nvGrpSpPr>
        <p:grpSpPr>
          <a:xfrm>
            <a:off x="4309413" y="3055393"/>
            <a:ext cx="4348894" cy="2745474"/>
            <a:chOff x="4309413" y="3055393"/>
            <a:chExt cx="4348894" cy="2745474"/>
          </a:xfrm>
        </p:grpSpPr>
        <p:grpSp>
          <p:nvGrpSpPr>
            <p:cNvPr id="92" name="Group 91">
              <a:extLst>
                <a:ext uri="{FF2B5EF4-FFF2-40B4-BE49-F238E27FC236}">
                  <a16:creationId xmlns:a16="http://schemas.microsoft.com/office/drawing/2014/main" id="{CC69E787-F1A1-D842-9DEB-7EBB1120E0BF}"/>
                </a:ext>
              </a:extLst>
            </p:cNvPr>
            <p:cNvGrpSpPr/>
            <p:nvPr/>
          </p:nvGrpSpPr>
          <p:grpSpPr>
            <a:xfrm>
              <a:off x="4309413" y="3055393"/>
              <a:ext cx="4348894" cy="2745474"/>
              <a:chOff x="4287378" y="2993174"/>
              <a:chExt cx="4348894" cy="2745474"/>
            </a:xfrm>
          </p:grpSpPr>
          <p:grpSp>
            <p:nvGrpSpPr>
              <p:cNvPr id="88" name="Group 87">
                <a:extLst>
                  <a:ext uri="{FF2B5EF4-FFF2-40B4-BE49-F238E27FC236}">
                    <a16:creationId xmlns:a16="http://schemas.microsoft.com/office/drawing/2014/main" id="{54AC0510-D33B-EB42-9EDE-0EE8AC5F35A7}"/>
                  </a:ext>
                </a:extLst>
              </p:cNvPr>
              <p:cNvGrpSpPr/>
              <p:nvPr/>
            </p:nvGrpSpPr>
            <p:grpSpPr>
              <a:xfrm>
                <a:off x="4287378" y="2993174"/>
                <a:ext cx="4348894" cy="2745474"/>
                <a:chOff x="4287378" y="2993174"/>
                <a:chExt cx="4348894" cy="2745474"/>
              </a:xfrm>
            </p:grpSpPr>
            <p:cxnSp>
              <p:nvCxnSpPr>
                <p:cNvPr id="19" name="Straight Arrow Connector 18">
                  <a:extLst>
                    <a:ext uri="{FF2B5EF4-FFF2-40B4-BE49-F238E27FC236}">
                      <a16:creationId xmlns:a16="http://schemas.microsoft.com/office/drawing/2014/main" id="{10A9EE64-15C4-6640-A132-CE9F481F465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87378" y="4230769"/>
                  <a:ext cx="854482" cy="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0" name="Rectangle 19">
                  <a:extLst>
                    <a:ext uri="{FF2B5EF4-FFF2-40B4-BE49-F238E27FC236}">
                      <a16:creationId xmlns:a16="http://schemas.microsoft.com/office/drawing/2014/main" id="{13122715-854F-D440-9E3E-76E02F653B1F}"/>
                    </a:ext>
                  </a:extLst>
                </p:cNvPr>
                <p:cNvSpPr/>
                <p:nvPr/>
              </p:nvSpPr>
              <p:spPr>
                <a:xfrm>
                  <a:off x="5207456" y="2993174"/>
                  <a:ext cx="1871683" cy="2215054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000">
                      <a:solidFill>
                        <a:schemeClr val="accent1">
                          <a:lumMod val="75000"/>
                        </a:schemeClr>
                      </a:solidFill>
                    </a:rPr>
                    <a:t>Register file</a:t>
                  </a:r>
                </a:p>
                <a:p>
                  <a:pPr algn="ctr"/>
                  <a:endParaRPr lang="en-US" sz="2400">
                    <a:solidFill>
                      <a:schemeClr val="tx1"/>
                    </a:solidFill>
                  </a:endParaRPr>
                </a:p>
                <a:p>
                  <a:pPr algn="ctr"/>
                  <a:endParaRPr lang="en-US" sz="2400">
                    <a:solidFill>
                      <a:schemeClr val="tx1"/>
                    </a:solidFill>
                  </a:endParaRPr>
                </a:p>
              </p:txBody>
            </p:sp>
            <p:cxnSp>
              <p:nvCxnSpPr>
                <p:cNvPr id="30" name="Straight Arrow Connector 29">
                  <a:extLst>
                    <a:ext uri="{FF2B5EF4-FFF2-40B4-BE49-F238E27FC236}">
                      <a16:creationId xmlns:a16="http://schemas.microsoft.com/office/drawing/2014/main" id="{AB75ADDB-3FA4-D443-981A-F4A7246CAD0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079139" y="3844761"/>
                  <a:ext cx="854482" cy="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49" name="Group 48">
                  <a:extLst>
                    <a:ext uri="{FF2B5EF4-FFF2-40B4-BE49-F238E27FC236}">
                      <a16:creationId xmlns:a16="http://schemas.microsoft.com/office/drawing/2014/main" id="{C8B6E05D-9CE3-A04F-B587-A21112253CA6}"/>
                    </a:ext>
                  </a:extLst>
                </p:cNvPr>
                <p:cNvGrpSpPr/>
                <p:nvPr/>
              </p:nvGrpSpPr>
              <p:grpSpPr>
                <a:xfrm>
                  <a:off x="7933621" y="3429000"/>
                  <a:ext cx="702651" cy="1787660"/>
                  <a:chOff x="7957200" y="4065722"/>
                  <a:chExt cx="576263" cy="1150938"/>
                </a:xfrm>
              </p:grpSpPr>
              <p:sp>
                <p:nvSpPr>
                  <p:cNvPr id="39" name="Line 55">
                    <a:extLst>
                      <a:ext uri="{FF2B5EF4-FFF2-40B4-BE49-F238E27FC236}">
                        <a16:creationId xmlns:a16="http://schemas.microsoft.com/office/drawing/2014/main" id="{9AAF6312-D9DF-784A-A3BE-1D3FDED2A4D5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7957200" y="4065722"/>
                    <a:ext cx="1588" cy="431800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40" name="Line 56">
                    <a:extLst>
                      <a:ext uri="{FF2B5EF4-FFF2-40B4-BE49-F238E27FC236}">
                        <a16:creationId xmlns:a16="http://schemas.microsoft.com/office/drawing/2014/main" id="{EC6B0CD4-2594-5249-A478-0473CCB339E0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7957200" y="4784860"/>
                    <a:ext cx="1588" cy="431800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41" name="Line 57">
                    <a:extLst>
                      <a:ext uri="{FF2B5EF4-FFF2-40B4-BE49-F238E27FC236}">
                        <a16:creationId xmlns:a16="http://schemas.microsoft.com/office/drawing/2014/main" id="{1FC3EA3D-98A8-EE44-976D-08D6848436F3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7958788" y="4497522"/>
                    <a:ext cx="144463" cy="142875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42" name="Line 58">
                    <a:extLst>
                      <a:ext uri="{FF2B5EF4-FFF2-40B4-BE49-F238E27FC236}">
                        <a16:creationId xmlns:a16="http://schemas.microsoft.com/office/drawing/2014/main" id="{2902482A-E3C8-3E4C-81CF-4A34B99973F4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7958788" y="4640397"/>
                    <a:ext cx="144463" cy="146050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43" name="Line 59">
                    <a:extLst>
                      <a:ext uri="{FF2B5EF4-FFF2-40B4-BE49-F238E27FC236}">
                        <a16:creationId xmlns:a16="http://schemas.microsoft.com/office/drawing/2014/main" id="{753442D3-8A71-8A46-A6A8-7F1E1B28CBAA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7957200" y="4065722"/>
                    <a:ext cx="576263" cy="287338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44" name="Line 60">
                    <a:extLst>
                      <a:ext uri="{FF2B5EF4-FFF2-40B4-BE49-F238E27FC236}">
                        <a16:creationId xmlns:a16="http://schemas.microsoft.com/office/drawing/2014/main" id="{AFCBBA75-8E27-EF43-8DF2-D497C3DB974C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7957200" y="4929322"/>
                    <a:ext cx="576263" cy="287338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45" name="Line 61">
                    <a:extLst>
                      <a:ext uri="{FF2B5EF4-FFF2-40B4-BE49-F238E27FC236}">
                        <a16:creationId xmlns:a16="http://schemas.microsoft.com/office/drawing/2014/main" id="{1E66D242-38AF-494D-B62F-ABF7B68B9695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8533463" y="4353060"/>
                    <a:ext cx="0" cy="576263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46" name="Text Box 62">
                    <a:extLst>
                      <a:ext uri="{FF2B5EF4-FFF2-40B4-BE49-F238E27FC236}">
                        <a16:creationId xmlns:a16="http://schemas.microsoft.com/office/drawing/2014/main" id="{4B3F1B32-3FA1-8645-8EC8-3F152FA41447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101663" y="4502285"/>
                    <a:ext cx="326037" cy="15852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>
                    <a:spAutoFit/>
                  </a:bodyPr>
                  <a:lstStyle>
                    <a:lvl1pPr>
                      <a:spcBef>
                        <a:spcPct val="20000"/>
                      </a:spcBef>
                      <a:buClr>
                        <a:schemeClr val="folHlink"/>
                      </a:buClr>
                      <a:buSzPct val="60000"/>
                      <a:buFont typeface="Wingdings" pitchFamily="2" charset="2"/>
                      <a:buChar char="n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hlink"/>
                      </a:buClr>
                      <a:buSzPct val="55000"/>
                      <a:buFont typeface="Wingdings" pitchFamily="2" charset="2"/>
                      <a:buChar char="n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folHlink"/>
                      </a:buClr>
                      <a:buSzPct val="50000"/>
                      <a:buFont typeface="Wingdings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55000"/>
                      <a:buFont typeface="Wingding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accent1"/>
                      </a:buClr>
                      <a:buSzPct val="50000"/>
                      <a:buFont typeface="Wingding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en-US" sz="1600">
                        <a:solidFill>
                          <a:schemeClr val="accent1">
                            <a:lumMod val="75000"/>
                          </a:schemeClr>
                        </a:solidFill>
                      </a:rPr>
                      <a:t>ALU</a:t>
                    </a:r>
                    <a:endParaRPr lang="en-AU" altLang="en-US" sz="1800">
                      <a:solidFill>
                        <a:schemeClr val="accent1">
                          <a:lumMod val="75000"/>
                        </a:schemeClr>
                      </a:solidFill>
                    </a:endParaRPr>
                  </a:p>
                </p:txBody>
              </p:sp>
            </p:grpSp>
            <p:cxnSp>
              <p:nvCxnSpPr>
                <p:cNvPr id="70" name="Straight Connector 69">
                  <a:extLst>
                    <a:ext uri="{FF2B5EF4-FFF2-40B4-BE49-F238E27FC236}">
                      <a16:creationId xmlns:a16="http://schemas.microsoft.com/office/drawing/2014/main" id="{56ED597C-D87E-9844-91D6-9896376A7E9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714619" y="4242766"/>
                  <a:ext cx="0" cy="1495882"/>
                </a:xfrm>
                <a:prstGeom prst="line">
                  <a:avLst/>
                </a:prstGeom>
                <a:ln>
                  <a:solidFill>
                    <a:schemeClr val="tx1"/>
                  </a:solidFill>
                  <a:headEnd type="oval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1" name="Straight Connector 70">
                  <a:extLst>
                    <a:ext uri="{FF2B5EF4-FFF2-40B4-BE49-F238E27FC236}">
                      <a16:creationId xmlns:a16="http://schemas.microsoft.com/office/drawing/2014/main" id="{C1AF1F22-BC11-A740-B2D2-D628E724409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4714620" y="5702036"/>
                  <a:ext cx="2765990" cy="35143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3" name="Straight Connector 72">
                  <a:extLst>
                    <a:ext uri="{FF2B5EF4-FFF2-40B4-BE49-F238E27FC236}">
                      <a16:creationId xmlns:a16="http://schemas.microsoft.com/office/drawing/2014/main" id="{C583CCE4-ED85-E946-B103-0ED86AB7A02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480610" y="4881320"/>
                  <a:ext cx="14447" cy="85585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5DEB0B45-EE35-AD42-BB3E-7F7D49D4AA95}"/>
                  </a:ext>
                </a:extLst>
              </p:cNvPr>
              <p:cNvSpPr txBox="1"/>
              <p:nvPr/>
            </p:nvSpPr>
            <p:spPr>
              <a:xfrm>
                <a:off x="5157705" y="4006105"/>
                <a:ext cx="121315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/>
                  <a:t>Read-reg-1</a:t>
                </a:r>
                <a:endParaRPr lang="en-US" sz="1600"/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76128BB3-A6F4-7740-97F6-CD88D3911905}"/>
                  </a:ext>
                </a:extLst>
              </p:cNvPr>
              <p:cNvSpPr txBox="1"/>
              <p:nvPr/>
            </p:nvSpPr>
            <p:spPr>
              <a:xfrm>
                <a:off x="6290766" y="3812534"/>
                <a:ext cx="787267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/>
                  <a:t>Read</a:t>
                </a:r>
              </a:p>
              <a:p>
                <a:r>
                  <a:rPr lang="en-US"/>
                  <a:t>data-1</a:t>
                </a:r>
                <a:endParaRPr lang="en-US" sz="1600"/>
              </a:p>
            </p:txBody>
          </p:sp>
          <p:cxnSp>
            <p:nvCxnSpPr>
              <p:cNvPr id="63" name="Straight Arrow Connector 62">
                <a:extLst>
                  <a:ext uri="{FF2B5EF4-FFF2-40B4-BE49-F238E27FC236}">
                    <a16:creationId xmlns:a16="http://schemas.microsoft.com/office/drawing/2014/main" id="{14A56023-696E-9648-96AE-1FF276B84D0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480610" y="4881320"/>
                <a:ext cx="468777" cy="1489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78691B70-0D3A-3449-B47C-66F5F5C1F83E}"/>
                  </a:ext>
                </a:extLst>
              </p:cNvPr>
              <p:cNvSpPr txBox="1"/>
              <p:nvPr/>
            </p:nvSpPr>
            <p:spPr>
              <a:xfrm>
                <a:off x="5154785" y="4331289"/>
                <a:ext cx="121315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/>
                  <a:t>Read-reg-2</a:t>
                </a:r>
                <a:endParaRPr lang="en-US" sz="1600"/>
              </a:p>
            </p:txBody>
          </p:sp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A710DDAF-EED1-E14F-9B66-974BFE935BB8}"/>
                  </a:ext>
                </a:extLst>
              </p:cNvPr>
              <p:cNvSpPr txBox="1"/>
              <p:nvPr/>
            </p:nvSpPr>
            <p:spPr>
              <a:xfrm>
                <a:off x="5151865" y="4647330"/>
                <a:ext cx="107811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/>
                  <a:t>Write-reg</a:t>
                </a:r>
                <a:endParaRPr lang="en-US" sz="1600"/>
              </a:p>
            </p:txBody>
          </p:sp>
        </p:grp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FD2F1B98-AC91-A443-BE47-16351DECCD8D}"/>
                </a:ext>
              </a:extLst>
            </p:cNvPr>
            <p:cNvSpPr txBox="1"/>
            <p:nvPr/>
          </p:nvSpPr>
          <p:spPr>
            <a:xfrm>
              <a:off x="5183802" y="4958429"/>
              <a:ext cx="119160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Write-data</a:t>
              </a:r>
              <a:endParaRPr lang="en-US" sz="1600"/>
            </a:p>
          </p:txBody>
        </p:sp>
      </p:grp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CAA3993B-88B6-134B-B72B-2F288BB65967}"/>
              </a:ext>
            </a:extLst>
          </p:cNvPr>
          <p:cNvGrpSpPr/>
          <p:nvPr/>
        </p:nvGrpSpPr>
        <p:grpSpPr>
          <a:xfrm>
            <a:off x="4871545" y="2301766"/>
            <a:ext cx="6850655" cy="2841328"/>
            <a:chOff x="4871545" y="2301766"/>
            <a:chExt cx="6850655" cy="2841328"/>
          </a:xfrm>
        </p:grpSpPr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5AE51741-587E-084E-8F77-CA32EC0D53E0}"/>
                </a:ext>
              </a:extLst>
            </p:cNvPr>
            <p:cNvCxnSpPr>
              <a:cxnSpLocks/>
            </p:cNvCxnSpPr>
            <p:nvPr/>
          </p:nvCxnSpPr>
          <p:spPr>
            <a:xfrm>
              <a:off x="4871545" y="2301766"/>
              <a:ext cx="6850655" cy="1040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DDBBBBEF-2A69-934E-BF80-2AB2B38ABE0D}"/>
                </a:ext>
              </a:extLst>
            </p:cNvPr>
            <p:cNvCxnSpPr/>
            <p:nvPr/>
          </p:nvCxnSpPr>
          <p:spPr>
            <a:xfrm>
              <a:off x="11218018" y="4331289"/>
              <a:ext cx="504182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6CD9681F-10B8-CB44-9D2D-CD82535B059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722200" y="2301766"/>
              <a:ext cx="0" cy="202952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Elbow Connector 106">
              <a:extLst>
                <a:ext uri="{FF2B5EF4-FFF2-40B4-BE49-F238E27FC236}">
                  <a16:creationId xmlns:a16="http://schemas.microsoft.com/office/drawing/2014/main" id="{829D89DD-DFC6-1541-9565-C03491B3B08E}"/>
                </a:ext>
              </a:extLst>
            </p:cNvPr>
            <p:cNvCxnSpPr>
              <a:cxnSpLocks/>
              <a:endCxn id="105" idx="1"/>
            </p:cNvCxnSpPr>
            <p:nvPr/>
          </p:nvCxnSpPr>
          <p:spPr>
            <a:xfrm rot="16200000" flipH="1">
              <a:off x="3608943" y="3568235"/>
              <a:ext cx="2837461" cy="312257"/>
            </a:xfrm>
            <a:prstGeom prst="bentConnector2">
              <a:avLst/>
            </a:prstGeom>
            <a:ln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E1410B53-9E40-374E-9F3A-CD9FA5FE6604}"/>
              </a:ext>
            </a:extLst>
          </p:cNvPr>
          <p:cNvCxnSpPr>
            <a:endCxn id="86" idx="1"/>
          </p:cNvCxnSpPr>
          <p:nvPr/>
        </p:nvCxnSpPr>
        <p:spPr>
          <a:xfrm>
            <a:off x="4736654" y="4894215"/>
            <a:ext cx="437246" cy="0"/>
          </a:xfrm>
          <a:prstGeom prst="straightConnector1">
            <a:avLst/>
          </a:prstGeom>
          <a:ln>
            <a:solidFill>
              <a:schemeClr val="tx1"/>
            </a:solidFill>
            <a:headEnd type="oval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5" name="TextBox 144">
            <a:extLst>
              <a:ext uri="{FF2B5EF4-FFF2-40B4-BE49-F238E27FC236}">
                <a16:creationId xmlns:a16="http://schemas.microsoft.com/office/drawing/2014/main" id="{8120B8D4-2377-8D46-9B3D-F28D55B07DAA}"/>
              </a:ext>
            </a:extLst>
          </p:cNvPr>
          <p:cNvSpPr txBox="1"/>
          <p:nvPr/>
        </p:nvSpPr>
        <p:spPr>
          <a:xfrm>
            <a:off x="1677717" y="143787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4</a:t>
            </a:r>
          </a:p>
        </p:txBody>
      </p:sp>
      <p:grpSp>
        <p:nvGrpSpPr>
          <p:cNvPr id="158" name="Group 157">
            <a:extLst>
              <a:ext uri="{FF2B5EF4-FFF2-40B4-BE49-F238E27FC236}">
                <a16:creationId xmlns:a16="http://schemas.microsoft.com/office/drawing/2014/main" id="{C9F21763-E033-1744-B3AD-FCD8281142AC}"/>
              </a:ext>
            </a:extLst>
          </p:cNvPr>
          <p:cNvGrpSpPr/>
          <p:nvPr/>
        </p:nvGrpSpPr>
        <p:grpSpPr>
          <a:xfrm>
            <a:off x="747553" y="775665"/>
            <a:ext cx="2749823" cy="3544491"/>
            <a:chOff x="747553" y="775665"/>
            <a:chExt cx="2749823" cy="3544491"/>
          </a:xfrm>
        </p:grpSpPr>
        <p:grpSp>
          <p:nvGrpSpPr>
            <p:cNvPr id="126" name="Group 125">
              <a:extLst>
                <a:ext uri="{FF2B5EF4-FFF2-40B4-BE49-F238E27FC236}">
                  <a16:creationId xmlns:a16="http://schemas.microsoft.com/office/drawing/2014/main" id="{764A7296-EF72-CE43-9225-CDEDB1BB2C86}"/>
                </a:ext>
              </a:extLst>
            </p:cNvPr>
            <p:cNvGrpSpPr/>
            <p:nvPr/>
          </p:nvGrpSpPr>
          <p:grpSpPr>
            <a:xfrm>
              <a:off x="2532199" y="1272525"/>
              <a:ext cx="520910" cy="1324619"/>
              <a:chOff x="7957200" y="4065722"/>
              <a:chExt cx="576263" cy="1150938"/>
            </a:xfrm>
          </p:grpSpPr>
          <p:sp>
            <p:nvSpPr>
              <p:cNvPr id="130" name="Line 55">
                <a:extLst>
                  <a:ext uri="{FF2B5EF4-FFF2-40B4-BE49-F238E27FC236}">
                    <a16:creationId xmlns:a16="http://schemas.microsoft.com/office/drawing/2014/main" id="{E3A0100C-B3CF-BB48-BDC0-DB200C9823E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957200" y="4065722"/>
                <a:ext cx="1588" cy="4318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1" name="Line 56">
                <a:extLst>
                  <a:ext uri="{FF2B5EF4-FFF2-40B4-BE49-F238E27FC236}">
                    <a16:creationId xmlns:a16="http://schemas.microsoft.com/office/drawing/2014/main" id="{BA155E17-7BCB-094B-80C0-449E67D6D3C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7957200" y="4784860"/>
                <a:ext cx="1588" cy="4318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2" name="Line 57">
                <a:extLst>
                  <a:ext uri="{FF2B5EF4-FFF2-40B4-BE49-F238E27FC236}">
                    <a16:creationId xmlns:a16="http://schemas.microsoft.com/office/drawing/2014/main" id="{BFA98410-0F52-F640-B665-85F62243231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958788" y="4497522"/>
                <a:ext cx="144463" cy="142875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3" name="Line 58">
                <a:extLst>
                  <a:ext uri="{FF2B5EF4-FFF2-40B4-BE49-F238E27FC236}">
                    <a16:creationId xmlns:a16="http://schemas.microsoft.com/office/drawing/2014/main" id="{38468DE8-58E1-9F4C-9A20-F72C61CFE1A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7958788" y="4640397"/>
                <a:ext cx="144463" cy="1460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4" name="Line 59">
                <a:extLst>
                  <a:ext uri="{FF2B5EF4-FFF2-40B4-BE49-F238E27FC236}">
                    <a16:creationId xmlns:a16="http://schemas.microsoft.com/office/drawing/2014/main" id="{1A1991D2-3F56-2D41-A983-12272218B7B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957200" y="4065722"/>
                <a:ext cx="576263" cy="28733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5" name="Line 60">
                <a:extLst>
                  <a:ext uri="{FF2B5EF4-FFF2-40B4-BE49-F238E27FC236}">
                    <a16:creationId xmlns:a16="http://schemas.microsoft.com/office/drawing/2014/main" id="{1696E1D9-DA74-5844-B609-6429B44AA4A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957200" y="4929322"/>
                <a:ext cx="576263" cy="28733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6" name="Line 61">
                <a:extLst>
                  <a:ext uri="{FF2B5EF4-FFF2-40B4-BE49-F238E27FC236}">
                    <a16:creationId xmlns:a16="http://schemas.microsoft.com/office/drawing/2014/main" id="{DC9078F3-808E-2C42-8B83-024B9990B54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533463" y="4353060"/>
                <a:ext cx="0" cy="57626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7" name="Text Box 62">
                <a:extLst>
                  <a:ext uri="{FF2B5EF4-FFF2-40B4-BE49-F238E27FC236}">
                    <a16:creationId xmlns:a16="http://schemas.microsoft.com/office/drawing/2014/main" id="{4DA801AF-4835-B443-8977-EE84F486584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101663" y="4502285"/>
                <a:ext cx="377722" cy="21393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600">
                    <a:solidFill>
                      <a:schemeClr val="accent1">
                        <a:lumMod val="75000"/>
                      </a:schemeClr>
                    </a:solidFill>
                  </a:rPr>
                  <a:t>add</a:t>
                </a:r>
                <a:endParaRPr lang="en-AU" altLang="en-US" sz="180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</p:grpSp>
        <p:cxnSp>
          <p:nvCxnSpPr>
            <p:cNvPr id="139" name="Elbow Connector 138">
              <a:extLst>
                <a:ext uri="{FF2B5EF4-FFF2-40B4-BE49-F238E27FC236}">
                  <a16:creationId xmlns:a16="http://schemas.microsoft.com/office/drawing/2014/main" id="{479E2247-E07D-1543-827A-EA90B3DB6CB0}"/>
                </a:ext>
              </a:extLst>
            </p:cNvPr>
            <p:cNvCxnSpPr/>
            <p:nvPr/>
          </p:nvCxnSpPr>
          <p:spPr>
            <a:xfrm rot="5400000" flipH="1" flipV="1">
              <a:off x="1259362" y="3032148"/>
              <a:ext cx="2033057" cy="512618"/>
            </a:xfrm>
            <a:prstGeom prst="bentConnector3">
              <a:avLst>
                <a:gd name="adj1" fmla="val 101180"/>
              </a:avLst>
            </a:prstGeom>
            <a:ln>
              <a:solidFill>
                <a:schemeClr val="tx1"/>
              </a:solidFill>
              <a:headEnd type="oval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Arrow Connector 142">
              <a:extLst>
                <a:ext uri="{FF2B5EF4-FFF2-40B4-BE49-F238E27FC236}">
                  <a16:creationId xmlns:a16="http://schemas.microsoft.com/office/drawing/2014/main" id="{A3C34518-5F68-D345-83E6-5FDE7600CAC7}"/>
                </a:ext>
              </a:extLst>
            </p:cNvPr>
            <p:cNvCxnSpPr>
              <a:cxnSpLocks/>
            </p:cNvCxnSpPr>
            <p:nvPr/>
          </p:nvCxnSpPr>
          <p:spPr>
            <a:xfrm>
              <a:off x="2019581" y="1532037"/>
              <a:ext cx="531392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3BC79399-066F-084D-9BBD-8CBA272B357D}"/>
                </a:ext>
              </a:extLst>
            </p:cNvPr>
            <p:cNvCxnSpPr>
              <a:stCxn id="137" idx="3"/>
            </p:cNvCxnSpPr>
            <p:nvPr/>
          </p:nvCxnSpPr>
          <p:spPr>
            <a:xfrm>
              <a:off x="3004226" y="1898078"/>
              <a:ext cx="486334" cy="1857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Straight Connector 147">
              <a:extLst>
                <a:ext uri="{FF2B5EF4-FFF2-40B4-BE49-F238E27FC236}">
                  <a16:creationId xmlns:a16="http://schemas.microsoft.com/office/drawing/2014/main" id="{8C5857CB-4536-9A42-ADA6-B27D952F71A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90560" y="775665"/>
              <a:ext cx="0" cy="115001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Elbow Connector 150">
              <a:extLst>
                <a:ext uri="{FF2B5EF4-FFF2-40B4-BE49-F238E27FC236}">
                  <a16:creationId xmlns:a16="http://schemas.microsoft.com/office/drawing/2014/main" id="{94EC4CEB-BDE7-AA4F-9B56-FD346BD94F49}"/>
                </a:ext>
              </a:extLst>
            </p:cNvPr>
            <p:cNvCxnSpPr>
              <a:cxnSpLocks/>
              <a:endCxn id="14" idx="1"/>
            </p:cNvCxnSpPr>
            <p:nvPr/>
          </p:nvCxnSpPr>
          <p:spPr>
            <a:xfrm rot="5400000">
              <a:off x="350220" y="1173000"/>
              <a:ext cx="3544489" cy="2749823"/>
            </a:xfrm>
            <a:prstGeom prst="bentConnector4">
              <a:avLst>
                <a:gd name="adj1" fmla="val -39"/>
                <a:gd name="adj2" fmla="val 108313"/>
              </a:avLst>
            </a:prstGeom>
            <a:ln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A5ED7B32-5991-504E-BC50-937E6510773D}"/>
              </a:ext>
            </a:extLst>
          </p:cNvPr>
          <p:cNvSpPr txBox="1"/>
          <p:nvPr/>
        </p:nvSpPr>
        <p:spPr>
          <a:xfrm>
            <a:off x="9442904" y="928954"/>
            <a:ext cx="12763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x5 = x6 + x7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579E5EF-C52A-234A-8981-B81EF59053E0}"/>
              </a:ext>
            </a:extLst>
          </p:cNvPr>
          <p:cNvSpPr txBox="1"/>
          <p:nvPr/>
        </p:nvSpPr>
        <p:spPr>
          <a:xfrm>
            <a:off x="6321715" y="4453848"/>
            <a:ext cx="78726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Read</a:t>
            </a:r>
          </a:p>
          <a:p>
            <a:r>
              <a:rPr lang="en-US"/>
              <a:t>data-2</a:t>
            </a:r>
            <a:endParaRPr lang="en-US" sz="1600"/>
          </a:p>
        </p:txBody>
      </p: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7234003E-26E1-9E47-8D94-E50854FD402D}"/>
              </a:ext>
            </a:extLst>
          </p:cNvPr>
          <p:cNvCxnSpPr>
            <a:cxnSpLocks/>
          </p:cNvCxnSpPr>
          <p:nvPr/>
        </p:nvCxnSpPr>
        <p:spPr>
          <a:xfrm>
            <a:off x="7108982" y="4943539"/>
            <a:ext cx="379833" cy="14890"/>
          </a:xfrm>
          <a:prstGeom prst="straightConnector1">
            <a:avLst/>
          </a:prstGeom>
          <a:ln>
            <a:solidFill>
              <a:srgbClr val="0432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742ED7B6-3133-5540-B964-167F0E370806}"/>
              </a:ext>
            </a:extLst>
          </p:cNvPr>
          <p:cNvCxnSpPr>
            <a:cxnSpLocks/>
          </p:cNvCxnSpPr>
          <p:nvPr/>
        </p:nvCxnSpPr>
        <p:spPr>
          <a:xfrm>
            <a:off x="7116940" y="3905986"/>
            <a:ext cx="854482" cy="0"/>
          </a:xfrm>
          <a:prstGeom prst="straightConnector1">
            <a:avLst/>
          </a:prstGeom>
          <a:ln>
            <a:solidFill>
              <a:srgbClr val="0432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97989B68-A76F-D649-B5FC-B434220DAF57}"/>
              </a:ext>
            </a:extLst>
          </p:cNvPr>
          <p:cNvCxnSpPr>
            <a:cxnSpLocks/>
            <a:endCxn id="11" idx="1"/>
          </p:cNvCxnSpPr>
          <p:nvPr/>
        </p:nvCxnSpPr>
        <p:spPr>
          <a:xfrm flipV="1">
            <a:off x="1696491" y="4300756"/>
            <a:ext cx="800079" cy="30534"/>
          </a:xfrm>
          <a:prstGeom prst="straightConnector1">
            <a:avLst/>
          </a:prstGeom>
          <a:ln>
            <a:solidFill>
              <a:srgbClr val="0432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0420E1DB-26F9-8342-8E6C-F0C826384818}"/>
              </a:ext>
            </a:extLst>
          </p:cNvPr>
          <p:cNvCxnSpPr>
            <a:cxnSpLocks/>
          </p:cNvCxnSpPr>
          <p:nvPr/>
        </p:nvCxnSpPr>
        <p:spPr>
          <a:xfrm>
            <a:off x="4285918" y="4293305"/>
            <a:ext cx="854482" cy="0"/>
          </a:xfrm>
          <a:prstGeom prst="straightConnector1">
            <a:avLst/>
          </a:prstGeom>
          <a:ln>
            <a:solidFill>
              <a:srgbClr val="0432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Elbow Connector 21">
            <a:extLst>
              <a:ext uri="{FF2B5EF4-FFF2-40B4-BE49-F238E27FC236}">
                <a16:creationId xmlns:a16="http://schemas.microsoft.com/office/drawing/2014/main" id="{F7DCFA79-7A35-B543-AD20-04A9E1938A03}"/>
              </a:ext>
            </a:extLst>
          </p:cNvPr>
          <p:cNvCxnSpPr>
            <a:cxnSpLocks/>
            <a:endCxn id="85" idx="1"/>
          </p:cNvCxnSpPr>
          <p:nvPr/>
        </p:nvCxnSpPr>
        <p:spPr>
          <a:xfrm>
            <a:off x="4736654" y="4331289"/>
            <a:ext cx="440166" cy="246885"/>
          </a:xfrm>
          <a:prstGeom prst="bentConnector3">
            <a:avLst>
              <a:gd name="adj1" fmla="val 1775"/>
            </a:avLst>
          </a:prstGeom>
          <a:ln w="19050">
            <a:solidFill>
              <a:srgbClr val="0432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Elbow Connector 31">
            <a:extLst>
              <a:ext uri="{FF2B5EF4-FFF2-40B4-BE49-F238E27FC236}">
                <a16:creationId xmlns:a16="http://schemas.microsoft.com/office/drawing/2014/main" id="{F0A78BE7-ABB9-E644-A94A-5166930D437F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7873036" y="3097439"/>
            <a:ext cx="1980820" cy="410279"/>
          </a:xfrm>
          <a:prstGeom prst="bentConnector3">
            <a:avLst>
              <a:gd name="adj1" fmla="val -2757"/>
            </a:avLst>
          </a:prstGeom>
          <a:ln w="19050">
            <a:solidFill>
              <a:srgbClr val="0432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Elbow Connector 37">
            <a:extLst>
              <a:ext uri="{FF2B5EF4-FFF2-40B4-BE49-F238E27FC236}">
                <a16:creationId xmlns:a16="http://schemas.microsoft.com/office/drawing/2014/main" id="{27C006C3-A193-0B43-97E9-87A0D50A93CE}"/>
              </a:ext>
            </a:extLst>
          </p:cNvPr>
          <p:cNvCxnSpPr>
            <a:endCxn id="105" idx="1"/>
          </p:cNvCxnSpPr>
          <p:nvPr/>
        </p:nvCxnSpPr>
        <p:spPr>
          <a:xfrm rot="10800000" flipV="1">
            <a:off x="5183802" y="2312167"/>
            <a:ext cx="3884784" cy="2830928"/>
          </a:xfrm>
          <a:prstGeom prst="bentConnector3">
            <a:avLst>
              <a:gd name="adj1" fmla="val 107986"/>
            </a:avLst>
          </a:prstGeom>
          <a:ln w="28575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92304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F641B9F3-3979-4C4B-8E5A-ECAF7E6F8D0F}"/>
              </a:ext>
            </a:extLst>
          </p:cNvPr>
          <p:cNvSpPr txBox="1"/>
          <p:nvPr/>
        </p:nvSpPr>
        <p:spPr>
          <a:xfrm>
            <a:off x="8146218" y="334538"/>
            <a:ext cx="314220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beq</a:t>
            </a:r>
            <a:r>
              <a:rPr lang="en-US" sz="2800">
                <a:latin typeface="Consolas" panose="020B0609020204030204" pitchFamily="49" charset="0"/>
                <a:cs typeface="Consolas" panose="020B0609020204030204" pitchFamily="49" charset="0"/>
              </a:rPr>
              <a:t> x5, x6, 100</a:t>
            </a:r>
          </a:p>
        </p:txBody>
      </p:sp>
      <p:grpSp>
        <p:nvGrpSpPr>
          <p:cNvPr id="93" name="Group 92">
            <a:extLst>
              <a:ext uri="{FF2B5EF4-FFF2-40B4-BE49-F238E27FC236}">
                <a16:creationId xmlns:a16="http://schemas.microsoft.com/office/drawing/2014/main" id="{4796B27A-89A8-9747-98E1-8E071812EB4C}"/>
              </a:ext>
            </a:extLst>
          </p:cNvPr>
          <p:cNvGrpSpPr/>
          <p:nvPr/>
        </p:nvGrpSpPr>
        <p:grpSpPr>
          <a:xfrm>
            <a:off x="9068586" y="3075944"/>
            <a:ext cx="2219839" cy="2215054"/>
            <a:chOff x="9068586" y="3075944"/>
            <a:chExt cx="2219839" cy="2215054"/>
          </a:xfrm>
        </p:grpSpPr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8D103AA7-6A32-794D-B207-23C08D715187}"/>
                </a:ext>
              </a:extLst>
            </p:cNvPr>
            <p:cNvSpPr/>
            <p:nvPr/>
          </p:nvSpPr>
          <p:spPr>
            <a:xfrm>
              <a:off x="9464300" y="3075944"/>
              <a:ext cx="1753718" cy="221505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>
                  <a:solidFill>
                    <a:schemeClr val="tx1"/>
                  </a:solidFill>
                </a:rPr>
                <a:t>Memory</a:t>
              </a:r>
            </a:p>
            <a:p>
              <a:pPr algn="ctr"/>
              <a:endParaRPr lang="en-US" sz="2400">
                <a:solidFill>
                  <a:schemeClr val="tx1"/>
                </a:solidFill>
              </a:endParaRPr>
            </a:p>
            <a:p>
              <a:pPr algn="ctr"/>
              <a:endParaRPr lang="en-US" sz="2400">
                <a:solidFill>
                  <a:schemeClr val="tx1"/>
                </a:solidFill>
              </a:endParaRP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8A8F03FF-0842-E34E-A19A-5BD4BFE900DE}"/>
                </a:ext>
              </a:extLst>
            </p:cNvPr>
            <p:cNvSpPr txBox="1"/>
            <p:nvPr/>
          </p:nvSpPr>
          <p:spPr>
            <a:xfrm>
              <a:off x="9421733" y="4253457"/>
              <a:ext cx="99399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/>
                <a:t>address</a:t>
              </a:r>
              <a:endParaRPr lang="en-US"/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A44102A6-BC42-CF4E-BE86-926F0407D7A0}"/>
                </a:ext>
              </a:extLst>
            </p:cNvPr>
            <p:cNvSpPr txBox="1"/>
            <p:nvPr/>
          </p:nvSpPr>
          <p:spPr>
            <a:xfrm>
              <a:off x="10641197" y="4239358"/>
              <a:ext cx="64722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/>
                <a:t>data</a:t>
              </a:r>
              <a:endParaRPr lang="en-US"/>
            </a:p>
          </p:txBody>
        </p:sp>
        <p:cxnSp>
          <p:nvCxnSpPr>
            <p:cNvPr id="78" name="Straight Arrow Connector 77">
              <a:extLst>
                <a:ext uri="{FF2B5EF4-FFF2-40B4-BE49-F238E27FC236}">
                  <a16:creationId xmlns:a16="http://schemas.microsoft.com/office/drawing/2014/main" id="{031EA7ED-95FB-2442-89A3-CFAFDD1D359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068586" y="4356734"/>
              <a:ext cx="422168" cy="378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78BEE31E-03CC-7947-82CF-15D2A5C42071}"/>
              </a:ext>
            </a:extLst>
          </p:cNvPr>
          <p:cNvGrpSpPr/>
          <p:nvPr/>
        </p:nvGrpSpPr>
        <p:grpSpPr>
          <a:xfrm>
            <a:off x="747552" y="3098330"/>
            <a:ext cx="3615710" cy="2215054"/>
            <a:chOff x="747552" y="3098330"/>
            <a:chExt cx="3615710" cy="2215054"/>
          </a:xfrm>
        </p:grpSpPr>
        <p:grpSp>
          <p:nvGrpSpPr>
            <p:cNvPr id="87" name="Group 86">
              <a:extLst>
                <a:ext uri="{FF2B5EF4-FFF2-40B4-BE49-F238E27FC236}">
                  <a16:creationId xmlns:a16="http://schemas.microsoft.com/office/drawing/2014/main" id="{3FBC6270-9DD9-C44E-878C-833424729807}"/>
                </a:ext>
              </a:extLst>
            </p:cNvPr>
            <p:cNvGrpSpPr/>
            <p:nvPr/>
          </p:nvGrpSpPr>
          <p:grpSpPr>
            <a:xfrm>
              <a:off x="747552" y="3098330"/>
              <a:ext cx="3538366" cy="2215054"/>
              <a:chOff x="759300" y="2987565"/>
              <a:chExt cx="3538366" cy="2215054"/>
            </a:xfrm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E82469D1-F82F-3948-8FFA-4A6C2C173C3B}"/>
                  </a:ext>
                </a:extLst>
              </p:cNvPr>
              <p:cNvSpPr/>
              <p:nvPr/>
            </p:nvSpPr>
            <p:spPr>
              <a:xfrm>
                <a:off x="2543948" y="2987565"/>
                <a:ext cx="1753718" cy="2215054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>
                    <a:solidFill>
                      <a:schemeClr val="tx1"/>
                    </a:solidFill>
                  </a:rPr>
                  <a:t>Memory</a:t>
                </a:r>
              </a:p>
              <a:p>
                <a:pPr algn="ctr"/>
                <a:endParaRPr lang="en-US" sz="2400">
                  <a:solidFill>
                    <a:schemeClr val="tx1"/>
                  </a:solidFill>
                </a:endParaRPr>
              </a:p>
              <a:p>
                <a:pPr algn="ctr"/>
                <a:endParaRPr lang="en-US" sz="2400">
                  <a:solidFill>
                    <a:schemeClr val="tx1"/>
                  </a:solidFill>
                </a:endParaRP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8137D5CB-2E1C-654A-80F5-A9BFFA5D3A62}"/>
                  </a:ext>
                </a:extLst>
              </p:cNvPr>
              <p:cNvSpPr/>
              <p:nvPr/>
            </p:nvSpPr>
            <p:spPr>
              <a:xfrm>
                <a:off x="759300" y="3216163"/>
                <a:ext cx="930165" cy="1986455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>
                    <a:solidFill>
                      <a:schemeClr val="tx1"/>
                    </a:solidFill>
                  </a:rPr>
                  <a:t>PC</a:t>
                </a:r>
                <a:endParaRPr lang="en-US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78A706E1-F8E5-C742-A035-3649CB7C0B29}"/>
                  </a:ext>
                </a:extLst>
              </p:cNvPr>
              <p:cNvCxnSpPr>
                <a:cxnSpLocks/>
                <a:stCxn id="14" idx="3"/>
              </p:cNvCxnSpPr>
              <p:nvPr/>
            </p:nvCxnSpPr>
            <p:spPr>
              <a:xfrm>
                <a:off x="1689465" y="4209391"/>
                <a:ext cx="854482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5C3AAEE7-90FE-AA44-B41A-C96A12DC3E42}"/>
                </a:ext>
              </a:extLst>
            </p:cNvPr>
            <p:cNvSpPr txBox="1"/>
            <p:nvPr/>
          </p:nvSpPr>
          <p:spPr>
            <a:xfrm>
              <a:off x="3716034" y="4086602"/>
              <a:ext cx="64722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/>
                <a:t>data</a:t>
              </a:r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A57E619-1317-8D4E-B066-5CBB0A1AA9BE}"/>
                </a:ext>
              </a:extLst>
            </p:cNvPr>
            <p:cNvSpPr txBox="1"/>
            <p:nvPr/>
          </p:nvSpPr>
          <p:spPr>
            <a:xfrm>
              <a:off x="2496570" y="4100701"/>
              <a:ext cx="99399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/>
                <a:t>address</a:t>
              </a:r>
              <a:endParaRPr lang="en-US"/>
            </a:p>
          </p:txBody>
        </p:sp>
      </p:grp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C4775669-ED8E-1F46-A705-42499A033099}"/>
              </a:ext>
            </a:extLst>
          </p:cNvPr>
          <p:cNvGrpSpPr/>
          <p:nvPr/>
        </p:nvGrpSpPr>
        <p:grpSpPr>
          <a:xfrm>
            <a:off x="4309413" y="3055393"/>
            <a:ext cx="4348894" cy="2745474"/>
            <a:chOff x="4309413" y="3055393"/>
            <a:chExt cx="4348894" cy="2745474"/>
          </a:xfrm>
        </p:grpSpPr>
        <p:grpSp>
          <p:nvGrpSpPr>
            <p:cNvPr id="92" name="Group 91">
              <a:extLst>
                <a:ext uri="{FF2B5EF4-FFF2-40B4-BE49-F238E27FC236}">
                  <a16:creationId xmlns:a16="http://schemas.microsoft.com/office/drawing/2014/main" id="{CC69E787-F1A1-D842-9DEB-7EBB1120E0BF}"/>
                </a:ext>
              </a:extLst>
            </p:cNvPr>
            <p:cNvGrpSpPr/>
            <p:nvPr/>
          </p:nvGrpSpPr>
          <p:grpSpPr>
            <a:xfrm>
              <a:off x="4309413" y="3055393"/>
              <a:ext cx="4348894" cy="2745474"/>
              <a:chOff x="4287378" y="2993174"/>
              <a:chExt cx="4348894" cy="2745474"/>
            </a:xfrm>
          </p:grpSpPr>
          <p:grpSp>
            <p:nvGrpSpPr>
              <p:cNvPr id="88" name="Group 87">
                <a:extLst>
                  <a:ext uri="{FF2B5EF4-FFF2-40B4-BE49-F238E27FC236}">
                    <a16:creationId xmlns:a16="http://schemas.microsoft.com/office/drawing/2014/main" id="{54AC0510-D33B-EB42-9EDE-0EE8AC5F35A7}"/>
                  </a:ext>
                </a:extLst>
              </p:cNvPr>
              <p:cNvGrpSpPr/>
              <p:nvPr/>
            </p:nvGrpSpPr>
            <p:grpSpPr>
              <a:xfrm>
                <a:off x="4287378" y="2993174"/>
                <a:ext cx="4348894" cy="2745474"/>
                <a:chOff x="4287378" y="2993174"/>
                <a:chExt cx="4348894" cy="2745474"/>
              </a:xfrm>
            </p:grpSpPr>
            <p:cxnSp>
              <p:nvCxnSpPr>
                <p:cNvPr id="19" name="Straight Arrow Connector 18">
                  <a:extLst>
                    <a:ext uri="{FF2B5EF4-FFF2-40B4-BE49-F238E27FC236}">
                      <a16:creationId xmlns:a16="http://schemas.microsoft.com/office/drawing/2014/main" id="{10A9EE64-15C4-6640-A132-CE9F481F465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87378" y="4230769"/>
                  <a:ext cx="854482" cy="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0" name="Rectangle 19">
                  <a:extLst>
                    <a:ext uri="{FF2B5EF4-FFF2-40B4-BE49-F238E27FC236}">
                      <a16:creationId xmlns:a16="http://schemas.microsoft.com/office/drawing/2014/main" id="{13122715-854F-D440-9E3E-76E02F653B1F}"/>
                    </a:ext>
                  </a:extLst>
                </p:cNvPr>
                <p:cNvSpPr/>
                <p:nvPr/>
              </p:nvSpPr>
              <p:spPr>
                <a:xfrm>
                  <a:off x="5207456" y="2993174"/>
                  <a:ext cx="1871683" cy="2215054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400">
                      <a:solidFill>
                        <a:schemeClr val="tx1"/>
                      </a:solidFill>
                    </a:rPr>
                    <a:t>Register file</a:t>
                  </a:r>
                </a:p>
                <a:p>
                  <a:pPr algn="ctr"/>
                  <a:endParaRPr lang="en-US" sz="2400">
                    <a:solidFill>
                      <a:schemeClr val="tx1"/>
                    </a:solidFill>
                  </a:endParaRPr>
                </a:p>
                <a:p>
                  <a:pPr algn="ctr"/>
                  <a:endParaRPr lang="en-US" sz="2400">
                    <a:solidFill>
                      <a:schemeClr val="tx1"/>
                    </a:solidFill>
                  </a:endParaRPr>
                </a:p>
              </p:txBody>
            </p:sp>
            <p:cxnSp>
              <p:nvCxnSpPr>
                <p:cNvPr id="30" name="Straight Arrow Connector 29">
                  <a:extLst>
                    <a:ext uri="{FF2B5EF4-FFF2-40B4-BE49-F238E27FC236}">
                      <a16:creationId xmlns:a16="http://schemas.microsoft.com/office/drawing/2014/main" id="{AB75ADDB-3FA4-D443-981A-F4A7246CAD0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079139" y="3844761"/>
                  <a:ext cx="854482" cy="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49" name="Group 48">
                  <a:extLst>
                    <a:ext uri="{FF2B5EF4-FFF2-40B4-BE49-F238E27FC236}">
                      <a16:creationId xmlns:a16="http://schemas.microsoft.com/office/drawing/2014/main" id="{C8B6E05D-9CE3-A04F-B587-A21112253CA6}"/>
                    </a:ext>
                  </a:extLst>
                </p:cNvPr>
                <p:cNvGrpSpPr/>
                <p:nvPr/>
              </p:nvGrpSpPr>
              <p:grpSpPr>
                <a:xfrm>
                  <a:off x="7933621" y="3429000"/>
                  <a:ext cx="702651" cy="1787660"/>
                  <a:chOff x="7957200" y="4065722"/>
                  <a:chExt cx="576263" cy="1150938"/>
                </a:xfrm>
              </p:grpSpPr>
              <p:sp>
                <p:nvSpPr>
                  <p:cNvPr id="39" name="Line 55">
                    <a:extLst>
                      <a:ext uri="{FF2B5EF4-FFF2-40B4-BE49-F238E27FC236}">
                        <a16:creationId xmlns:a16="http://schemas.microsoft.com/office/drawing/2014/main" id="{9AAF6312-D9DF-784A-A3BE-1D3FDED2A4D5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7957200" y="4065722"/>
                    <a:ext cx="1588" cy="431800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40" name="Line 56">
                    <a:extLst>
                      <a:ext uri="{FF2B5EF4-FFF2-40B4-BE49-F238E27FC236}">
                        <a16:creationId xmlns:a16="http://schemas.microsoft.com/office/drawing/2014/main" id="{EC6B0CD4-2594-5249-A478-0473CCB339E0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7957200" y="4784860"/>
                    <a:ext cx="1588" cy="431800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41" name="Line 57">
                    <a:extLst>
                      <a:ext uri="{FF2B5EF4-FFF2-40B4-BE49-F238E27FC236}">
                        <a16:creationId xmlns:a16="http://schemas.microsoft.com/office/drawing/2014/main" id="{1FC3EA3D-98A8-EE44-976D-08D6848436F3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7958788" y="4497522"/>
                    <a:ext cx="144463" cy="142875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42" name="Line 58">
                    <a:extLst>
                      <a:ext uri="{FF2B5EF4-FFF2-40B4-BE49-F238E27FC236}">
                        <a16:creationId xmlns:a16="http://schemas.microsoft.com/office/drawing/2014/main" id="{2902482A-E3C8-3E4C-81CF-4A34B99973F4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7958788" y="4640397"/>
                    <a:ext cx="144463" cy="146050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43" name="Line 59">
                    <a:extLst>
                      <a:ext uri="{FF2B5EF4-FFF2-40B4-BE49-F238E27FC236}">
                        <a16:creationId xmlns:a16="http://schemas.microsoft.com/office/drawing/2014/main" id="{753442D3-8A71-8A46-A6A8-7F1E1B28CBAA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7957200" y="4065722"/>
                    <a:ext cx="576263" cy="287338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44" name="Line 60">
                    <a:extLst>
                      <a:ext uri="{FF2B5EF4-FFF2-40B4-BE49-F238E27FC236}">
                        <a16:creationId xmlns:a16="http://schemas.microsoft.com/office/drawing/2014/main" id="{AFCBBA75-8E27-EF43-8DF2-D497C3DB974C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7957200" y="4929322"/>
                    <a:ext cx="576263" cy="287338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45" name="Line 61">
                    <a:extLst>
                      <a:ext uri="{FF2B5EF4-FFF2-40B4-BE49-F238E27FC236}">
                        <a16:creationId xmlns:a16="http://schemas.microsoft.com/office/drawing/2014/main" id="{1E66D242-38AF-494D-B62F-ABF7B68B9695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8533463" y="4353060"/>
                    <a:ext cx="0" cy="576263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46" name="Text Box 62">
                    <a:extLst>
                      <a:ext uri="{FF2B5EF4-FFF2-40B4-BE49-F238E27FC236}">
                        <a16:creationId xmlns:a16="http://schemas.microsoft.com/office/drawing/2014/main" id="{4B3F1B32-3FA1-8645-8EC8-3F152FA41447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101663" y="4502285"/>
                    <a:ext cx="397545" cy="246221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>
                    <a:spAutoFit/>
                  </a:bodyPr>
                  <a:lstStyle>
                    <a:lvl1pPr>
                      <a:spcBef>
                        <a:spcPct val="20000"/>
                      </a:spcBef>
                      <a:buClr>
                        <a:schemeClr val="folHlink"/>
                      </a:buClr>
                      <a:buSzPct val="60000"/>
                      <a:buFont typeface="Wingdings" pitchFamily="2" charset="2"/>
                      <a:buChar char="n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hlink"/>
                      </a:buClr>
                      <a:buSzPct val="55000"/>
                      <a:buFont typeface="Wingdings" pitchFamily="2" charset="2"/>
                      <a:buChar char="n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folHlink"/>
                      </a:buClr>
                      <a:buSzPct val="50000"/>
                      <a:buFont typeface="Wingdings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55000"/>
                      <a:buFont typeface="Wingding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accent1"/>
                      </a:buClr>
                      <a:buSzPct val="50000"/>
                      <a:buFont typeface="Wingding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en-US" sz="1600"/>
                      <a:t>ALU</a:t>
                    </a:r>
                    <a:endParaRPr lang="en-AU" altLang="en-US" sz="1800"/>
                  </a:p>
                </p:txBody>
              </p:sp>
            </p:grpSp>
            <p:cxnSp>
              <p:nvCxnSpPr>
                <p:cNvPr id="70" name="Straight Connector 69">
                  <a:extLst>
                    <a:ext uri="{FF2B5EF4-FFF2-40B4-BE49-F238E27FC236}">
                      <a16:creationId xmlns:a16="http://schemas.microsoft.com/office/drawing/2014/main" id="{56ED597C-D87E-9844-91D6-9896376A7E9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714619" y="4242766"/>
                  <a:ext cx="0" cy="1495882"/>
                </a:xfrm>
                <a:prstGeom prst="line">
                  <a:avLst/>
                </a:prstGeom>
                <a:ln>
                  <a:solidFill>
                    <a:schemeClr val="tx1"/>
                  </a:solidFill>
                  <a:headEnd type="oval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1" name="Straight Connector 70">
                  <a:extLst>
                    <a:ext uri="{FF2B5EF4-FFF2-40B4-BE49-F238E27FC236}">
                      <a16:creationId xmlns:a16="http://schemas.microsoft.com/office/drawing/2014/main" id="{C1AF1F22-BC11-A740-B2D2-D628E724409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4714620" y="5702036"/>
                  <a:ext cx="2765990" cy="35143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3" name="Straight Connector 72">
                  <a:extLst>
                    <a:ext uri="{FF2B5EF4-FFF2-40B4-BE49-F238E27FC236}">
                      <a16:creationId xmlns:a16="http://schemas.microsoft.com/office/drawing/2014/main" id="{C583CCE4-ED85-E946-B103-0ED86AB7A02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480610" y="4881320"/>
                  <a:ext cx="14447" cy="85585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5DEB0B45-EE35-AD42-BB3E-7F7D49D4AA95}"/>
                  </a:ext>
                </a:extLst>
              </p:cNvPr>
              <p:cNvSpPr txBox="1"/>
              <p:nvPr/>
            </p:nvSpPr>
            <p:spPr>
              <a:xfrm>
                <a:off x="5157705" y="4006105"/>
                <a:ext cx="121315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/>
                  <a:t>Read-reg-1</a:t>
                </a:r>
                <a:endParaRPr lang="en-US" sz="1600"/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76128BB3-A6F4-7740-97F6-CD88D3911905}"/>
                  </a:ext>
                </a:extLst>
              </p:cNvPr>
              <p:cNvSpPr txBox="1"/>
              <p:nvPr/>
            </p:nvSpPr>
            <p:spPr>
              <a:xfrm>
                <a:off x="6290766" y="3812534"/>
                <a:ext cx="787267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/>
                  <a:t>Read</a:t>
                </a:r>
              </a:p>
              <a:p>
                <a:r>
                  <a:rPr lang="en-US"/>
                  <a:t>data-1</a:t>
                </a:r>
                <a:endParaRPr lang="en-US" sz="1600"/>
              </a:p>
            </p:txBody>
          </p:sp>
          <p:cxnSp>
            <p:nvCxnSpPr>
              <p:cNvPr id="63" name="Straight Arrow Connector 62">
                <a:extLst>
                  <a:ext uri="{FF2B5EF4-FFF2-40B4-BE49-F238E27FC236}">
                    <a16:creationId xmlns:a16="http://schemas.microsoft.com/office/drawing/2014/main" id="{14A56023-696E-9648-96AE-1FF276B84D0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480610" y="4881320"/>
                <a:ext cx="468777" cy="1489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78691B70-0D3A-3449-B47C-66F5F5C1F83E}"/>
                  </a:ext>
                </a:extLst>
              </p:cNvPr>
              <p:cNvSpPr txBox="1"/>
              <p:nvPr/>
            </p:nvSpPr>
            <p:spPr>
              <a:xfrm>
                <a:off x="5154785" y="4331289"/>
                <a:ext cx="121315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/>
                  <a:t>Read-reg-2</a:t>
                </a:r>
                <a:endParaRPr lang="en-US" sz="1600"/>
              </a:p>
            </p:txBody>
          </p:sp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A710DDAF-EED1-E14F-9B66-974BFE935BB8}"/>
                  </a:ext>
                </a:extLst>
              </p:cNvPr>
              <p:cNvSpPr txBox="1"/>
              <p:nvPr/>
            </p:nvSpPr>
            <p:spPr>
              <a:xfrm>
                <a:off x="5151865" y="4647330"/>
                <a:ext cx="107811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/>
                  <a:t>Write-reg</a:t>
                </a:r>
                <a:endParaRPr lang="en-US" sz="1600"/>
              </a:p>
            </p:txBody>
          </p:sp>
        </p:grp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FD2F1B98-AC91-A443-BE47-16351DECCD8D}"/>
                </a:ext>
              </a:extLst>
            </p:cNvPr>
            <p:cNvSpPr txBox="1"/>
            <p:nvPr/>
          </p:nvSpPr>
          <p:spPr>
            <a:xfrm>
              <a:off x="5183802" y="4958429"/>
              <a:ext cx="119160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Write-data</a:t>
              </a:r>
              <a:endParaRPr lang="en-US" sz="1600"/>
            </a:p>
          </p:txBody>
        </p:sp>
      </p:grp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CAA3993B-88B6-134B-B72B-2F288BB65967}"/>
              </a:ext>
            </a:extLst>
          </p:cNvPr>
          <p:cNvGrpSpPr/>
          <p:nvPr/>
        </p:nvGrpSpPr>
        <p:grpSpPr>
          <a:xfrm>
            <a:off x="4871545" y="2301766"/>
            <a:ext cx="6850655" cy="2841328"/>
            <a:chOff x="4871545" y="2301766"/>
            <a:chExt cx="6850655" cy="2841328"/>
          </a:xfrm>
        </p:grpSpPr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5AE51741-587E-084E-8F77-CA32EC0D53E0}"/>
                </a:ext>
              </a:extLst>
            </p:cNvPr>
            <p:cNvCxnSpPr>
              <a:cxnSpLocks/>
            </p:cNvCxnSpPr>
            <p:nvPr/>
          </p:nvCxnSpPr>
          <p:spPr>
            <a:xfrm>
              <a:off x="4871545" y="2301766"/>
              <a:ext cx="6850655" cy="1040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DDBBBBEF-2A69-934E-BF80-2AB2B38ABE0D}"/>
                </a:ext>
              </a:extLst>
            </p:cNvPr>
            <p:cNvCxnSpPr/>
            <p:nvPr/>
          </p:nvCxnSpPr>
          <p:spPr>
            <a:xfrm>
              <a:off x="11218018" y="4331289"/>
              <a:ext cx="504182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6CD9681F-10B8-CB44-9D2D-CD82535B059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722200" y="2301766"/>
              <a:ext cx="0" cy="202952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Elbow Connector 106">
              <a:extLst>
                <a:ext uri="{FF2B5EF4-FFF2-40B4-BE49-F238E27FC236}">
                  <a16:creationId xmlns:a16="http://schemas.microsoft.com/office/drawing/2014/main" id="{829D89DD-DFC6-1541-9565-C03491B3B08E}"/>
                </a:ext>
              </a:extLst>
            </p:cNvPr>
            <p:cNvCxnSpPr>
              <a:cxnSpLocks/>
              <a:endCxn id="105" idx="1"/>
            </p:cNvCxnSpPr>
            <p:nvPr/>
          </p:nvCxnSpPr>
          <p:spPr>
            <a:xfrm rot="16200000" flipH="1">
              <a:off x="3608943" y="3568235"/>
              <a:ext cx="2837461" cy="312257"/>
            </a:xfrm>
            <a:prstGeom prst="bentConnector2">
              <a:avLst/>
            </a:prstGeom>
            <a:ln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E1410B53-9E40-374E-9F3A-CD9FA5FE6604}"/>
              </a:ext>
            </a:extLst>
          </p:cNvPr>
          <p:cNvCxnSpPr>
            <a:endCxn id="86" idx="1"/>
          </p:cNvCxnSpPr>
          <p:nvPr/>
        </p:nvCxnSpPr>
        <p:spPr>
          <a:xfrm>
            <a:off x="4736654" y="4894215"/>
            <a:ext cx="437246" cy="0"/>
          </a:xfrm>
          <a:prstGeom prst="straightConnector1">
            <a:avLst/>
          </a:prstGeom>
          <a:ln>
            <a:solidFill>
              <a:schemeClr val="tx1"/>
            </a:solidFill>
            <a:headEnd type="oval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5" name="TextBox 144">
            <a:extLst>
              <a:ext uri="{FF2B5EF4-FFF2-40B4-BE49-F238E27FC236}">
                <a16:creationId xmlns:a16="http://schemas.microsoft.com/office/drawing/2014/main" id="{8120B8D4-2377-8D46-9B3D-F28D55B07DAA}"/>
              </a:ext>
            </a:extLst>
          </p:cNvPr>
          <p:cNvSpPr txBox="1"/>
          <p:nvPr/>
        </p:nvSpPr>
        <p:spPr>
          <a:xfrm>
            <a:off x="1677717" y="143787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4</a:t>
            </a:r>
          </a:p>
        </p:txBody>
      </p:sp>
      <p:grpSp>
        <p:nvGrpSpPr>
          <p:cNvPr id="158" name="Group 157">
            <a:extLst>
              <a:ext uri="{FF2B5EF4-FFF2-40B4-BE49-F238E27FC236}">
                <a16:creationId xmlns:a16="http://schemas.microsoft.com/office/drawing/2014/main" id="{C9F21763-E033-1744-B3AD-FCD8281142AC}"/>
              </a:ext>
            </a:extLst>
          </p:cNvPr>
          <p:cNvGrpSpPr/>
          <p:nvPr/>
        </p:nvGrpSpPr>
        <p:grpSpPr>
          <a:xfrm>
            <a:off x="747553" y="775665"/>
            <a:ext cx="2749823" cy="3544491"/>
            <a:chOff x="747553" y="775665"/>
            <a:chExt cx="2749823" cy="3544491"/>
          </a:xfrm>
        </p:grpSpPr>
        <p:grpSp>
          <p:nvGrpSpPr>
            <p:cNvPr id="126" name="Group 125">
              <a:extLst>
                <a:ext uri="{FF2B5EF4-FFF2-40B4-BE49-F238E27FC236}">
                  <a16:creationId xmlns:a16="http://schemas.microsoft.com/office/drawing/2014/main" id="{764A7296-EF72-CE43-9225-CDEDB1BB2C86}"/>
                </a:ext>
              </a:extLst>
            </p:cNvPr>
            <p:cNvGrpSpPr/>
            <p:nvPr/>
          </p:nvGrpSpPr>
          <p:grpSpPr>
            <a:xfrm>
              <a:off x="2532199" y="1272525"/>
              <a:ext cx="520910" cy="1324619"/>
              <a:chOff x="7957200" y="4065722"/>
              <a:chExt cx="576263" cy="1150938"/>
            </a:xfrm>
          </p:grpSpPr>
          <p:sp>
            <p:nvSpPr>
              <p:cNvPr id="130" name="Line 55">
                <a:extLst>
                  <a:ext uri="{FF2B5EF4-FFF2-40B4-BE49-F238E27FC236}">
                    <a16:creationId xmlns:a16="http://schemas.microsoft.com/office/drawing/2014/main" id="{E3A0100C-B3CF-BB48-BDC0-DB200C9823E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957200" y="4065722"/>
                <a:ext cx="1588" cy="4318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1" name="Line 56">
                <a:extLst>
                  <a:ext uri="{FF2B5EF4-FFF2-40B4-BE49-F238E27FC236}">
                    <a16:creationId xmlns:a16="http://schemas.microsoft.com/office/drawing/2014/main" id="{BA155E17-7BCB-094B-80C0-449E67D6D3C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7957200" y="4784860"/>
                <a:ext cx="1588" cy="4318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2" name="Line 57">
                <a:extLst>
                  <a:ext uri="{FF2B5EF4-FFF2-40B4-BE49-F238E27FC236}">
                    <a16:creationId xmlns:a16="http://schemas.microsoft.com/office/drawing/2014/main" id="{BFA98410-0F52-F640-B665-85F62243231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958788" y="4497522"/>
                <a:ext cx="144463" cy="142875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3" name="Line 58">
                <a:extLst>
                  <a:ext uri="{FF2B5EF4-FFF2-40B4-BE49-F238E27FC236}">
                    <a16:creationId xmlns:a16="http://schemas.microsoft.com/office/drawing/2014/main" id="{38468DE8-58E1-9F4C-9A20-F72C61CFE1A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7958788" y="4640397"/>
                <a:ext cx="144463" cy="1460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4" name="Line 59">
                <a:extLst>
                  <a:ext uri="{FF2B5EF4-FFF2-40B4-BE49-F238E27FC236}">
                    <a16:creationId xmlns:a16="http://schemas.microsoft.com/office/drawing/2014/main" id="{1A1991D2-3F56-2D41-A983-12272218B7B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957200" y="4065722"/>
                <a:ext cx="576263" cy="28733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5" name="Line 60">
                <a:extLst>
                  <a:ext uri="{FF2B5EF4-FFF2-40B4-BE49-F238E27FC236}">
                    <a16:creationId xmlns:a16="http://schemas.microsoft.com/office/drawing/2014/main" id="{1696E1D9-DA74-5844-B609-6429B44AA4A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957200" y="4929322"/>
                <a:ext cx="576263" cy="28733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6" name="Line 61">
                <a:extLst>
                  <a:ext uri="{FF2B5EF4-FFF2-40B4-BE49-F238E27FC236}">
                    <a16:creationId xmlns:a16="http://schemas.microsoft.com/office/drawing/2014/main" id="{DC9078F3-808E-2C42-8B83-024B9990B54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533463" y="4353060"/>
                <a:ext cx="0" cy="57626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7" name="Text Box 62">
                <a:extLst>
                  <a:ext uri="{FF2B5EF4-FFF2-40B4-BE49-F238E27FC236}">
                    <a16:creationId xmlns:a16="http://schemas.microsoft.com/office/drawing/2014/main" id="{4DA801AF-4835-B443-8977-EE84F486584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101663" y="4502285"/>
                <a:ext cx="377722" cy="21393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600"/>
                  <a:t>add</a:t>
                </a:r>
                <a:endParaRPr lang="en-AU" altLang="en-US" sz="1800"/>
              </a:p>
            </p:txBody>
          </p:sp>
        </p:grpSp>
        <p:cxnSp>
          <p:nvCxnSpPr>
            <p:cNvPr id="139" name="Elbow Connector 138">
              <a:extLst>
                <a:ext uri="{FF2B5EF4-FFF2-40B4-BE49-F238E27FC236}">
                  <a16:creationId xmlns:a16="http://schemas.microsoft.com/office/drawing/2014/main" id="{479E2247-E07D-1543-827A-EA90B3DB6CB0}"/>
                </a:ext>
              </a:extLst>
            </p:cNvPr>
            <p:cNvCxnSpPr/>
            <p:nvPr/>
          </p:nvCxnSpPr>
          <p:spPr>
            <a:xfrm rot="5400000" flipH="1" flipV="1">
              <a:off x="1259362" y="3032148"/>
              <a:ext cx="2033057" cy="512618"/>
            </a:xfrm>
            <a:prstGeom prst="bentConnector3">
              <a:avLst>
                <a:gd name="adj1" fmla="val 101180"/>
              </a:avLst>
            </a:prstGeom>
            <a:ln>
              <a:solidFill>
                <a:schemeClr val="tx1"/>
              </a:solidFill>
              <a:headEnd type="oval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Arrow Connector 142">
              <a:extLst>
                <a:ext uri="{FF2B5EF4-FFF2-40B4-BE49-F238E27FC236}">
                  <a16:creationId xmlns:a16="http://schemas.microsoft.com/office/drawing/2014/main" id="{A3C34518-5F68-D345-83E6-5FDE7600CAC7}"/>
                </a:ext>
              </a:extLst>
            </p:cNvPr>
            <p:cNvCxnSpPr>
              <a:cxnSpLocks/>
            </p:cNvCxnSpPr>
            <p:nvPr/>
          </p:nvCxnSpPr>
          <p:spPr>
            <a:xfrm>
              <a:off x="2019581" y="1532037"/>
              <a:ext cx="531392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3BC79399-066F-084D-9BBD-8CBA272B357D}"/>
                </a:ext>
              </a:extLst>
            </p:cNvPr>
            <p:cNvCxnSpPr>
              <a:stCxn id="137" idx="3"/>
            </p:cNvCxnSpPr>
            <p:nvPr/>
          </p:nvCxnSpPr>
          <p:spPr>
            <a:xfrm>
              <a:off x="3004226" y="1898078"/>
              <a:ext cx="486334" cy="1857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Straight Connector 147">
              <a:extLst>
                <a:ext uri="{FF2B5EF4-FFF2-40B4-BE49-F238E27FC236}">
                  <a16:creationId xmlns:a16="http://schemas.microsoft.com/office/drawing/2014/main" id="{8C5857CB-4536-9A42-ADA6-B27D952F71A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90560" y="775665"/>
              <a:ext cx="0" cy="115001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Elbow Connector 150">
              <a:extLst>
                <a:ext uri="{FF2B5EF4-FFF2-40B4-BE49-F238E27FC236}">
                  <a16:creationId xmlns:a16="http://schemas.microsoft.com/office/drawing/2014/main" id="{94EC4CEB-BDE7-AA4F-9B56-FD346BD94F49}"/>
                </a:ext>
              </a:extLst>
            </p:cNvPr>
            <p:cNvCxnSpPr>
              <a:cxnSpLocks/>
              <a:endCxn id="14" idx="1"/>
            </p:cNvCxnSpPr>
            <p:nvPr/>
          </p:nvCxnSpPr>
          <p:spPr>
            <a:xfrm rot="5400000">
              <a:off x="350220" y="1173000"/>
              <a:ext cx="3544489" cy="2749823"/>
            </a:xfrm>
            <a:prstGeom prst="bentConnector4">
              <a:avLst>
                <a:gd name="adj1" fmla="val -39"/>
                <a:gd name="adj2" fmla="val 108313"/>
              </a:avLst>
            </a:prstGeom>
            <a:ln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A5ED7B32-5991-504E-BC50-937E6510773D}"/>
              </a:ext>
            </a:extLst>
          </p:cNvPr>
          <p:cNvSpPr txBox="1"/>
          <p:nvPr/>
        </p:nvSpPr>
        <p:spPr>
          <a:xfrm>
            <a:off x="8861385" y="903193"/>
            <a:ext cx="26430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If (x5==x6) </a:t>
            </a:r>
            <a:r>
              <a:rPr lang="en-US" err="1"/>
              <a:t>goto</a:t>
            </a:r>
            <a:r>
              <a:rPr lang="en-US"/>
              <a:t> PC+2*100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579E5EF-C52A-234A-8981-B81EF59053E0}"/>
              </a:ext>
            </a:extLst>
          </p:cNvPr>
          <p:cNvSpPr txBox="1"/>
          <p:nvPr/>
        </p:nvSpPr>
        <p:spPr>
          <a:xfrm>
            <a:off x="6321715" y="4453848"/>
            <a:ext cx="78726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Read</a:t>
            </a:r>
          </a:p>
          <a:p>
            <a:r>
              <a:rPr lang="en-US"/>
              <a:t>data-2</a:t>
            </a:r>
            <a:endParaRPr lang="en-US" sz="1600"/>
          </a:p>
        </p:txBody>
      </p: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7234003E-26E1-9E47-8D94-E50854FD402D}"/>
              </a:ext>
            </a:extLst>
          </p:cNvPr>
          <p:cNvCxnSpPr>
            <a:cxnSpLocks/>
          </p:cNvCxnSpPr>
          <p:nvPr/>
        </p:nvCxnSpPr>
        <p:spPr>
          <a:xfrm>
            <a:off x="7108982" y="4943539"/>
            <a:ext cx="379833" cy="14890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Elbow Connector 31">
            <a:extLst>
              <a:ext uri="{FF2B5EF4-FFF2-40B4-BE49-F238E27FC236}">
                <a16:creationId xmlns:a16="http://schemas.microsoft.com/office/drawing/2014/main" id="{F0A78BE7-ABB9-E644-A94A-5166930D437F}"/>
              </a:ext>
            </a:extLst>
          </p:cNvPr>
          <p:cNvCxnSpPr>
            <a:stCxn id="46" idx="3"/>
          </p:cNvCxnSpPr>
          <p:nvPr/>
        </p:nvCxnSpPr>
        <p:spPr>
          <a:xfrm flipV="1">
            <a:off x="8616539" y="2312167"/>
            <a:ext cx="452047" cy="2048348"/>
          </a:xfrm>
          <a:prstGeom prst="bentConnector2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2FE5BD1C-74BE-6B4E-8FD9-208B5A6A5046}"/>
              </a:ext>
            </a:extLst>
          </p:cNvPr>
          <p:cNvCxnSpPr>
            <a:cxnSpLocks/>
          </p:cNvCxnSpPr>
          <p:nvPr/>
        </p:nvCxnSpPr>
        <p:spPr>
          <a:xfrm>
            <a:off x="7108982" y="4943539"/>
            <a:ext cx="379833" cy="14890"/>
          </a:xfrm>
          <a:prstGeom prst="straightConnector1">
            <a:avLst/>
          </a:prstGeom>
          <a:ln>
            <a:solidFill>
              <a:srgbClr val="0432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820106E3-68D2-D244-A0D8-C511CE6B75CD}"/>
              </a:ext>
            </a:extLst>
          </p:cNvPr>
          <p:cNvCxnSpPr>
            <a:cxnSpLocks/>
          </p:cNvCxnSpPr>
          <p:nvPr/>
        </p:nvCxnSpPr>
        <p:spPr>
          <a:xfrm>
            <a:off x="7116940" y="3905986"/>
            <a:ext cx="854482" cy="0"/>
          </a:xfrm>
          <a:prstGeom prst="straightConnector1">
            <a:avLst/>
          </a:prstGeom>
          <a:ln>
            <a:solidFill>
              <a:srgbClr val="0432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DED3711E-9C56-5C47-9372-725833167D1B}"/>
              </a:ext>
            </a:extLst>
          </p:cNvPr>
          <p:cNvCxnSpPr>
            <a:cxnSpLocks/>
          </p:cNvCxnSpPr>
          <p:nvPr/>
        </p:nvCxnSpPr>
        <p:spPr>
          <a:xfrm flipV="1">
            <a:off x="1696491" y="4300756"/>
            <a:ext cx="800079" cy="30534"/>
          </a:xfrm>
          <a:prstGeom prst="straightConnector1">
            <a:avLst/>
          </a:prstGeom>
          <a:ln>
            <a:solidFill>
              <a:srgbClr val="0432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64FF479E-0F2D-4245-956E-7EF5AB29323D}"/>
              </a:ext>
            </a:extLst>
          </p:cNvPr>
          <p:cNvCxnSpPr>
            <a:cxnSpLocks/>
          </p:cNvCxnSpPr>
          <p:nvPr/>
        </p:nvCxnSpPr>
        <p:spPr>
          <a:xfrm>
            <a:off x="4285918" y="4293305"/>
            <a:ext cx="854482" cy="0"/>
          </a:xfrm>
          <a:prstGeom prst="straightConnector1">
            <a:avLst/>
          </a:prstGeom>
          <a:ln>
            <a:solidFill>
              <a:srgbClr val="0432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" name="Group 23">
            <a:extLst>
              <a:ext uri="{FF2B5EF4-FFF2-40B4-BE49-F238E27FC236}">
                <a16:creationId xmlns:a16="http://schemas.microsoft.com/office/drawing/2014/main" id="{15143EA4-312D-3A44-A05A-30F3F47C8210}"/>
              </a:ext>
            </a:extLst>
          </p:cNvPr>
          <p:cNvGrpSpPr/>
          <p:nvPr/>
        </p:nvGrpSpPr>
        <p:grpSpPr>
          <a:xfrm>
            <a:off x="2071395" y="775666"/>
            <a:ext cx="3800411" cy="3514461"/>
            <a:chOff x="2071395" y="775666"/>
            <a:chExt cx="3800411" cy="3514461"/>
          </a:xfrm>
        </p:grpSpPr>
        <p:grpSp>
          <p:nvGrpSpPr>
            <p:cNvPr id="91" name="Group 90">
              <a:extLst>
                <a:ext uri="{FF2B5EF4-FFF2-40B4-BE49-F238E27FC236}">
                  <a16:creationId xmlns:a16="http://schemas.microsoft.com/office/drawing/2014/main" id="{07C97512-E234-9143-B139-7FEC800135D1}"/>
                </a:ext>
              </a:extLst>
            </p:cNvPr>
            <p:cNvGrpSpPr/>
            <p:nvPr/>
          </p:nvGrpSpPr>
          <p:grpSpPr>
            <a:xfrm>
              <a:off x="4913445" y="915325"/>
              <a:ext cx="520910" cy="1324619"/>
              <a:chOff x="7957200" y="4065722"/>
              <a:chExt cx="576263" cy="1150938"/>
            </a:xfrm>
          </p:grpSpPr>
          <p:sp>
            <p:nvSpPr>
              <p:cNvPr id="102" name="Line 55">
                <a:extLst>
                  <a:ext uri="{FF2B5EF4-FFF2-40B4-BE49-F238E27FC236}">
                    <a16:creationId xmlns:a16="http://schemas.microsoft.com/office/drawing/2014/main" id="{792C0437-85C7-D441-A1BD-27A087CA76B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957200" y="4065722"/>
                <a:ext cx="1588" cy="431800"/>
              </a:xfrm>
              <a:prstGeom prst="line">
                <a:avLst/>
              </a:prstGeom>
              <a:noFill/>
              <a:ln w="12700">
                <a:solidFill>
                  <a:srgbClr val="0432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" name="Line 56">
                <a:extLst>
                  <a:ext uri="{FF2B5EF4-FFF2-40B4-BE49-F238E27FC236}">
                    <a16:creationId xmlns:a16="http://schemas.microsoft.com/office/drawing/2014/main" id="{5B06D875-466B-CE40-80F8-CA5E9C2A7CC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7957200" y="4784860"/>
                <a:ext cx="1588" cy="431800"/>
              </a:xfrm>
              <a:prstGeom prst="line">
                <a:avLst/>
              </a:prstGeom>
              <a:noFill/>
              <a:ln w="12700">
                <a:solidFill>
                  <a:srgbClr val="0432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" name="Line 57">
                <a:extLst>
                  <a:ext uri="{FF2B5EF4-FFF2-40B4-BE49-F238E27FC236}">
                    <a16:creationId xmlns:a16="http://schemas.microsoft.com/office/drawing/2014/main" id="{951BD9F0-AB4A-1D41-9CD2-279ACF9CEC3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958788" y="4497522"/>
                <a:ext cx="144463" cy="142875"/>
              </a:xfrm>
              <a:prstGeom prst="line">
                <a:avLst/>
              </a:prstGeom>
              <a:noFill/>
              <a:ln w="12700">
                <a:solidFill>
                  <a:srgbClr val="0432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" name="Line 58">
                <a:extLst>
                  <a:ext uri="{FF2B5EF4-FFF2-40B4-BE49-F238E27FC236}">
                    <a16:creationId xmlns:a16="http://schemas.microsoft.com/office/drawing/2014/main" id="{2C363C19-47FD-D64E-91E9-0EF3C782B51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7958788" y="4640397"/>
                <a:ext cx="144463" cy="146050"/>
              </a:xfrm>
              <a:prstGeom prst="line">
                <a:avLst/>
              </a:prstGeom>
              <a:noFill/>
              <a:ln w="12700">
                <a:solidFill>
                  <a:srgbClr val="0432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8" name="Line 59">
                <a:extLst>
                  <a:ext uri="{FF2B5EF4-FFF2-40B4-BE49-F238E27FC236}">
                    <a16:creationId xmlns:a16="http://schemas.microsoft.com/office/drawing/2014/main" id="{DB17E8A8-3F6E-5B40-A3F2-0E5318B1538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957200" y="4065722"/>
                <a:ext cx="576263" cy="287338"/>
              </a:xfrm>
              <a:prstGeom prst="line">
                <a:avLst/>
              </a:prstGeom>
              <a:noFill/>
              <a:ln w="12700">
                <a:solidFill>
                  <a:srgbClr val="0432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9" name="Line 60">
                <a:extLst>
                  <a:ext uri="{FF2B5EF4-FFF2-40B4-BE49-F238E27FC236}">
                    <a16:creationId xmlns:a16="http://schemas.microsoft.com/office/drawing/2014/main" id="{18C45570-750F-9F41-8DED-749DD10FD13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957200" y="4929322"/>
                <a:ext cx="576263" cy="287338"/>
              </a:xfrm>
              <a:prstGeom prst="line">
                <a:avLst/>
              </a:prstGeom>
              <a:noFill/>
              <a:ln w="12700">
                <a:solidFill>
                  <a:srgbClr val="0432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0" name="Line 61">
                <a:extLst>
                  <a:ext uri="{FF2B5EF4-FFF2-40B4-BE49-F238E27FC236}">
                    <a16:creationId xmlns:a16="http://schemas.microsoft.com/office/drawing/2014/main" id="{19919FF1-A0A1-474E-943B-3CC2701F75B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533463" y="4353060"/>
                <a:ext cx="0" cy="576263"/>
              </a:xfrm>
              <a:prstGeom prst="line">
                <a:avLst/>
              </a:prstGeom>
              <a:noFill/>
              <a:ln w="12700">
                <a:solidFill>
                  <a:srgbClr val="0432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" name="Text Box 62">
                <a:extLst>
                  <a:ext uri="{FF2B5EF4-FFF2-40B4-BE49-F238E27FC236}">
                    <a16:creationId xmlns:a16="http://schemas.microsoft.com/office/drawing/2014/main" id="{E011DF4E-BA83-9E47-948C-3A8C9B61A4D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101663" y="4502285"/>
                <a:ext cx="377722" cy="21393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600"/>
                  <a:t>add</a:t>
                </a:r>
                <a:endParaRPr lang="en-AU" altLang="en-US" sz="1800"/>
              </a:p>
            </p:txBody>
          </p:sp>
        </p:grpSp>
        <p:cxnSp>
          <p:nvCxnSpPr>
            <p:cNvPr id="94" name="Elbow Connector 93">
              <a:extLst>
                <a:ext uri="{FF2B5EF4-FFF2-40B4-BE49-F238E27FC236}">
                  <a16:creationId xmlns:a16="http://schemas.microsoft.com/office/drawing/2014/main" id="{1EE767F8-5537-4D4B-BFAC-E9513F270F71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3495502" y="2850251"/>
              <a:ext cx="2392559" cy="487193"/>
            </a:xfrm>
            <a:prstGeom prst="bentConnector3">
              <a:avLst>
                <a:gd name="adj1" fmla="val 100321"/>
              </a:avLst>
            </a:prstGeom>
            <a:ln>
              <a:solidFill>
                <a:srgbClr val="0432FF"/>
              </a:solidFill>
              <a:headEnd type="oval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E2081B0A-76E7-EE43-9109-E453FEC2438E}"/>
                </a:ext>
              </a:extLst>
            </p:cNvPr>
            <p:cNvCxnSpPr>
              <a:stCxn id="114" idx="3"/>
            </p:cNvCxnSpPr>
            <p:nvPr/>
          </p:nvCxnSpPr>
          <p:spPr>
            <a:xfrm>
              <a:off x="5385472" y="1540878"/>
              <a:ext cx="486334" cy="18578"/>
            </a:xfrm>
            <a:prstGeom prst="line">
              <a:avLst/>
            </a:prstGeom>
            <a:ln>
              <a:solidFill>
                <a:srgbClr val="0432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Elbow Connector 6">
              <a:extLst>
                <a:ext uri="{FF2B5EF4-FFF2-40B4-BE49-F238E27FC236}">
                  <a16:creationId xmlns:a16="http://schemas.microsoft.com/office/drawing/2014/main" id="{49B1407D-8051-A449-BF0E-BBE4472A222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71395" y="1269770"/>
              <a:ext cx="2784668" cy="1461739"/>
            </a:xfrm>
            <a:prstGeom prst="bentConnector3">
              <a:avLst>
                <a:gd name="adj1" fmla="val 64777"/>
              </a:avLst>
            </a:prstGeom>
            <a:ln>
              <a:solidFill>
                <a:srgbClr val="0432FF"/>
              </a:solidFill>
              <a:headEnd type="oval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Elbow Connector 17">
              <a:extLst>
                <a:ext uri="{FF2B5EF4-FFF2-40B4-BE49-F238E27FC236}">
                  <a16:creationId xmlns:a16="http://schemas.microsoft.com/office/drawing/2014/main" id="{4B93E278-6908-D84F-9842-34E011F6F7FE}"/>
                </a:ext>
              </a:extLst>
            </p:cNvPr>
            <p:cNvCxnSpPr/>
            <p:nvPr/>
          </p:nvCxnSpPr>
          <p:spPr>
            <a:xfrm rot="10800000">
              <a:off x="3497376" y="775666"/>
              <a:ext cx="2374430" cy="801055"/>
            </a:xfrm>
            <a:prstGeom prst="bentConnector3">
              <a:avLst>
                <a:gd name="adj1" fmla="val -63"/>
              </a:avLst>
            </a:prstGeom>
            <a:ln>
              <a:solidFill>
                <a:srgbClr val="0432FF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9359CE4D-8CCE-2642-BD0A-E91B5AA62C1B}"/>
              </a:ext>
            </a:extLst>
          </p:cNvPr>
          <p:cNvCxnSpPr/>
          <p:nvPr/>
        </p:nvCxnSpPr>
        <p:spPr>
          <a:xfrm>
            <a:off x="4774751" y="4605746"/>
            <a:ext cx="437246" cy="0"/>
          </a:xfrm>
          <a:prstGeom prst="straightConnector1">
            <a:avLst/>
          </a:prstGeom>
          <a:ln>
            <a:solidFill>
              <a:schemeClr val="tx1"/>
            </a:solidFill>
            <a:headEnd type="oval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Elbow Connector 83">
            <a:extLst>
              <a:ext uri="{FF2B5EF4-FFF2-40B4-BE49-F238E27FC236}">
                <a16:creationId xmlns:a16="http://schemas.microsoft.com/office/drawing/2014/main" id="{C2C3383A-5D6D-804A-8D2F-4140B97A40BE}"/>
              </a:ext>
            </a:extLst>
          </p:cNvPr>
          <p:cNvCxnSpPr>
            <a:cxnSpLocks/>
          </p:cNvCxnSpPr>
          <p:nvPr/>
        </p:nvCxnSpPr>
        <p:spPr>
          <a:xfrm>
            <a:off x="4743468" y="4365244"/>
            <a:ext cx="440166" cy="246885"/>
          </a:xfrm>
          <a:prstGeom prst="bentConnector3">
            <a:avLst>
              <a:gd name="adj1" fmla="val 1775"/>
            </a:avLst>
          </a:prstGeom>
          <a:ln w="28575">
            <a:solidFill>
              <a:srgbClr val="0432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49392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29537-A550-1C4B-A7C8-6A24F361E7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8500" y="138113"/>
            <a:ext cx="10515600" cy="1325563"/>
          </a:xfrm>
        </p:spPr>
        <p:txBody>
          <a:bodyPr/>
          <a:lstStyle/>
          <a:p>
            <a:r>
              <a:rPr lang="en-US"/>
              <a:t>Instruction Execution</a:t>
            </a:r>
          </a:p>
        </p:txBody>
      </p:sp>
      <p:pic>
        <p:nvPicPr>
          <p:cNvPr id="4" name="Picture 8">
            <a:extLst>
              <a:ext uri="{FF2B5EF4-FFF2-40B4-BE49-F238E27FC236}">
                <a16:creationId xmlns:a16="http://schemas.microsoft.com/office/drawing/2014/main" id="{B2C20CE2-168B-7A43-991E-5B58EE91C8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411869"/>
            <a:ext cx="9374187" cy="50810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03C6EECF-C372-8140-AD9B-E7B8E29CF329}"/>
              </a:ext>
            </a:extLst>
          </p:cNvPr>
          <p:cNvSpPr/>
          <p:nvPr/>
        </p:nvSpPr>
        <p:spPr>
          <a:xfrm>
            <a:off x="2959100" y="1209676"/>
            <a:ext cx="571500" cy="508000"/>
          </a:xfrm>
          <a:prstGeom prst="ellipse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A806F596-86EE-5B42-81C5-94A818B89278}"/>
              </a:ext>
            </a:extLst>
          </p:cNvPr>
          <p:cNvSpPr/>
          <p:nvPr/>
        </p:nvSpPr>
        <p:spPr>
          <a:xfrm>
            <a:off x="7620000" y="3431169"/>
            <a:ext cx="571500" cy="508000"/>
          </a:xfrm>
          <a:prstGeom prst="ellipse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753532D-37F0-EF41-8E71-D612CC664322}"/>
              </a:ext>
            </a:extLst>
          </p:cNvPr>
          <p:cNvSpPr/>
          <p:nvPr/>
        </p:nvSpPr>
        <p:spPr>
          <a:xfrm>
            <a:off x="6553200" y="5192131"/>
            <a:ext cx="571500" cy="508000"/>
          </a:xfrm>
          <a:prstGeom prst="ellipse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ular Callout 10">
            <a:extLst>
              <a:ext uri="{FF2B5EF4-FFF2-40B4-BE49-F238E27FC236}">
                <a16:creationId xmlns:a16="http://schemas.microsoft.com/office/drawing/2014/main" id="{6F267309-80BE-9E4E-9BD3-A0863F7B3BF5}"/>
              </a:ext>
            </a:extLst>
          </p:cNvPr>
          <p:cNvSpPr/>
          <p:nvPr/>
        </p:nvSpPr>
        <p:spPr>
          <a:xfrm>
            <a:off x="8191499" y="1411869"/>
            <a:ext cx="2160587" cy="1001131"/>
          </a:xfrm>
          <a:prstGeom prst="wedgeRoundRectCallout">
            <a:avLst>
              <a:gd name="adj1" fmla="val -55193"/>
              <a:gd name="adj2" fmla="val 149117"/>
              <a:gd name="adj3" fmla="val 16667"/>
            </a:avLst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Cannot just join wires together..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CAF7C3D-F862-D641-BFFD-C0377B82BB29}"/>
              </a:ext>
            </a:extLst>
          </p:cNvPr>
          <p:cNvSpPr txBox="1"/>
          <p:nvPr/>
        </p:nvSpPr>
        <p:spPr>
          <a:xfrm>
            <a:off x="8661400" y="2893033"/>
            <a:ext cx="18158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Use multiplexers!</a:t>
            </a:r>
          </a:p>
        </p:txBody>
      </p:sp>
    </p:spTree>
    <p:extLst>
      <p:ext uri="{BB962C8B-B14F-4D97-AF65-F5344CB8AC3E}">
        <p14:creationId xmlns:p14="http://schemas.microsoft.com/office/powerpoint/2010/main" val="27607833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11" grpId="0" animBg="1"/>
      <p:bldP spid="1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32ABF0-DE44-8F4B-A909-6A293E9B8A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300" y="140205"/>
            <a:ext cx="10515600" cy="1325563"/>
          </a:xfrm>
        </p:spPr>
        <p:txBody>
          <a:bodyPr/>
          <a:lstStyle/>
          <a:p>
            <a:r>
              <a:rPr lang="en-US"/>
              <a:t>Data path vs. Control</a:t>
            </a:r>
          </a:p>
        </p:txBody>
      </p:sp>
      <p:pic>
        <p:nvPicPr>
          <p:cNvPr id="4" name="Picture 1">
            <a:extLst>
              <a:ext uri="{FF2B5EF4-FFF2-40B4-BE49-F238E27FC236}">
                <a16:creationId xmlns:a16="http://schemas.microsoft.com/office/drawing/2014/main" id="{3A332BEA-8426-E94E-9B57-6CBDE2FA48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8181" y="914398"/>
            <a:ext cx="10515599" cy="59436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rminator 6">
            <a:extLst>
              <a:ext uri="{FF2B5EF4-FFF2-40B4-BE49-F238E27FC236}">
                <a16:creationId xmlns:a16="http://schemas.microsoft.com/office/drawing/2014/main" id="{1BEB51A0-C314-C44F-B4B1-3488663BC9E6}"/>
              </a:ext>
            </a:extLst>
          </p:cNvPr>
          <p:cNvSpPr/>
          <p:nvPr/>
        </p:nvSpPr>
        <p:spPr>
          <a:xfrm rot="16200000">
            <a:off x="2737423" y="1450950"/>
            <a:ext cx="752534" cy="441434"/>
          </a:xfrm>
          <a:prstGeom prst="flowChartTerminator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rminator 7">
            <a:extLst>
              <a:ext uri="{FF2B5EF4-FFF2-40B4-BE49-F238E27FC236}">
                <a16:creationId xmlns:a16="http://schemas.microsoft.com/office/drawing/2014/main" id="{B8C8D2C5-E9BC-014E-B0C0-6631D1D5165A}"/>
              </a:ext>
            </a:extLst>
          </p:cNvPr>
          <p:cNvSpPr/>
          <p:nvPr/>
        </p:nvSpPr>
        <p:spPr>
          <a:xfrm rot="16200000">
            <a:off x="7087655" y="4476879"/>
            <a:ext cx="996374" cy="441434"/>
          </a:xfrm>
          <a:prstGeom prst="flowChartTerminator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rminator 8">
            <a:extLst>
              <a:ext uri="{FF2B5EF4-FFF2-40B4-BE49-F238E27FC236}">
                <a16:creationId xmlns:a16="http://schemas.microsoft.com/office/drawing/2014/main" id="{D917D3F0-499A-8045-AD07-57DE822E1A60}"/>
              </a:ext>
            </a:extLst>
          </p:cNvPr>
          <p:cNvSpPr/>
          <p:nvPr/>
        </p:nvSpPr>
        <p:spPr>
          <a:xfrm rot="16200000">
            <a:off x="7199587" y="2824128"/>
            <a:ext cx="772507" cy="441434"/>
          </a:xfrm>
          <a:prstGeom prst="flowChartTerminator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88074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2">
            <a:extLst>
              <a:ext uri="{FF2B5EF4-FFF2-40B4-BE49-F238E27FC236}">
                <a16:creationId xmlns:a16="http://schemas.microsoft.com/office/drawing/2014/main" id="{C97A1491-8E56-154C-85CA-FBDF7DC6356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Building a Datapath</a:t>
            </a:r>
            <a:endParaRPr lang="en-AU" altLang="en-US"/>
          </a:p>
        </p:txBody>
      </p:sp>
      <p:sp>
        <p:nvSpPr>
          <p:cNvPr id="27652" name="Rectangle 3">
            <a:extLst>
              <a:ext uri="{FF2B5EF4-FFF2-40B4-BE49-F238E27FC236}">
                <a16:creationId xmlns:a16="http://schemas.microsoft.com/office/drawing/2014/main" id="{01D114D8-6BC7-9342-98C9-361DD4E2B51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701040" y="1690688"/>
            <a:ext cx="11018520" cy="4351338"/>
          </a:xfrm>
        </p:spPr>
        <p:txBody>
          <a:bodyPr/>
          <a:lstStyle/>
          <a:p>
            <a:pPr eaLnBrk="1" hangingPunct="1"/>
            <a:r>
              <a:rPr lang="en-US" altLang="en-US"/>
              <a:t>Datapath: elements that process data and addresses in the CPU</a:t>
            </a:r>
          </a:p>
          <a:p>
            <a:pPr lvl="1"/>
            <a:r>
              <a:rPr lang="en-US" altLang="en-US"/>
              <a:t>Registers, ALUs, memories, …</a:t>
            </a:r>
          </a:p>
          <a:p>
            <a:pPr eaLnBrk="1" hangingPunct="1"/>
            <a:r>
              <a:rPr lang="en-US" altLang="en-US"/>
              <a:t>We will refine our overview </a:t>
            </a:r>
            <a:r>
              <a:rPr lang="en-US" altLang="en-US" err="1"/>
              <a:t>datapath</a:t>
            </a:r>
            <a:r>
              <a:rPr lang="en-US" altLang="en-US"/>
              <a:t> design next…</a:t>
            </a:r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15656094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47" name="Picture 6" descr="f04-07-P374493">
            <a:extLst>
              <a:ext uri="{FF2B5EF4-FFF2-40B4-BE49-F238E27FC236}">
                <a16:creationId xmlns:a16="http://schemas.microsoft.com/office/drawing/2014/main" id="{19EBD4C9-4C9E-B44E-AEDD-649FAEB8F6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2482" y="3224218"/>
            <a:ext cx="8023438" cy="32686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748" name="Rectangle 2">
            <a:extLst>
              <a:ext uri="{FF2B5EF4-FFF2-40B4-BE49-F238E27FC236}">
                <a16:creationId xmlns:a16="http://schemas.microsoft.com/office/drawing/2014/main" id="{B4F0D885-5CBD-4948-BF0B-A9984A85D5A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R-type Instructions</a:t>
            </a:r>
            <a:endParaRPr lang="en-AU" altLang="en-US"/>
          </a:p>
        </p:txBody>
      </p:sp>
      <p:sp>
        <p:nvSpPr>
          <p:cNvPr id="31749" name="Rectangle 3">
            <a:extLst>
              <a:ext uri="{FF2B5EF4-FFF2-40B4-BE49-F238E27FC236}">
                <a16:creationId xmlns:a16="http://schemas.microsoft.com/office/drawing/2014/main" id="{054E6BF3-653A-204B-ABED-B19ECD334F8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1508125"/>
            <a:ext cx="8270875" cy="1920875"/>
          </a:xfrm>
        </p:spPr>
        <p:txBody>
          <a:bodyPr/>
          <a:lstStyle/>
          <a:p>
            <a:pPr eaLnBrk="1" hangingPunct="1"/>
            <a:r>
              <a:rPr lang="en-US" altLang="en-US"/>
              <a:t>Read two register operands</a:t>
            </a:r>
          </a:p>
          <a:p>
            <a:pPr eaLnBrk="1" hangingPunct="1"/>
            <a:r>
              <a:rPr lang="en-US" altLang="en-US"/>
              <a:t>Perform arithmetic/logical operation</a:t>
            </a:r>
          </a:p>
          <a:p>
            <a:pPr eaLnBrk="1" hangingPunct="1"/>
            <a:r>
              <a:rPr lang="en-US" altLang="en-US"/>
              <a:t>Write register result</a:t>
            </a:r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11506022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7" name="Rectangle 2">
            <a:extLst>
              <a:ext uri="{FF2B5EF4-FFF2-40B4-BE49-F238E27FC236}">
                <a16:creationId xmlns:a16="http://schemas.microsoft.com/office/drawing/2014/main" id="{E97B2D48-B313-4641-834E-B3AA2A250D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46221" y="182880"/>
            <a:ext cx="10515600" cy="1325563"/>
          </a:xfrm>
        </p:spPr>
        <p:txBody>
          <a:bodyPr/>
          <a:lstStyle/>
          <a:p>
            <a:pPr eaLnBrk="1" hangingPunct="1"/>
            <a:r>
              <a:rPr lang="en-US" altLang="en-US"/>
              <a:t>R-Type/Load/Store Datapath</a:t>
            </a:r>
            <a:endParaRPr lang="en-AU" altLang="en-US"/>
          </a:p>
        </p:txBody>
      </p:sp>
      <p:pic>
        <p:nvPicPr>
          <p:cNvPr id="41988" name="Picture 1">
            <a:extLst>
              <a:ext uri="{FF2B5EF4-FFF2-40B4-BE49-F238E27FC236}">
                <a16:creationId xmlns:a16="http://schemas.microsoft.com/office/drawing/2014/main" id="{62E2E7BB-13B2-AB48-A4E3-636A66095C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5729" y="1465899"/>
            <a:ext cx="9716669" cy="47367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Oval 1">
            <a:extLst>
              <a:ext uri="{FF2B5EF4-FFF2-40B4-BE49-F238E27FC236}">
                <a16:creationId xmlns:a16="http://schemas.microsoft.com/office/drawing/2014/main" id="{A5BB12ED-01BA-1C47-AB55-266BDC258876}"/>
              </a:ext>
            </a:extLst>
          </p:cNvPr>
          <p:cNvSpPr/>
          <p:nvPr/>
        </p:nvSpPr>
        <p:spPr>
          <a:xfrm>
            <a:off x="3276600" y="4312920"/>
            <a:ext cx="807720" cy="1691640"/>
          </a:xfrm>
          <a:prstGeom prst="ellipse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ular Callout 2">
            <a:extLst>
              <a:ext uri="{FF2B5EF4-FFF2-40B4-BE49-F238E27FC236}">
                <a16:creationId xmlns:a16="http://schemas.microsoft.com/office/drawing/2014/main" id="{AD5BDBAD-5B1C-5A43-92B0-773527E033B9}"/>
              </a:ext>
            </a:extLst>
          </p:cNvPr>
          <p:cNvSpPr/>
          <p:nvPr/>
        </p:nvSpPr>
        <p:spPr>
          <a:xfrm>
            <a:off x="6096000" y="5349557"/>
            <a:ext cx="3078480" cy="1325563"/>
          </a:xfrm>
          <a:prstGeom prst="wedgeRoundRectCallout">
            <a:avLst>
              <a:gd name="adj1" fmla="val -109067"/>
              <a:gd name="adj2" fmla="val -43270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/>
              <a:t>Input: 32-bit instruction</a:t>
            </a:r>
          </a:p>
          <a:p>
            <a:pPr algn="ctr"/>
            <a:r>
              <a:rPr lang="en-US"/>
              <a:t>It selects a 12-bit field in instruction and sign extends to 64-bit</a:t>
            </a:r>
          </a:p>
        </p:txBody>
      </p:sp>
    </p:spTree>
    <p:extLst>
      <p:ext uri="{BB962C8B-B14F-4D97-AF65-F5344CB8AC3E}">
        <p14:creationId xmlns:p14="http://schemas.microsoft.com/office/powerpoint/2010/main" val="10319074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5" name="Rectangle 2">
            <a:extLst>
              <a:ext uri="{FF2B5EF4-FFF2-40B4-BE49-F238E27FC236}">
                <a16:creationId xmlns:a16="http://schemas.microsoft.com/office/drawing/2014/main" id="{CDDA2AB3-5B6B-EC48-82B3-540DDBC1B57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55320" y="0"/>
            <a:ext cx="10515600" cy="1325563"/>
          </a:xfrm>
        </p:spPr>
        <p:txBody>
          <a:bodyPr/>
          <a:lstStyle/>
          <a:p>
            <a:pPr eaLnBrk="1" hangingPunct="1"/>
            <a:r>
              <a:rPr lang="en-US" altLang="en-US"/>
              <a:t>Full Datapath</a:t>
            </a:r>
            <a:endParaRPr lang="en-AU" altLang="en-US"/>
          </a:p>
        </p:txBody>
      </p:sp>
      <p:pic>
        <p:nvPicPr>
          <p:cNvPr id="44036" name="Picture 1">
            <a:extLst>
              <a:ext uri="{FF2B5EF4-FFF2-40B4-BE49-F238E27FC236}">
                <a16:creationId xmlns:a16="http://schemas.microsoft.com/office/drawing/2014/main" id="{6D4DD309-9494-F14D-9DA2-CE679C9A84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967546"/>
            <a:ext cx="8718868" cy="57974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256060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3" name="Rectangle 2">
            <a:extLst>
              <a:ext uri="{FF2B5EF4-FFF2-40B4-BE49-F238E27FC236}">
                <a16:creationId xmlns:a16="http://schemas.microsoft.com/office/drawing/2014/main" id="{2F045826-9D16-0644-9BB6-A570C2B511A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ALU Control</a:t>
            </a:r>
            <a:endParaRPr lang="en-AU" altLang="en-US"/>
          </a:p>
        </p:txBody>
      </p:sp>
      <p:sp>
        <p:nvSpPr>
          <p:cNvPr id="46084" name="Rectangle 3">
            <a:extLst>
              <a:ext uri="{FF2B5EF4-FFF2-40B4-BE49-F238E27FC236}">
                <a16:creationId xmlns:a16="http://schemas.microsoft.com/office/drawing/2014/main" id="{A6C69AD3-D049-0F43-97EE-9B4F34D9072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030413" y="1404938"/>
            <a:ext cx="8270875" cy="2381250"/>
          </a:xfrm>
        </p:spPr>
        <p:txBody>
          <a:bodyPr/>
          <a:lstStyle/>
          <a:p>
            <a:pPr eaLnBrk="1" hangingPunct="1"/>
            <a:r>
              <a:rPr lang="en-US" altLang="en-US"/>
              <a:t>ALU used for</a:t>
            </a:r>
          </a:p>
          <a:p>
            <a:pPr lvl="1" eaLnBrk="1" hangingPunct="1"/>
            <a:r>
              <a:rPr lang="en-US" altLang="en-US"/>
              <a:t>Load/Store: F = add</a:t>
            </a:r>
          </a:p>
          <a:p>
            <a:pPr lvl="1" eaLnBrk="1" hangingPunct="1"/>
            <a:r>
              <a:rPr lang="en-US" altLang="en-US"/>
              <a:t>Branch: F = subtract (for comparison)</a:t>
            </a:r>
          </a:p>
          <a:p>
            <a:pPr lvl="1" eaLnBrk="1" hangingPunct="1"/>
            <a:r>
              <a:rPr lang="en-US" altLang="en-US"/>
              <a:t>R-type: F depends on opcode</a:t>
            </a:r>
            <a:endParaRPr lang="en-AU" altLang="en-US"/>
          </a:p>
        </p:txBody>
      </p:sp>
      <p:graphicFrame>
        <p:nvGraphicFramePr>
          <p:cNvPr id="297989" name="Group 5">
            <a:extLst>
              <a:ext uri="{FF2B5EF4-FFF2-40B4-BE49-F238E27FC236}">
                <a16:creationId xmlns:a16="http://schemas.microsoft.com/office/drawing/2014/main" id="{B0F43611-B25B-EF4A-A6C4-78F890ED24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3390528"/>
              </p:ext>
            </p:extLst>
          </p:nvPr>
        </p:nvGraphicFramePr>
        <p:xfrm>
          <a:off x="2466521" y="4169909"/>
          <a:ext cx="6096000" cy="1828800"/>
        </p:xfrm>
        <a:graphic>
          <a:graphicData uri="http://schemas.openxmlformats.org/drawingml/2006/table">
            <a:tbl>
              <a:tblPr/>
              <a:tblGrid>
                <a:gridCol w="30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ALU control lines</a:t>
                      </a:r>
                      <a:endParaRPr kumimoji="0" lang="en-AU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Function</a:t>
                      </a:r>
                      <a:endParaRPr kumimoji="0" lang="en-AU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0000</a:t>
                      </a:r>
                      <a:endParaRPr kumimoji="0" lang="en-AU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AND</a:t>
                      </a:r>
                      <a:endParaRPr kumimoji="0" lang="en-AU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0001</a:t>
                      </a:r>
                      <a:endParaRPr kumimoji="0" lang="en-AU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OR</a:t>
                      </a:r>
                      <a:endParaRPr kumimoji="0" lang="en-AU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0010</a:t>
                      </a:r>
                      <a:endParaRPr kumimoji="0" lang="en-AU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add</a:t>
                      </a:r>
                      <a:endParaRPr kumimoji="0" lang="en-AU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0110</a:t>
                      </a:r>
                      <a:endParaRPr kumimoji="0" lang="en-AU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subtract</a:t>
                      </a:r>
                      <a:endParaRPr kumimoji="0" lang="en-AU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757678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1" name="Rectangle 2">
            <a:extLst>
              <a:ext uri="{FF2B5EF4-FFF2-40B4-BE49-F238E27FC236}">
                <a16:creationId xmlns:a16="http://schemas.microsoft.com/office/drawing/2014/main" id="{BB754D02-9D37-3D41-B438-E6B79FA56FE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19100" y="269671"/>
            <a:ext cx="10515600" cy="1325563"/>
          </a:xfrm>
        </p:spPr>
        <p:txBody>
          <a:bodyPr/>
          <a:lstStyle/>
          <a:p>
            <a:pPr eaLnBrk="1" hangingPunct="1"/>
            <a:r>
              <a:rPr lang="en-US" altLang="en-US"/>
              <a:t>ALU Control</a:t>
            </a:r>
            <a:endParaRPr lang="en-AU" altLang="en-US"/>
          </a:p>
        </p:txBody>
      </p:sp>
      <p:sp>
        <p:nvSpPr>
          <p:cNvPr id="48132" name="Rectangle 3">
            <a:extLst>
              <a:ext uri="{FF2B5EF4-FFF2-40B4-BE49-F238E27FC236}">
                <a16:creationId xmlns:a16="http://schemas.microsoft.com/office/drawing/2014/main" id="{B106184F-208D-8B4F-8D30-2E15C08507A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19100" y="1380723"/>
            <a:ext cx="11353800" cy="4351338"/>
          </a:xfrm>
        </p:spPr>
        <p:txBody>
          <a:bodyPr/>
          <a:lstStyle/>
          <a:p>
            <a:pPr eaLnBrk="1" hangingPunct="1"/>
            <a:r>
              <a:rPr lang="en-US" altLang="en-US"/>
              <a:t>Assume a “Control” combinatorial logic that outputs 2-bit </a:t>
            </a:r>
            <a:r>
              <a:rPr lang="en-US" altLang="en-US" err="1"/>
              <a:t>ALUOp</a:t>
            </a:r>
            <a:r>
              <a:rPr lang="en-US" altLang="en-US"/>
              <a:t> derived from opcode</a:t>
            </a:r>
          </a:p>
          <a:p>
            <a:pPr eaLnBrk="1" hangingPunct="1"/>
            <a:r>
              <a:rPr lang="en-US" altLang="en-US"/>
              <a:t>Build an “ALU Control” combinatorial logic to output ALU control</a:t>
            </a:r>
          </a:p>
        </p:txBody>
      </p:sp>
      <p:graphicFrame>
        <p:nvGraphicFramePr>
          <p:cNvPr id="300101" name="Group 69">
            <a:extLst>
              <a:ext uri="{FF2B5EF4-FFF2-40B4-BE49-F238E27FC236}">
                <a16:creationId xmlns:a16="http://schemas.microsoft.com/office/drawing/2014/main" id="{CCCBD966-558C-FB43-A3C8-A9D815BAE2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2860623"/>
              </p:ext>
            </p:extLst>
          </p:nvPr>
        </p:nvGraphicFramePr>
        <p:xfrm>
          <a:off x="1422627" y="3135307"/>
          <a:ext cx="8589963" cy="3176615"/>
        </p:xfrm>
        <a:graphic>
          <a:graphicData uri="http://schemas.openxmlformats.org/drawingml/2006/table">
            <a:tbl>
              <a:tblPr/>
              <a:tblGrid>
                <a:gridCol w="10062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50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39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362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36245">
                  <a:extLst>
                    <a:ext uri="{9D8B030D-6E8A-4147-A177-3AD203B41FA5}">
                      <a16:colId xmlns:a16="http://schemas.microsoft.com/office/drawing/2014/main" val="2322937756"/>
                    </a:ext>
                  </a:extLst>
                </a:gridCol>
                <a:gridCol w="144391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6839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791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opcode</a:t>
                      </a:r>
                      <a:endParaRPr kumimoji="0" lang="en-AU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54" marR="91454" marT="45711" marB="45711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ALUOp</a:t>
                      </a:r>
                      <a:endParaRPr kumimoji="0" lang="en-AU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54" marR="91454" marT="45711" marB="45711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Operation</a:t>
                      </a:r>
                      <a:endParaRPr kumimoji="0" lang="en-AU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54" marR="91454" marT="45711" marB="45711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func7</a:t>
                      </a:r>
                      <a:endParaRPr kumimoji="0" lang="en-AU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54" marR="91454" marT="45711" marB="45711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func3</a:t>
                      </a:r>
                    </a:p>
                  </a:txBody>
                  <a:tcPr marL="91454" marR="91454" marT="45711" marB="45711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ALU function</a:t>
                      </a:r>
                      <a:endParaRPr kumimoji="0" lang="en-AU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54" marR="91454" marT="45711" marB="45711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ALU control</a:t>
                      </a:r>
                      <a:endParaRPr kumimoji="0" lang="en-AU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54" marR="91454" marT="45711" marB="45711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07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ld</a:t>
                      </a:r>
                      <a:endParaRPr kumimoji="0" lang="en-AU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54" marR="91454"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00</a:t>
                      </a:r>
                      <a:endParaRPr kumimoji="0" lang="en-AU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54" marR="91454"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load register</a:t>
                      </a:r>
                      <a:endParaRPr kumimoji="0" lang="en-AU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54" marR="91454"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xxxxxxx</a:t>
                      </a:r>
                      <a:endParaRPr kumimoji="0" lang="en-AU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54" marR="91454"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xxx</a:t>
                      </a:r>
                    </a:p>
                  </a:txBody>
                  <a:tcPr marL="91454" marR="91454"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add</a:t>
                      </a:r>
                      <a:endParaRPr kumimoji="0" lang="en-AU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54" marR="91454"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0010</a:t>
                      </a:r>
                      <a:endParaRPr kumimoji="0" lang="en-AU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54" marR="91454"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26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sd</a:t>
                      </a:r>
                      <a:endParaRPr kumimoji="0" lang="en-AU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54" marR="91454"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00</a:t>
                      </a:r>
                      <a:endParaRPr kumimoji="0" lang="en-AU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54" marR="91454"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store register</a:t>
                      </a:r>
                      <a:endParaRPr kumimoji="0" lang="en-AU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54" marR="91454"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xxxxxxx</a:t>
                      </a:r>
                      <a:endParaRPr kumimoji="0" lang="en-AU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54" marR="91454"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xxx</a:t>
                      </a:r>
                    </a:p>
                  </a:txBody>
                  <a:tcPr marL="91454" marR="91454"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add</a:t>
                      </a:r>
                      <a:endParaRPr kumimoji="0" lang="en-AU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54" marR="91454"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0010</a:t>
                      </a:r>
                      <a:endParaRPr kumimoji="0" lang="en-AU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54" marR="91454"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90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beq</a:t>
                      </a:r>
                      <a:endParaRPr kumimoji="0" lang="en-AU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54" marR="91454"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01</a:t>
                      </a:r>
                      <a:endParaRPr kumimoji="0" lang="en-AU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54" marR="91454"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branch on equal</a:t>
                      </a:r>
                      <a:endParaRPr kumimoji="0" lang="en-AU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54" marR="91454"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xxxxxxx</a:t>
                      </a:r>
                      <a:endParaRPr kumimoji="0" lang="en-AU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54" marR="91454"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xxx</a:t>
                      </a:r>
                    </a:p>
                  </a:txBody>
                  <a:tcPr marL="91454" marR="91454"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subtract</a:t>
                      </a:r>
                      <a:endParaRPr kumimoji="0" lang="en-AU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54" marR="91454"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0110</a:t>
                      </a:r>
                      <a:endParaRPr kumimoji="0" lang="en-AU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54" marR="91454"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261">
                <a:tc rowSpan="4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R-type</a:t>
                      </a:r>
                      <a:endParaRPr kumimoji="0" lang="en-AU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54" marR="91454"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4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</a:t>
                      </a:r>
                      <a:endParaRPr kumimoji="0" lang="en-AU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54" marR="91454"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add</a:t>
                      </a:r>
                      <a:endParaRPr kumimoji="0" lang="en-AU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54" marR="91454"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000000</a:t>
                      </a:r>
                      <a:endParaRPr kumimoji="0" lang="en-AU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54" marR="91454"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000</a:t>
                      </a:r>
                    </a:p>
                  </a:txBody>
                  <a:tcPr marL="91454" marR="91454"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add</a:t>
                      </a:r>
                      <a:endParaRPr kumimoji="0" lang="en-AU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54" marR="91454"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0010</a:t>
                      </a:r>
                      <a:endParaRPr kumimoji="0" lang="en-AU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54" marR="91454"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648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subtract</a:t>
                      </a:r>
                      <a:endParaRPr kumimoji="0" lang="en-AU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54" marR="91454"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010000</a:t>
                      </a:r>
                      <a:endParaRPr kumimoji="0" lang="en-AU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54" marR="91454"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000</a:t>
                      </a:r>
                    </a:p>
                  </a:txBody>
                  <a:tcPr marL="91454" marR="91454"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subtract</a:t>
                      </a:r>
                      <a:endParaRPr kumimoji="0" lang="en-AU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54" marR="91454"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0110</a:t>
                      </a:r>
                      <a:endParaRPr kumimoji="0" lang="en-AU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54" marR="91454"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526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AND</a:t>
                      </a:r>
                      <a:endParaRPr kumimoji="0" lang="en-AU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54" marR="91454"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000000</a:t>
                      </a:r>
                      <a:endParaRPr kumimoji="0" lang="en-AU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54" marR="91454"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111</a:t>
                      </a:r>
                    </a:p>
                  </a:txBody>
                  <a:tcPr marL="91454" marR="91454"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AND</a:t>
                      </a:r>
                      <a:endParaRPr kumimoji="0" lang="en-AU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54" marR="91454"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0000</a:t>
                      </a:r>
                      <a:endParaRPr kumimoji="0" lang="en-AU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54" marR="91454"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807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OR</a:t>
                      </a:r>
                      <a:endParaRPr kumimoji="0" lang="en-AU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54" marR="91454"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000000</a:t>
                      </a:r>
                      <a:endParaRPr kumimoji="0" lang="en-AU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54" marR="91454"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110</a:t>
                      </a:r>
                    </a:p>
                  </a:txBody>
                  <a:tcPr marL="91454" marR="91454"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OR</a:t>
                      </a:r>
                      <a:endParaRPr kumimoji="0" lang="en-AU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54" marR="91454"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0001</a:t>
                      </a:r>
                      <a:endParaRPr kumimoji="0" lang="en-AU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54" marR="91454"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9299481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7" name="Rectangle 4">
            <a:extLst>
              <a:ext uri="{FF2B5EF4-FFF2-40B4-BE49-F238E27FC236}">
                <a16:creationId xmlns:a16="http://schemas.microsoft.com/office/drawing/2014/main" id="{CA54C832-D4F3-5C4F-ACB9-C5DD62999FD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10515600" cy="1325563"/>
          </a:xfrm>
        </p:spPr>
        <p:txBody>
          <a:bodyPr/>
          <a:lstStyle/>
          <a:p>
            <a:pPr eaLnBrk="1" hangingPunct="1"/>
            <a:r>
              <a:rPr lang="en-AU" altLang="en-US"/>
              <a:t>Datapath With Control</a:t>
            </a:r>
          </a:p>
        </p:txBody>
      </p:sp>
      <p:pic>
        <p:nvPicPr>
          <p:cNvPr id="52228" name="Picture 1">
            <a:extLst>
              <a:ext uri="{FF2B5EF4-FFF2-40B4-BE49-F238E27FC236}">
                <a16:creationId xmlns:a16="http://schemas.microsoft.com/office/drawing/2014/main" id="{B8409C87-8819-E84E-935E-9D55FF51B8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841" y="1021080"/>
            <a:ext cx="10347960" cy="56083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ounded Rectangular Callout 1">
            <a:extLst>
              <a:ext uri="{FF2B5EF4-FFF2-40B4-BE49-F238E27FC236}">
                <a16:creationId xmlns:a16="http://schemas.microsoft.com/office/drawing/2014/main" id="{4361CE04-5D39-9140-A412-012D348FF1E0}"/>
              </a:ext>
            </a:extLst>
          </p:cNvPr>
          <p:cNvSpPr/>
          <p:nvPr/>
        </p:nvSpPr>
        <p:spPr>
          <a:xfrm>
            <a:off x="4536077" y="1105672"/>
            <a:ext cx="1783079" cy="1208314"/>
          </a:xfrm>
          <a:prstGeom prst="wedgeRoundRectCallout">
            <a:avLst>
              <a:gd name="adj1" fmla="val -45125"/>
              <a:gd name="adj2" fmla="val 71598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Control derived from instruction type</a:t>
            </a:r>
          </a:p>
        </p:txBody>
      </p:sp>
    </p:spTree>
    <p:extLst>
      <p:ext uri="{BB962C8B-B14F-4D97-AF65-F5344CB8AC3E}">
        <p14:creationId xmlns:p14="http://schemas.microsoft.com/office/powerpoint/2010/main" val="24609707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5" name="Rectangle 4">
            <a:extLst>
              <a:ext uri="{FF2B5EF4-FFF2-40B4-BE49-F238E27FC236}">
                <a16:creationId xmlns:a16="http://schemas.microsoft.com/office/drawing/2014/main" id="{BAF58C7D-D609-A149-A05D-BFEA935BCB9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16884" y="365125"/>
            <a:ext cx="10515600" cy="1325563"/>
          </a:xfrm>
        </p:spPr>
        <p:txBody>
          <a:bodyPr/>
          <a:lstStyle/>
          <a:p>
            <a:pPr eaLnBrk="1" hangingPunct="1"/>
            <a:r>
              <a:rPr lang="en-AU" altLang="en-US"/>
              <a:t>R-Type Inst</a:t>
            </a:r>
          </a:p>
        </p:txBody>
      </p:sp>
      <p:pic>
        <p:nvPicPr>
          <p:cNvPr id="54276" name="Picture 3">
            <a:extLst>
              <a:ext uri="{FF2B5EF4-FFF2-40B4-BE49-F238E27FC236}">
                <a16:creationId xmlns:a16="http://schemas.microsoft.com/office/drawing/2014/main" id="{B8DFDAAE-3FBD-B24F-8D36-104A5D52F6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6464" y="1399354"/>
            <a:ext cx="7596058" cy="52482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3E11BF2-756E-40CD-A81D-B363EF482E1A}"/>
              </a:ext>
            </a:extLst>
          </p:cNvPr>
          <p:cNvSpPr txBox="1"/>
          <p:nvPr/>
        </p:nvSpPr>
        <p:spPr>
          <a:xfrm>
            <a:off x="9542195" y="222599"/>
            <a:ext cx="21595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add</a:t>
            </a:r>
            <a:r>
              <a:rPr lang="en-US" sz="2000">
                <a:latin typeface="Consolas" panose="020B0609020204030204" pitchFamily="49" charset="0"/>
                <a:cs typeface="Consolas" panose="020B0609020204030204" pitchFamily="49" charset="0"/>
              </a:rPr>
              <a:t> x5, x6, x7</a:t>
            </a:r>
          </a:p>
        </p:txBody>
      </p:sp>
      <p:grpSp>
        <p:nvGrpSpPr>
          <p:cNvPr id="5" name="Group 2">
            <a:extLst>
              <a:ext uri="{FF2B5EF4-FFF2-40B4-BE49-F238E27FC236}">
                <a16:creationId xmlns:a16="http://schemas.microsoft.com/office/drawing/2014/main" id="{FC2EE137-95FA-4A88-B8CC-3E9F06CD849E}"/>
              </a:ext>
            </a:extLst>
          </p:cNvPr>
          <p:cNvGrpSpPr>
            <a:grpSpLocks/>
          </p:cNvGrpSpPr>
          <p:nvPr/>
        </p:nvGrpSpPr>
        <p:grpSpPr bwMode="auto">
          <a:xfrm>
            <a:off x="3591875" y="735836"/>
            <a:ext cx="8518206" cy="531221"/>
            <a:chOff x="1331640" y="1391533"/>
            <a:chExt cx="6771978" cy="415925"/>
          </a:xfrm>
        </p:grpSpPr>
        <p:sp>
          <p:nvSpPr>
            <p:cNvPr id="6" name="Text Box 5">
              <a:extLst>
                <a:ext uri="{FF2B5EF4-FFF2-40B4-BE49-F238E27FC236}">
                  <a16:creationId xmlns:a16="http://schemas.microsoft.com/office/drawing/2014/main" id="{09C1CB0E-F36C-479C-9527-A2F7994145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31640" y="1391533"/>
              <a:ext cx="1296987" cy="415925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/>
                <a:t>funct7</a:t>
              </a:r>
              <a:endParaRPr lang="en-AU" altLang="en-US" sz="2000"/>
            </a:p>
          </p:txBody>
        </p:sp>
        <p:sp>
          <p:nvSpPr>
            <p:cNvPr id="7" name="Text Box 6">
              <a:extLst>
                <a:ext uri="{FF2B5EF4-FFF2-40B4-BE49-F238E27FC236}">
                  <a16:creationId xmlns:a16="http://schemas.microsoft.com/office/drawing/2014/main" id="{857E635C-C544-4222-87EC-BB73215055D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28627" y="1391533"/>
              <a:ext cx="1079500" cy="415925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/>
                <a:t>rs2</a:t>
              </a:r>
              <a:endParaRPr lang="en-AU" altLang="en-US" sz="2000"/>
            </a:p>
          </p:txBody>
        </p:sp>
        <p:sp>
          <p:nvSpPr>
            <p:cNvPr id="8" name="Text Box 7">
              <a:extLst>
                <a:ext uri="{FF2B5EF4-FFF2-40B4-BE49-F238E27FC236}">
                  <a16:creationId xmlns:a16="http://schemas.microsoft.com/office/drawing/2014/main" id="{C15609CE-8BCC-4011-9CFA-809EBB3ABA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08127" y="1391533"/>
              <a:ext cx="1079500" cy="415925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/>
                <a:t>rs1</a:t>
              </a:r>
              <a:endParaRPr lang="en-AU" altLang="en-US" sz="2000"/>
            </a:p>
          </p:txBody>
        </p:sp>
        <p:sp>
          <p:nvSpPr>
            <p:cNvPr id="9" name="Text Box 8">
              <a:extLst>
                <a:ext uri="{FF2B5EF4-FFF2-40B4-BE49-F238E27FC236}">
                  <a16:creationId xmlns:a16="http://schemas.microsoft.com/office/drawing/2014/main" id="{D70920B5-0D1B-4A7D-ACC0-7EFD1258DE7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27131" y="1391533"/>
              <a:ext cx="1079500" cy="415925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/>
                <a:t>rd</a:t>
              </a:r>
              <a:endParaRPr lang="en-AU" altLang="en-US" sz="2000"/>
            </a:p>
          </p:txBody>
        </p:sp>
        <p:sp>
          <p:nvSpPr>
            <p:cNvPr id="10" name="Text Box 9">
              <a:extLst>
                <a:ext uri="{FF2B5EF4-FFF2-40B4-BE49-F238E27FC236}">
                  <a16:creationId xmlns:a16="http://schemas.microsoft.com/office/drawing/2014/main" id="{D9C8C9BF-4FE3-47FF-A719-7D46466482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89215" y="1391533"/>
              <a:ext cx="936328" cy="415925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/>
                <a:t>funct3</a:t>
              </a:r>
              <a:endParaRPr lang="en-AU" altLang="en-US" sz="2000"/>
            </a:p>
          </p:txBody>
        </p:sp>
        <p:sp>
          <p:nvSpPr>
            <p:cNvPr id="11" name="Text Box 10">
              <a:extLst>
                <a:ext uri="{FF2B5EF4-FFF2-40B4-BE49-F238E27FC236}">
                  <a16:creationId xmlns:a16="http://schemas.microsoft.com/office/drawing/2014/main" id="{2EE7DCEF-CD57-4229-B1F6-A16D047E18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06631" y="1391533"/>
              <a:ext cx="1296987" cy="415925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/>
                <a:t>opcode</a:t>
              </a:r>
              <a:endParaRPr lang="en-AU" altLang="en-US" sz="2000"/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F7972932-279E-421D-95FB-518E4FD895AF}"/>
              </a:ext>
            </a:extLst>
          </p:cNvPr>
          <p:cNvSpPr/>
          <p:nvPr/>
        </p:nvSpPr>
        <p:spPr>
          <a:xfrm>
            <a:off x="3591875" y="735834"/>
            <a:ext cx="1631429" cy="531221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938052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3" name="Rectangle 4">
            <a:extLst>
              <a:ext uri="{FF2B5EF4-FFF2-40B4-BE49-F238E27FC236}">
                <a16:creationId xmlns:a16="http://schemas.microsoft.com/office/drawing/2014/main" id="{3CD2BF72-F388-C546-8EAB-12706DCD0D0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altLang="en-US"/>
              <a:t>Load Inst</a:t>
            </a:r>
          </a:p>
        </p:txBody>
      </p:sp>
      <p:pic>
        <p:nvPicPr>
          <p:cNvPr id="56324" name="Picture 1">
            <a:extLst>
              <a:ext uri="{FF2B5EF4-FFF2-40B4-BE49-F238E27FC236}">
                <a16:creationId xmlns:a16="http://schemas.microsoft.com/office/drawing/2014/main" id="{17899A38-C8AA-4D42-BDB1-44843F1FCC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362" y="1651753"/>
            <a:ext cx="8311427" cy="5011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2C293F6-F763-4496-9582-BD0E1AD9D743}"/>
              </a:ext>
            </a:extLst>
          </p:cNvPr>
          <p:cNvSpPr txBox="1"/>
          <p:nvPr/>
        </p:nvSpPr>
        <p:spPr>
          <a:xfrm>
            <a:off x="9041789" y="242305"/>
            <a:ext cx="27478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ld</a:t>
            </a:r>
            <a:r>
              <a:rPr lang="en-US" sz="2800">
                <a:latin typeface="Consolas" panose="020B0609020204030204" pitchFamily="49" charset="0"/>
                <a:cs typeface="Consolas" panose="020B0609020204030204" pitchFamily="49" charset="0"/>
              </a:rPr>
              <a:t> x5, 40(x6)</a:t>
            </a:r>
          </a:p>
        </p:txBody>
      </p:sp>
      <p:grpSp>
        <p:nvGrpSpPr>
          <p:cNvPr id="5" name="Group 1">
            <a:extLst>
              <a:ext uri="{FF2B5EF4-FFF2-40B4-BE49-F238E27FC236}">
                <a16:creationId xmlns:a16="http://schemas.microsoft.com/office/drawing/2014/main" id="{D4F945D4-2C37-46E4-9730-F28C6A2D71E1}"/>
              </a:ext>
            </a:extLst>
          </p:cNvPr>
          <p:cNvGrpSpPr>
            <a:grpSpLocks/>
          </p:cNvGrpSpPr>
          <p:nvPr/>
        </p:nvGrpSpPr>
        <p:grpSpPr bwMode="auto">
          <a:xfrm>
            <a:off x="3900739" y="834642"/>
            <a:ext cx="8147367" cy="410247"/>
            <a:chOff x="1331640" y="1391533"/>
            <a:chExt cx="6771978" cy="415925"/>
          </a:xfrm>
        </p:grpSpPr>
        <p:sp>
          <p:nvSpPr>
            <p:cNvPr id="6" name="Text Box 5">
              <a:extLst>
                <a:ext uri="{FF2B5EF4-FFF2-40B4-BE49-F238E27FC236}">
                  <a16:creationId xmlns:a16="http://schemas.microsoft.com/office/drawing/2014/main" id="{BFFC7BD8-FB6A-43CE-8B38-67F8A609412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31640" y="1391533"/>
              <a:ext cx="2374899" cy="415925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/>
                <a:t>immediate</a:t>
              </a:r>
              <a:endParaRPr lang="en-AU" altLang="en-US" sz="2000"/>
            </a:p>
          </p:txBody>
        </p:sp>
        <p:sp>
          <p:nvSpPr>
            <p:cNvPr id="7" name="Text Box 7">
              <a:extLst>
                <a:ext uri="{FF2B5EF4-FFF2-40B4-BE49-F238E27FC236}">
                  <a16:creationId xmlns:a16="http://schemas.microsoft.com/office/drawing/2014/main" id="{51A9B665-6BF0-4DFA-9B75-84DD2912984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08127" y="1391533"/>
              <a:ext cx="1079500" cy="415925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/>
                <a:t>rs1</a:t>
              </a:r>
              <a:endParaRPr lang="en-AU" altLang="en-US" sz="2000"/>
            </a:p>
          </p:txBody>
        </p:sp>
        <p:sp>
          <p:nvSpPr>
            <p:cNvPr id="8" name="Text Box 8">
              <a:extLst>
                <a:ext uri="{FF2B5EF4-FFF2-40B4-BE49-F238E27FC236}">
                  <a16:creationId xmlns:a16="http://schemas.microsoft.com/office/drawing/2014/main" id="{FEC927DB-4181-4048-B6C7-55E691A27E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27131" y="1391533"/>
              <a:ext cx="1079500" cy="415925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/>
                <a:t>rd</a:t>
              </a:r>
              <a:endParaRPr lang="en-AU" altLang="en-US" sz="2000"/>
            </a:p>
          </p:txBody>
        </p:sp>
        <p:sp>
          <p:nvSpPr>
            <p:cNvPr id="9" name="Text Box 9">
              <a:extLst>
                <a:ext uri="{FF2B5EF4-FFF2-40B4-BE49-F238E27FC236}">
                  <a16:creationId xmlns:a16="http://schemas.microsoft.com/office/drawing/2014/main" id="{D23DDA33-7C7D-4F48-B528-E5FFC5CB3B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89215" y="1391533"/>
              <a:ext cx="936328" cy="415925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/>
                <a:t>funct3</a:t>
              </a:r>
              <a:endParaRPr lang="en-AU" altLang="en-US" sz="2000"/>
            </a:p>
          </p:txBody>
        </p:sp>
        <p:sp>
          <p:nvSpPr>
            <p:cNvPr id="10" name="Text Box 10">
              <a:extLst>
                <a:ext uri="{FF2B5EF4-FFF2-40B4-BE49-F238E27FC236}">
                  <a16:creationId xmlns:a16="http://schemas.microsoft.com/office/drawing/2014/main" id="{6D63720C-2A72-49C1-AC0D-99C6A0149D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06631" y="1391533"/>
              <a:ext cx="1296987" cy="415925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/>
                <a:t>opcode</a:t>
              </a:r>
              <a:endParaRPr lang="en-AU" altLang="en-US" sz="2000"/>
            </a:p>
          </p:txBody>
        </p:sp>
      </p:grpSp>
    </p:spTree>
    <p:extLst>
      <p:ext uri="{BB962C8B-B14F-4D97-AF65-F5344CB8AC3E}">
        <p14:creationId xmlns:p14="http://schemas.microsoft.com/office/powerpoint/2010/main" val="101405205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1" name="Rectangle 4">
            <a:extLst>
              <a:ext uri="{FF2B5EF4-FFF2-40B4-BE49-F238E27FC236}">
                <a16:creationId xmlns:a16="http://schemas.microsoft.com/office/drawing/2014/main" id="{F9A091ED-3CEF-094D-AC9C-D4E8C525C47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13458" y="440079"/>
            <a:ext cx="8259762" cy="769937"/>
          </a:xfrm>
        </p:spPr>
        <p:txBody>
          <a:bodyPr/>
          <a:lstStyle/>
          <a:p>
            <a:pPr eaLnBrk="1" hangingPunct="1"/>
            <a:r>
              <a:rPr lang="en-AU" altLang="en-US"/>
              <a:t>BEQ Instruction</a:t>
            </a:r>
          </a:p>
        </p:txBody>
      </p:sp>
      <p:pic>
        <p:nvPicPr>
          <p:cNvPr id="58372" name="Picture 1">
            <a:extLst>
              <a:ext uri="{FF2B5EF4-FFF2-40B4-BE49-F238E27FC236}">
                <a16:creationId xmlns:a16="http://schemas.microsoft.com/office/drawing/2014/main" id="{ABA11A73-F54D-684C-BECA-86DF0F58EA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458" y="1609223"/>
            <a:ext cx="8203323" cy="5011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269ACFA-3AB0-46A8-BC2E-DCE09AAA12DF}"/>
              </a:ext>
            </a:extLst>
          </p:cNvPr>
          <p:cNvSpPr txBox="1"/>
          <p:nvPr/>
        </p:nvSpPr>
        <p:spPr>
          <a:xfrm>
            <a:off x="8183444" y="239570"/>
            <a:ext cx="314220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beq</a:t>
            </a:r>
            <a:r>
              <a:rPr lang="en-US" sz="2800">
                <a:latin typeface="Consolas" panose="020B0609020204030204" pitchFamily="49" charset="0"/>
                <a:cs typeface="Consolas" panose="020B0609020204030204" pitchFamily="49" charset="0"/>
              </a:rPr>
              <a:t> x5, x6, 100</a:t>
            </a:r>
          </a:p>
        </p:txBody>
      </p:sp>
      <p:grpSp>
        <p:nvGrpSpPr>
          <p:cNvPr id="5" name="Group 15">
            <a:extLst>
              <a:ext uri="{FF2B5EF4-FFF2-40B4-BE49-F238E27FC236}">
                <a16:creationId xmlns:a16="http://schemas.microsoft.com/office/drawing/2014/main" id="{5EB1F6BF-9077-4D4D-A8A2-29E669623D38}"/>
              </a:ext>
            </a:extLst>
          </p:cNvPr>
          <p:cNvGrpSpPr>
            <a:grpSpLocks/>
          </p:cNvGrpSpPr>
          <p:nvPr/>
        </p:nvGrpSpPr>
        <p:grpSpPr bwMode="auto">
          <a:xfrm>
            <a:off x="5260643" y="900387"/>
            <a:ext cx="6772275" cy="415170"/>
            <a:chOff x="1331640" y="1391533"/>
            <a:chExt cx="6771978" cy="415925"/>
          </a:xfrm>
        </p:grpSpPr>
        <p:sp>
          <p:nvSpPr>
            <p:cNvPr id="6" name="Text Box 5">
              <a:extLst>
                <a:ext uri="{FF2B5EF4-FFF2-40B4-BE49-F238E27FC236}">
                  <a16:creationId xmlns:a16="http://schemas.microsoft.com/office/drawing/2014/main" id="{84BB3C44-A37A-47C6-8CB8-234889D36D3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31640" y="1391533"/>
              <a:ext cx="1296987" cy="415925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/>
                <a:t> </a:t>
              </a:r>
              <a:endParaRPr lang="en-AU" altLang="en-US" sz="2000"/>
            </a:p>
          </p:txBody>
        </p:sp>
        <p:sp>
          <p:nvSpPr>
            <p:cNvPr id="7" name="Text Box 6">
              <a:extLst>
                <a:ext uri="{FF2B5EF4-FFF2-40B4-BE49-F238E27FC236}">
                  <a16:creationId xmlns:a16="http://schemas.microsoft.com/office/drawing/2014/main" id="{760ADC1F-A84C-41DA-855A-D45B3F3A74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28627" y="1391533"/>
              <a:ext cx="1079500" cy="415925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/>
                <a:t>rs2</a:t>
              </a:r>
              <a:endParaRPr lang="en-AU" altLang="en-US" sz="2000"/>
            </a:p>
          </p:txBody>
        </p:sp>
        <p:sp>
          <p:nvSpPr>
            <p:cNvPr id="8" name="Text Box 7">
              <a:extLst>
                <a:ext uri="{FF2B5EF4-FFF2-40B4-BE49-F238E27FC236}">
                  <a16:creationId xmlns:a16="http://schemas.microsoft.com/office/drawing/2014/main" id="{C12549D7-DA96-466F-989F-B6591BE17D5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08127" y="1391533"/>
              <a:ext cx="1079500" cy="415925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/>
                <a:t>rs1</a:t>
              </a:r>
              <a:endParaRPr lang="en-AU" altLang="en-US" sz="2000"/>
            </a:p>
          </p:txBody>
        </p:sp>
        <p:sp>
          <p:nvSpPr>
            <p:cNvPr id="9" name="Text Box 8">
              <a:extLst>
                <a:ext uri="{FF2B5EF4-FFF2-40B4-BE49-F238E27FC236}">
                  <a16:creationId xmlns:a16="http://schemas.microsoft.com/office/drawing/2014/main" id="{8E77C5A6-E471-46EA-A929-842B0C467BF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27131" y="1391533"/>
              <a:ext cx="1079500" cy="415925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/>
                <a:t> </a:t>
              </a:r>
              <a:endParaRPr lang="en-AU" altLang="en-US" sz="2000"/>
            </a:p>
          </p:txBody>
        </p:sp>
        <p:sp>
          <p:nvSpPr>
            <p:cNvPr id="10" name="Text Box 9">
              <a:extLst>
                <a:ext uri="{FF2B5EF4-FFF2-40B4-BE49-F238E27FC236}">
                  <a16:creationId xmlns:a16="http://schemas.microsoft.com/office/drawing/2014/main" id="{F205E82B-E66C-44C8-81B0-CDF531C4E9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89215" y="1391533"/>
              <a:ext cx="936328" cy="415925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/>
                <a:t>funct3</a:t>
              </a:r>
              <a:endParaRPr lang="en-AU" altLang="en-US" sz="2000"/>
            </a:p>
          </p:txBody>
        </p:sp>
        <p:sp>
          <p:nvSpPr>
            <p:cNvPr id="11" name="Text Box 10">
              <a:extLst>
                <a:ext uri="{FF2B5EF4-FFF2-40B4-BE49-F238E27FC236}">
                  <a16:creationId xmlns:a16="http://schemas.microsoft.com/office/drawing/2014/main" id="{90F216E0-D5FD-43F2-9C4C-65821C3A5E7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06631" y="1391533"/>
              <a:ext cx="1296987" cy="415925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/>
                <a:t>opcode</a:t>
              </a:r>
              <a:endParaRPr lang="en-AU" altLang="en-US" sz="2000"/>
            </a:p>
          </p:txBody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E9E60201-9EAA-4DFC-92B1-73803F74F6E8}"/>
              </a:ext>
            </a:extLst>
          </p:cNvPr>
          <p:cNvSpPr/>
          <p:nvPr/>
        </p:nvSpPr>
        <p:spPr>
          <a:xfrm>
            <a:off x="5260643" y="900388"/>
            <a:ext cx="217497" cy="41517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068F2CA-4454-4BC5-B81D-692AF7FAF066}"/>
              </a:ext>
            </a:extLst>
          </p:cNvPr>
          <p:cNvSpPr/>
          <p:nvPr/>
        </p:nvSpPr>
        <p:spPr>
          <a:xfrm>
            <a:off x="5478140" y="900388"/>
            <a:ext cx="1077958" cy="41517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61F5804-B45F-4663-AED5-EEFF45522273}"/>
              </a:ext>
            </a:extLst>
          </p:cNvPr>
          <p:cNvSpPr/>
          <p:nvPr/>
        </p:nvSpPr>
        <p:spPr>
          <a:xfrm>
            <a:off x="10545365" y="900388"/>
            <a:ext cx="190509" cy="41517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5AD7E05-42CE-4013-AA81-947326B8D31D}"/>
              </a:ext>
            </a:extLst>
          </p:cNvPr>
          <p:cNvSpPr/>
          <p:nvPr/>
        </p:nvSpPr>
        <p:spPr>
          <a:xfrm>
            <a:off x="9639748" y="900388"/>
            <a:ext cx="904029" cy="41517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CEDC284E-0563-48C7-A6ED-BD089E53CB51}"/>
                  </a:ext>
                </a:extLst>
              </p14:cNvPr>
              <p14:cNvContentPartPr/>
              <p14:nvPr/>
            </p14:nvContentPartPr>
            <p14:xfrm>
              <a:off x="2568558" y="4426033"/>
              <a:ext cx="360" cy="360"/>
            </p14:xfrm>
          </p:contentPart>
        </mc:Choice>
        <mc:Fallback xmlns=""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CEDC284E-0563-48C7-A6ED-BD089E53CB5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550558" y="4408033"/>
                <a:ext cx="36000" cy="3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1368507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9" name="Rectangle 2">
            <a:extLst>
              <a:ext uri="{FF2B5EF4-FFF2-40B4-BE49-F238E27FC236}">
                <a16:creationId xmlns:a16="http://schemas.microsoft.com/office/drawing/2014/main" id="{3E052A7F-659C-FF4D-A0AB-AAF8B0E7658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Performance Issues</a:t>
            </a:r>
            <a:endParaRPr lang="en-AU" altLang="en-US"/>
          </a:p>
        </p:txBody>
      </p:sp>
      <p:sp>
        <p:nvSpPr>
          <p:cNvPr id="60420" name="Rectangle 3">
            <a:extLst>
              <a:ext uri="{FF2B5EF4-FFF2-40B4-BE49-F238E27FC236}">
                <a16:creationId xmlns:a16="http://schemas.microsoft.com/office/drawing/2014/main" id="{5F092970-AFF1-7D4E-B601-741CD420E99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Longest delay determines clock period</a:t>
            </a:r>
          </a:p>
          <a:p>
            <a:pPr lvl="1" eaLnBrk="1" hangingPunct="1"/>
            <a:r>
              <a:rPr lang="en-US" altLang="en-US"/>
              <a:t>Instruction with “longest” </a:t>
            </a:r>
            <a:r>
              <a:rPr lang="en-US" altLang="en-US" dirty="0"/>
              <a:t>path: load instruction</a:t>
            </a:r>
          </a:p>
          <a:p>
            <a:pPr lvl="1" eaLnBrk="1" hangingPunct="1"/>
            <a:r>
              <a:rPr lang="en-US" altLang="en-US" dirty="0"/>
              <a:t>Instruction memory </a:t>
            </a:r>
            <a:r>
              <a:rPr lang="en-US" altLang="en-US" dirty="0">
                <a:sym typeface="Symbol" pitchFamily="2" charset="2"/>
              </a:rPr>
              <a:t></a:t>
            </a:r>
            <a:r>
              <a:rPr lang="en-US" altLang="en-US" dirty="0"/>
              <a:t> register file </a:t>
            </a:r>
            <a:r>
              <a:rPr lang="en-US" altLang="en-US" dirty="0">
                <a:sym typeface="Symbol" pitchFamily="2" charset="2"/>
              </a:rPr>
              <a:t></a:t>
            </a:r>
            <a:r>
              <a:rPr lang="en-US" altLang="en-US" dirty="0"/>
              <a:t> ALU </a:t>
            </a:r>
            <a:r>
              <a:rPr lang="en-US" altLang="en-US" dirty="0">
                <a:sym typeface="Symbol" pitchFamily="2" charset="2"/>
              </a:rPr>
              <a:t></a:t>
            </a:r>
            <a:r>
              <a:rPr lang="en-US" altLang="en-US" dirty="0"/>
              <a:t> data memory </a:t>
            </a:r>
            <a:r>
              <a:rPr lang="en-US" altLang="en-US" dirty="0">
                <a:sym typeface="Symbol" pitchFamily="2" charset="2"/>
              </a:rPr>
              <a:t></a:t>
            </a:r>
            <a:r>
              <a:rPr lang="en-US" altLang="en-US" dirty="0"/>
              <a:t> register file</a:t>
            </a:r>
          </a:p>
          <a:p>
            <a:pPr eaLnBrk="1" hangingPunct="1"/>
            <a:r>
              <a:rPr lang="en-US" altLang="en-US" dirty="0"/>
              <a:t>Not feasible to vary clock period for different instructions</a:t>
            </a:r>
          </a:p>
          <a:p>
            <a:pPr eaLnBrk="1" hangingPunct="1"/>
            <a:r>
              <a:rPr lang="en-US" altLang="en-US" dirty="0"/>
              <a:t>Next lectures: We will improve performance by pipelining</a:t>
            </a:r>
          </a:p>
        </p:txBody>
      </p:sp>
    </p:spTree>
    <p:extLst>
      <p:ext uri="{BB962C8B-B14F-4D97-AF65-F5344CB8AC3E}">
        <p14:creationId xmlns:p14="http://schemas.microsoft.com/office/powerpoint/2010/main" val="27059408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1313</Words>
  <Application>Microsoft Macintosh PowerPoint</Application>
  <PresentationFormat>Widescreen</PresentationFormat>
  <Paragraphs>457</Paragraphs>
  <Slides>28</Slides>
  <Notes>12</Notes>
  <HiddenSlides>1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6" baseType="lpstr">
      <vt:lpstr>Arial</vt:lpstr>
      <vt:lpstr>Calibri</vt:lpstr>
      <vt:lpstr>Consolas</vt:lpstr>
      <vt:lpstr>Segoe Print</vt:lpstr>
      <vt:lpstr>Symbol</vt:lpstr>
      <vt:lpstr>Times New Roman</vt:lpstr>
      <vt:lpstr>Wingdings</vt:lpstr>
      <vt:lpstr>Office Theme</vt:lpstr>
      <vt:lpstr>Basic Processor Implementation</vt:lpstr>
      <vt:lpstr>What we’ve learnt so far</vt:lpstr>
      <vt:lpstr>Today’s lesson plan</vt:lpstr>
      <vt:lpstr>Our CPU will be based on RISC-V instead of x86</vt:lpstr>
      <vt:lpstr>RISC-V at a high level</vt:lpstr>
      <vt:lpstr>Basic RISC-V instructions</vt:lpstr>
      <vt:lpstr>RISC-V instruction formats</vt:lpstr>
      <vt:lpstr>R-type: arithmetic logic instructions</vt:lpstr>
      <vt:lpstr>I-type: loads and immediate arithmetic</vt:lpstr>
      <vt:lpstr>S-type: stores</vt:lpstr>
      <vt:lpstr>SB-type: conditional branch</vt:lpstr>
      <vt:lpstr>Instruction Execution</vt:lpstr>
      <vt:lpstr>PowerPoint Presentation</vt:lpstr>
      <vt:lpstr>PowerPoint Presentation</vt:lpstr>
      <vt:lpstr>PowerPoint Presentation</vt:lpstr>
      <vt:lpstr>Instruction Execution</vt:lpstr>
      <vt:lpstr>Data path vs. Control</vt:lpstr>
      <vt:lpstr>Building a Datapath</vt:lpstr>
      <vt:lpstr>R-type Instructions</vt:lpstr>
      <vt:lpstr>R-Type/Load/Store Datapath</vt:lpstr>
      <vt:lpstr>Full Datapath</vt:lpstr>
      <vt:lpstr>ALU Control</vt:lpstr>
      <vt:lpstr>ALU Control</vt:lpstr>
      <vt:lpstr>Datapath With Control</vt:lpstr>
      <vt:lpstr>R-Type Inst</vt:lpstr>
      <vt:lpstr>Load Inst</vt:lpstr>
      <vt:lpstr>BEQ Instruction</vt:lpstr>
      <vt:lpstr>Performance Issues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Jinyang Li</dc:creator>
  <cp:lastModifiedBy>Jinyang Li</cp:lastModifiedBy>
  <cp:revision>2</cp:revision>
  <cp:lastPrinted>2019-11-25T17:17:29Z</cp:lastPrinted>
  <dcterms:created xsi:type="dcterms:W3CDTF">2019-11-22T18:57:39Z</dcterms:created>
  <dcterms:modified xsi:type="dcterms:W3CDTF">2026-04-20T17:00:05Z</dcterms:modified>
</cp:coreProperties>
</file>