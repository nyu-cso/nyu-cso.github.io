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webextensions/webextension2.xml" ContentType="application/vnd.ms-office.webextension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1"/>
  </p:notesMasterIdLst>
  <p:handoutMasterIdLst>
    <p:handoutMasterId r:id="rId52"/>
  </p:handoutMasterIdLst>
  <p:sldIdLst>
    <p:sldId id="256" r:id="rId2"/>
    <p:sldId id="1089" r:id="rId3"/>
    <p:sldId id="1202" r:id="rId4"/>
    <p:sldId id="1078" r:id="rId5"/>
    <p:sldId id="1074" r:id="rId6"/>
    <p:sldId id="1075" r:id="rId7"/>
    <p:sldId id="1097" r:id="rId8"/>
    <p:sldId id="1096" r:id="rId9"/>
    <p:sldId id="1094" r:id="rId10"/>
    <p:sldId id="1076" r:id="rId11"/>
    <p:sldId id="1077" r:id="rId12"/>
    <p:sldId id="1079" r:id="rId13"/>
    <p:sldId id="1095" r:id="rId14"/>
    <p:sldId id="1080" r:id="rId15"/>
    <p:sldId id="1081" r:id="rId16"/>
    <p:sldId id="1083" r:id="rId17"/>
    <p:sldId id="1085" r:id="rId18"/>
    <p:sldId id="1087" r:id="rId19"/>
    <p:sldId id="1090" r:id="rId20"/>
    <p:sldId id="1091" r:id="rId21"/>
    <p:sldId id="1088" r:id="rId22"/>
    <p:sldId id="1092" r:id="rId23"/>
    <p:sldId id="984" r:id="rId24"/>
    <p:sldId id="939" r:id="rId25"/>
    <p:sldId id="982" r:id="rId26"/>
    <p:sldId id="983" r:id="rId27"/>
    <p:sldId id="1093" r:id="rId28"/>
    <p:sldId id="1129" r:id="rId29"/>
    <p:sldId id="954" r:id="rId30"/>
    <p:sldId id="1153" r:id="rId31"/>
    <p:sldId id="1025" r:id="rId32"/>
    <p:sldId id="1115" r:id="rId33"/>
    <p:sldId id="1116" r:id="rId34"/>
    <p:sldId id="1118" r:id="rId35"/>
    <p:sldId id="1152" r:id="rId36"/>
    <p:sldId id="1154" r:id="rId37"/>
    <p:sldId id="1161" r:id="rId38"/>
    <p:sldId id="1119" r:id="rId39"/>
    <p:sldId id="1203" r:id="rId40"/>
    <p:sldId id="1120" r:id="rId41"/>
    <p:sldId id="1123" r:id="rId42"/>
    <p:sldId id="1164" r:id="rId43"/>
    <p:sldId id="1131" r:id="rId44"/>
    <p:sldId id="1132" r:id="rId45"/>
    <p:sldId id="1133" r:id="rId46"/>
    <p:sldId id="1134" r:id="rId47"/>
    <p:sldId id="1135" r:id="rId48"/>
    <p:sldId id="1136" r:id="rId49"/>
    <p:sldId id="1201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FCD5B5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1F13C-0F2F-3040-A169-6772F606462C}" v="15" dt="2026-02-04T17:55:52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9" autoAdjust="0"/>
    <p:restoredTop sz="95461" autoAdjust="0"/>
  </p:normalViewPr>
  <p:slideViewPr>
    <p:cSldViewPr snapToGrid="0" snapToObjects="1">
      <p:cViewPr varScale="1">
        <p:scale>
          <a:sx n="117" d="100"/>
          <a:sy n="117" d="100"/>
        </p:scale>
        <p:origin x="57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1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19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72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56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58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90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https://forms.gle/HbKYeKWCCgREpoKm6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6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11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90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39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39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4D2F-0B5C-29EE-5BA7-BD5FBFE1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43531-5C99-3F86-4CE9-247929C03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5671B-8EBB-1839-0BDA-804C6183A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6EEA2-F23A-5609-7DDB-D9B9D1D24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09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50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0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C:</a:t>
            </a:r>
            <a:r>
              <a:rPr lang="zh-CN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 </a:t>
            </a:r>
            <a:r>
              <a:rPr lang="zh-CN" alt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 </a:t>
            </a:r>
            <a:r>
              <a:rPr lang="en-US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Pointers and Arrays</a:t>
            </a:r>
            <a:endParaRPr lang="en-US" sz="4800" b="0" dirty="0">
              <a:solidFill>
                <a:schemeClr val="tx1"/>
              </a:solidFill>
              <a:latin typeface="+mj-lt"/>
              <a:ea typeface="Verdana" pitchFamily="34" charset="0"/>
              <a:cs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8ECD8-5413-4750-8EE7-99A92DCA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we’ve learnt in last lecture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AEB162-C03E-43D2-85C6-98938B5A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87747" cy="4525963"/>
          </a:xfrm>
        </p:spPr>
        <p:txBody>
          <a:bodyPr/>
          <a:lstStyle/>
          <a:p>
            <a:r>
              <a:rPr lang="en-US" dirty="0"/>
              <a:t>C program’s basic organization</a:t>
            </a:r>
          </a:p>
          <a:p>
            <a:pPr lvl="1"/>
            <a:r>
              <a:rPr lang="en-US" dirty="0"/>
              <a:t>*.c vs. *.h files</a:t>
            </a:r>
          </a:p>
          <a:p>
            <a:pPr lvl="1"/>
            <a:r>
              <a:rPr lang="en-US" dirty="0"/>
              <a:t>Compilation workflow and the </a:t>
            </a:r>
            <a:r>
              <a:rPr lang="en-US" i="1" dirty="0"/>
              <a:t>make</a:t>
            </a:r>
            <a:r>
              <a:rPr lang="en-US" dirty="0"/>
              <a:t> tool</a:t>
            </a:r>
          </a:p>
        </p:txBody>
      </p:sp>
    </p:spTree>
    <p:extLst>
      <p:ext uri="{BB962C8B-B14F-4D97-AF65-F5344CB8AC3E}">
        <p14:creationId xmlns:p14="http://schemas.microsoft.com/office/powerpoint/2010/main" val="365770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DD71-7939-8E7D-0135-E40D3625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D0E8D-398E-F0A4-09E8-D8274DC0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Bitwise operators</a:t>
            </a:r>
          </a:p>
          <a:p>
            <a:r>
              <a:rPr lang="en-US" dirty="0"/>
              <a:t>Control flow</a:t>
            </a:r>
          </a:p>
          <a:p>
            <a:r>
              <a:rPr lang="en-US" dirty="0"/>
              <a:t>Pointers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16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BD65-A272-8332-6899-1A434958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82376-517D-901E-7ECC-FFC6FABF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779" y="434046"/>
            <a:ext cx="6172200" cy="857250"/>
          </a:xfrm>
        </p:spPr>
        <p:txBody>
          <a:bodyPr/>
          <a:lstStyle/>
          <a:p>
            <a:r>
              <a:rPr kumimoji="1" lang="en-US" altLang="zh-CN" dirty="0"/>
              <a:t>Bitwise NOT:  ~</a:t>
            </a:r>
            <a:endParaRPr kumimoji="1" lang="zh-CN" altLang="en-US" dirty="0"/>
          </a:p>
        </p:txBody>
      </p:sp>
      <p:sp>
        <p:nvSpPr>
          <p:cNvPr id="18" name="矩形 13">
            <a:extLst>
              <a:ext uri="{FF2B5EF4-FFF2-40B4-BE49-F238E27FC236}">
                <a16:creationId xmlns:a16="http://schemas.microsoft.com/office/drawing/2014/main" id="{55C2F010-AF83-5547-4AEC-E8E875BBE702}"/>
              </a:ext>
            </a:extLst>
          </p:cNvPr>
          <p:cNvSpPr/>
          <p:nvPr/>
        </p:nvSpPr>
        <p:spPr>
          <a:xfrm>
            <a:off x="4656739" y="5532754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( 1 0 0 1 0 1 1 0 )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1FB401-ED12-802A-E991-D7CCC3A16B29}"/>
              </a:ext>
            </a:extLst>
          </p:cNvPr>
          <p:cNvGrpSpPr/>
          <p:nvPr/>
        </p:nvGrpSpPr>
        <p:grpSpPr>
          <a:xfrm>
            <a:off x="1679304" y="4557956"/>
            <a:ext cx="5383863" cy="585483"/>
            <a:chOff x="1679304" y="4557956"/>
            <a:chExt cx="5383863" cy="585483"/>
          </a:xfrm>
        </p:grpSpPr>
        <p:sp>
          <p:nvSpPr>
            <p:cNvPr id="14" name="矩形 9">
              <a:extLst>
                <a:ext uri="{FF2B5EF4-FFF2-40B4-BE49-F238E27FC236}">
                  <a16:creationId xmlns:a16="http://schemas.microsoft.com/office/drawing/2014/main" id="{D74ED2C0-683F-7372-5703-1860AC7CF56E}"/>
                </a:ext>
              </a:extLst>
            </p:cNvPr>
            <p:cNvSpPr/>
            <p:nvPr/>
          </p:nvSpPr>
          <p:spPr>
            <a:xfrm>
              <a:off x="4656739" y="4557956"/>
              <a:ext cx="240642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1 0 1 0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</a:t>
              </a:r>
              <a:endParaRPr lang="zh-CN" altLang="en-US" dirty="0"/>
            </a:p>
          </p:txBody>
        </p:sp>
        <p:sp>
          <p:nvSpPr>
            <p:cNvPr id="15" name="矩形 11">
              <a:extLst>
                <a:ext uri="{FF2B5EF4-FFF2-40B4-BE49-F238E27FC236}">
                  <a16:creationId xmlns:a16="http://schemas.microsoft.com/office/drawing/2014/main" id="{75C68A0A-22C7-8B95-763E-41216DE43D98}"/>
                </a:ext>
              </a:extLst>
            </p:cNvPr>
            <p:cNvSpPr/>
            <p:nvPr/>
          </p:nvSpPr>
          <p:spPr>
            <a:xfrm>
              <a:off x="4373969" y="4577900"/>
              <a:ext cx="37382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~</a:t>
              </a:r>
              <a:endParaRPr lang="zh-CN" altLang="en-US" dirty="0"/>
            </a:p>
          </p:txBody>
        </p:sp>
        <p:cxnSp>
          <p:nvCxnSpPr>
            <p:cNvPr id="17" name="直线连接符 12">
              <a:extLst>
                <a:ext uri="{FF2B5EF4-FFF2-40B4-BE49-F238E27FC236}">
                  <a16:creationId xmlns:a16="http://schemas.microsoft.com/office/drawing/2014/main" id="{0A311134-1DCC-CAFB-1AF0-9C69F9C21C94}"/>
                </a:ext>
              </a:extLst>
            </p:cNvPr>
            <p:cNvCxnSpPr>
              <a:cxnSpLocks/>
            </p:cNvCxnSpPr>
            <p:nvPr/>
          </p:nvCxnSpPr>
          <p:spPr>
            <a:xfrm>
              <a:off x="4373969" y="4970765"/>
              <a:ext cx="2689198" cy="278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424835-B4B3-E571-9DD4-80F0EEA98BFB}"/>
                </a:ext>
              </a:extLst>
            </p:cNvPr>
            <p:cNvSpPr txBox="1"/>
            <p:nvPr/>
          </p:nvSpPr>
          <p:spPr>
            <a:xfrm>
              <a:off x="1679304" y="4727941"/>
              <a:ext cx="181620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dirty="0"/>
                <a:t>result of ~0x69</a:t>
              </a: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C93805-1372-E7E9-D29D-EBBE02EDE561}"/>
              </a:ext>
            </a:extLst>
          </p:cNvPr>
          <p:cNvGraphicFramePr>
            <a:graphicFrameLocks noGrp="1"/>
          </p:cNvGraphicFramePr>
          <p:nvPr/>
        </p:nvGraphicFramePr>
        <p:xfrm>
          <a:off x="3394141" y="2201192"/>
          <a:ext cx="1816204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102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908102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 NOT 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8AC505-1D39-30F2-E682-47E4320618BD}"/>
              </a:ext>
            </a:extLst>
          </p:cNvPr>
          <p:cNvCxnSpPr>
            <a:cxnSpLocks/>
            <a:stCxn id="12" idx="0"/>
            <a:endCxn id="12" idx="2"/>
          </p:cNvCxnSpPr>
          <p:nvPr/>
        </p:nvCxnSpPr>
        <p:spPr>
          <a:xfrm>
            <a:off x="4302243" y="2201192"/>
            <a:ext cx="0" cy="102870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9177B6-ED0D-C8E6-D7EC-D73EC17CE10F}"/>
              </a:ext>
            </a:extLst>
          </p:cNvPr>
          <p:cNvSpPr txBox="1"/>
          <p:nvPr/>
        </p:nvSpPr>
        <p:spPr>
          <a:xfrm>
            <a:off x="1629556" y="3432897"/>
            <a:ext cx="506600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~ applies NOT bitwise to two integers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DE883-2B4C-DB9B-4AD5-F6E8B65F5F2B}"/>
              </a:ext>
            </a:extLst>
          </p:cNvPr>
          <p:cNvSpPr txBox="1"/>
          <p:nvPr/>
        </p:nvSpPr>
        <p:spPr>
          <a:xfrm>
            <a:off x="2265496" y="1467024"/>
            <a:ext cx="4216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Truth table (of </a:t>
            </a:r>
            <a:r>
              <a:rPr lang="en-US" sz="2000" dirty="0" err="1"/>
              <a:t>boolean</a:t>
            </a:r>
            <a:r>
              <a:rPr lang="en-US" sz="2000" dirty="0"/>
              <a:t> function NOT)</a:t>
            </a:r>
          </a:p>
        </p:txBody>
      </p:sp>
    </p:spTree>
    <p:extLst>
      <p:ext uri="{BB962C8B-B14F-4D97-AF65-F5344CB8AC3E}">
        <p14:creationId xmlns:p14="http://schemas.microsoft.com/office/powerpoint/2010/main" val="267091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AND: &amp;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73153" y="4930646"/>
            <a:ext cx="2406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1 0 1 0 0 1 )</a:t>
            </a:r>
            <a:r>
              <a:rPr kumimoji="1" lang="en-US" altLang="zh-CN" baseline="-25000" dirty="0">
                <a:latin typeface="Verdana"/>
                <a:cs typeface="Verdana"/>
              </a:rPr>
              <a:t>2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473154" y="5279167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0 1 0 1 0 1 )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190384" y="5296804"/>
            <a:ext cx="352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&amp;</a:t>
            </a:r>
            <a:endParaRPr lang="zh-CN" altLang="en-US" dirty="0"/>
          </a:p>
        </p:txBody>
      </p:sp>
      <p:cxnSp>
        <p:nvCxnSpPr>
          <p:cNvPr id="13" name="直线连接符 12"/>
          <p:cNvCxnSpPr/>
          <p:nvPr/>
        </p:nvCxnSpPr>
        <p:spPr>
          <a:xfrm>
            <a:off x="4190384" y="5689669"/>
            <a:ext cx="26331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473154" y="6150845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0 0 0 0 0 1 )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375313" y="5429208"/>
            <a:ext cx="2563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Result of 0x69 &amp; 0x55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CCB3A8-E861-3543-9963-B406924A73F8}"/>
              </a:ext>
            </a:extLst>
          </p:cNvPr>
          <p:cNvGraphicFramePr>
            <a:graphicFrameLocks noGrp="1"/>
          </p:cNvGraphicFramePr>
          <p:nvPr/>
        </p:nvGraphicFramePr>
        <p:xfrm>
          <a:off x="2735748" y="1939231"/>
          <a:ext cx="2159714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289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96206722"/>
                    </a:ext>
                  </a:extLst>
                </a:gridCol>
                <a:gridCol w="982825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x AND 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7775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7718630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4143BC-A237-404E-84BA-57E5C567F968}"/>
              </a:ext>
            </a:extLst>
          </p:cNvPr>
          <p:cNvCxnSpPr/>
          <p:nvPr/>
        </p:nvCxnSpPr>
        <p:spPr>
          <a:xfrm>
            <a:off x="3924288" y="1864689"/>
            <a:ext cx="0" cy="183373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859E130-FAA0-4DC8-ACC7-4C4439DCB4FE}"/>
              </a:ext>
            </a:extLst>
          </p:cNvPr>
          <p:cNvSpPr txBox="1"/>
          <p:nvPr/>
        </p:nvSpPr>
        <p:spPr>
          <a:xfrm>
            <a:off x="2258402" y="1427308"/>
            <a:ext cx="4216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Truth table (of </a:t>
            </a:r>
            <a:r>
              <a:rPr lang="en-US" sz="2000" dirty="0" err="1"/>
              <a:t>boolean</a:t>
            </a:r>
            <a:r>
              <a:rPr lang="en-US" sz="2000" dirty="0"/>
              <a:t> function AND)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8A7F5C-6D59-4E57-8D21-90CFD97D4F31}"/>
              </a:ext>
            </a:extLst>
          </p:cNvPr>
          <p:cNvGrpSpPr/>
          <p:nvPr/>
        </p:nvGrpSpPr>
        <p:grpSpPr>
          <a:xfrm>
            <a:off x="395676" y="2338903"/>
            <a:ext cx="2150964" cy="1314828"/>
            <a:chOff x="395676" y="2494384"/>
            <a:chExt cx="2150964" cy="1314828"/>
          </a:xfrm>
        </p:grpSpPr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979720A3-AA75-4FFB-BA1C-D34C03F594F4}"/>
                </a:ext>
              </a:extLst>
            </p:cNvPr>
            <p:cNvSpPr/>
            <p:nvPr/>
          </p:nvSpPr>
          <p:spPr>
            <a:xfrm>
              <a:off x="2168430" y="2494384"/>
              <a:ext cx="378210" cy="131482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3CEFCA-A5DF-4312-9F3C-137A41D3A1E6}"/>
                </a:ext>
              </a:extLst>
            </p:cNvPr>
            <p:cNvSpPr txBox="1"/>
            <p:nvPr/>
          </p:nvSpPr>
          <p:spPr>
            <a:xfrm>
              <a:off x="395676" y="2551633"/>
              <a:ext cx="16782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How many rows if function has n </a:t>
              </a:r>
              <a:r>
                <a:rPr lang="en-US" dirty="0" err="1"/>
                <a:t>boolean</a:t>
              </a:r>
              <a:r>
                <a:rPr lang="en-US" dirty="0"/>
                <a:t> (aka 1-bit) inputs?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F809A93-447F-4530-8B61-AF3B7CB8E38F}"/>
              </a:ext>
            </a:extLst>
          </p:cNvPr>
          <p:cNvSpPr txBox="1"/>
          <p:nvPr/>
        </p:nvSpPr>
        <p:spPr>
          <a:xfrm>
            <a:off x="522514" y="3595243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n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F9E726-13F6-460D-813C-99F45DE402C7}"/>
              </a:ext>
            </a:extLst>
          </p:cNvPr>
          <p:cNvSpPr txBox="1"/>
          <p:nvPr/>
        </p:nvSpPr>
        <p:spPr>
          <a:xfrm>
            <a:off x="1425076" y="4239995"/>
            <a:ext cx="513057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&amp; applies AND bitwise to two integers</a:t>
            </a:r>
          </a:p>
        </p:txBody>
      </p:sp>
    </p:spTree>
    <p:extLst>
      <p:ext uri="{BB962C8B-B14F-4D97-AF65-F5344CB8AC3E}">
        <p14:creationId xmlns:p14="http://schemas.microsoft.com/office/powerpoint/2010/main" val="105964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5" grpId="0"/>
      <p:bldP spid="14" grpId="0"/>
      <p:bldP spid="18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&amp;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2057401"/>
            <a:ext cx="6172200" cy="1048545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&amp; is often used to mask off bits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0 = 0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1 = b</a:t>
            </a:r>
          </a:p>
        </p:txBody>
      </p:sp>
      <p:sp>
        <p:nvSpPr>
          <p:cNvPr id="14" name="矩形 3"/>
          <p:cNvSpPr/>
          <p:nvPr/>
        </p:nvSpPr>
        <p:spPr>
          <a:xfrm>
            <a:off x="1744880" y="3680140"/>
            <a:ext cx="3701763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clear_msb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return ____________;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DC643E-BA3B-47A1-95BD-D513F1D4CB64}"/>
              </a:ext>
            </a:extLst>
          </p:cNvPr>
          <p:cNvCxnSpPr/>
          <p:nvPr/>
        </p:nvCxnSpPr>
        <p:spPr>
          <a:xfrm flipV="1">
            <a:off x="1433632" y="2673415"/>
            <a:ext cx="582413" cy="15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27B13C-2ADD-4552-8927-4D53A3930EDE}"/>
              </a:ext>
            </a:extLst>
          </p:cNvPr>
          <p:cNvSpPr txBox="1"/>
          <p:nvPr/>
        </p:nvSpPr>
        <p:spPr>
          <a:xfrm>
            <a:off x="713370" y="2774574"/>
            <a:ext cx="9380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b is any bit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620901-728E-4A7D-B17B-DCFA565C4B02}"/>
              </a:ext>
            </a:extLst>
          </p:cNvPr>
          <p:cNvSpPr/>
          <p:nvPr/>
        </p:nvSpPr>
        <p:spPr>
          <a:xfrm>
            <a:off x="3005114" y="2394213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27ADC4-2CFE-4C20-9A35-EB3BCB33B020}"/>
              </a:ext>
            </a:extLst>
          </p:cNvPr>
          <p:cNvSpPr/>
          <p:nvPr/>
        </p:nvSpPr>
        <p:spPr>
          <a:xfrm>
            <a:off x="3005114" y="2734680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190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B21E73DF-B829-BAC4-3D62-FD4ECD89F2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9024730" cy="666584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B21E73DF-B829-BAC4-3D62-FD4ECD89F2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9024730" cy="66658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655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196046-F65F-2524-5FD0-7EAE22CC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6A6CA-FDBD-655D-A684-74002DCD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&amp;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9C6C4-2BCB-A3DD-C605-7B04761C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2057401"/>
            <a:ext cx="6172200" cy="1048545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&amp; is often used to mask off bits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0 = 0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1 = b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D0EB19F3-67F2-2408-2AB9-6FF314984904}"/>
              </a:ext>
            </a:extLst>
          </p:cNvPr>
          <p:cNvSpPr/>
          <p:nvPr/>
        </p:nvSpPr>
        <p:spPr>
          <a:xfrm>
            <a:off x="1744880" y="3680140"/>
            <a:ext cx="4109901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clear_msb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B1641475-B362-FDF0-8EA4-C957323EE5FC}"/>
              </a:ext>
            </a:extLst>
          </p:cNvPr>
          <p:cNvSpPr/>
          <p:nvPr/>
        </p:nvSpPr>
        <p:spPr>
          <a:xfrm>
            <a:off x="2079650" y="4164888"/>
            <a:ext cx="41099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&amp; 0x7fffffff;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25C462-A197-BF43-C03A-8BAB8868D672}"/>
              </a:ext>
            </a:extLst>
          </p:cNvPr>
          <p:cNvCxnSpPr/>
          <p:nvPr/>
        </p:nvCxnSpPr>
        <p:spPr>
          <a:xfrm flipV="1">
            <a:off x="1433632" y="2673415"/>
            <a:ext cx="582413" cy="15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A6F56B-677B-A91E-43EE-34EC24497586}"/>
              </a:ext>
            </a:extLst>
          </p:cNvPr>
          <p:cNvSpPr txBox="1"/>
          <p:nvPr/>
        </p:nvSpPr>
        <p:spPr>
          <a:xfrm>
            <a:off x="713370" y="2774574"/>
            <a:ext cx="9380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b is any bit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4631C4-CE09-F761-341C-181FBFAEA089}"/>
              </a:ext>
            </a:extLst>
          </p:cNvPr>
          <p:cNvSpPr/>
          <p:nvPr/>
        </p:nvSpPr>
        <p:spPr>
          <a:xfrm>
            <a:off x="3005114" y="2394213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356C2B-A95B-CF25-078D-52DA186D76ED}"/>
              </a:ext>
            </a:extLst>
          </p:cNvPr>
          <p:cNvSpPr/>
          <p:nvPr/>
        </p:nvSpPr>
        <p:spPr>
          <a:xfrm>
            <a:off x="3005114" y="2734680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658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6" grpId="0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44E5-D4EF-ACF4-E096-8AA9B57A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F3AB2-0776-A721-D2B5-0881F4A1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&amp;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74CF28-F36D-7A19-E4C0-785BF65FF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16" y="1201570"/>
            <a:ext cx="8488017" cy="484747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Verdana"/>
                <a:cs typeface="Verdana"/>
              </a:rPr>
              <a:t>Suppose a file’s permission is encoded in 3 bits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25B19D25-DC67-E5DC-8ABF-4AD90801A3A7}"/>
              </a:ext>
            </a:extLst>
          </p:cNvPr>
          <p:cNvSpPr/>
          <p:nvPr/>
        </p:nvSpPr>
        <p:spPr>
          <a:xfrm>
            <a:off x="1136084" y="3423555"/>
            <a:ext cx="7156507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  <a:r>
              <a:rPr lang="en-US" altLang="zh-CN" sz="2000" dirty="0" err="1">
                <a:latin typeface="Consolas"/>
                <a:cs typeface="Consolas"/>
              </a:rPr>
              <a:t>check_write_permission</a:t>
            </a:r>
            <a:r>
              <a:rPr lang="en-US" altLang="zh-CN" sz="2000" dirty="0">
                <a:latin typeface="Consolas"/>
                <a:cs typeface="Consolas"/>
              </a:rPr>
              <a:t>(char perm)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if (   ???           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    </a:t>
            </a:r>
            <a:r>
              <a:rPr lang="en-US" altLang="zh-CN" sz="2000" dirty="0" err="1">
                <a:latin typeface="Consolas"/>
                <a:cs typeface="Consolas"/>
              </a:rPr>
              <a:t>printf</a:t>
            </a:r>
            <a:r>
              <a:rPr lang="en-US" altLang="zh-CN" sz="2000" dirty="0">
                <a:latin typeface="Consolas"/>
                <a:cs typeface="Consolas"/>
              </a:rPr>
              <a:t>("Has write permission\n");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} else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    </a:t>
            </a:r>
            <a:r>
              <a:rPr lang="en-US" altLang="zh-CN" sz="2000" dirty="0" err="1">
                <a:latin typeface="Consolas"/>
                <a:cs typeface="Consolas"/>
              </a:rPr>
              <a:t>printf</a:t>
            </a:r>
            <a:r>
              <a:rPr lang="en-US" altLang="zh-CN" sz="2000" dirty="0">
                <a:latin typeface="Consolas"/>
                <a:cs typeface="Consolas"/>
              </a:rPr>
              <a:t>("No write permission\n");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}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A79F81-4338-A874-A558-B4B86B7ADA49}"/>
              </a:ext>
            </a:extLst>
          </p:cNvPr>
          <p:cNvGraphicFramePr>
            <a:graphicFrameLocks noGrp="1"/>
          </p:cNvGraphicFramePr>
          <p:nvPr/>
        </p:nvGraphicFramePr>
        <p:xfrm>
          <a:off x="2474225" y="1910911"/>
          <a:ext cx="3543816" cy="57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7">
                  <a:extLst>
                    <a:ext uri="{9D8B030D-6E8A-4147-A177-3AD203B41FA5}">
                      <a16:colId xmlns:a16="http://schemas.microsoft.com/office/drawing/2014/main" val="4267882219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3428289288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3642483824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706746633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1731921975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1483671498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2356139515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254985928"/>
                    </a:ext>
                  </a:extLst>
                </a:gridCol>
              </a:tblGrid>
              <a:tr h="5741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24854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29C10E8-A21D-BC65-8942-BE70B9214556}"/>
              </a:ext>
            </a:extLst>
          </p:cNvPr>
          <p:cNvSpPr txBox="1"/>
          <p:nvPr/>
        </p:nvSpPr>
        <p:spPr>
          <a:xfrm>
            <a:off x="5603139" y="1495591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45A8E-9FE9-EEDA-4305-F2CEDAD35116}"/>
              </a:ext>
            </a:extLst>
          </p:cNvPr>
          <p:cNvSpPr txBox="1"/>
          <p:nvPr/>
        </p:nvSpPr>
        <p:spPr>
          <a:xfrm>
            <a:off x="5178083" y="1514269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DD3CA-26C5-BDDE-57B4-732EF113C101}"/>
              </a:ext>
            </a:extLst>
          </p:cNvPr>
          <p:cNvSpPr txBox="1"/>
          <p:nvPr/>
        </p:nvSpPr>
        <p:spPr>
          <a:xfrm>
            <a:off x="4681125" y="1520897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C0E2ED-F919-9AE9-F3D3-A1B08D0CDD03}"/>
              </a:ext>
            </a:extLst>
          </p:cNvPr>
          <p:cNvSpPr txBox="1"/>
          <p:nvPr/>
        </p:nvSpPr>
        <p:spPr>
          <a:xfrm>
            <a:off x="4289283" y="1492311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8CF1F-AA27-4B23-9420-B185B46F6A4A}"/>
              </a:ext>
            </a:extLst>
          </p:cNvPr>
          <p:cNvSpPr txBox="1"/>
          <p:nvPr/>
        </p:nvSpPr>
        <p:spPr>
          <a:xfrm>
            <a:off x="3846103" y="1471412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39C8AE-F310-0E35-A38F-F53AE5F316CD}"/>
              </a:ext>
            </a:extLst>
          </p:cNvPr>
          <p:cNvSpPr txBox="1"/>
          <p:nvPr/>
        </p:nvSpPr>
        <p:spPr>
          <a:xfrm>
            <a:off x="3422166" y="1474513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8D3443-2616-688D-129B-F51C4118E89E}"/>
              </a:ext>
            </a:extLst>
          </p:cNvPr>
          <p:cNvSpPr txBox="1"/>
          <p:nvPr/>
        </p:nvSpPr>
        <p:spPr>
          <a:xfrm>
            <a:off x="2918943" y="1495412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227004-BBBE-7EFD-6CFB-6EA6CB6DA783}"/>
              </a:ext>
            </a:extLst>
          </p:cNvPr>
          <p:cNvSpPr txBox="1"/>
          <p:nvPr/>
        </p:nvSpPr>
        <p:spPr>
          <a:xfrm>
            <a:off x="2474225" y="1508046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6B48F0-FBBF-BEDC-2137-256344F60E7E}"/>
              </a:ext>
            </a:extLst>
          </p:cNvPr>
          <p:cNvSpPr txBox="1"/>
          <p:nvPr/>
        </p:nvSpPr>
        <p:spPr>
          <a:xfrm>
            <a:off x="6412015" y="2351161"/>
            <a:ext cx="148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X:executable</a:t>
            </a:r>
            <a:r>
              <a:rPr lang="en-US" dirty="0"/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9E40C4-CFCE-A4D0-B008-4246A4B04580}"/>
              </a:ext>
            </a:extLst>
          </p:cNvPr>
          <p:cNvSpPr txBox="1"/>
          <p:nvPr/>
        </p:nvSpPr>
        <p:spPr>
          <a:xfrm>
            <a:off x="6412015" y="2720493"/>
            <a:ext cx="1332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W:writable</a:t>
            </a:r>
            <a:r>
              <a:rPr lang="en-US" dirty="0"/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5F6285-E723-98B7-4184-FDAD5DB09299}"/>
              </a:ext>
            </a:extLst>
          </p:cNvPr>
          <p:cNvSpPr txBox="1"/>
          <p:nvPr/>
        </p:nvSpPr>
        <p:spPr>
          <a:xfrm>
            <a:off x="6425736" y="3098843"/>
            <a:ext cx="1305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R:readable</a:t>
            </a:r>
            <a:r>
              <a:rPr lang="en-US" dirty="0"/>
              <a:t>?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51D2B7A7-80DF-2AF2-5AA6-2377C2E0A8B9}"/>
              </a:ext>
            </a:extLst>
          </p:cNvPr>
          <p:cNvSpPr/>
          <p:nvPr/>
        </p:nvSpPr>
        <p:spPr>
          <a:xfrm>
            <a:off x="5791200" y="2504660"/>
            <a:ext cx="662609" cy="148373"/>
          </a:xfrm>
          <a:custGeom>
            <a:avLst/>
            <a:gdLst>
              <a:gd name="csX0" fmla="*/ 662609 w 662609"/>
              <a:gd name="csY0" fmla="*/ 79513 h 148373"/>
              <a:gd name="csX1" fmla="*/ 238539 w 662609"/>
              <a:gd name="csY1" fmla="*/ 145774 h 148373"/>
              <a:gd name="csX2" fmla="*/ 0 w 662609"/>
              <a:gd name="csY2" fmla="*/ 0 h 148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62609" h="148373">
                <a:moveTo>
                  <a:pt x="662609" y="79513"/>
                </a:moveTo>
                <a:cubicBezTo>
                  <a:pt x="505791" y="119269"/>
                  <a:pt x="348974" y="159026"/>
                  <a:pt x="238539" y="145774"/>
                </a:cubicBezTo>
                <a:cubicBezTo>
                  <a:pt x="128104" y="132522"/>
                  <a:pt x="64052" y="66261"/>
                  <a:pt x="0" y="0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8604A54-90A2-7DE9-F829-0B2531A43F48}"/>
              </a:ext>
            </a:extLst>
          </p:cNvPr>
          <p:cNvSpPr/>
          <p:nvPr/>
        </p:nvSpPr>
        <p:spPr>
          <a:xfrm>
            <a:off x="5367130" y="2584173"/>
            <a:ext cx="1073427" cy="393018"/>
          </a:xfrm>
          <a:custGeom>
            <a:avLst/>
            <a:gdLst>
              <a:gd name="csX0" fmla="*/ 1073427 w 1073427"/>
              <a:gd name="csY0" fmla="*/ 318052 h 393018"/>
              <a:gd name="csX1" fmla="*/ 331305 w 1073427"/>
              <a:gd name="csY1" fmla="*/ 371061 h 393018"/>
              <a:gd name="csX2" fmla="*/ 0 w 1073427"/>
              <a:gd name="csY2" fmla="*/ 0 h 393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73427" h="393018">
                <a:moveTo>
                  <a:pt x="1073427" y="318052"/>
                </a:moveTo>
                <a:cubicBezTo>
                  <a:pt x="791818" y="371061"/>
                  <a:pt x="510209" y="424070"/>
                  <a:pt x="331305" y="371061"/>
                </a:cubicBezTo>
                <a:cubicBezTo>
                  <a:pt x="152401" y="318052"/>
                  <a:pt x="76200" y="159026"/>
                  <a:pt x="0" y="0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7435538-03E7-138B-4DD5-4C9A7228C17C}"/>
              </a:ext>
            </a:extLst>
          </p:cNvPr>
          <p:cNvSpPr/>
          <p:nvPr/>
        </p:nvSpPr>
        <p:spPr>
          <a:xfrm>
            <a:off x="4916557" y="2623929"/>
            <a:ext cx="1550504" cy="730852"/>
          </a:xfrm>
          <a:custGeom>
            <a:avLst/>
            <a:gdLst>
              <a:gd name="csX0" fmla="*/ 1550504 w 1550504"/>
              <a:gd name="csY0" fmla="*/ 675861 h 730852"/>
              <a:gd name="csX1" fmla="*/ 291547 w 1550504"/>
              <a:gd name="csY1" fmla="*/ 662609 h 730852"/>
              <a:gd name="csX2" fmla="*/ 0 w 1550504"/>
              <a:gd name="csY2" fmla="*/ 0 h 7308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50504" h="730852">
                <a:moveTo>
                  <a:pt x="1550504" y="675861"/>
                </a:moveTo>
                <a:cubicBezTo>
                  <a:pt x="1050234" y="725556"/>
                  <a:pt x="549964" y="775252"/>
                  <a:pt x="291547" y="662609"/>
                </a:cubicBezTo>
                <a:cubicBezTo>
                  <a:pt x="33130" y="549966"/>
                  <a:pt x="16565" y="274983"/>
                  <a:pt x="0" y="0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D90E1B-2FFD-6537-993C-FC4A97CEBB98}"/>
              </a:ext>
            </a:extLst>
          </p:cNvPr>
          <p:cNvSpPr txBox="1"/>
          <p:nvPr/>
        </p:nvSpPr>
        <p:spPr>
          <a:xfrm>
            <a:off x="2229830" y="3794026"/>
            <a:ext cx="182880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 &amp; 0x02</a:t>
            </a:r>
          </a:p>
        </p:txBody>
      </p:sp>
      <p:sp>
        <p:nvSpPr>
          <p:cNvPr id="31" name="矩形 3">
            <a:extLst>
              <a:ext uri="{FF2B5EF4-FFF2-40B4-BE49-F238E27FC236}">
                <a16:creationId xmlns:a16="http://schemas.microsoft.com/office/drawing/2014/main" id="{6A3F8E75-FCFF-D296-D928-6609653778A5}"/>
              </a:ext>
            </a:extLst>
          </p:cNvPr>
          <p:cNvSpPr/>
          <p:nvPr/>
        </p:nvSpPr>
        <p:spPr>
          <a:xfrm>
            <a:off x="1147299" y="5796171"/>
            <a:ext cx="7156507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char </a:t>
            </a:r>
            <a:r>
              <a:rPr lang="en-US" altLang="zh-CN" sz="2000" dirty="0" err="1">
                <a:latin typeface="Consolas"/>
                <a:cs typeface="Consolas"/>
              </a:rPr>
              <a:t>clear_write_permission</a:t>
            </a:r>
            <a:r>
              <a:rPr lang="en-US" altLang="zh-CN" sz="2000" dirty="0">
                <a:latin typeface="Consolas"/>
                <a:cs typeface="Consolas"/>
              </a:rPr>
              <a:t>(char perm)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return ??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58CD1B-FD41-1944-0557-9F8455D7EBD0}"/>
              </a:ext>
            </a:extLst>
          </p:cNvPr>
          <p:cNvSpPr txBox="1"/>
          <p:nvPr/>
        </p:nvSpPr>
        <p:spPr>
          <a:xfrm>
            <a:off x="2659758" y="6166470"/>
            <a:ext cx="182880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 &amp; ~0x02</a:t>
            </a:r>
          </a:p>
        </p:txBody>
      </p:sp>
    </p:spTree>
    <p:extLst>
      <p:ext uri="{BB962C8B-B14F-4D97-AF65-F5344CB8AC3E}">
        <p14:creationId xmlns:p14="http://schemas.microsoft.com/office/powerpoint/2010/main" val="25926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OR: |</a:t>
            </a:r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651412" y="5532254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1 1 1 1 0 1 )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08D6F2-FF78-4B1F-A2B8-BB2F67412DFF}"/>
              </a:ext>
            </a:extLst>
          </p:cNvPr>
          <p:cNvGrpSpPr/>
          <p:nvPr/>
        </p:nvGrpSpPr>
        <p:grpSpPr>
          <a:xfrm>
            <a:off x="1491991" y="4302988"/>
            <a:ext cx="5647603" cy="873142"/>
            <a:chOff x="1491991" y="4302988"/>
            <a:chExt cx="5647603" cy="873142"/>
          </a:xfrm>
        </p:grpSpPr>
        <p:sp>
          <p:nvSpPr>
            <p:cNvPr id="10" name="矩形 9"/>
            <p:cNvSpPr/>
            <p:nvPr/>
          </p:nvSpPr>
          <p:spPr>
            <a:xfrm>
              <a:off x="4678663" y="4302988"/>
              <a:ext cx="24064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1 0 1 0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4678664" y="4651509"/>
              <a:ext cx="24609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0 1 0 1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 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395893" y="4669146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|</a:t>
              </a:r>
              <a:endParaRPr lang="zh-CN" altLang="en-US" dirty="0"/>
            </a:p>
          </p:txBody>
        </p:sp>
        <p:cxnSp>
          <p:nvCxnSpPr>
            <p:cNvPr id="13" name="直线连接符 12"/>
            <p:cNvCxnSpPr/>
            <p:nvPr/>
          </p:nvCxnSpPr>
          <p:spPr>
            <a:xfrm>
              <a:off x="4395894" y="5062011"/>
              <a:ext cx="26331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491991" y="4760632"/>
              <a:ext cx="250267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Result of 0x69 | 0x55</a:t>
              </a:r>
            </a:p>
          </p:txBody>
        </p: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7993FD2-4304-204A-974D-C513784F0922}"/>
              </a:ext>
            </a:extLst>
          </p:cNvPr>
          <p:cNvGraphicFramePr>
            <a:graphicFrameLocks noGrp="1"/>
          </p:cNvGraphicFramePr>
          <p:nvPr/>
        </p:nvGraphicFramePr>
        <p:xfrm>
          <a:off x="2735747" y="1667864"/>
          <a:ext cx="2221917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231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647231">
                  <a:extLst>
                    <a:ext uri="{9D8B030D-6E8A-4147-A177-3AD203B41FA5}">
                      <a16:colId xmlns:a16="http://schemas.microsoft.com/office/drawing/2014/main" val="2396206722"/>
                    </a:ext>
                  </a:extLst>
                </a:gridCol>
                <a:gridCol w="927455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x OR 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7775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7718630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1B628F-90B9-8F4B-9758-5083E752F6EE}"/>
              </a:ext>
            </a:extLst>
          </p:cNvPr>
          <p:cNvCxnSpPr/>
          <p:nvPr/>
        </p:nvCxnSpPr>
        <p:spPr>
          <a:xfrm>
            <a:off x="3994664" y="1593322"/>
            <a:ext cx="0" cy="183373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F0ED8F-1D39-46CE-B2C3-66EC3081D97B}"/>
              </a:ext>
            </a:extLst>
          </p:cNvPr>
          <p:cNvSpPr txBox="1"/>
          <p:nvPr/>
        </p:nvSpPr>
        <p:spPr>
          <a:xfrm>
            <a:off x="1491991" y="3661514"/>
            <a:ext cx="491256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| applies OR bitwise to two integers</a:t>
            </a:r>
          </a:p>
        </p:txBody>
      </p:sp>
    </p:spTree>
    <p:extLst>
      <p:ext uri="{BB962C8B-B14F-4D97-AF65-F5344CB8AC3E}">
        <p14:creationId xmlns:p14="http://schemas.microsoft.com/office/powerpoint/2010/main" val="263187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|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2057401"/>
            <a:ext cx="6172200" cy="1048545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| can be used to turn some bits on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| 1 = 1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| 0 = b</a:t>
            </a: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12" name="矩形 3"/>
          <p:cNvSpPr/>
          <p:nvPr/>
        </p:nvSpPr>
        <p:spPr>
          <a:xfrm>
            <a:off x="1744880" y="3680140"/>
            <a:ext cx="61722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char </a:t>
            </a:r>
            <a:r>
              <a:rPr lang="en-US" altLang="zh-CN" sz="2100" dirty="0" err="1">
                <a:latin typeface="Consolas"/>
                <a:cs typeface="Consolas"/>
              </a:rPr>
              <a:t>set_write_permission</a:t>
            </a:r>
            <a:r>
              <a:rPr lang="en-US" altLang="zh-CN" sz="2100" dirty="0">
                <a:latin typeface="Consolas"/>
                <a:cs typeface="Consolas"/>
              </a:rPr>
              <a:t>(char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3" name="矩形 3"/>
          <p:cNvSpPr/>
          <p:nvPr/>
        </p:nvSpPr>
        <p:spPr>
          <a:xfrm>
            <a:off x="2183038" y="4204117"/>
            <a:ext cx="41099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| 0x02;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08613C-5221-4886-910B-CFEE3950C336}"/>
              </a:ext>
            </a:extLst>
          </p:cNvPr>
          <p:cNvSpPr/>
          <p:nvPr/>
        </p:nvSpPr>
        <p:spPr>
          <a:xfrm>
            <a:off x="2953421" y="2382567"/>
            <a:ext cx="640998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A7AF2D-43B1-4F31-B534-5DD71A95632E}"/>
              </a:ext>
            </a:extLst>
          </p:cNvPr>
          <p:cNvSpPr/>
          <p:nvPr/>
        </p:nvSpPr>
        <p:spPr>
          <a:xfrm>
            <a:off x="2953421" y="2740646"/>
            <a:ext cx="640998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7673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XOR: ^</a:t>
            </a:r>
            <a:endParaRPr kumimoji="1"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F081AF-8F8A-47FA-AC6F-24976984FEB4}"/>
              </a:ext>
            </a:extLst>
          </p:cNvPr>
          <p:cNvGrpSpPr/>
          <p:nvPr/>
        </p:nvGrpSpPr>
        <p:grpSpPr>
          <a:xfrm>
            <a:off x="1673099" y="4585725"/>
            <a:ext cx="5302698" cy="759023"/>
            <a:chOff x="1673099" y="4585725"/>
            <a:chExt cx="5302698" cy="759023"/>
          </a:xfrm>
        </p:grpSpPr>
        <p:sp>
          <p:nvSpPr>
            <p:cNvPr id="15" name="TextBox 14"/>
            <p:cNvSpPr txBox="1"/>
            <p:nvPr/>
          </p:nvSpPr>
          <p:spPr>
            <a:xfrm>
              <a:off x="1673099" y="4794176"/>
              <a:ext cx="234198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result of 0x69^0x55</a:t>
              </a:r>
            </a:p>
          </p:txBody>
        </p:sp>
        <p:sp>
          <p:nvSpPr>
            <p:cNvPr id="17" name="矩形 9"/>
            <p:cNvSpPr/>
            <p:nvPr/>
          </p:nvSpPr>
          <p:spPr>
            <a:xfrm>
              <a:off x="4514867" y="4585725"/>
              <a:ext cx="24064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1 0 1 0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</a:t>
              </a:r>
              <a:endParaRPr lang="zh-CN" altLang="en-US" dirty="0"/>
            </a:p>
          </p:txBody>
        </p:sp>
        <p:sp>
          <p:nvSpPr>
            <p:cNvPr id="18" name="矩形 10"/>
            <p:cNvSpPr/>
            <p:nvPr/>
          </p:nvSpPr>
          <p:spPr>
            <a:xfrm>
              <a:off x="4514867" y="4934246"/>
              <a:ext cx="24609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0 1 0 1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 </a:t>
              </a:r>
              <a:endParaRPr lang="zh-CN" altLang="en-US" dirty="0"/>
            </a:p>
          </p:txBody>
        </p:sp>
        <p:sp>
          <p:nvSpPr>
            <p:cNvPr id="19" name="矩形 11"/>
            <p:cNvSpPr/>
            <p:nvPr/>
          </p:nvSpPr>
          <p:spPr>
            <a:xfrm>
              <a:off x="4232097" y="4951883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^</a:t>
              </a:r>
              <a:endParaRPr lang="zh-CN" altLang="en-US" dirty="0"/>
            </a:p>
          </p:txBody>
        </p:sp>
        <p:cxnSp>
          <p:nvCxnSpPr>
            <p:cNvPr id="20" name="直线连接符 12"/>
            <p:cNvCxnSpPr/>
            <p:nvPr/>
          </p:nvCxnSpPr>
          <p:spPr>
            <a:xfrm>
              <a:off x="4232097" y="5344748"/>
              <a:ext cx="26331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矩形 13"/>
          <p:cNvSpPr/>
          <p:nvPr/>
        </p:nvSpPr>
        <p:spPr>
          <a:xfrm>
            <a:off x="4537627" y="5943620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0 1 1 1 1 0 0 )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43FB73-6063-554E-9C69-69F446176CFD}"/>
              </a:ext>
            </a:extLst>
          </p:cNvPr>
          <p:cNvGraphicFramePr>
            <a:graphicFrameLocks noGrp="1"/>
          </p:cNvGraphicFramePr>
          <p:nvPr/>
        </p:nvGraphicFramePr>
        <p:xfrm>
          <a:off x="3489317" y="1582824"/>
          <a:ext cx="209038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287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603380">
                  <a:extLst>
                    <a:ext uri="{9D8B030D-6E8A-4147-A177-3AD203B41FA5}">
                      <a16:colId xmlns:a16="http://schemas.microsoft.com/office/drawing/2014/main" val="2396206722"/>
                    </a:ext>
                  </a:extLst>
                </a:gridCol>
                <a:gridCol w="951722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x XOR 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7775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7718630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B0032A3-6704-6142-AB7F-F78219E1E6B8}"/>
              </a:ext>
            </a:extLst>
          </p:cNvPr>
          <p:cNvCxnSpPr/>
          <p:nvPr/>
        </p:nvCxnSpPr>
        <p:spPr>
          <a:xfrm>
            <a:off x="4668206" y="1508282"/>
            <a:ext cx="0" cy="183373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1DDE1C-C26A-4911-A221-7D1EB31DE713}"/>
              </a:ext>
            </a:extLst>
          </p:cNvPr>
          <p:cNvSpPr txBox="1"/>
          <p:nvPr/>
        </p:nvSpPr>
        <p:spPr>
          <a:xfrm>
            <a:off x="1673099" y="3624062"/>
            <a:ext cx="504811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^ applies XOR bitwise to two integers</a:t>
            </a:r>
          </a:p>
        </p:txBody>
      </p:sp>
    </p:spTree>
    <p:extLst>
      <p:ext uri="{BB962C8B-B14F-4D97-AF65-F5344CB8AC3E}">
        <p14:creationId xmlns:p14="http://schemas.microsoft.com/office/powerpoint/2010/main" val="8158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016E-5E15-375E-C836-009AAB87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35A89-273B-D782-65B5-4E21790D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XOR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873F54-5511-2E98-7DE3-BF0F52D11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910" y="1500344"/>
            <a:ext cx="7706139" cy="553744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Verdana"/>
                <a:cs typeface="Verdana"/>
              </a:rPr>
              <a:t>^ can be used to selectively toggle a bit</a:t>
            </a: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4B08D755-D985-2C74-0AE3-D34BE39FC543}"/>
              </a:ext>
            </a:extLst>
          </p:cNvPr>
          <p:cNvSpPr/>
          <p:nvPr/>
        </p:nvSpPr>
        <p:spPr>
          <a:xfrm>
            <a:off x="1744880" y="3680140"/>
            <a:ext cx="61722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char </a:t>
            </a:r>
            <a:r>
              <a:rPr lang="en-US" altLang="zh-CN" sz="2100" dirty="0" err="1">
                <a:latin typeface="Consolas"/>
                <a:cs typeface="Consolas"/>
              </a:rPr>
              <a:t>toggle_write_permission</a:t>
            </a:r>
            <a:r>
              <a:rPr lang="en-US" altLang="zh-CN" sz="2100" dirty="0">
                <a:latin typeface="Consolas"/>
                <a:cs typeface="Consolas"/>
              </a:rPr>
              <a:t>(char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id="{E8E6DF6D-CC68-B7B0-F1D1-8ACB0A12B6F3}"/>
              </a:ext>
            </a:extLst>
          </p:cNvPr>
          <p:cNvSpPr/>
          <p:nvPr/>
        </p:nvSpPr>
        <p:spPr>
          <a:xfrm>
            <a:off x="2183038" y="4204117"/>
            <a:ext cx="41099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^ 0x02;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5BEF9-34E0-0169-3E0A-A8595D57BF39}"/>
              </a:ext>
            </a:extLst>
          </p:cNvPr>
          <p:cNvSpPr txBox="1"/>
          <p:nvPr/>
        </p:nvSpPr>
        <p:spPr>
          <a:xfrm>
            <a:off x="2595177" y="2054088"/>
            <a:ext cx="228162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kumimoji="1" lang="en-US" altLang="zh-CN" sz="2000" dirty="0">
                <a:latin typeface="Verdana"/>
                <a:cs typeface="Verdana"/>
              </a:rPr>
              <a:t>b ^ 1 = ~b</a:t>
            </a:r>
          </a:p>
          <a:p>
            <a:pPr lvl="1"/>
            <a:r>
              <a:rPr kumimoji="1" lang="en-US" altLang="zh-CN" sz="2000" dirty="0">
                <a:latin typeface="Verdana"/>
                <a:cs typeface="Verdana"/>
              </a:rPr>
              <a:t>b ^ 0 = b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197C20-8C62-A613-0808-B1DA05B58DD9}"/>
              </a:ext>
            </a:extLst>
          </p:cNvPr>
          <p:cNvSpPr/>
          <p:nvPr/>
        </p:nvSpPr>
        <p:spPr>
          <a:xfrm>
            <a:off x="4253948" y="2054088"/>
            <a:ext cx="410817" cy="3445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4DB62-799F-5A26-4CD4-1D3F0724D3E4}"/>
              </a:ext>
            </a:extLst>
          </p:cNvPr>
          <p:cNvSpPr/>
          <p:nvPr/>
        </p:nvSpPr>
        <p:spPr>
          <a:xfrm>
            <a:off x="4253947" y="2449125"/>
            <a:ext cx="410817" cy="3445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6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left-shift: &lt;&lt;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3299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+mj-lt"/>
                <a:cs typeface="Verdana"/>
              </a:rPr>
              <a:t>x &lt;&lt; y, treat x as a bit-vector, shift x left by y positions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Throw away bits shifted out on the left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Fill in 0’s on the right</a:t>
            </a:r>
          </a:p>
          <a:p>
            <a:pPr marL="42863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7A595-2689-45C4-B586-E4A93C28CAC4}"/>
              </a:ext>
            </a:extLst>
          </p:cNvPr>
          <p:cNvSpPr txBox="1"/>
          <p:nvPr/>
        </p:nvSpPr>
        <p:spPr>
          <a:xfrm>
            <a:off x="4059442" y="4870579"/>
            <a:ext cx="243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latin typeface="Verdana"/>
                <a:cs typeface="Verdana"/>
              </a:rPr>
              <a:t>=(0 1 0 0 1 0 0 0)</a:t>
            </a:r>
            <a:r>
              <a:rPr kumimoji="1" lang="en-US" altLang="zh-CN" baseline="-25000" dirty="0">
                <a:latin typeface="Verdana"/>
                <a:cs typeface="Verdana"/>
              </a:rPr>
              <a:t>2</a:t>
            </a:r>
            <a:endParaRPr lang="zh-CN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CD520-EA8A-4259-A380-5D3C9222EE6C}"/>
              </a:ext>
            </a:extLst>
          </p:cNvPr>
          <p:cNvSpPr txBox="1"/>
          <p:nvPr/>
        </p:nvSpPr>
        <p:spPr>
          <a:xfrm>
            <a:off x="4059442" y="3868776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latin typeface="Verdana"/>
                <a:cs typeface="Verdana"/>
              </a:rPr>
              <a:t>(0 1 1 0 1 0 0 1)</a:t>
            </a:r>
            <a:r>
              <a:rPr kumimoji="1" lang="en-US" altLang="zh-CN" sz="1800" baseline="-25000" dirty="0">
                <a:latin typeface="Verdana"/>
                <a:cs typeface="Verdana"/>
              </a:rPr>
              <a:t>2</a:t>
            </a:r>
            <a:r>
              <a:rPr kumimoji="1" lang="en-US" altLang="zh-CN" sz="1800" dirty="0">
                <a:latin typeface="Verdana"/>
                <a:cs typeface="Verdana"/>
              </a:rPr>
              <a:t> </a:t>
            </a:r>
            <a:endParaRPr lang="zh-CN" alt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41B2F-33C7-4D8E-B638-620FBF7FA4FC}"/>
              </a:ext>
            </a:extLst>
          </p:cNvPr>
          <p:cNvSpPr txBox="1"/>
          <p:nvPr/>
        </p:nvSpPr>
        <p:spPr>
          <a:xfrm>
            <a:off x="1075145" y="3852460"/>
            <a:ext cx="2605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aseline="0" dirty="0">
                <a:latin typeface="Verdana"/>
                <a:cs typeface="Verdana"/>
              </a:rPr>
              <a:t>result of </a:t>
            </a:r>
            <a:r>
              <a:rPr lang="en-US" altLang="zh-CN" sz="2000" baseline="0" dirty="0">
                <a:latin typeface="Consolas" panose="020B0609020204030204" pitchFamily="49" charset="0"/>
                <a:cs typeface="Verdana"/>
              </a:rPr>
              <a:t>0x69&lt;&lt;3 </a:t>
            </a:r>
            <a:r>
              <a:rPr lang="en-US" altLang="zh-CN" sz="2000" baseline="0" dirty="0">
                <a:latin typeface="Verdana"/>
                <a:cs typeface="Verdana"/>
              </a:rPr>
              <a:t>?</a:t>
            </a:r>
            <a:endParaRPr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5092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right-shift: &gt;&gt;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3616" y="2057401"/>
            <a:ext cx="7893698" cy="1581538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>
                <a:latin typeface="+mj-lt"/>
                <a:cs typeface="Verdana"/>
              </a:rPr>
              <a:t>x &gt;&gt; y, shift bit-vector x right by y positions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Throw away bits shifted out on the right</a:t>
            </a:r>
          </a:p>
          <a:p>
            <a:pPr lvl="1"/>
            <a:r>
              <a:rPr kumimoji="1" lang="en-US" altLang="zh-CN" b="1" dirty="0">
                <a:latin typeface="+mj-lt"/>
                <a:cs typeface="Verdana"/>
              </a:rPr>
              <a:t>Logical shift</a:t>
            </a:r>
            <a:r>
              <a:rPr kumimoji="1" lang="en-US" altLang="zh-CN" dirty="0">
                <a:latin typeface="+mj-lt"/>
                <a:cs typeface="Verdana"/>
              </a:rPr>
              <a:t>: Fill with 0’s on left</a:t>
            </a:r>
          </a:p>
          <a:p>
            <a:pPr lvl="1"/>
            <a:r>
              <a:rPr kumimoji="1" lang="en-US" altLang="zh-CN" b="1" dirty="0">
                <a:latin typeface="+mj-lt"/>
                <a:cs typeface="Verdana"/>
              </a:rPr>
              <a:t>Arithmetic shift</a:t>
            </a:r>
            <a:r>
              <a:rPr kumimoji="1" lang="en-US" altLang="zh-CN" dirty="0">
                <a:latin typeface="+mj-lt"/>
                <a:cs typeface="Verdana"/>
              </a:rPr>
              <a:t>: Replicate </a:t>
            </a:r>
            <a:r>
              <a:rPr kumimoji="1" lang="en-US" altLang="zh-CN" dirty="0" err="1">
                <a:latin typeface="+mj-lt"/>
                <a:cs typeface="Verdana"/>
              </a:rPr>
              <a:t>msb</a:t>
            </a:r>
            <a:r>
              <a:rPr kumimoji="1" lang="en-US" altLang="zh-CN" dirty="0">
                <a:latin typeface="+mj-lt"/>
                <a:cs typeface="Verdana"/>
              </a:rPr>
              <a:t> on the left</a:t>
            </a:r>
          </a:p>
          <a:p>
            <a:pPr marL="457200" lvl="1" indent="0">
              <a:buNone/>
            </a:pPr>
            <a:endParaRPr kumimoji="1" lang="en-US" altLang="zh-CN" dirty="0">
              <a:latin typeface="+mj-lt"/>
              <a:cs typeface="Verdana"/>
            </a:endParaRPr>
          </a:p>
          <a:p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2E905-FE02-44C4-801A-5535BB1DFD7D}"/>
              </a:ext>
            </a:extLst>
          </p:cNvPr>
          <p:cNvSpPr txBox="1"/>
          <p:nvPr/>
        </p:nvSpPr>
        <p:spPr>
          <a:xfrm>
            <a:off x="628881" y="4021719"/>
            <a:ext cx="4237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aseline="0" dirty="0"/>
              <a:t>Result of (logical) right-shift: 0xa9 &gt;&gt; 3 </a:t>
            </a:r>
            <a:endParaRPr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7C27E-E857-4A78-AAA3-8D9C7EB7EF60}"/>
              </a:ext>
            </a:extLst>
          </p:cNvPr>
          <p:cNvSpPr txBox="1"/>
          <p:nvPr/>
        </p:nvSpPr>
        <p:spPr>
          <a:xfrm>
            <a:off x="5466122" y="3995829"/>
            <a:ext cx="1928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(1 0 1 0 1 0 0 1)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27C8E-3AFA-4D86-B69B-BD98314419C2}"/>
              </a:ext>
            </a:extLst>
          </p:cNvPr>
          <p:cNvSpPr txBox="1"/>
          <p:nvPr/>
        </p:nvSpPr>
        <p:spPr>
          <a:xfrm>
            <a:off x="5337080" y="4630170"/>
            <a:ext cx="1999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=(</a:t>
            </a:r>
            <a:r>
              <a:rPr kumimoji="1" lang="en-US" altLang="zh-CN" sz="2000" dirty="0">
                <a:solidFill>
                  <a:srgbClr val="FF0000"/>
                </a:solidFill>
              </a:rPr>
              <a:t>0 0 0 </a:t>
            </a:r>
            <a:r>
              <a:rPr kumimoji="1" lang="en-US" altLang="zh-CN" sz="2000" dirty="0"/>
              <a:t>1</a:t>
            </a:r>
            <a:r>
              <a:rPr kumimoji="1" lang="en-US" altLang="zh-CN" sz="2000" baseline="0" dirty="0"/>
              <a:t> 0</a:t>
            </a:r>
            <a:r>
              <a:rPr kumimoji="1" lang="en-US" altLang="zh-CN" sz="2000" dirty="0"/>
              <a:t> 1 0 1)</a:t>
            </a:r>
            <a:r>
              <a:rPr kumimoji="1" lang="en-US" altLang="zh-CN" sz="2000" baseline="-25000" dirty="0"/>
              <a:t>2</a:t>
            </a:r>
            <a:endParaRPr lang="zh-CN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CFEDB5-F7A0-4C3F-918B-9347485C38FB}"/>
              </a:ext>
            </a:extLst>
          </p:cNvPr>
          <p:cNvSpPr txBox="1"/>
          <p:nvPr/>
        </p:nvSpPr>
        <p:spPr>
          <a:xfrm>
            <a:off x="619550" y="5286995"/>
            <a:ext cx="4655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aseline="0" dirty="0"/>
              <a:t>Result of (arithmetic) right-shift: 0xa9 &gt;&gt; 3 </a:t>
            </a:r>
            <a:endParaRPr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B5840-0D81-44AA-AAF7-84719A444FCB}"/>
              </a:ext>
            </a:extLst>
          </p:cNvPr>
          <p:cNvSpPr txBox="1"/>
          <p:nvPr/>
        </p:nvSpPr>
        <p:spPr>
          <a:xfrm>
            <a:off x="5337080" y="5385379"/>
            <a:ext cx="1999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=(</a:t>
            </a:r>
            <a:r>
              <a:rPr kumimoji="1" lang="en-US" altLang="zh-CN" sz="2000" dirty="0">
                <a:solidFill>
                  <a:srgbClr val="FF0000"/>
                </a:solidFill>
              </a:rPr>
              <a:t>1 1 1</a:t>
            </a:r>
            <a:r>
              <a:rPr kumimoji="1" lang="en-US" altLang="zh-CN" sz="2000" baseline="0" dirty="0">
                <a:solidFill>
                  <a:srgbClr val="FF0000"/>
                </a:solidFill>
              </a:rPr>
              <a:t> </a:t>
            </a:r>
            <a:r>
              <a:rPr kumimoji="1" lang="en-US" altLang="zh-CN" sz="2000" baseline="0" dirty="0"/>
              <a:t>1</a:t>
            </a:r>
            <a:r>
              <a:rPr kumimoji="1" lang="en-US" altLang="zh-CN" sz="2000" baseline="0" dirty="0">
                <a:solidFill>
                  <a:srgbClr val="FF0000"/>
                </a:solidFill>
              </a:rPr>
              <a:t> </a:t>
            </a:r>
            <a:r>
              <a:rPr kumimoji="1" lang="en-US" altLang="zh-CN" sz="2000" baseline="0" dirty="0"/>
              <a:t>0</a:t>
            </a:r>
            <a:r>
              <a:rPr kumimoji="1" lang="en-US" altLang="zh-CN" sz="2000" dirty="0"/>
              <a:t> 1 0 1)</a:t>
            </a:r>
            <a:r>
              <a:rPr kumimoji="1" lang="en-US" altLang="zh-CN" sz="2000" baseline="-25000" dirty="0"/>
              <a:t>2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1247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Which shift is used in C 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6118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Arithmetic shift for signed numbers</a:t>
            </a:r>
          </a:p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Logical shifting on unsigned numbers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5384" y="3026791"/>
            <a:ext cx="2001833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mr-IN" altLang="zh-CN" sz="2000" dirty="0">
                <a:latin typeface="Consolas"/>
                <a:cs typeface="Consolas"/>
              </a:rPr>
              <a:t>int </a:t>
            </a:r>
            <a:r>
              <a:rPr lang="en-US" altLang="zh-CN" sz="2000" dirty="0">
                <a:latin typeface="Consolas"/>
                <a:cs typeface="Consolas"/>
              </a:rPr>
              <a:t>a</a:t>
            </a:r>
            <a:r>
              <a:rPr lang="mr-IN" altLang="zh-CN" sz="2000" dirty="0">
                <a:latin typeface="Consolas"/>
                <a:cs typeface="Consolas"/>
              </a:rPr>
              <a:t> = 1;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a = a&gt;&gt;31;</a:t>
            </a:r>
          </a:p>
          <a:p>
            <a:endParaRPr lang="en-US" altLang="zh-CN" sz="2000" dirty="0">
              <a:latin typeface="Consolas"/>
              <a:cs typeface="Consolas"/>
            </a:endParaRPr>
          </a:p>
          <a:p>
            <a:r>
              <a:rPr lang="en-US" altLang="zh-CN" sz="2000" dirty="0">
                <a:latin typeface="Consolas"/>
                <a:cs typeface="Consolas"/>
              </a:rPr>
              <a:t>int b = -1;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b = b &gt;&gt;31;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385" y="4842301"/>
            <a:ext cx="2064036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onsolas"/>
                <a:cs typeface="Consolas"/>
              </a:rPr>
              <a:t>a=0   b=-1</a:t>
            </a: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A3C5EA85-73F8-40D6-9029-D413F8E8C0B4}"/>
              </a:ext>
            </a:extLst>
          </p:cNvPr>
          <p:cNvSpPr/>
          <p:nvPr/>
        </p:nvSpPr>
        <p:spPr>
          <a:xfrm>
            <a:off x="5079532" y="3026791"/>
            <a:ext cx="337908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unsigned int b = 129;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b = b &gt;&gt; 4;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DDE2E-29DF-4853-96F3-C283764459AF}"/>
              </a:ext>
            </a:extLst>
          </p:cNvPr>
          <p:cNvSpPr txBox="1"/>
          <p:nvPr/>
        </p:nvSpPr>
        <p:spPr>
          <a:xfrm>
            <a:off x="5091974" y="3842399"/>
            <a:ext cx="2064036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onsolas"/>
                <a:cs typeface="Consolas"/>
              </a:rPr>
              <a:t>b =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CDFD0-E89B-4DCF-AE51-B33C68BD2D35}"/>
              </a:ext>
            </a:extLst>
          </p:cNvPr>
          <p:cNvSpPr txBox="1"/>
          <p:nvPr/>
        </p:nvSpPr>
        <p:spPr>
          <a:xfrm>
            <a:off x="1067370" y="4849995"/>
            <a:ext cx="44164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??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74336-77F3-4981-A8F8-CD4DE1EC35A5}"/>
              </a:ext>
            </a:extLst>
          </p:cNvPr>
          <p:cNvSpPr txBox="1"/>
          <p:nvPr/>
        </p:nvSpPr>
        <p:spPr>
          <a:xfrm>
            <a:off x="1908395" y="4849995"/>
            <a:ext cx="44164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??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42A7F-48B1-4622-9456-C2ECAAE3E8ED}"/>
              </a:ext>
            </a:extLst>
          </p:cNvPr>
          <p:cNvSpPr txBox="1"/>
          <p:nvPr/>
        </p:nvSpPr>
        <p:spPr>
          <a:xfrm>
            <a:off x="5682343" y="3857787"/>
            <a:ext cx="44164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5961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1FF7-F894-A74C-86A6-CD013014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of shift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1C1F24-3333-E84E-B5E0-3AA8C30C9A90}"/>
              </a:ext>
            </a:extLst>
          </p:cNvPr>
          <p:cNvSpPr/>
          <p:nvPr/>
        </p:nvSpPr>
        <p:spPr>
          <a:xfrm>
            <a:off x="1205985" y="1794300"/>
            <a:ext cx="7123142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int </a:t>
            </a:r>
            <a:r>
              <a:rPr lang="en-US" altLang="zh-CN" sz="2100" dirty="0" err="1">
                <a:latin typeface="Consolas"/>
                <a:cs typeface="Consolas"/>
              </a:rPr>
              <a:t>multiply_by_powers_of</a:t>
            </a:r>
            <a:r>
              <a:rPr lang="en-US" altLang="zh-CN" sz="2100" dirty="0">
                <a:latin typeface="Consolas"/>
                <a:cs typeface="Consolas"/>
              </a:rPr>
              <a:t> two(int x, int p)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B586E551-8CD4-794A-AB56-E2F35F57F4D7}"/>
              </a:ext>
            </a:extLst>
          </p:cNvPr>
          <p:cNvSpPr/>
          <p:nvPr/>
        </p:nvSpPr>
        <p:spPr>
          <a:xfrm>
            <a:off x="1971467" y="2323036"/>
            <a:ext cx="2743199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&lt;&lt; p;</a:t>
            </a:r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FEB0D25E-1248-487C-AE5B-BA90BACC7585}"/>
              </a:ext>
            </a:extLst>
          </p:cNvPr>
          <p:cNvSpPr/>
          <p:nvPr/>
        </p:nvSpPr>
        <p:spPr>
          <a:xfrm>
            <a:off x="1205983" y="3643932"/>
            <a:ext cx="7123143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int </a:t>
            </a:r>
            <a:r>
              <a:rPr lang="en-US" altLang="zh-CN" sz="2100" dirty="0" err="1">
                <a:latin typeface="Consolas"/>
                <a:cs typeface="Consolas"/>
              </a:rPr>
              <a:t>divide_by_powers_of</a:t>
            </a:r>
            <a:r>
              <a:rPr lang="en-US" altLang="zh-CN" sz="2100" dirty="0">
                <a:latin typeface="Consolas"/>
                <a:cs typeface="Consolas"/>
              </a:rPr>
              <a:t> two(int x, int p)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id="{DA14BDEF-63DA-4FA9-8D18-6925FCA30E05}"/>
              </a:ext>
            </a:extLst>
          </p:cNvPr>
          <p:cNvSpPr/>
          <p:nvPr/>
        </p:nvSpPr>
        <p:spPr>
          <a:xfrm>
            <a:off x="2033671" y="4240498"/>
            <a:ext cx="2743199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&gt;&gt; p;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F8BD2DF-632A-4D18-B78A-047744830BFD}"/>
              </a:ext>
            </a:extLst>
          </p:cNvPr>
          <p:cNvSpPr/>
          <p:nvPr/>
        </p:nvSpPr>
        <p:spPr>
          <a:xfrm>
            <a:off x="4133430" y="5405588"/>
            <a:ext cx="4830178" cy="1352473"/>
          </a:xfrm>
          <a:prstGeom prst="wedgeRoundRectCallout">
            <a:avLst>
              <a:gd name="adj1" fmla="val -65934"/>
              <a:gd name="adj2" fmla="val -10274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Caveat: right-shift rounds down, different from integer division “/” which rounds towards zero.</a:t>
            </a:r>
          </a:p>
          <a:p>
            <a:r>
              <a:rPr lang="en-US" dirty="0">
                <a:solidFill>
                  <a:schemeClr val="tx1"/>
                </a:solidFill>
              </a:rPr>
              <a:t>e.g. -1&gt;&gt;1=-1, but -1/2 = 0</a:t>
            </a:r>
          </a:p>
        </p:txBody>
      </p:sp>
    </p:spTree>
    <p:extLst>
      <p:ext uri="{BB962C8B-B14F-4D97-AF65-F5344CB8AC3E}">
        <p14:creationId xmlns:p14="http://schemas.microsoft.com/office/powerpoint/2010/main" val="206212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of shift</a:t>
            </a:r>
          </a:p>
        </p:txBody>
      </p:sp>
      <p:sp>
        <p:nvSpPr>
          <p:cNvPr id="4" name="矩形 3"/>
          <p:cNvSpPr/>
          <p:nvPr/>
        </p:nvSpPr>
        <p:spPr>
          <a:xfrm>
            <a:off x="1635589" y="2102932"/>
            <a:ext cx="5658924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// clear bit at position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// rightmost bit is at 0</a:t>
            </a:r>
            <a:r>
              <a:rPr lang="en-US" altLang="zh-CN" sz="2100" baseline="30000" dirty="0">
                <a:latin typeface="Consolas"/>
                <a:cs typeface="Consolas"/>
              </a:rPr>
              <a:t>th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clear_bit_at_pos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x, 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r>
              <a:rPr lang="en-US" altLang="zh-CN" sz="2100" dirty="0">
                <a:latin typeface="Consolas"/>
                <a:cs typeface="Consolas"/>
              </a:rPr>
              <a:t>) 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矩形 3"/>
          <p:cNvSpPr/>
          <p:nvPr/>
        </p:nvSpPr>
        <p:spPr>
          <a:xfrm>
            <a:off x="2124081" y="3668136"/>
            <a:ext cx="55340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unsigned int mask = ~(1 &lt;&lt; pos);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return x &amp; mask;</a:t>
            </a:r>
          </a:p>
        </p:txBody>
      </p:sp>
    </p:spTree>
    <p:extLst>
      <p:ext uri="{BB962C8B-B14F-4D97-AF65-F5344CB8AC3E}">
        <p14:creationId xmlns:p14="http://schemas.microsoft.com/office/powerpoint/2010/main" val="236911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FFF6-11A5-4A27-A96D-25F3DFCCC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9873" y="2118462"/>
            <a:ext cx="5143500" cy="1343025"/>
          </a:xfrm>
        </p:spPr>
        <p:txBody>
          <a:bodyPr>
            <a:normAutofit/>
          </a:bodyPr>
          <a:lstStyle/>
          <a:p>
            <a:r>
              <a:rPr lang="en-US" sz="4050" dirty="0">
                <a:solidFill>
                  <a:schemeClr val="bg1"/>
                </a:solidFill>
              </a:rPr>
              <a:t>Breakout time!</a:t>
            </a:r>
          </a:p>
        </p:txBody>
      </p:sp>
      <p:pic>
        <p:nvPicPr>
          <p:cNvPr id="37892" name="Picture 4" descr="Tea Party 432*432 transprent Png Free Download - Heart, Cup, Teapot. -  CleanPNG / KissPNG">
            <a:extLst>
              <a:ext uri="{FF2B5EF4-FFF2-40B4-BE49-F238E27FC236}">
                <a16:creationId xmlns:a16="http://schemas.microsoft.com/office/drawing/2014/main" id="{12DD4D09-CDF4-4B24-878B-46BDA8ED9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3333" l="5778" r="93778">
                        <a14:foregroundMark x1="40444" y1="8889" x2="40444" y2="8889"/>
                        <a14:foregroundMark x1="36000" y1="5778" x2="36000" y2="5778"/>
                        <a14:foregroundMark x1="47556" y1="5333" x2="47556" y2="5333"/>
                        <a14:foregroundMark x1="23556" y1="4000" x2="23556" y2="4000"/>
                        <a14:foregroundMark x1="6222" y1="18667" x2="6222" y2="18667"/>
                        <a14:foregroundMark x1="93778" y1="74667" x2="93778" y2="74667"/>
                        <a14:foregroundMark x1="80889" y1="56889" x2="80889" y2="56889"/>
                        <a14:foregroundMark x1="48000" y1="70667" x2="48000" y2="70667"/>
                        <a14:foregroundMark x1="48000" y1="81778" x2="48000" y2="81778"/>
                        <a14:foregroundMark x1="82222" y1="57333" x2="82222" y2="57333"/>
                        <a14:foregroundMark x1="73778" y1="93333" x2="73778" y2="93333"/>
                        <a14:backgroundMark x1="79111" y1="57778" x2="79111" y2="57778"/>
                        <a14:backgroundMark x1="80000" y1="56000" x2="80000" y2="56000"/>
                        <a14:backgroundMark x1="81333" y1="59556" x2="81333" y2="59556"/>
                        <a14:backgroundMark x1="81333" y1="59556" x2="81333" y2="59556"/>
                        <a14:backgroundMark x1="81333" y1="59556" x2="78222" y2="56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039" y="2148530"/>
            <a:ext cx="1563668" cy="156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718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2B27-5F0D-4BB4-BDE3-9C100C29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0B8C-5C54-4775-B849-D8643412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8510"/>
          </a:xfrm>
        </p:spPr>
        <p:txBody>
          <a:bodyPr/>
          <a:lstStyle/>
          <a:p>
            <a:r>
              <a:rPr lang="en-US" dirty="0"/>
              <a:t>Clear fraction fields of 10.0 --&gt; ??</a:t>
            </a:r>
          </a:p>
          <a:p>
            <a:r>
              <a:rPr lang="en-US" dirty="0"/>
              <a:t>Clear fraction field of 0.2 </a:t>
            </a:r>
            <a:r>
              <a:rPr lang="en-US" dirty="0">
                <a:sym typeface="Wingdings" panose="05000000000000000000" pitchFamily="2" charset="2"/>
              </a:rPr>
              <a:t> ??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A922F-45B7-4ED8-83A1-BB9E5CC3449A}"/>
              </a:ext>
            </a:extLst>
          </p:cNvPr>
          <p:cNvSpPr txBox="1"/>
          <p:nvPr/>
        </p:nvSpPr>
        <p:spPr>
          <a:xfrm>
            <a:off x="617231" y="3418295"/>
            <a:ext cx="8289449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clear_exp_field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 = *(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*)&amp;f; </a:t>
            </a:r>
            <a:r>
              <a:rPr lang="en-US" b="0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//re-interpret bit-pattern of f as 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//TODO: add your code here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*)&amp;r; </a:t>
            </a:r>
            <a:r>
              <a:rPr lang="en-US" b="0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//re-interpret bit-pattern of r as float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1698A-5A38-4FEB-B0FE-FF94A3D31EFF}"/>
              </a:ext>
            </a:extLst>
          </p:cNvPr>
          <p:cNvSpPr txBox="1"/>
          <p:nvPr/>
        </p:nvSpPr>
        <p:spPr>
          <a:xfrm>
            <a:off x="2096278" y="4510901"/>
            <a:ext cx="3825550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 = (fi &gt;&gt; 23) &lt;&lt;23;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FA185-0E76-4EA0-990B-08634995C0B2}"/>
              </a:ext>
            </a:extLst>
          </p:cNvPr>
          <p:cNvSpPr txBox="1"/>
          <p:nvPr/>
        </p:nvSpPr>
        <p:spPr>
          <a:xfrm>
            <a:off x="5280306" y="1600201"/>
            <a:ext cx="64152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8.0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BA6B5-7F3A-4F1F-BAC4-A5A512158827}"/>
              </a:ext>
            </a:extLst>
          </p:cNvPr>
          <p:cNvSpPr txBox="1"/>
          <p:nvPr/>
        </p:nvSpPr>
        <p:spPr>
          <a:xfrm>
            <a:off x="4914821" y="2156357"/>
            <a:ext cx="10070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0.125</a:t>
            </a:r>
          </a:p>
        </p:txBody>
      </p:sp>
    </p:spTree>
    <p:extLst>
      <p:ext uri="{BB962C8B-B14F-4D97-AF65-F5344CB8AC3E}">
        <p14:creationId xmlns:p14="http://schemas.microsoft.com/office/powerpoint/2010/main" val="199619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of shift</a:t>
            </a:r>
          </a:p>
        </p:txBody>
      </p:sp>
      <p:sp>
        <p:nvSpPr>
          <p:cNvPr id="4" name="矩形 3"/>
          <p:cNvSpPr/>
          <p:nvPr/>
        </p:nvSpPr>
        <p:spPr>
          <a:xfrm>
            <a:off x="1635589" y="2102931"/>
            <a:ext cx="5658924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// set bit at position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// rightmost bit is at 0</a:t>
            </a:r>
            <a:r>
              <a:rPr lang="en-US" altLang="zh-CN" sz="2100" baseline="30000" dirty="0">
                <a:latin typeface="Consolas"/>
                <a:cs typeface="Consolas"/>
              </a:rPr>
              <a:t>th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set_bit_at_pos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x, 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r>
              <a:rPr lang="en-US" altLang="zh-CN" sz="2100" dirty="0">
                <a:latin typeface="Consolas"/>
                <a:cs typeface="Consolas"/>
              </a:rPr>
              <a:t>)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矩形 3"/>
          <p:cNvSpPr/>
          <p:nvPr/>
        </p:nvSpPr>
        <p:spPr>
          <a:xfrm>
            <a:off x="2124081" y="3668136"/>
            <a:ext cx="55340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unsigned int mask = 1 &lt;&lt; pos;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return x | mask;</a:t>
            </a:r>
          </a:p>
        </p:txBody>
      </p:sp>
    </p:spTree>
    <p:extLst>
      <p:ext uri="{BB962C8B-B14F-4D97-AF65-F5344CB8AC3E}">
        <p14:creationId xmlns:p14="http://schemas.microsoft.com/office/powerpoint/2010/main" val="47313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77F5-62F3-4267-8762-62BB6F55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0845-D3BA-42FD-94C1-C6B2C825E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Bitwise operators</a:t>
            </a:r>
          </a:p>
          <a:p>
            <a:r>
              <a:rPr lang="en-US" dirty="0"/>
              <a:t>Control flow</a:t>
            </a:r>
          </a:p>
          <a:p>
            <a:r>
              <a:rPr lang="en-US" dirty="0"/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548044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C’s 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Java</a:t>
            </a:r>
          </a:p>
          <a:p>
            <a:r>
              <a:rPr lang="en-US" dirty="0"/>
              <a:t>conditional:</a:t>
            </a:r>
          </a:p>
          <a:p>
            <a:pPr lvl="1"/>
            <a:r>
              <a:rPr lang="en-US" dirty="0"/>
              <a:t> if ... else if... else</a:t>
            </a:r>
          </a:p>
          <a:p>
            <a:pPr lvl="1"/>
            <a:r>
              <a:rPr lang="en-US" dirty="0"/>
              <a:t>switch</a:t>
            </a:r>
          </a:p>
          <a:p>
            <a:r>
              <a:rPr lang="en-US" dirty="0"/>
              <a:t>loops: while, for</a:t>
            </a:r>
          </a:p>
          <a:p>
            <a:pPr lvl="1"/>
            <a:r>
              <a:rPr lang="en-US" dirty="0"/>
              <a:t>continue</a:t>
            </a:r>
          </a:p>
          <a:p>
            <a:pPr lvl="1"/>
            <a:r>
              <a:rPr lang="en-US" dirty="0"/>
              <a:t>break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193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goto</a:t>
            </a:r>
            <a:r>
              <a:rPr kumimoji="1" lang="en-US" altLang="zh-CN" dirty="0"/>
              <a:t> statements allow jump anywhere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743" y="1423768"/>
            <a:ext cx="8229600" cy="648495"/>
          </a:xfrm>
        </p:spPr>
        <p:txBody>
          <a:bodyPr/>
          <a:lstStyle/>
          <a:p>
            <a:pPr marL="0" lvl="1" indent="0">
              <a:buNone/>
            </a:pPr>
            <a:r>
              <a:rPr kumimoji="1" lang="en-US" altLang="zh-CN" sz="2800" dirty="0" err="1">
                <a:latin typeface="Verdana"/>
                <a:cs typeface="Verdana"/>
              </a:rPr>
              <a:t>goto</a:t>
            </a:r>
            <a:r>
              <a:rPr kumimoji="1" lang="en-US" altLang="zh-CN" sz="2800" dirty="0">
                <a:latin typeface="Verdana"/>
                <a:cs typeface="Verdana"/>
              </a:rPr>
              <a:t> </a:t>
            </a:r>
            <a:r>
              <a:rPr kumimoji="1" lang="en-US" altLang="zh-CN" sz="2800" i="1" dirty="0">
                <a:latin typeface="Verdana"/>
                <a:cs typeface="Verdana"/>
              </a:rPr>
              <a:t>label</a:t>
            </a:r>
          </a:p>
        </p:txBody>
      </p:sp>
      <p:sp>
        <p:nvSpPr>
          <p:cNvPr id="4" name="矩形 3"/>
          <p:cNvSpPr/>
          <p:nvPr/>
        </p:nvSpPr>
        <p:spPr>
          <a:xfrm>
            <a:off x="5288413" y="2507916"/>
            <a:ext cx="3855587" cy="32316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for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...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for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...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	</a:t>
            </a:r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for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...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		</a:t>
            </a:r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goto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error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	}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  	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endParaRPr lang="en-US" altLang="zh-CN" sz="400" b="1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endParaRPr lang="en-US" altLang="zh-CN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b="1" i="1" dirty="0">
                <a:latin typeface="Consolas"/>
                <a:ea typeface="宋体" pitchFamily="2" charset="-122"/>
                <a:cs typeface="Consolas"/>
              </a:rPr>
              <a:t>error: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code handling error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301C640F-5BD7-4693-9F5E-C1B90B4BE16B}"/>
              </a:ext>
            </a:extLst>
          </p:cNvPr>
          <p:cNvSpPr/>
          <p:nvPr/>
        </p:nvSpPr>
        <p:spPr>
          <a:xfrm>
            <a:off x="607553" y="2248695"/>
            <a:ext cx="3855587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while 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 err="1">
                <a:latin typeface="Consolas"/>
                <a:ea typeface="宋体" pitchFamily="2" charset="-122"/>
                <a:cs typeface="Consolas"/>
              </a:rPr>
              <a:t>cond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...</a:t>
            </a:r>
            <a:endParaRPr lang="en-US" altLang="zh-CN" sz="400" b="1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...</a:t>
            </a: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A9DDE984-1D3D-4C01-8370-20DEF038A03A}"/>
              </a:ext>
            </a:extLst>
          </p:cNvPr>
          <p:cNvSpPr/>
          <p:nvPr/>
        </p:nvSpPr>
        <p:spPr>
          <a:xfrm>
            <a:off x="607554" y="4715594"/>
            <a:ext cx="38555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A:</a:t>
            </a:r>
          </a:p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 if 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 err="1">
                <a:latin typeface="Consolas"/>
                <a:ea typeface="宋体" pitchFamily="2" charset="-122"/>
                <a:cs typeface="Consolas"/>
              </a:rPr>
              <a:t>cond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 = false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</a:t>
            </a:r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goto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B;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...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goto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A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...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9DC62B7-23B8-453A-A072-FC09EDA8CD2D}"/>
              </a:ext>
            </a:extLst>
          </p:cNvPr>
          <p:cNvSpPr/>
          <p:nvPr/>
        </p:nvSpPr>
        <p:spPr>
          <a:xfrm>
            <a:off x="761485" y="3964010"/>
            <a:ext cx="553616" cy="646331"/>
          </a:xfrm>
          <a:prstGeom prst="downArrow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7018A-5D57-43E6-B3F4-C536EE169AE7}"/>
              </a:ext>
            </a:extLst>
          </p:cNvPr>
          <p:cNvSpPr txBox="1"/>
          <p:nvPr/>
        </p:nvSpPr>
        <p:spPr>
          <a:xfrm>
            <a:off x="1467239" y="3851436"/>
            <a:ext cx="3336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control flow primitive can be </a:t>
            </a:r>
          </a:p>
          <a:p>
            <a:r>
              <a:rPr lang="en-US" dirty="0"/>
              <a:t>expressed as a bunch of </a:t>
            </a:r>
            <a:r>
              <a:rPr lang="en-US" dirty="0" err="1"/>
              <a:t>goto’s</a:t>
            </a:r>
            <a:r>
              <a:rPr lang="en-US" dirty="0"/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4EFCE3-D324-46DC-8D7A-E03F2570E4D4}"/>
              </a:ext>
            </a:extLst>
          </p:cNvPr>
          <p:cNvCxnSpPr/>
          <p:nvPr/>
        </p:nvCxnSpPr>
        <p:spPr>
          <a:xfrm>
            <a:off x="4691219" y="1691951"/>
            <a:ext cx="0" cy="498876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05B2CE-D9FE-41F7-A68E-56F15315AB9D}"/>
              </a:ext>
            </a:extLst>
          </p:cNvPr>
          <p:cNvGrpSpPr/>
          <p:nvPr/>
        </p:nvGrpSpPr>
        <p:grpSpPr>
          <a:xfrm>
            <a:off x="4892336" y="5822302"/>
            <a:ext cx="4248535" cy="844852"/>
            <a:chOff x="4892336" y="5822302"/>
            <a:chExt cx="4248535" cy="84485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7290C8-E25B-4C4E-A2D7-5C3F55F611E4}"/>
                </a:ext>
              </a:extLst>
            </p:cNvPr>
            <p:cNvSpPr txBox="1"/>
            <p:nvPr/>
          </p:nvSpPr>
          <p:spPr>
            <a:xfrm>
              <a:off x="4892336" y="6297822"/>
              <a:ext cx="424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only acceptable scenario for using </a:t>
              </a:r>
              <a:r>
                <a:rPr lang="en-US" dirty="0" err="1"/>
                <a:t>goto</a:t>
              </a:r>
              <a:endParaRPr lang="en-US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EEF485F-5EAE-490C-9841-D916034816C4}"/>
                </a:ext>
              </a:extLst>
            </p:cNvPr>
            <p:cNvCxnSpPr/>
            <p:nvPr/>
          </p:nvCxnSpPr>
          <p:spPr>
            <a:xfrm flipV="1">
              <a:off x="5480180" y="5822302"/>
              <a:ext cx="279918" cy="372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580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Avoid </a:t>
            </a:r>
            <a:r>
              <a:rPr lang="en-US" dirty="0" err="1"/>
              <a:t>goto’s</a:t>
            </a:r>
            <a:r>
              <a:rPr lang="en-US" dirty="0"/>
              <a:t> whenever possible</a:t>
            </a:r>
          </a:p>
        </p:txBody>
      </p:sp>
      <p:pic>
        <p:nvPicPr>
          <p:cNvPr id="4" name="Content Placeholder 3" descr="Screen Shot 2018-09-18 at 11.52.36 P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6" b="3586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883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Avoid </a:t>
            </a:r>
            <a:r>
              <a:rPr lang="en-US" dirty="0" err="1"/>
              <a:t>goto’s</a:t>
            </a:r>
            <a:r>
              <a:rPr lang="en-US" dirty="0"/>
              <a:t> whenever possible</a:t>
            </a:r>
          </a:p>
        </p:txBody>
      </p:sp>
      <p:pic>
        <p:nvPicPr>
          <p:cNvPr id="5" name="Content Placeholder 4" descr="Screen Shot 2018-09-18 at 11.54.19 PM.pn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-5100" r="2138" b="-9577"/>
          <a:stretch/>
        </p:blipFill>
        <p:spPr>
          <a:xfrm>
            <a:off x="0" y="1600201"/>
            <a:ext cx="9144000" cy="3813326"/>
          </a:xfrm>
        </p:spPr>
      </p:pic>
    </p:spTree>
    <p:extLst>
      <p:ext uri="{BB962C8B-B14F-4D97-AF65-F5344CB8AC3E}">
        <p14:creationId xmlns:p14="http://schemas.microsoft.com/office/powerpoint/2010/main" val="1987901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D7A7-C5B9-BFDF-30B4-D3138E5B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9878"/>
            <a:ext cx="8229600" cy="1143000"/>
          </a:xfrm>
        </p:spPr>
        <p:txBody>
          <a:bodyPr/>
          <a:lstStyle/>
          <a:p>
            <a:r>
              <a:rPr lang="en-US" dirty="0"/>
              <a:t>C scope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38585-B9A5-D70A-6AAD-86B89F6E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2878"/>
            <a:ext cx="8229600" cy="2136913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Local variable: defined within a procedure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Scope: within the procedure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Global variable: defined outside of any procedure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Scope: within the file unless exported via *.h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26EE3-E125-A1FB-E368-5BB497B14104}"/>
              </a:ext>
            </a:extLst>
          </p:cNvPr>
          <p:cNvSpPr txBox="1"/>
          <p:nvPr/>
        </p:nvSpPr>
        <p:spPr>
          <a:xfrm>
            <a:off x="675863" y="3151429"/>
            <a:ext cx="4108173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x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y 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swap(int x, int y)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x = y;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y=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swap(x, y);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772AC-6BE5-6ED0-F73B-D5842A4B9271}"/>
              </a:ext>
            </a:extLst>
          </p:cNvPr>
          <p:cNvSpPr txBox="1"/>
          <p:nvPr/>
        </p:nvSpPr>
        <p:spPr>
          <a:xfrm>
            <a:off x="2063578" y="6178378"/>
            <a:ext cx="449834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902030302020204" pitchFamily="66" charset="0"/>
              </a:rPr>
              <a:t>Function arguments are passed-by-value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8A28B37-F04B-37AC-72BF-36AB0ADC54AD}"/>
              </a:ext>
            </a:extLst>
          </p:cNvPr>
          <p:cNvSpPr/>
          <p:nvPr/>
        </p:nvSpPr>
        <p:spPr>
          <a:xfrm>
            <a:off x="1923196" y="5659395"/>
            <a:ext cx="634653" cy="494270"/>
          </a:xfrm>
          <a:custGeom>
            <a:avLst/>
            <a:gdLst>
              <a:gd name="csX0" fmla="*/ 634653 w 634653"/>
              <a:gd name="csY0" fmla="*/ 494270 h 494270"/>
              <a:gd name="csX1" fmla="*/ 78599 w 634653"/>
              <a:gd name="csY1" fmla="*/ 358346 h 494270"/>
              <a:gd name="csX2" fmla="*/ 16815 w 634653"/>
              <a:gd name="csY2" fmla="*/ 0 h 494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34653" h="494270">
                <a:moveTo>
                  <a:pt x="634653" y="494270"/>
                </a:moveTo>
                <a:cubicBezTo>
                  <a:pt x="408112" y="467497"/>
                  <a:pt x="181572" y="440724"/>
                  <a:pt x="78599" y="358346"/>
                </a:cubicBezTo>
                <a:cubicBezTo>
                  <a:pt x="-24374" y="275968"/>
                  <a:pt x="-3780" y="137984"/>
                  <a:pt x="16815" y="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8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+mj-lt"/>
              </a:rPr>
              <a:t>Pointers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Pointer is a memory address</a:t>
            </a:r>
          </a:p>
        </p:txBody>
      </p:sp>
    </p:spTree>
    <p:extLst>
      <p:ext uri="{BB962C8B-B14F-4D97-AF65-F5344CB8AC3E}">
        <p14:creationId xmlns:p14="http://schemas.microsoft.com/office/powerpoint/2010/main" val="3174743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7676" y="246277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97676" y="281166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316098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97676" y="386958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97676" y="351708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12" name="矩形 11"/>
          <p:cNvSpPr/>
          <p:nvPr/>
        </p:nvSpPr>
        <p:spPr>
          <a:xfrm>
            <a:off x="1097676" y="422312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1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94760" y="457028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094760" y="492546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092850" y="527965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97676" y="562974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158934" y="137542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grpSp>
        <p:nvGrpSpPr>
          <p:cNvPr id="36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38" name="矩形 19"/>
            <p:cNvSpPr/>
            <p:nvPr/>
          </p:nvSpPr>
          <p:spPr>
            <a:xfrm>
              <a:off x="2232965" y="6027592"/>
              <a:ext cx="69602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39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0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1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3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7"/>
            <p:cNvSpPr/>
            <p:nvPr/>
          </p:nvSpPr>
          <p:spPr>
            <a:xfrm>
              <a:off x="2264260" y="390491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0x16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8"/>
            <p:cNvSpPr/>
            <p:nvPr/>
          </p:nvSpPr>
          <p:spPr>
            <a:xfrm>
              <a:off x="2264785" y="355830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0x17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9"/>
            <p:cNvSpPr/>
            <p:nvPr/>
          </p:nvSpPr>
          <p:spPr>
            <a:xfrm>
              <a:off x="2262875" y="322403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0x18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30"/>
            <p:cNvSpPr/>
            <p:nvPr/>
          </p:nvSpPr>
          <p:spPr>
            <a:xfrm>
              <a:off x="2265797" y="286009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0x19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1"/>
            <p:cNvSpPr/>
            <p:nvPr/>
          </p:nvSpPr>
          <p:spPr>
            <a:xfrm>
              <a:off x="2276653" y="2492119"/>
              <a:ext cx="69021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0x1a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1" name="矩形 47"/>
            <p:cNvSpPr/>
            <p:nvPr/>
          </p:nvSpPr>
          <p:spPr>
            <a:xfrm>
              <a:off x="2286613" y="1777120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90AC37A-E48B-43AE-89BC-38731BFCD22E}"/>
              </a:ext>
            </a:extLst>
          </p:cNvPr>
          <p:cNvSpPr/>
          <p:nvPr/>
        </p:nvSpPr>
        <p:spPr>
          <a:xfrm>
            <a:off x="4078555" y="5020910"/>
            <a:ext cx="3967769" cy="1085644"/>
          </a:xfrm>
          <a:prstGeom prst="wedgeRoundRectCallout">
            <a:avLst>
              <a:gd name="adj1" fmla="val -84930"/>
              <a:gd name="adj2" fmla="val 5370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Addresses are 8-byte long on 64-bit machine; for brevity, I omit leading 0s.</a:t>
            </a:r>
          </a:p>
        </p:txBody>
      </p:sp>
    </p:spTree>
    <p:extLst>
      <p:ext uri="{BB962C8B-B14F-4D97-AF65-F5344CB8AC3E}">
        <p14:creationId xmlns:p14="http://schemas.microsoft.com/office/powerpoint/2010/main" val="1668329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04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7676" y="246277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97676" y="281166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316098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97676" y="386958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97676" y="351708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12" name="矩形 11"/>
          <p:cNvSpPr/>
          <p:nvPr/>
        </p:nvSpPr>
        <p:spPr>
          <a:xfrm>
            <a:off x="1097676" y="422312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1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97676" y="4579232"/>
            <a:ext cx="1091998" cy="140662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/>
              <a:t>2</a:t>
            </a:r>
            <a:endParaRPr kumimoji="1"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163227" y="1338671"/>
            <a:ext cx="26687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</a:p>
          <a:p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 b = 2;</a:t>
            </a:r>
            <a:endParaRPr lang="zh-CN" altLang="en-US" sz="2400" dirty="0"/>
          </a:p>
        </p:txBody>
      </p:sp>
      <p:grpSp>
        <p:nvGrpSpPr>
          <p:cNvPr id="36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38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39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0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1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3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7"/>
            <p:cNvSpPr/>
            <p:nvPr/>
          </p:nvSpPr>
          <p:spPr>
            <a:xfrm>
              <a:off x="2264260" y="390491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0x16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8"/>
            <p:cNvSpPr/>
            <p:nvPr/>
          </p:nvSpPr>
          <p:spPr>
            <a:xfrm>
              <a:off x="2264785" y="355830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0x17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9"/>
            <p:cNvSpPr/>
            <p:nvPr/>
          </p:nvSpPr>
          <p:spPr>
            <a:xfrm>
              <a:off x="2262875" y="322403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0x18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30"/>
            <p:cNvSpPr/>
            <p:nvPr/>
          </p:nvSpPr>
          <p:spPr>
            <a:xfrm>
              <a:off x="2265797" y="2860095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0x19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1"/>
            <p:cNvSpPr/>
            <p:nvPr/>
          </p:nvSpPr>
          <p:spPr>
            <a:xfrm>
              <a:off x="2276653" y="2492119"/>
              <a:ext cx="69021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0x1a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1" name="矩形 47"/>
            <p:cNvSpPr/>
            <p:nvPr/>
          </p:nvSpPr>
          <p:spPr>
            <a:xfrm>
              <a:off x="2286613" y="1777120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8696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35251" y="1362082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4133341" y="178911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168951" y="2206144"/>
            <a:ext cx="26687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*x;</a:t>
            </a:r>
          </a:p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36336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0x1d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68921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0x1e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12" name="Rounded Rectangular Callout 11"/>
          <p:cNvSpPr/>
          <p:nvPr/>
        </p:nvSpPr>
        <p:spPr>
          <a:xfrm>
            <a:off x="6306765" y="2109282"/>
            <a:ext cx="1985367" cy="887834"/>
          </a:xfrm>
          <a:prstGeom prst="wedgeRoundRectCallout">
            <a:avLst>
              <a:gd name="adj1" fmla="val -91822"/>
              <a:gd name="adj2" fmla="val 36346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&amp;</a:t>
            </a:r>
            <a:r>
              <a:rPr lang="en-US" sz="2000" dirty="0">
                <a:solidFill>
                  <a:srgbClr val="000000"/>
                </a:solidFill>
              </a:rPr>
              <a:t> gives address of variable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6240533" y="595291"/>
            <a:ext cx="2740335" cy="1081817"/>
          </a:xfrm>
          <a:prstGeom prst="wedgeRoundRectCallout">
            <a:avLst>
              <a:gd name="adj1" fmla="val -75905"/>
              <a:gd name="adj2" fmla="val 117495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Same as: char*   x;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You pronounce </a:t>
            </a:r>
            <a:r>
              <a:rPr lang="en-US" dirty="0" err="1">
                <a:solidFill>
                  <a:srgbClr val="000000"/>
                </a:solidFill>
              </a:rPr>
              <a:t>typename</a:t>
            </a:r>
            <a:r>
              <a:rPr lang="en-US" dirty="0">
                <a:solidFill>
                  <a:srgbClr val="000000"/>
                </a:solidFill>
              </a:rPr>
              <a:t> from right to 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11035" y="5862599"/>
            <a:ext cx="1811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type mismatch!</a:t>
            </a:r>
          </a:p>
        </p:txBody>
      </p:sp>
      <p:sp>
        <p:nvSpPr>
          <p:cNvPr id="48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D75CA7-7894-462E-8D96-7793D323969E}"/>
              </a:ext>
            </a:extLst>
          </p:cNvPr>
          <p:cNvGrpSpPr/>
          <p:nvPr/>
        </p:nvGrpSpPr>
        <p:grpSpPr>
          <a:xfrm>
            <a:off x="2928481" y="2420272"/>
            <a:ext cx="2786315" cy="1844505"/>
            <a:chOff x="2928481" y="2420272"/>
            <a:chExt cx="2786315" cy="1844505"/>
          </a:xfrm>
        </p:grpSpPr>
        <p:sp>
          <p:nvSpPr>
            <p:cNvPr id="34" name="Rounded Rectangular Callout 33"/>
            <p:cNvSpPr/>
            <p:nvPr/>
          </p:nvSpPr>
          <p:spPr>
            <a:xfrm>
              <a:off x="2928481" y="3376943"/>
              <a:ext cx="2786315" cy="887834"/>
            </a:xfrm>
            <a:prstGeom prst="wedgeRoundRectCallout">
              <a:avLst>
                <a:gd name="adj1" fmla="val -8580"/>
                <a:gd name="adj2" fmla="val -122467"/>
                <a:gd name="adj3" fmla="val 16667"/>
              </a:avLst>
            </a:prstGeom>
            <a:solidFill>
              <a:srgbClr val="DCE6F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</a:rPr>
                <a:t>Can be combined as:</a:t>
              </a:r>
            </a:p>
            <a:p>
              <a:pPr algn="ctr"/>
              <a:r>
                <a:rPr lang="en-US" sz="2000" dirty="0">
                  <a:solidFill>
                    <a:srgbClr val="000000"/>
                  </a:solidFill>
                </a:rPr>
                <a:t>char   *x = &amp;a;</a:t>
              </a:r>
            </a:p>
          </p:txBody>
        </p: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EE96B933-C318-4AE7-B8BA-D94C93FCC130}"/>
                </a:ext>
              </a:extLst>
            </p:cNvPr>
            <p:cNvSpPr/>
            <p:nvPr/>
          </p:nvSpPr>
          <p:spPr>
            <a:xfrm>
              <a:off x="4084189" y="2420272"/>
              <a:ext cx="184666" cy="490919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5AA4531-4171-4333-8283-D63650097A2B}"/>
              </a:ext>
            </a:extLst>
          </p:cNvPr>
          <p:cNvSpPr txBox="1"/>
          <p:nvPr/>
        </p:nvSpPr>
        <p:spPr>
          <a:xfrm>
            <a:off x="4497963" y="5299960"/>
            <a:ext cx="234089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what happens if I write</a:t>
            </a:r>
          </a:p>
          <a:p>
            <a:pPr algn="ctr"/>
            <a:r>
              <a:rPr lang="en-US" sz="1800" dirty="0">
                <a:solidFill>
                  <a:srgbClr val="000000"/>
                </a:solidFill>
              </a:rPr>
              <a:t>char x = &amp;a;</a:t>
            </a:r>
          </a:p>
        </p:txBody>
      </p:sp>
    </p:spTree>
    <p:extLst>
      <p:ext uri="{BB962C8B-B14F-4D97-AF65-F5344CB8AC3E}">
        <p14:creationId xmlns:p14="http://schemas.microsoft.com/office/powerpoint/2010/main" val="95976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5" grpId="0" animBg="1"/>
      <p:bldP spid="3" grpId="0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88986" y="137542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987076" y="1802463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022686" y="221948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13414" y="1048742"/>
            <a:ext cx="768021" cy="5317404"/>
            <a:chOff x="2213414" y="1048742"/>
            <a:chExt cx="768021" cy="5317404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0x1d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34"/>
            <p:cNvSpPr/>
            <p:nvPr/>
          </p:nvSpPr>
          <p:spPr>
            <a:xfrm>
              <a:off x="2213414" y="104874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0xff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68921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0x1e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3" name="Rounded Rectangular Callout 2"/>
          <p:cNvSpPr/>
          <p:nvPr/>
        </p:nvSpPr>
        <p:spPr>
          <a:xfrm>
            <a:off x="3931778" y="4725294"/>
            <a:ext cx="2527552" cy="1098954"/>
          </a:xfrm>
          <a:prstGeom prst="wedgeRoundRectCallout">
            <a:avLst>
              <a:gd name="adj1" fmla="val -62279"/>
              <a:gd name="adj2" fmla="val -15842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Size of pointer on a 64-bit machine? </a:t>
            </a:r>
          </a:p>
          <a:p>
            <a:pPr algn="ctr"/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3075786" y="2492119"/>
            <a:ext cx="442400" cy="1975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21984" y="5369301"/>
            <a:ext cx="937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8 bytes</a:t>
            </a:r>
          </a:p>
        </p:txBody>
      </p: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" name="矩形 38">
            <a:extLst>
              <a:ext uri="{FF2B5EF4-FFF2-40B4-BE49-F238E27FC236}">
                <a16:creationId xmlns:a16="http://schemas.microsoft.com/office/drawing/2014/main" id="{6B28F555-39F5-488D-AD52-4F2943D9B8F2}"/>
              </a:ext>
            </a:extLst>
          </p:cNvPr>
          <p:cNvSpPr/>
          <p:nvPr/>
        </p:nvSpPr>
        <p:spPr>
          <a:xfrm>
            <a:off x="4035300" y="2660455"/>
            <a:ext cx="41814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(“x=%p\n”, x); </a:t>
            </a:r>
            <a:endParaRPr lang="zh-CN" altLang="en-US" sz="2400" dirty="0"/>
          </a:p>
        </p:txBody>
      </p:sp>
      <p:sp>
        <p:nvSpPr>
          <p:cNvPr id="11" name="Rounded Rectangular Callout 2">
            <a:extLst>
              <a:ext uri="{FF2B5EF4-FFF2-40B4-BE49-F238E27FC236}">
                <a16:creationId xmlns:a16="http://schemas.microsoft.com/office/drawing/2014/main" id="{D6A7A176-D7C2-47F0-A9D7-76690E6718E1}"/>
              </a:ext>
            </a:extLst>
          </p:cNvPr>
          <p:cNvSpPr/>
          <p:nvPr/>
        </p:nvSpPr>
        <p:spPr>
          <a:xfrm>
            <a:off x="5393982" y="3517990"/>
            <a:ext cx="3599764" cy="1207303"/>
          </a:xfrm>
          <a:prstGeom prst="wedgeRoundRectCallout">
            <a:avLst>
              <a:gd name="adj1" fmla="val -27460"/>
              <a:gd name="adj2" fmla="val -89672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You can print the value of a pointer variable with %p (leading zeros are not printed)</a:t>
            </a:r>
          </a:p>
          <a:p>
            <a:pPr algn="ctr"/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D45A3B-DA93-450E-A5A5-B4DAE178F1B1}"/>
              </a:ext>
            </a:extLst>
          </p:cNvPr>
          <p:cNvSpPr txBox="1"/>
          <p:nvPr/>
        </p:nvSpPr>
        <p:spPr>
          <a:xfrm>
            <a:off x="6792228" y="4316365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0x10</a:t>
            </a:r>
          </a:p>
        </p:txBody>
      </p:sp>
      <p:pic>
        <p:nvPicPr>
          <p:cNvPr id="12" name="Picture 2" descr="Bang good Buzzer Alarm Push Button Lottery Trivia Quiz Game Red Light With  Sound - US$11.99-arrival notice">
            <a:extLst>
              <a:ext uri="{FF2B5EF4-FFF2-40B4-BE49-F238E27FC236}">
                <a16:creationId xmlns:a16="http://schemas.microsoft.com/office/drawing/2014/main" id="{4846E216-9B4F-4B6C-ADF2-D81D7D207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667" y="4725294"/>
            <a:ext cx="525582" cy="52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Bang good Buzzer Alarm Push Button Lottery Trivia Quiz Game Red Light With  Sound - US$11.99-arrival notice">
            <a:extLst>
              <a:ext uri="{FF2B5EF4-FFF2-40B4-BE49-F238E27FC236}">
                <a16:creationId xmlns:a16="http://schemas.microsoft.com/office/drawing/2014/main" id="{25437059-1230-41E6-BBB8-5A3F16F24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616" y="3517990"/>
            <a:ext cx="525582" cy="52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98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1" grpId="0" animBg="1"/>
      <p:bldP spid="6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523603"/>
            <a:ext cx="750380" cy="4842543"/>
            <a:chOff x="2231055" y="1523603"/>
            <a:chExt cx="750380" cy="4842543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523603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5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EC256D-3AF5-4C55-8C14-29954623D920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67C4F4-01B6-49F2-BE16-EBBF2C5C0C09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01BB1705-2BF8-44C6-8D68-6177327C411F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E373BEA9-7F80-4510-A17D-1332E178C936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292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16">
            <a:extLst>
              <a:ext uri="{FF2B5EF4-FFF2-40B4-BE49-F238E27FC236}">
                <a16:creationId xmlns:a16="http://schemas.microsoft.com/office/drawing/2014/main" id="{2F238F76-39EB-1F4A-8061-54E61690505C}"/>
              </a:ext>
            </a:extLst>
          </p:cNvPr>
          <p:cNvSpPr/>
          <p:nvPr/>
        </p:nvSpPr>
        <p:spPr>
          <a:xfrm>
            <a:off x="1107196" y="597449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1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kumimoji="1"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cxnSpLocks/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5217459" y="2860095"/>
            <a:ext cx="3738282" cy="1407115"/>
          </a:xfrm>
          <a:prstGeom prst="wedgeRoundRectCallout">
            <a:avLst>
              <a:gd name="adj1" fmla="val -61336"/>
              <a:gd name="adj2" fmla="val 1472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* operator dereferences a pointer, not to be confused with the * in (char *) which is part of </a:t>
            </a:r>
            <a:r>
              <a:rPr lang="en-US" sz="2000" dirty="0" err="1">
                <a:solidFill>
                  <a:srgbClr val="000000"/>
                </a:solidFill>
              </a:rPr>
              <a:t>typename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7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65" name="Rounded Rectangular Callout 64"/>
          <p:cNvSpPr/>
          <p:nvPr/>
        </p:nvSpPr>
        <p:spPr>
          <a:xfrm>
            <a:off x="4090251" y="4807794"/>
            <a:ext cx="3839225" cy="1046507"/>
          </a:xfrm>
          <a:prstGeom prst="wedgeRoundRectCallout">
            <a:avLst>
              <a:gd name="adj1" fmla="val -56451"/>
              <a:gd name="adj2" fmla="val -12496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Value of variable a after this statement?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5DF5FF-FF07-4690-8838-9BF3944ECD1E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72AC05-A275-4190-90FA-FC24C69926BD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7DA32564-58DB-48D4-8FF5-668013BB430D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5334041F-4720-4398-8E6F-74EB5C3EC854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53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6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??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/>
                <a:cs typeface="Verdana"/>
              </a:rPr>
              <a:t>1</a:t>
            </a:r>
            <a:endParaRPr kumimoji="1"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2359753" y="870798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2233281" y="1417638"/>
            <a:ext cx="846701" cy="4436663"/>
          </a:xfrm>
          <a:custGeom>
            <a:avLst/>
            <a:gdLst>
              <a:gd name="connsiteX0" fmla="*/ 0 w 846701"/>
              <a:gd name="connsiteY0" fmla="*/ 14599 h 2408877"/>
              <a:gd name="connsiteX1" fmla="*/ 846701 w 846701"/>
              <a:gd name="connsiteY1" fmla="*/ 0 h 2408877"/>
              <a:gd name="connsiteX2" fmla="*/ 846701 w 846701"/>
              <a:gd name="connsiteY2" fmla="*/ 2394278 h 2408877"/>
              <a:gd name="connsiteX3" fmla="*/ 72992 w 846701"/>
              <a:gd name="connsiteY3" fmla="*/ 2408877 h 24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701" h="2408877">
                <a:moveTo>
                  <a:pt x="0" y="14599"/>
                </a:moveTo>
                <a:lnTo>
                  <a:pt x="846701" y="0"/>
                </a:lnTo>
                <a:lnTo>
                  <a:pt x="846701" y="2394278"/>
                </a:lnTo>
                <a:lnTo>
                  <a:pt x="72992" y="2408877"/>
                </a:lnTo>
              </a:path>
            </a:pathLst>
          </a:custGeom>
          <a:ln>
            <a:solidFill>
              <a:srgbClr val="0000FF"/>
            </a:solidFill>
            <a:headEnd type="none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3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6498514" y="2054084"/>
            <a:ext cx="2188286" cy="1043175"/>
          </a:xfrm>
          <a:prstGeom prst="wedgeRoundRectCallout">
            <a:avLst>
              <a:gd name="adj1" fmla="val -92030"/>
              <a:gd name="adj2" fmla="val -207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what if x is uninitialized?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4666135" y="2577875"/>
            <a:ext cx="826910" cy="1"/>
          </a:xfrm>
          <a:prstGeom prst="line">
            <a:avLst/>
          </a:prstGeom>
          <a:ln w="5715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ular Callout 46"/>
          <p:cNvSpPr/>
          <p:nvPr/>
        </p:nvSpPr>
        <p:spPr>
          <a:xfrm>
            <a:off x="5286317" y="3383328"/>
            <a:ext cx="3721095" cy="1342508"/>
          </a:xfrm>
          <a:prstGeom prst="wedgeRoundRectCallout">
            <a:avLst>
              <a:gd name="adj1" fmla="val -63116"/>
              <a:gd name="adj2" fmla="val -1983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Dereferencing an arbitrary address value may result in “Segmentation fault” or a random memory write</a:t>
            </a:r>
          </a:p>
        </p:txBody>
      </p:sp>
      <p:sp>
        <p:nvSpPr>
          <p:cNvPr id="65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C6088E-5EC3-4D5F-AE6F-82D936FCA195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AC19788C-D720-4B86-A354-6C231D261E93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8AB1EE-FB16-4521-B46A-754CFE9AFAE2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44">
            <a:extLst>
              <a:ext uri="{FF2B5EF4-FFF2-40B4-BE49-F238E27FC236}">
                <a16:creationId xmlns:a16="http://schemas.microsoft.com/office/drawing/2014/main" id="{3AC114A4-5D05-4681-95BD-E6A070297C31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338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FF0000"/>
                </a:solidFill>
              </a:rPr>
              <a:t>0x0</a:t>
            </a:r>
            <a:endParaRPr kumimoji="1"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0D0D0D"/>
                </a:solidFill>
                <a:latin typeface="Verdana"/>
                <a:cs typeface="Verdana"/>
              </a:rPr>
              <a:t>1</a:t>
            </a:r>
            <a:endParaRPr kumimoji="1" lang="zh-CN" altLang="en-US" sz="2000" dirty="0">
              <a:solidFill>
                <a:srgbClr val="0D0D0D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3198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NULL;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2319873" y="955692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3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6675709" y="1857406"/>
            <a:ext cx="2188286" cy="1043175"/>
          </a:xfrm>
          <a:prstGeom prst="wedgeRoundRectCallout">
            <a:avLst>
              <a:gd name="adj1" fmla="val -81909"/>
              <a:gd name="adj2" fmla="val 1350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Always initialize pointers!</a:t>
            </a:r>
          </a:p>
        </p:txBody>
      </p:sp>
      <p:sp>
        <p:nvSpPr>
          <p:cNvPr id="47" name="Rounded Rectangular Callout 46"/>
          <p:cNvSpPr/>
          <p:nvPr/>
        </p:nvSpPr>
        <p:spPr>
          <a:xfrm>
            <a:off x="5676340" y="3383328"/>
            <a:ext cx="3331072" cy="1043175"/>
          </a:xfrm>
          <a:prstGeom prst="wedgeRoundRectCallout">
            <a:avLst>
              <a:gd name="adj1" fmla="val -77402"/>
              <a:gd name="adj2" fmla="val -77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Dereferencing NULL pointer definitely results in “Segmentation fault”</a:t>
            </a:r>
          </a:p>
        </p:txBody>
      </p:sp>
      <p:sp>
        <p:nvSpPr>
          <p:cNvPr id="65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CCA544-E050-4744-875C-18BBCDA98EFF}"/>
              </a:ext>
            </a:extLst>
          </p:cNvPr>
          <p:cNvSpPr/>
          <p:nvPr/>
        </p:nvSpPr>
        <p:spPr>
          <a:xfrm>
            <a:off x="1097676" y="14048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AFE338-77C2-42A5-8252-93DCC8A1155D}"/>
              </a:ext>
            </a:extLst>
          </p:cNvPr>
          <p:cNvSpPr/>
          <p:nvPr/>
        </p:nvSpPr>
        <p:spPr>
          <a:xfrm>
            <a:off x="1097676" y="17541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303D61C7-9F84-4AC5-B41D-061E767BA3E6}"/>
              </a:ext>
            </a:extLst>
          </p:cNvPr>
          <p:cNvSpPr/>
          <p:nvPr/>
        </p:nvSpPr>
        <p:spPr>
          <a:xfrm>
            <a:off x="1097676" y="21102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53238A05-4177-4166-AD51-7344C25E2341}"/>
              </a:ext>
            </a:extLst>
          </p:cNvPr>
          <p:cNvSpPr/>
          <p:nvPr/>
        </p:nvSpPr>
        <p:spPr>
          <a:xfrm>
            <a:off x="1094760" y="104874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6123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39930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FF0000"/>
                </a:solidFill>
              </a:rPr>
              <a:t>0x0</a:t>
            </a:r>
            <a:endParaRPr kumimoji="1"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9930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0D0D0D"/>
                </a:solidFill>
                <a:latin typeface="Verdana"/>
                <a:cs typeface="Verdana"/>
              </a:rPr>
              <a:t>1</a:t>
            </a:r>
            <a:endParaRPr kumimoji="1" lang="zh-CN" altLang="en-US" sz="2000" dirty="0">
              <a:solidFill>
                <a:srgbClr val="0D0D0D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186653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37014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186653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3198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NULL;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186653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1731928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1773309" y="1375426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1862127" y="967259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3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65" name="矩形 3"/>
          <p:cNvSpPr/>
          <p:nvPr/>
        </p:nvSpPr>
        <p:spPr>
          <a:xfrm>
            <a:off x="639930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pic>
        <p:nvPicPr>
          <p:cNvPr id="4" name="Picture 3" descr="Screen Shot 2018-09-24 at 1.35.5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835" y="4267210"/>
            <a:ext cx="6264266" cy="2098936"/>
          </a:xfrm>
          <a:prstGeom prst="rect">
            <a:avLst/>
          </a:prstGeom>
        </p:spPr>
      </p:pic>
      <p:sp>
        <p:nvSpPr>
          <p:cNvPr id="3" name="矩形 3">
            <a:extLst>
              <a:ext uri="{FF2B5EF4-FFF2-40B4-BE49-F238E27FC236}">
                <a16:creationId xmlns:a16="http://schemas.microsoft.com/office/drawing/2014/main" id="{AFD5B97B-F7C3-4A41-A270-4F59BC18434D}"/>
              </a:ext>
            </a:extLst>
          </p:cNvPr>
          <p:cNvSpPr/>
          <p:nvPr/>
        </p:nvSpPr>
        <p:spPr>
          <a:xfrm>
            <a:off x="637014" y="14230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F2072E-9B83-4874-BEB3-C466B1ABF5DF}"/>
              </a:ext>
            </a:extLst>
          </p:cNvPr>
          <p:cNvSpPr/>
          <p:nvPr/>
        </p:nvSpPr>
        <p:spPr>
          <a:xfrm>
            <a:off x="637014" y="177239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5320B0F1-A1A8-40B0-A5EC-4AA15C414B24}"/>
              </a:ext>
            </a:extLst>
          </p:cNvPr>
          <p:cNvSpPr/>
          <p:nvPr/>
        </p:nvSpPr>
        <p:spPr>
          <a:xfrm>
            <a:off x="637014" y="21285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44">
            <a:extLst>
              <a:ext uri="{FF2B5EF4-FFF2-40B4-BE49-F238E27FC236}">
                <a16:creationId xmlns:a16="http://schemas.microsoft.com/office/drawing/2014/main" id="{4B5370AB-DAD0-4C77-B34F-F247F418F182}"/>
              </a:ext>
            </a:extLst>
          </p:cNvPr>
          <p:cNvSpPr/>
          <p:nvPr/>
        </p:nvSpPr>
        <p:spPr>
          <a:xfrm>
            <a:off x="634098" y="10669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655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7825" y="263316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Pointer has different types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59185" y="2464403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659185" y="597116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3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205908" y="5976852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656269" y="4562193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ea typeface="宋体" pitchFamily="2" charset="-122"/>
                <a:cs typeface="Consolas"/>
              </a:rPr>
              <a:t>2</a:t>
            </a:r>
            <a:endParaRPr kumimoji="1" lang="zh-CN" altLang="en-US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205908" y="560183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205908" y="4199502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1751183" y="3513298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1792564" y="1367334"/>
            <a:ext cx="750380" cy="4990720"/>
            <a:chOff x="2231055" y="1375426"/>
            <a:chExt cx="750380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6948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35" name="矩形 40"/>
          <p:cNvSpPr/>
          <p:nvPr/>
        </p:nvSpPr>
        <p:spPr>
          <a:xfrm>
            <a:off x="3421276" y="3503473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*y = &amp;b;</a:t>
            </a:r>
            <a:endParaRPr lang="zh-CN" altLang="en-US" sz="2400" dirty="0"/>
          </a:p>
        </p:txBody>
      </p:sp>
      <p:sp>
        <p:nvSpPr>
          <p:cNvPr id="45" name="矩形 45"/>
          <p:cNvSpPr/>
          <p:nvPr/>
        </p:nvSpPr>
        <p:spPr>
          <a:xfrm>
            <a:off x="3386931" y="280442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47" name="矩形 48"/>
          <p:cNvSpPr/>
          <p:nvPr/>
        </p:nvSpPr>
        <p:spPr>
          <a:xfrm>
            <a:off x="3386930" y="396513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*y = 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127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65" name="矩形 3"/>
          <p:cNvSpPr/>
          <p:nvPr/>
        </p:nvSpPr>
        <p:spPr>
          <a:xfrm>
            <a:off x="659185" y="633385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36A00AF4-3248-47DD-B689-8DA9A02944D9}"/>
              </a:ext>
            </a:extLst>
          </p:cNvPr>
          <p:cNvSpPr/>
          <p:nvPr/>
        </p:nvSpPr>
        <p:spPr>
          <a:xfrm>
            <a:off x="659185" y="14230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9769BF46-059B-473C-B4EB-30CB92D7E865}"/>
              </a:ext>
            </a:extLst>
          </p:cNvPr>
          <p:cNvSpPr/>
          <p:nvPr/>
        </p:nvSpPr>
        <p:spPr>
          <a:xfrm>
            <a:off x="659185" y="177239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50000"/>
              </a:lnSpc>
            </a:pPr>
            <a:endParaRPr kumimoji="1" lang="zh-CN" altLang="en-US" sz="3600" b="1" dirty="0">
              <a:solidFill>
                <a:prstClr val="black"/>
              </a:solidFill>
            </a:endParaRPr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D615F702-A050-4017-9852-FB9AE849184C}"/>
              </a:ext>
            </a:extLst>
          </p:cNvPr>
          <p:cNvSpPr/>
          <p:nvPr/>
        </p:nvSpPr>
        <p:spPr>
          <a:xfrm>
            <a:off x="659185" y="21285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44">
            <a:extLst>
              <a:ext uri="{FF2B5EF4-FFF2-40B4-BE49-F238E27FC236}">
                <a16:creationId xmlns:a16="http://schemas.microsoft.com/office/drawing/2014/main" id="{39B5D8E8-B217-4A1C-A3BD-7B4D7CF5883D}"/>
              </a:ext>
            </a:extLst>
          </p:cNvPr>
          <p:cNvSpPr/>
          <p:nvPr/>
        </p:nvSpPr>
        <p:spPr>
          <a:xfrm>
            <a:off x="656269" y="106697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0AE460-3722-47C0-AD33-4CBBAE7CAED5}"/>
              </a:ext>
            </a:extLst>
          </p:cNvPr>
          <p:cNvGrpSpPr/>
          <p:nvPr/>
        </p:nvGrpSpPr>
        <p:grpSpPr>
          <a:xfrm>
            <a:off x="221447" y="387213"/>
            <a:ext cx="1523904" cy="2097789"/>
            <a:chOff x="221447" y="387213"/>
            <a:chExt cx="1523904" cy="2097789"/>
          </a:xfrm>
        </p:grpSpPr>
        <p:sp>
          <p:nvSpPr>
            <p:cNvPr id="64" name="矩形 46"/>
            <p:cNvSpPr/>
            <p:nvPr/>
          </p:nvSpPr>
          <p:spPr>
            <a:xfrm>
              <a:off x="221447" y="2064292"/>
              <a:ext cx="40524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y: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48" name="矩形 8"/>
            <p:cNvSpPr/>
            <p:nvPr/>
          </p:nvSpPr>
          <p:spPr>
            <a:xfrm>
              <a:off x="653353" y="387213"/>
              <a:ext cx="1091998" cy="2097789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9D2029A-28B7-4BD6-A623-7B55D8E7A109}"/>
              </a:ext>
            </a:extLst>
          </p:cNvPr>
          <p:cNvSpPr txBox="1"/>
          <p:nvPr/>
        </p:nvSpPr>
        <p:spPr>
          <a:xfrm>
            <a:off x="884113" y="5061035"/>
            <a:ext cx="65114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127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AE0619-EA91-46A8-8431-55297FDD1F13}"/>
              </a:ext>
            </a:extLst>
          </p:cNvPr>
          <p:cNvGrpSpPr/>
          <p:nvPr/>
        </p:nvGrpSpPr>
        <p:grpSpPr>
          <a:xfrm>
            <a:off x="807257" y="1198826"/>
            <a:ext cx="1834234" cy="4647383"/>
            <a:chOff x="807257" y="1198826"/>
            <a:chExt cx="1834234" cy="4647383"/>
          </a:xfrm>
        </p:grpSpPr>
        <p:sp>
          <p:nvSpPr>
            <p:cNvPr id="24" name="Freeform 23"/>
            <p:cNvSpPr/>
            <p:nvPr/>
          </p:nvSpPr>
          <p:spPr>
            <a:xfrm>
              <a:off x="1794790" y="1409546"/>
              <a:ext cx="846701" cy="4436663"/>
            </a:xfrm>
            <a:custGeom>
              <a:avLst/>
              <a:gdLst>
                <a:gd name="connsiteX0" fmla="*/ 0 w 846701"/>
                <a:gd name="connsiteY0" fmla="*/ 14599 h 2408877"/>
                <a:gd name="connsiteX1" fmla="*/ 846701 w 846701"/>
                <a:gd name="connsiteY1" fmla="*/ 0 h 2408877"/>
                <a:gd name="connsiteX2" fmla="*/ 846701 w 846701"/>
                <a:gd name="connsiteY2" fmla="*/ 2394278 h 2408877"/>
                <a:gd name="connsiteX3" fmla="*/ 72992 w 846701"/>
                <a:gd name="connsiteY3" fmla="*/ 2408877 h 2408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701" h="2408877">
                  <a:moveTo>
                    <a:pt x="0" y="14599"/>
                  </a:moveTo>
                  <a:lnTo>
                    <a:pt x="846701" y="0"/>
                  </a:lnTo>
                  <a:lnTo>
                    <a:pt x="846701" y="2394278"/>
                  </a:lnTo>
                  <a:lnTo>
                    <a:pt x="72992" y="2408877"/>
                  </a:lnTo>
                </a:path>
              </a:pathLst>
            </a:custGeom>
            <a:ln>
              <a:solidFill>
                <a:srgbClr val="0000FF"/>
              </a:solidFill>
              <a:headEnd type="none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024C7A-5AC4-4772-8612-077566458ADF}"/>
                </a:ext>
              </a:extLst>
            </p:cNvPr>
            <p:cNvSpPr txBox="1"/>
            <p:nvPr/>
          </p:nvSpPr>
          <p:spPr>
            <a:xfrm>
              <a:off x="807257" y="1198826"/>
              <a:ext cx="78418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0x11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9492089-2F56-4498-871C-7E1B30CD4DD9}"/>
              </a:ext>
            </a:extLst>
          </p:cNvPr>
          <p:cNvSpPr txBox="1"/>
          <p:nvPr/>
        </p:nvSpPr>
        <p:spPr>
          <a:xfrm>
            <a:off x="5696756" y="3385220"/>
            <a:ext cx="162095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what if I write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en-US" sz="1800" dirty="0">
                <a:solidFill>
                  <a:srgbClr val="000000"/>
                </a:solidFill>
              </a:rPr>
              <a:t>har *y = &amp;b;</a:t>
            </a:r>
          </a:p>
        </p:txBody>
      </p:sp>
    </p:spTree>
    <p:extLst>
      <p:ext uri="{BB962C8B-B14F-4D97-AF65-F5344CB8AC3E}">
        <p14:creationId xmlns:p14="http://schemas.microsoft.com/office/powerpoint/2010/main" val="425834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0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AE8D-FDFA-23DF-5E9E-66397F30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55AEAF36-4352-3589-7B3F-CDAF13325A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9024730" cy="666584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B21E73DF-B829-BAC4-3D62-FD4ECD89F2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9024730" cy="66658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3816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3515" y="259023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Double 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0x10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3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44399" y="420759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x: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stCxn id="9" idx="3"/>
            <a:endCxn id="17" idx="3"/>
          </p:cNvCxnSpPr>
          <p:nvPr/>
        </p:nvCxnSpPr>
        <p:spPr>
          <a:xfrm>
            <a:off x="2189674" y="3521390"/>
            <a:ext cx="12700" cy="2635922"/>
          </a:xfrm>
          <a:prstGeom prst="bentConnector3">
            <a:avLst>
              <a:gd name="adj1" fmla="val 547830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231055" y="1375426"/>
            <a:ext cx="721365" cy="4990720"/>
            <a:chOff x="2231055" y="1375426"/>
            <a:chExt cx="721365" cy="499072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252390" y="4267210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0x15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64260" y="3904916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738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0x1c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9" name="矩形 32"/>
            <p:cNvSpPr/>
            <p:nvPr/>
          </p:nvSpPr>
          <p:spPr>
            <a:xfrm>
              <a:off x="2286613" y="2133941"/>
              <a:ext cx="1847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63" name="矩形 46"/>
          <p:cNvSpPr/>
          <p:nvPr/>
        </p:nvSpPr>
        <p:spPr>
          <a:xfrm>
            <a:off x="2286613" y="24103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45" name="矩形 45"/>
          <p:cNvSpPr/>
          <p:nvPr/>
        </p:nvSpPr>
        <p:spPr>
          <a:xfrm>
            <a:off x="3306740" y="2664314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65" name="矩形 52"/>
          <p:cNvSpPr/>
          <p:nvPr/>
        </p:nvSpPr>
        <p:spPr>
          <a:xfrm>
            <a:off x="3325237" y="3290557"/>
            <a:ext cx="35824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**xx = &amp;x;</a:t>
            </a:r>
            <a:endParaRPr lang="zh-CN" altLang="en-US" sz="2400" dirty="0"/>
          </a:p>
        </p:txBody>
      </p:sp>
      <p:sp>
        <p:nvSpPr>
          <p:cNvPr id="67" name="Rounded Rectangular Callout 66"/>
          <p:cNvSpPr/>
          <p:nvPr/>
        </p:nvSpPr>
        <p:spPr>
          <a:xfrm>
            <a:off x="5980793" y="1238167"/>
            <a:ext cx="1985367" cy="887834"/>
          </a:xfrm>
          <a:prstGeom prst="wedgeRoundRectCallout">
            <a:avLst>
              <a:gd name="adj1" fmla="val -94191"/>
              <a:gd name="adj2" fmla="val 189979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Same as: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</a:rPr>
              <a:t>char   **xx;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</a:rPr>
              <a:t>xx = &amp;x;</a:t>
            </a:r>
          </a:p>
        </p:txBody>
      </p:sp>
      <p:sp>
        <p:nvSpPr>
          <p:cNvPr id="68" name="Rounded Rectangular Callout 67"/>
          <p:cNvSpPr/>
          <p:nvPr/>
        </p:nvSpPr>
        <p:spPr>
          <a:xfrm>
            <a:off x="3359174" y="3914144"/>
            <a:ext cx="2332352" cy="887834"/>
          </a:xfrm>
          <a:prstGeom prst="wedgeRoundRectCallout">
            <a:avLst>
              <a:gd name="adj1" fmla="val -12978"/>
              <a:gd name="adj2" fmla="val -85909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char **xx is the same as char**  xx;</a:t>
            </a:r>
          </a:p>
        </p:txBody>
      </p:sp>
      <p:sp>
        <p:nvSpPr>
          <p:cNvPr id="71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C86E7BF1-9069-44B6-B805-76047FE313F4}"/>
              </a:ext>
            </a:extLst>
          </p:cNvPr>
          <p:cNvSpPr/>
          <p:nvPr/>
        </p:nvSpPr>
        <p:spPr>
          <a:xfrm>
            <a:off x="1087538" y="212600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28" name="矩形 52">
            <a:extLst>
              <a:ext uri="{FF2B5EF4-FFF2-40B4-BE49-F238E27FC236}">
                <a16:creationId xmlns:a16="http://schemas.microsoft.com/office/drawing/2014/main" id="{E0287F1F-7960-4570-91A0-7B4EA9134350}"/>
              </a:ext>
            </a:extLst>
          </p:cNvPr>
          <p:cNvSpPr/>
          <p:nvPr/>
        </p:nvSpPr>
        <p:spPr>
          <a:xfrm>
            <a:off x="3294372" y="5077430"/>
            <a:ext cx="575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</a:rPr>
              <a:t>printf</a:t>
            </a:r>
            <a:r>
              <a:rPr lang="en-US" sz="2000" dirty="0">
                <a:solidFill>
                  <a:srgbClr val="000000"/>
                </a:solidFill>
              </a:rPr>
              <a:t>(“xx=%p *xx=%p **xx=%d\n”, xx, *xx, **xx);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32AEAA-4875-430F-B96F-03B4B12F98FC}"/>
              </a:ext>
            </a:extLst>
          </p:cNvPr>
          <p:cNvSpPr/>
          <p:nvPr/>
        </p:nvSpPr>
        <p:spPr>
          <a:xfrm>
            <a:off x="1104026" y="45856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C3EC647E-C309-47F6-A200-FA7075E496ED}"/>
              </a:ext>
            </a:extLst>
          </p:cNvPr>
          <p:cNvSpPr/>
          <p:nvPr/>
        </p:nvSpPr>
        <p:spPr>
          <a:xfrm>
            <a:off x="1104026" y="494836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A0F04111-73CA-4FE9-B2CB-77023898BE01}"/>
              </a:ext>
            </a:extLst>
          </p:cNvPr>
          <p:cNvSpPr/>
          <p:nvPr/>
        </p:nvSpPr>
        <p:spPr>
          <a:xfrm>
            <a:off x="1104051" y="530510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EA0227F1-CC18-478C-8654-E982B5EC1B5F}"/>
              </a:ext>
            </a:extLst>
          </p:cNvPr>
          <p:cNvSpPr/>
          <p:nvPr/>
        </p:nvSpPr>
        <p:spPr>
          <a:xfrm>
            <a:off x="1093293" y="566740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AFDCD2-1827-4E73-AE3A-08730440F716}"/>
              </a:ext>
            </a:extLst>
          </p:cNvPr>
          <p:cNvSpPr txBox="1"/>
          <p:nvPr/>
        </p:nvSpPr>
        <p:spPr>
          <a:xfrm>
            <a:off x="6310649" y="3150863"/>
            <a:ext cx="162095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what if I write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char *xx =&amp;x;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283BC130-2DEA-49A6-9699-59D69E1EAD76}"/>
              </a:ext>
            </a:extLst>
          </p:cNvPr>
          <p:cNvSpPr/>
          <p:nvPr/>
        </p:nvSpPr>
        <p:spPr>
          <a:xfrm>
            <a:off x="1087538" y="17666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52AB6D1B-707E-471A-8246-C55D91D8775F}"/>
              </a:ext>
            </a:extLst>
          </p:cNvPr>
          <p:cNvSpPr/>
          <p:nvPr/>
        </p:nvSpPr>
        <p:spPr>
          <a:xfrm>
            <a:off x="1082890" y="1411403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6B647E44-3359-4207-B32E-EE856DDE41B6}"/>
              </a:ext>
            </a:extLst>
          </p:cNvPr>
          <p:cNvSpPr/>
          <p:nvPr/>
        </p:nvSpPr>
        <p:spPr>
          <a:xfrm>
            <a:off x="1080674" y="105498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8" name="矩形 3">
            <a:extLst>
              <a:ext uri="{FF2B5EF4-FFF2-40B4-BE49-F238E27FC236}">
                <a16:creationId xmlns:a16="http://schemas.microsoft.com/office/drawing/2014/main" id="{AD803A63-FB0E-4B08-9398-645C2F3CA779}"/>
              </a:ext>
            </a:extLst>
          </p:cNvPr>
          <p:cNvSpPr/>
          <p:nvPr/>
        </p:nvSpPr>
        <p:spPr>
          <a:xfrm>
            <a:off x="1078458" y="708743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73AD0144-8BC8-4BF9-BE4A-4949B558D130}"/>
              </a:ext>
            </a:extLst>
          </p:cNvPr>
          <p:cNvSpPr/>
          <p:nvPr/>
        </p:nvSpPr>
        <p:spPr>
          <a:xfrm>
            <a:off x="1076242" y="34696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926C8EEB-48F5-4B91-BF4F-6927A0A3EE89}"/>
              </a:ext>
            </a:extLst>
          </p:cNvPr>
          <p:cNvSpPr/>
          <p:nvPr/>
        </p:nvSpPr>
        <p:spPr>
          <a:xfrm>
            <a:off x="1070723" y="1988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3F9CB3-F560-4F04-8A5E-0F961A1E4E5C}"/>
              </a:ext>
            </a:extLst>
          </p:cNvPr>
          <p:cNvGrpSpPr/>
          <p:nvPr/>
        </p:nvGrpSpPr>
        <p:grpSpPr>
          <a:xfrm>
            <a:off x="542815" y="40738"/>
            <a:ext cx="1625425" cy="2121757"/>
            <a:chOff x="542815" y="16749"/>
            <a:chExt cx="1625425" cy="2121757"/>
          </a:xfrm>
        </p:grpSpPr>
        <p:sp>
          <p:nvSpPr>
            <p:cNvPr id="64" name="矩形 46"/>
            <p:cNvSpPr/>
            <p:nvPr/>
          </p:nvSpPr>
          <p:spPr>
            <a:xfrm>
              <a:off x="542815" y="1738396"/>
              <a:ext cx="60625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xx: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48" name="矩形 8"/>
            <p:cNvSpPr/>
            <p:nvPr/>
          </p:nvSpPr>
          <p:spPr>
            <a:xfrm>
              <a:off x="1076242" y="16749"/>
              <a:ext cx="1091998" cy="2097789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3000" dirty="0"/>
                <a:t>??</a:t>
              </a:r>
              <a:endParaRPr kumimoji="1" lang="zh-CN" altLang="en-US" sz="30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A3D328-57FC-49CA-AD68-BF5B0D8C6DC7}"/>
              </a:ext>
            </a:extLst>
          </p:cNvPr>
          <p:cNvGrpSpPr/>
          <p:nvPr/>
        </p:nvGrpSpPr>
        <p:grpSpPr>
          <a:xfrm>
            <a:off x="1257930" y="830523"/>
            <a:ext cx="994460" cy="3605964"/>
            <a:chOff x="1257930" y="830523"/>
            <a:chExt cx="994460" cy="3605964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6B33EC70-AD54-46D0-B23F-A671BE382254}"/>
                </a:ext>
              </a:extLst>
            </p:cNvPr>
            <p:cNvCxnSpPr>
              <a:cxnSpLocks/>
              <a:stCxn id="48" idx="3"/>
              <a:endCxn id="53" idx="1"/>
            </p:cNvCxnSpPr>
            <p:nvPr/>
          </p:nvCxnSpPr>
          <p:spPr>
            <a:xfrm>
              <a:off x="2168240" y="1089633"/>
              <a:ext cx="84150" cy="3346854"/>
            </a:xfrm>
            <a:prstGeom prst="bentConnector3">
              <a:avLst>
                <a:gd name="adj1" fmla="val 111112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C37996C-207D-4484-8345-E20427B4BF3E}"/>
                </a:ext>
              </a:extLst>
            </p:cNvPr>
            <p:cNvSpPr txBox="1"/>
            <p:nvPr/>
          </p:nvSpPr>
          <p:spPr>
            <a:xfrm>
              <a:off x="1257930" y="830523"/>
              <a:ext cx="78418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0x15</a:t>
              </a:r>
            </a:p>
          </p:txBody>
        </p:sp>
      </p:grpSp>
      <p:sp>
        <p:nvSpPr>
          <p:cNvPr id="30" name="矩形 31">
            <a:extLst>
              <a:ext uri="{FF2B5EF4-FFF2-40B4-BE49-F238E27FC236}">
                <a16:creationId xmlns:a16="http://schemas.microsoft.com/office/drawing/2014/main" id="{0B66D5AE-0F86-4F97-B5E4-014844B6E9A0}"/>
              </a:ext>
            </a:extLst>
          </p:cNvPr>
          <p:cNvSpPr/>
          <p:nvPr/>
        </p:nvSpPr>
        <p:spPr>
          <a:xfrm>
            <a:off x="2227467" y="1837480"/>
            <a:ext cx="6960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0x30</a:t>
            </a:r>
            <a:endParaRPr lang="zh-CN" altLang="en-US" sz="16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6275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28" grpId="0"/>
      <p:bldP spid="7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Double Pointer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97676" y="2472495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0x11</a:t>
            </a:r>
            <a:endParaRPr kumimoji="1" lang="zh-CN" altLang="en-US" sz="3000" dirty="0"/>
          </a:p>
        </p:txBody>
      </p:sp>
      <p:sp>
        <p:nvSpPr>
          <p:cNvPr id="17" name="矩形 16"/>
          <p:cNvSpPr/>
          <p:nvPr/>
        </p:nvSpPr>
        <p:spPr>
          <a:xfrm>
            <a:off x="1097676" y="597925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3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65999" y="1447499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= 1;</a:t>
            </a:r>
            <a:endParaRPr lang="zh-CN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644399" y="5984944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1094760" y="4570285"/>
            <a:ext cx="1091998" cy="14089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127</a:t>
            </a:r>
            <a:endParaRPr kumimoji="1" lang="zh-CN" altLang="en-US" sz="3000" dirty="0">
              <a:solidFill>
                <a:srgbClr val="00000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264089" y="1874536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b = 2;</a:t>
            </a:r>
            <a:endParaRPr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644399" y="5609926"/>
            <a:ext cx="43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3299699" y="2291561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*x = &amp;a;</a:t>
            </a:r>
            <a:endParaRPr lang="zh-CN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615578" y="387413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y:</a:t>
            </a:r>
            <a:endParaRPr lang="zh-CN" altLang="en-US" dirty="0"/>
          </a:p>
        </p:txBody>
      </p:sp>
      <p:cxnSp>
        <p:nvCxnSpPr>
          <p:cNvPr id="13" name="直线箭头连接符 12"/>
          <p:cNvCxnSpPr>
            <a:cxnSpLocks/>
            <a:stCxn id="9" idx="3"/>
            <a:endCxn id="44" idx="1"/>
          </p:cNvCxnSpPr>
          <p:nvPr/>
        </p:nvCxnSpPr>
        <p:spPr>
          <a:xfrm>
            <a:off x="2189674" y="3521390"/>
            <a:ext cx="41381" cy="2341209"/>
          </a:xfrm>
          <a:prstGeom prst="bentConnector3">
            <a:avLst>
              <a:gd name="adj1" fmla="val 168913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 50"/>
          <p:cNvGrpSpPr/>
          <p:nvPr/>
        </p:nvGrpSpPr>
        <p:grpSpPr>
          <a:xfrm>
            <a:off x="2148884" y="374706"/>
            <a:ext cx="823793" cy="5991440"/>
            <a:chOff x="2148884" y="374706"/>
            <a:chExt cx="823793" cy="5991440"/>
          </a:xfrm>
        </p:grpSpPr>
        <p:sp>
          <p:nvSpPr>
            <p:cNvPr id="43" name="矩形 19"/>
            <p:cNvSpPr/>
            <p:nvPr/>
          </p:nvSpPr>
          <p:spPr>
            <a:xfrm>
              <a:off x="2232965" y="602759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0x10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4" name="矩形 22"/>
            <p:cNvSpPr/>
            <p:nvPr/>
          </p:nvSpPr>
          <p:spPr>
            <a:xfrm>
              <a:off x="2231055" y="569332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0x11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6" name="矩形 23"/>
            <p:cNvSpPr/>
            <p:nvPr/>
          </p:nvSpPr>
          <p:spPr>
            <a:xfrm>
              <a:off x="2233977" y="5329382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49" name="矩形 24"/>
            <p:cNvSpPr/>
            <p:nvPr/>
          </p:nvSpPr>
          <p:spPr>
            <a:xfrm>
              <a:off x="2244833" y="49614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0x13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0" name="矩形 25"/>
            <p:cNvSpPr/>
            <p:nvPr/>
          </p:nvSpPr>
          <p:spPr>
            <a:xfrm>
              <a:off x="2254793" y="4603228"/>
              <a:ext cx="6976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0x14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3" name="矩形 26"/>
            <p:cNvSpPr/>
            <p:nvPr/>
          </p:nvSpPr>
          <p:spPr>
            <a:xfrm>
              <a:off x="2148884" y="3985559"/>
              <a:ext cx="6944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0x1b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4" name="矩形 27"/>
            <p:cNvSpPr/>
            <p:nvPr/>
          </p:nvSpPr>
          <p:spPr>
            <a:xfrm>
              <a:off x="2276653" y="4196951"/>
              <a:ext cx="4085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5" name="矩形 28"/>
            <p:cNvSpPr/>
            <p:nvPr/>
          </p:nvSpPr>
          <p:spPr>
            <a:xfrm>
              <a:off x="2264785" y="355830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6" name="矩形 29"/>
            <p:cNvSpPr/>
            <p:nvPr/>
          </p:nvSpPr>
          <p:spPr>
            <a:xfrm>
              <a:off x="2262875" y="322403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7" name="矩形 30"/>
            <p:cNvSpPr/>
            <p:nvPr/>
          </p:nvSpPr>
          <p:spPr>
            <a:xfrm>
              <a:off x="2265797" y="2860095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58" name="矩形 31"/>
            <p:cNvSpPr/>
            <p:nvPr/>
          </p:nvSpPr>
          <p:spPr>
            <a:xfrm>
              <a:off x="2276653" y="2492119"/>
              <a:ext cx="69602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0x22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0" name="矩形 34"/>
            <p:cNvSpPr/>
            <p:nvPr/>
          </p:nvSpPr>
          <p:spPr>
            <a:xfrm>
              <a:off x="2213414" y="374706"/>
              <a:ext cx="6974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0x22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61" name="矩形 46"/>
            <p:cNvSpPr/>
            <p:nvPr/>
          </p:nvSpPr>
          <p:spPr>
            <a:xfrm>
              <a:off x="2319874" y="1375426"/>
              <a:ext cx="46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Verdana"/>
                  <a:ea typeface="宋体" pitchFamily="2" charset="-122"/>
                  <a:cs typeface="Verdana"/>
                </a:rPr>
                <a:t>...</a:t>
              </a:r>
              <a:endParaRPr lang="zh-CN" altLang="en-US" sz="2000" dirty="0">
                <a:latin typeface="Verdana"/>
                <a:cs typeface="Verdana"/>
              </a:endParaRPr>
            </a:p>
          </p:txBody>
        </p:sp>
        <p:sp>
          <p:nvSpPr>
            <p:cNvPr id="62" name="矩形 47"/>
            <p:cNvSpPr/>
            <p:nvPr/>
          </p:nvSpPr>
          <p:spPr>
            <a:xfrm>
              <a:off x="2286613" y="1777120"/>
              <a:ext cx="1846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600" dirty="0">
                <a:latin typeface="Verdana"/>
                <a:cs typeface="Verdana"/>
              </a:endParaRPr>
            </a:p>
          </p:txBody>
        </p:sp>
      </p:grpSp>
      <p:sp>
        <p:nvSpPr>
          <p:cNvPr id="35" name="矩形 40"/>
          <p:cNvSpPr/>
          <p:nvPr/>
        </p:nvSpPr>
        <p:spPr>
          <a:xfrm>
            <a:off x="3309659" y="2681090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int *y = &amp;b;</a:t>
            </a:r>
            <a:endParaRPr lang="zh-CN" altLang="en-US" sz="2400" dirty="0"/>
          </a:p>
        </p:txBody>
      </p:sp>
      <p:sp>
        <p:nvSpPr>
          <p:cNvPr id="48" name="矩形 8"/>
          <p:cNvSpPr/>
          <p:nvPr/>
        </p:nvSpPr>
        <p:spPr>
          <a:xfrm>
            <a:off x="1082890" y="374706"/>
            <a:ext cx="1091998" cy="2097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3000" dirty="0"/>
          </a:p>
        </p:txBody>
      </p:sp>
      <p:sp>
        <p:nvSpPr>
          <p:cNvPr id="51" name="矩形 46"/>
          <p:cNvSpPr/>
          <p:nvPr/>
        </p:nvSpPr>
        <p:spPr>
          <a:xfrm>
            <a:off x="1323260" y="-25404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63" name="矩形 46"/>
          <p:cNvSpPr/>
          <p:nvPr/>
        </p:nvSpPr>
        <p:spPr>
          <a:xfrm>
            <a:off x="2286613" y="24103"/>
            <a:ext cx="46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...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64" name="矩形 46"/>
          <p:cNvSpPr/>
          <p:nvPr/>
        </p:nvSpPr>
        <p:spPr>
          <a:xfrm>
            <a:off x="466917" y="1668173"/>
            <a:ext cx="606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latin typeface="Verdana"/>
                <a:ea typeface="宋体" pitchFamily="2" charset="-122"/>
                <a:cs typeface="Verdana"/>
              </a:rPr>
              <a:t>yy</a:t>
            </a:r>
            <a:r>
              <a:rPr lang="en-US" altLang="zh-CN" sz="20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2000" dirty="0">
              <a:latin typeface="Verdana"/>
              <a:cs typeface="Verdana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2327995" y="1417638"/>
            <a:ext cx="751988" cy="2742239"/>
          </a:xfrm>
          <a:custGeom>
            <a:avLst/>
            <a:gdLst>
              <a:gd name="connsiteX0" fmla="*/ 0 w 846701"/>
              <a:gd name="connsiteY0" fmla="*/ 14599 h 2408877"/>
              <a:gd name="connsiteX1" fmla="*/ 846701 w 846701"/>
              <a:gd name="connsiteY1" fmla="*/ 0 h 2408877"/>
              <a:gd name="connsiteX2" fmla="*/ 846701 w 846701"/>
              <a:gd name="connsiteY2" fmla="*/ 2394278 h 2408877"/>
              <a:gd name="connsiteX3" fmla="*/ 72992 w 846701"/>
              <a:gd name="connsiteY3" fmla="*/ 2408877 h 24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701" h="2408877">
                <a:moveTo>
                  <a:pt x="0" y="14599"/>
                </a:moveTo>
                <a:lnTo>
                  <a:pt x="846701" y="0"/>
                </a:lnTo>
                <a:lnTo>
                  <a:pt x="846701" y="2394278"/>
                </a:lnTo>
                <a:lnTo>
                  <a:pt x="72992" y="2408877"/>
                </a:lnTo>
              </a:path>
            </a:pathLst>
          </a:custGeom>
          <a:ln>
            <a:solidFill>
              <a:schemeClr val="accent1"/>
            </a:solidFill>
            <a:headEnd type="none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矩形 45"/>
          <p:cNvSpPr/>
          <p:nvPr/>
        </p:nvSpPr>
        <p:spPr>
          <a:xfrm>
            <a:off x="3463963" y="3553548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*x = 3;</a:t>
            </a:r>
            <a:endParaRPr lang="zh-CN" altLang="en-US" sz="2400" dirty="0"/>
          </a:p>
        </p:txBody>
      </p:sp>
      <p:sp>
        <p:nvSpPr>
          <p:cNvPr id="47" name="矩形 48"/>
          <p:cNvSpPr/>
          <p:nvPr/>
        </p:nvSpPr>
        <p:spPr>
          <a:xfrm>
            <a:off x="3473923" y="3979603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*y = 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127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;</a:t>
            </a:r>
            <a:endParaRPr lang="zh-CN" altLang="en-US" sz="2400" dirty="0"/>
          </a:p>
        </p:txBody>
      </p:sp>
      <p:sp>
        <p:nvSpPr>
          <p:cNvPr id="65" name="矩形 52"/>
          <p:cNvSpPr/>
          <p:nvPr/>
        </p:nvSpPr>
        <p:spPr>
          <a:xfrm>
            <a:off x="3442139" y="4842128"/>
            <a:ext cx="35824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**xx = &amp;x;</a:t>
            </a:r>
            <a:endParaRPr lang="zh-CN" altLang="en-US" sz="2400" dirty="0"/>
          </a:p>
        </p:txBody>
      </p:sp>
      <p:sp>
        <p:nvSpPr>
          <p:cNvPr id="66" name="矩形 53"/>
          <p:cNvSpPr/>
          <p:nvPr/>
        </p:nvSpPr>
        <p:spPr>
          <a:xfrm>
            <a:off x="3452099" y="5231657"/>
            <a:ext cx="2668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 **</a:t>
            </a:r>
            <a:r>
              <a:rPr lang="en-US" altLang="zh-CN" sz="2400" dirty="0" err="1">
                <a:latin typeface="Consolas"/>
                <a:ea typeface="宋体" pitchFamily="2" charset="-122"/>
                <a:cs typeface="Consolas"/>
              </a:rPr>
              <a:t>yy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 = &amp;y;</a:t>
            </a:r>
            <a:endParaRPr lang="zh-CN" altLang="en-US" sz="2400" dirty="0"/>
          </a:p>
        </p:txBody>
      </p:sp>
      <p:sp>
        <p:nvSpPr>
          <p:cNvPr id="69" name="矩形 3"/>
          <p:cNvSpPr/>
          <p:nvPr/>
        </p:nvSpPr>
        <p:spPr>
          <a:xfrm>
            <a:off x="1097676" y="63419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3" name="矩形 16">
            <a:extLst>
              <a:ext uri="{FF2B5EF4-FFF2-40B4-BE49-F238E27FC236}">
                <a16:creationId xmlns:a16="http://schemas.microsoft.com/office/drawing/2014/main" id="{E99F4B3B-B1B1-41A2-8B8E-A714D18F5DD7}"/>
              </a:ext>
            </a:extLst>
          </p:cNvPr>
          <p:cNvSpPr/>
          <p:nvPr/>
        </p:nvSpPr>
        <p:spPr>
          <a:xfrm>
            <a:off x="1094760" y="4207453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…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4" name="矩形 16">
            <a:extLst>
              <a:ext uri="{FF2B5EF4-FFF2-40B4-BE49-F238E27FC236}">
                <a16:creationId xmlns:a16="http://schemas.microsoft.com/office/drawing/2014/main" id="{22217484-7182-455F-A1AD-46F0157CE3FB}"/>
              </a:ext>
            </a:extLst>
          </p:cNvPr>
          <p:cNvSpPr/>
          <p:nvPr/>
        </p:nvSpPr>
        <p:spPr>
          <a:xfrm>
            <a:off x="1097676" y="21018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Verdana"/>
                <a:cs typeface="Verdana"/>
              </a:rPr>
              <a:t>…</a:t>
            </a:r>
            <a:endParaRPr kumimoji="1" lang="zh-CN" altLang="en-US" sz="2000" dirty="0">
              <a:latin typeface="Verdana"/>
              <a:cs typeface="Verdana"/>
            </a:endParaRPr>
          </a:p>
        </p:txBody>
      </p:sp>
      <p:sp>
        <p:nvSpPr>
          <p:cNvPr id="73" name="矩形 49">
            <a:extLst>
              <a:ext uri="{FF2B5EF4-FFF2-40B4-BE49-F238E27FC236}">
                <a16:creationId xmlns:a16="http://schemas.microsoft.com/office/drawing/2014/main" id="{9C71DF5D-42C5-4272-BAC6-953D318041E0}"/>
              </a:ext>
            </a:extLst>
          </p:cNvPr>
          <p:cNvSpPr/>
          <p:nvPr/>
        </p:nvSpPr>
        <p:spPr>
          <a:xfrm>
            <a:off x="1204644" y="983363"/>
            <a:ext cx="102641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000" dirty="0">
              <a:solidFill>
                <a:srgbClr val="FF0000"/>
              </a:solidFill>
              <a:latin typeface="Verdana"/>
              <a:ea typeface="宋体" pitchFamily="2" charset="-122"/>
              <a:cs typeface="Verdana"/>
            </a:endParaRPr>
          </a:p>
          <a:p>
            <a:r>
              <a:rPr lang="en-US" altLang="zh-CN" sz="2000" dirty="0">
                <a:solidFill>
                  <a:schemeClr val="accent1"/>
                </a:solidFill>
                <a:latin typeface="Verdana"/>
                <a:ea typeface="宋体" pitchFamily="2" charset="-122"/>
                <a:cs typeface="Verdana"/>
              </a:rPr>
              <a:t>0x1b</a:t>
            </a:r>
            <a:endParaRPr lang="zh-CN" altLang="en-US" sz="2000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7" name="矩形 52">
            <a:extLst>
              <a:ext uri="{FF2B5EF4-FFF2-40B4-BE49-F238E27FC236}">
                <a16:creationId xmlns:a16="http://schemas.microsoft.com/office/drawing/2014/main" id="{E7C778AF-F100-4EC3-AFFE-771D40B7A10E}"/>
              </a:ext>
            </a:extLst>
          </p:cNvPr>
          <p:cNvSpPr/>
          <p:nvPr/>
        </p:nvSpPr>
        <p:spPr>
          <a:xfrm>
            <a:off x="3473923" y="5816636"/>
            <a:ext cx="5759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</a:rPr>
              <a:t>printf</a:t>
            </a:r>
            <a:r>
              <a:rPr lang="en-US" sz="2000" dirty="0">
                <a:solidFill>
                  <a:srgbClr val="000000"/>
                </a:solidFill>
              </a:rPr>
              <a:t>(“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=%p 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=%p **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=%d\n”, 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, 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, **</a:t>
            </a:r>
            <a:r>
              <a:rPr lang="en-US" sz="2000" dirty="0" err="1">
                <a:solidFill>
                  <a:srgbClr val="000000"/>
                </a:solidFill>
              </a:rPr>
              <a:t>yy</a:t>
            </a:r>
            <a:r>
              <a:rPr lang="en-US" sz="2000" dirty="0">
                <a:solidFill>
                  <a:srgbClr val="00000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5025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confusions on 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863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* has two meanings!!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part of a pointer type name, e.g. char *, char **,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srgbClr val="0000FF"/>
                </a:solidFill>
              </a:rPr>
              <a:t> *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deference operator. </a:t>
            </a:r>
          </a:p>
        </p:txBody>
      </p:sp>
      <p:sp>
        <p:nvSpPr>
          <p:cNvPr id="4" name="矩形 3"/>
          <p:cNvSpPr/>
          <p:nvPr/>
        </p:nvSpPr>
        <p:spPr>
          <a:xfrm>
            <a:off x="953220" y="3324149"/>
            <a:ext cx="2797407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char a 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= 1;</a:t>
            </a:r>
          </a:p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&amp;a;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2;</a:t>
            </a:r>
          </a:p>
        </p:txBody>
      </p:sp>
      <p:sp>
        <p:nvSpPr>
          <p:cNvPr id="6" name="矩形 3"/>
          <p:cNvSpPr/>
          <p:nvPr/>
        </p:nvSpPr>
        <p:spPr>
          <a:xfrm>
            <a:off x="953220" y="4728577"/>
            <a:ext cx="2900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b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, 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c;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4931925" y="2901045"/>
            <a:ext cx="3930431" cy="1778564"/>
          </a:xfrm>
          <a:prstGeom prst="wedgeRoundRectCallout">
            <a:avLst>
              <a:gd name="adj1" fmla="val -96083"/>
              <a:gd name="adj2" fmla="val 7945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C’s syntax for declaring multiple pointer variables on one line</a:t>
            </a:r>
          </a:p>
          <a:p>
            <a:pPr algn="ctr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char*   b, c; </a:t>
            </a:r>
            <a:r>
              <a:rPr lang="en-US" sz="2400" dirty="0">
                <a:solidFill>
                  <a:srgbClr val="000000"/>
                </a:solidFill>
              </a:rPr>
              <a:t>does not work</a:t>
            </a:r>
          </a:p>
        </p:txBody>
      </p:sp>
      <p:sp>
        <p:nvSpPr>
          <p:cNvPr id="9" name="矩形 3"/>
          <p:cNvSpPr/>
          <p:nvPr/>
        </p:nvSpPr>
        <p:spPr>
          <a:xfrm>
            <a:off x="953220" y="5819234"/>
            <a:ext cx="411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f=p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,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 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g=p;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5216176" y="5079436"/>
            <a:ext cx="3927824" cy="1778564"/>
          </a:xfrm>
          <a:prstGeom prst="wedgeRoundRectCallout">
            <a:avLst>
              <a:gd name="adj1" fmla="val -79748"/>
              <a:gd name="adj2" fmla="val 8056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C’s syntax for declaring and initializing multiple pointer variables on one line</a:t>
            </a:r>
          </a:p>
        </p:txBody>
      </p:sp>
      <p:sp>
        <p:nvSpPr>
          <p:cNvPr id="12" name="矩形 3"/>
          <p:cNvSpPr/>
          <p:nvPr/>
        </p:nvSpPr>
        <p:spPr>
          <a:xfrm>
            <a:off x="953220" y="5159464"/>
            <a:ext cx="37305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d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,**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e;</a:t>
            </a:r>
          </a:p>
        </p:txBody>
      </p:sp>
      <p:sp>
        <p:nvSpPr>
          <p:cNvPr id="13" name="矩形 3"/>
          <p:cNvSpPr/>
          <p:nvPr/>
        </p:nvSpPr>
        <p:spPr>
          <a:xfrm>
            <a:off x="953220" y="6233244"/>
            <a:ext cx="42629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**</a:t>
            </a:r>
            <a:r>
              <a:rPr lang="en-US" altLang="zh-CN" sz="2400" dirty="0">
                <a:latin typeface="Consolas"/>
                <a:ea typeface="宋体" pitchFamily="2" charset="-122"/>
                <a:cs typeface="Consolas"/>
              </a:rPr>
              <a:t>m=&amp;p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,</a:t>
            </a:r>
            <a:r>
              <a:rPr lang="en-US" altLang="zh-CN" sz="24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</a:rPr>
              <a:t> **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n=&amp;p;</a:t>
            </a:r>
          </a:p>
        </p:txBody>
      </p:sp>
    </p:spTree>
    <p:extLst>
      <p:ext uri="{BB962C8B-B14F-4D97-AF65-F5344CB8AC3E}">
        <p14:creationId xmlns:p14="http://schemas.microsoft.com/office/powerpoint/2010/main" val="425758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0" grpId="0" animBg="1"/>
      <p:bldP spid="12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8971" y="1071067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swap(int* x, int* y)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244076" y="2913747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322283" y="5593467"/>
            <a:ext cx="4249717" cy="830997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FF"/>
                </a:solidFill>
                <a:latin typeface="+mj-lt"/>
                <a:cs typeface="Verdana"/>
              </a:rPr>
              <a:t>Size and value of x, y, </a:t>
            </a:r>
            <a:r>
              <a:rPr lang="en-US" altLang="zh-CN" sz="2400" dirty="0" err="1">
                <a:solidFill>
                  <a:srgbClr val="0000FF"/>
                </a:solidFill>
                <a:latin typeface="+mj-lt"/>
                <a:cs typeface="Verdana"/>
              </a:rPr>
              <a:t>tmp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cs typeface="Verdana"/>
              </a:rPr>
              <a:t> </a:t>
            </a:r>
          </a:p>
          <a:p>
            <a:pPr eaLnBrk="1" hangingPunct="1"/>
            <a:r>
              <a:rPr lang="en-US" altLang="zh-CN" sz="2400" dirty="0">
                <a:solidFill>
                  <a:srgbClr val="0000FF"/>
                </a:solidFill>
                <a:latin typeface="+mj-lt"/>
                <a:cs typeface="Verdana"/>
              </a:rPr>
              <a:t>in swap upon function entrance?</a:t>
            </a:r>
            <a:endParaRPr lang="zh-CN" altLang="en-US" sz="2400" dirty="0">
              <a:solidFill>
                <a:srgbClr val="FF0000"/>
              </a:solidFill>
              <a:latin typeface="+mj-lt"/>
              <a:cs typeface="Verdana"/>
            </a:endParaRPr>
          </a:p>
        </p:txBody>
      </p:sp>
      <p:sp>
        <p:nvSpPr>
          <p:cNvPr id="13" name="矩形 8"/>
          <p:cNvSpPr/>
          <p:nvPr/>
        </p:nvSpPr>
        <p:spPr>
          <a:xfrm>
            <a:off x="6125272" y="1283941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1</a:t>
            </a:r>
            <a:endParaRPr kumimoji="1" lang="zh-CN" altLang="en-US" sz="2800" dirty="0"/>
          </a:p>
        </p:txBody>
      </p:sp>
      <p:sp>
        <p:nvSpPr>
          <p:cNvPr id="14" name="矩形 16"/>
          <p:cNvSpPr/>
          <p:nvPr/>
        </p:nvSpPr>
        <p:spPr>
          <a:xfrm>
            <a:off x="6125272" y="2035482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931995" y="2379143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93820" y="2163699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91910" y="2035482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310840" y="1450706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305688" y="1303566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931995" y="1666150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132940" y="3045052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??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931995" y="5012190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931995" y="3663219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132940" y="4484103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??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722427" y="6085910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110486" y="95246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125272" y="268894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133902" y="5857909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prstClr val="black"/>
                </a:solidFill>
              </a:rPr>
              <a:t>??</a:t>
            </a:r>
            <a:endParaRPr kumimoji="1" lang="zh-CN" altLang="en-US" sz="3000" dirty="0"/>
          </a:p>
        </p:txBody>
      </p:sp>
      <p:sp>
        <p:nvSpPr>
          <p:cNvPr id="22" name="Right Arrow 21"/>
          <p:cNvSpPr/>
          <p:nvPr/>
        </p:nvSpPr>
        <p:spPr>
          <a:xfrm>
            <a:off x="244076" y="1624763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1BDF79C7-96D0-482C-8B1E-97058B4D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117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8971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88971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125272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1</a:t>
            </a:r>
            <a:endParaRPr kumimoji="1" lang="zh-CN" altLang="en-US" sz="2800" dirty="0"/>
          </a:p>
        </p:txBody>
      </p:sp>
      <p:sp>
        <p:nvSpPr>
          <p:cNvPr id="14" name="矩形 16"/>
          <p:cNvSpPr/>
          <p:nvPr/>
        </p:nvSpPr>
        <p:spPr>
          <a:xfrm>
            <a:off x="6125272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931995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93820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91910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310840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305688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931995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132940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931995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931995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132940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722427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110486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125272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133902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prstClr val="black"/>
                </a:solidFill>
              </a:rPr>
              <a:t>??</a:t>
            </a:r>
            <a:endParaRPr kumimoji="1" lang="zh-CN" altLang="en-US" sz="3000" dirty="0"/>
          </a:p>
        </p:txBody>
      </p:sp>
      <p:sp>
        <p:nvSpPr>
          <p:cNvPr id="8" name="Freeform 7"/>
          <p:cNvSpPr/>
          <p:nvPr/>
        </p:nvSpPr>
        <p:spPr>
          <a:xfrm>
            <a:off x="7131404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086043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244076" y="1781965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F12B698A-3F0D-442A-93F7-A2D8862E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9128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866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33866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070167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1</a:t>
            </a:r>
            <a:endParaRPr kumimoji="1" lang="zh-CN" altLang="en-US" sz="2800" dirty="0"/>
          </a:p>
        </p:txBody>
      </p:sp>
      <p:sp>
        <p:nvSpPr>
          <p:cNvPr id="14" name="矩形 16"/>
          <p:cNvSpPr/>
          <p:nvPr/>
        </p:nvSpPr>
        <p:spPr>
          <a:xfrm>
            <a:off x="6070167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876890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38715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36805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255735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250583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876890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077835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876890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876890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077835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667322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055381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070167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078797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076299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030938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188971" y="2090208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A99E5900-0A33-4468-9F71-0D28C17C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F284F7-2C93-4252-970B-8555008FE05F}"/>
              </a:ext>
            </a:extLst>
          </p:cNvPr>
          <p:cNvSpPr txBox="1"/>
          <p:nvPr/>
        </p:nvSpPr>
        <p:spPr>
          <a:xfrm>
            <a:off x="6446087" y="618155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8130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866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33866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070167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1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 16"/>
          <p:cNvSpPr/>
          <p:nvPr/>
        </p:nvSpPr>
        <p:spPr>
          <a:xfrm>
            <a:off x="6070167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latin typeface="Calibri"/>
                <a:cs typeface="Calibri"/>
              </a:rPr>
              <a:t>2</a:t>
            </a:r>
            <a:endParaRPr kumimoji="1" lang="zh-CN" altLang="en-US" sz="3000" dirty="0"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876890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38715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36805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255735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250583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876890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077835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876890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876890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077835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667322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055381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070167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078797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schemeClr val="tx1"/>
                </a:solidFill>
              </a:rPr>
              <a:t>1</a:t>
            </a:r>
            <a:endParaRPr kumimoji="1" lang="zh-CN" altLang="en-US" sz="3000" dirty="0">
              <a:solidFill>
                <a:schemeClr val="tx1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076299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030938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188971" y="2415891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12969D1A-6A9B-4873-994D-D5997B25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79E53-86A4-4B07-9137-2DF22C6B268F}"/>
              </a:ext>
            </a:extLst>
          </p:cNvPr>
          <p:cNvSpPr txBox="1"/>
          <p:nvPr/>
        </p:nvSpPr>
        <p:spPr>
          <a:xfrm>
            <a:off x="6446087" y="1592519"/>
            <a:ext cx="36740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6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993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866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x, int* y)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int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*x = *y;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*y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33866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070167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2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876890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38715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36805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255735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250583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876890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2" name="矩形 7"/>
          <p:cNvSpPr/>
          <p:nvPr/>
        </p:nvSpPr>
        <p:spPr>
          <a:xfrm>
            <a:off x="6077835" y="3202254"/>
            <a:ext cx="1091998" cy="1439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0xf4</a:t>
            </a:r>
            <a:endParaRPr kumimoji="1" lang="zh-CN" altLang="en-US" sz="3000" dirty="0"/>
          </a:p>
        </p:txBody>
      </p:sp>
      <p:sp>
        <p:nvSpPr>
          <p:cNvPr id="83" name="矩形 29"/>
          <p:cNvSpPr/>
          <p:nvPr/>
        </p:nvSpPr>
        <p:spPr>
          <a:xfrm>
            <a:off x="4876890" y="5169392"/>
            <a:ext cx="998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swap.y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84" name="矩形 39"/>
          <p:cNvSpPr/>
          <p:nvPr/>
        </p:nvSpPr>
        <p:spPr>
          <a:xfrm>
            <a:off x="4876890" y="38204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swap.x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85" name="矩形 8"/>
          <p:cNvSpPr/>
          <p:nvPr/>
        </p:nvSpPr>
        <p:spPr>
          <a:xfrm>
            <a:off x="6077835" y="4641305"/>
            <a:ext cx="1091998" cy="1359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/>
              <a:t>0xf0</a:t>
            </a:r>
            <a:endParaRPr kumimoji="1" lang="zh-CN" altLang="en-US" sz="3000" dirty="0"/>
          </a:p>
        </p:txBody>
      </p:sp>
      <p:sp>
        <p:nvSpPr>
          <p:cNvPr id="92" name="矩形 29"/>
          <p:cNvSpPr/>
          <p:nvPr/>
        </p:nvSpPr>
        <p:spPr>
          <a:xfrm>
            <a:off x="4667322" y="6243112"/>
            <a:ext cx="1282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latin typeface="Verdana"/>
                <a:ea typeface="宋体" pitchFamily="2" charset="-122"/>
                <a:cs typeface="Verdana"/>
              </a:rPr>
              <a:t>swap.tmp</a:t>
            </a:r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: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06" name="矩形 3"/>
          <p:cNvSpPr/>
          <p:nvPr/>
        </p:nvSpPr>
        <p:spPr>
          <a:xfrm>
            <a:off x="6055381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070167" y="2919356"/>
            <a:ext cx="1091998" cy="2828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8" name="矩形 3"/>
          <p:cNvSpPr/>
          <p:nvPr/>
        </p:nvSpPr>
        <p:spPr>
          <a:xfrm>
            <a:off x="6078797" y="6015111"/>
            <a:ext cx="1091998" cy="778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000" dirty="0">
                <a:solidFill>
                  <a:schemeClr val="tx1"/>
                </a:solidFill>
              </a:rPr>
              <a:t>1</a:t>
            </a:r>
            <a:endParaRPr kumimoji="1" lang="zh-CN" altLang="en-US" sz="3000" dirty="0">
              <a:solidFill>
                <a:schemeClr val="tx1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076299" y="2003292"/>
            <a:ext cx="1141946" cy="1969856"/>
          </a:xfrm>
          <a:custGeom>
            <a:avLst/>
            <a:gdLst>
              <a:gd name="connsiteX0" fmla="*/ 0 w 1141946"/>
              <a:gd name="connsiteY0" fmla="*/ 1948035 h 1969856"/>
              <a:gd name="connsiteX1" fmla="*/ 635053 w 1141946"/>
              <a:gd name="connsiteY1" fmla="*/ 1948035 h 1969856"/>
              <a:gd name="connsiteX2" fmla="*/ 1028181 w 1141946"/>
              <a:gd name="connsiteY2" fmla="*/ 1721261 h 1969856"/>
              <a:gd name="connsiteX3" fmla="*/ 1073541 w 1141946"/>
              <a:gd name="connsiteY3" fmla="*/ 209440 h 1969856"/>
              <a:gd name="connsiteX4" fmla="*/ 166324 w 1141946"/>
              <a:gd name="connsiteY4" fmla="*/ 12903 h 19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46" h="1969856">
                <a:moveTo>
                  <a:pt x="0" y="1948035"/>
                </a:moveTo>
                <a:cubicBezTo>
                  <a:pt x="231845" y="1966933"/>
                  <a:pt x="463690" y="1985831"/>
                  <a:pt x="635053" y="1948035"/>
                </a:cubicBezTo>
                <a:cubicBezTo>
                  <a:pt x="806417" y="1910239"/>
                  <a:pt x="955100" y="2011027"/>
                  <a:pt x="1028181" y="1721261"/>
                </a:cubicBezTo>
                <a:cubicBezTo>
                  <a:pt x="1101262" y="1431495"/>
                  <a:pt x="1217184" y="494166"/>
                  <a:pt x="1073541" y="209440"/>
                </a:cubicBezTo>
                <a:cubicBezTo>
                  <a:pt x="929898" y="-75286"/>
                  <a:pt x="166324" y="12903"/>
                  <a:pt x="166324" y="12903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030938" y="2746292"/>
            <a:ext cx="1039459" cy="2604308"/>
          </a:xfrm>
          <a:custGeom>
            <a:avLst/>
            <a:gdLst>
              <a:gd name="connsiteX0" fmla="*/ 0 w 1039459"/>
              <a:gd name="connsiteY0" fmla="*/ 2595910 h 2604308"/>
              <a:gd name="connsiteX1" fmla="*/ 816496 w 1039459"/>
              <a:gd name="connsiteY1" fmla="*/ 2520319 h 2604308"/>
              <a:gd name="connsiteX2" fmla="*/ 967699 w 1039459"/>
              <a:gd name="connsiteY2" fmla="*/ 1991182 h 2604308"/>
              <a:gd name="connsiteX3" fmla="*/ 997940 w 1039459"/>
              <a:gd name="connsiteY3" fmla="*/ 252587 h 2604308"/>
              <a:gd name="connsiteX4" fmla="*/ 393128 w 1039459"/>
              <a:gd name="connsiteY4" fmla="*/ 10696 h 260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9459" h="2604308">
                <a:moveTo>
                  <a:pt x="0" y="2595910"/>
                </a:moveTo>
                <a:cubicBezTo>
                  <a:pt x="327606" y="2608508"/>
                  <a:pt x="655213" y="2621107"/>
                  <a:pt x="816496" y="2520319"/>
                </a:cubicBezTo>
                <a:cubicBezTo>
                  <a:pt x="977779" y="2419531"/>
                  <a:pt x="937458" y="2369137"/>
                  <a:pt x="967699" y="1991182"/>
                </a:cubicBezTo>
                <a:cubicBezTo>
                  <a:pt x="997940" y="1613227"/>
                  <a:pt x="1093702" y="582668"/>
                  <a:pt x="997940" y="252587"/>
                </a:cubicBezTo>
                <a:cubicBezTo>
                  <a:pt x="902178" y="-77494"/>
                  <a:pt x="393128" y="10696"/>
                  <a:pt x="393128" y="10696"/>
                </a:cubicBezTo>
              </a:path>
            </a:pathLst>
          </a:cu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188971" y="2647608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BBF91E1-A398-4E65-88BF-0DBD869B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AE19B63D-F64C-4BC1-87B7-6368411C49C0}"/>
              </a:ext>
            </a:extLst>
          </p:cNvPr>
          <p:cNvSpPr/>
          <p:nvPr/>
        </p:nvSpPr>
        <p:spPr>
          <a:xfrm>
            <a:off x="6077835" y="2180002"/>
            <a:ext cx="1091998" cy="73935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2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90BB9A-DBAD-4118-97F9-858DA5C7BA84}"/>
              </a:ext>
            </a:extLst>
          </p:cNvPr>
          <p:cNvSpPr txBox="1"/>
          <p:nvPr/>
        </p:nvSpPr>
        <p:spPr>
          <a:xfrm>
            <a:off x="6449767" y="2310751"/>
            <a:ext cx="34813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902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8971" y="1228269"/>
            <a:ext cx="40757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swap(</a:t>
            </a:r>
            <a:r>
              <a:rPr lang="en-US" altLang="zh-CN" sz="2000" i="1" dirty="0">
                <a:latin typeface="Consolas"/>
                <a:ea typeface="宋体" pitchFamily="2" charset="-122"/>
                <a:cs typeface="Consolas"/>
              </a:rPr>
              <a:t>int* a, int* b)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tmp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= *a;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*a = *b;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	 *b = tmp;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88971" y="3088403"/>
            <a:ext cx="439160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main() 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x = 1;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int y = 2;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b="1" dirty="0">
                <a:latin typeface="Consolas"/>
                <a:ea typeface="宋体" pitchFamily="2" charset="-122"/>
                <a:cs typeface="Consolas"/>
              </a:rPr>
              <a:t>swap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(&amp;x, &amp;y);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(“x:%d, y:%d”,</a:t>
            </a:r>
            <a:r>
              <a:rPr lang="en-US" altLang="zh-CN" sz="2000" dirty="0" err="1">
                <a:latin typeface="Consolas"/>
                <a:ea typeface="宋体" pitchFamily="2" charset="-122"/>
                <a:cs typeface="Consolas"/>
              </a:rPr>
              <a:t>x,y</a:t>
            </a:r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3" name="矩形 8"/>
          <p:cNvSpPr/>
          <p:nvPr/>
        </p:nvSpPr>
        <p:spPr>
          <a:xfrm>
            <a:off x="6125272" y="1441143"/>
            <a:ext cx="1091998" cy="7393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2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 16"/>
          <p:cNvSpPr/>
          <p:nvPr/>
        </p:nvSpPr>
        <p:spPr>
          <a:xfrm>
            <a:off x="6125272" y="2192684"/>
            <a:ext cx="1091998" cy="6822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kumimoji="1" lang="zh-CN" altLang="en-US" sz="30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5" name="矩形 41"/>
          <p:cNvSpPr/>
          <p:nvPr/>
        </p:nvSpPr>
        <p:spPr>
          <a:xfrm>
            <a:off x="4931995" y="2536345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main.y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8" name="矩形 19"/>
          <p:cNvSpPr/>
          <p:nvPr/>
        </p:nvSpPr>
        <p:spPr>
          <a:xfrm>
            <a:off x="7293820" y="2320901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0xf0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9" name="矩形 22"/>
          <p:cNvSpPr/>
          <p:nvPr/>
        </p:nvSpPr>
        <p:spPr>
          <a:xfrm>
            <a:off x="7291910" y="2192684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0xf3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0" name="矩形 23"/>
          <p:cNvSpPr/>
          <p:nvPr/>
        </p:nvSpPr>
        <p:spPr>
          <a:xfrm>
            <a:off x="7310840" y="1607908"/>
            <a:ext cx="639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...</a:t>
            </a:r>
          </a:p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7305688" y="1460768"/>
            <a:ext cx="639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0xf7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34" name="矩形 37"/>
          <p:cNvSpPr/>
          <p:nvPr/>
        </p:nvSpPr>
        <p:spPr>
          <a:xfrm>
            <a:off x="4931995" y="1823352"/>
            <a:ext cx="107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main.x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:</a:t>
            </a:r>
            <a:endParaRPr lang="zh-CN" altLang="en-US" dirty="0"/>
          </a:p>
        </p:txBody>
      </p:sp>
      <p:sp>
        <p:nvSpPr>
          <p:cNvPr id="106" name="矩形 3"/>
          <p:cNvSpPr/>
          <p:nvPr/>
        </p:nvSpPr>
        <p:spPr>
          <a:xfrm>
            <a:off x="6110486" y="110966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107" name="矩形 3"/>
          <p:cNvSpPr/>
          <p:nvPr/>
        </p:nvSpPr>
        <p:spPr>
          <a:xfrm>
            <a:off x="6125272" y="284614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722427" y="2003292"/>
            <a:ext cx="3550923" cy="4790258"/>
            <a:chOff x="4667322" y="1408209"/>
            <a:chExt cx="3550923" cy="4790258"/>
          </a:xfrm>
        </p:grpSpPr>
        <p:sp>
          <p:nvSpPr>
            <p:cNvPr id="83" name="矩形 29"/>
            <p:cNvSpPr/>
            <p:nvPr/>
          </p:nvSpPr>
          <p:spPr>
            <a:xfrm>
              <a:off x="4876890" y="4574309"/>
              <a:ext cx="100219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err="1">
                  <a:latin typeface="Verdana"/>
                  <a:ea typeface="宋体" pitchFamily="2" charset="-122"/>
                  <a:cs typeface="Verdana"/>
                </a:rPr>
                <a:t>swap.b</a:t>
              </a:r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: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sp>
          <p:nvSpPr>
            <p:cNvPr id="84" name="矩形 39"/>
            <p:cNvSpPr/>
            <p:nvPr/>
          </p:nvSpPr>
          <p:spPr>
            <a:xfrm>
              <a:off x="4876890" y="3225338"/>
              <a:ext cx="10730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err="1">
                  <a:latin typeface="Consolas"/>
                  <a:ea typeface="宋体" pitchFamily="2" charset="-122"/>
                  <a:cs typeface="Consolas"/>
                </a:rPr>
                <a:t>swap.a</a:t>
              </a:r>
              <a:r>
                <a:rPr lang="en-US" altLang="zh-CN" dirty="0">
                  <a:latin typeface="Consolas"/>
                  <a:ea typeface="宋体" pitchFamily="2" charset="-122"/>
                  <a:cs typeface="Consolas"/>
                </a:rPr>
                <a:t>:</a:t>
              </a:r>
              <a:endParaRPr lang="zh-CN" altLang="en-US" dirty="0"/>
            </a:p>
          </p:txBody>
        </p:sp>
        <p:sp>
          <p:nvSpPr>
            <p:cNvPr id="92" name="矩形 29"/>
            <p:cNvSpPr/>
            <p:nvPr/>
          </p:nvSpPr>
          <p:spPr>
            <a:xfrm>
              <a:off x="4667322" y="5648029"/>
              <a:ext cx="128262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err="1">
                  <a:latin typeface="Verdana"/>
                  <a:ea typeface="宋体" pitchFamily="2" charset="-122"/>
                  <a:cs typeface="Verdana"/>
                </a:rPr>
                <a:t>swap.tmp</a:t>
              </a:r>
              <a:r>
                <a:rPr lang="en-US" altLang="zh-CN" sz="1600" dirty="0">
                  <a:latin typeface="Verdana"/>
                  <a:ea typeface="宋体" pitchFamily="2" charset="-122"/>
                  <a:cs typeface="Verdana"/>
                </a:rPr>
                <a:t>:</a:t>
              </a:r>
              <a:endParaRPr lang="zh-CN" altLang="en-US" sz="1600" dirty="0">
                <a:latin typeface="Verdana"/>
                <a:cs typeface="Verdana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077835" y="1408209"/>
              <a:ext cx="2140410" cy="4790258"/>
              <a:chOff x="6077835" y="1408209"/>
              <a:chExt cx="2140410" cy="4790258"/>
            </a:xfrm>
          </p:grpSpPr>
          <p:sp>
            <p:nvSpPr>
              <p:cNvPr id="82" name="矩形 7"/>
              <p:cNvSpPr/>
              <p:nvPr/>
            </p:nvSpPr>
            <p:spPr>
              <a:xfrm>
                <a:off x="6077835" y="2607171"/>
                <a:ext cx="1091998" cy="143905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000" dirty="0"/>
                  <a:t>0xf4</a:t>
                </a:r>
                <a:endParaRPr kumimoji="1" lang="zh-CN" altLang="en-US" sz="3000" dirty="0"/>
              </a:p>
            </p:txBody>
          </p:sp>
          <p:sp>
            <p:nvSpPr>
              <p:cNvPr id="85" name="矩形 8"/>
              <p:cNvSpPr/>
              <p:nvPr/>
            </p:nvSpPr>
            <p:spPr>
              <a:xfrm>
                <a:off x="6077835" y="4046222"/>
                <a:ext cx="1091998" cy="135924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000" dirty="0"/>
                  <a:t>0xf0</a:t>
                </a:r>
                <a:endParaRPr kumimoji="1" lang="zh-CN" altLang="en-US" sz="3000" dirty="0"/>
              </a:p>
            </p:txBody>
          </p:sp>
          <p:sp>
            <p:nvSpPr>
              <p:cNvPr id="108" name="矩形 3"/>
              <p:cNvSpPr/>
              <p:nvPr/>
            </p:nvSpPr>
            <p:spPr>
              <a:xfrm>
                <a:off x="6078797" y="5420028"/>
                <a:ext cx="1091998" cy="77843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50000"/>
                  </a:lnSpc>
                </a:pPr>
                <a:r>
                  <a:rPr kumimoji="1" lang="en-US" altLang="zh-CN" sz="3000" dirty="0">
                    <a:solidFill>
                      <a:schemeClr val="tx1"/>
                    </a:solidFill>
                  </a:rPr>
                  <a:t>1</a:t>
                </a:r>
                <a:endParaRPr kumimoji="1" lang="zh-CN" altLang="en-US" sz="3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7076299" y="1408209"/>
                <a:ext cx="1141946" cy="1969856"/>
              </a:xfrm>
              <a:custGeom>
                <a:avLst/>
                <a:gdLst>
                  <a:gd name="connsiteX0" fmla="*/ 0 w 1141946"/>
                  <a:gd name="connsiteY0" fmla="*/ 1948035 h 1969856"/>
                  <a:gd name="connsiteX1" fmla="*/ 635053 w 1141946"/>
                  <a:gd name="connsiteY1" fmla="*/ 1948035 h 1969856"/>
                  <a:gd name="connsiteX2" fmla="*/ 1028181 w 1141946"/>
                  <a:gd name="connsiteY2" fmla="*/ 1721261 h 1969856"/>
                  <a:gd name="connsiteX3" fmla="*/ 1073541 w 1141946"/>
                  <a:gd name="connsiteY3" fmla="*/ 209440 h 1969856"/>
                  <a:gd name="connsiteX4" fmla="*/ 166324 w 1141946"/>
                  <a:gd name="connsiteY4" fmla="*/ 12903 h 1969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1946" h="1969856">
                    <a:moveTo>
                      <a:pt x="0" y="1948035"/>
                    </a:moveTo>
                    <a:cubicBezTo>
                      <a:pt x="231845" y="1966933"/>
                      <a:pt x="463690" y="1985831"/>
                      <a:pt x="635053" y="1948035"/>
                    </a:cubicBezTo>
                    <a:cubicBezTo>
                      <a:pt x="806417" y="1910239"/>
                      <a:pt x="955100" y="2011027"/>
                      <a:pt x="1028181" y="1721261"/>
                    </a:cubicBezTo>
                    <a:cubicBezTo>
                      <a:pt x="1101262" y="1431495"/>
                      <a:pt x="1217184" y="494166"/>
                      <a:pt x="1073541" y="209440"/>
                    </a:cubicBezTo>
                    <a:cubicBezTo>
                      <a:pt x="929898" y="-75286"/>
                      <a:pt x="166324" y="12903"/>
                      <a:pt x="166324" y="12903"/>
                    </a:cubicBezTo>
                  </a:path>
                </a:pathLst>
              </a:custGeom>
              <a:ln>
                <a:headEnd type="none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7030938" y="2151209"/>
                <a:ext cx="1039459" cy="2604308"/>
              </a:xfrm>
              <a:custGeom>
                <a:avLst/>
                <a:gdLst>
                  <a:gd name="connsiteX0" fmla="*/ 0 w 1039459"/>
                  <a:gd name="connsiteY0" fmla="*/ 2595910 h 2604308"/>
                  <a:gd name="connsiteX1" fmla="*/ 816496 w 1039459"/>
                  <a:gd name="connsiteY1" fmla="*/ 2520319 h 2604308"/>
                  <a:gd name="connsiteX2" fmla="*/ 967699 w 1039459"/>
                  <a:gd name="connsiteY2" fmla="*/ 1991182 h 2604308"/>
                  <a:gd name="connsiteX3" fmla="*/ 997940 w 1039459"/>
                  <a:gd name="connsiteY3" fmla="*/ 252587 h 2604308"/>
                  <a:gd name="connsiteX4" fmla="*/ 393128 w 1039459"/>
                  <a:gd name="connsiteY4" fmla="*/ 10696 h 2604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9459" h="2604308">
                    <a:moveTo>
                      <a:pt x="0" y="2595910"/>
                    </a:moveTo>
                    <a:cubicBezTo>
                      <a:pt x="327606" y="2608508"/>
                      <a:pt x="655213" y="2621107"/>
                      <a:pt x="816496" y="2520319"/>
                    </a:cubicBezTo>
                    <a:cubicBezTo>
                      <a:pt x="977779" y="2419531"/>
                      <a:pt x="937458" y="2369137"/>
                      <a:pt x="967699" y="1991182"/>
                    </a:cubicBezTo>
                    <a:cubicBezTo>
                      <a:pt x="997940" y="1613227"/>
                      <a:pt x="1093702" y="582668"/>
                      <a:pt x="997940" y="252587"/>
                    </a:cubicBezTo>
                    <a:cubicBezTo>
                      <a:pt x="902178" y="-77494"/>
                      <a:pt x="393128" y="10696"/>
                      <a:pt x="393128" y="10696"/>
                    </a:cubicBezTo>
                  </a:path>
                </a:pathLst>
              </a:custGeom>
              <a:ln>
                <a:headEnd type="none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7" name="Right Arrow 26"/>
          <p:cNvSpPr/>
          <p:nvPr/>
        </p:nvSpPr>
        <p:spPr>
          <a:xfrm>
            <a:off x="244076" y="4641305"/>
            <a:ext cx="362476" cy="230693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AF71E701-CEC0-44FB-AE11-D0A8108F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4" y="9032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Pass pointers to function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339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9296-4075-483F-BEA2-6301A1BF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16F4-3EBB-44D3-8328-DF6F0B721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Bitwise Operators: &amp;, |, ^, &gt;&gt;, &lt;&lt;</a:t>
            </a:r>
          </a:p>
          <a:p>
            <a:r>
              <a:rPr lang="en-US" sz="2400" dirty="0"/>
              <a:t>Control flow and variable scopes</a:t>
            </a:r>
          </a:p>
          <a:p>
            <a:r>
              <a:rPr lang="en-US" sz="2400" dirty="0"/>
              <a:t>Pointers</a:t>
            </a:r>
          </a:p>
          <a:p>
            <a:pPr lvl="1"/>
            <a:r>
              <a:rPr lang="en-US" sz="2000" dirty="0"/>
              <a:t>Pointers are memory addresses: </a:t>
            </a:r>
            <a:r>
              <a:rPr lang="en-US" sz="1600" dirty="0"/>
              <a:t> </a:t>
            </a:r>
            <a:r>
              <a:rPr lang="en-US" sz="2000" dirty="0"/>
              <a:t>p =&amp;x; (p has </a:t>
            </a:r>
            <a:r>
              <a:rPr lang="en-US" sz="2000" dirty="0" err="1"/>
              <a:t>addr</a:t>
            </a:r>
            <a:r>
              <a:rPr lang="en-US" sz="2000" dirty="0"/>
              <a:t> of var x)</a:t>
            </a:r>
          </a:p>
          <a:p>
            <a:pPr lvl="1"/>
            <a:r>
              <a:rPr lang="en-US" sz="2000" dirty="0"/>
              <a:t>*p  … (read/write the variable pointed to by p)</a:t>
            </a:r>
            <a:endParaRPr lang="en-US" dirty="0"/>
          </a:p>
          <a:p>
            <a:r>
              <a:rPr lang="en-US" dirty="0"/>
              <a:t>Pass pointers to functions</a:t>
            </a:r>
          </a:p>
          <a:p>
            <a:pPr lvl="1"/>
            <a:r>
              <a:rPr lang="en-US" dirty="0"/>
              <a:t>Allows a callee to change variables defined in caller</a:t>
            </a:r>
          </a:p>
        </p:txBody>
      </p:sp>
    </p:spTree>
    <p:extLst>
      <p:ext uri="{BB962C8B-B14F-4D97-AF65-F5344CB8AC3E}">
        <p14:creationId xmlns:p14="http://schemas.microsoft.com/office/powerpoint/2010/main" val="1834062764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EE71CA13-C252-464D-A4FC-965E6354B79E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1097,&quot;confidenceLevel&quot;:2}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EE71CA13-C252-464D-A4FC-965E6354B79E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1097,&quot;confidenceLevel&quot;:2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75055</TotalTime>
  <Words>2997</Words>
  <Application>Microsoft Macintosh PowerPoint</Application>
  <PresentationFormat>On-screen Show (4:3)</PresentationFormat>
  <Paragraphs>893</Paragraphs>
  <Slides>49</Slides>
  <Notes>18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Comic Sans MS</vt:lpstr>
      <vt:lpstr>Consolas</vt:lpstr>
      <vt:lpstr>Tahoma</vt:lpstr>
      <vt:lpstr>Verdana</vt:lpstr>
      <vt:lpstr>Wingdings</vt:lpstr>
      <vt:lpstr>CloudVisor-Austin</vt:lpstr>
      <vt:lpstr>C:  Pointers and Arrays</vt:lpstr>
      <vt:lpstr>What we’ve learnt in last lecture</vt:lpstr>
      <vt:lpstr>Lesson plan</vt:lpstr>
      <vt:lpstr>Bitwise NOT:  ~</vt:lpstr>
      <vt:lpstr>Bitwise AND: &amp;</vt:lpstr>
      <vt:lpstr>Example use of &amp;</vt:lpstr>
      <vt:lpstr>PowerPoint Presentation</vt:lpstr>
      <vt:lpstr>Example use of &amp;</vt:lpstr>
      <vt:lpstr>Example use of &amp;</vt:lpstr>
      <vt:lpstr>Bitwise OR: |</vt:lpstr>
      <vt:lpstr>Example use of |</vt:lpstr>
      <vt:lpstr>Bitwise XOR: ^</vt:lpstr>
      <vt:lpstr>Example use of XOR</vt:lpstr>
      <vt:lpstr>Bitwise left-shift: &lt;&lt;</vt:lpstr>
      <vt:lpstr>Bitwise right-shift: &gt;&gt;</vt:lpstr>
      <vt:lpstr>Which shift is used in C ?</vt:lpstr>
      <vt:lpstr>Example use of shift</vt:lpstr>
      <vt:lpstr>Example use of shift</vt:lpstr>
      <vt:lpstr>Breakout time!</vt:lpstr>
      <vt:lpstr>Breakout exercises</vt:lpstr>
      <vt:lpstr>Example use of shift</vt:lpstr>
      <vt:lpstr>Lesson plan</vt:lpstr>
      <vt:lpstr>C’s Control flow</vt:lpstr>
      <vt:lpstr>goto statements allow jump anywhere</vt:lpstr>
      <vt:lpstr>Avoid goto’s whenever possible</vt:lpstr>
      <vt:lpstr>Avoid goto’s whenever possible</vt:lpstr>
      <vt:lpstr>C scope rules</vt:lpstr>
      <vt:lpstr>Pointers</vt:lpstr>
      <vt:lpstr>Pointer</vt:lpstr>
      <vt:lpstr>Pointer</vt:lpstr>
      <vt:lpstr>Pointer</vt:lpstr>
      <vt:lpstr>Pointer</vt:lpstr>
      <vt:lpstr>Pointer</vt:lpstr>
      <vt:lpstr>Pointer</vt:lpstr>
      <vt:lpstr>Pointer</vt:lpstr>
      <vt:lpstr>Pointer</vt:lpstr>
      <vt:lpstr>Pointer</vt:lpstr>
      <vt:lpstr>Pointer has different types</vt:lpstr>
      <vt:lpstr>PowerPoint Presentation</vt:lpstr>
      <vt:lpstr>Double Pointer</vt:lpstr>
      <vt:lpstr>Double Pointer</vt:lpstr>
      <vt:lpstr>Common confusions on *</vt:lpstr>
      <vt:lpstr>Pass pointers to function</vt:lpstr>
      <vt:lpstr>Pass pointers to function</vt:lpstr>
      <vt:lpstr>Pass pointers to function</vt:lpstr>
      <vt:lpstr>Pass pointers to function</vt:lpstr>
      <vt:lpstr>Pass pointers to function</vt:lpstr>
      <vt:lpstr>Pass pointers to function</vt:lpstr>
      <vt:lpstr>Summary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7301</cp:revision>
  <cp:lastPrinted>2019-09-23T15:14:39Z</cp:lastPrinted>
  <dcterms:created xsi:type="dcterms:W3CDTF">2012-08-17T04:52:30Z</dcterms:created>
  <dcterms:modified xsi:type="dcterms:W3CDTF">2026-09-21T19:14:40Z</dcterms:modified>
</cp:coreProperties>
</file>